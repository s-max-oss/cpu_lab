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4188" r:id="rId2"/>
    <p:sldId id="4203" r:id="rId3"/>
    <p:sldId id="4176" r:id="rId4"/>
    <p:sldId id="4177" r:id="rId5"/>
    <p:sldId id="4178" r:id="rId6"/>
    <p:sldId id="4197" r:id="rId7"/>
    <p:sldId id="4180" r:id="rId8"/>
    <p:sldId id="4194" r:id="rId9"/>
    <p:sldId id="4195" r:id="rId10"/>
    <p:sldId id="4196" r:id="rId11"/>
    <p:sldId id="4192" r:id="rId12"/>
    <p:sldId id="4190" r:id="rId13"/>
    <p:sldId id="4185" r:id="rId14"/>
    <p:sldId id="4199" r:id="rId15"/>
    <p:sldId id="4201" r:id="rId16"/>
    <p:sldId id="4202" r:id="rId17"/>
    <p:sldId id="418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9B234C5-7B82-482F-8ABD-9A8B2CC1A0A3}">
          <p14:sldIdLst>
            <p14:sldId id="4188"/>
            <p14:sldId id="4203"/>
            <p14:sldId id="4176"/>
            <p14:sldId id="4177"/>
            <p14:sldId id="4178"/>
            <p14:sldId id="4197"/>
            <p14:sldId id="4180"/>
            <p14:sldId id="4194"/>
            <p14:sldId id="4195"/>
            <p14:sldId id="4196"/>
            <p14:sldId id="4192"/>
            <p14:sldId id="4190"/>
            <p14:sldId id="4185"/>
            <p14:sldId id="4199"/>
            <p14:sldId id="4201"/>
            <p14:sldId id="4202"/>
            <p14:sldId id="41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5">
          <p15:clr>
            <a:srgbClr val="A4A3A4"/>
          </p15:clr>
        </p15:guide>
        <p15:guide id="2" pos="400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47" autoAdjust="0"/>
    <p:restoredTop sz="86335" autoAdjust="0"/>
  </p:normalViewPr>
  <p:slideViewPr>
    <p:cSldViewPr snapToGrid="0" showGuides="1">
      <p:cViewPr varScale="1">
        <p:scale>
          <a:sx n="121" d="100"/>
          <a:sy n="121" d="100"/>
        </p:scale>
        <p:origin x="1552" y="168"/>
      </p:cViewPr>
      <p:guideLst>
        <p:guide orient="horz" pos="2135"/>
        <p:guide pos="4004"/>
      </p:guideLst>
    </p:cSldViewPr>
  </p:slideViewPr>
  <p:outlineViewPr>
    <p:cViewPr>
      <p:scale>
        <a:sx n="33" d="100"/>
        <a:sy n="33" d="100"/>
      </p:scale>
      <p:origin x="0" y="-293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134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4CC0D-F10D-400D-8EB4-EADC7E4AB7A8}" type="datetimeFigureOut">
              <a:rPr lang="zh-CN" altLang="en-US" smtClean="0"/>
              <a:t>2025/2/20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0E4A6E-2F20-4F37-816C-AD9E7A26C6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09652-DC68-4D29-8C95-FF3DAF3DAFF6}" type="datetimeFigureOut">
              <a:rPr lang="zh-CN" altLang="en-US" smtClean="0"/>
              <a:t>2025/2/20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757C0-D8D6-4E64-9363-D815709608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757C0-D8D6-4E64-9363-D8157096089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757C0-D8D6-4E64-9363-D8157096089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720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757C0-D8D6-4E64-9363-D8157096089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356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err="1"/>
              <a:t>Ble</a:t>
            </a:r>
            <a:r>
              <a:rPr lang="en-US" altLang="zh-CN" sz="1200" dirty="0"/>
              <a:t> </a:t>
            </a:r>
            <a:r>
              <a:rPr lang="zh-CN" altLang="en-US" sz="1200" dirty="0"/>
              <a:t>伪指令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757C0-D8D6-4E64-9363-D81570960896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757C0-D8D6-4E64-9363-D8157096089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835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757C0-D8D6-4E64-9363-D8157096089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255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757C0-D8D6-4E64-9363-D8157096089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876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757C0-D8D6-4E64-9363-D81570960896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091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757C0-D8D6-4E64-9363-D8157096089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734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757C0-D8D6-4E64-9363-D8157096089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834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 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8EE8E787-E6FE-45D8-9039-788B45E44EE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 flipH="1">
            <a:off x="838199" y="1646238"/>
            <a:ext cx="10515600" cy="96043"/>
          </a:xfrm>
          <a:prstGeom prst="homePlate">
            <a:avLst>
              <a:gd name="adj" fmla="val 2000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153" y="3816317"/>
            <a:ext cx="2360646" cy="23606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11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3934"/>
            <a:ext cx="10515600" cy="487302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 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E8E787-E6FE-45D8-9039-788B45E44EE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 flipH="1">
            <a:off x="838199" y="1111848"/>
            <a:ext cx="10515600" cy="96043"/>
          </a:xfrm>
          <a:prstGeom prst="homePlate">
            <a:avLst>
              <a:gd name="adj" fmla="val 2000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（仅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11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 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E8E787-E6FE-45D8-9039-788B45E44EE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 flipH="1">
            <a:off x="838199" y="1111848"/>
            <a:ext cx="10515600" cy="96043"/>
          </a:xfrm>
          <a:prstGeom prst="homePlate">
            <a:avLst>
              <a:gd name="adj" fmla="val 2000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左文右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11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 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E8E787-E6FE-45D8-9039-788B45E44EE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 flipH="1">
            <a:off x="838199" y="1111848"/>
            <a:ext cx="10515600" cy="96043"/>
          </a:xfrm>
          <a:prstGeom prst="homePlate">
            <a:avLst>
              <a:gd name="adj" fmla="val 2000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6234113" y="1309957"/>
            <a:ext cx="5119687" cy="48527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4"/>
          </p:nvPr>
        </p:nvSpPr>
        <p:spPr>
          <a:xfrm>
            <a:off x="838200" y="1309688"/>
            <a:ext cx="5119688" cy="48529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左文（多）右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11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 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E8E787-E6FE-45D8-9039-788B45E44EE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 flipH="1">
            <a:off x="838199" y="1111848"/>
            <a:ext cx="10515600" cy="96043"/>
          </a:xfrm>
          <a:prstGeom prst="homePlate">
            <a:avLst>
              <a:gd name="adj" fmla="val 2000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7239000" y="1309957"/>
            <a:ext cx="4114800" cy="48527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4"/>
          </p:nvPr>
        </p:nvSpPr>
        <p:spPr>
          <a:xfrm>
            <a:off x="838199" y="1309688"/>
            <a:ext cx="6168243" cy="48529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左图右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11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 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E8E787-E6FE-45D8-9039-788B45E44EE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 flipH="1">
            <a:off x="838199" y="1111848"/>
            <a:ext cx="10515600" cy="96043"/>
          </a:xfrm>
          <a:prstGeom prst="homePlate">
            <a:avLst>
              <a:gd name="adj" fmla="val 2000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838199" y="1309957"/>
            <a:ext cx="5119687" cy="48527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4"/>
          </p:nvPr>
        </p:nvSpPr>
        <p:spPr>
          <a:xfrm>
            <a:off x="6234111" y="1309688"/>
            <a:ext cx="5119688" cy="48529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左图（多）右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11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 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E8E787-E6FE-45D8-9039-788B45E44EE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 flipH="1">
            <a:off x="838199" y="1111848"/>
            <a:ext cx="10515600" cy="96043"/>
          </a:xfrm>
          <a:prstGeom prst="homePlate">
            <a:avLst>
              <a:gd name="adj" fmla="val 2000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838199" y="1309957"/>
            <a:ext cx="6144492" cy="48527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4"/>
          </p:nvPr>
        </p:nvSpPr>
        <p:spPr>
          <a:xfrm>
            <a:off x="7238999" y="1309688"/>
            <a:ext cx="4114800" cy="48529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左多 右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115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 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E8E787-E6FE-45D8-9039-788B45E44EE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 flipH="1">
            <a:off x="838199" y="1111848"/>
            <a:ext cx="10515600" cy="96043"/>
          </a:xfrm>
          <a:prstGeom prst="homePlate">
            <a:avLst>
              <a:gd name="adj" fmla="val 2000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4"/>
          </p:nvPr>
        </p:nvSpPr>
        <p:spPr>
          <a:xfrm>
            <a:off x="7238999" y="1309688"/>
            <a:ext cx="4114800" cy="48529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838200" y="1309688"/>
            <a:ext cx="6163491" cy="48672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 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E8E787-E6FE-45D8-9039-788B45E44EE7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 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E787-E6FE-45D8-9039-788B45E44EE7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 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EE8E787-E6FE-45D8-9039-788B45E44EE7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+mj-lt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000000"/>
        </a:buClr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000000"/>
        </a:buClr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000000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000000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000000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第三章 RISC-V汇编及其指令系统 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SzTx/>
            </a:pPr>
            <a:r>
              <a:rPr lang="en-US" altLang="zh-CN" dirty="0"/>
              <a:t>RISC-</a:t>
            </a:r>
            <a:r>
              <a:rPr lang="en-US" altLang="zh-CN" dirty="0" err="1"/>
              <a:t>V概述</a:t>
            </a:r>
            <a:endParaRPr lang="en-US" altLang="zh-CN" dirty="0"/>
          </a:p>
          <a:p>
            <a:pPr algn="l">
              <a:buSzTx/>
            </a:pPr>
            <a:r>
              <a:rPr lang="en-US" altLang="zh-CN" dirty="0"/>
              <a:t>RISC-V汇编语言</a:t>
            </a:r>
          </a:p>
          <a:p>
            <a:pPr algn="l">
              <a:buSzTx/>
            </a:pPr>
            <a:r>
              <a:rPr lang="en-US" altLang="zh-CN" dirty="0"/>
              <a:t>RISC-V指令表示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案例分析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lang="zh-CN"/>
            </a:defPPr>
            <a:lvl1pPr marL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0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/>
            <a:fld id="{9A0DB2DC-4C9A-4742-B13C-FB6460FD3503}" type="slidenum">
              <a:rPr lang="en-US" altLang="zh-CN" smtClean="0"/>
              <a:t>1</a:t>
            </a:fld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RISC-V汇编及其指令系统 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793875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b="1" dirty="0"/>
              <a:t>案例分析</a:t>
            </a:r>
            <a:endParaRPr lang="zh-CN" b="1" dirty="0"/>
          </a:p>
          <a:p>
            <a:pPr lvl="1">
              <a:lnSpc>
                <a:spcPct val="17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FF0000"/>
                </a:solidFill>
                <a:sym typeface="+mn-ea"/>
              </a:rPr>
              <a:t>RISC-V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排序</a:t>
            </a:r>
          </a:p>
          <a:p>
            <a:pPr lvl="1">
              <a:lnSpc>
                <a:spcPct val="170000"/>
              </a:lnSpc>
              <a:spcBef>
                <a:spcPct val="0"/>
              </a:spcBef>
            </a:pPr>
            <a:r>
              <a:rPr lang="zh-CN" altLang="en-US" dirty="0"/>
              <a:t>数组与指针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0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solidFill>
                  <a:schemeClr val="tx1"/>
                </a:solidFill>
              </a:rPr>
              <a:t>2</a:t>
            </a:fld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60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排序的例子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C</a:t>
            </a:r>
            <a:r>
              <a:rPr lang="zh-CN" altLang="en-US" b="1" dirty="0"/>
              <a:t>排序函数的汇编指令示例</a:t>
            </a:r>
            <a:r>
              <a:rPr lang="en-US" altLang="zh-CN" b="1" dirty="0"/>
              <a:t> </a:t>
            </a:r>
          </a:p>
          <a:p>
            <a:r>
              <a:rPr lang="en-US" altLang="zh-CN" b="1" dirty="0"/>
              <a:t>swap</a:t>
            </a:r>
            <a:r>
              <a:rPr lang="zh-CN" altLang="en-US" b="1" dirty="0"/>
              <a:t>过程</a:t>
            </a:r>
            <a:r>
              <a:rPr lang="zh-CN" altLang="en-US" dirty="0"/>
              <a:t>（叶过程，即不调用其他过程的过程） 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/>
              <a:t>void swap(long </a:t>
            </a:r>
            <a:r>
              <a:rPr lang="en-US" altLang="zh-CN" sz="2400" dirty="0" err="1"/>
              <a:t>long</a:t>
            </a:r>
            <a:r>
              <a:rPr lang="en-US" altLang="zh-CN" sz="2400" dirty="0"/>
              <a:t> int v[], long </a:t>
            </a:r>
            <a:r>
              <a:rPr lang="en-US" altLang="zh-CN" sz="2400" dirty="0" err="1"/>
              <a:t>long</a:t>
            </a:r>
            <a:r>
              <a:rPr lang="en-US" altLang="zh-CN" sz="2400" dirty="0"/>
              <a:t> int k)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/>
              <a:t>{ 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dirty="0"/>
              <a:t>long </a:t>
            </a:r>
            <a:r>
              <a:rPr lang="en-US" altLang="zh-CN" dirty="0" err="1"/>
              <a:t>long</a:t>
            </a:r>
            <a:r>
              <a:rPr lang="en-US" altLang="zh-CN" dirty="0"/>
              <a:t> int temp; 	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dirty="0"/>
              <a:t>temp = v[k]; 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dirty="0"/>
              <a:t>v[k] = v[k+1]; 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dirty="0"/>
              <a:t>v[k+1] = temp;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/>
              <a:t>} 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v</a:t>
            </a:r>
            <a:r>
              <a:rPr lang="zh-CN" altLang="en-US" dirty="0"/>
              <a:t>保存在</a:t>
            </a:r>
            <a:r>
              <a:rPr lang="en-US" altLang="zh-CN" dirty="0"/>
              <a:t>x10</a:t>
            </a:r>
            <a:r>
              <a:rPr lang="zh-CN" altLang="en-US" dirty="0"/>
              <a:t>，</a:t>
            </a:r>
            <a:r>
              <a:rPr lang="en-US" altLang="zh-CN" dirty="0"/>
              <a:t>k</a:t>
            </a:r>
            <a:r>
              <a:rPr lang="zh-CN" altLang="en-US" dirty="0"/>
              <a:t>保存在</a:t>
            </a:r>
            <a:r>
              <a:rPr lang="en-US" altLang="zh-CN" dirty="0"/>
              <a:t>x11</a:t>
            </a:r>
            <a:r>
              <a:rPr lang="zh-CN" altLang="en-US" dirty="0"/>
              <a:t>，</a:t>
            </a:r>
            <a:r>
              <a:rPr lang="en-US" altLang="zh-CN" dirty="0"/>
              <a:t>temp</a:t>
            </a:r>
            <a:r>
              <a:rPr lang="zh-CN" altLang="en-US" dirty="0"/>
              <a:t>保存在</a:t>
            </a:r>
            <a:r>
              <a:rPr lang="en-US" altLang="zh-CN" dirty="0"/>
              <a:t>x5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E787-E6FE-45D8-9039-788B45E44EE7}" type="slidenum">
              <a:rPr lang="zh-CN" altLang="en-US" smtClean="0"/>
              <a:t>3</a:t>
            </a:fld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swap</a:t>
            </a:r>
            <a:r>
              <a:rPr lang="zh-CN" altLang="en-US" dirty="0"/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688" y="1265834"/>
            <a:ext cx="10515600" cy="4873029"/>
          </a:xfrm>
        </p:spPr>
        <p:txBody>
          <a:bodyPr/>
          <a:lstStyle/>
          <a:p>
            <a:r>
              <a:rPr lang="en-US" altLang="zh-CN" b="1" dirty="0"/>
              <a:t>swap: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 err="1"/>
              <a:t>slli</a:t>
            </a:r>
            <a:r>
              <a:rPr lang="en-US" altLang="zh-CN" sz="2400" dirty="0"/>
              <a:t> x6, x11, 3     # x6 = k * 8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/>
              <a:t>add x6, x10, x6  # x6 = v + (k * 8)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 err="1"/>
              <a:t>ld</a:t>
            </a:r>
            <a:r>
              <a:rPr lang="en-US" altLang="zh-CN" sz="2400" dirty="0"/>
              <a:t> x5, 0(x6)       # x5</a:t>
            </a:r>
            <a:r>
              <a:rPr lang="zh-CN" altLang="en-US" sz="2400" dirty="0"/>
              <a:t>（临时变量） </a:t>
            </a:r>
            <a:r>
              <a:rPr lang="en-US" altLang="zh-CN" sz="2400" dirty="0"/>
              <a:t>= v[k]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 err="1"/>
              <a:t>ld</a:t>
            </a:r>
            <a:r>
              <a:rPr lang="en-US" altLang="zh-CN" sz="2400" dirty="0"/>
              <a:t> x7, 8(x6)       # x7 = v[k + 1]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 err="1"/>
              <a:t>sd</a:t>
            </a:r>
            <a:r>
              <a:rPr lang="en-US" altLang="zh-CN" sz="2400" dirty="0"/>
              <a:t> x7, 0(x6)       # v[k] = x7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 err="1"/>
              <a:t>sd</a:t>
            </a:r>
            <a:r>
              <a:rPr lang="en-US" altLang="zh-CN" sz="2400" dirty="0"/>
              <a:t> x5, 8(x6)       # v[k+1] = x5</a:t>
            </a:r>
            <a:r>
              <a:rPr lang="zh-CN" altLang="en-US" sz="2400" dirty="0"/>
              <a:t>（临时变量） </a:t>
            </a:r>
            <a:endParaRPr lang="en-US" altLang="zh-CN" sz="24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 err="1"/>
              <a:t>jalr</a:t>
            </a:r>
            <a:r>
              <a:rPr lang="en-US" altLang="zh-CN" sz="2400" dirty="0"/>
              <a:t> x0, 0(x1)     # </a:t>
            </a:r>
            <a:r>
              <a:rPr lang="zh-CN" altLang="en-US" sz="2400" dirty="0"/>
              <a:t>返回调用函数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E787-E6FE-45D8-9039-788B45E44EE7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48B73C-354B-40BA-A735-E051C2F16460}"/>
              </a:ext>
            </a:extLst>
          </p:cNvPr>
          <p:cNvSpPr txBox="1"/>
          <p:nvPr/>
        </p:nvSpPr>
        <p:spPr>
          <a:xfrm>
            <a:off x="1822450" y="151158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v</a:t>
            </a:r>
            <a:r>
              <a:rPr lang="zh-CN" altLang="en-US" sz="2400" dirty="0"/>
              <a:t>保存在</a:t>
            </a:r>
            <a:r>
              <a:rPr lang="en-US" altLang="zh-CN" sz="2400" dirty="0">
                <a:solidFill>
                  <a:srgbClr val="0000FF"/>
                </a:solidFill>
              </a:rPr>
              <a:t>x10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FF0000"/>
                </a:solidFill>
              </a:rPr>
              <a:t>k</a:t>
            </a:r>
            <a:r>
              <a:rPr lang="zh-CN" altLang="en-US" sz="2400" dirty="0"/>
              <a:t>保存在</a:t>
            </a:r>
            <a:r>
              <a:rPr lang="en-US" altLang="zh-CN" sz="2400" dirty="0">
                <a:solidFill>
                  <a:srgbClr val="0000FF"/>
                </a:solidFill>
              </a:rPr>
              <a:t>x11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FF0000"/>
                </a:solidFill>
              </a:rPr>
              <a:t>temp</a:t>
            </a:r>
            <a:r>
              <a:rPr lang="zh-CN" altLang="en-US" sz="2400" dirty="0"/>
              <a:t>保存在</a:t>
            </a:r>
            <a:r>
              <a:rPr lang="en-US" altLang="zh-CN" sz="2400" dirty="0">
                <a:solidFill>
                  <a:srgbClr val="0000FF"/>
                </a:solidFill>
              </a:rPr>
              <a:t>x5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FAB3F6D-1CAA-449E-A50B-45C17E508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237" y="2122806"/>
            <a:ext cx="4695188" cy="2302361"/>
          </a:xfrm>
          <a:prstGeom prst="rect">
            <a:avLst/>
          </a:prstGeom>
          <a:ln w="25400">
            <a:solidFill>
              <a:srgbClr val="0000FF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/>
              <a:t>排序的</a:t>
            </a:r>
            <a:r>
              <a:rPr lang="en-US" altLang="zh-CN" dirty="0"/>
              <a:t>sort</a:t>
            </a:r>
            <a:r>
              <a:rPr lang="zh-CN" altLang="en-US" dirty="0"/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9634"/>
            <a:ext cx="10515600" cy="497621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排序（升序）过程（调用了</a:t>
            </a:r>
            <a:r>
              <a:rPr lang="en-US" altLang="zh-CN" dirty="0"/>
              <a:t>swap</a:t>
            </a:r>
            <a:r>
              <a:rPr lang="zh-CN" altLang="en-US" dirty="0"/>
              <a:t>） 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/>
              <a:t>void sort (long </a:t>
            </a:r>
            <a:r>
              <a:rPr lang="en-US" altLang="zh-CN" sz="2400" dirty="0" err="1"/>
              <a:t>long</a:t>
            </a:r>
            <a:r>
              <a:rPr lang="en-US" altLang="zh-CN" sz="2400" dirty="0"/>
              <a:t> int v[], int n)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/>
              <a:t>        int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j;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/>
              <a:t>        for 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1;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 n;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+= 1)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/>
              <a:t>            for (j =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– 1;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/>
              <a:t>                j &gt;= 0 &amp;&amp; v[j] &gt; v[j + 1];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/>
              <a:t>                j -= 1)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/>
              <a:t>            swap(</a:t>
            </a:r>
            <a:r>
              <a:rPr lang="en-US" altLang="zh-CN" sz="2400" dirty="0" err="1"/>
              <a:t>v,j</a:t>
            </a:r>
            <a:r>
              <a:rPr lang="en-US" altLang="zh-CN" sz="2400" dirty="0"/>
              <a:t>);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/>
              <a:t>        }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/>
              <a:t>    }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400" dirty="0"/>
              <a:t>} 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v</a:t>
            </a:r>
            <a:r>
              <a:rPr lang="zh-CN" altLang="en-US" dirty="0"/>
              <a:t>保存在</a:t>
            </a:r>
            <a:r>
              <a:rPr lang="en-US" altLang="zh-CN" dirty="0">
                <a:solidFill>
                  <a:srgbClr val="0000FF"/>
                </a:solidFill>
              </a:rPr>
              <a:t>x10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zh-CN" altLang="en-US" dirty="0"/>
              <a:t>保存在</a:t>
            </a:r>
            <a:r>
              <a:rPr lang="en-US" altLang="zh-CN" dirty="0">
                <a:solidFill>
                  <a:srgbClr val="0000FF"/>
                </a:solidFill>
              </a:rPr>
              <a:t>x11</a:t>
            </a:r>
            <a:r>
              <a:rPr lang="zh-CN" altLang="en-US" dirty="0"/>
              <a:t>，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zh-CN" altLang="en-US" dirty="0"/>
              <a:t>保存在</a:t>
            </a:r>
            <a:r>
              <a:rPr lang="en-US" altLang="zh-CN" dirty="0">
                <a:solidFill>
                  <a:srgbClr val="0000FF"/>
                </a:solidFill>
              </a:rPr>
              <a:t>x19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0000"/>
                </a:solidFill>
              </a:rPr>
              <a:t>j</a:t>
            </a:r>
            <a:r>
              <a:rPr lang="zh-CN" altLang="en-US" dirty="0"/>
              <a:t>保存在</a:t>
            </a:r>
            <a:r>
              <a:rPr lang="en-US" altLang="zh-CN" dirty="0">
                <a:solidFill>
                  <a:srgbClr val="0000FF"/>
                </a:solidFill>
              </a:rPr>
              <a:t>x20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E787-E6FE-45D8-9039-788B45E44EE7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B794D1-6540-4E8B-8C9A-AFBF56ED5E22}"/>
              </a:ext>
            </a:extLst>
          </p:cNvPr>
          <p:cNvSpPr txBox="1"/>
          <p:nvPr/>
        </p:nvSpPr>
        <p:spPr>
          <a:xfrm>
            <a:off x="6786108" y="3035506"/>
            <a:ext cx="1109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第一次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23794D-C5C6-4A2C-BC2C-04D7E8E484FC}"/>
              </a:ext>
            </a:extLst>
          </p:cNvPr>
          <p:cNvSpPr txBox="1"/>
          <p:nvPr/>
        </p:nvSpPr>
        <p:spPr>
          <a:xfrm>
            <a:off x="6786108" y="3651019"/>
            <a:ext cx="1109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第二次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53BE4F-98D5-42F9-8C45-1CF47B9E3DAF}"/>
              </a:ext>
            </a:extLst>
          </p:cNvPr>
          <p:cNvSpPr txBox="1"/>
          <p:nvPr/>
        </p:nvSpPr>
        <p:spPr>
          <a:xfrm>
            <a:off x="6786108" y="4266532"/>
            <a:ext cx="1109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第三次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590C3F-092C-4CDE-94F1-025E53E5D18B}"/>
              </a:ext>
            </a:extLst>
          </p:cNvPr>
          <p:cNvSpPr txBox="1"/>
          <p:nvPr/>
        </p:nvSpPr>
        <p:spPr>
          <a:xfrm>
            <a:off x="6786108" y="4882045"/>
            <a:ext cx="1109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第四次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F1D0CE-4DF8-4F09-BD3E-4E4902216412}"/>
              </a:ext>
            </a:extLst>
          </p:cNvPr>
          <p:cNvSpPr txBox="1"/>
          <p:nvPr/>
        </p:nvSpPr>
        <p:spPr>
          <a:xfrm>
            <a:off x="6786108" y="5497557"/>
            <a:ext cx="1109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第五次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7F9F41-9864-441C-A093-A63CE6BE5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429" y="2265346"/>
            <a:ext cx="4097311" cy="37475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外层循环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92485"/>
            <a:ext cx="10515600" cy="1617365"/>
          </a:xfrm>
        </p:spPr>
        <p:txBody>
          <a:bodyPr/>
          <a:lstStyle/>
          <a:p>
            <a:r>
              <a:rPr lang="zh-CN" altLang="en-US" dirty="0"/>
              <a:t>外层循环的框架：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for (</a:t>
            </a:r>
            <a:r>
              <a:rPr lang="en-US" altLang="zh-CN" sz="2000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 = 1; </a:t>
            </a:r>
            <a:r>
              <a:rPr lang="en-US" altLang="zh-CN" sz="2000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 &lt;n; </a:t>
            </a:r>
            <a:r>
              <a:rPr lang="en-US" altLang="zh-CN" sz="2000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 += 1) {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14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1400" dirty="0"/>
              <a:t>    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E787-E6FE-45D8-9039-788B45E44EE7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23A78B2-537B-4A4C-840D-35FC03F8C959}"/>
              </a:ext>
            </a:extLst>
          </p:cNvPr>
          <p:cNvSpPr txBox="1"/>
          <p:nvPr/>
        </p:nvSpPr>
        <p:spPr>
          <a:xfrm>
            <a:off x="5519324" y="2300894"/>
            <a:ext cx="6470648" cy="31700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1"/>
            <a:r>
              <a:rPr lang="en-US" altLang="zh-CN" sz="2000" dirty="0"/>
              <a:t>    </a:t>
            </a:r>
          </a:p>
          <a:p>
            <a:pPr lvl="1"/>
            <a:r>
              <a:rPr lang="en-US" altLang="zh-CN" sz="2000" dirty="0"/>
              <a:t>    li x19, 1       #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1</a:t>
            </a:r>
          </a:p>
          <a:p>
            <a:pPr lvl="1"/>
            <a:r>
              <a:rPr lang="en-US" altLang="zh-CN" sz="2000" dirty="0"/>
              <a:t>for1tst:</a:t>
            </a:r>
          </a:p>
          <a:p>
            <a:pPr lvl="1"/>
            <a:r>
              <a:rPr lang="en-US" altLang="zh-CN" sz="2000" dirty="0"/>
              <a:t>    </a:t>
            </a:r>
            <a:r>
              <a:rPr lang="en-US" altLang="zh-CN" sz="2000" dirty="0" err="1"/>
              <a:t>bge</a:t>
            </a:r>
            <a:r>
              <a:rPr lang="en-US" altLang="zh-CN" sz="2000" dirty="0"/>
              <a:t> x19, x11, exit1    # </a:t>
            </a:r>
            <a:r>
              <a:rPr lang="zh-CN" altLang="en-US" sz="2000" dirty="0"/>
              <a:t>如果</a:t>
            </a:r>
            <a:r>
              <a:rPr lang="en-US" altLang="zh-CN" sz="2000" dirty="0"/>
              <a:t>x19 ≥ x11</a:t>
            </a:r>
            <a:r>
              <a:rPr lang="zh-CN" altLang="en-US" sz="2000" dirty="0"/>
              <a:t>（</a:t>
            </a:r>
            <a:r>
              <a:rPr lang="en-US" altLang="zh-CN" sz="2000" dirty="0" err="1"/>
              <a:t>i≥n</a:t>
            </a:r>
            <a:r>
              <a:rPr lang="zh-CN" altLang="en-US" sz="2000" dirty="0"/>
              <a:t>），跳转 </a:t>
            </a:r>
            <a:endParaRPr lang="en-US" altLang="zh-CN" sz="2000" dirty="0"/>
          </a:p>
          <a:p>
            <a:pPr lvl="1"/>
            <a:r>
              <a:rPr lang="en-US" altLang="zh-CN" sz="2000" dirty="0"/>
              <a:t>                                        </a:t>
            </a:r>
            <a:r>
              <a:rPr lang="zh-CN" altLang="en-US" sz="2000" dirty="0"/>
              <a:t>到</a:t>
            </a:r>
            <a:r>
              <a:rPr lang="en-US" altLang="zh-CN" sz="2000" dirty="0"/>
              <a:t>exit1</a:t>
            </a:r>
          </a:p>
          <a:p>
            <a:pPr lvl="1"/>
            <a:r>
              <a:rPr lang="en-US" altLang="zh-CN" sz="2000" dirty="0"/>
              <a:t>     ….                             #</a:t>
            </a:r>
            <a:r>
              <a:rPr lang="zh-CN" altLang="en-US" sz="2000" dirty="0"/>
              <a:t>外层循环的函数体</a:t>
            </a:r>
          </a:p>
          <a:p>
            <a:pPr lvl="1"/>
            <a:r>
              <a:rPr lang="zh-CN" altLang="en-US" sz="2000" dirty="0"/>
              <a:t>    </a:t>
            </a:r>
            <a:r>
              <a:rPr lang="en-US" altLang="zh-CN" sz="2000" dirty="0" err="1"/>
              <a:t>addi</a:t>
            </a:r>
            <a:r>
              <a:rPr lang="en-US" altLang="zh-CN" sz="2000" dirty="0"/>
              <a:t> x19, x19, 1         #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+= 1</a:t>
            </a:r>
          </a:p>
          <a:p>
            <a:pPr lvl="1"/>
            <a:r>
              <a:rPr lang="en-US" altLang="zh-CN" sz="2000" dirty="0"/>
              <a:t>    j for1tst                       # </a:t>
            </a:r>
            <a:r>
              <a:rPr lang="zh-CN" altLang="en-US" sz="2000" dirty="0"/>
              <a:t>跳转到外层循环</a:t>
            </a:r>
          </a:p>
          <a:p>
            <a:pPr lvl="1"/>
            <a:r>
              <a:rPr lang="en-US" altLang="zh-CN" sz="2000" dirty="0"/>
              <a:t>exit1:</a:t>
            </a:r>
            <a:endParaRPr lang="zh-CN" altLang="en-US" sz="2000" dirty="0"/>
          </a:p>
          <a:p>
            <a:r>
              <a:rPr lang="en-US" altLang="zh-CN" sz="2000" dirty="0"/>
              <a:t> </a:t>
            </a:r>
            <a:endParaRPr lang="zh-CN" altLang="en-US" sz="2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E9AA27-A9A8-4681-830A-17FCCFC01D9D}"/>
              </a:ext>
            </a:extLst>
          </p:cNvPr>
          <p:cNvSpPr/>
          <p:nvPr/>
        </p:nvSpPr>
        <p:spPr>
          <a:xfrm>
            <a:off x="5787194" y="2300893"/>
            <a:ext cx="6150806" cy="3318857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FB0889-DE30-45CC-A6F6-A9886B49B2AB}"/>
              </a:ext>
            </a:extLst>
          </p:cNvPr>
          <p:cNvSpPr txBox="1"/>
          <p:nvPr/>
        </p:nvSpPr>
        <p:spPr>
          <a:xfrm>
            <a:off x="981528" y="3019801"/>
            <a:ext cx="5092700" cy="288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初始化：</a:t>
            </a:r>
            <a:r>
              <a:rPr lang="en-US" altLang="zh-CN" sz="1800" dirty="0"/>
              <a:t> </a:t>
            </a:r>
            <a:r>
              <a:rPr lang="en-US" altLang="zh-CN" dirty="0"/>
              <a:t> li x19, 1       # </a:t>
            </a:r>
            <a:r>
              <a:rPr lang="en-US" altLang="zh-CN" dirty="0" err="1"/>
              <a:t>i</a:t>
            </a:r>
            <a:r>
              <a:rPr lang="en-US" altLang="zh-CN" dirty="0"/>
              <a:t> = 1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循环判断：</a:t>
            </a:r>
            <a:r>
              <a:rPr lang="en-US" altLang="zh-CN" sz="1800" dirty="0"/>
              <a:t> </a:t>
            </a:r>
            <a:r>
              <a:rPr lang="en-US" altLang="zh-CN" dirty="0"/>
              <a:t>for1tst:</a:t>
            </a:r>
          </a:p>
          <a:p>
            <a:pPr lvl="1"/>
            <a:r>
              <a:rPr lang="en-US" altLang="zh-CN" dirty="0"/>
              <a:t>                           </a:t>
            </a:r>
            <a:r>
              <a:rPr lang="en-US" altLang="zh-CN" dirty="0" err="1"/>
              <a:t>bge</a:t>
            </a:r>
            <a:r>
              <a:rPr lang="en-US" altLang="zh-CN" dirty="0"/>
              <a:t> x19, x11, exit1 </a:t>
            </a:r>
            <a:endParaRPr lang="en-US" altLang="zh-CN" sz="1800" dirty="0"/>
          </a:p>
          <a:p>
            <a:pPr>
              <a:lnSpc>
                <a:spcPct val="120000"/>
              </a:lnSpc>
            </a:pPr>
            <a:endParaRPr lang="en-US" altLang="zh-CN" sz="1800" dirty="0"/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循环体</a:t>
            </a:r>
            <a:endParaRPr lang="en-US" altLang="zh-CN" dirty="0"/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循环增值：</a:t>
            </a:r>
            <a:endParaRPr lang="en-US" altLang="zh-CN" dirty="0"/>
          </a:p>
          <a:p>
            <a:pPr lvl="1"/>
            <a:r>
              <a:rPr lang="en-US" altLang="zh-CN" dirty="0"/>
              <a:t>   </a:t>
            </a:r>
            <a:r>
              <a:rPr lang="en-US" altLang="zh-CN" dirty="0" err="1"/>
              <a:t>addi</a:t>
            </a:r>
            <a:r>
              <a:rPr lang="en-US" altLang="zh-CN" dirty="0"/>
              <a:t> x19, x19, 1    # </a:t>
            </a:r>
            <a:r>
              <a:rPr lang="en-US" altLang="zh-CN" dirty="0" err="1"/>
              <a:t>i</a:t>
            </a:r>
            <a:r>
              <a:rPr lang="en-US" altLang="zh-CN" dirty="0"/>
              <a:t> += 1</a:t>
            </a:r>
          </a:p>
          <a:p>
            <a:pPr lvl="1"/>
            <a:r>
              <a:rPr lang="en-US" altLang="zh-CN" dirty="0"/>
              <a:t>    j for1tst               # </a:t>
            </a:r>
            <a:r>
              <a:rPr lang="zh-CN" altLang="en-US" dirty="0"/>
              <a:t>跳转到外层循环</a:t>
            </a:r>
            <a:endParaRPr lang="en-US" altLang="zh-CN" sz="1800" dirty="0"/>
          </a:p>
          <a:p>
            <a:pPr>
              <a:lnSpc>
                <a:spcPct val="120000"/>
              </a:lnSpc>
            </a:pPr>
            <a:endParaRPr lang="en-US" altLang="zh-CN" sz="1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59658C-05FC-4DF2-A626-F6CE83D7914D}"/>
              </a:ext>
            </a:extLst>
          </p:cNvPr>
          <p:cNvSpPr txBox="1"/>
          <p:nvPr/>
        </p:nvSpPr>
        <p:spPr>
          <a:xfrm>
            <a:off x="1013168" y="2421177"/>
            <a:ext cx="4189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v</a:t>
            </a:r>
            <a:r>
              <a:rPr lang="en-US" altLang="zh-CN" sz="2000" dirty="0"/>
              <a:t>-&gt;</a:t>
            </a:r>
            <a:r>
              <a:rPr lang="en-US" altLang="zh-CN" sz="2000" dirty="0">
                <a:solidFill>
                  <a:srgbClr val="0000FF"/>
                </a:solidFill>
              </a:rPr>
              <a:t>x10</a:t>
            </a:r>
            <a:r>
              <a:rPr lang="en-US" altLang="zh-CN" sz="2000" dirty="0"/>
              <a:t>,   </a:t>
            </a:r>
            <a:r>
              <a:rPr lang="en-US" altLang="zh-CN" sz="2000" dirty="0">
                <a:solidFill>
                  <a:srgbClr val="FF0000"/>
                </a:solidFill>
              </a:rPr>
              <a:t>n</a:t>
            </a:r>
            <a:r>
              <a:rPr lang="en-US" altLang="zh-CN" sz="2000" dirty="0"/>
              <a:t>-&gt;</a:t>
            </a:r>
            <a:r>
              <a:rPr lang="en-US" altLang="zh-CN" sz="2000" dirty="0">
                <a:solidFill>
                  <a:srgbClr val="0000FF"/>
                </a:solidFill>
              </a:rPr>
              <a:t>x11</a:t>
            </a:r>
            <a:r>
              <a:rPr lang="en-US" altLang="zh-CN" sz="2000" dirty="0"/>
              <a:t>,   </a:t>
            </a:r>
            <a:r>
              <a:rPr lang="en-US" altLang="zh-CN" sz="2000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/>
              <a:t>-&gt;</a:t>
            </a:r>
            <a:r>
              <a:rPr lang="en-US" altLang="zh-CN" sz="2000" dirty="0">
                <a:solidFill>
                  <a:srgbClr val="0000FF"/>
                </a:solidFill>
              </a:rPr>
              <a:t>x19</a:t>
            </a:r>
            <a:r>
              <a:rPr lang="en-US" altLang="zh-CN" sz="2000" dirty="0"/>
              <a:t>,   </a:t>
            </a:r>
            <a:r>
              <a:rPr lang="en-US" altLang="zh-CN" sz="2000" dirty="0">
                <a:solidFill>
                  <a:srgbClr val="FF0000"/>
                </a:solidFill>
              </a:rPr>
              <a:t>j</a:t>
            </a:r>
            <a:r>
              <a:rPr lang="en-US" altLang="zh-CN" sz="2000" dirty="0"/>
              <a:t>-&gt;</a:t>
            </a:r>
            <a:r>
              <a:rPr lang="en-US" altLang="zh-CN" sz="2000" dirty="0">
                <a:solidFill>
                  <a:srgbClr val="0000FF"/>
                </a:solidFill>
              </a:rPr>
              <a:t>x20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93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内层循环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92485"/>
            <a:ext cx="10515600" cy="1617365"/>
          </a:xfrm>
        </p:spPr>
        <p:txBody>
          <a:bodyPr/>
          <a:lstStyle/>
          <a:p>
            <a:r>
              <a:rPr lang="zh-CN" altLang="en-US" dirty="0"/>
              <a:t>内层循环的框架：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for (j = </a:t>
            </a:r>
            <a:r>
              <a:rPr lang="en-US" altLang="zh-CN" sz="2000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 − 1; j &gt;= 0 &amp;&amp; v[j] &gt; v[j + 1]; j − = 1) {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14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1400" dirty="0"/>
              <a:t>    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E787-E6FE-45D8-9039-788B45E44EE7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23A78B2-537B-4A4C-840D-35FC03F8C959}"/>
              </a:ext>
            </a:extLst>
          </p:cNvPr>
          <p:cNvSpPr txBox="1"/>
          <p:nvPr/>
        </p:nvSpPr>
        <p:spPr>
          <a:xfrm>
            <a:off x="5735224" y="2300894"/>
            <a:ext cx="6470648" cy="48320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addi</a:t>
            </a:r>
            <a:r>
              <a:rPr lang="en-US" altLang="zh-CN" sz="2000" dirty="0"/>
              <a:t> x20, x19, -1     # j =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−1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for2tst: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blt</a:t>
            </a:r>
            <a:r>
              <a:rPr lang="en-US" altLang="zh-CN" sz="2000" dirty="0"/>
              <a:t> x20, x0, exit2     </a:t>
            </a:r>
            <a:r>
              <a:rPr lang="en-US" altLang="zh-CN" dirty="0"/>
              <a:t># </a:t>
            </a:r>
            <a:r>
              <a:rPr lang="zh-CN" altLang="en-US" dirty="0"/>
              <a:t>如果</a:t>
            </a:r>
            <a:r>
              <a:rPr lang="en-US" altLang="zh-CN" dirty="0"/>
              <a:t>x20 &lt; 0 (j &lt; 0)</a:t>
            </a:r>
            <a:r>
              <a:rPr lang="zh-CN" altLang="en-US" dirty="0"/>
              <a:t>，跳转到</a:t>
            </a:r>
            <a:r>
              <a:rPr lang="en-US" altLang="zh-CN" dirty="0"/>
              <a:t>exit2</a:t>
            </a:r>
            <a:endParaRPr lang="en-US" altLang="zh-CN" sz="200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slli</a:t>
            </a:r>
            <a:r>
              <a:rPr lang="en-US" altLang="zh-CN" sz="2000" dirty="0"/>
              <a:t> x5, x20, 3          # x5 = j * 8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    add x5, x10, x5       # x5 = v + (j * 8)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ld</a:t>
            </a:r>
            <a:r>
              <a:rPr lang="en-US" altLang="zh-CN" sz="2000" dirty="0"/>
              <a:t> x6, 0(x5)             # x6 = v[j]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ld</a:t>
            </a:r>
            <a:r>
              <a:rPr lang="en-US" altLang="zh-CN" sz="2000" dirty="0"/>
              <a:t> x7, 8(x5)             # x7 = v[j + 1]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ble</a:t>
            </a:r>
            <a:r>
              <a:rPr lang="en-US" altLang="zh-CN" sz="2000" dirty="0"/>
              <a:t> x6, x7, exit2      # </a:t>
            </a:r>
            <a:r>
              <a:rPr lang="zh-CN" altLang="en-US" sz="2000" dirty="0"/>
              <a:t>如果</a:t>
            </a:r>
            <a:r>
              <a:rPr lang="en-US" altLang="zh-CN" sz="2000" dirty="0"/>
              <a:t>x6 ≤ x7</a:t>
            </a:r>
            <a:r>
              <a:rPr lang="zh-CN" altLang="en-US" sz="2000" dirty="0"/>
              <a:t>，跳转到</a:t>
            </a:r>
            <a:r>
              <a:rPr lang="en-US" altLang="zh-CN" sz="2000" dirty="0"/>
              <a:t>exit2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    …                            # </a:t>
            </a:r>
            <a:r>
              <a:rPr lang="zh-CN" altLang="en-US" sz="2000" dirty="0"/>
              <a:t>第二个循环体</a:t>
            </a:r>
            <a:endParaRPr lang="en-US" altLang="zh-CN" sz="200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addi</a:t>
            </a:r>
            <a:r>
              <a:rPr lang="en-US" altLang="zh-CN" sz="2000" dirty="0"/>
              <a:t> x20, x20, -1     # j –= 1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    j for2tst                    # </a:t>
            </a:r>
            <a:r>
              <a:rPr lang="zh-CN" altLang="en-US" sz="2000" dirty="0"/>
              <a:t>跳转到内层循环的判断语句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exit2:</a:t>
            </a:r>
          </a:p>
          <a:p>
            <a:r>
              <a:rPr lang="en-US" altLang="zh-CN" sz="2000" dirty="0"/>
              <a:t> </a:t>
            </a:r>
            <a:endParaRPr lang="zh-CN" altLang="en-US" sz="2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E9AA27-A9A8-4681-830A-17FCCFC01D9D}"/>
              </a:ext>
            </a:extLst>
          </p:cNvPr>
          <p:cNvSpPr/>
          <p:nvPr/>
        </p:nvSpPr>
        <p:spPr>
          <a:xfrm>
            <a:off x="6140450" y="2300893"/>
            <a:ext cx="5797550" cy="4484081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FB0889-DE30-45CC-A6F6-A9886B49B2AB}"/>
              </a:ext>
            </a:extLst>
          </p:cNvPr>
          <p:cNvSpPr txBox="1"/>
          <p:nvPr/>
        </p:nvSpPr>
        <p:spPr>
          <a:xfrm>
            <a:off x="902874" y="3012960"/>
            <a:ext cx="5092700" cy="371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初始化：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addi</a:t>
            </a:r>
            <a:r>
              <a:rPr lang="en-US" altLang="zh-CN" sz="1800" dirty="0"/>
              <a:t> x20, x19, -1 </a:t>
            </a:r>
            <a:r>
              <a:rPr lang="en-US" altLang="zh-CN" dirty="0"/>
              <a:t>   1     # j = </a:t>
            </a:r>
            <a:r>
              <a:rPr lang="en-US" altLang="zh-CN" dirty="0" err="1"/>
              <a:t>i</a:t>
            </a:r>
            <a:r>
              <a:rPr lang="en-US" altLang="zh-CN" dirty="0"/>
              <a:t> −1</a:t>
            </a:r>
            <a:endParaRPr lang="en-US" altLang="zh-CN" sz="1800" dirty="0"/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结束时自减：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addi</a:t>
            </a:r>
            <a:r>
              <a:rPr lang="en-US" altLang="zh-CN" sz="1800" dirty="0"/>
              <a:t> x20, x20, -1 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判断有两部分：</a:t>
            </a:r>
            <a:r>
              <a:rPr lang="en-US" altLang="zh-CN" sz="1800" dirty="0"/>
              <a:t>j &gt;= 0 &amp;&amp; v[j] &gt; v[j + 1]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   第一个判断</a:t>
            </a:r>
            <a:r>
              <a:rPr lang="en-US" altLang="zh-CN" dirty="0"/>
              <a:t>j&lt;0</a:t>
            </a:r>
            <a:r>
              <a:rPr lang="zh-CN" altLang="en-US" dirty="0"/>
              <a:t>：</a:t>
            </a:r>
            <a:r>
              <a:rPr lang="en-US" altLang="zh-CN" sz="1800" dirty="0"/>
              <a:t> </a:t>
            </a:r>
            <a:r>
              <a:rPr lang="en-US" altLang="zh-CN" sz="1800" dirty="0" err="1"/>
              <a:t>blt</a:t>
            </a:r>
            <a:r>
              <a:rPr lang="en-US" altLang="zh-CN" sz="1800" dirty="0"/>
              <a:t> x20, x0, exit2 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   第二个判断</a:t>
            </a:r>
            <a:r>
              <a:rPr lang="en-US" altLang="zh-CN" sz="1800" dirty="0"/>
              <a:t>v[j] &lt;= v[j + 1]</a:t>
            </a:r>
            <a:r>
              <a:rPr lang="zh-CN" altLang="en-US" dirty="0"/>
              <a:t>，首先加载</a:t>
            </a:r>
            <a:r>
              <a:rPr lang="en-US" altLang="zh-CN" dirty="0"/>
              <a:t>v[j]</a:t>
            </a:r>
            <a:r>
              <a:rPr lang="zh-CN" altLang="en-US" dirty="0"/>
              <a:t>和</a:t>
            </a:r>
            <a:r>
              <a:rPr lang="en-US" altLang="zh-CN" dirty="0"/>
              <a:t>v[j+1]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1800" dirty="0" err="1"/>
              <a:t>slli</a:t>
            </a:r>
            <a:r>
              <a:rPr lang="en-US" altLang="zh-CN" sz="1800" dirty="0"/>
              <a:t> x5, x20, 3          # x5 = j * 8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1800" dirty="0"/>
              <a:t>add x5, x10, x5       # x5 = v + (j * 8)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1800" dirty="0" err="1"/>
              <a:t>ld</a:t>
            </a:r>
            <a:r>
              <a:rPr lang="en-US" altLang="zh-CN" sz="1800" dirty="0"/>
              <a:t> x6, 0(x5)            # x6 = v[j]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1800" dirty="0" err="1"/>
              <a:t>ld</a:t>
            </a:r>
            <a:r>
              <a:rPr lang="en-US" altLang="zh-CN" sz="1800" dirty="0"/>
              <a:t> x7, 8(x5)            # x7 = v[j + 1]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      然后判断：</a:t>
            </a:r>
            <a:r>
              <a:rPr lang="en-US" altLang="zh-CN" dirty="0" err="1"/>
              <a:t>ble</a:t>
            </a:r>
            <a:r>
              <a:rPr lang="en-US" altLang="zh-CN" dirty="0"/>
              <a:t> x6, x7, exit2 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都不成立，则执行循环体，即</a:t>
            </a:r>
            <a:r>
              <a:rPr lang="en-US" altLang="zh-CN" dirty="0"/>
              <a:t>swap</a:t>
            </a:r>
            <a:r>
              <a:rPr lang="zh-CN" altLang="en-US" dirty="0"/>
              <a:t>，再循环</a:t>
            </a:r>
            <a:endParaRPr lang="en-US" altLang="zh-CN" sz="1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59658C-05FC-4DF2-A626-F6CE83D7914D}"/>
              </a:ext>
            </a:extLst>
          </p:cNvPr>
          <p:cNvSpPr txBox="1"/>
          <p:nvPr/>
        </p:nvSpPr>
        <p:spPr>
          <a:xfrm>
            <a:off x="1277526" y="2486523"/>
            <a:ext cx="4189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v</a:t>
            </a:r>
            <a:r>
              <a:rPr lang="en-US" altLang="zh-CN" sz="2000" dirty="0"/>
              <a:t>-&gt;</a:t>
            </a:r>
            <a:r>
              <a:rPr lang="en-US" altLang="zh-CN" sz="2000" dirty="0">
                <a:solidFill>
                  <a:srgbClr val="0000FF"/>
                </a:solidFill>
              </a:rPr>
              <a:t>x10</a:t>
            </a:r>
            <a:r>
              <a:rPr lang="en-US" altLang="zh-CN" sz="2000" dirty="0"/>
              <a:t>,   </a:t>
            </a:r>
            <a:r>
              <a:rPr lang="en-US" altLang="zh-CN" sz="2000" dirty="0">
                <a:solidFill>
                  <a:srgbClr val="FF0000"/>
                </a:solidFill>
              </a:rPr>
              <a:t>n</a:t>
            </a:r>
            <a:r>
              <a:rPr lang="en-US" altLang="zh-CN" sz="2000" dirty="0"/>
              <a:t>-&gt;</a:t>
            </a:r>
            <a:r>
              <a:rPr lang="en-US" altLang="zh-CN" sz="2000" dirty="0">
                <a:solidFill>
                  <a:srgbClr val="0000FF"/>
                </a:solidFill>
              </a:rPr>
              <a:t>x11</a:t>
            </a:r>
            <a:r>
              <a:rPr lang="en-US" altLang="zh-CN" sz="2000" dirty="0"/>
              <a:t>,   </a:t>
            </a:r>
            <a:r>
              <a:rPr lang="en-US" altLang="zh-CN" sz="2000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/>
              <a:t>-&gt;</a:t>
            </a:r>
            <a:r>
              <a:rPr lang="en-US" altLang="zh-CN" sz="2000" dirty="0">
                <a:solidFill>
                  <a:srgbClr val="0000FF"/>
                </a:solidFill>
              </a:rPr>
              <a:t>x19</a:t>
            </a:r>
            <a:r>
              <a:rPr lang="en-US" altLang="zh-CN" sz="2000" dirty="0"/>
              <a:t>,   </a:t>
            </a:r>
            <a:r>
              <a:rPr lang="en-US" altLang="zh-CN" sz="2000" dirty="0">
                <a:solidFill>
                  <a:srgbClr val="FF0000"/>
                </a:solidFill>
              </a:rPr>
              <a:t>j</a:t>
            </a:r>
            <a:r>
              <a:rPr lang="en-US" altLang="zh-CN" sz="2000" dirty="0"/>
              <a:t>-&gt;</a:t>
            </a:r>
            <a:r>
              <a:rPr lang="en-US" altLang="zh-CN" sz="2000" dirty="0">
                <a:solidFill>
                  <a:srgbClr val="0000FF"/>
                </a:solidFill>
              </a:rPr>
              <a:t>x20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第二个</a:t>
            </a:r>
            <a:r>
              <a:rPr lang="en-US" altLang="zh-CN" dirty="0"/>
              <a:t>for</a:t>
            </a:r>
            <a:r>
              <a:rPr lang="zh-CN" altLang="en-US" dirty="0"/>
              <a:t>循环的循环体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3387" y="1225521"/>
            <a:ext cx="10515600" cy="16173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调用</a:t>
            </a:r>
            <a:r>
              <a:rPr lang="en-US" altLang="zh-CN" dirty="0"/>
              <a:t>swap</a:t>
            </a:r>
            <a:r>
              <a:rPr lang="zh-CN" altLang="en-US" dirty="0"/>
              <a:t>函数：</a:t>
            </a:r>
            <a:endParaRPr lang="en-US" altLang="zh-CN" dirty="0"/>
          </a:p>
          <a:p>
            <a:pPr marL="457200" lvl="2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zh-CN" altLang="en-US" dirty="0"/>
              <a:t>问题：</a:t>
            </a:r>
            <a:r>
              <a:rPr lang="en-US" altLang="zh-CN" dirty="0"/>
              <a:t>sort</a:t>
            </a:r>
            <a:r>
              <a:rPr lang="zh-CN" altLang="en-US" dirty="0"/>
              <a:t>过程用到</a:t>
            </a:r>
            <a:r>
              <a:rPr lang="en-US" altLang="zh-CN" dirty="0"/>
              <a:t>x10</a:t>
            </a:r>
            <a:r>
              <a:rPr lang="zh-CN" altLang="en-US" dirty="0"/>
              <a:t>和</a:t>
            </a:r>
            <a:r>
              <a:rPr lang="en-US" altLang="zh-CN" dirty="0"/>
              <a:t>x11</a:t>
            </a:r>
            <a:r>
              <a:rPr lang="zh-CN" altLang="en-US" dirty="0"/>
              <a:t>，但 </a:t>
            </a:r>
            <a:r>
              <a:rPr lang="en-US" altLang="zh-CN" dirty="0"/>
              <a:t>swap</a:t>
            </a:r>
            <a:r>
              <a:rPr lang="zh-CN" altLang="en-US" dirty="0"/>
              <a:t>用</a:t>
            </a:r>
            <a:r>
              <a:rPr lang="en-US" altLang="zh-CN" dirty="0"/>
              <a:t> x10</a:t>
            </a:r>
            <a:r>
              <a:rPr lang="zh-CN" altLang="en-US" dirty="0"/>
              <a:t>和</a:t>
            </a:r>
            <a:r>
              <a:rPr lang="en-US" altLang="zh-CN" dirty="0"/>
              <a:t>x11</a:t>
            </a:r>
            <a:r>
              <a:rPr lang="zh-CN" altLang="en-US" dirty="0"/>
              <a:t>来传参</a:t>
            </a:r>
            <a:endParaRPr lang="en-US" altLang="zh-CN" dirty="0"/>
          </a:p>
          <a:p>
            <a:pPr marL="685800" lvl="2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压栈？太慢且没有必要</a:t>
            </a:r>
            <a:endParaRPr lang="en-US" altLang="zh-CN" dirty="0"/>
          </a:p>
          <a:p>
            <a:pPr marL="685800" lvl="2">
              <a:lnSpc>
                <a:spcPct val="100000"/>
              </a:lnSpc>
              <a:spcBef>
                <a:spcPts val="1000"/>
              </a:spcBef>
            </a:pPr>
            <a:r>
              <a:rPr lang="en-US" altLang="zh-CN" dirty="0"/>
              <a:t>sort</a:t>
            </a:r>
            <a:r>
              <a:rPr lang="zh-CN" altLang="en-US" dirty="0"/>
              <a:t>过程的</a:t>
            </a:r>
            <a:r>
              <a:rPr lang="en-US" altLang="zh-CN" dirty="0"/>
              <a:t>x10</a:t>
            </a:r>
            <a:r>
              <a:rPr lang="zh-CN" altLang="en-US" dirty="0"/>
              <a:t>和</a:t>
            </a:r>
            <a:r>
              <a:rPr lang="en-US" altLang="zh-CN" dirty="0"/>
              <a:t>x11</a:t>
            </a:r>
            <a:r>
              <a:rPr lang="zh-CN" altLang="en-US" dirty="0"/>
              <a:t>用其他寄存器替代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1400" dirty="0"/>
              <a:t>    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E787-E6FE-45D8-9039-788B45E44EE7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19BAE4-F231-4CDD-BED3-DACD0D9875B4}"/>
              </a:ext>
            </a:extLst>
          </p:cNvPr>
          <p:cNvSpPr txBox="1"/>
          <p:nvPr/>
        </p:nvSpPr>
        <p:spPr>
          <a:xfrm>
            <a:off x="1644009" y="3372332"/>
            <a:ext cx="6346105" cy="3442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较早的地方将</a:t>
            </a:r>
            <a:r>
              <a:rPr lang="en-US" altLang="zh-CN" sz="2000" dirty="0"/>
              <a:t>x10</a:t>
            </a:r>
            <a:r>
              <a:rPr lang="zh-CN" altLang="en-US" sz="2000" dirty="0"/>
              <a:t>和</a:t>
            </a:r>
            <a:r>
              <a:rPr lang="en-US" altLang="zh-CN" sz="2000" dirty="0"/>
              <a:t>x11</a:t>
            </a:r>
            <a:r>
              <a:rPr lang="zh-CN" altLang="en-US" sz="2000" dirty="0"/>
              <a:t>的值复制出来：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 </a:t>
            </a:r>
            <a:r>
              <a:rPr lang="en-US" altLang="zh-CN" sz="2000" dirty="0"/>
              <a:t> mv x21,  x10        # </a:t>
            </a:r>
            <a:r>
              <a:rPr lang="zh-CN" altLang="en-US" sz="2000" dirty="0"/>
              <a:t>将参数</a:t>
            </a:r>
            <a:r>
              <a:rPr lang="en-US" altLang="zh-CN" sz="2000" dirty="0"/>
              <a:t>x10</a:t>
            </a:r>
            <a:r>
              <a:rPr lang="zh-CN" altLang="en-US" sz="2000" dirty="0"/>
              <a:t>复制到</a:t>
            </a:r>
            <a:r>
              <a:rPr lang="en-US" altLang="zh-CN" sz="2000" dirty="0"/>
              <a:t>x21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  mv x22,  x11         # </a:t>
            </a:r>
            <a:r>
              <a:rPr lang="zh-CN" altLang="en-US" sz="2000" dirty="0"/>
              <a:t>将参数</a:t>
            </a:r>
            <a:r>
              <a:rPr lang="en-US" altLang="zh-CN" sz="2000" dirty="0"/>
              <a:t>x11</a:t>
            </a:r>
            <a:r>
              <a:rPr lang="zh-CN" altLang="en-US" sz="2000" dirty="0"/>
              <a:t>复制到</a:t>
            </a:r>
            <a:r>
              <a:rPr lang="en-US" altLang="zh-CN" sz="2000" dirty="0"/>
              <a:t>x22</a:t>
            </a:r>
          </a:p>
          <a:p>
            <a:pPr marL="2857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调用</a:t>
            </a:r>
            <a:r>
              <a:rPr lang="en-US" altLang="zh-CN" sz="2000" dirty="0"/>
              <a:t>swap</a:t>
            </a:r>
            <a:r>
              <a:rPr lang="zh-CN" altLang="en-US" sz="2000" dirty="0"/>
              <a:t>时用</a:t>
            </a:r>
            <a:r>
              <a:rPr lang="en-US" altLang="zh-CN" sz="2000" dirty="0"/>
              <a:t>x10, x11</a:t>
            </a:r>
            <a:r>
              <a:rPr lang="zh-CN" altLang="en-US" sz="2000" dirty="0"/>
              <a:t>传参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  mv x10,  x21            #  swap</a:t>
            </a:r>
            <a:r>
              <a:rPr lang="zh-CN" altLang="en-US" sz="2000" dirty="0"/>
              <a:t>的第一个参数是</a:t>
            </a:r>
            <a:r>
              <a:rPr lang="en-US" altLang="zh-CN" sz="2000" dirty="0"/>
              <a:t>v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  mv x11,  x20            #  swap</a:t>
            </a:r>
            <a:r>
              <a:rPr lang="zh-CN" altLang="en-US" sz="2000" dirty="0"/>
              <a:t>的第二个参数是</a:t>
            </a:r>
            <a:r>
              <a:rPr lang="en-US" altLang="zh-CN" sz="2000" dirty="0"/>
              <a:t>j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  </a:t>
            </a:r>
            <a:r>
              <a:rPr lang="en-US" altLang="zh-CN" sz="2000" dirty="0" err="1"/>
              <a:t>jal</a:t>
            </a:r>
            <a:r>
              <a:rPr lang="en-US" altLang="zh-CN" sz="2000" dirty="0"/>
              <a:t> x1,  swap             # </a:t>
            </a:r>
            <a:r>
              <a:rPr lang="zh-CN" altLang="en-US" sz="2000" dirty="0"/>
              <a:t>调用</a:t>
            </a:r>
            <a:r>
              <a:rPr lang="en-US" altLang="zh-CN" sz="2000" dirty="0"/>
              <a:t>swap</a:t>
            </a: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031040-E5E6-4A11-B034-1CF62215EC7A}"/>
              </a:ext>
            </a:extLst>
          </p:cNvPr>
          <p:cNvSpPr txBox="1"/>
          <p:nvPr/>
        </p:nvSpPr>
        <p:spPr>
          <a:xfrm>
            <a:off x="4052474" y="1308077"/>
            <a:ext cx="5085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v</a:t>
            </a:r>
            <a:r>
              <a:rPr lang="en-US" altLang="zh-CN" sz="2400" dirty="0"/>
              <a:t>-&gt;</a:t>
            </a:r>
            <a:r>
              <a:rPr lang="en-US" altLang="zh-CN" sz="2400" dirty="0">
                <a:solidFill>
                  <a:srgbClr val="0000FF"/>
                </a:solidFill>
              </a:rPr>
              <a:t>x10</a:t>
            </a:r>
            <a:r>
              <a:rPr lang="en-US" altLang="zh-CN" sz="2400" dirty="0"/>
              <a:t>,   </a:t>
            </a:r>
            <a:r>
              <a:rPr lang="en-US" altLang="zh-CN" sz="2400" dirty="0">
                <a:solidFill>
                  <a:srgbClr val="FF0000"/>
                </a:solidFill>
              </a:rPr>
              <a:t>n</a:t>
            </a:r>
            <a:r>
              <a:rPr lang="en-US" altLang="zh-CN" sz="2400" dirty="0"/>
              <a:t>-&gt;</a:t>
            </a:r>
            <a:r>
              <a:rPr lang="en-US" altLang="zh-CN" sz="2400" dirty="0">
                <a:solidFill>
                  <a:srgbClr val="0000FF"/>
                </a:solidFill>
              </a:rPr>
              <a:t>x11</a:t>
            </a:r>
            <a:r>
              <a:rPr lang="en-US" altLang="zh-CN" sz="2400" dirty="0"/>
              <a:t>,   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/>
              <a:t>-&gt;</a:t>
            </a:r>
            <a:r>
              <a:rPr lang="en-US" altLang="zh-CN" sz="2400" dirty="0">
                <a:solidFill>
                  <a:srgbClr val="0000FF"/>
                </a:solidFill>
              </a:rPr>
              <a:t>x19</a:t>
            </a:r>
            <a:r>
              <a:rPr lang="en-US" altLang="zh-CN" sz="2400" dirty="0"/>
              <a:t>,   </a:t>
            </a:r>
            <a:r>
              <a:rPr lang="en-US" altLang="zh-CN" sz="2400" dirty="0">
                <a:solidFill>
                  <a:srgbClr val="FF0000"/>
                </a:solidFill>
              </a:rPr>
              <a:t>j</a:t>
            </a:r>
            <a:r>
              <a:rPr lang="en-US" altLang="zh-CN" sz="2400" dirty="0"/>
              <a:t>-&gt;</a:t>
            </a:r>
            <a:r>
              <a:rPr lang="en-US" altLang="zh-CN" sz="2400" dirty="0">
                <a:solidFill>
                  <a:srgbClr val="0000FF"/>
                </a:solidFill>
              </a:rPr>
              <a:t>x20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B033CBF-8F3A-4A92-90AD-3E1F4AEDF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993" y="2405566"/>
            <a:ext cx="5332007" cy="254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0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保存寄存器值</a:t>
            </a:r>
            <a:r>
              <a:rPr lang="en-US" altLang="zh-CN" dirty="0"/>
              <a:t>-</a:t>
            </a:r>
            <a:r>
              <a:rPr lang="zh-CN" altLang="en-US" dirty="0"/>
              <a:t>入栈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E787-E6FE-45D8-9039-788B45E44EE7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096000" y="1560513"/>
            <a:ext cx="5607050" cy="4873625"/>
          </a:xfrm>
        </p:spPr>
        <p:txBody>
          <a:bodyPr/>
          <a:lstStyle/>
          <a:p>
            <a:pPr marL="457200" lvl="1" indent="0" fontAlgn="auto">
              <a:buNone/>
            </a:pPr>
            <a:r>
              <a:rPr lang="en-US" altLang="zh-CN" sz="2400" dirty="0" err="1"/>
              <a:t>addi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sp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sp</a:t>
            </a:r>
            <a:r>
              <a:rPr lang="en-US" altLang="zh-CN" sz="2400" dirty="0"/>
              <a:t>, -40 # </a:t>
            </a:r>
            <a:r>
              <a:rPr lang="zh-CN" altLang="en-US" sz="2400" dirty="0"/>
              <a:t>在栈中留出</a:t>
            </a:r>
            <a:r>
              <a:rPr lang="en-US" altLang="zh-CN" sz="2400" dirty="0"/>
              <a:t>5</a:t>
            </a:r>
            <a:r>
              <a:rPr lang="zh-CN" altLang="en-US" sz="2400" dirty="0"/>
              <a:t>个寄存   </a:t>
            </a:r>
            <a:endParaRPr lang="en-US" altLang="zh-CN" sz="2400" dirty="0"/>
          </a:p>
          <a:p>
            <a:pPr marL="457200" lvl="1" indent="0" fontAlgn="auto">
              <a:buNone/>
            </a:pPr>
            <a:r>
              <a:rPr lang="en-US" altLang="zh-CN" sz="2400" dirty="0"/>
              <a:t>                              </a:t>
            </a:r>
            <a:r>
              <a:rPr lang="zh-CN" altLang="en-US" sz="2400" dirty="0"/>
              <a:t>器（双字）的空间</a:t>
            </a:r>
          </a:p>
          <a:p>
            <a:pPr marL="457200" lvl="1" indent="0">
              <a:buNone/>
            </a:pPr>
            <a:r>
              <a:rPr lang="en-US" altLang="zh-CN" sz="2400" dirty="0" err="1"/>
              <a:t>sd</a:t>
            </a:r>
            <a:r>
              <a:rPr lang="en-US" altLang="zh-CN" sz="2400" dirty="0"/>
              <a:t> x1, 32(</a:t>
            </a:r>
            <a:r>
              <a:rPr lang="en-US" altLang="zh-CN" sz="2400" dirty="0" err="1"/>
              <a:t>sp</a:t>
            </a:r>
            <a:r>
              <a:rPr lang="en-US" altLang="zh-CN" sz="2400" dirty="0"/>
              <a:t>)     #  </a:t>
            </a:r>
            <a:r>
              <a:rPr lang="zh-CN" altLang="en-US" sz="2400" dirty="0"/>
              <a:t>保存</a:t>
            </a:r>
            <a:r>
              <a:rPr lang="en-US" altLang="zh-CN" sz="2400" dirty="0"/>
              <a:t>x1</a:t>
            </a:r>
            <a:r>
              <a:rPr lang="zh-CN" altLang="en-US" sz="2400" dirty="0"/>
              <a:t>的值（入栈）</a:t>
            </a:r>
          </a:p>
          <a:p>
            <a:pPr marL="457200" lvl="1" indent="0">
              <a:buNone/>
            </a:pPr>
            <a:r>
              <a:rPr lang="en-US" altLang="zh-CN" sz="2400" dirty="0" err="1"/>
              <a:t>sd</a:t>
            </a:r>
            <a:r>
              <a:rPr lang="en-US" altLang="zh-CN" sz="2400" dirty="0"/>
              <a:t> x22, 24(</a:t>
            </a:r>
            <a:r>
              <a:rPr lang="en-US" altLang="zh-CN" sz="2400" dirty="0" err="1"/>
              <a:t>sp</a:t>
            </a:r>
            <a:r>
              <a:rPr lang="en-US" altLang="zh-CN" sz="2400" dirty="0"/>
              <a:t>)   # </a:t>
            </a:r>
            <a:r>
              <a:rPr lang="zh-CN" altLang="en-US" sz="2400" dirty="0"/>
              <a:t>保存</a:t>
            </a:r>
            <a:r>
              <a:rPr lang="en-US" altLang="zh-CN" sz="2400" dirty="0"/>
              <a:t>x22</a:t>
            </a:r>
            <a:r>
              <a:rPr lang="zh-CN" altLang="en-US" sz="2400" dirty="0"/>
              <a:t>的值（入栈）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 err="1"/>
              <a:t>sd</a:t>
            </a:r>
            <a:r>
              <a:rPr lang="en-US" altLang="zh-CN" sz="2400" dirty="0"/>
              <a:t> x21, 16(</a:t>
            </a:r>
            <a:r>
              <a:rPr lang="en-US" altLang="zh-CN" sz="2400" dirty="0" err="1"/>
              <a:t>sp</a:t>
            </a:r>
            <a:r>
              <a:rPr lang="en-US" altLang="zh-CN" sz="2400" dirty="0"/>
              <a:t>)   # </a:t>
            </a:r>
            <a:r>
              <a:rPr lang="zh-CN" altLang="en-US" sz="2400" dirty="0"/>
              <a:t>保存</a:t>
            </a:r>
            <a:r>
              <a:rPr lang="en-US" altLang="zh-CN" sz="2400" dirty="0"/>
              <a:t>x21</a:t>
            </a:r>
            <a:r>
              <a:rPr lang="zh-CN" altLang="en-US" sz="2400" dirty="0"/>
              <a:t>的值（入栈）</a:t>
            </a:r>
            <a:r>
              <a:rPr lang="en-US" altLang="zh-CN" sz="2400" dirty="0"/>
              <a:t> </a:t>
            </a:r>
          </a:p>
          <a:p>
            <a:pPr marL="457200" lvl="1" indent="0">
              <a:buNone/>
            </a:pPr>
            <a:r>
              <a:rPr lang="en-US" altLang="zh-CN" sz="2400" dirty="0" err="1"/>
              <a:t>sd</a:t>
            </a:r>
            <a:r>
              <a:rPr lang="en-US" altLang="zh-CN" sz="2400" dirty="0"/>
              <a:t> x20, 8(</a:t>
            </a:r>
            <a:r>
              <a:rPr lang="en-US" altLang="zh-CN" sz="2400" dirty="0" err="1"/>
              <a:t>sp</a:t>
            </a:r>
            <a:r>
              <a:rPr lang="en-US" altLang="zh-CN" sz="2400" dirty="0"/>
              <a:t>)     # </a:t>
            </a:r>
            <a:r>
              <a:rPr lang="zh-CN" altLang="en-US" sz="2400" dirty="0"/>
              <a:t>保存</a:t>
            </a:r>
            <a:r>
              <a:rPr lang="en-US" altLang="zh-CN" sz="2400" dirty="0"/>
              <a:t>x20</a:t>
            </a:r>
            <a:r>
              <a:rPr lang="zh-CN" altLang="en-US" sz="2400" dirty="0"/>
              <a:t>的值（入栈）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 err="1"/>
              <a:t>sd</a:t>
            </a:r>
            <a:r>
              <a:rPr lang="en-US" altLang="zh-CN" sz="2400" dirty="0"/>
              <a:t> x19, 0(</a:t>
            </a:r>
            <a:r>
              <a:rPr lang="en-US" altLang="zh-CN" sz="2400" dirty="0" err="1"/>
              <a:t>sp</a:t>
            </a:r>
            <a:r>
              <a:rPr lang="en-US" altLang="zh-CN" sz="2400" dirty="0"/>
              <a:t>)     # </a:t>
            </a:r>
            <a:r>
              <a:rPr lang="zh-CN" altLang="en-US" sz="2400" dirty="0"/>
              <a:t>保存</a:t>
            </a:r>
            <a:r>
              <a:rPr lang="en-US" altLang="zh-CN" sz="2400" dirty="0"/>
              <a:t>x19</a:t>
            </a:r>
            <a:r>
              <a:rPr lang="zh-CN" altLang="en-US" sz="2400" dirty="0"/>
              <a:t>的值（入栈）</a:t>
            </a:r>
            <a:endParaRPr lang="en-US" altLang="zh-CN" sz="2400" dirty="0"/>
          </a:p>
          <a:p>
            <a:pPr marL="457200" lvl="1" indent="0" fontAlgn="auto">
              <a:buNone/>
            </a:pPr>
            <a:endParaRPr lang="zh-CN" altLang="en-US" sz="2400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584200" y="1482725"/>
            <a:ext cx="5835650" cy="4873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800" dirty="0"/>
              <a:t>需保存的寄存器：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x1, x22, x21, x20, x19</a:t>
            </a:r>
          </a:p>
          <a:p>
            <a:pPr>
              <a:lnSpc>
                <a:spcPct val="100000"/>
              </a:lnSpc>
            </a:pPr>
            <a:r>
              <a:rPr lang="zh-CN" altLang="en-US" sz="2800" dirty="0"/>
              <a:t>执行循环体之前</a:t>
            </a:r>
          </a:p>
          <a:p>
            <a:pPr marL="457200" lvl="1" indent="0" fontAlgn="auto">
              <a:buNone/>
            </a:pPr>
            <a:endParaRPr lang="en-US" altLang="zh-CN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7379A01-77DF-4B08-A7B5-91A374FC2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55" y="3324490"/>
            <a:ext cx="6061995" cy="289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0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恢复寄存器值</a:t>
            </a:r>
            <a:r>
              <a:rPr lang="en-US" altLang="zh-CN" dirty="0"/>
              <a:t>-</a:t>
            </a:r>
            <a:r>
              <a:rPr lang="zh-CN" altLang="en-US" dirty="0"/>
              <a:t>出栈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E787-E6FE-45D8-9039-788B45E44EE7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584200" y="1482725"/>
            <a:ext cx="5835650" cy="4873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800" dirty="0"/>
              <a:t>恢复的寄存器：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x1, x22, x21, x20, x19</a:t>
            </a:r>
          </a:p>
          <a:p>
            <a:pPr>
              <a:lnSpc>
                <a:spcPct val="100000"/>
              </a:lnSpc>
            </a:pPr>
            <a:r>
              <a:rPr lang="zh-CN" altLang="en-US" sz="2800" dirty="0"/>
              <a:t>执行完循环体返回之前</a:t>
            </a:r>
          </a:p>
          <a:p>
            <a:pPr marL="457200" lvl="1" indent="0" fontAlgn="auto">
              <a:buNone/>
            </a:pPr>
            <a:endParaRPr lang="en-US" altLang="zh-CN" sz="240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2167004-D1FB-4586-BB0C-3693D0222E19}"/>
              </a:ext>
            </a:extLst>
          </p:cNvPr>
          <p:cNvSpPr txBox="1"/>
          <p:nvPr/>
        </p:nvSpPr>
        <p:spPr>
          <a:xfrm>
            <a:off x="6356350" y="1303655"/>
            <a:ext cx="5835650" cy="4873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fontAlgn="auto">
              <a:buNone/>
            </a:pPr>
            <a:r>
              <a:rPr lang="en-US" altLang="zh-CN" sz="2400" dirty="0"/>
              <a:t>exit1:</a:t>
            </a:r>
          </a:p>
          <a:p>
            <a:pPr marL="457200" lvl="1" indent="0" fontAlgn="auto">
              <a:buNone/>
            </a:pPr>
            <a:r>
              <a:rPr lang="en-US" altLang="zh-CN" sz="2400" dirty="0"/>
              <a:t>   </a:t>
            </a:r>
            <a:r>
              <a:rPr lang="en-US" altLang="zh-CN" sz="2400" dirty="0" err="1"/>
              <a:t>ld</a:t>
            </a:r>
            <a:r>
              <a:rPr lang="en-US" altLang="zh-CN" sz="2400" dirty="0"/>
              <a:t> x19, 0(</a:t>
            </a:r>
            <a:r>
              <a:rPr lang="en-US" altLang="zh-CN" sz="2400" dirty="0" err="1"/>
              <a:t>sp</a:t>
            </a:r>
            <a:r>
              <a:rPr lang="en-US" altLang="zh-CN" sz="2400" dirty="0"/>
              <a:t>)    # </a:t>
            </a:r>
            <a:r>
              <a:rPr lang="zh-CN" altLang="en-US" sz="2400" dirty="0"/>
              <a:t>恢复</a:t>
            </a:r>
            <a:r>
              <a:rPr lang="en-US" altLang="zh-CN" sz="2400" dirty="0"/>
              <a:t>x19</a:t>
            </a:r>
            <a:r>
              <a:rPr lang="zh-CN" altLang="en-US" sz="2400" dirty="0"/>
              <a:t>（出栈）</a:t>
            </a:r>
          </a:p>
          <a:p>
            <a:pPr marL="457200" lvl="1" indent="0" fontAlgn="auto">
              <a:buNone/>
            </a:pPr>
            <a:r>
              <a:rPr lang="zh-CN" altLang="en-US" sz="2400" dirty="0"/>
              <a:t>   </a:t>
            </a:r>
            <a:r>
              <a:rPr lang="en-US" altLang="zh-CN" sz="2400" dirty="0" err="1"/>
              <a:t>ld</a:t>
            </a:r>
            <a:r>
              <a:rPr lang="en-US" altLang="zh-CN" sz="2400" dirty="0"/>
              <a:t> x20, 8(</a:t>
            </a:r>
            <a:r>
              <a:rPr lang="en-US" altLang="zh-CN" sz="2400" dirty="0" err="1"/>
              <a:t>sp</a:t>
            </a:r>
            <a:r>
              <a:rPr lang="en-US" altLang="zh-CN" sz="2400" dirty="0"/>
              <a:t>)    # </a:t>
            </a:r>
            <a:r>
              <a:rPr lang="zh-CN" altLang="en-US" sz="2400" dirty="0"/>
              <a:t>恢复</a:t>
            </a:r>
            <a:r>
              <a:rPr lang="en-US" altLang="zh-CN" sz="2400" dirty="0"/>
              <a:t>x20 </a:t>
            </a:r>
            <a:r>
              <a:rPr lang="zh-CN" altLang="en-US" sz="2400" dirty="0"/>
              <a:t>（出栈） </a:t>
            </a:r>
            <a:endParaRPr lang="en-US" altLang="zh-CN" sz="2400" dirty="0"/>
          </a:p>
          <a:p>
            <a:pPr marL="457200" lvl="1" indent="0" fontAlgn="auto">
              <a:buNone/>
            </a:pPr>
            <a:r>
              <a:rPr lang="en-US" altLang="zh-CN" sz="2400" dirty="0"/>
              <a:t>   </a:t>
            </a:r>
            <a:r>
              <a:rPr lang="en-US" altLang="zh-CN" sz="2400" dirty="0" err="1"/>
              <a:t>ld</a:t>
            </a:r>
            <a:r>
              <a:rPr lang="en-US" altLang="zh-CN" sz="2400" dirty="0"/>
              <a:t> x21, 16(</a:t>
            </a:r>
            <a:r>
              <a:rPr lang="en-US" altLang="zh-CN" sz="2400" dirty="0" err="1"/>
              <a:t>sp</a:t>
            </a:r>
            <a:r>
              <a:rPr lang="en-US" altLang="zh-CN" sz="2400" dirty="0"/>
              <a:t>)  # </a:t>
            </a:r>
            <a:r>
              <a:rPr lang="zh-CN" altLang="en-US" sz="2400" dirty="0"/>
              <a:t>恢复</a:t>
            </a:r>
            <a:r>
              <a:rPr lang="en-US" altLang="zh-CN" sz="2400" dirty="0"/>
              <a:t>x21</a:t>
            </a:r>
            <a:r>
              <a:rPr lang="zh-CN" altLang="en-US" sz="2400" dirty="0"/>
              <a:t> （出栈）</a:t>
            </a:r>
            <a:endParaRPr lang="en-US" altLang="zh-CN" sz="2400" dirty="0"/>
          </a:p>
          <a:p>
            <a:pPr marL="457200" lvl="1" indent="0" fontAlgn="auto">
              <a:buNone/>
            </a:pPr>
            <a:r>
              <a:rPr lang="en-US" altLang="zh-CN" sz="2400" dirty="0"/>
              <a:t>   </a:t>
            </a:r>
            <a:r>
              <a:rPr lang="en-US" altLang="zh-CN" sz="2400" dirty="0" err="1"/>
              <a:t>ld</a:t>
            </a:r>
            <a:r>
              <a:rPr lang="en-US" altLang="zh-CN" sz="2400" dirty="0"/>
              <a:t> x22, 24(</a:t>
            </a:r>
            <a:r>
              <a:rPr lang="en-US" altLang="zh-CN" sz="2400" dirty="0" err="1"/>
              <a:t>sp</a:t>
            </a:r>
            <a:r>
              <a:rPr lang="en-US" altLang="zh-CN" sz="2400" dirty="0"/>
              <a:t>)  # </a:t>
            </a:r>
            <a:r>
              <a:rPr lang="zh-CN" altLang="en-US" sz="2400" dirty="0"/>
              <a:t>恢复</a:t>
            </a:r>
            <a:r>
              <a:rPr lang="en-US" altLang="zh-CN" sz="2400" dirty="0"/>
              <a:t>x22</a:t>
            </a:r>
            <a:r>
              <a:rPr lang="zh-CN" altLang="en-US" sz="2400" dirty="0"/>
              <a:t> （出栈）</a:t>
            </a:r>
            <a:endParaRPr lang="en-US" altLang="zh-CN" sz="2400" dirty="0"/>
          </a:p>
          <a:p>
            <a:pPr marL="457200" lvl="1" indent="0" fontAlgn="auto">
              <a:buNone/>
            </a:pPr>
            <a:r>
              <a:rPr lang="en-US" altLang="zh-CN" sz="2400" dirty="0"/>
              <a:t>   </a:t>
            </a:r>
            <a:r>
              <a:rPr lang="en-US" altLang="zh-CN" sz="2400" dirty="0" err="1"/>
              <a:t>ld</a:t>
            </a:r>
            <a:r>
              <a:rPr lang="en-US" altLang="zh-CN" sz="2400" dirty="0"/>
              <a:t> x1, 32(</a:t>
            </a:r>
            <a:r>
              <a:rPr lang="en-US" altLang="zh-CN" sz="2400" dirty="0" err="1"/>
              <a:t>sp</a:t>
            </a:r>
            <a:r>
              <a:rPr lang="en-US" altLang="zh-CN" sz="2400" dirty="0"/>
              <a:t>)    # </a:t>
            </a:r>
            <a:r>
              <a:rPr lang="zh-CN" altLang="en-US" sz="2400" dirty="0"/>
              <a:t>恢复</a:t>
            </a:r>
            <a:r>
              <a:rPr lang="en-US" altLang="zh-CN" sz="2400" dirty="0"/>
              <a:t>x1</a:t>
            </a:r>
            <a:r>
              <a:rPr lang="zh-CN" altLang="en-US" sz="2400" dirty="0"/>
              <a:t>（出栈）</a:t>
            </a:r>
          </a:p>
          <a:p>
            <a:pPr marL="457200" lvl="1" indent="0" fontAlgn="auto">
              <a:buNone/>
            </a:pPr>
            <a:r>
              <a:rPr lang="zh-CN" altLang="en-US" sz="2400" dirty="0"/>
              <a:t>   </a:t>
            </a:r>
            <a:r>
              <a:rPr lang="en-US" altLang="zh-CN" sz="2400" dirty="0" err="1"/>
              <a:t>addi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sp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sp</a:t>
            </a:r>
            <a:r>
              <a:rPr lang="en-US" altLang="zh-CN" sz="2400" dirty="0"/>
              <a:t>, 40  # </a:t>
            </a:r>
            <a:r>
              <a:rPr lang="zh-CN" altLang="en-US" sz="2400" dirty="0"/>
              <a:t>恢复栈指针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6963F1-BBFC-4CFE-9BD0-9CE9BFB5BB7D}"/>
              </a:ext>
            </a:extLst>
          </p:cNvPr>
          <p:cNvSpPr txBox="1"/>
          <p:nvPr/>
        </p:nvSpPr>
        <p:spPr>
          <a:xfrm>
            <a:off x="977900" y="586670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</a:rPr>
              <a:t>最后返回主程序：</a:t>
            </a:r>
            <a:r>
              <a:rPr lang="en-US" altLang="zh-CN" sz="2000" dirty="0" err="1">
                <a:solidFill>
                  <a:srgbClr val="0000FF"/>
                </a:solidFill>
              </a:rPr>
              <a:t>jalr</a:t>
            </a:r>
            <a:r>
              <a:rPr lang="en-US" altLang="zh-CN" sz="2000" dirty="0">
                <a:solidFill>
                  <a:srgbClr val="0000FF"/>
                </a:solidFill>
              </a:rPr>
              <a:t> x0, 0(x1)     # </a:t>
            </a:r>
            <a:r>
              <a:rPr lang="zh-CN" altLang="en-US" sz="2000" dirty="0">
                <a:solidFill>
                  <a:srgbClr val="0000FF"/>
                </a:solidFill>
              </a:rPr>
              <a:t>返回调用线程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8755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3D5FEC-4E73-424D-8E4C-35DC2582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E787-E6FE-45D8-9039-788B45E44EE7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C7E7BC-0EBE-4F20-81E2-9B017F04723C}"/>
              </a:ext>
            </a:extLst>
          </p:cNvPr>
          <p:cNvSpPr txBox="1">
            <a:spLocks/>
          </p:cNvSpPr>
          <p:nvPr/>
        </p:nvSpPr>
        <p:spPr>
          <a:xfrm>
            <a:off x="1033841" y="311759"/>
            <a:ext cx="10515600" cy="48730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sort:  </a:t>
            </a:r>
          </a:p>
          <a:p>
            <a:pPr marL="457200" lvl="1" indent="0" fontAlgn="auto">
              <a:lnSpc>
                <a:spcPct val="70000"/>
              </a:lnSpc>
              <a:buNone/>
            </a:pP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altLang="zh-CN" sz="1600" dirty="0" err="1">
                <a:solidFill>
                  <a:schemeClr val="accent6">
                    <a:lumMod val="50000"/>
                  </a:schemeClr>
                </a:solidFill>
              </a:rPr>
              <a:t>addi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zh-CN" sz="1600" dirty="0" err="1">
                <a:solidFill>
                  <a:schemeClr val="accent6">
                    <a:lumMod val="50000"/>
                  </a:schemeClr>
                </a:solidFill>
              </a:rPr>
              <a:t>sp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altLang="zh-CN" sz="1600" dirty="0" err="1">
                <a:solidFill>
                  <a:schemeClr val="accent6">
                    <a:lumMod val="50000"/>
                  </a:schemeClr>
                </a:solidFill>
              </a:rPr>
              <a:t>sp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, -40           # </a:t>
            </a:r>
            <a:r>
              <a:rPr lang="zh-CN" altLang="en-US" sz="1600" dirty="0">
                <a:solidFill>
                  <a:schemeClr val="accent6">
                    <a:lumMod val="50000"/>
                  </a:schemeClr>
                </a:solidFill>
              </a:rPr>
              <a:t>在栈中留出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5</a:t>
            </a:r>
            <a:r>
              <a:rPr lang="zh-CN" altLang="en-US" sz="1600" dirty="0">
                <a:solidFill>
                  <a:schemeClr val="accent6">
                    <a:lumMod val="50000"/>
                  </a:schemeClr>
                </a:solidFill>
              </a:rPr>
              <a:t>个寄存器（双字）的空间</a:t>
            </a:r>
          </a:p>
          <a:p>
            <a:pPr marL="457200" lvl="1" indent="0" fontAlgn="auto">
              <a:lnSpc>
                <a:spcPct val="70000"/>
              </a:lnSpc>
              <a:buNone/>
            </a:pP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altLang="zh-CN" sz="1600" dirty="0" err="1">
                <a:solidFill>
                  <a:schemeClr val="accent6">
                    <a:lumMod val="50000"/>
                  </a:schemeClr>
                </a:solidFill>
              </a:rPr>
              <a:t>sd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 x1, 32(</a:t>
            </a:r>
            <a:r>
              <a:rPr lang="en-US" altLang="zh-CN" sz="1600" dirty="0" err="1">
                <a:solidFill>
                  <a:schemeClr val="accent6">
                    <a:lumMod val="50000"/>
                  </a:schemeClr>
                </a:solidFill>
              </a:rPr>
              <a:t>sp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)              # </a:t>
            </a:r>
            <a:r>
              <a:rPr lang="zh-CN" altLang="en-US" sz="1600" dirty="0">
                <a:solidFill>
                  <a:schemeClr val="accent6">
                    <a:lumMod val="50000"/>
                  </a:schemeClr>
                </a:solidFill>
              </a:rPr>
              <a:t>保存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x1</a:t>
            </a:r>
            <a:r>
              <a:rPr lang="zh-CN" altLang="en-US" sz="1600" dirty="0">
                <a:solidFill>
                  <a:schemeClr val="accent6">
                    <a:lumMod val="50000"/>
                  </a:schemeClr>
                </a:solidFill>
              </a:rPr>
              <a:t>的值（入栈）</a:t>
            </a:r>
            <a:endParaRPr lang="en-US" altLang="zh-CN" sz="1600" dirty="0">
              <a:solidFill>
                <a:schemeClr val="accent6">
                  <a:lumMod val="50000"/>
                </a:schemeClr>
              </a:solidFill>
            </a:endParaRPr>
          </a:p>
          <a:p>
            <a:pPr marL="457200" lvl="1" indent="0" fontAlgn="auto">
              <a:lnSpc>
                <a:spcPct val="70000"/>
              </a:lnSpc>
              <a:buNone/>
            </a:pP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altLang="zh-CN" sz="1600" dirty="0" err="1">
                <a:solidFill>
                  <a:schemeClr val="accent6">
                    <a:lumMod val="50000"/>
                  </a:schemeClr>
                </a:solidFill>
              </a:rPr>
              <a:t>sd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 x22, 24(</a:t>
            </a:r>
            <a:r>
              <a:rPr lang="en-US" altLang="zh-CN" sz="1600" dirty="0" err="1">
                <a:solidFill>
                  <a:schemeClr val="accent6">
                    <a:lumMod val="50000"/>
                  </a:schemeClr>
                </a:solidFill>
              </a:rPr>
              <a:t>sp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)            # </a:t>
            </a:r>
            <a:r>
              <a:rPr lang="zh-CN" altLang="en-US" sz="1600" dirty="0">
                <a:solidFill>
                  <a:schemeClr val="accent6">
                    <a:lumMod val="50000"/>
                  </a:schemeClr>
                </a:solidFill>
              </a:rPr>
              <a:t>保存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x22</a:t>
            </a:r>
            <a:r>
              <a:rPr lang="zh-CN" altLang="en-US" sz="1600" dirty="0">
                <a:solidFill>
                  <a:schemeClr val="accent6">
                    <a:lumMod val="50000"/>
                  </a:schemeClr>
                </a:solidFill>
              </a:rPr>
              <a:t>的值（入栈）</a:t>
            </a:r>
            <a:endParaRPr lang="en-US" altLang="zh-CN" sz="1600" dirty="0">
              <a:solidFill>
                <a:schemeClr val="accent6">
                  <a:lumMod val="50000"/>
                </a:schemeClr>
              </a:solidFill>
            </a:endParaRPr>
          </a:p>
          <a:p>
            <a:pPr marL="457200" lvl="1" indent="0" fontAlgn="auto">
              <a:lnSpc>
                <a:spcPct val="70000"/>
              </a:lnSpc>
              <a:buNone/>
            </a:pP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altLang="zh-CN" sz="1600" dirty="0" err="1">
                <a:solidFill>
                  <a:schemeClr val="accent6">
                    <a:lumMod val="50000"/>
                  </a:schemeClr>
                </a:solidFill>
              </a:rPr>
              <a:t>sd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 x21, 16(</a:t>
            </a:r>
            <a:r>
              <a:rPr lang="en-US" altLang="zh-CN" sz="1600" dirty="0" err="1">
                <a:solidFill>
                  <a:schemeClr val="accent6">
                    <a:lumMod val="50000"/>
                  </a:schemeClr>
                </a:solidFill>
              </a:rPr>
              <a:t>sp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)            # </a:t>
            </a:r>
            <a:r>
              <a:rPr lang="zh-CN" altLang="en-US" sz="1600" dirty="0">
                <a:solidFill>
                  <a:schemeClr val="accent6">
                    <a:lumMod val="50000"/>
                  </a:schemeClr>
                </a:solidFill>
              </a:rPr>
              <a:t>保存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x21</a:t>
            </a:r>
            <a:r>
              <a:rPr lang="zh-CN" altLang="en-US" sz="1600" dirty="0">
                <a:solidFill>
                  <a:schemeClr val="accent6">
                    <a:lumMod val="50000"/>
                  </a:schemeClr>
                </a:solidFill>
              </a:rPr>
              <a:t>的值（入栈）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 marL="457200" lvl="1" indent="0" fontAlgn="auto">
              <a:lnSpc>
                <a:spcPct val="70000"/>
              </a:lnSpc>
              <a:buNone/>
            </a:pP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altLang="zh-CN" sz="1600" dirty="0" err="1">
                <a:solidFill>
                  <a:schemeClr val="accent6">
                    <a:lumMod val="50000"/>
                  </a:schemeClr>
                </a:solidFill>
              </a:rPr>
              <a:t>sd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 x20, 8(</a:t>
            </a:r>
            <a:r>
              <a:rPr lang="en-US" altLang="zh-CN" sz="1600" dirty="0" err="1">
                <a:solidFill>
                  <a:schemeClr val="accent6">
                    <a:lumMod val="50000"/>
                  </a:schemeClr>
                </a:solidFill>
              </a:rPr>
              <a:t>sp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)              # </a:t>
            </a:r>
            <a:r>
              <a:rPr lang="zh-CN" altLang="en-US" sz="1600" dirty="0">
                <a:solidFill>
                  <a:schemeClr val="accent6">
                    <a:lumMod val="50000"/>
                  </a:schemeClr>
                </a:solidFill>
              </a:rPr>
              <a:t>保存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x20</a:t>
            </a:r>
            <a:r>
              <a:rPr lang="zh-CN" altLang="en-US" sz="1600" dirty="0">
                <a:solidFill>
                  <a:schemeClr val="accent6">
                    <a:lumMod val="50000"/>
                  </a:schemeClr>
                </a:solidFill>
              </a:rPr>
              <a:t>的值（入栈）</a:t>
            </a:r>
            <a:endParaRPr lang="en-US" altLang="zh-CN" sz="1600" dirty="0">
              <a:solidFill>
                <a:schemeClr val="accent6">
                  <a:lumMod val="50000"/>
                </a:schemeClr>
              </a:solidFill>
            </a:endParaRPr>
          </a:p>
          <a:p>
            <a:pPr marL="457200" lvl="1" indent="0" fontAlgn="auto">
              <a:lnSpc>
                <a:spcPct val="70000"/>
              </a:lnSpc>
              <a:buNone/>
            </a:pP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altLang="zh-CN" sz="1600" dirty="0" err="1">
                <a:solidFill>
                  <a:schemeClr val="accent6">
                    <a:lumMod val="50000"/>
                  </a:schemeClr>
                </a:solidFill>
              </a:rPr>
              <a:t>sd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 x19, 0(</a:t>
            </a:r>
            <a:r>
              <a:rPr lang="en-US" altLang="zh-CN" sz="1600" dirty="0" err="1">
                <a:solidFill>
                  <a:schemeClr val="accent6">
                    <a:lumMod val="50000"/>
                  </a:schemeClr>
                </a:solidFill>
              </a:rPr>
              <a:t>sp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)              # </a:t>
            </a:r>
            <a:r>
              <a:rPr lang="zh-CN" altLang="en-US" sz="1600" dirty="0">
                <a:solidFill>
                  <a:schemeClr val="accent6">
                    <a:lumMod val="50000"/>
                  </a:schemeClr>
                </a:solidFill>
              </a:rPr>
              <a:t>保存</a:t>
            </a:r>
            <a:r>
              <a:rPr lang="en-US" altLang="zh-CN" sz="1600" dirty="0">
                <a:solidFill>
                  <a:schemeClr val="accent6">
                    <a:lumMod val="50000"/>
                  </a:schemeClr>
                </a:solidFill>
              </a:rPr>
              <a:t>x19</a:t>
            </a:r>
            <a:r>
              <a:rPr lang="zh-CN" altLang="en-US" sz="1600" dirty="0">
                <a:solidFill>
                  <a:schemeClr val="accent6">
                    <a:lumMod val="50000"/>
                  </a:schemeClr>
                </a:solidFill>
              </a:rPr>
              <a:t>的值（入栈）</a:t>
            </a:r>
            <a:endParaRPr lang="en-US" altLang="zh-CN" sz="1600" dirty="0">
              <a:solidFill>
                <a:schemeClr val="accent6">
                  <a:lumMod val="50000"/>
                </a:schemeClr>
              </a:solidFill>
            </a:endParaRPr>
          </a:p>
          <a:p>
            <a:pPr marL="457200" lvl="1" indent="0" fontAlgn="auto">
              <a:lnSpc>
                <a:spcPct val="70000"/>
              </a:lnSpc>
              <a:buNone/>
            </a:pPr>
            <a:endParaRPr lang="en-US" altLang="zh-CN" sz="1600" dirty="0"/>
          </a:p>
          <a:p>
            <a:pPr marL="457200" lvl="1" indent="0" fontAlgn="auto">
              <a:lnSpc>
                <a:spcPct val="70000"/>
              </a:lnSpc>
              <a:buNone/>
            </a:pPr>
            <a:r>
              <a:rPr lang="en-US" altLang="zh-CN" sz="1600" dirty="0"/>
              <a:t>   </a:t>
            </a:r>
          </a:p>
          <a:p>
            <a:pPr marL="457200" lvl="1" indent="0" fontAlgn="auto">
              <a:lnSpc>
                <a:spcPct val="70000"/>
              </a:lnSpc>
              <a:buNone/>
            </a:pPr>
            <a:r>
              <a:rPr lang="en-US" altLang="zh-CN" sz="1600" dirty="0"/>
              <a:t>   </a:t>
            </a:r>
            <a:r>
              <a:rPr lang="en-US" altLang="zh-CN" sz="1600" dirty="0">
                <a:solidFill>
                  <a:srgbClr val="FF0000"/>
                </a:solidFill>
              </a:rPr>
              <a:t>mv x21, x10               # </a:t>
            </a:r>
            <a:r>
              <a:rPr lang="zh-CN" altLang="en-US" sz="1600" dirty="0">
                <a:solidFill>
                  <a:srgbClr val="FF0000"/>
                </a:solidFill>
              </a:rPr>
              <a:t>复制</a:t>
            </a:r>
            <a:r>
              <a:rPr lang="en-US" altLang="zh-CN" sz="1600" dirty="0">
                <a:solidFill>
                  <a:srgbClr val="FF0000"/>
                </a:solidFill>
              </a:rPr>
              <a:t>x10</a:t>
            </a:r>
            <a:r>
              <a:rPr lang="zh-CN" altLang="en-US" sz="1600" dirty="0">
                <a:solidFill>
                  <a:srgbClr val="FF0000"/>
                </a:solidFill>
              </a:rPr>
              <a:t>中的值到</a:t>
            </a:r>
            <a:r>
              <a:rPr lang="en-US" altLang="zh-CN" sz="1600" dirty="0">
                <a:solidFill>
                  <a:srgbClr val="FF0000"/>
                </a:solidFill>
              </a:rPr>
              <a:t>x21</a:t>
            </a:r>
          </a:p>
          <a:p>
            <a:pPr marL="457200" lvl="1" indent="0" fontAlgn="auto">
              <a:lnSpc>
                <a:spcPct val="70000"/>
              </a:lnSpc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mv x22, x11               # </a:t>
            </a:r>
            <a:r>
              <a:rPr lang="zh-CN" altLang="en-US" sz="1600" dirty="0">
                <a:solidFill>
                  <a:srgbClr val="FF0000"/>
                </a:solidFill>
              </a:rPr>
              <a:t>复制</a:t>
            </a:r>
            <a:r>
              <a:rPr lang="en-US" altLang="zh-CN" sz="1600" dirty="0">
                <a:solidFill>
                  <a:srgbClr val="FF0000"/>
                </a:solidFill>
              </a:rPr>
              <a:t>x11</a:t>
            </a:r>
            <a:r>
              <a:rPr lang="zh-CN" altLang="en-US" sz="1600" dirty="0">
                <a:solidFill>
                  <a:srgbClr val="FF0000"/>
                </a:solidFill>
              </a:rPr>
              <a:t>中的值到</a:t>
            </a:r>
            <a:r>
              <a:rPr lang="en-US" altLang="zh-CN" sz="1600" dirty="0">
                <a:solidFill>
                  <a:srgbClr val="FF0000"/>
                </a:solidFill>
              </a:rPr>
              <a:t>x22</a:t>
            </a:r>
          </a:p>
          <a:p>
            <a:pPr marL="457200" lvl="1" indent="0">
              <a:lnSpc>
                <a:spcPct val="70000"/>
              </a:lnSpc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li x19, 1                      #  </a:t>
            </a:r>
            <a:r>
              <a:rPr lang="en-US" altLang="zh-CN" sz="1600" dirty="0" err="1">
                <a:solidFill>
                  <a:srgbClr val="FF0000"/>
                </a:solidFill>
              </a:rPr>
              <a:t>i</a:t>
            </a:r>
            <a:r>
              <a:rPr lang="en-US" altLang="zh-CN" sz="1600" dirty="0">
                <a:solidFill>
                  <a:srgbClr val="FF0000"/>
                </a:solidFill>
              </a:rPr>
              <a:t> = 1</a:t>
            </a:r>
          </a:p>
          <a:p>
            <a:pPr marL="457200" lvl="1" indent="0">
              <a:lnSpc>
                <a:spcPct val="70000"/>
              </a:lnSpc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for1tst:</a:t>
            </a:r>
          </a:p>
          <a:p>
            <a:pPr marL="457200" lvl="1" indent="0">
              <a:lnSpc>
                <a:spcPct val="70000"/>
              </a:lnSpc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</a:t>
            </a:r>
            <a:r>
              <a:rPr lang="en-US" altLang="zh-CN" sz="1600" dirty="0" err="1">
                <a:solidFill>
                  <a:srgbClr val="FF0000"/>
                </a:solidFill>
              </a:rPr>
              <a:t>bge</a:t>
            </a:r>
            <a:r>
              <a:rPr lang="en-US" altLang="zh-CN" sz="1600" dirty="0">
                <a:solidFill>
                  <a:srgbClr val="FF0000"/>
                </a:solidFill>
              </a:rPr>
              <a:t> x19, x22, exit1    # </a:t>
            </a:r>
            <a:r>
              <a:rPr lang="zh-CN" altLang="en-US" sz="1600" dirty="0">
                <a:solidFill>
                  <a:srgbClr val="FF0000"/>
                </a:solidFill>
              </a:rPr>
              <a:t>如果</a:t>
            </a:r>
            <a:r>
              <a:rPr lang="en-US" altLang="zh-CN" sz="1600" dirty="0">
                <a:solidFill>
                  <a:srgbClr val="FF0000"/>
                </a:solidFill>
              </a:rPr>
              <a:t>x19 ≥ x22</a:t>
            </a:r>
            <a:r>
              <a:rPr lang="zh-CN" altLang="en-US" sz="1600" dirty="0">
                <a:solidFill>
                  <a:srgbClr val="FF0000"/>
                </a:solidFill>
              </a:rPr>
              <a:t>（</a:t>
            </a:r>
            <a:r>
              <a:rPr lang="en-US" altLang="zh-CN" sz="1600" dirty="0" err="1">
                <a:solidFill>
                  <a:srgbClr val="FF0000"/>
                </a:solidFill>
              </a:rPr>
              <a:t>i</a:t>
            </a:r>
            <a:r>
              <a:rPr lang="en-US" altLang="zh-CN" sz="1600" dirty="0">
                <a:solidFill>
                  <a:srgbClr val="FF0000"/>
                </a:solidFill>
              </a:rPr>
              <a:t>  ≥  n</a:t>
            </a:r>
            <a:r>
              <a:rPr lang="zh-CN" altLang="en-US" sz="1600" dirty="0">
                <a:solidFill>
                  <a:srgbClr val="FF0000"/>
                </a:solidFill>
              </a:rPr>
              <a:t>），跳转到</a:t>
            </a:r>
            <a:r>
              <a:rPr lang="en-US" altLang="zh-CN" sz="1600" dirty="0">
                <a:solidFill>
                  <a:srgbClr val="FF0000"/>
                </a:solidFill>
              </a:rPr>
              <a:t>exit1</a:t>
            </a:r>
          </a:p>
          <a:p>
            <a:pPr marL="457200" lvl="1" indent="0">
              <a:lnSpc>
                <a:spcPct val="70000"/>
              </a:lnSpc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</a:t>
            </a:r>
            <a:r>
              <a:rPr lang="en-US" altLang="zh-CN" sz="1600" dirty="0" err="1">
                <a:solidFill>
                  <a:srgbClr val="FF0000"/>
                </a:solidFill>
              </a:rPr>
              <a:t>addi</a:t>
            </a:r>
            <a:r>
              <a:rPr lang="en-US" altLang="zh-CN" sz="1600" dirty="0">
                <a:solidFill>
                  <a:srgbClr val="FF0000"/>
                </a:solidFill>
              </a:rPr>
              <a:t> x20, x19, -1       #  j = i-1</a:t>
            </a:r>
          </a:p>
          <a:p>
            <a:pPr marL="457200" lvl="1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for2tst:</a:t>
            </a:r>
          </a:p>
          <a:p>
            <a:pPr marL="457200" lvl="1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</a:t>
            </a:r>
            <a:r>
              <a:rPr lang="en-US" altLang="zh-CN" sz="1600" dirty="0" err="1">
                <a:solidFill>
                  <a:srgbClr val="FF0000"/>
                </a:solidFill>
              </a:rPr>
              <a:t>blt</a:t>
            </a:r>
            <a:r>
              <a:rPr lang="en-US" altLang="zh-CN" sz="1600" dirty="0">
                <a:solidFill>
                  <a:srgbClr val="FF0000"/>
                </a:solidFill>
              </a:rPr>
              <a:t> x20, x0, exit2        # </a:t>
            </a:r>
            <a:r>
              <a:rPr lang="zh-CN" altLang="en-US" sz="1600" dirty="0">
                <a:solidFill>
                  <a:srgbClr val="FF0000"/>
                </a:solidFill>
              </a:rPr>
              <a:t>如果</a:t>
            </a:r>
            <a:r>
              <a:rPr lang="en-US" altLang="zh-CN" sz="1600" dirty="0">
                <a:solidFill>
                  <a:srgbClr val="FF0000"/>
                </a:solidFill>
              </a:rPr>
              <a:t>x20 &lt; 0 (j &lt; 0)</a:t>
            </a:r>
            <a:r>
              <a:rPr lang="zh-CN" altLang="en-US" sz="1600" dirty="0">
                <a:solidFill>
                  <a:srgbClr val="FF0000"/>
                </a:solidFill>
              </a:rPr>
              <a:t>，跳转到</a:t>
            </a:r>
            <a:r>
              <a:rPr lang="en-US" altLang="zh-CN" sz="1600" dirty="0">
                <a:solidFill>
                  <a:srgbClr val="FF0000"/>
                </a:solidFill>
              </a:rPr>
              <a:t>exit2</a:t>
            </a:r>
          </a:p>
          <a:p>
            <a:pPr marL="457200" lvl="1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</a:t>
            </a:r>
            <a:r>
              <a:rPr lang="en-US" altLang="zh-CN" sz="1600" dirty="0" err="1">
                <a:solidFill>
                  <a:srgbClr val="FF0000"/>
                </a:solidFill>
              </a:rPr>
              <a:t>slli</a:t>
            </a:r>
            <a:r>
              <a:rPr lang="en-US" altLang="zh-CN" sz="1600" dirty="0">
                <a:solidFill>
                  <a:srgbClr val="FF0000"/>
                </a:solidFill>
              </a:rPr>
              <a:t> x5, x20, 3             #  x5 = j * 8</a:t>
            </a:r>
          </a:p>
          <a:p>
            <a:pPr marL="457200" lvl="1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add x5, x21, x5          #  x5 = v + (j * 8)</a:t>
            </a:r>
          </a:p>
          <a:p>
            <a:pPr marL="457200" lvl="1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</a:t>
            </a:r>
            <a:r>
              <a:rPr lang="en-US" altLang="zh-CN" sz="1600" dirty="0" err="1">
                <a:solidFill>
                  <a:srgbClr val="FF0000"/>
                </a:solidFill>
              </a:rPr>
              <a:t>ld</a:t>
            </a:r>
            <a:r>
              <a:rPr lang="en-US" altLang="zh-CN" sz="1600" dirty="0">
                <a:solidFill>
                  <a:srgbClr val="FF0000"/>
                </a:solidFill>
              </a:rPr>
              <a:t> x6, 0(x5)                #  x6 = v[j]</a:t>
            </a:r>
          </a:p>
          <a:p>
            <a:pPr marL="457200" lvl="1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</a:t>
            </a:r>
            <a:r>
              <a:rPr lang="en-US" altLang="zh-CN" sz="1600" dirty="0" err="1">
                <a:solidFill>
                  <a:srgbClr val="FF0000"/>
                </a:solidFill>
              </a:rPr>
              <a:t>ld</a:t>
            </a:r>
            <a:r>
              <a:rPr lang="en-US" altLang="zh-CN" sz="1600" dirty="0">
                <a:solidFill>
                  <a:srgbClr val="FF0000"/>
                </a:solidFill>
              </a:rPr>
              <a:t> x7, 8(x5)                #  x7 = v[j + 1]</a:t>
            </a:r>
          </a:p>
          <a:p>
            <a:pPr marL="457200" lvl="1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</a:t>
            </a:r>
            <a:r>
              <a:rPr lang="en-US" altLang="zh-CN" sz="1600" dirty="0" err="1">
                <a:solidFill>
                  <a:srgbClr val="FF0000"/>
                </a:solidFill>
              </a:rPr>
              <a:t>ble</a:t>
            </a:r>
            <a:r>
              <a:rPr lang="en-US" altLang="zh-CN" sz="1600" dirty="0">
                <a:solidFill>
                  <a:srgbClr val="FF0000"/>
                </a:solidFill>
              </a:rPr>
              <a:t> x6, x7, exit2         #  </a:t>
            </a:r>
            <a:r>
              <a:rPr lang="zh-CN" altLang="en-US" sz="1600" dirty="0">
                <a:solidFill>
                  <a:srgbClr val="FF0000"/>
                </a:solidFill>
              </a:rPr>
              <a:t>如果</a:t>
            </a:r>
            <a:r>
              <a:rPr lang="en-US" altLang="zh-CN" sz="1600" dirty="0">
                <a:solidFill>
                  <a:srgbClr val="FF0000"/>
                </a:solidFill>
              </a:rPr>
              <a:t>x6 ≤ x7</a:t>
            </a:r>
            <a:r>
              <a:rPr lang="zh-CN" altLang="en-US" sz="1600" dirty="0">
                <a:solidFill>
                  <a:srgbClr val="FF0000"/>
                </a:solidFill>
              </a:rPr>
              <a:t>，跳转到</a:t>
            </a:r>
            <a:r>
              <a:rPr lang="en-US" altLang="zh-CN" sz="1600" dirty="0">
                <a:solidFill>
                  <a:srgbClr val="FF0000"/>
                </a:solidFill>
              </a:rPr>
              <a:t>exit2</a:t>
            </a:r>
          </a:p>
          <a:p>
            <a:pPr marL="457200" lvl="1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mv x10, x21               #  swap</a:t>
            </a:r>
            <a:r>
              <a:rPr lang="zh-CN" altLang="en-US" sz="1600" dirty="0">
                <a:solidFill>
                  <a:srgbClr val="FF0000"/>
                </a:solidFill>
              </a:rPr>
              <a:t>的第一个参数是</a:t>
            </a:r>
            <a:r>
              <a:rPr lang="en-US" altLang="zh-CN" sz="1600" dirty="0">
                <a:solidFill>
                  <a:srgbClr val="FF0000"/>
                </a:solidFill>
              </a:rPr>
              <a:t>v</a:t>
            </a:r>
          </a:p>
          <a:p>
            <a:pPr marL="457200" lvl="1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mv x11, x20               #  swap</a:t>
            </a:r>
            <a:r>
              <a:rPr lang="zh-CN" altLang="en-US" sz="1600" dirty="0">
                <a:solidFill>
                  <a:srgbClr val="FF0000"/>
                </a:solidFill>
              </a:rPr>
              <a:t>的第二个参数是</a:t>
            </a:r>
            <a:r>
              <a:rPr lang="en-US" altLang="zh-CN" sz="1600" dirty="0">
                <a:solidFill>
                  <a:srgbClr val="FF0000"/>
                </a:solidFill>
              </a:rPr>
              <a:t>j</a:t>
            </a:r>
          </a:p>
          <a:p>
            <a:pPr marL="457200" lvl="1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</a:t>
            </a:r>
            <a:r>
              <a:rPr lang="en-US" altLang="zh-CN" sz="1600" dirty="0" err="1">
                <a:solidFill>
                  <a:srgbClr val="FF0000"/>
                </a:solidFill>
              </a:rPr>
              <a:t>jal</a:t>
            </a:r>
            <a:r>
              <a:rPr lang="en-US" altLang="zh-CN" sz="1600" dirty="0">
                <a:solidFill>
                  <a:srgbClr val="FF0000"/>
                </a:solidFill>
              </a:rPr>
              <a:t> x1, swap                #  </a:t>
            </a:r>
            <a:r>
              <a:rPr lang="zh-CN" altLang="en-US" sz="1600" dirty="0">
                <a:solidFill>
                  <a:srgbClr val="FF0000"/>
                </a:solidFill>
              </a:rPr>
              <a:t>调用</a:t>
            </a:r>
            <a:r>
              <a:rPr lang="en-US" altLang="zh-CN" sz="1600" dirty="0">
                <a:solidFill>
                  <a:srgbClr val="FF0000"/>
                </a:solidFill>
              </a:rPr>
              <a:t>swap</a:t>
            </a:r>
          </a:p>
          <a:p>
            <a:pPr marL="457200" lvl="1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</a:t>
            </a:r>
            <a:r>
              <a:rPr lang="en-US" altLang="zh-CN" sz="1600" dirty="0" err="1">
                <a:solidFill>
                  <a:srgbClr val="FF0000"/>
                </a:solidFill>
              </a:rPr>
              <a:t>addi</a:t>
            </a:r>
            <a:r>
              <a:rPr lang="en-US" altLang="zh-CN" sz="1600" dirty="0">
                <a:solidFill>
                  <a:srgbClr val="FF0000"/>
                </a:solidFill>
              </a:rPr>
              <a:t> x20, x20, -1        #  j -= 1</a:t>
            </a:r>
          </a:p>
          <a:p>
            <a:pPr marL="457200" lvl="1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j for2tst                      #  </a:t>
            </a:r>
            <a:r>
              <a:rPr lang="zh-CN" altLang="en-US" sz="1600" dirty="0">
                <a:solidFill>
                  <a:srgbClr val="FF0000"/>
                </a:solidFill>
              </a:rPr>
              <a:t>跳转到内层循环</a:t>
            </a:r>
            <a:r>
              <a:rPr lang="en-US" altLang="zh-CN" sz="1600" dirty="0">
                <a:solidFill>
                  <a:srgbClr val="FF0000"/>
                </a:solidFill>
              </a:rPr>
              <a:t>for2tst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6810069-25DE-4FCA-8A69-270B344AE86E}"/>
              </a:ext>
            </a:extLst>
          </p:cNvPr>
          <p:cNvSpPr txBox="1"/>
          <p:nvPr/>
        </p:nvSpPr>
        <p:spPr>
          <a:xfrm>
            <a:off x="7026811" y="1786597"/>
            <a:ext cx="5076233" cy="4873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500" dirty="0">
                <a:solidFill>
                  <a:srgbClr val="FF0000"/>
                </a:solidFill>
              </a:rPr>
              <a:t>exit2: 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1500" dirty="0">
                <a:solidFill>
                  <a:srgbClr val="FF0000"/>
                </a:solidFill>
              </a:rPr>
              <a:t>    </a:t>
            </a:r>
            <a:r>
              <a:rPr lang="zh-CN" altLang="en-US" sz="1500" dirty="0">
                <a:solidFill>
                  <a:srgbClr val="FF0000"/>
                </a:solidFill>
              </a:rPr>
              <a:t> </a:t>
            </a:r>
            <a:r>
              <a:rPr lang="en-US" altLang="zh-CN" sz="1500" dirty="0" err="1">
                <a:solidFill>
                  <a:srgbClr val="FF0000"/>
                </a:solidFill>
              </a:rPr>
              <a:t>addi</a:t>
            </a:r>
            <a:r>
              <a:rPr lang="en-US" altLang="zh-CN" sz="1500" dirty="0">
                <a:solidFill>
                  <a:srgbClr val="FF0000"/>
                </a:solidFill>
              </a:rPr>
              <a:t> x19, x19, 1        # </a:t>
            </a:r>
            <a:r>
              <a:rPr lang="en-US" altLang="zh-CN" sz="1500" dirty="0" err="1">
                <a:solidFill>
                  <a:srgbClr val="FF0000"/>
                </a:solidFill>
              </a:rPr>
              <a:t>i</a:t>
            </a:r>
            <a:r>
              <a:rPr lang="en-US" altLang="zh-CN" sz="1500" dirty="0">
                <a:solidFill>
                  <a:srgbClr val="FF0000"/>
                </a:solidFill>
              </a:rPr>
              <a:t> += 1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1500" dirty="0">
                <a:solidFill>
                  <a:srgbClr val="FF0000"/>
                </a:solidFill>
              </a:rPr>
              <a:t>     j for1tst                     # </a:t>
            </a:r>
            <a:r>
              <a:rPr lang="zh-CN" altLang="en-US" sz="1500" dirty="0">
                <a:solidFill>
                  <a:srgbClr val="FF0000"/>
                </a:solidFill>
              </a:rPr>
              <a:t>跳转到外层循环的判断语句</a:t>
            </a:r>
          </a:p>
          <a:p>
            <a:pPr marL="457200" lvl="1" indent="0" fontAlgn="auto">
              <a:lnSpc>
                <a:spcPct val="90000"/>
              </a:lnSpc>
              <a:buNone/>
            </a:pPr>
            <a:endParaRPr lang="en-US" altLang="zh-CN" sz="1500" dirty="0"/>
          </a:p>
          <a:p>
            <a:pPr marL="457200" lvl="1" indent="0" fontAlgn="auto">
              <a:lnSpc>
                <a:spcPct val="90000"/>
              </a:lnSpc>
              <a:buNone/>
            </a:pPr>
            <a:endParaRPr lang="en-US" altLang="zh-CN" sz="1500" dirty="0"/>
          </a:p>
          <a:p>
            <a:pPr marL="457200" lvl="1" indent="0" fontAlgn="auto">
              <a:lnSpc>
                <a:spcPct val="90000"/>
              </a:lnSpc>
              <a:buNone/>
            </a:pPr>
            <a:endParaRPr lang="en-US" altLang="zh-CN" sz="1500" dirty="0"/>
          </a:p>
          <a:p>
            <a:pPr marL="457200" lvl="1" indent="0" fontAlgn="auto">
              <a:lnSpc>
                <a:spcPct val="90000"/>
              </a:lnSpc>
              <a:buNone/>
            </a:pPr>
            <a:r>
              <a:rPr lang="en-US" altLang="zh-CN" sz="1500" dirty="0">
                <a:solidFill>
                  <a:srgbClr val="0000FF"/>
                </a:solidFill>
              </a:rPr>
              <a:t>exit1:</a:t>
            </a:r>
          </a:p>
          <a:p>
            <a:pPr marL="457200" lvl="1" indent="0" fontAlgn="auto">
              <a:lnSpc>
                <a:spcPct val="90000"/>
              </a:lnSpc>
              <a:buNone/>
            </a:pPr>
            <a:r>
              <a:rPr lang="en-US" altLang="zh-CN" sz="1500" dirty="0">
                <a:solidFill>
                  <a:srgbClr val="0000FF"/>
                </a:solidFill>
              </a:rPr>
              <a:t>    </a:t>
            </a:r>
            <a:r>
              <a:rPr lang="en-US" altLang="zh-CN" sz="1500" dirty="0" err="1">
                <a:solidFill>
                  <a:srgbClr val="0000FF"/>
                </a:solidFill>
              </a:rPr>
              <a:t>ld</a:t>
            </a:r>
            <a:r>
              <a:rPr lang="en-US" altLang="zh-CN" sz="1500" dirty="0">
                <a:solidFill>
                  <a:srgbClr val="0000FF"/>
                </a:solidFill>
              </a:rPr>
              <a:t> x19, 0(</a:t>
            </a:r>
            <a:r>
              <a:rPr lang="en-US" altLang="zh-CN" sz="1500" dirty="0" err="1">
                <a:solidFill>
                  <a:srgbClr val="0000FF"/>
                </a:solidFill>
              </a:rPr>
              <a:t>sp</a:t>
            </a:r>
            <a:r>
              <a:rPr lang="en-US" altLang="zh-CN" sz="1500" dirty="0">
                <a:solidFill>
                  <a:srgbClr val="0000FF"/>
                </a:solidFill>
              </a:rPr>
              <a:t>)              # </a:t>
            </a:r>
            <a:r>
              <a:rPr lang="zh-CN" altLang="en-US" sz="1500" dirty="0">
                <a:solidFill>
                  <a:srgbClr val="0000FF"/>
                </a:solidFill>
              </a:rPr>
              <a:t>恢复</a:t>
            </a:r>
            <a:r>
              <a:rPr lang="en-US" altLang="zh-CN" sz="1500" dirty="0">
                <a:solidFill>
                  <a:srgbClr val="0000FF"/>
                </a:solidFill>
              </a:rPr>
              <a:t>x19</a:t>
            </a:r>
            <a:r>
              <a:rPr lang="zh-CN" altLang="en-US" sz="1500" dirty="0">
                <a:solidFill>
                  <a:srgbClr val="0000FF"/>
                </a:solidFill>
              </a:rPr>
              <a:t>（出栈）</a:t>
            </a:r>
          </a:p>
          <a:p>
            <a:pPr marL="457200" lvl="1" indent="0" fontAlgn="auto">
              <a:lnSpc>
                <a:spcPct val="90000"/>
              </a:lnSpc>
              <a:buNone/>
            </a:pPr>
            <a:r>
              <a:rPr lang="zh-CN" altLang="en-US" sz="1500" dirty="0">
                <a:solidFill>
                  <a:srgbClr val="0000FF"/>
                </a:solidFill>
              </a:rPr>
              <a:t>    </a:t>
            </a:r>
            <a:r>
              <a:rPr lang="en-US" altLang="zh-CN" sz="1500" dirty="0" err="1">
                <a:solidFill>
                  <a:srgbClr val="0000FF"/>
                </a:solidFill>
              </a:rPr>
              <a:t>ld</a:t>
            </a:r>
            <a:r>
              <a:rPr lang="en-US" altLang="zh-CN" sz="1500" dirty="0">
                <a:solidFill>
                  <a:srgbClr val="0000FF"/>
                </a:solidFill>
              </a:rPr>
              <a:t> x20, 8(</a:t>
            </a:r>
            <a:r>
              <a:rPr lang="en-US" altLang="zh-CN" sz="1500" dirty="0" err="1">
                <a:solidFill>
                  <a:srgbClr val="0000FF"/>
                </a:solidFill>
              </a:rPr>
              <a:t>sp</a:t>
            </a:r>
            <a:r>
              <a:rPr lang="en-US" altLang="zh-CN" sz="1500" dirty="0">
                <a:solidFill>
                  <a:srgbClr val="0000FF"/>
                </a:solidFill>
              </a:rPr>
              <a:t>)              # </a:t>
            </a:r>
            <a:r>
              <a:rPr lang="zh-CN" altLang="en-US" sz="1500" dirty="0">
                <a:solidFill>
                  <a:srgbClr val="0000FF"/>
                </a:solidFill>
              </a:rPr>
              <a:t>恢复</a:t>
            </a:r>
            <a:r>
              <a:rPr lang="en-US" altLang="zh-CN" sz="1500" dirty="0">
                <a:solidFill>
                  <a:srgbClr val="0000FF"/>
                </a:solidFill>
              </a:rPr>
              <a:t>x20 </a:t>
            </a:r>
            <a:r>
              <a:rPr lang="zh-CN" altLang="en-US" sz="1500" dirty="0">
                <a:solidFill>
                  <a:srgbClr val="0000FF"/>
                </a:solidFill>
              </a:rPr>
              <a:t>（出栈） </a:t>
            </a:r>
            <a:endParaRPr lang="en-US" altLang="zh-CN" sz="1500" dirty="0">
              <a:solidFill>
                <a:srgbClr val="0000FF"/>
              </a:solidFill>
            </a:endParaRPr>
          </a:p>
          <a:p>
            <a:pPr marL="457200" lvl="1" indent="0" fontAlgn="auto">
              <a:lnSpc>
                <a:spcPct val="90000"/>
              </a:lnSpc>
              <a:buNone/>
            </a:pPr>
            <a:r>
              <a:rPr lang="en-US" altLang="zh-CN" sz="1500" dirty="0">
                <a:solidFill>
                  <a:srgbClr val="0000FF"/>
                </a:solidFill>
              </a:rPr>
              <a:t>    </a:t>
            </a:r>
            <a:r>
              <a:rPr lang="en-US" altLang="zh-CN" sz="1500" dirty="0" err="1">
                <a:solidFill>
                  <a:srgbClr val="0000FF"/>
                </a:solidFill>
              </a:rPr>
              <a:t>ld</a:t>
            </a:r>
            <a:r>
              <a:rPr lang="en-US" altLang="zh-CN" sz="1500" dirty="0">
                <a:solidFill>
                  <a:srgbClr val="0000FF"/>
                </a:solidFill>
              </a:rPr>
              <a:t> x21, 16(</a:t>
            </a:r>
            <a:r>
              <a:rPr lang="en-US" altLang="zh-CN" sz="1500" dirty="0" err="1">
                <a:solidFill>
                  <a:srgbClr val="0000FF"/>
                </a:solidFill>
              </a:rPr>
              <a:t>sp</a:t>
            </a:r>
            <a:r>
              <a:rPr lang="en-US" altLang="zh-CN" sz="1500" dirty="0">
                <a:solidFill>
                  <a:srgbClr val="0000FF"/>
                </a:solidFill>
              </a:rPr>
              <a:t>)            # </a:t>
            </a:r>
            <a:r>
              <a:rPr lang="zh-CN" altLang="en-US" sz="1500" dirty="0">
                <a:solidFill>
                  <a:srgbClr val="0000FF"/>
                </a:solidFill>
              </a:rPr>
              <a:t>恢复</a:t>
            </a:r>
            <a:r>
              <a:rPr lang="en-US" altLang="zh-CN" sz="1500" dirty="0">
                <a:solidFill>
                  <a:srgbClr val="0000FF"/>
                </a:solidFill>
              </a:rPr>
              <a:t>x21</a:t>
            </a:r>
            <a:r>
              <a:rPr lang="zh-CN" altLang="en-US" sz="1500" dirty="0">
                <a:solidFill>
                  <a:srgbClr val="0000FF"/>
                </a:solidFill>
              </a:rPr>
              <a:t> （出栈）</a:t>
            </a:r>
            <a:endParaRPr lang="en-US" altLang="zh-CN" sz="1500" dirty="0">
              <a:solidFill>
                <a:srgbClr val="0000FF"/>
              </a:solidFill>
            </a:endParaRPr>
          </a:p>
          <a:p>
            <a:pPr marL="457200" lvl="1" indent="0" fontAlgn="auto">
              <a:lnSpc>
                <a:spcPct val="90000"/>
              </a:lnSpc>
              <a:buNone/>
            </a:pPr>
            <a:r>
              <a:rPr lang="en-US" altLang="zh-CN" sz="1500" dirty="0">
                <a:solidFill>
                  <a:srgbClr val="0000FF"/>
                </a:solidFill>
              </a:rPr>
              <a:t>    </a:t>
            </a:r>
            <a:r>
              <a:rPr lang="en-US" altLang="zh-CN" sz="1500" dirty="0" err="1">
                <a:solidFill>
                  <a:srgbClr val="0000FF"/>
                </a:solidFill>
              </a:rPr>
              <a:t>ld</a:t>
            </a:r>
            <a:r>
              <a:rPr lang="en-US" altLang="zh-CN" sz="1500" dirty="0">
                <a:solidFill>
                  <a:srgbClr val="0000FF"/>
                </a:solidFill>
              </a:rPr>
              <a:t> x22, 24(</a:t>
            </a:r>
            <a:r>
              <a:rPr lang="en-US" altLang="zh-CN" sz="1500" dirty="0" err="1">
                <a:solidFill>
                  <a:srgbClr val="0000FF"/>
                </a:solidFill>
              </a:rPr>
              <a:t>sp</a:t>
            </a:r>
            <a:r>
              <a:rPr lang="en-US" altLang="zh-CN" sz="1500" dirty="0">
                <a:solidFill>
                  <a:srgbClr val="0000FF"/>
                </a:solidFill>
              </a:rPr>
              <a:t>)            # </a:t>
            </a:r>
            <a:r>
              <a:rPr lang="zh-CN" altLang="en-US" sz="1500" dirty="0">
                <a:solidFill>
                  <a:srgbClr val="0000FF"/>
                </a:solidFill>
              </a:rPr>
              <a:t>恢复</a:t>
            </a:r>
            <a:r>
              <a:rPr lang="en-US" altLang="zh-CN" sz="1500" dirty="0">
                <a:solidFill>
                  <a:srgbClr val="0000FF"/>
                </a:solidFill>
              </a:rPr>
              <a:t>x22</a:t>
            </a:r>
            <a:r>
              <a:rPr lang="zh-CN" altLang="en-US" sz="1500" dirty="0">
                <a:solidFill>
                  <a:srgbClr val="0000FF"/>
                </a:solidFill>
              </a:rPr>
              <a:t> （出栈）</a:t>
            </a:r>
            <a:endParaRPr lang="en-US" altLang="zh-CN" sz="1500" dirty="0">
              <a:solidFill>
                <a:srgbClr val="0000FF"/>
              </a:solidFill>
            </a:endParaRPr>
          </a:p>
          <a:p>
            <a:pPr marL="457200" lvl="1" indent="0" fontAlgn="auto">
              <a:lnSpc>
                <a:spcPct val="90000"/>
              </a:lnSpc>
              <a:buNone/>
            </a:pPr>
            <a:r>
              <a:rPr lang="en-US" altLang="zh-CN" sz="1500" dirty="0">
                <a:solidFill>
                  <a:srgbClr val="0000FF"/>
                </a:solidFill>
              </a:rPr>
              <a:t>    </a:t>
            </a:r>
            <a:r>
              <a:rPr lang="en-US" altLang="zh-CN" sz="1500" dirty="0" err="1">
                <a:solidFill>
                  <a:srgbClr val="0000FF"/>
                </a:solidFill>
              </a:rPr>
              <a:t>ld</a:t>
            </a:r>
            <a:r>
              <a:rPr lang="en-US" altLang="zh-CN" sz="1500" dirty="0">
                <a:solidFill>
                  <a:srgbClr val="0000FF"/>
                </a:solidFill>
              </a:rPr>
              <a:t> x1, 32(</a:t>
            </a:r>
            <a:r>
              <a:rPr lang="en-US" altLang="zh-CN" sz="1500" dirty="0" err="1">
                <a:solidFill>
                  <a:srgbClr val="0000FF"/>
                </a:solidFill>
              </a:rPr>
              <a:t>sp</a:t>
            </a:r>
            <a:r>
              <a:rPr lang="en-US" altLang="zh-CN" sz="1500" dirty="0">
                <a:solidFill>
                  <a:srgbClr val="0000FF"/>
                </a:solidFill>
              </a:rPr>
              <a:t>)              # </a:t>
            </a:r>
            <a:r>
              <a:rPr lang="zh-CN" altLang="en-US" sz="1500" dirty="0">
                <a:solidFill>
                  <a:srgbClr val="0000FF"/>
                </a:solidFill>
              </a:rPr>
              <a:t>恢复</a:t>
            </a:r>
            <a:r>
              <a:rPr lang="en-US" altLang="zh-CN" sz="1500" dirty="0">
                <a:solidFill>
                  <a:srgbClr val="0000FF"/>
                </a:solidFill>
              </a:rPr>
              <a:t>x1</a:t>
            </a:r>
            <a:r>
              <a:rPr lang="zh-CN" altLang="en-US" sz="1500" dirty="0">
                <a:solidFill>
                  <a:srgbClr val="0000FF"/>
                </a:solidFill>
              </a:rPr>
              <a:t>（出栈）</a:t>
            </a:r>
          </a:p>
          <a:p>
            <a:pPr marL="457200" lvl="1" indent="0" fontAlgn="auto">
              <a:lnSpc>
                <a:spcPct val="90000"/>
              </a:lnSpc>
              <a:buNone/>
            </a:pPr>
            <a:r>
              <a:rPr lang="zh-CN" altLang="en-US" sz="1500" dirty="0">
                <a:solidFill>
                  <a:srgbClr val="0000FF"/>
                </a:solidFill>
              </a:rPr>
              <a:t>    </a:t>
            </a:r>
            <a:r>
              <a:rPr lang="en-US" altLang="zh-CN" sz="1500" dirty="0" err="1">
                <a:solidFill>
                  <a:srgbClr val="0000FF"/>
                </a:solidFill>
              </a:rPr>
              <a:t>addi</a:t>
            </a:r>
            <a:r>
              <a:rPr lang="en-US" altLang="zh-CN" sz="1500" dirty="0">
                <a:solidFill>
                  <a:srgbClr val="0000FF"/>
                </a:solidFill>
              </a:rPr>
              <a:t> </a:t>
            </a:r>
            <a:r>
              <a:rPr lang="en-US" altLang="zh-CN" sz="1500" dirty="0" err="1">
                <a:solidFill>
                  <a:srgbClr val="0000FF"/>
                </a:solidFill>
              </a:rPr>
              <a:t>sp</a:t>
            </a:r>
            <a:r>
              <a:rPr lang="en-US" altLang="zh-CN" sz="1500" dirty="0">
                <a:solidFill>
                  <a:srgbClr val="0000FF"/>
                </a:solidFill>
              </a:rPr>
              <a:t>, </a:t>
            </a:r>
            <a:r>
              <a:rPr lang="en-US" altLang="zh-CN" sz="1500" dirty="0" err="1">
                <a:solidFill>
                  <a:srgbClr val="0000FF"/>
                </a:solidFill>
              </a:rPr>
              <a:t>sp</a:t>
            </a:r>
            <a:r>
              <a:rPr lang="en-US" altLang="zh-CN" sz="1500" dirty="0">
                <a:solidFill>
                  <a:srgbClr val="0000FF"/>
                </a:solidFill>
              </a:rPr>
              <a:t>, 40           # </a:t>
            </a:r>
            <a:r>
              <a:rPr lang="zh-CN" altLang="en-US" sz="1500" dirty="0">
                <a:solidFill>
                  <a:srgbClr val="0000FF"/>
                </a:solidFill>
              </a:rPr>
              <a:t>恢复栈指针</a:t>
            </a:r>
          </a:p>
          <a:p>
            <a:pPr marL="457200" lvl="1" indent="0" fontAlgn="auto">
              <a:lnSpc>
                <a:spcPct val="90000"/>
              </a:lnSpc>
              <a:buNone/>
            </a:pPr>
            <a:r>
              <a:rPr lang="zh-CN" altLang="en-US" sz="1500" dirty="0"/>
              <a:t>    </a:t>
            </a:r>
            <a:endParaRPr lang="en-US" altLang="zh-CN" sz="1500" dirty="0"/>
          </a:p>
          <a:p>
            <a:pPr marL="457200" lvl="1" indent="0" fontAlgn="auto">
              <a:lnSpc>
                <a:spcPct val="90000"/>
              </a:lnSpc>
              <a:buNone/>
            </a:pPr>
            <a:r>
              <a:rPr lang="en-US" altLang="zh-CN" sz="1500" dirty="0"/>
              <a:t>   </a:t>
            </a:r>
          </a:p>
          <a:p>
            <a:pPr marL="457200" lvl="1" indent="0" fontAlgn="auto">
              <a:lnSpc>
                <a:spcPct val="90000"/>
              </a:lnSpc>
              <a:buNone/>
            </a:pPr>
            <a:r>
              <a:rPr lang="en-US" altLang="zh-CN" sz="1500" dirty="0"/>
              <a:t> </a:t>
            </a:r>
          </a:p>
          <a:p>
            <a:pPr marL="457200" lvl="1" indent="0" fontAlgn="auto">
              <a:lnSpc>
                <a:spcPct val="90000"/>
              </a:lnSpc>
              <a:buNone/>
            </a:pPr>
            <a:r>
              <a:rPr lang="en-US" altLang="zh-CN" sz="1500" dirty="0"/>
              <a:t>    </a:t>
            </a:r>
            <a:r>
              <a:rPr lang="en-US" altLang="zh-CN" sz="1500" dirty="0" err="1"/>
              <a:t>jalr</a:t>
            </a:r>
            <a:r>
              <a:rPr lang="en-US" altLang="zh-CN" sz="1500" dirty="0"/>
              <a:t> x0, 0(x1)                # </a:t>
            </a:r>
            <a:r>
              <a:rPr lang="zh-CN" altLang="en-US" sz="1500" dirty="0"/>
              <a:t>返回调用线程</a:t>
            </a:r>
            <a:endParaRPr lang="en-US" altLang="zh-CN" sz="15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888964-9822-47CC-8200-10E01A2A73C3}"/>
              </a:ext>
            </a:extLst>
          </p:cNvPr>
          <p:cNvSpPr/>
          <p:nvPr/>
        </p:nvSpPr>
        <p:spPr>
          <a:xfrm>
            <a:off x="480238" y="197777"/>
            <a:ext cx="6546572" cy="1842038"/>
          </a:xfrm>
          <a:prstGeom prst="rect">
            <a:avLst/>
          </a:prstGeom>
          <a:noFill/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C71B71-44EA-44A1-B7E9-344F16751310}"/>
              </a:ext>
            </a:extLst>
          </p:cNvPr>
          <p:cNvSpPr/>
          <p:nvPr/>
        </p:nvSpPr>
        <p:spPr>
          <a:xfrm>
            <a:off x="480237" y="2284049"/>
            <a:ext cx="6546572" cy="592836"/>
          </a:xfrm>
          <a:prstGeom prst="rect">
            <a:avLst/>
          </a:prstGeom>
          <a:noFill/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47BC41-8A3C-433F-B936-DF7ADF8450D7}"/>
              </a:ext>
            </a:extLst>
          </p:cNvPr>
          <p:cNvSpPr/>
          <p:nvPr/>
        </p:nvSpPr>
        <p:spPr>
          <a:xfrm>
            <a:off x="480237" y="2876885"/>
            <a:ext cx="6546573" cy="709576"/>
          </a:xfrm>
          <a:prstGeom prst="rect">
            <a:avLst/>
          </a:prstGeom>
          <a:noFill/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FE5D2C-1A9C-4D84-A1B3-F062159AF112}"/>
              </a:ext>
            </a:extLst>
          </p:cNvPr>
          <p:cNvSpPr/>
          <p:nvPr/>
        </p:nvSpPr>
        <p:spPr>
          <a:xfrm>
            <a:off x="480237" y="3586462"/>
            <a:ext cx="6546572" cy="1884044"/>
          </a:xfrm>
          <a:prstGeom prst="rect">
            <a:avLst/>
          </a:prstGeom>
          <a:noFill/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078F1B-B083-4CB3-B200-CDCFE878C55B}"/>
              </a:ext>
            </a:extLst>
          </p:cNvPr>
          <p:cNvSpPr/>
          <p:nvPr/>
        </p:nvSpPr>
        <p:spPr>
          <a:xfrm>
            <a:off x="480236" y="5470507"/>
            <a:ext cx="6546572" cy="673714"/>
          </a:xfrm>
          <a:prstGeom prst="rect">
            <a:avLst/>
          </a:prstGeom>
          <a:noFill/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1B72A2-61BE-4958-83A4-3794D7539FEE}"/>
              </a:ext>
            </a:extLst>
          </p:cNvPr>
          <p:cNvSpPr/>
          <p:nvPr/>
        </p:nvSpPr>
        <p:spPr>
          <a:xfrm>
            <a:off x="7469944" y="1436506"/>
            <a:ext cx="4565375" cy="1361453"/>
          </a:xfrm>
          <a:prstGeom prst="rect">
            <a:avLst/>
          </a:prstGeom>
          <a:noFill/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8AE4AB-63A3-4DD1-A209-B1E6F32FC227}"/>
              </a:ext>
            </a:extLst>
          </p:cNvPr>
          <p:cNvSpPr/>
          <p:nvPr/>
        </p:nvSpPr>
        <p:spPr>
          <a:xfrm>
            <a:off x="7469944" y="3003452"/>
            <a:ext cx="4571304" cy="2418042"/>
          </a:xfrm>
          <a:prstGeom prst="rect">
            <a:avLst/>
          </a:prstGeom>
          <a:noFill/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896B19-4D9C-4871-B004-1973A3EB2270}"/>
              </a:ext>
            </a:extLst>
          </p:cNvPr>
          <p:cNvSpPr txBox="1"/>
          <p:nvPr/>
        </p:nvSpPr>
        <p:spPr>
          <a:xfrm>
            <a:off x="2590934" y="15254"/>
            <a:ext cx="2086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</a:rPr>
              <a:t>保存寄存器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699EE5-485E-40F0-ADB4-04AF2F2A1986}"/>
              </a:ext>
            </a:extLst>
          </p:cNvPr>
          <p:cNvSpPr txBox="1"/>
          <p:nvPr/>
        </p:nvSpPr>
        <p:spPr>
          <a:xfrm>
            <a:off x="2780847" y="2067442"/>
            <a:ext cx="1153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2">
                    <a:lumMod val="50000"/>
                  </a:schemeClr>
                </a:solidFill>
              </a:rPr>
              <a:t>过程体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B9B4D13-C54E-4A27-B669-9754C021B417}"/>
              </a:ext>
            </a:extLst>
          </p:cNvPr>
          <p:cNvSpPr txBox="1"/>
          <p:nvPr/>
        </p:nvSpPr>
        <p:spPr>
          <a:xfrm>
            <a:off x="600355" y="2931411"/>
            <a:ext cx="1153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外循环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DD9C13C-5A4E-4236-8201-B33CFF8855A0}"/>
              </a:ext>
            </a:extLst>
          </p:cNvPr>
          <p:cNvSpPr txBox="1"/>
          <p:nvPr/>
        </p:nvSpPr>
        <p:spPr>
          <a:xfrm>
            <a:off x="9175855" y="1540678"/>
            <a:ext cx="1153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外循环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42BCE3E-8C55-4B58-83E3-E145D086C5A1}"/>
              </a:ext>
            </a:extLst>
          </p:cNvPr>
          <p:cNvSpPr txBox="1"/>
          <p:nvPr/>
        </p:nvSpPr>
        <p:spPr>
          <a:xfrm>
            <a:off x="600355" y="5507472"/>
            <a:ext cx="1153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参数传递和调用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53AC4D5-037E-478F-BBDD-DD1180903615}"/>
              </a:ext>
            </a:extLst>
          </p:cNvPr>
          <p:cNvSpPr txBox="1"/>
          <p:nvPr/>
        </p:nvSpPr>
        <p:spPr>
          <a:xfrm>
            <a:off x="642559" y="4405791"/>
            <a:ext cx="1153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内循环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ED50B1-261D-48D6-9D20-A629321BBABE}"/>
              </a:ext>
            </a:extLst>
          </p:cNvPr>
          <p:cNvSpPr/>
          <p:nvPr/>
        </p:nvSpPr>
        <p:spPr>
          <a:xfrm>
            <a:off x="480233" y="6144222"/>
            <a:ext cx="6546572" cy="636969"/>
          </a:xfrm>
          <a:prstGeom prst="rect">
            <a:avLst/>
          </a:prstGeom>
          <a:noFill/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AB743DD-B39F-4B79-B122-077CF35A4269}"/>
              </a:ext>
            </a:extLst>
          </p:cNvPr>
          <p:cNvSpPr txBox="1"/>
          <p:nvPr/>
        </p:nvSpPr>
        <p:spPr>
          <a:xfrm>
            <a:off x="654050" y="6290890"/>
            <a:ext cx="1153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内循环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78A2CB-1D44-4E72-A25A-06B9B2508490}"/>
              </a:ext>
            </a:extLst>
          </p:cNvPr>
          <p:cNvSpPr txBox="1"/>
          <p:nvPr/>
        </p:nvSpPr>
        <p:spPr>
          <a:xfrm>
            <a:off x="9175854" y="2808412"/>
            <a:ext cx="1468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</a:rPr>
              <a:t>恢复寄存器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F412F5-FF9A-493A-9908-EA273F8DDEFF}"/>
              </a:ext>
            </a:extLst>
          </p:cNvPr>
          <p:cNvSpPr/>
          <p:nvPr/>
        </p:nvSpPr>
        <p:spPr>
          <a:xfrm>
            <a:off x="7466979" y="5648979"/>
            <a:ext cx="4571304" cy="897262"/>
          </a:xfrm>
          <a:prstGeom prst="rect">
            <a:avLst/>
          </a:prstGeom>
          <a:noFill/>
          <a:ln w="254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AD614EF-1F62-413C-87EF-AA92492A11DA}"/>
              </a:ext>
            </a:extLst>
          </p:cNvPr>
          <p:cNvSpPr txBox="1"/>
          <p:nvPr/>
        </p:nvSpPr>
        <p:spPr>
          <a:xfrm>
            <a:off x="9175854" y="5448667"/>
            <a:ext cx="1468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</a:rPr>
              <a:t>过程返回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AFEEBC6-71F0-4DCC-8DFB-274D4CB26AB0}"/>
              </a:ext>
            </a:extLst>
          </p:cNvPr>
          <p:cNvSpPr txBox="1"/>
          <p:nvPr/>
        </p:nvSpPr>
        <p:spPr>
          <a:xfrm>
            <a:off x="457065" y="2467220"/>
            <a:ext cx="1153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移动参数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46098C8-4DD9-406D-9810-16A9216FDEB9}"/>
              </a:ext>
            </a:extLst>
          </p:cNvPr>
          <p:cNvSpPr txBox="1"/>
          <p:nvPr/>
        </p:nvSpPr>
        <p:spPr>
          <a:xfrm>
            <a:off x="7418092" y="86204"/>
            <a:ext cx="5085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v</a:t>
            </a:r>
            <a:r>
              <a:rPr lang="en-US" altLang="zh-CN" sz="2400" dirty="0"/>
              <a:t>-&gt;</a:t>
            </a:r>
            <a:r>
              <a:rPr lang="en-US" altLang="zh-CN" sz="2400" dirty="0">
                <a:solidFill>
                  <a:srgbClr val="0000FF"/>
                </a:solidFill>
              </a:rPr>
              <a:t>x10</a:t>
            </a:r>
            <a:r>
              <a:rPr lang="en-US" altLang="zh-CN" sz="2400" dirty="0"/>
              <a:t>,   </a:t>
            </a:r>
            <a:r>
              <a:rPr lang="en-US" altLang="zh-CN" sz="2400" dirty="0">
                <a:solidFill>
                  <a:srgbClr val="FF0000"/>
                </a:solidFill>
              </a:rPr>
              <a:t>n</a:t>
            </a:r>
            <a:r>
              <a:rPr lang="en-US" altLang="zh-CN" sz="2400" dirty="0"/>
              <a:t>-&gt;</a:t>
            </a:r>
            <a:r>
              <a:rPr lang="en-US" altLang="zh-CN" sz="2400" dirty="0">
                <a:solidFill>
                  <a:srgbClr val="0000FF"/>
                </a:solidFill>
              </a:rPr>
              <a:t>x11</a:t>
            </a:r>
            <a:r>
              <a:rPr lang="en-US" altLang="zh-CN" sz="2400" dirty="0"/>
              <a:t>,   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/>
              <a:t>-&gt;</a:t>
            </a:r>
            <a:r>
              <a:rPr lang="en-US" altLang="zh-CN" sz="2400" dirty="0">
                <a:solidFill>
                  <a:srgbClr val="0000FF"/>
                </a:solidFill>
              </a:rPr>
              <a:t>x19</a:t>
            </a:r>
            <a:r>
              <a:rPr lang="en-US" altLang="zh-CN" sz="2400" dirty="0"/>
              <a:t>,   </a:t>
            </a:r>
            <a:r>
              <a:rPr lang="en-US" altLang="zh-CN" sz="2400" dirty="0">
                <a:solidFill>
                  <a:srgbClr val="FF0000"/>
                </a:solidFill>
              </a:rPr>
              <a:t>j</a:t>
            </a:r>
            <a:r>
              <a:rPr lang="en-US" altLang="zh-CN" sz="2400" dirty="0"/>
              <a:t>-&gt;</a:t>
            </a:r>
            <a:r>
              <a:rPr lang="en-US" altLang="zh-CN" sz="2400" dirty="0">
                <a:solidFill>
                  <a:srgbClr val="0000FF"/>
                </a:solidFill>
              </a:rPr>
              <a:t>x20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78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5" grpId="0"/>
      <p:bldP spid="16" grpId="0"/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RISC-V汇编及其指令系统 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793875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b="1" dirty="0">
                <a:sym typeface="+mn-ea"/>
              </a:rPr>
              <a:t>案例分析</a:t>
            </a:r>
            <a:endParaRPr lang="zh-CN" b="1" dirty="0"/>
          </a:p>
          <a:p>
            <a:pPr lvl="1">
              <a:lnSpc>
                <a:spcPct val="17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  <a:sym typeface="+mn-ea"/>
              </a:rPr>
              <a:t>RISC-V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冒泡排序</a:t>
            </a:r>
          </a:p>
          <a:p>
            <a:pPr lvl="1" algn="l">
              <a:lnSpc>
                <a:spcPct val="170000"/>
              </a:lnSpc>
              <a:buSzTx/>
            </a:pPr>
            <a:r>
              <a:rPr lang="en-US" altLang="zh-CN" b="1" dirty="0">
                <a:solidFill>
                  <a:srgbClr val="FF0000"/>
                </a:solidFill>
              </a:rPr>
              <a:t>数组与指针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0" i="0" u="none" kern="1200" baseline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solidFill>
                  <a:schemeClr val="tx1"/>
                </a:solidFill>
              </a:rPr>
              <a:t>12</a:t>
            </a:fld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数组与指针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</a:pPr>
            <a:r>
              <a:rPr lang="zh-CN" altLang="en-US" b="1" dirty="0"/>
              <a:t>数组索引包括</a:t>
            </a:r>
          </a:p>
          <a:p>
            <a:pPr lvl="1" fontAlgn="auto">
              <a:lnSpc>
                <a:spcPct val="150000"/>
              </a:lnSpc>
            </a:pPr>
            <a:r>
              <a:rPr lang="zh-CN" altLang="en-US" dirty="0"/>
              <a:t>用元素长度乘以下标</a:t>
            </a:r>
          </a:p>
          <a:p>
            <a:pPr lvl="1" fontAlgn="auto">
              <a:lnSpc>
                <a:spcPct val="150000"/>
              </a:lnSpc>
            </a:pPr>
            <a:r>
              <a:rPr lang="zh-CN" altLang="en-US" dirty="0"/>
              <a:t>与数组基址相加</a:t>
            </a:r>
          </a:p>
          <a:p>
            <a:pPr fontAlgn="auto">
              <a:lnSpc>
                <a:spcPct val="150000"/>
              </a:lnSpc>
            </a:pPr>
            <a:r>
              <a:rPr lang="zh-CN" altLang="en-US" b="1" dirty="0"/>
              <a:t>指针直接对应存储器地址</a:t>
            </a:r>
          </a:p>
          <a:p>
            <a:pPr lvl="1" fontAlgn="auto">
              <a:lnSpc>
                <a:spcPct val="150000"/>
              </a:lnSpc>
            </a:pPr>
            <a:r>
              <a:rPr lang="zh-CN" altLang="en-US" dirty="0"/>
              <a:t>可以避免索引的复杂性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E787-E6FE-45D8-9039-788B45E44EE7}" type="slidenum">
              <a:rPr lang="zh-CN" altLang="en-US" smtClean="0"/>
              <a:t>13</a:t>
            </a:fld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例：将数组清零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9634"/>
            <a:ext cx="10515600" cy="497621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使用数组下标清零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clear1 (long </a:t>
            </a:r>
            <a:r>
              <a:rPr lang="en-US" altLang="zh-CN" sz="2000" dirty="0" err="1"/>
              <a:t>long</a:t>
            </a:r>
            <a:r>
              <a:rPr lang="en-US" altLang="zh-CN" sz="2000" dirty="0"/>
              <a:t> int array[], int size)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000" dirty="0"/>
              <a:t>        int j;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000" dirty="0"/>
              <a:t>        for 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&lt; size;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+= 1)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000" dirty="0"/>
              <a:t>            array[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]=0</a:t>
            </a:r>
          </a:p>
          <a:p>
            <a:pPr marL="0" lvl="1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altLang="zh-CN" sz="2000" dirty="0"/>
              <a:t>} </a:t>
            </a:r>
          </a:p>
          <a:p>
            <a:pPr marL="228600" lvl="1">
              <a:lnSpc>
                <a:spcPct val="100000"/>
              </a:lnSpc>
              <a:spcBef>
                <a:spcPts val="1000"/>
              </a:spcBef>
            </a:pPr>
            <a:r>
              <a:rPr lang="zh-CN" altLang="en-US" sz="3200" dirty="0"/>
              <a:t>使用指针清零</a:t>
            </a:r>
            <a:endParaRPr lang="en-US" altLang="zh-CN" sz="32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clear2 (long </a:t>
            </a:r>
            <a:r>
              <a:rPr lang="en-US" altLang="zh-CN" sz="2000" dirty="0" err="1"/>
              <a:t>long</a:t>
            </a:r>
            <a:r>
              <a:rPr lang="en-US" altLang="zh-CN" sz="2000" dirty="0"/>
              <a:t> int *array, int size)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000" dirty="0"/>
              <a:t>        long </a:t>
            </a:r>
            <a:r>
              <a:rPr lang="en-US" altLang="zh-CN" sz="2000" dirty="0" err="1"/>
              <a:t>long</a:t>
            </a:r>
            <a:r>
              <a:rPr lang="en-US" altLang="zh-CN" sz="2000" dirty="0"/>
              <a:t> int *p;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000" dirty="0"/>
              <a:t>        for (p = &amp;array[0]; p &lt; &amp;array[size]; p=p+1)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000" dirty="0"/>
              <a:t>            *p=0</a:t>
            </a:r>
          </a:p>
          <a:p>
            <a:pPr marL="0" lvl="1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altLang="zh-CN" sz="2000" dirty="0"/>
              <a:t>} </a:t>
            </a:r>
          </a:p>
          <a:p>
            <a:pPr marL="0" lvl="1" indent="0">
              <a:lnSpc>
                <a:spcPct val="100000"/>
              </a:lnSpc>
              <a:spcBef>
                <a:spcPts val="1000"/>
              </a:spcBef>
              <a:buNone/>
            </a:pPr>
            <a:endParaRPr lang="en-US" altLang="zh-CN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E787-E6FE-45D8-9039-788B45E44EE7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3634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例：使用数组下标清零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92485"/>
            <a:ext cx="10515600" cy="1617365"/>
          </a:xfrm>
        </p:spPr>
        <p:txBody>
          <a:bodyPr/>
          <a:lstStyle/>
          <a:p>
            <a:r>
              <a:rPr lang="zh-CN" altLang="en-US" dirty="0"/>
              <a:t>内层循环的框架：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14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1400" dirty="0"/>
              <a:t>    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E787-E6FE-45D8-9039-788B45E44EE7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23A78B2-537B-4A4C-840D-35FC03F8C959}"/>
              </a:ext>
            </a:extLst>
          </p:cNvPr>
          <p:cNvSpPr txBox="1"/>
          <p:nvPr/>
        </p:nvSpPr>
        <p:spPr>
          <a:xfrm>
            <a:off x="5934910" y="3681746"/>
            <a:ext cx="6001922" cy="31762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1"/>
            <a:r>
              <a:rPr lang="en-US" altLang="zh-CN" sz="2200" dirty="0"/>
              <a:t>  li x5, 0       #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= 0</a:t>
            </a:r>
          </a:p>
          <a:p>
            <a:pPr>
              <a:lnSpc>
                <a:spcPct val="120000"/>
              </a:lnSpc>
            </a:pPr>
            <a:r>
              <a:rPr lang="en-US" altLang="zh-CN" sz="2200" dirty="0"/>
              <a:t>     loop1: </a:t>
            </a:r>
          </a:p>
          <a:p>
            <a:pPr>
              <a:lnSpc>
                <a:spcPct val="120000"/>
              </a:lnSpc>
            </a:pPr>
            <a:r>
              <a:rPr lang="en-US" altLang="zh-CN" sz="2200" dirty="0"/>
              <a:t>         </a:t>
            </a:r>
            <a:r>
              <a:rPr lang="en-US" altLang="zh-CN" sz="2200" dirty="0" err="1"/>
              <a:t>slli</a:t>
            </a:r>
            <a:r>
              <a:rPr lang="en-US" altLang="zh-CN" sz="2200" dirty="0"/>
              <a:t>, x6, x5, 3    </a:t>
            </a:r>
          </a:p>
          <a:p>
            <a:pPr>
              <a:lnSpc>
                <a:spcPct val="120000"/>
              </a:lnSpc>
            </a:pPr>
            <a:r>
              <a:rPr lang="en-US" altLang="zh-CN" sz="2200" dirty="0"/>
              <a:t>         add x7, x10, x6 </a:t>
            </a:r>
          </a:p>
          <a:p>
            <a:pPr>
              <a:lnSpc>
                <a:spcPct val="120000"/>
              </a:lnSpc>
            </a:pPr>
            <a:r>
              <a:rPr lang="en-US" altLang="zh-CN" sz="2200" dirty="0"/>
              <a:t>         </a:t>
            </a:r>
            <a:r>
              <a:rPr lang="en-US" altLang="zh-CN" sz="2200" dirty="0" err="1"/>
              <a:t>sd</a:t>
            </a:r>
            <a:r>
              <a:rPr lang="en-US" altLang="zh-CN" sz="2200" dirty="0"/>
              <a:t> x0, 0(x7)</a:t>
            </a:r>
          </a:p>
          <a:p>
            <a:pPr>
              <a:lnSpc>
                <a:spcPct val="120000"/>
              </a:lnSpc>
            </a:pPr>
            <a:r>
              <a:rPr lang="en-US" altLang="zh-CN" sz="2200" dirty="0"/>
              <a:t>         </a:t>
            </a:r>
            <a:r>
              <a:rPr lang="en-US" altLang="zh-CN" sz="2200" dirty="0" err="1"/>
              <a:t>addi</a:t>
            </a:r>
            <a:r>
              <a:rPr lang="en-US" altLang="zh-CN" sz="2200" dirty="0"/>
              <a:t> x5, x5, 1         #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+= 1</a:t>
            </a:r>
          </a:p>
          <a:p>
            <a:pPr>
              <a:lnSpc>
                <a:spcPct val="120000"/>
              </a:lnSpc>
            </a:pPr>
            <a:r>
              <a:rPr lang="en-US" altLang="zh-CN" sz="2200" dirty="0"/>
              <a:t>         </a:t>
            </a:r>
            <a:r>
              <a:rPr lang="en-US" altLang="zh-CN" sz="2200" dirty="0" err="1"/>
              <a:t>blt</a:t>
            </a:r>
            <a:r>
              <a:rPr lang="en-US" altLang="zh-CN" sz="2200" dirty="0"/>
              <a:t>  x5, x11, loop1</a:t>
            </a:r>
          </a:p>
          <a:p>
            <a:r>
              <a:rPr lang="en-US" altLang="zh-CN" sz="2000" dirty="0"/>
              <a:t> </a:t>
            </a:r>
            <a:endParaRPr lang="zh-CN" altLang="en-US" sz="2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E9AA27-A9A8-4681-830A-17FCCFC01D9D}"/>
              </a:ext>
            </a:extLst>
          </p:cNvPr>
          <p:cNvSpPr/>
          <p:nvPr/>
        </p:nvSpPr>
        <p:spPr>
          <a:xfrm>
            <a:off x="5796913" y="3619502"/>
            <a:ext cx="5263612" cy="2949574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FB0889-DE30-45CC-A6F6-A9886B49B2AB}"/>
              </a:ext>
            </a:extLst>
          </p:cNvPr>
          <p:cNvSpPr txBox="1"/>
          <p:nvPr/>
        </p:nvSpPr>
        <p:spPr>
          <a:xfrm>
            <a:off x="1003300" y="2614753"/>
            <a:ext cx="4521200" cy="413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初始化：</a:t>
            </a:r>
            <a:r>
              <a:rPr lang="en-US" altLang="zh-CN" sz="1800" dirty="0"/>
              <a:t> </a:t>
            </a:r>
            <a:r>
              <a:rPr lang="en-US" altLang="zh-CN" dirty="0"/>
              <a:t> li x5, 0       # </a:t>
            </a:r>
            <a:r>
              <a:rPr lang="en-US" altLang="zh-CN" dirty="0" err="1"/>
              <a:t>i</a:t>
            </a:r>
            <a:r>
              <a:rPr lang="en-US" altLang="zh-CN" dirty="0"/>
              <a:t> = 0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获取</a:t>
            </a:r>
            <a:r>
              <a:rPr lang="en-US" altLang="zh-CN" dirty="0"/>
              <a:t>array[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的字节地址：</a:t>
            </a:r>
            <a:r>
              <a:rPr lang="en-US" altLang="zh-CN" sz="1800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loop1: </a:t>
            </a:r>
            <a:r>
              <a:rPr lang="en-US" altLang="zh-CN" dirty="0" err="1"/>
              <a:t>slli</a:t>
            </a:r>
            <a:r>
              <a:rPr lang="en-US" altLang="zh-CN" dirty="0"/>
              <a:t>, x6, x5, 3   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           add x7, x10, x6 </a:t>
            </a:r>
            <a:endParaRPr lang="en-US" altLang="zh-CN" sz="18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将</a:t>
            </a:r>
            <a:r>
              <a:rPr lang="en-US" altLang="zh-CN" dirty="0"/>
              <a:t>0</a:t>
            </a:r>
            <a:r>
              <a:rPr lang="zh-CN" altLang="en-US" dirty="0"/>
              <a:t>存到该地址：</a:t>
            </a:r>
            <a:r>
              <a:rPr lang="en-US" altLang="zh-CN" dirty="0" err="1"/>
              <a:t>sd</a:t>
            </a:r>
            <a:r>
              <a:rPr lang="en-US" altLang="zh-CN" dirty="0"/>
              <a:t> x0, 0(x7)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循环增值：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   </a:t>
            </a:r>
            <a:r>
              <a:rPr lang="en-US" altLang="zh-CN" dirty="0" err="1"/>
              <a:t>addi</a:t>
            </a:r>
            <a:r>
              <a:rPr lang="en-US" altLang="zh-CN" dirty="0"/>
              <a:t> x5, x5, 1         # </a:t>
            </a:r>
            <a:r>
              <a:rPr lang="en-US" altLang="zh-CN" dirty="0" err="1"/>
              <a:t>i</a:t>
            </a:r>
            <a:r>
              <a:rPr lang="en-US" altLang="zh-CN" dirty="0"/>
              <a:t> += 1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循环测试</a:t>
            </a:r>
            <a:r>
              <a:rPr lang="en-US" altLang="zh-CN" dirty="0" err="1"/>
              <a:t>i</a:t>
            </a:r>
            <a:r>
              <a:rPr lang="zh-CN" altLang="en-US" dirty="0"/>
              <a:t>是否小于</a:t>
            </a:r>
            <a:r>
              <a:rPr lang="en-US" altLang="zh-CN" dirty="0"/>
              <a:t>size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   </a:t>
            </a:r>
            <a:r>
              <a:rPr lang="en-US" altLang="zh-CN" dirty="0" err="1"/>
              <a:t>blt</a:t>
            </a:r>
            <a:r>
              <a:rPr lang="en-US" altLang="zh-CN" dirty="0"/>
              <a:t>  x5, x11, loop1</a:t>
            </a:r>
          </a:p>
          <a:p>
            <a:pPr>
              <a:lnSpc>
                <a:spcPct val="120000"/>
              </a:lnSpc>
            </a:pPr>
            <a:endParaRPr lang="en-US" altLang="zh-CN" sz="1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59658C-05FC-4DF2-A626-F6CE83D7914D}"/>
              </a:ext>
            </a:extLst>
          </p:cNvPr>
          <p:cNvSpPr txBox="1"/>
          <p:nvPr/>
        </p:nvSpPr>
        <p:spPr>
          <a:xfrm>
            <a:off x="1131476" y="1883904"/>
            <a:ext cx="4189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array</a:t>
            </a:r>
            <a:r>
              <a:rPr lang="en-US" altLang="zh-CN" sz="2400" dirty="0"/>
              <a:t>-&gt;</a:t>
            </a:r>
            <a:r>
              <a:rPr lang="en-US" altLang="zh-CN" sz="2400" dirty="0">
                <a:solidFill>
                  <a:srgbClr val="0000FF"/>
                </a:solidFill>
              </a:rPr>
              <a:t>x10</a:t>
            </a:r>
            <a:r>
              <a:rPr lang="en-US" altLang="zh-CN" sz="2400" dirty="0"/>
              <a:t>,   </a:t>
            </a:r>
            <a:r>
              <a:rPr lang="en-US" altLang="zh-CN" sz="2400" dirty="0">
                <a:solidFill>
                  <a:srgbClr val="FF0000"/>
                </a:solidFill>
              </a:rPr>
              <a:t>size</a:t>
            </a:r>
            <a:r>
              <a:rPr lang="en-US" altLang="zh-CN" sz="2400" dirty="0"/>
              <a:t>-&gt;</a:t>
            </a:r>
            <a:r>
              <a:rPr lang="en-US" altLang="zh-CN" sz="2400" dirty="0">
                <a:solidFill>
                  <a:srgbClr val="0000FF"/>
                </a:solidFill>
              </a:rPr>
              <a:t>x11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/>
              <a:t>-&gt;</a:t>
            </a:r>
            <a:r>
              <a:rPr lang="en-US" altLang="zh-CN" sz="2400" dirty="0">
                <a:solidFill>
                  <a:srgbClr val="0000FF"/>
                </a:solidFill>
              </a:rPr>
              <a:t>x5 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B3C60AC-6D2B-480D-A487-50CCDB0A7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776" y="1279151"/>
            <a:ext cx="5242748" cy="2253266"/>
          </a:xfrm>
          <a:prstGeom prst="rect">
            <a:avLst/>
          </a:prstGeom>
          <a:ln w="25400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359577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例：</a:t>
            </a:r>
            <a:r>
              <a:rPr lang="zh-CN" altLang="en-US" sz="4400" dirty="0"/>
              <a:t>使用指针清零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155699"/>
            <a:ext cx="10515600" cy="1617365"/>
          </a:xfrm>
        </p:spPr>
        <p:txBody>
          <a:bodyPr/>
          <a:lstStyle/>
          <a:p>
            <a:r>
              <a:rPr lang="zh-CN" altLang="en-US" dirty="0"/>
              <a:t>内层循环的框架：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14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1400" dirty="0"/>
              <a:t>    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E787-E6FE-45D8-9039-788B45E44EE7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23A78B2-537B-4A4C-840D-35FC03F8C959}"/>
              </a:ext>
            </a:extLst>
          </p:cNvPr>
          <p:cNvSpPr txBox="1"/>
          <p:nvPr/>
        </p:nvSpPr>
        <p:spPr>
          <a:xfrm>
            <a:off x="5503110" y="3601185"/>
            <a:ext cx="6001922" cy="29377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1">
              <a:lnSpc>
                <a:spcPct val="120000"/>
              </a:lnSpc>
            </a:pPr>
            <a:r>
              <a:rPr lang="en-US" altLang="zh-CN" sz="2400" dirty="0"/>
              <a:t>    </a:t>
            </a:r>
            <a:r>
              <a:rPr lang="en-US" altLang="zh-CN" sz="2200" dirty="0"/>
              <a:t>mv  x5, x10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loop2: 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    </a:t>
            </a:r>
            <a:r>
              <a:rPr lang="en-US" altLang="zh-CN" sz="2200" dirty="0" err="1"/>
              <a:t>sd</a:t>
            </a:r>
            <a:r>
              <a:rPr lang="en-US" altLang="zh-CN" sz="2200" dirty="0"/>
              <a:t>, x0, 0(x5)  </a:t>
            </a:r>
          </a:p>
          <a:p>
            <a:pPr>
              <a:lnSpc>
                <a:spcPct val="120000"/>
              </a:lnSpc>
            </a:pPr>
            <a:r>
              <a:rPr lang="en-US" altLang="zh-CN" sz="2200" dirty="0"/>
              <a:t>           </a:t>
            </a:r>
            <a:r>
              <a:rPr lang="en-US" altLang="zh-CN" sz="2200" dirty="0" err="1"/>
              <a:t>addi</a:t>
            </a:r>
            <a:r>
              <a:rPr lang="en-US" altLang="zh-CN" sz="2200" dirty="0"/>
              <a:t> x5, x5, 8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    </a:t>
            </a:r>
            <a:r>
              <a:rPr lang="en-US" altLang="zh-CN" sz="2200" dirty="0" err="1">
                <a:solidFill>
                  <a:srgbClr val="FF0000"/>
                </a:solidFill>
              </a:rPr>
              <a:t>slli</a:t>
            </a:r>
            <a:r>
              <a:rPr lang="en-US" altLang="zh-CN" sz="2200" dirty="0">
                <a:solidFill>
                  <a:srgbClr val="FF0000"/>
                </a:solidFill>
              </a:rPr>
              <a:t>  x6, x11, 3 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>
                <a:solidFill>
                  <a:srgbClr val="FF0000"/>
                </a:solidFill>
              </a:rPr>
              <a:t>    add x7, x10, x6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    </a:t>
            </a:r>
            <a:r>
              <a:rPr lang="en-US" altLang="zh-CN" sz="2200" dirty="0" err="1"/>
              <a:t>bltu</a:t>
            </a:r>
            <a:r>
              <a:rPr lang="en-US" altLang="zh-CN" sz="2200" dirty="0"/>
              <a:t> x5, x7, loop2</a:t>
            </a:r>
            <a:endParaRPr lang="zh-CN" altLang="en-US" sz="2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E9AA27-A9A8-4681-830A-17FCCFC01D9D}"/>
              </a:ext>
            </a:extLst>
          </p:cNvPr>
          <p:cNvSpPr/>
          <p:nvPr/>
        </p:nvSpPr>
        <p:spPr>
          <a:xfrm>
            <a:off x="5775742" y="3669899"/>
            <a:ext cx="5567774" cy="2949574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FB0889-DE30-45CC-A6F6-A9886B49B2AB}"/>
              </a:ext>
            </a:extLst>
          </p:cNvPr>
          <p:cNvSpPr txBox="1"/>
          <p:nvPr/>
        </p:nvSpPr>
        <p:spPr>
          <a:xfrm>
            <a:off x="1027322" y="2456003"/>
            <a:ext cx="4521200" cy="4550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指针</a:t>
            </a:r>
            <a:r>
              <a:rPr lang="en-US" altLang="zh-CN" dirty="0"/>
              <a:t>p</a:t>
            </a:r>
            <a:r>
              <a:rPr lang="zh-CN" altLang="en-US" dirty="0"/>
              <a:t>赋值为数组第一个元素地址：</a:t>
            </a:r>
            <a:r>
              <a:rPr lang="en-US" altLang="zh-CN" sz="1800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 mv  x5, x10       # p </a:t>
            </a:r>
            <a:r>
              <a:rPr lang="zh-CN" altLang="en-US" dirty="0"/>
              <a:t>等于</a:t>
            </a:r>
            <a:r>
              <a:rPr lang="en-US" altLang="zh-CN" dirty="0"/>
              <a:t>array[0]</a:t>
            </a:r>
            <a:r>
              <a:rPr lang="zh-CN" altLang="en-US" dirty="0"/>
              <a:t>地址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/>
              <a:t>For</a:t>
            </a:r>
            <a:r>
              <a:rPr lang="zh-CN" altLang="en-US" dirty="0"/>
              <a:t>循环体，将</a:t>
            </a:r>
            <a:r>
              <a:rPr lang="en-US" altLang="zh-CN" dirty="0"/>
              <a:t>0</a:t>
            </a:r>
            <a:r>
              <a:rPr lang="zh-CN" altLang="en-US" dirty="0"/>
              <a:t>存入</a:t>
            </a:r>
            <a:r>
              <a:rPr lang="en-US" altLang="zh-CN" dirty="0"/>
              <a:t>p</a:t>
            </a:r>
            <a:r>
              <a:rPr lang="zh-CN" altLang="en-US" dirty="0"/>
              <a:t>：</a:t>
            </a:r>
            <a:r>
              <a:rPr lang="en-US" altLang="zh-CN" sz="1800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     loop2: </a:t>
            </a:r>
            <a:r>
              <a:rPr lang="en-US" altLang="zh-CN" dirty="0" err="1"/>
              <a:t>sd</a:t>
            </a:r>
            <a:r>
              <a:rPr lang="en-US" altLang="zh-CN" dirty="0"/>
              <a:t>, x0, 0(x5) 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修改</a:t>
            </a:r>
            <a:r>
              <a:rPr lang="en-US" altLang="zh-CN" dirty="0"/>
              <a:t>p</a:t>
            </a:r>
            <a:r>
              <a:rPr lang="zh-CN" altLang="en-US" dirty="0"/>
              <a:t>指向下一个双字：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</a:t>
            </a:r>
            <a:r>
              <a:rPr lang="en-US" altLang="zh-CN" dirty="0" err="1"/>
              <a:t>addi</a:t>
            </a:r>
            <a:r>
              <a:rPr lang="en-US" altLang="zh-CN" dirty="0"/>
              <a:t> x5, x5, 8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循环测试：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   </a:t>
            </a:r>
            <a:r>
              <a:rPr lang="en-US" altLang="zh-CN" dirty="0" err="1"/>
              <a:t>slli</a:t>
            </a:r>
            <a:r>
              <a:rPr lang="en-US" altLang="zh-CN" dirty="0"/>
              <a:t>  x6, x11, 3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   add x7, x10, x6       # array[size]</a:t>
            </a:r>
            <a:r>
              <a:rPr lang="zh-CN" altLang="en-US" dirty="0"/>
              <a:t>的地址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   </a:t>
            </a:r>
            <a:r>
              <a:rPr lang="en-US" altLang="zh-CN" dirty="0" err="1"/>
              <a:t>bltu</a:t>
            </a:r>
            <a:r>
              <a:rPr lang="en-US" altLang="zh-CN" dirty="0"/>
              <a:t> x5, x7, loop2   </a:t>
            </a:r>
          </a:p>
          <a:p>
            <a:pPr>
              <a:lnSpc>
                <a:spcPct val="120000"/>
              </a:lnSpc>
            </a:pPr>
            <a:endParaRPr lang="en-US" altLang="zh-CN" sz="1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59658C-05FC-4DF2-A626-F6CE83D7914D}"/>
              </a:ext>
            </a:extLst>
          </p:cNvPr>
          <p:cNvSpPr txBox="1"/>
          <p:nvPr/>
        </p:nvSpPr>
        <p:spPr>
          <a:xfrm>
            <a:off x="1131476" y="1883904"/>
            <a:ext cx="4189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array</a:t>
            </a:r>
            <a:r>
              <a:rPr lang="en-US" altLang="zh-CN" sz="2400" dirty="0"/>
              <a:t>-&gt;</a:t>
            </a:r>
            <a:r>
              <a:rPr lang="en-US" altLang="zh-CN" sz="2400" dirty="0">
                <a:solidFill>
                  <a:srgbClr val="0000FF"/>
                </a:solidFill>
              </a:rPr>
              <a:t>x10</a:t>
            </a:r>
            <a:r>
              <a:rPr lang="en-US" altLang="zh-CN" sz="2400" dirty="0"/>
              <a:t>,   </a:t>
            </a:r>
            <a:r>
              <a:rPr lang="en-US" altLang="zh-CN" sz="2400" dirty="0">
                <a:solidFill>
                  <a:srgbClr val="FF0000"/>
                </a:solidFill>
              </a:rPr>
              <a:t>size</a:t>
            </a:r>
            <a:r>
              <a:rPr lang="en-US" altLang="zh-CN" sz="2400" dirty="0"/>
              <a:t>-&gt;</a:t>
            </a:r>
            <a:r>
              <a:rPr lang="en-US" altLang="zh-CN" sz="2400" dirty="0">
                <a:solidFill>
                  <a:srgbClr val="0000FF"/>
                </a:solidFill>
              </a:rPr>
              <a:t>x11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FF0000"/>
                </a:solidFill>
              </a:rPr>
              <a:t> p</a:t>
            </a:r>
            <a:r>
              <a:rPr lang="en-US" altLang="zh-CN" sz="2400" dirty="0"/>
              <a:t>-&gt;</a:t>
            </a:r>
            <a:r>
              <a:rPr lang="en-US" altLang="zh-CN" sz="2400" dirty="0">
                <a:solidFill>
                  <a:srgbClr val="0000FF"/>
                </a:solidFill>
              </a:rPr>
              <a:t>x5 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2E58BC-DB8A-423F-A214-A557D7D135E7}"/>
              </a:ext>
            </a:extLst>
          </p:cNvPr>
          <p:cNvSpPr txBox="1"/>
          <p:nvPr/>
        </p:nvSpPr>
        <p:spPr>
          <a:xfrm>
            <a:off x="7842874" y="5459515"/>
            <a:ext cx="3581400" cy="426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# </a:t>
            </a:r>
            <a:r>
              <a:rPr lang="zh-CN" altLang="en-US" sz="2000" dirty="0">
                <a:solidFill>
                  <a:srgbClr val="FF0000"/>
                </a:solidFill>
              </a:rPr>
              <a:t>这条语句可放在</a:t>
            </a:r>
            <a:r>
              <a:rPr lang="en-US" altLang="zh-CN" sz="2000" dirty="0">
                <a:solidFill>
                  <a:srgbClr val="FF0000"/>
                </a:solidFill>
              </a:rPr>
              <a:t>loop2</a:t>
            </a:r>
            <a:r>
              <a:rPr lang="zh-CN" altLang="en-US" sz="2000" dirty="0">
                <a:solidFill>
                  <a:srgbClr val="FF0000"/>
                </a:solidFill>
              </a:rPr>
              <a:t>外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EF7AC3D-5882-4BAC-A6AA-D8B7F8758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895" y="1465441"/>
            <a:ext cx="5521468" cy="1932388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3360348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数组与指针的比较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ts val="4000"/>
              </a:lnSpc>
            </a:pPr>
            <a:r>
              <a:rPr lang="zh-CN" altLang="en-US" b="1" dirty="0"/>
              <a:t>把乘“强度减少” 为移位</a:t>
            </a:r>
          </a:p>
          <a:p>
            <a:pPr fontAlgn="auto">
              <a:lnSpc>
                <a:spcPts val="4000"/>
              </a:lnSpc>
            </a:pPr>
            <a:r>
              <a:rPr lang="zh-CN" altLang="en-US" b="1" dirty="0"/>
              <a:t>数组版本要求移位在循环内部</a:t>
            </a:r>
          </a:p>
          <a:p>
            <a:pPr lvl="1" fontAlgn="auto">
              <a:lnSpc>
                <a:spcPts val="4000"/>
              </a:lnSpc>
            </a:pPr>
            <a:r>
              <a:rPr lang="zh-CN" altLang="en-US" dirty="0"/>
              <a:t>由于</a:t>
            </a:r>
            <a:r>
              <a:rPr lang="en-US" altLang="zh-CN" dirty="0" err="1"/>
              <a:t>i</a:t>
            </a:r>
            <a:r>
              <a:rPr lang="zh-CN" altLang="en-US" dirty="0"/>
              <a:t>的递增，需要有进行下标计算的部分</a:t>
            </a:r>
          </a:p>
          <a:p>
            <a:pPr lvl="1" fontAlgn="auto">
              <a:lnSpc>
                <a:spcPts val="4000"/>
              </a:lnSpc>
            </a:pPr>
            <a:r>
              <a:rPr lang="zh-CN" altLang="en-US" dirty="0"/>
              <a:t>对比指针的递增</a:t>
            </a:r>
          </a:p>
          <a:p>
            <a:pPr fontAlgn="auto">
              <a:lnSpc>
                <a:spcPts val="4000"/>
              </a:lnSpc>
            </a:pPr>
            <a:r>
              <a:rPr lang="zh-CN" altLang="en-US" b="1" dirty="0"/>
              <a:t>编译器能与手动使用指针一样有效</a:t>
            </a:r>
          </a:p>
          <a:p>
            <a:pPr lvl="1" fontAlgn="auto">
              <a:lnSpc>
                <a:spcPts val="4000"/>
              </a:lnSpc>
            </a:pPr>
            <a:r>
              <a:rPr lang="zh-CN" altLang="en-US" dirty="0"/>
              <a:t>变量消除</a:t>
            </a:r>
          </a:p>
          <a:p>
            <a:pPr lvl="1" fontAlgn="auto">
              <a:lnSpc>
                <a:spcPts val="4000"/>
              </a:lnSpc>
            </a:pPr>
            <a:r>
              <a:rPr lang="zh-CN" altLang="en-US" dirty="0"/>
              <a:t>尽量让程序更加清晰和安全</a:t>
            </a:r>
          </a:p>
          <a:p>
            <a:pPr marL="228600" lvl="1" algn="l" fontAlgn="auto">
              <a:lnSpc>
                <a:spcPts val="4000"/>
              </a:lnSpc>
              <a:spcBef>
                <a:spcPts val="1000"/>
              </a:spcBef>
              <a:buSzTx/>
            </a:pPr>
            <a:r>
              <a:rPr lang="zh-CN" altLang="en-US" sz="3200" b="1" dirty="0">
                <a:solidFill>
                  <a:srgbClr val="FF0000"/>
                </a:solidFill>
              </a:rPr>
              <a:t>编程推荐使用下标方式访问数组元素</a:t>
            </a:r>
          </a:p>
          <a:p>
            <a:pPr lvl="1">
              <a:lnSpc>
                <a:spcPct val="100000"/>
              </a:lnSpc>
            </a:pP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E787-E6FE-45D8-9039-788B45E44EE7}" type="slidenum">
              <a:rPr lang="zh-CN" altLang="en-US" smtClean="0"/>
              <a:t>17</a:t>
            </a:fld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930</TotalTime>
  <Words>2377</Words>
  <Application>Microsoft Macintosh PowerPoint</Application>
  <PresentationFormat>宽屏</PresentationFormat>
  <Paragraphs>307</Paragraphs>
  <Slides>17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Arial</vt:lpstr>
      <vt:lpstr>Times New Roman</vt:lpstr>
      <vt:lpstr>Wingdings</vt:lpstr>
      <vt:lpstr>Office 主题​​</vt:lpstr>
      <vt:lpstr>第三章 RISC-V汇编及其指令系统 </vt:lpstr>
      <vt:lpstr>第三章 RISC-V汇编及其指令系统 </vt:lpstr>
      <vt:lpstr>C排序的例子</vt:lpstr>
      <vt:lpstr>swap过程</vt:lpstr>
      <vt:lpstr>C排序的sort过程</vt:lpstr>
      <vt:lpstr>外层循环</vt:lpstr>
      <vt:lpstr>内层循环</vt:lpstr>
      <vt:lpstr>第二个for循环的循环体</vt:lpstr>
      <vt:lpstr>保存寄存器值-入栈</vt:lpstr>
      <vt:lpstr>恢复寄存器值-出栈</vt:lpstr>
      <vt:lpstr>PowerPoint 演示文稿</vt:lpstr>
      <vt:lpstr>第三章 RISC-V汇编及其指令系统 </vt:lpstr>
      <vt:lpstr>数组与指针</vt:lpstr>
      <vt:lpstr>例：将数组清零</vt:lpstr>
      <vt:lpstr>例：使用数组下标清零</vt:lpstr>
      <vt:lpstr>例：使用指针清零</vt:lpstr>
      <vt:lpstr>数组与指针的比较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昕 陈</dc:creator>
  <cp:lastModifiedBy>忠云 花</cp:lastModifiedBy>
  <cp:revision>504</cp:revision>
  <dcterms:created xsi:type="dcterms:W3CDTF">2021-01-19T10:08:00Z</dcterms:created>
  <dcterms:modified xsi:type="dcterms:W3CDTF">2025-02-20T03:52:11Z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3B665F9870F04C66BF85617B5085F9FB</vt:lpwstr>
  </property>
</Properties>
</file>