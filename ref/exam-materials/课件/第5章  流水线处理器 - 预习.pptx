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1.xml" ContentType="application/vnd.openxmlformats-officedocument.presentationml.tags+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tags/tag2.xml" ContentType="application/vnd.openxmlformats-officedocument.presentationml.tags+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0"/>
  </p:notesMasterIdLst>
  <p:handoutMasterIdLst>
    <p:handoutMasterId r:id="rId91"/>
  </p:handoutMasterIdLst>
  <p:sldIdLst>
    <p:sldId id="5143" r:id="rId2"/>
    <p:sldId id="4210" r:id="rId3"/>
    <p:sldId id="303" r:id="rId4"/>
    <p:sldId id="309" r:id="rId5"/>
    <p:sldId id="1040" r:id="rId6"/>
    <p:sldId id="311" r:id="rId7"/>
    <p:sldId id="988" r:id="rId8"/>
    <p:sldId id="1138" r:id="rId9"/>
    <p:sldId id="1139" r:id="rId10"/>
    <p:sldId id="315" r:id="rId11"/>
    <p:sldId id="989" r:id="rId12"/>
    <p:sldId id="990" r:id="rId13"/>
    <p:sldId id="991" r:id="rId14"/>
    <p:sldId id="992" r:id="rId15"/>
    <p:sldId id="320" r:id="rId16"/>
    <p:sldId id="321" r:id="rId17"/>
    <p:sldId id="1328" r:id="rId18"/>
    <p:sldId id="323" r:id="rId19"/>
    <p:sldId id="1329" r:id="rId20"/>
    <p:sldId id="325" r:id="rId21"/>
    <p:sldId id="1332" r:id="rId22"/>
    <p:sldId id="4211" r:id="rId23"/>
    <p:sldId id="1321" r:id="rId24"/>
    <p:sldId id="1291" r:id="rId25"/>
    <p:sldId id="1333" r:id="rId26"/>
    <p:sldId id="1339" r:id="rId27"/>
    <p:sldId id="1144" r:id="rId28"/>
    <p:sldId id="1145" r:id="rId29"/>
    <p:sldId id="1304" r:id="rId30"/>
    <p:sldId id="1305" r:id="rId31"/>
    <p:sldId id="1306" r:id="rId32"/>
    <p:sldId id="1307" r:id="rId33"/>
    <p:sldId id="1308" r:id="rId34"/>
    <p:sldId id="1309" r:id="rId35"/>
    <p:sldId id="1310" r:id="rId36"/>
    <p:sldId id="1311" r:id="rId37"/>
    <p:sldId id="1312" r:id="rId38"/>
    <p:sldId id="1313" r:id="rId39"/>
    <p:sldId id="1314" r:id="rId40"/>
    <p:sldId id="1315" r:id="rId41"/>
    <p:sldId id="1316" r:id="rId42"/>
    <p:sldId id="1317" r:id="rId43"/>
    <p:sldId id="4212" r:id="rId44"/>
    <p:sldId id="1341" r:id="rId45"/>
    <p:sldId id="1334" r:id="rId46"/>
    <p:sldId id="1335" r:id="rId47"/>
    <p:sldId id="919" r:id="rId48"/>
    <p:sldId id="1336" r:id="rId49"/>
    <p:sldId id="1325" r:id="rId50"/>
    <p:sldId id="1000" r:id="rId51"/>
    <p:sldId id="1001" r:id="rId52"/>
    <p:sldId id="1337" r:id="rId53"/>
    <p:sldId id="1002" r:id="rId54"/>
    <p:sldId id="959" r:id="rId55"/>
    <p:sldId id="1012" r:id="rId56"/>
    <p:sldId id="350" r:id="rId57"/>
    <p:sldId id="923" r:id="rId58"/>
    <p:sldId id="1003" r:id="rId59"/>
    <p:sldId id="352" r:id="rId60"/>
    <p:sldId id="1004" r:id="rId61"/>
    <p:sldId id="1239" r:id="rId62"/>
    <p:sldId id="355" r:id="rId63"/>
    <p:sldId id="1005" r:id="rId64"/>
    <p:sldId id="356" r:id="rId65"/>
    <p:sldId id="1006" r:id="rId66"/>
    <p:sldId id="371" r:id="rId67"/>
    <p:sldId id="920" r:id="rId68"/>
    <p:sldId id="1007" r:id="rId69"/>
    <p:sldId id="1240" r:id="rId70"/>
    <p:sldId id="361" r:id="rId71"/>
    <p:sldId id="1008" r:id="rId72"/>
    <p:sldId id="1037" r:id="rId73"/>
    <p:sldId id="367" r:id="rId74"/>
    <p:sldId id="368" r:id="rId75"/>
    <p:sldId id="369" r:id="rId76"/>
    <p:sldId id="370" r:id="rId77"/>
    <p:sldId id="1342" r:id="rId78"/>
    <p:sldId id="372" r:id="rId79"/>
    <p:sldId id="926" r:id="rId80"/>
    <p:sldId id="373" r:id="rId81"/>
    <p:sldId id="374" r:id="rId82"/>
    <p:sldId id="375" r:id="rId83"/>
    <p:sldId id="379" r:id="rId84"/>
    <p:sldId id="376" r:id="rId85"/>
    <p:sldId id="1039" r:id="rId86"/>
    <p:sldId id="1038" r:id="rId87"/>
    <p:sldId id="1011" r:id="rId88"/>
    <p:sldId id="1241" r:id="rId8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9B234C5-7B82-482F-8ABD-9A8B2CC1A0A3}">
          <p14:sldIdLst>
            <p14:sldId id="5143"/>
            <p14:sldId id="4210"/>
            <p14:sldId id="303"/>
            <p14:sldId id="309"/>
            <p14:sldId id="1040"/>
            <p14:sldId id="311"/>
            <p14:sldId id="988"/>
            <p14:sldId id="1138"/>
            <p14:sldId id="1139"/>
            <p14:sldId id="315"/>
            <p14:sldId id="989"/>
            <p14:sldId id="990"/>
            <p14:sldId id="991"/>
            <p14:sldId id="992"/>
            <p14:sldId id="320"/>
            <p14:sldId id="321"/>
            <p14:sldId id="1328"/>
            <p14:sldId id="323"/>
            <p14:sldId id="1329"/>
            <p14:sldId id="325"/>
            <p14:sldId id="1332"/>
            <p14:sldId id="4211"/>
            <p14:sldId id="1321"/>
            <p14:sldId id="1291"/>
            <p14:sldId id="1333"/>
            <p14:sldId id="1339"/>
            <p14:sldId id="1144"/>
            <p14:sldId id="1145"/>
            <p14:sldId id="1304"/>
            <p14:sldId id="1305"/>
            <p14:sldId id="1306"/>
            <p14:sldId id="1307"/>
            <p14:sldId id="1308"/>
            <p14:sldId id="1309"/>
            <p14:sldId id="1310"/>
            <p14:sldId id="1311"/>
            <p14:sldId id="1312"/>
            <p14:sldId id="1313"/>
            <p14:sldId id="1314"/>
            <p14:sldId id="1315"/>
            <p14:sldId id="1316"/>
            <p14:sldId id="1317"/>
            <p14:sldId id="4212"/>
            <p14:sldId id="1341"/>
            <p14:sldId id="1334"/>
            <p14:sldId id="1335"/>
            <p14:sldId id="919"/>
            <p14:sldId id="1336"/>
            <p14:sldId id="1325"/>
            <p14:sldId id="1000"/>
            <p14:sldId id="1001"/>
            <p14:sldId id="1337"/>
            <p14:sldId id="1002"/>
            <p14:sldId id="959"/>
            <p14:sldId id="1012"/>
            <p14:sldId id="350"/>
            <p14:sldId id="923"/>
            <p14:sldId id="1003"/>
            <p14:sldId id="352"/>
            <p14:sldId id="1004"/>
            <p14:sldId id="1239"/>
            <p14:sldId id="355"/>
            <p14:sldId id="1005"/>
            <p14:sldId id="356"/>
            <p14:sldId id="1006"/>
            <p14:sldId id="371"/>
            <p14:sldId id="920"/>
            <p14:sldId id="1007"/>
            <p14:sldId id="1240"/>
            <p14:sldId id="361"/>
            <p14:sldId id="1008"/>
            <p14:sldId id="1037"/>
            <p14:sldId id="367"/>
            <p14:sldId id="368"/>
            <p14:sldId id="369"/>
            <p14:sldId id="370"/>
            <p14:sldId id="1342"/>
            <p14:sldId id="372"/>
            <p14:sldId id="926"/>
            <p14:sldId id="373"/>
            <p14:sldId id="374"/>
            <p14:sldId id="375"/>
            <p14:sldId id="379"/>
            <p14:sldId id="376"/>
            <p14:sldId id="1039"/>
            <p14:sldId id="1038"/>
            <p14:sldId id="1011"/>
            <p14:sldId id="1241"/>
          </p14:sldIdLst>
        </p14:section>
      </p14:sectionLst>
    </p:ext>
    <p:ext uri="{EFAFB233-063F-42B5-8137-9DF3F51BA10A}">
      <p15:sldGuideLst xmlns:p15="http://schemas.microsoft.com/office/powerpoint/2012/main">
        <p15:guide id="1" orient="horz" pos="2293">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CDCF9"/>
    <a:srgbClr val="0000FF"/>
    <a:srgbClr val="D0CECE"/>
    <a:srgbClr val="CCEDFC"/>
    <a:srgbClr val="FFC409"/>
    <a:srgbClr val="00B0F0"/>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62" autoAdjust="0"/>
    <p:restoredTop sz="62535" autoAdjust="0"/>
  </p:normalViewPr>
  <p:slideViewPr>
    <p:cSldViewPr snapToGrid="0" showGuides="1">
      <p:cViewPr varScale="1">
        <p:scale>
          <a:sx n="86" d="100"/>
          <a:sy n="86" d="100"/>
        </p:scale>
        <p:origin x="1104" y="64"/>
      </p:cViewPr>
      <p:guideLst>
        <p:guide orient="horz" pos="2293"/>
        <p:guide pos="3840"/>
      </p:guideLst>
    </p:cSldViewPr>
  </p:slideViewPr>
  <p:outlineViewPr>
    <p:cViewPr>
      <p:scale>
        <a:sx n="33" d="100"/>
        <a:sy n="33" d="100"/>
      </p:scale>
      <p:origin x="0" y="-41637"/>
    </p:cViewPr>
  </p:outlineViewPr>
  <p:notesTextViewPr>
    <p:cViewPr>
      <p:scale>
        <a:sx n="3" d="2"/>
        <a:sy n="3" d="2"/>
      </p:scale>
      <p:origin x="0" y="0"/>
    </p:cViewPr>
  </p:notesTextViewPr>
  <p:notesViewPr>
    <p:cSldViewPr snapToGrid="0">
      <p:cViewPr varScale="1">
        <p:scale>
          <a:sx n="61" d="100"/>
          <a:sy n="61" d="100"/>
        </p:scale>
        <p:origin x="3027" y="5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E4CC0D-F10D-400D-8EB4-EADC7E4AB7A8}" type="datetimeFigureOut">
              <a:rPr lang="zh-CN" altLang="en-US" smtClean="0"/>
              <a:t>2026/4/21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F0E4A6E-2F20-4F37-816C-AD9E7A26C6AA}"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409652-DC68-4D29-8C95-FF3DAF3DAFF6}" type="datetimeFigureOut">
              <a:rPr lang="zh-CN" altLang="en-US" smtClean="0"/>
              <a:t>2026/4/21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3757C0-D8D6-4E64-9363-D8157096089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7" name="幻灯片图像占位符 1"/>
          <p:cNvSpPr>
            <a:spLocks noGrp="1" noRot="1" noChangeAspect="1"/>
          </p:cNvSpPr>
          <p:nvPr>
            <p:ph type="sldImg"/>
          </p:nvPr>
        </p:nvSpPr>
        <p:spPr/>
      </p:sp>
      <p:sp>
        <p:nvSpPr>
          <p:cNvPr id="1048588" name="备注占位符 2"/>
          <p:cNvSpPr>
            <a:spLocks noGrp="1"/>
          </p:cNvSpPr>
          <p:nvPr>
            <p:ph type="body" idx="1"/>
          </p:nvPr>
        </p:nvSpPr>
        <p:spPr/>
        <p:txBody>
          <a:bodyPr/>
          <a:lstStyle/>
          <a:p>
            <a:endParaRPr lang="zh-CN" altLang="en-US" dirty="0"/>
          </a:p>
        </p:txBody>
      </p:sp>
      <p:sp>
        <p:nvSpPr>
          <p:cNvPr id="1048589" name="灯片编号占位符 3"/>
          <p:cNvSpPr>
            <a:spLocks noGrp="1"/>
          </p:cNvSpPr>
          <p:nvPr>
            <p:ph type="sldNum" sz="quarter" idx="5"/>
          </p:nvPr>
        </p:nvSpPr>
        <p:spPr/>
        <p:txBody>
          <a:bodyPr/>
          <a:lstStyle/>
          <a:p>
            <a:fld id="{CE3757C0-D8D6-4E64-9363-D81570960896}"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6144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31B1B6A7-2D50-4DBC-8BF3-333905A5D714}" type="datetime3">
              <a:rPr lang="en-AU" altLang="en-US" sz="1300" smtClean="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6144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614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FDE7383C-BA21-46EF-BC0C-D82ABD86FB53}" type="slidenum">
              <a:rPr lang="en-AU" altLang="en-US" sz="1300">
                <a:latin typeface="Times New Roman" panose="02020603050405020304" pitchFamily="18" charset="0"/>
              </a:rPr>
              <a:t>3</a:t>
            </a:fld>
            <a:endParaRPr lang="en-AU" altLang="en-US" sz="1300">
              <a:latin typeface="Times New Roman" panose="02020603050405020304" pitchFamily="18" charset="0"/>
            </a:endParaRPr>
          </a:p>
        </p:txBody>
      </p:sp>
      <p:sp>
        <p:nvSpPr>
          <p:cNvPr id="61446" name="Rectangle 2"/>
          <p:cNvSpPr>
            <a:spLocks noGrp="1" noRot="1" noChangeAspect="1" noChangeArrowheads="1" noTextEdit="1"/>
          </p:cNvSpPr>
          <p:nvPr>
            <p:ph type="sldImg"/>
          </p:nvPr>
        </p:nvSpPr>
        <p:spPr/>
      </p:sp>
      <p:sp>
        <p:nvSpPr>
          <p:cNvPr id="614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63491"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37BC258C-1C39-46C5-B2E5-7E3A89ABF776}" type="datetime3">
              <a:rPr lang="en-AU" altLang="en-US" sz="1300" smtClean="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6349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634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C14054B2-B967-406B-98CC-7D561E9828D7}" type="slidenum">
              <a:rPr lang="en-AU" altLang="en-US" sz="1300">
                <a:latin typeface="Times New Roman" panose="02020603050405020304" pitchFamily="18" charset="0"/>
              </a:rPr>
              <a:t>4</a:t>
            </a:fld>
            <a:endParaRPr lang="en-AU" altLang="en-US" sz="1300">
              <a:latin typeface="Times New Roman" panose="02020603050405020304" pitchFamily="18" charset="0"/>
            </a:endParaRPr>
          </a:p>
        </p:txBody>
      </p:sp>
      <p:sp>
        <p:nvSpPr>
          <p:cNvPr id="63494" name="Rectangle 2"/>
          <p:cNvSpPr>
            <a:spLocks noGrp="1" noRot="1" noChangeAspect="1" noChangeArrowheads="1" noTextEdit="1"/>
          </p:cNvSpPr>
          <p:nvPr>
            <p:ph type="sldImg"/>
          </p:nvPr>
        </p:nvSpPr>
        <p:spPr/>
      </p:sp>
      <p:sp>
        <p:nvSpPr>
          <p:cNvPr id="634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这个是不是太简单了？有些同学可能对洗衣服没有概念，能不能用食堂排队打饭或者其他大家都熟悉的例子？</a:t>
            </a:r>
            <a:endParaRPr lang="en-US" altLang="zh-CN" dirty="0"/>
          </a:p>
          <a:p>
            <a:r>
              <a:rPr lang="zh-CN" altLang="en-US" dirty="0"/>
              <a:t>流水线不会缩短洗一次衣服的时间，但是会提升洗衣系统的吞吐率：</a:t>
            </a:r>
            <a:endParaRPr lang="en-US" altLang="zh-CN" dirty="0"/>
          </a:p>
          <a:p>
            <a:r>
              <a:rPr lang="zh-CN" altLang="en-US" dirty="0"/>
              <a:t>当有很多衣服要洗时，吞吐率的提高减少了完成整个任务的时间。</a:t>
            </a:r>
            <a:endParaRPr lang="en-US" altLang="zh-CN" dirty="0"/>
          </a:p>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流水线处理技术，同样的原则也可以用于处理器，即采用流水线方式执行指令。</a:t>
            </a:r>
          </a:p>
        </p:txBody>
      </p:sp>
      <p:sp>
        <p:nvSpPr>
          <p:cNvPr id="4" name="灯片编号占位符 3"/>
          <p:cNvSpPr>
            <a:spLocks noGrp="1"/>
          </p:cNvSpPr>
          <p:nvPr>
            <p:ph type="sldNum" sz="quarter" idx="10"/>
          </p:nvPr>
        </p:nvSpPr>
        <p:spPr/>
        <p:txBody>
          <a:bodyPr/>
          <a:lstStyle/>
          <a:p>
            <a:fld id="{CE3757C0-D8D6-4E64-9363-D81570960896}" type="slidenum">
              <a:rPr lang="zh-CN" altLang="en-US" smtClean="0"/>
              <a:t>5</a:t>
            </a:fld>
            <a:endParaRPr lang="zh-CN" altLang="en-US"/>
          </a:p>
        </p:txBody>
      </p:sp>
    </p:spTree>
    <p:extLst>
      <p:ext uri="{BB962C8B-B14F-4D97-AF65-F5344CB8AC3E}">
        <p14:creationId xmlns:p14="http://schemas.microsoft.com/office/powerpoint/2010/main" val="2152965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6758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4EB349CD-5BD9-4B03-A97E-2A772A43F1CA}" type="datetime3">
              <a:rPr lang="en-AU" altLang="en-US" sz="1300" smtClean="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6758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675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5DA3BA07-E52D-4CF9-B966-1B84EF87C327}" type="slidenum">
              <a:rPr lang="en-AU" altLang="en-US" sz="1300">
                <a:latin typeface="Times New Roman" panose="02020603050405020304" pitchFamily="18" charset="0"/>
              </a:rPr>
              <a:t>6</a:t>
            </a:fld>
            <a:endParaRPr lang="en-AU" altLang="en-US" sz="1300">
              <a:latin typeface="Times New Roman" panose="02020603050405020304" pitchFamily="18" charset="0"/>
            </a:endParaRPr>
          </a:p>
        </p:txBody>
      </p:sp>
      <p:sp>
        <p:nvSpPr>
          <p:cNvPr id="67590" name="Rectangle 2"/>
          <p:cNvSpPr>
            <a:spLocks noGrp="1" noRot="1" noChangeAspect="1" noChangeArrowheads="1" noTextEdit="1"/>
          </p:cNvSpPr>
          <p:nvPr>
            <p:ph type="sldImg"/>
          </p:nvPr>
        </p:nvSpPr>
        <p:spPr/>
      </p:sp>
      <p:sp>
        <p:nvSpPr>
          <p:cNvPr id="6759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这里我们考虑</a:t>
            </a:r>
            <a:r>
              <a:rPr lang="en-US" altLang="zh-CN" dirty="0"/>
              <a:t>7</a:t>
            </a:r>
            <a:r>
              <a:rPr lang="zh-CN" altLang="en-US" dirty="0"/>
              <a:t>条指令。单周期模型中，每条指令的执行需要一个时钟周期，所以时钟周期必须满足最慢的指令。</a:t>
            </a:r>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假设读寄存器操作，发生在时钟周期后半段。</a:t>
            </a:r>
            <a:endParaRPr lang="en-US" altLang="zh-CN" dirty="0"/>
          </a:p>
          <a:p>
            <a:r>
              <a:rPr lang="zh-CN" altLang="en-US" dirty="0"/>
              <a:t>假设：写寄存器操作，发生在时钟周期前半段</a:t>
            </a:r>
          </a:p>
        </p:txBody>
      </p:sp>
      <p:sp>
        <p:nvSpPr>
          <p:cNvPr id="4" name="灯片编号占位符 3"/>
          <p:cNvSpPr>
            <a:spLocks noGrp="1"/>
          </p:cNvSpPr>
          <p:nvPr>
            <p:ph type="sldNum" sz="quarter" idx="5"/>
          </p:nvPr>
        </p:nvSpPr>
        <p:spPr/>
        <p:txBody>
          <a:bodyPr/>
          <a:lstStyle/>
          <a:p>
            <a:fld id="{CE3757C0-D8D6-4E64-9363-D81570960896}"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真实程序会执行数亿条指令，所以指令吞吐率是一个重要指标。</a:t>
            </a:r>
          </a:p>
        </p:txBody>
      </p:sp>
      <p:sp>
        <p:nvSpPr>
          <p:cNvPr id="4" name="灯片编号占位符 3"/>
          <p:cNvSpPr>
            <a:spLocks noGrp="1"/>
          </p:cNvSpPr>
          <p:nvPr>
            <p:ph type="sldNum" sz="quarter" idx="10"/>
          </p:nvPr>
        </p:nvSpPr>
        <p:spPr/>
        <p:txBody>
          <a:bodyPr/>
          <a:lstStyle/>
          <a:p>
            <a:fld id="{CE3757C0-D8D6-4E64-9363-D81570960896}" type="slidenum">
              <a:rPr lang="zh-CN" altLang="en-US" smtClean="0"/>
              <a:t>8</a:t>
            </a:fld>
            <a:endParaRPr lang="zh-CN" altLang="en-US"/>
          </a:p>
        </p:txBody>
      </p:sp>
    </p:spTree>
    <p:extLst>
      <p:ext uri="{BB962C8B-B14F-4D97-AF65-F5344CB8AC3E}">
        <p14:creationId xmlns:p14="http://schemas.microsoft.com/office/powerpoint/2010/main" val="2658504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73731"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5CE44DDC-637E-4D9A-AFFD-D517B00AB73D}" type="datetime3">
              <a:rPr lang="en-AU" altLang="en-US" sz="1300" smtClean="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7373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737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E1116B0A-E0E7-4F39-9CFA-FAE05C667143}" type="slidenum">
              <a:rPr lang="en-AU" altLang="en-US" sz="1300">
                <a:latin typeface="Times New Roman" panose="02020603050405020304" pitchFamily="18" charset="0"/>
              </a:rPr>
              <a:t>9</a:t>
            </a:fld>
            <a:endParaRPr lang="en-AU" altLang="en-US" sz="1300">
              <a:latin typeface="Times New Roman" panose="02020603050405020304" pitchFamily="18" charset="0"/>
            </a:endParaRPr>
          </a:p>
        </p:txBody>
      </p:sp>
      <p:sp>
        <p:nvSpPr>
          <p:cNvPr id="73734" name="Rectangle 2"/>
          <p:cNvSpPr>
            <a:spLocks noGrp="1" noRot="1" noChangeAspect="1" noChangeArrowheads="1" noTextEdit="1"/>
          </p:cNvSpPr>
          <p:nvPr>
            <p:ph type="sldImg"/>
          </p:nvPr>
        </p:nvSpPr>
        <p:spPr/>
      </p:sp>
      <p:sp>
        <p:nvSpPr>
          <p:cNvPr id="7373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7577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25998410-65C6-4120-9E7E-168FA80E4D5C}" type="datetime3">
              <a:rPr lang="en-AU" altLang="en-US" sz="1300" smtClean="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7578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757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623F44C0-2918-497F-A812-421A593D52BB}" type="slidenum">
              <a:rPr lang="en-AU" altLang="en-US" sz="1300">
                <a:latin typeface="Times New Roman" panose="02020603050405020304" pitchFamily="18" charset="0"/>
              </a:rPr>
              <a:t>10</a:t>
            </a:fld>
            <a:endParaRPr lang="en-AU" altLang="en-US" sz="1300">
              <a:latin typeface="Times New Roman" panose="02020603050405020304" pitchFamily="18" charset="0"/>
            </a:endParaRPr>
          </a:p>
        </p:txBody>
      </p:sp>
      <p:sp>
        <p:nvSpPr>
          <p:cNvPr id="75782" name="Rectangle 2"/>
          <p:cNvSpPr>
            <a:spLocks noGrp="1" noRot="1" noChangeAspect="1" noChangeArrowheads="1" noTextEdit="1"/>
          </p:cNvSpPr>
          <p:nvPr>
            <p:ph type="sldImg"/>
          </p:nvPr>
        </p:nvSpPr>
        <p:spPr/>
      </p:sp>
      <p:sp>
        <p:nvSpPr>
          <p:cNvPr id="7578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RSIC-V</a:t>
            </a:r>
            <a:r>
              <a:rPr lang="zh-CN" altLang="en-US" dirty="0"/>
              <a:t>指令系统是面向流水线设计的，使得设计人员在设计流水线时很容易避免结构冒险。</a:t>
            </a:r>
            <a:endParaRPr lang="en-US" altLang="zh-CN" dirty="0"/>
          </a:p>
          <a:p>
            <a:r>
              <a:rPr lang="zh-CN" altLang="en-US" dirty="0"/>
              <a:t>将存储器设计为指令存储器和数据存储器是避免结构冒险的典型案例。因为不能同时取数据和指令。</a:t>
            </a:r>
            <a:endParaRPr lang="en-US" altLang="zh-CN" dirty="0"/>
          </a:p>
          <a:p>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7782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81690A91-D265-4D37-9BEC-CB13C11D6BC4}" type="datetime3">
              <a:rPr lang="en-AU" altLang="en-US" sz="1300" smtClean="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7782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778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C64CE134-1A72-4104-97F9-FB757CE36ABC}" type="slidenum">
              <a:rPr lang="en-AU" altLang="en-US" sz="1300">
                <a:latin typeface="Times New Roman" panose="02020603050405020304" pitchFamily="18" charset="0"/>
              </a:rPr>
              <a:t>11</a:t>
            </a:fld>
            <a:endParaRPr lang="en-AU" altLang="en-US" sz="1300">
              <a:latin typeface="Times New Roman" panose="02020603050405020304" pitchFamily="18" charset="0"/>
            </a:endParaRPr>
          </a:p>
        </p:txBody>
      </p:sp>
      <p:sp>
        <p:nvSpPr>
          <p:cNvPr id="77830" name="Rectangle 2"/>
          <p:cNvSpPr>
            <a:spLocks noGrp="1" noRot="1" noChangeAspect="1" noChangeArrowheads="1" noTextEdit="1"/>
          </p:cNvSpPr>
          <p:nvPr>
            <p:ph type="sldImg"/>
          </p:nvPr>
        </p:nvSpPr>
        <p:spPr/>
      </p:sp>
      <p:sp>
        <p:nvSpPr>
          <p:cNvPr id="7783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79875"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3213BFBD-8E57-4C42-A775-D3C7D55990DC}" type="datetime3">
              <a:rPr lang="en-AU" altLang="en-US" sz="1300" smtClean="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79876"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798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F80FB4CD-B6A0-428F-863B-31AC4ECA454D}" type="slidenum">
              <a:rPr lang="en-AU" altLang="en-US" sz="1300">
                <a:latin typeface="Times New Roman" panose="02020603050405020304" pitchFamily="18" charset="0"/>
              </a:rPr>
              <a:t>12</a:t>
            </a:fld>
            <a:endParaRPr lang="en-AU" altLang="en-US" sz="1300">
              <a:latin typeface="Times New Roman" panose="02020603050405020304" pitchFamily="18" charset="0"/>
            </a:endParaRPr>
          </a:p>
        </p:txBody>
      </p:sp>
      <p:sp>
        <p:nvSpPr>
          <p:cNvPr id="79878" name="Rectangle 2"/>
          <p:cNvSpPr>
            <a:spLocks noGrp="1" noRot="1" noChangeAspect="1" noChangeArrowheads="1" noTextEdit="1"/>
          </p:cNvSpPr>
          <p:nvPr>
            <p:ph type="sldImg"/>
          </p:nvPr>
        </p:nvSpPr>
        <p:spPr/>
      </p:sp>
      <p:sp>
        <p:nvSpPr>
          <p:cNvPr id="798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8192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341E3F28-43A5-462C-AEEA-67F8E498DBEE}" type="datetime3">
              <a:rPr lang="en-AU" altLang="en-US" sz="1300" smtClean="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8192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819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7C32283D-ABDE-4FC8-A487-CD04C071BA75}" type="slidenum">
              <a:rPr lang="en-AU" altLang="en-US" sz="1300">
                <a:latin typeface="Times New Roman" panose="02020603050405020304" pitchFamily="18" charset="0"/>
              </a:rPr>
              <a:t>13</a:t>
            </a:fld>
            <a:endParaRPr lang="en-AU" altLang="en-US" sz="1300">
              <a:latin typeface="Times New Roman" panose="02020603050405020304" pitchFamily="18" charset="0"/>
            </a:endParaRPr>
          </a:p>
        </p:txBody>
      </p:sp>
      <p:sp>
        <p:nvSpPr>
          <p:cNvPr id="81926" name="Rectangle 2"/>
          <p:cNvSpPr>
            <a:spLocks noGrp="1" noRot="1" noChangeAspect="1" noChangeArrowheads="1" noTextEdit="1"/>
          </p:cNvSpPr>
          <p:nvPr>
            <p:ph type="sldImg"/>
          </p:nvPr>
        </p:nvSpPr>
        <p:spPr/>
      </p:sp>
      <p:sp>
        <p:nvSpPr>
          <p:cNvPr id="819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83971"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05A9F3BC-86B0-45F2-ABCC-DC2D0242F488}" type="datetime3">
              <a:rPr lang="en-AU" altLang="en-US" sz="1300" smtClean="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8397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839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BFE7D279-F223-4E8C-8088-197BF29183C4}" type="slidenum">
              <a:rPr lang="en-AU" altLang="en-US" sz="1300">
                <a:latin typeface="Times New Roman" panose="02020603050405020304" pitchFamily="18" charset="0"/>
              </a:rPr>
              <a:t>14</a:t>
            </a:fld>
            <a:endParaRPr lang="en-AU" altLang="en-US" sz="1300">
              <a:latin typeface="Times New Roman" panose="02020603050405020304" pitchFamily="18" charset="0"/>
            </a:endParaRPr>
          </a:p>
        </p:txBody>
      </p:sp>
      <p:sp>
        <p:nvSpPr>
          <p:cNvPr id="83974" name="Rectangle 2"/>
          <p:cNvSpPr>
            <a:spLocks noGrp="1" noRot="1" noChangeAspect="1" noChangeArrowheads="1" noTextEdit="1"/>
          </p:cNvSpPr>
          <p:nvPr>
            <p:ph type="sldImg"/>
          </p:nvPr>
        </p:nvSpPr>
        <p:spPr/>
      </p:sp>
      <p:sp>
        <p:nvSpPr>
          <p:cNvPr id="839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8601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9C76C454-6800-47D2-B90C-3BAD065E8F46}" type="datetime3">
              <a:rPr lang="en-AU" altLang="en-US" sz="1300" smtClean="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8602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860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9BCAFB54-17B9-4FE2-AB46-039D8FD22261}" type="slidenum">
              <a:rPr lang="en-AU" altLang="en-US" sz="1300">
                <a:latin typeface="Times New Roman" panose="02020603050405020304" pitchFamily="18" charset="0"/>
              </a:rPr>
              <a:t>15</a:t>
            </a:fld>
            <a:endParaRPr lang="en-AU" altLang="en-US" sz="1300">
              <a:latin typeface="Times New Roman" panose="02020603050405020304" pitchFamily="18" charset="0"/>
            </a:endParaRPr>
          </a:p>
        </p:txBody>
      </p:sp>
      <p:sp>
        <p:nvSpPr>
          <p:cNvPr id="86022" name="Rectangle 2"/>
          <p:cNvSpPr>
            <a:spLocks noGrp="1" noRot="1" noChangeAspect="1" noChangeArrowheads="1" noTextEdit="1"/>
          </p:cNvSpPr>
          <p:nvPr>
            <p:ph type="sldImg"/>
          </p:nvPr>
        </p:nvSpPr>
        <p:spPr/>
      </p:sp>
      <p:sp>
        <p:nvSpPr>
          <p:cNvPr id="860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时钟周期：</a:t>
            </a:r>
            <a:r>
              <a:rPr lang="en-US" altLang="zh-CN" sz="1200" dirty="0"/>
              <a:t>7</a:t>
            </a:r>
            <a:r>
              <a:rPr lang="en-US" altLang="en-US" sz="1200" dirty="0"/>
              <a:t>+</a:t>
            </a:r>
            <a:r>
              <a:rPr lang="zh-CN" altLang="en-US" sz="1200" dirty="0"/>
              <a:t>（</a:t>
            </a:r>
            <a:r>
              <a:rPr lang="en-US" altLang="zh-CN" sz="1200" dirty="0"/>
              <a:t>5-1</a:t>
            </a:r>
            <a:r>
              <a:rPr lang="zh-CN" altLang="en-US" sz="1200" dirty="0"/>
              <a:t>）</a:t>
            </a:r>
            <a:r>
              <a:rPr lang="en-US" altLang="zh-CN" sz="1200" dirty="0"/>
              <a:t>=11</a:t>
            </a:r>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8806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859A0F20-39D5-4AB1-9CB1-CFDF1EE59CC9}" type="datetime3">
              <a:rPr lang="en-AU" altLang="en-US" sz="1300" smtClean="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8806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880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552BC118-E94A-4FC4-BB4A-BDAB10134B44}" type="slidenum">
              <a:rPr lang="en-AU" altLang="en-US" sz="1300">
                <a:latin typeface="Times New Roman" panose="02020603050405020304" pitchFamily="18" charset="0"/>
              </a:rPr>
              <a:t>16</a:t>
            </a:fld>
            <a:endParaRPr lang="en-AU" altLang="en-US" sz="1300">
              <a:latin typeface="Times New Roman" panose="02020603050405020304" pitchFamily="18" charset="0"/>
            </a:endParaRPr>
          </a:p>
        </p:txBody>
      </p:sp>
      <p:sp>
        <p:nvSpPr>
          <p:cNvPr id="88070" name="Rectangle 2"/>
          <p:cNvSpPr>
            <a:spLocks noGrp="1" noRot="1" noChangeAspect="1" noChangeArrowheads="1" noTextEdit="1"/>
          </p:cNvSpPr>
          <p:nvPr>
            <p:ph type="sldImg"/>
          </p:nvPr>
        </p:nvSpPr>
        <p:spPr/>
      </p:sp>
      <p:sp>
        <p:nvSpPr>
          <p:cNvPr id="880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90115"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B589D80B-2BA9-47E2-B8E6-8137EFDFE2F7}" type="datetime3">
              <a:rPr lang="en-AU" altLang="en-US" sz="1300" smtClean="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90116"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901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D5902B8E-C6B3-4D77-B328-7404AA9A9FB3}" type="slidenum">
              <a:rPr lang="en-AU" altLang="en-US" sz="1300">
                <a:latin typeface="Times New Roman" panose="02020603050405020304" pitchFamily="18" charset="0"/>
              </a:rPr>
              <a:t>17</a:t>
            </a:fld>
            <a:endParaRPr lang="en-AU" altLang="en-US" sz="1300">
              <a:latin typeface="Times New Roman" panose="02020603050405020304" pitchFamily="18" charset="0"/>
            </a:endParaRPr>
          </a:p>
        </p:txBody>
      </p:sp>
      <p:sp>
        <p:nvSpPr>
          <p:cNvPr id="90118" name="Rectangle 2"/>
          <p:cNvSpPr>
            <a:spLocks noGrp="1" noRot="1" noChangeAspect="1" noChangeArrowheads="1" noTextEdit="1"/>
          </p:cNvSpPr>
          <p:nvPr>
            <p:ph type="sldImg"/>
          </p:nvPr>
        </p:nvSpPr>
        <p:spPr/>
      </p:sp>
      <p:sp>
        <p:nvSpPr>
          <p:cNvPr id="901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添加足够多的额外硬件，使得在流水线的第二个阶段能够完成测试寄存器、计算分支目标地址和更新</a:t>
            </a:r>
            <a:r>
              <a:rPr lang="en-US" altLang="zh-CN" dirty="0"/>
              <a:t>PC</a:t>
            </a:r>
          </a:p>
          <a:p>
            <a:r>
              <a:rPr lang="zh-CN" altLang="en-US" dirty="0"/>
              <a:t>分支指令后插入一个周期的停顿或气泡。</a:t>
            </a:r>
            <a:endParaRPr lang="en-US" altLang="zh-CN" dirty="0"/>
          </a:p>
          <a:p>
            <a:r>
              <a:rPr lang="zh-CN" altLang="en-US" dirty="0"/>
              <a:t>但是如果每个条件分支指令都停顿，将导致严重的速度下降。</a:t>
            </a:r>
            <a:endParaRPr lang="en-US" altLang="zh-CN" dirty="0"/>
          </a:p>
          <a:p>
            <a:endParaRPr lang="en-US" altLang="en-US" dirty="0"/>
          </a:p>
          <a:p>
            <a:r>
              <a:rPr lang="zh-CN" altLang="en-US" dirty="0"/>
              <a:t>这里指的是在译码阶段的</a:t>
            </a:r>
            <a:r>
              <a:rPr lang="en-US" altLang="zh-CN" dirty="0" err="1"/>
              <a:t>Reg</a:t>
            </a:r>
            <a:r>
              <a:rPr lang="zh-CN" altLang="en-US" dirty="0"/>
              <a:t>这里添加额外的硬件来得到结果。</a:t>
            </a:r>
            <a:endParaRPr lang="en-US" altLang="zh-CN" dirty="0"/>
          </a:p>
          <a:p>
            <a:endParaRPr lang="en-US" altLang="en-US" dirty="0"/>
          </a:p>
          <a:p>
            <a:r>
              <a:rPr lang="zh-CN" altLang="en-US" dirty="0"/>
              <a:t>如果成立，要不要插入气泡？</a:t>
            </a:r>
            <a:endParaRPr lang="en-US" altLang="en-US" dirty="0"/>
          </a:p>
        </p:txBody>
      </p:sp>
    </p:spTree>
    <p:extLst>
      <p:ext uri="{BB962C8B-B14F-4D97-AF65-F5344CB8AC3E}">
        <p14:creationId xmlns:p14="http://schemas.microsoft.com/office/powerpoint/2010/main" val="8209306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9216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A30AFAF7-46F9-4510-B5A8-7F6D68C3A69B}" type="datetime3">
              <a:rPr lang="en-AU" altLang="en-US" sz="1300" smtClean="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9216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921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45B86925-2000-4341-9F5A-7A079ADE1FA2}" type="slidenum">
              <a:rPr lang="en-AU" altLang="en-US" sz="1300">
                <a:latin typeface="Times New Roman" panose="02020603050405020304" pitchFamily="18" charset="0"/>
              </a:rPr>
              <a:t>18</a:t>
            </a:fld>
            <a:endParaRPr lang="en-AU" altLang="en-US" sz="1300">
              <a:latin typeface="Times New Roman" panose="02020603050405020304" pitchFamily="18" charset="0"/>
            </a:endParaRPr>
          </a:p>
        </p:txBody>
      </p:sp>
      <p:sp>
        <p:nvSpPr>
          <p:cNvPr id="92166" name="Rectangle 2"/>
          <p:cNvSpPr>
            <a:spLocks noGrp="1" noRot="1" noChangeAspect="1" noChangeArrowheads="1" noTextEdit="1"/>
          </p:cNvSpPr>
          <p:nvPr>
            <p:ph type="sldImg"/>
          </p:nvPr>
        </p:nvSpPr>
        <p:spPr/>
      </p:sp>
      <p:sp>
        <p:nvSpPr>
          <p:cNvPr id="921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流水线比较长，</a:t>
            </a:r>
            <a:r>
              <a:rPr lang="en-US" altLang="zh-CN" dirty="0"/>
              <a:t>Intel</a:t>
            </a:r>
            <a:r>
              <a:rPr lang="zh-CN" altLang="en-US" dirty="0"/>
              <a:t>十几级流水线</a:t>
            </a:r>
            <a:endParaRPr lang="en-US" altLang="zh-CN" dirty="0"/>
          </a:p>
          <a:p>
            <a:r>
              <a:rPr lang="zh-CN" altLang="en-US" dirty="0"/>
              <a:t>即便在第二阶段解决分支指令问题，还是要停顿？</a:t>
            </a:r>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一种方法是采用“预测”来处理条件分支。 总是预测条件分支指令不发生跳转。如果预测正确，就全速前进。如果预测错误，则停顿</a:t>
            </a:r>
            <a:endParaRPr lang="en-US" altLang="zh-CN" dirty="0"/>
          </a:p>
          <a:p>
            <a:r>
              <a:rPr lang="zh-CN" altLang="en-US" dirty="0">
                <a:solidFill>
                  <a:srgbClr val="0000FF"/>
                </a:solidFill>
              </a:rPr>
              <a:t>寄存器比较、分支目标地址计算 还是不是在</a:t>
            </a:r>
            <a:r>
              <a:rPr lang="en-US" altLang="zh-CN" dirty="0">
                <a:solidFill>
                  <a:srgbClr val="0000FF"/>
                </a:solidFill>
              </a:rPr>
              <a:t>ID</a:t>
            </a:r>
            <a:r>
              <a:rPr lang="zh-CN" altLang="en-US" dirty="0">
                <a:solidFill>
                  <a:srgbClr val="0000FF"/>
                </a:solidFill>
              </a:rPr>
              <a:t>阶段完成？</a:t>
            </a:r>
          </a:p>
        </p:txBody>
      </p:sp>
      <p:sp>
        <p:nvSpPr>
          <p:cNvPr id="4" name="灯片编号占位符 3"/>
          <p:cNvSpPr>
            <a:spLocks noGrp="1"/>
          </p:cNvSpPr>
          <p:nvPr>
            <p:ph type="sldNum" sz="quarter" idx="10"/>
          </p:nvPr>
        </p:nvSpPr>
        <p:spPr/>
        <p:txBody>
          <a:bodyPr/>
          <a:lstStyle/>
          <a:p>
            <a:fld id="{CE3757C0-D8D6-4E64-9363-D81570960896}" type="slidenum">
              <a:rPr lang="zh-CN" altLang="en-US" smtClean="0"/>
              <a:t>19</a:t>
            </a:fld>
            <a:endParaRPr lang="zh-CN" altLang="en-US"/>
          </a:p>
        </p:txBody>
      </p:sp>
    </p:spTree>
    <p:extLst>
      <p:ext uri="{BB962C8B-B14F-4D97-AF65-F5344CB8AC3E}">
        <p14:creationId xmlns:p14="http://schemas.microsoft.com/office/powerpoint/2010/main" val="34574471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94211"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16153DDA-F398-44B0-B7F1-94D9E387BF61}" type="datetime3">
              <a:rPr lang="en-AU" altLang="en-US" sz="1300" smtClean="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9421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942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8E6BCDA2-1D65-4AE7-9852-BCCEABE01239}" type="slidenum">
              <a:rPr lang="en-AU" altLang="en-US" sz="1300">
                <a:latin typeface="Times New Roman" panose="02020603050405020304" pitchFamily="18" charset="0"/>
              </a:rPr>
              <a:t>20</a:t>
            </a:fld>
            <a:endParaRPr lang="en-AU" altLang="en-US" sz="1300">
              <a:latin typeface="Times New Roman" panose="02020603050405020304" pitchFamily="18" charset="0"/>
            </a:endParaRPr>
          </a:p>
        </p:txBody>
      </p:sp>
      <p:sp>
        <p:nvSpPr>
          <p:cNvPr id="94214" name="Rectangle 2"/>
          <p:cNvSpPr>
            <a:spLocks noGrp="1" noRot="1" noChangeAspect="1" noChangeArrowheads="1" noTextEdit="1"/>
          </p:cNvSpPr>
          <p:nvPr>
            <p:ph type="sldImg"/>
          </p:nvPr>
        </p:nvSpPr>
        <p:spPr/>
      </p:sp>
      <p:sp>
        <p:nvSpPr>
          <p:cNvPr id="942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9625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9A8B08CF-85D5-4E87-94C9-155C47E56405}" type="datetime3">
              <a:rPr lang="en-AU" altLang="en-US" sz="1300" smtClean="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9626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962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3CC96A67-0943-4C2D-AFB6-198EE83E1D51}" type="slidenum">
              <a:rPr lang="en-AU" altLang="en-US" sz="1300">
                <a:latin typeface="Times New Roman" panose="02020603050405020304" pitchFamily="18" charset="0"/>
              </a:rPr>
              <a:t>21</a:t>
            </a:fld>
            <a:endParaRPr lang="en-AU" altLang="en-US" sz="1300">
              <a:latin typeface="Times New Roman" panose="02020603050405020304" pitchFamily="18" charset="0"/>
            </a:endParaRPr>
          </a:p>
        </p:txBody>
      </p:sp>
      <p:sp>
        <p:nvSpPr>
          <p:cNvPr id="96262" name="Rectangle 2"/>
          <p:cNvSpPr>
            <a:spLocks noGrp="1" noRot="1" noChangeAspect="1" noChangeArrowheads="1" noTextEdit="1"/>
          </p:cNvSpPr>
          <p:nvPr>
            <p:ph type="sldImg"/>
          </p:nvPr>
        </p:nvSpPr>
        <p:spPr/>
      </p:sp>
      <p:sp>
        <p:nvSpPr>
          <p:cNvPr id="9626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8556221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l" defTabSz="967105" rtl="0" eaLnBrk="1" fontAlgn="auto" latinLnBrk="0" hangingPunct="1">
              <a:lnSpc>
                <a:spcPct val="100000"/>
              </a:lnSpc>
              <a:spcBef>
                <a:spcPts val="0"/>
              </a:spcBef>
              <a:spcAft>
                <a:spcPts val="0"/>
              </a:spcAft>
              <a:buClrTx/>
              <a:buSzTx/>
              <a:buFontTx/>
              <a:buNone/>
              <a:tabLst/>
              <a:defRPr/>
            </a:pPr>
            <a:r>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Morgan Kaufmann Publishers</a:t>
            </a:r>
          </a:p>
        </p:txBody>
      </p:sp>
      <p:sp>
        <p:nvSpPr>
          <p:cNvPr id="614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r" defTabSz="967105" rtl="0" eaLnBrk="1" fontAlgn="auto" latinLnBrk="0" hangingPunct="1">
              <a:lnSpc>
                <a:spcPct val="100000"/>
              </a:lnSpc>
              <a:spcBef>
                <a:spcPts val="0"/>
              </a:spcBef>
              <a:spcAft>
                <a:spcPts val="0"/>
              </a:spcAft>
              <a:buClrTx/>
              <a:buSzTx/>
              <a:buFontTx/>
              <a:buNone/>
              <a:tabLst/>
              <a:defRPr/>
            </a:pPr>
            <a:fld id="{38D8E7CC-9F07-456F-A9E7-07D3A603A3FD}" type="datetime3">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967105" rtl="0" eaLnBrk="1" fontAlgn="auto" latinLnBrk="0" hangingPunct="1">
                <a:lnSpc>
                  <a:spcPct val="100000"/>
                </a:lnSpc>
                <a:spcBef>
                  <a:spcPts val="0"/>
                </a:spcBef>
                <a:spcAft>
                  <a:spcPts val="0"/>
                </a:spcAft>
                <a:buClrTx/>
                <a:buSzTx/>
                <a:buFontTx/>
                <a:buNone/>
                <a:tabLst/>
                <a:defRPr/>
              </a:pPr>
              <a:t>21 April, 2026</a:t>
            </a:fld>
            <a:endPar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614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l" defTabSz="967105" rtl="0" eaLnBrk="1" fontAlgn="auto" latinLnBrk="0" hangingPunct="1">
              <a:lnSpc>
                <a:spcPct val="100000"/>
              </a:lnSpc>
              <a:spcBef>
                <a:spcPts val="0"/>
              </a:spcBef>
              <a:spcAft>
                <a:spcPts val="0"/>
              </a:spcAft>
              <a:buClrTx/>
              <a:buSzTx/>
              <a:buFontTx/>
              <a:buNone/>
              <a:tabLst/>
              <a:defRPr/>
            </a:pPr>
            <a:r>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Chapter 4 — The Processor</a:t>
            </a:r>
          </a:p>
        </p:txBody>
      </p:sp>
      <p:sp>
        <p:nvSpPr>
          <p:cNvPr id="61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r" defTabSz="967105" rtl="0" eaLnBrk="1" fontAlgn="auto" latinLnBrk="0" hangingPunct="1">
              <a:lnSpc>
                <a:spcPct val="100000"/>
              </a:lnSpc>
              <a:spcBef>
                <a:spcPts val="0"/>
              </a:spcBef>
              <a:spcAft>
                <a:spcPts val="0"/>
              </a:spcAft>
              <a:buClrTx/>
              <a:buSzTx/>
              <a:buFontTx/>
              <a:buNone/>
              <a:tabLst/>
              <a:defRPr/>
            </a:pPr>
            <a:fld id="{6025BCF8-1FE1-4307-A3F3-31D1543C40CB}" type="slidenum">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967105" rtl="0" eaLnBrk="1" fontAlgn="auto" latinLnBrk="0" hangingPunct="1">
                <a:lnSpc>
                  <a:spcPct val="100000"/>
                </a:lnSpc>
                <a:spcBef>
                  <a:spcPts val="0"/>
                </a:spcBef>
                <a:spcAft>
                  <a:spcPts val="0"/>
                </a:spcAft>
                <a:buClrTx/>
                <a:buSzTx/>
                <a:buFontTx/>
                <a:buNone/>
                <a:tabLst/>
                <a:defRPr/>
              </a:pPr>
              <a:t>23</a:t>
            </a:fld>
            <a:endPar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6150" name="Rectangle 2"/>
          <p:cNvSpPr>
            <a:spLocks noGrp="1" noRot="1" noChangeAspect="1" noChangeArrowheads="1" noTextEdit="1"/>
          </p:cNvSpPr>
          <p:nvPr>
            <p:ph type="sldImg"/>
          </p:nvPr>
        </p:nvSpPr>
        <p:spPr/>
      </p:sp>
      <p:sp>
        <p:nvSpPr>
          <p:cNvPr id="61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Shift left 1</a:t>
            </a:r>
            <a:r>
              <a:rPr lang="zh-CN" altLang="en-US" dirty="0"/>
              <a:t>是因为</a:t>
            </a:r>
            <a:r>
              <a:rPr lang="en-US" altLang="zh-CN" dirty="0"/>
              <a:t>PC</a:t>
            </a:r>
            <a:r>
              <a:rPr lang="zh-CN" altLang="en-US" dirty="0"/>
              <a:t>偏移量是以</a:t>
            </a:r>
            <a:r>
              <a:rPr lang="en-US" altLang="zh-CN" dirty="0"/>
              <a:t>2</a:t>
            </a:r>
            <a:r>
              <a:rPr lang="zh-CN" altLang="en-US" dirty="0"/>
              <a:t>字节为单位。</a:t>
            </a:r>
            <a:endParaRPr lang="en-US" altLang="zh-CN" dirty="0"/>
          </a:p>
          <a:p>
            <a:r>
              <a:rPr lang="zh-CN" altLang="en-US" dirty="0"/>
              <a:t>这里可以先讲指令执行的五个阶段。</a:t>
            </a:r>
            <a:endParaRPr lang="en-US" altLang="zh-CN" dirty="0"/>
          </a:p>
          <a:p>
            <a:r>
              <a:rPr lang="zh-CN" altLang="en-US" dirty="0"/>
              <a:t>从左到右的指令流动过程中，存在两个特殊情况：</a:t>
            </a:r>
            <a:endParaRPr lang="en-US" altLang="zh-CN" dirty="0"/>
          </a:p>
          <a:p>
            <a:r>
              <a:rPr lang="en-US" altLang="zh-CN" dirty="0"/>
              <a:t>1</a:t>
            </a:r>
          </a:p>
          <a:p>
            <a:endParaRPr lang="en-US" altLang="zh-CN" dirty="0"/>
          </a:p>
          <a:p>
            <a:r>
              <a:rPr lang="zh-CN" altLang="en-US" dirty="0"/>
              <a:t>这里并没有实现</a:t>
            </a:r>
            <a:r>
              <a:rPr lang="en-US" altLang="zh-CN" dirty="0" err="1"/>
              <a:t>jalr</a:t>
            </a:r>
            <a:r>
              <a:rPr lang="zh-CN" altLang="en-US" dirty="0"/>
              <a:t>和</a:t>
            </a:r>
            <a:r>
              <a:rPr lang="en-US" altLang="zh-CN" dirty="0" err="1"/>
              <a:t>jal</a:t>
            </a:r>
            <a:r>
              <a:rPr lang="zh-CN" altLang="en-US" dirty="0"/>
              <a:t>写跳转指令，</a:t>
            </a:r>
            <a:r>
              <a:rPr lang="en-US" altLang="zh-CN" dirty="0"/>
              <a:t>PC</a:t>
            </a:r>
            <a:r>
              <a:rPr lang="zh-CN" altLang="en-US" dirty="0"/>
              <a:t>地址不能写入目的寄存器</a:t>
            </a:r>
            <a:endParaRPr lang="en-US" altLang="zh-CN" dirty="0"/>
          </a:p>
        </p:txBody>
      </p:sp>
    </p:spTree>
    <p:extLst>
      <p:ext uri="{BB962C8B-B14F-4D97-AF65-F5344CB8AC3E}">
        <p14:creationId xmlns:p14="http://schemas.microsoft.com/office/powerpoint/2010/main" val="27369983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l" defTabSz="967105" rtl="0" eaLnBrk="1" fontAlgn="auto" latinLnBrk="0" hangingPunct="1">
              <a:lnSpc>
                <a:spcPct val="100000"/>
              </a:lnSpc>
              <a:spcBef>
                <a:spcPts val="0"/>
              </a:spcBef>
              <a:spcAft>
                <a:spcPts val="0"/>
              </a:spcAft>
              <a:buClrTx/>
              <a:buSzTx/>
              <a:buFontTx/>
              <a:buNone/>
              <a:defRPr/>
            </a:pPr>
            <a:r>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Morgan Kaufmann Publishers</a:t>
            </a:r>
          </a:p>
        </p:txBody>
      </p:sp>
      <p:sp>
        <p:nvSpPr>
          <p:cNvPr id="614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r" defTabSz="967105" rtl="0" eaLnBrk="1" fontAlgn="auto" latinLnBrk="0" hangingPunct="1">
              <a:lnSpc>
                <a:spcPct val="100000"/>
              </a:lnSpc>
              <a:spcBef>
                <a:spcPts val="0"/>
              </a:spcBef>
              <a:spcAft>
                <a:spcPts val="0"/>
              </a:spcAft>
              <a:buClrTx/>
              <a:buSzTx/>
              <a:buFontTx/>
              <a:buNone/>
              <a:defRPr/>
            </a:pPr>
            <a:fld id="{38D8E7CC-9F07-456F-A9E7-07D3A603A3FD}" type="datetime3">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21 April, 2026</a:t>
            </a:fld>
            <a:endPar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614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l" defTabSz="967105" rtl="0" eaLnBrk="1" fontAlgn="auto" latinLnBrk="0" hangingPunct="1">
              <a:lnSpc>
                <a:spcPct val="100000"/>
              </a:lnSpc>
              <a:spcBef>
                <a:spcPts val="0"/>
              </a:spcBef>
              <a:spcAft>
                <a:spcPts val="0"/>
              </a:spcAft>
              <a:buClrTx/>
              <a:buSzTx/>
              <a:buFontTx/>
              <a:buNone/>
              <a:defRPr/>
            </a:pPr>
            <a:r>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Chapter 4 — The Processor</a:t>
            </a:r>
          </a:p>
        </p:txBody>
      </p:sp>
      <p:sp>
        <p:nvSpPr>
          <p:cNvPr id="61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r" defTabSz="967105" rtl="0" eaLnBrk="1" fontAlgn="auto" latinLnBrk="0" hangingPunct="1">
              <a:lnSpc>
                <a:spcPct val="100000"/>
              </a:lnSpc>
              <a:spcBef>
                <a:spcPts val="0"/>
              </a:spcBef>
              <a:spcAft>
                <a:spcPts val="0"/>
              </a:spcAft>
              <a:buClrTx/>
              <a:buSzTx/>
              <a:buFontTx/>
              <a:buNone/>
              <a:defRPr/>
            </a:pPr>
            <a:fld id="{6025BCF8-1FE1-4307-A3F3-31D1543C40CB}" type="slidenum">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24</a:t>
            </a:fld>
            <a:endPar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6150" name="Rectangle 2"/>
          <p:cNvSpPr>
            <a:spLocks noGrp="1" noRot="1" noChangeAspect="1" noChangeArrowheads="1" noTextEdit="1"/>
          </p:cNvSpPr>
          <p:nvPr>
            <p:ph type="sldImg"/>
          </p:nvPr>
        </p:nvSpPr>
        <p:spPr/>
      </p:sp>
      <p:sp>
        <p:nvSpPr>
          <p:cNvPr id="61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Shift left 1</a:t>
            </a:r>
            <a:r>
              <a:rPr lang="zh-CN" altLang="en-US" dirty="0"/>
              <a:t>是因为</a:t>
            </a:r>
            <a:r>
              <a:rPr lang="en-US" altLang="zh-CN" dirty="0"/>
              <a:t>PC</a:t>
            </a:r>
            <a:r>
              <a:rPr lang="zh-CN" altLang="en-US" dirty="0"/>
              <a:t>偏移量是以</a:t>
            </a:r>
            <a:r>
              <a:rPr lang="en-US" altLang="zh-CN" dirty="0"/>
              <a:t>2</a:t>
            </a:r>
            <a:r>
              <a:rPr lang="zh-CN" altLang="en-US" dirty="0"/>
              <a:t>字节为单位。</a:t>
            </a:r>
            <a:endParaRPr lang="en-US" altLang="zh-CN" dirty="0"/>
          </a:p>
          <a:p>
            <a:r>
              <a:rPr lang="zh-CN" altLang="en-US" dirty="0"/>
              <a:t>这里可以先讲指令执行的五个阶段。</a:t>
            </a:r>
            <a:endParaRPr lang="en-US" altLang="zh-CN" dirty="0"/>
          </a:p>
          <a:p>
            <a:r>
              <a:rPr lang="zh-CN" altLang="en-US" dirty="0"/>
              <a:t>从左到右的指令流动过程中，存在两个特殊情况：</a:t>
            </a:r>
            <a:endParaRPr lang="en-US" altLang="zh-CN" dirty="0"/>
          </a:p>
          <a:p>
            <a:r>
              <a:rPr lang="en-US" altLang="zh-CN" dirty="0"/>
              <a:t>1</a:t>
            </a:r>
          </a:p>
        </p:txBody>
      </p:sp>
    </p:spTree>
    <p:extLst>
      <p:ext uri="{BB962C8B-B14F-4D97-AF65-F5344CB8AC3E}">
        <p14:creationId xmlns:p14="http://schemas.microsoft.com/office/powerpoint/2010/main" val="15996336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1024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CBC57C6F-AA2C-4A8C-9A94-9C21AE92569D}"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1024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102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F90681AD-0D56-432E-ABDE-A6143AB7AB69}" type="slidenum">
              <a:rPr lang="en-AU" altLang="en-US" sz="1300">
                <a:latin typeface="Times New Roman" panose="02020603050405020304" pitchFamily="18" charset="0"/>
              </a:rPr>
              <a:t>25</a:t>
            </a:fld>
            <a:endParaRPr lang="en-AU" altLang="en-US" sz="1300">
              <a:latin typeface="Times New Roman" panose="02020603050405020304" pitchFamily="18" charset="0"/>
            </a:endParaRPr>
          </a:p>
        </p:txBody>
      </p:sp>
      <p:sp>
        <p:nvSpPr>
          <p:cNvPr id="10246" name="Rectangle 2"/>
          <p:cNvSpPr>
            <a:spLocks noGrp="1" noRot="1" noChangeAspect="1" noChangeArrowheads="1" noTextEdit="1"/>
          </p:cNvSpPr>
          <p:nvPr>
            <p:ph type="sldImg"/>
          </p:nvPr>
        </p:nvSpPr>
        <p:spPr/>
      </p:sp>
      <p:sp>
        <p:nvSpPr>
          <p:cNvPr id="102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b="1"/>
          </a:p>
        </p:txBody>
      </p:sp>
    </p:spTree>
    <p:extLst>
      <p:ext uri="{BB962C8B-B14F-4D97-AF65-F5344CB8AC3E}">
        <p14:creationId xmlns:p14="http://schemas.microsoft.com/office/powerpoint/2010/main" val="9790104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l" defTabSz="967105" rtl="0" eaLnBrk="1" fontAlgn="auto" latinLnBrk="0" hangingPunct="1">
              <a:lnSpc>
                <a:spcPct val="100000"/>
              </a:lnSpc>
              <a:spcBef>
                <a:spcPts val="0"/>
              </a:spcBef>
              <a:spcAft>
                <a:spcPts val="0"/>
              </a:spcAft>
              <a:buClrTx/>
              <a:buSzTx/>
              <a:buFontTx/>
              <a:buNone/>
              <a:tabLst/>
              <a:defRPr/>
            </a:pPr>
            <a:r>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Morgan Kaufmann Publishers</a:t>
            </a:r>
          </a:p>
        </p:txBody>
      </p:sp>
      <p:sp>
        <p:nvSpPr>
          <p:cNvPr id="1024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r" defTabSz="967105" rtl="0" eaLnBrk="1" fontAlgn="auto" latinLnBrk="0" hangingPunct="1">
              <a:lnSpc>
                <a:spcPct val="100000"/>
              </a:lnSpc>
              <a:spcBef>
                <a:spcPts val="0"/>
              </a:spcBef>
              <a:spcAft>
                <a:spcPts val="0"/>
              </a:spcAft>
              <a:buClrTx/>
              <a:buSzTx/>
              <a:buFontTx/>
              <a:buNone/>
              <a:tabLst/>
              <a:defRPr/>
            </a:pPr>
            <a:fld id="{CBC57C6F-AA2C-4A8C-9A94-9C21AE92569D}" type="datetime3">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967105" rtl="0" eaLnBrk="1" fontAlgn="auto" latinLnBrk="0" hangingPunct="1">
                <a:lnSpc>
                  <a:spcPct val="100000"/>
                </a:lnSpc>
                <a:spcBef>
                  <a:spcPts val="0"/>
                </a:spcBef>
                <a:spcAft>
                  <a:spcPts val="0"/>
                </a:spcAft>
                <a:buClrTx/>
                <a:buSzTx/>
                <a:buFontTx/>
                <a:buNone/>
                <a:tabLst/>
                <a:defRPr/>
              </a:pPr>
              <a:t>21 April, 2026</a:t>
            </a:fld>
            <a:endPar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024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l" defTabSz="967105" rtl="0" eaLnBrk="1" fontAlgn="auto" latinLnBrk="0" hangingPunct="1">
              <a:lnSpc>
                <a:spcPct val="100000"/>
              </a:lnSpc>
              <a:spcBef>
                <a:spcPts val="0"/>
              </a:spcBef>
              <a:spcAft>
                <a:spcPts val="0"/>
              </a:spcAft>
              <a:buClrTx/>
              <a:buSzTx/>
              <a:buFontTx/>
              <a:buNone/>
              <a:tabLst/>
              <a:defRPr/>
            </a:pPr>
            <a:r>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Chapter 4 — The Processor</a:t>
            </a:r>
          </a:p>
        </p:txBody>
      </p:sp>
      <p:sp>
        <p:nvSpPr>
          <p:cNvPr id="102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r" defTabSz="967105" rtl="0" eaLnBrk="1" fontAlgn="auto" latinLnBrk="0" hangingPunct="1">
              <a:lnSpc>
                <a:spcPct val="100000"/>
              </a:lnSpc>
              <a:spcBef>
                <a:spcPts val="0"/>
              </a:spcBef>
              <a:spcAft>
                <a:spcPts val="0"/>
              </a:spcAft>
              <a:buClrTx/>
              <a:buSzTx/>
              <a:buFontTx/>
              <a:buNone/>
              <a:tabLst/>
              <a:defRPr/>
            </a:pPr>
            <a:fld id="{F90681AD-0D56-432E-ABDE-A6143AB7AB69}" type="slidenum">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967105" rtl="0" eaLnBrk="1" fontAlgn="auto" latinLnBrk="0" hangingPunct="1">
                <a:lnSpc>
                  <a:spcPct val="100000"/>
                </a:lnSpc>
                <a:spcBef>
                  <a:spcPts val="0"/>
                </a:spcBef>
                <a:spcAft>
                  <a:spcPts val="0"/>
                </a:spcAft>
                <a:buClrTx/>
                <a:buSzTx/>
                <a:buFontTx/>
                <a:buNone/>
                <a:tabLst/>
                <a:defRPr/>
              </a:pPr>
              <a:t>26</a:t>
            </a:fld>
            <a:endPar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0246" name="Rectangle 2"/>
          <p:cNvSpPr>
            <a:spLocks noGrp="1" noRot="1" noChangeAspect="1" noChangeArrowheads="1" noTextEdit="1"/>
          </p:cNvSpPr>
          <p:nvPr>
            <p:ph type="sldImg"/>
          </p:nvPr>
        </p:nvSpPr>
        <p:spPr/>
      </p:sp>
      <p:sp>
        <p:nvSpPr>
          <p:cNvPr id="102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可以给同学们略微介绍一下</a:t>
            </a:r>
            <a:r>
              <a:rPr lang="en-US" altLang="zh-CN" dirty="0" err="1"/>
              <a:t>Ripes</a:t>
            </a:r>
            <a:r>
              <a:rPr lang="zh-CN" altLang="en-US" dirty="0"/>
              <a:t>模拟软件。</a:t>
            </a:r>
            <a:r>
              <a:rPr lang="zh-CN" altLang="zh-CN" dirty="0"/>
              <a:t>Ripes 是为 RISC-V 指令集架构构建的可视化计算机架构模拟器和汇编代码编辑器。</a:t>
            </a:r>
            <a:endParaRPr lang="zh-CN" altLang="en-US" dirty="0"/>
          </a:p>
          <a:p>
            <a:pPr eaLnBrk="1" hangingPunct="1">
              <a:lnSpc>
                <a:spcPct val="150000"/>
              </a:lnSpc>
            </a:pPr>
            <a:r>
              <a:rPr lang="zh-CN" altLang="en-US" dirty="0">
                <a:sym typeface="+mn-ea"/>
              </a:rPr>
              <a:t>在流水线数据通路中，观察指令在不同周期的流动</a:t>
            </a:r>
            <a:endParaRPr lang="en-US" altLang="zh-CN" dirty="0"/>
          </a:p>
          <a:p>
            <a:pPr lvl="1" eaLnBrk="1" hangingPunct="1">
              <a:lnSpc>
                <a:spcPct val="150000"/>
              </a:lnSpc>
            </a:pPr>
            <a:r>
              <a:rPr lang="zh-CN" altLang="en-US" dirty="0">
                <a:sym typeface="+mn-ea"/>
              </a:rPr>
              <a:t>单时钟周期流水线图（一个时钟周期的</a:t>
            </a:r>
            <a:r>
              <a:rPr lang="zh-CN" altLang="en-US" dirty="0">
                <a:solidFill>
                  <a:srgbClr val="0000FF"/>
                </a:solidFill>
                <a:sym typeface="+mn-ea"/>
              </a:rPr>
              <a:t>垂直切片</a:t>
            </a:r>
            <a:r>
              <a:rPr lang="zh-CN" altLang="en-US" dirty="0">
                <a:sym typeface="+mn-ea"/>
              </a:rPr>
              <a:t>）</a:t>
            </a:r>
            <a:endParaRPr lang="en-US" altLang="zh-CN" dirty="0"/>
          </a:p>
          <a:p>
            <a:pPr lvl="2">
              <a:lnSpc>
                <a:spcPct val="150000"/>
              </a:lnSpc>
            </a:pPr>
            <a:r>
              <a:rPr lang="zh-CN" altLang="en-US" dirty="0">
                <a:sym typeface="+mn-ea"/>
              </a:rPr>
              <a:t>展现流水线在指定时钟周期上每条指令对数据通路的使用情况</a:t>
            </a:r>
            <a:endParaRPr lang="en-US" altLang="zh-CN" dirty="0"/>
          </a:p>
          <a:p>
            <a:pPr lvl="2">
              <a:lnSpc>
                <a:spcPct val="150000"/>
              </a:lnSpc>
            </a:pPr>
            <a:r>
              <a:rPr lang="zh-CN" altLang="en-US" dirty="0">
                <a:solidFill>
                  <a:srgbClr val="0000FF"/>
                </a:solidFill>
                <a:sym typeface="+mn-ea"/>
              </a:rPr>
              <a:t>高亮表示使用到的硬件资源</a:t>
            </a:r>
            <a:endParaRPr lang="en-US" altLang="zh-CN" dirty="0">
              <a:solidFill>
                <a:srgbClr val="0000FF"/>
              </a:solidFill>
            </a:endParaRPr>
          </a:p>
          <a:p>
            <a:pPr lvl="1">
              <a:lnSpc>
                <a:spcPct val="150000"/>
              </a:lnSpc>
            </a:pPr>
            <a:r>
              <a:rPr lang="zh-CN" altLang="en-US" dirty="0">
                <a:sym typeface="+mn-ea"/>
              </a:rPr>
              <a:t>多时钟周期流水线图</a:t>
            </a:r>
            <a:endParaRPr lang="en-US" altLang="zh-CN" dirty="0"/>
          </a:p>
          <a:p>
            <a:pPr lvl="2">
              <a:lnSpc>
                <a:spcPct val="150000"/>
              </a:lnSpc>
            </a:pPr>
            <a:r>
              <a:rPr lang="zh-CN" altLang="en-US" dirty="0">
                <a:sym typeface="+mn-ea"/>
              </a:rPr>
              <a:t>展现一段时间的情况</a:t>
            </a:r>
            <a:endParaRPr lang="en-US" altLang="en-US" dirty="0"/>
          </a:p>
          <a:p>
            <a:endParaRPr lang="zh-CN" altLang="en-US" dirty="0"/>
          </a:p>
        </p:txBody>
      </p:sp>
    </p:spTree>
    <p:extLst>
      <p:ext uri="{BB962C8B-B14F-4D97-AF65-F5344CB8AC3E}">
        <p14:creationId xmlns:p14="http://schemas.microsoft.com/office/powerpoint/2010/main" val="35029440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1024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CBC57C6F-AA2C-4A8C-9A94-9C21AE92569D}"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1024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102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F90681AD-0D56-432E-ABDE-A6143AB7AB69}" type="slidenum">
              <a:rPr lang="en-AU" altLang="en-US" sz="1300">
                <a:latin typeface="Times New Roman" panose="02020603050405020304" pitchFamily="18" charset="0"/>
              </a:rPr>
              <a:t>27</a:t>
            </a:fld>
            <a:endParaRPr lang="en-AU" altLang="en-US" sz="1300">
              <a:latin typeface="Times New Roman" panose="02020603050405020304" pitchFamily="18" charset="0"/>
            </a:endParaRPr>
          </a:p>
        </p:txBody>
      </p:sp>
      <p:sp>
        <p:nvSpPr>
          <p:cNvPr id="10246" name="Rectangle 2"/>
          <p:cNvSpPr>
            <a:spLocks noGrp="1" noRot="1" noChangeAspect="1" noChangeArrowheads="1" noTextEdit="1"/>
          </p:cNvSpPr>
          <p:nvPr>
            <p:ph type="sldImg"/>
          </p:nvPr>
        </p:nvSpPr>
        <p:spPr/>
      </p:sp>
      <p:sp>
        <p:nvSpPr>
          <p:cNvPr id="102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根据使用情况在不同的地方涂上阴影，使用的物理资源</a:t>
            </a:r>
            <a:endParaRPr lang="en-US"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1024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CBC57C6F-AA2C-4A8C-9A94-9C21AE92569D}"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1024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102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F90681AD-0D56-432E-ABDE-A6143AB7AB69}" type="slidenum">
              <a:rPr lang="en-AU" altLang="en-US" sz="1300">
                <a:latin typeface="Times New Roman" panose="02020603050405020304" pitchFamily="18" charset="0"/>
              </a:rPr>
              <a:t>28</a:t>
            </a:fld>
            <a:endParaRPr lang="en-AU" altLang="en-US" sz="1300">
              <a:latin typeface="Times New Roman" panose="02020603050405020304" pitchFamily="18" charset="0"/>
            </a:endParaRPr>
          </a:p>
        </p:txBody>
      </p:sp>
      <p:sp>
        <p:nvSpPr>
          <p:cNvPr id="10246" name="Rectangle 2"/>
          <p:cNvSpPr>
            <a:spLocks noGrp="1" noRot="1" noChangeAspect="1" noChangeArrowheads="1" noTextEdit="1"/>
          </p:cNvSpPr>
          <p:nvPr>
            <p:ph type="sldImg"/>
          </p:nvPr>
        </p:nvSpPr>
        <p:spPr/>
      </p:sp>
      <p:sp>
        <p:nvSpPr>
          <p:cNvPr id="102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根据使用情况在不同的地方涂上阴影</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假定每一条指令都有独立的数据通路，然后将这些指令放到同一时间轴上表征他们的关系。</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两种基本的流水线图：单时钟周期、多时钟周期</a:t>
            </a:r>
            <a:endParaRPr lang="en-US"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第三节，如同在洗衣例子中的每两个阶段放一个篮子，用于存放下一个步骤所准备的衣服。</a:t>
            </a:r>
            <a:endParaRPr lang="en-US" altLang="zh-CN" dirty="0"/>
          </a:p>
          <a:p>
            <a:r>
              <a:rPr lang="zh-CN" altLang="en-US" dirty="0"/>
              <a:t>发生例外时，流水线寄存器中的内容可以被丢弃，但是</a:t>
            </a:r>
            <a:r>
              <a:rPr lang="en-US" altLang="zh-CN" dirty="0"/>
              <a:t>PC</a:t>
            </a:r>
            <a:r>
              <a:rPr lang="zh-CN" altLang="en-US" dirty="0"/>
              <a:t>中的内容必须被保存。</a:t>
            </a:r>
            <a:r>
              <a:rPr lang="en-US" altLang="zh-CN" dirty="0"/>
              <a:t>PC</a:t>
            </a:r>
            <a:r>
              <a:rPr lang="zh-CN" altLang="en-US" dirty="0"/>
              <a:t>可以看成洗衣之前放脏衣服的篮子。</a:t>
            </a:r>
            <a:endParaRPr lang="en-US" altLang="zh-CN" dirty="0"/>
          </a:p>
          <a:p>
            <a:r>
              <a:rPr lang="zh-CN" altLang="en-US" dirty="0"/>
              <a:t>这三个</a:t>
            </a:r>
            <a:r>
              <a:rPr lang="en-US" altLang="zh-CN" dirty="0"/>
              <a:t>PC</a:t>
            </a:r>
            <a:r>
              <a:rPr lang="zh-CN" altLang="en-US" dirty="0"/>
              <a:t>的值不一样</a:t>
            </a:r>
            <a:r>
              <a:rPr lang="en-US" altLang="zh-CN" dirty="0"/>
              <a:t>~</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3757C0-D8D6-4E64-9363-D8157096089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9750982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第三节，计算机并不知道提取的是哪一种指令，因此，它必须为任何一种指令做好准备，将所有可能有用的信息沿流水线传递出去</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3757C0-D8D6-4E64-9363-D8157096089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20127680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第三节</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3757C0-D8D6-4E64-9363-D8157096089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24361186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第三节</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3757C0-D8D6-4E64-9363-D8157096089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32480610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第三节</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3757C0-D8D6-4E64-9363-D8157096089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23721017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写回不正确，因为地址是由</a:t>
            </a:r>
            <a:r>
              <a:rPr lang="en-US" altLang="zh-CN" dirty="0"/>
              <a:t>IF/ID</a:t>
            </a:r>
            <a:r>
              <a:rPr lang="zh-CN" altLang="en-US" dirty="0"/>
              <a:t>提供的。</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3757C0-D8D6-4E64-9363-D8157096089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6143039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第三节</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3757C0-D8D6-4E64-9363-D8157096089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39263673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第三节</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3757C0-D8D6-4E64-9363-D8157096089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14993951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Ld</a:t>
            </a:r>
            <a:r>
              <a:rPr lang="zh-CN" altLang="en-US" dirty="0"/>
              <a:t>时，将寄存器中的值与符号扩展后的立即数相加，并将和放在</a:t>
            </a:r>
            <a:r>
              <a:rPr lang="en-US" altLang="zh-CN" dirty="0"/>
              <a:t>EX/MEM</a:t>
            </a:r>
            <a:r>
              <a:rPr lang="zh-CN" altLang="en-US" dirty="0"/>
              <a:t>流水线寄存器中。</a:t>
            </a:r>
            <a:r>
              <a:rPr lang="en-US" altLang="zh-CN" dirty="0" err="1"/>
              <a:t>Sw</a:t>
            </a:r>
            <a:r>
              <a:rPr lang="zh-CN" altLang="en-US" dirty="0"/>
              <a:t>中，不同于加载指令，第二个寄存器的值被加载到</a:t>
            </a:r>
            <a:r>
              <a:rPr lang="en-US" altLang="zh-CN" dirty="0"/>
              <a:t>EX/MEM</a:t>
            </a:r>
            <a:r>
              <a:rPr lang="zh-CN" altLang="en-US" dirty="0"/>
              <a:t>流水线中以用于下一个阶段。仅在</a:t>
            </a:r>
            <a:r>
              <a:rPr lang="en-US" altLang="zh-CN" dirty="0" err="1"/>
              <a:t>Sw</a:t>
            </a:r>
            <a:r>
              <a:rPr lang="zh-CN" altLang="en-US" dirty="0"/>
              <a:t>中写入第二个寄存器中的值。</a:t>
            </a:r>
            <a:endParaRPr lang="en-US" altLang="zh-CN" dirty="0"/>
          </a:p>
          <a:p>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3757C0-D8D6-4E64-9363-D8157096089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37381416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第三节</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3757C0-D8D6-4E64-9363-D8157096089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5794685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存储指令再次说明了，如果要将相关信息从之前的流水线阶段传递到后续的流水线阶段，就必须将他们放置在流水线寄存器中。</a:t>
            </a:r>
            <a:endParaRPr lang="en-US" altLang="zh-CN" dirty="0"/>
          </a:p>
          <a:p>
            <a:r>
              <a:rPr lang="zh-CN" altLang="en-US" dirty="0"/>
              <a:t>加载和存储指令还说明了：在流水线通路设计中的每一个逻辑部件，只能在单个流水线阶段中被使用，否则会发生结构冒险。</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3757C0-D8D6-4E64-9363-D8157096089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33253954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l" defTabSz="967105" rtl="0" eaLnBrk="1" fontAlgn="auto" latinLnBrk="0" hangingPunct="1">
              <a:lnSpc>
                <a:spcPct val="100000"/>
              </a:lnSpc>
              <a:spcBef>
                <a:spcPts val="0"/>
              </a:spcBef>
              <a:spcAft>
                <a:spcPts val="0"/>
              </a:spcAft>
              <a:buClrTx/>
              <a:buSzTx/>
              <a:buFontTx/>
              <a:buNone/>
              <a:tabLst/>
              <a:defRPr/>
            </a:pPr>
            <a:r>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Morgan Kaufmann Publishers</a:t>
            </a:r>
          </a:p>
        </p:txBody>
      </p:sp>
      <p:sp>
        <p:nvSpPr>
          <p:cNvPr id="3072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r" defTabSz="967105" rtl="0" eaLnBrk="1" fontAlgn="auto" latinLnBrk="0" hangingPunct="1">
              <a:lnSpc>
                <a:spcPct val="100000"/>
              </a:lnSpc>
              <a:spcBef>
                <a:spcPts val="0"/>
              </a:spcBef>
              <a:spcAft>
                <a:spcPts val="0"/>
              </a:spcAft>
              <a:buClrTx/>
              <a:buSzTx/>
              <a:buFontTx/>
              <a:buNone/>
              <a:tabLst/>
              <a:defRPr/>
            </a:pPr>
            <a:fld id="{3AC92646-DAF4-4E27-AFA7-48F4AB1047C5}" type="datetime3">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967105" rtl="0" eaLnBrk="1" fontAlgn="auto" latinLnBrk="0" hangingPunct="1">
                <a:lnSpc>
                  <a:spcPct val="100000"/>
                </a:lnSpc>
                <a:spcBef>
                  <a:spcPts val="0"/>
                </a:spcBef>
                <a:spcAft>
                  <a:spcPts val="0"/>
                </a:spcAft>
                <a:buClrTx/>
                <a:buSzTx/>
                <a:buFontTx/>
                <a:buNone/>
                <a:tabLst/>
                <a:defRPr/>
              </a:pPr>
              <a:t>21 April, 2026</a:t>
            </a:fld>
            <a:endPar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3072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l" defTabSz="967105" rtl="0" eaLnBrk="1" fontAlgn="auto" latinLnBrk="0" hangingPunct="1">
              <a:lnSpc>
                <a:spcPct val="100000"/>
              </a:lnSpc>
              <a:spcBef>
                <a:spcPts val="0"/>
              </a:spcBef>
              <a:spcAft>
                <a:spcPts val="0"/>
              </a:spcAft>
              <a:buClrTx/>
              <a:buSzTx/>
              <a:buFontTx/>
              <a:buNone/>
              <a:tabLst/>
              <a:defRPr/>
            </a:pPr>
            <a:r>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Chapter 4 — The Processor</a:t>
            </a:r>
          </a:p>
        </p:txBody>
      </p:sp>
      <p:sp>
        <p:nvSpPr>
          <p:cNvPr id="307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r" defTabSz="967105" rtl="0" eaLnBrk="1" fontAlgn="auto" latinLnBrk="0" hangingPunct="1">
              <a:lnSpc>
                <a:spcPct val="100000"/>
              </a:lnSpc>
              <a:spcBef>
                <a:spcPts val="0"/>
              </a:spcBef>
              <a:spcAft>
                <a:spcPts val="0"/>
              </a:spcAft>
              <a:buClrTx/>
              <a:buSzTx/>
              <a:buFontTx/>
              <a:buNone/>
              <a:tabLst/>
              <a:defRPr/>
            </a:pPr>
            <a:fld id="{F4BA5697-5945-4F69-BE72-0BC59F73EA67}" type="slidenum">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967105" rtl="0" eaLnBrk="1" fontAlgn="auto" latinLnBrk="0" hangingPunct="1">
                <a:lnSpc>
                  <a:spcPct val="100000"/>
                </a:lnSpc>
                <a:spcBef>
                  <a:spcPts val="0"/>
                </a:spcBef>
                <a:spcAft>
                  <a:spcPts val="0"/>
                </a:spcAft>
                <a:buClrTx/>
                <a:buSzTx/>
                <a:buFontTx/>
                <a:buNone/>
                <a:tabLst/>
                <a:defRPr/>
              </a:pPr>
              <a:t>40</a:t>
            </a:fld>
            <a:endPar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30726" name="Rectangle 2"/>
          <p:cNvSpPr>
            <a:spLocks noGrp="1" noRot="1" noChangeAspect="1" noChangeArrowheads="1" noTextEdit="1"/>
          </p:cNvSpPr>
          <p:nvPr>
            <p:ph type="sldImg"/>
          </p:nvPr>
        </p:nvSpPr>
        <p:spPr/>
      </p:sp>
      <p:sp>
        <p:nvSpPr>
          <p:cNvPr id="307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5485025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3757C0-D8D6-4E64-9363-D8157096089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311125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3757C0-D8D6-4E64-9363-D8157096089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702320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l" defTabSz="967105" rtl="0" eaLnBrk="1" fontAlgn="auto" latinLnBrk="0" hangingPunct="1">
              <a:lnSpc>
                <a:spcPct val="100000"/>
              </a:lnSpc>
              <a:spcBef>
                <a:spcPts val="0"/>
              </a:spcBef>
              <a:spcAft>
                <a:spcPts val="0"/>
              </a:spcAft>
              <a:buClrTx/>
              <a:buSzTx/>
              <a:buFontTx/>
              <a:buNone/>
              <a:tabLst/>
              <a:defRPr/>
            </a:pPr>
            <a:r>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Morgan Kaufmann Publishers</a:t>
            </a:r>
          </a:p>
        </p:txBody>
      </p:sp>
      <p:sp>
        <p:nvSpPr>
          <p:cNvPr id="38915"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r" defTabSz="967105" rtl="0" eaLnBrk="1" fontAlgn="auto" latinLnBrk="0" hangingPunct="1">
              <a:lnSpc>
                <a:spcPct val="100000"/>
              </a:lnSpc>
              <a:spcBef>
                <a:spcPts val="0"/>
              </a:spcBef>
              <a:spcAft>
                <a:spcPts val="0"/>
              </a:spcAft>
              <a:buClrTx/>
              <a:buSzTx/>
              <a:buFontTx/>
              <a:buNone/>
              <a:tabLst/>
              <a:defRPr/>
            </a:pPr>
            <a:fld id="{DDC8FAC5-384C-471A-9363-59F45821DA94}" type="datetime3">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967105" rtl="0" eaLnBrk="1" fontAlgn="auto" latinLnBrk="0" hangingPunct="1">
                <a:lnSpc>
                  <a:spcPct val="100000"/>
                </a:lnSpc>
                <a:spcBef>
                  <a:spcPts val="0"/>
                </a:spcBef>
                <a:spcAft>
                  <a:spcPts val="0"/>
                </a:spcAft>
                <a:buClrTx/>
                <a:buSzTx/>
                <a:buFontTx/>
                <a:buNone/>
                <a:tabLst/>
                <a:defRPr/>
              </a:pPr>
              <a:t>21 April, 2026</a:t>
            </a:fld>
            <a:endPar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38916"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l" defTabSz="967105" rtl="0" eaLnBrk="1" fontAlgn="auto" latinLnBrk="0" hangingPunct="1">
              <a:lnSpc>
                <a:spcPct val="100000"/>
              </a:lnSpc>
              <a:spcBef>
                <a:spcPts val="0"/>
              </a:spcBef>
              <a:spcAft>
                <a:spcPts val="0"/>
              </a:spcAft>
              <a:buClrTx/>
              <a:buSzTx/>
              <a:buFontTx/>
              <a:buNone/>
              <a:tabLst/>
              <a:defRPr/>
            </a:pPr>
            <a:r>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Chapter 4 — The Processor</a:t>
            </a:r>
          </a:p>
        </p:txBody>
      </p:sp>
      <p:sp>
        <p:nvSpPr>
          <p:cNvPr id="389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r" defTabSz="967105" rtl="0" eaLnBrk="1" fontAlgn="auto" latinLnBrk="0" hangingPunct="1">
              <a:lnSpc>
                <a:spcPct val="100000"/>
              </a:lnSpc>
              <a:spcBef>
                <a:spcPts val="0"/>
              </a:spcBef>
              <a:spcAft>
                <a:spcPts val="0"/>
              </a:spcAft>
              <a:buClrTx/>
              <a:buSzTx/>
              <a:buFontTx/>
              <a:buNone/>
              <a:tabLst/>
              <a:defRPr/>
            </a:pPr>
            <a:fld id="{2FA77C43-0207-456A-8BBC-5D0C165F0DF4}" type="slidenum">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967105" rtl="0" eaLnBrk="1" fontAlgn="auto" latinLnBrk="0" hangingPunct="1">
                <a:lnSpc>
                  <a:spcPct val="100000"/>
                </a:lnSpc>
                <a:spcBef>
                  <a:spcPts val="0"/>
                </a:spcBef>
                <a:spcAft>
                  <a:spcPts val="0"/>
                </a:spcAft>
                <a:buClrTx/>
                <a:buSzTx/>
                <a:buFontTx/>
                <a:buNone/>
                <a:tabLst/>
                <a:defRPr/>
              </a:pPr>
              <a:t>43</a:t>
            </a:fld>
            <a:endPar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38918" name="Rectangle 2"/>
          <p:cNvSpPr>
            <a:spLocks noGrp="1" noRot="1" noChangeAspect="1" noChangeArrowheads="1" noTextEdit="1"/>
          </p:cNvSpPr>
          <p:nvPr>
            <p:ph type="sldImg"/>
          </p:nvPr>
        </p:nvSpPr>
        <p:spPr/>
      </p:sp>
      <p:sp>
        <p:nvSpPr>
          <p:cNvPr id="389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dirty="0"/>
              <a:t>这页后面应该加一页，把图</a:t>
            </a:r>
            <a:r>
              <a:rPr lang="en-US" altLang="zh-CN" dirty="0"/>
              <a:t>4-47</a:t>
            </a:r>
            <a:r>
              <a:rPr lang="zh-CN" altLang="en-US" dirty="0"/>
              <a:t>附上，以说明各个流水线寄存器存了哪些控制信号。</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传递这些控制信号最简单的方式就是扩展流水线寄存器以包含这些控制信息。</a:t>
            </a:r>
          </a:p>
          <a:p>
            <a:endParaRPr lang="zh-CN" altLang="en-US" dirty="0"/>
          </a:p>
        </p:txBody>
      </p:sp>
    </p:spTree>
    <p:extLst>
      <p:ext uri="{BB962C8B-B14F-4D97-AF65-F5344CB8AC3E}">
        <p14:creationId xmlns:p14="http://schemas.microsoft.com/office/powerpoint/2010/main" val="148382520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l" defTabSz="967105" rtl="0" eaLnBrk="1" fontAlgn="auto" latinLnBrk="0" hangingPunct="1">
              <a:lnSpc>
                <a:spcPct val="100000"/>
              </a:lnSpc>
              <a:spcBef>
                <a:spcPts val="0"/>
              </a:spcBef>
              <a:spcAft>
                <a:spcPts val="0"/>
              </a:spcAft>
              <a:buClrTx/>
              <a:buSzTx/>
              <a:buFontTx/>
              <a:buNone/>
              <a:tabLst/>
              <a:defRPr/>
            </a:pPr>
            <a:r>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Morgan Kaufmann Publishers</a:t>
            </a:r>
          </a:p>
        </p:txBody>
      </p:sp>
      <p:sp>
        <p:nvSpPr>
          <p:cNvPr id="38915"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r" defTabSz="967105" rtl="0" eaLnBrk="1" fontAlgn="auto" latinLnBrk="0" hangingPunct="1">
              <a:lnSpc>
                <a:spcPct val="100000"/>
              </a:lnSpc>
              <a:spcBef>
                <a:spcPts val="0"/>
              </a:spcBef>
              <a:spcAft>
                <a:spcPts val="0"/>
              </a:spcAft>
              <a:buClrTx/>
              <a:buSzTx/>
              <a:buFontTx/>
              <a:buNone/>
              <a:tabLst/>
              <a:defRPr/>
            </a:pPr>
            <a:fld id="{DDC8FAC5-384C-471A-9363-59F45821DA94}" type="datetime3">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967105" rtl="0" eaLnBrk="1" fontAlgn="auto" latinLnBrk="0" hangingPunct="1">
                <a:lnSpc>
                  <a:spcPct val="100000"/>
                </a:lnSpc>
                <a:spcBef>
                  <a:spcPts val="0"/>
                </a:spcBef>
                <a:spcAft>
                  <a:spcPts val="0"/>
                </a:spcAft>
                <a:buClrTx/>
                <a:buSzTx/>
                <a:buFontTx/>
                <a:buNone/>
                <a:tabLst/>
                <a:defRPr/>
              </a:pPr>
              <a:t>21 April, 2026</a:t>
            </a:fld>
            <a:endPar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38916"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l" defTabSz="967105" rtl="0" eaLnBrk="1" fontAlgn="auto" latinLnBrk="0" hangingPunct="1">
              <a:lnSpc>
                <a:spcPct val="100000"/>
              </a:lnSpc>
              <a:spcBef>
                <a:spcPts val="0"/>
              </a:spcBef>
              <a:spcAft>
                <a:spcPts val="0"/>
              </a:spcAft>
              <a:buClrTx/>
              <a:buSzTx/>
              <a:buFontTx/>
              <a:buNone/>
              <a:tabLst/>
              <a:defRPr/>
            </a:pPr>
            <a:r>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Chapter 4 — The Processor</a:t>
            </a:r>
          </a:p>
        </p:txBody>
      </p:sp>
      <p:sp>
        <p:nvSpPr>
          <p:cNvPr id="389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pPr marL="0" marR="0" lvl="0" indent="0" algn="r" defTabSz="967105" rtl="0" eaLnBrk="1" fontAlgn="auto" latinLnBrk="0" hangingPunct="1">
              <a:lnSpc>
                <a:spcPct val="100000"/>
              </a:lnSpc>
              <a:spcBef>
                <a:spcPts val="0"/>
              </a:spcBef>
              <a:spcAft>
                <a:spcPts val="0"/>
              </a:spcAft>
              <a:buClrTx/>
              <a:buSzTx/>
              <a:buFontTx/>
              <a:buNone/>
              <a:tabLst/>
              <a:defRPr/>
            </a:pPr>
            <a:fld id="{2FA77C43-0207-456A-8BBC-5D0C165F0DF4}" type="slidenum">
              <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pPr marL="0" marR="0" lvl="0" indent="0" algn="r" defTabSz="967105" rtl="0" eaLnBrk="1" fontAlgn="auto" latinLnBrk="0" hangingPunct="1">
                <a:lnSpc>
                  <a:spcPct val="100000"/>
                </a:lnSpc>
                <a:spcBef>
                  <a:spcPts val="0"/>
                </a:spcBef>
                <a:spcAft>
                  <a:spcPts val="0"/>
                </a:spcAft>
                <a:buClrTx/>
                <a:buSzTx/>
                <a:buFontTx/>
                <a:buNone/>
                <a:tabLst/>
                <a:defRPr/>
              </a:pPr>
              <a:t>44</a:t>
            </a:fld>
            <a:endParaRPr kumimoji="0" lang="en-AU" altLang="en-US" sz="13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38918" name="Rectangle 2"/>
          <p:cNvSpPr>
            <a:spLocks noGrp="1" noRot="1" noChangeAspect="1" noChangeArrowheads="1" noTextEdit="1"/>
          </p:cNvSpPr>
          <p:nvPr>
            <p:ph type="sldImg"/>
          </p:nvPr>
        </p:nvSpPr>
        <p:spPr/>
      </p:sp>
      <p:sp>
        <p:nvSpPr>
          <p:cNvPr id="389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dirty="0"/>
              <a:t>这页后面应该加一页，把图</a:t>
            </a:r>
            <a:r>
              <a:rPr lang="en-US" altLang="zh-CN" dirty="0"/>
              <a:t>4-47</a:t>
            </a:r>
            <a:r>
              <a:rPr lang="zh-CN" altLang="en-US" dirty="0"/>
              <a:t>附上，以说明各个流水线寄存器存了哪些控制信号。</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传递这些控制信号最简单的方式就是扩展流水线寄存器以包含这些控制信息。</a:t>
            </a:r>
          </a:p>
          <a:p>
            <a:endParaRPr lang="zh-CN" altLang="en-US" dirty="0"/>
          </a:p>
        </p:txBody>
      </p:sp>
    </p:spTree>
    <p:extLst>
      <p:ext uri="{BB962C8B-B14F-4D97-AF65-F5344CB8AC3E}">
        <p14:creationId xmlns:p14="http://schemas.microsoft.com/office/powerpoint/2010/main" val="18840159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3686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2B4BB946-7F13-4974-8498-E75503D483C4}"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3686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368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8CB5E42C-3243-469D-9AF0-B3B48F7361F4}" type="slidenum">
              <a:rPr lang="en-AU" altLang="en-US" sz="1300">
                <a:latin typeface="Times New Roman" panose="02020603050405020304" pitchFamily="18" charset="0"/>
              </a:rPr>
              <a:t>45</a:t>
            </a:fld>
            <a:endParaRPr lang="en-AU" altLang="en-US" sz="1300">
              <a:latin typeface="Times New Roman" panose="02020603050405020304" pitchFamily="18" charset="0"/>
            </a:endParaRPr>
          </a:p>
        </p:txBody>
      </p:sp>
      <p:sp>
        <p:nvSpPr>
          <p:cNvPr id="36870" name="Rectangle 2"/>
          <p:cNvSpPr>
            <a:spLocks noGrp="1" noRot="1" noChangeAspect="1" noChangeArrowheads="1" noTextEdit="1"/>
          </p:cNvSpPr>
          <p:nvPr>
            <p:ph type="sldImg"/>
          </p:nvPr>
        </p:nvSpPr>
        <p:spPr/>
      </p:sp>
      <p:sp>
        <p:nvSpPr>
          <p:cNvPr id="368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文字太小，能否使用</a:t>
            </a:r>
            <a:r>
              <a:rPr lang="en-US" altLang="zh-CN" dirty="0"/>
              <a:t>p36</a:t>
            </a:r>
            <a:r>
              <a:rPr lang="zh-CN" altLang="en-US" dirty="0"/>
              <a:t>的图重画？</a:t>
            </a:r>
            <a:endParaRPr lang="en-US" altLang="en-US" dirty="0"/>
          </a:p>
          <a:p>
            <a:r>
              <a:rPr lang="zh-CN" altLang="en-US" dirty="0"/>
              <a:t>具有扩展流水线寄存器，并且将控制线连接到相应流水线阶段的完整数据通路</a:t>
            </a:r>
            <a:endParaRPr lang="en-US" altLang="en-US" dirty="0"/>
          </a:p>
          <a:p>
            <a:endParaRPr lang="en-US" altLang="en-US" dirty="0"/>
          </a:p>
        </p:txBody>
      </p:sp>
    </p:spTree>
    <p:extLst>
      <p:ext uri="{BB962C8B-B14F-4D97-AF65-F5344CB8AC3E}">
        <p14:creationId xmlns:p14="http://schemas.microsoft.com/office/powerpoint/2010/main" val="42442745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这是一条分支指令并且</a:t>
            </a:r>
            <a:r>
              <a:rPr lang="en-US" altLang="zh-CN" dirty="0"/>
              <a:t>ALU=0</a:t>
            </a:r>
            <a:r>
              <a:rPr lang="zh-CN" altLang="en-US" dirty="0"/>
              <a:t>，否则</a:t>
            </a:r>
            <a:r>
              <a:rPr lang="en-US" altLang="zh-CN" dirty="0"/>
              <a:t>PC=PC+4</a:t>
            </a:r>
          </a:p>
          <a:p>
            <a:endParaRPr lang="zh-CN" altLang="en-US" dirty="0"/>
          </a:p>
        </p:txBody>
      </p:sp>
      <p:sp>
        <p:nvSpPr>
          <p:cNvPr id="4" name="灯片编号占位符 3"/>
          <p:cNvSpPr>
            <a:spLocks noGrp="1"/>
          </p:cNvSpPr>
          <p:nvPr>
            <p:ph type="sldNum" sz="quarter" idx="5"/>
          </p:nvPr>
        </p:nvSpPr>
        <p:spPr/>
        <p:txBody>
          <a:bodyPr/>
          <a:lstStyle/>
          <a:p>
            <a:fld id="{CE3757C0-D8D6-4E64-9363-D81570960896}" type="slidenum">
              <a:rPr lang="zh-CN" altLang="en-US" smtClean="0"/>
              <a:t>46</a:t>
            </a:fld>
            <a:endParaRPr lang="zh-CN" altLang="en-US"/>
          </a:p>
        </p:txBody>
      </p:sp>
    </p:spTree>
    <p:extLst>
      <p:ext uri="{BB962C8B-B14F-4D97-AF65-F5344CB8AC3E}">
        <p14:creationId xmlns:p14="http://schemas.microsoft.com/office/powerpoint/2010/main" val="19991562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614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E9610986-9897-4589-9BC6-B8938603A085}"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614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61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9CAB0A6C-F6D5-4E37-977D-9864997AB603}" type="slidenum">
              <a:rPr lang="en-AU" altLang="en-US" sz="1300" smtClean="0">
                <a:latin typeface="Times New Roman" panose="02020603050405020304" pitchFamily="18" charset="0"/>
              </a:rPr>
              <a:t>48</a:t>
            </a:fld>
            <a:endParaRPr lang="en-AU" altLang="en-US" sz="1300">
              <a:latin typeface="Times New Roman" panose="02020603050405020304" pitchFamily="18" charset="0"/>
            </a:endParaRPr>
          </a:p>
        </p:txBody>
      </p:sp>
      <p:sp>
        <p:nvSpPr>
          <p:cNvPr id="6150" name="Rectangle 2"/>
          <p:cNvSpPr>
            <a:spLocks noGrp="1" noRot="1" noChangeAspect="1" noChangeArrowheads="1" noTextEdit="1"/>
          </p:cNvSpPr>
          <p:nvPr>
            <p:ph type="sldImg"/>
          </p:nvPr>
        </p:nvSpPr>
        <p:spPr/>
      </p:sp>
      <p:sp>
        <p:nvSpPr>
          <p:cNvPr id="61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这个指令，明显前后相互依赖。</a:t>
            </a:r>
            <a:r>
              <a:rPr lang="en-US" altLang="zh-CN" dirty="0"/>
              <a:t>and</a:t>
            </a:r>
            <a:r>
              <a:rPr lang="zh-CN" altLang="en-US" dirty="0"/>
              <a:t>指令需要用到</a:t>
            </a:r>
            <a:r>
              <a:rPr lang="en-US" altLang="zh-CN" dirty="0"/>
              <a:t>sub</a:t>
            </a:r>
            <a:r>
              <a:rPr lang="zh-CN" altLang="en-US" dirty="0"/>
              <a:t>指令的结果。</a:t>
            </a:r>
            <a:endParaRPr lang="en-US" altLang="en-US" dirty="0"/>
          </a:p>
          <a:p>
            <a:endParaRPr lang="en-US" altLang="en-US" dirty="0"/>
          </a:p>
        </p:txBody>
      </p:sp>
    </p:spTree>
    <p:extLst>
      <p:ext uri="{BB962C8B-B14F-4D97-AF65-F5344CB8AC3E}">
        <p14:creationId xmlns:p14="http://schemas.microsoft.com/office/powerpoint/2010/main" val="31685497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3757C0-D8D6-4E64-9363-D81570960896}"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430302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8195"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F64089A9-7BDB-465B-AFDB-1D2AC34D7208}"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8196"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81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8C1590D5-6320-46AA-9065-D54F8C902C2B}" type="slidenum">
              <a:rPr lang="en-AU" altLang="en-US" sz="1300" smtClean="0">
                <a:latin typeface="Times New Roman" panose="02020603050405020304" pitchFamily="18" charset="0"/>
              </a:rPr>
              <a:t>50</a:t>
            </a:fld>
            <a:endParaRPr lang="en-AU" altLang="en-US" sz="1300">
              <a:latin typeface="Times New Roman" panose="02020603050405020304" pitchFamily="18" charset="0"/>
            </a:endParaRPr>
          </a:p>
        </p:txBody>
      </p:sp>
      <p:sp>
        <p:nvSpPr>
          <p:cNvPr id="8198" name="Rectangle 2"/>
          <p:cNvSpPr>
            <a:spLocks noGrp="1" noRot="1" noChangeAspect="1" noChangeArrowheads="1" noTextEdit="1"/>
          </p:cNvSpPr>
          <p:nvPr>
            <p:ph type="sldImg"/>
          </p:nvPr>
        </p:nvSpPr>
        <p:spPr/>
      </p:sp>
      <p:sp>
        <p:nvSpPr>
          <p:cNvPr id="819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这些指令，在多时钟周期流水线</a:t>
            </a:r>
            <a:endParaRPr lang="en-US" altLang="zh-CN" dirty="0"/>
          </a:p>
          <a:p>
            <a:r>
              <a:rPr lang="en-US" altLang="zh-CN" dirty="0"/>
              <a:t>CC1</a:t>
            </a:r>
            <a:r>
              <a:rPr lang="zh-CN" altLang="en-US" dirty="0"/>
              <a:t>，表示第一个时钟周期。</a:t>
            </a:r>
            <a:endParaRPr lang="en-US" altLang="zh-CN" dirty="0"/>
          </a:p>
          <a:p>
            <a:r>
              <a:rPr lang="zh-CN" altLang="en-US" dirty="0"/>
              <a:t>第一条指令，向</a:t>
            </a:r>
            <a:r>
              <a:rPr lang="en-US" altLang="zh-CN" dirty="0"/>
              <a:t>x2</a:t>
            </a:r>
            <a:r>
              <a:rPr lang="zh-CN" altLang="en-US" dirty="0"/>
              <a:t>寄存器写入数据，后面的指令都需要从</a:t>
            </a:r>
            <a:r>
              <a:rPr lang="en-US" altLang="zh-CN" dirty="0"/>
              <a:t>x2</a:t>
            </a:r>
            <a:r>
              <a:rPr lang="zh-CN" altLang="en-US" dirty="0"/>
              <a:t>寄存器中读出数据。而</a:t>
            </a:r>
            <a:r>
              <a:rPr lang="en-US" altLang="zh-CN" dirty="0"/>
              <a:t>x2</a:t>
            </a:r>
            <a:r>
              <a:rPr lang="zh-CN" altLang="en-US" dirty="0"/>
              <a:t>寄存器，在第五个时钟周期才会被写入，因此在第五个时钟周期前下面指令得到的</a:t>
            </a:r>
            <a:r>
              <a:rPr lang="en-US" altLang="zh-CN" dirty="0"/>
              <a:t>x2</a:t>
            </a:r>
            <a:r>
              <a:rPr lang="zh-CN" altLang="en-US" dirty="0"/>
              <a:t>的寄存器值，实质上不是指令所需的正确寄存器值。</a:t>
            </a:r>
            <a:endParaRPr lang="en-US" altLang="zh-CN" dirty="0"/>
          </a:p>
          <a:p>
            <a:endParaRPr lang="en-US" altLang="zh-CN" dirty="0"/>
          </a:p>
          <a:p>
            <a:r>
              <a:rPr lang="zh-CN" altLang="en-US" dirty="0"/>
              <a:t>直线段：表示相关关系。导致时间后退的相关，就是流水线冒险。</a:t>
            </a:r>
            <a:endParaRPr lang="en-US" altLang="zh-CN" dirty="0"/>
          </a:p>
          <a:p>
            <a:endParaRPr lang="en-US" altLang="zh-CN" dirty="0"/>
          </a:p>
          <a:p>
            <a:r>
              <a:rPr lang="zh-CN" altLang="en-US" dirty="0"/>
              <a:t>读写寄存器也会存在数据冒险。假定写操作发生一个时钟周期的前半部分，而读操作在后半部分，那么读操作会得到本周期内被写入的值，不会发生数据冒险。</a:t>
            </a:r>
            <a:endParaRPr lang="en-US" altLang="zh-CN" dirty="0"/>
          </a:p>
          <a:p>
            <a:endParaRPr lang="en-US" altLang="zh-CN" dirty="0"/>
          </a:p>
          <a:p>
            <a:r>
              <a:rPr lang="zh-CN" altLang="en-US" dirty="0"/>
              <a:t>如果不使用前递，只有</a:t>
            </a:r>
            <a:r>
              <a:rPr lang="en-US" altLang="zh-CN" dirty="0"/>
              <a:t>add</a:t>
            </a:r>
            <a:r>
              <a:rPr lang="zh-CN" altLang="en-US" dirty="0"/>
              <a:t>及其之后的指令能够使用</a:t>
            </a:r>
            <a:r>
              <a:rPr lang="en-US" altLang="zh-CN" dirty="0"/>
              <a:t>x2</a:t>
            </a:r>
            <a:r>
              <a:rPr lang="zh-CN" altLang="en-US" dirty="0"/>
              <a:t>正确的结果。</a:t>
            </a:r>
            <a:endParaRPr lang="en-US" altLang="zh-CN" dirty="0"/>
          </a:p>
          <a:p>
            <a:endParaRPr lang="en-US" altLang="zh-CN" dirty="0"/>
          </a:p>
          <a:p>
            <a:r>
              <a:rPr lang="zh-CN" altLang="en-US" dirty="0"/>
              <a:t>寄存器堆提供了另外一种形式的前递，只是这种前递发生在寄存器堆内部</a:t>
            </a:r>
            <a:endParaRPr lang="en-US" altLang="zh-CN" dirty="0"/>
          </a:p>
          <a:p>
            <a:endParaRPr lang="en-US" altLang="zh-CN" dirty="0"/>
          </a:p>
          <a:p>
            <a:endParaRPr lang="en-US" altLang="zh-CN" dirty="0"/>
          </a:p>
          <a:p>
            <a:endParaRPr lang="en-US" altLang="zh-CN" dirty="0"/>
          </a:p>
          <a:p>
            <a:endParaRPr lang="en-US"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1024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3028DF2C-A774-4EAE-9CB0-0E838EA576BE}"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1024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102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6B7CEA67-E361-4255-BFBD-7654871139C5}" type="slidenum">
              <a:rPr lang="en-AU" altLang="en-US" sz="1300" smtClean="0">
                <a:latin typeface="Times New Roman" panose="02020603050405020304" pitchFamily="18" charset="0"/>
              </a:rPr>
              <a:t>51</a:t>
            </a:fld>
            <a:endParaRPr lang="en-AU" altLang="en-US" sz="1300">
              <a:latin typeface="Times New Roman" panose="02020603050405020304" pitchFamily="18" charset="0"/>
            </a:endParaRPr>
          </a:p>
        </p:txBody>
      </p:sp>
      <p:sp>
        <p:nvSpPr>
          <p:cNvPr id="10246" name="Rectangle 2"/>
          <p:cNvSpPr>
            <a:spLocks noGrp="1" noRot="1" noChangeAspect="1" noChangeArrowheads="1" noTextEdit="1"/>
          </p:cNvSpPr>
          <p:nvPr>
            <p:ph type="sldImg"/>
          </p:nvPr>
        </p:nvSpPr>
        <p:spPr/>
      </p:sp>
      <p:sp>
        <p:nvSpPr>
          <p:cNvPr id="102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2021.5.25</a:t>
            </a:r>
            <a:r>
              <a:rPr lang="zh-CN" altLang="en-US" dirty="0"/>
              <a:t>讲到这里</a:t>
            </a:r>
            <a:endParaRPr lang="en-US" altLang="zh-CN" dirty="0"/>
          </a:p>
          <a:p>
            <a:r>
              <a:rPr lang="zh-CN" altLang="en-US" dirty="0"/>
              <a:t>用这种表示方法，可以得到两对冒险的条件：</a:t>
            </a:r>
            <a:endParaRPr lang="en-US" altLang="zh-CN" dirty="0"/>
          </a:p>
          <a:p>
            <a:pPr lvl="1" eaLnBrk="1" hangingPunct="1">
              <a:lnSpc>
                <a:spcPct val="100000"/>
              </a:lnSpc>
              <a:spcAft>
                <a:spcPts val="0"/>
              </a:spcAft>
              <a:buFont typeface="Wingdings" panose="05000000000000000000" pitchFamily="2" charset="2"/>
              <a:buNone/>
            </a:pPr>
            <a:r>
              <a:rPr lang="zh-CN" altLang="en-US" dirty="0"/>
              <a:t>比如第二条指令</a:t>
            </a:r>
            <a:r>
              <a:rPr lang="en-US" altLang="zh-CN" dirty="0"/>
              <a:t>and x12,x2,x15</a:t>
            </a:r>
            <a:r>
              <a:rPr lang="zh-CN" altLang="en-US" dirty="0"/>
              <a:t>要使用</a:t>
            </a:r>
            <a:r>
              <a:rPr lang="en-US" altLang="zh-CN" dirty="0"/>
              <a:t>x2</a:t>
            </a:r>
            <a:r>
              <a:rPr lang="zh-CN" altLang="en-US" dirty="0"/>
              <a:t>寄存器的值，这个值在流水线寄存器里实质上是</a:t>
            </a:r>
            <a:r>
              <a:rPr lang="en-US" altLang="en-US" sz="2000" dirty="0">
                <a:latin typeface="Times New Roman" panose="02020603050405020304" pitchFamily="18" charset="0"/>
                <a:cs typeface="Times New Roman" panose="02020603050405020304" pitchFamily="18" charset="0"/>
              </a:rPr>
              <a:t>ID/EX.RegisterRs1.</a:t>
            </a:r>
          </a:p>
          <a:p>
            <a:pPr lvl="1" eaLnBrk="1" hangingPunct="1">
              <a:lnSpc>
                <a:spcPct val="100000"/>
              </a:lnSpc>
              <a:spcAft>
                <a:spcPts val="0"/>
              </a:spcAft>
              <a:buFont typeface="Wingdings" panose="05000000000000000000" pitchFamily="2" charset="2"/>
              <a:buNone/>
            </a:pPr>
            <a:r>
              <a:rPr lang="zh-CN" altLang="en-US" sz="2000" dirty="0">
                <a:latin typeface="Times New Roman" panose="02020603050405020304" pitchFamily="18" charset="0"/>
                <a:cs typeface="Times New Roman" panose="02020603050405020304" pitchFamily="18" charset="0"/>
              </a:rPr>
              <a:t>而他实质上想取的值，目前是上一步指令执行阶段的</a:t>
            </a:r>
            <a:r>
              <a:rPr lang="en-US" altLang="zh-CN" sz="2000" dirty="0">
                <a:latin typeface="Times New Roman" panose="02020603050405020304" pitchFamily="18" charset="0"/>
                <a:cs typeface="Times New Roman" panose="02020603050405020304" pitchFamily="18" charset="0"/>
              </a:rPr>
              <a:t>EX/MEM</a:t>
            </a:r>
            <a:r>
              <a:rPr lang="zh-CN" altLang="en-US" sz="2000" dirty="0">
                <a:latin typeface="Times New Roman" panose="02020603050405020304" pitchFamily="18" charset="0"/>
                <a:cs typeface="Times New Roman" panose="02020603050405020304" pitchFamily="18" charset="0"/>
              </a:rPr>
              <a:t>流水线寄存器中的</a:t>
            </a:r>
            <a:r>
              <a:rPr lang="en-US" altLang="en-US" sz="2000" dirty="0">
                <a:latin typeface="Times New Roman" panose="02020603050405020304" pitchFamily="18" charset="0"/>
                <a:cs typeface="Times New Roman" panose="02020603050405020304" pitchFamily="18" charset="0"/>
              </a:rPr>
              <a:t>EX/</a:t>
            </a:r>
            <a:r>
              <a:rPr lang="en-US" altLang="en-US" sz="2000" dirty="0" err="1">
                <a:latin typeface="Times New Roman" panose="02020603050405020304" pitchFamily="18" charset="0"/>
                <a:cs typeface="Times New Roman" panose="02020603050405020304" pitchFamily="18" charset="0"/>
              </a:rPr>
              <a:t>MEM.RegisterRd</a:t>
            </a:r>
            <a:endParaRPr lang="en-US" altLang="en-US" sz="2000" dirty="0">
              <a:latin typeface="Times New Roman" panose="02020603050405020304" pitchFamily="18" charset="0"/>
              <a:cs typeface="Times New Roman" panose="02020603050405020304" pitchFamily="18" charset="0"/>
            </a:endParaRPr>
          </a:p>
          <a:p>
            <a:pPr lvl="1" eaLnBrk="1" hangingPunct="1">
              <a:lnSpc>
                <a:spcPct val="100000"/>
              </a:lnSpc>
              <a:spcAft>
                <a:spcPts val="0"/>
              </a:spcAft>
              <a:buFont typeface="Wingdings" panose="05000000000000000000" pitchFamily="2" charset="2"/>
              <a:buNone/>
            </a:pPr>
            <a:endParaRPr lang="en-US" altLang="zh-CN" sz="2000" dirty="0">
              <a:latin typeface="Times New Roman" panose="02020603050405020304" pitchFamily="18" charset="0"/>
              <a:cs typeface="Times New Roman" panose="02020603050405020304" pitchFamily="18" charset="0"/>
            </a:endParaRPr>
          </a:p>
          <a:p>
            <a:pPr lvl="1" eaLnBrk="1" hangingPunct="1">
              <a:lnSpc>
                <a:spcPct val="100000"/>
              </a:lnSpc>
              <a:spcAft>
                <a:spcPts val="0"/>
              </a:spcAft>
              <a:buFont typeface="Wingdings" panose="05000000000000000000" pitchFamily="2" charset="2"/>
              <a:buNone/>
            </a:pPr>
            <a:r>
              <a:rPr lang="zh-CN" altLang="en-US" sz="2000" dirty="0">
                <a:latin typeface="Times New Roman" panose="02020603050405020304" pitchFamily="18" charset="0"/>
                <a:cs typeface="Times New Roman" panose="02020603050405020304" pitchFamily="18" charset="0"/>
              </a:rPr>
              <a:t>第二组，大家可以看下下一条指令</a:t>
            </a:r>
            <a:r>
              <a:rPr lang="en-US" altLang="zh-CN" sz="2000" dirty="0">
                <a:latin typeface="Times New Roman" panose="02020603050405020304" pitchFamily="18" charset="0"/>
                <a:cs typeface="Times New Roman" panose="02020603050405020304" pitchFamily="18" charset="0"/>
              </a:rPr>
              <a:t>or x13</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x6,x2</a:t>
            </a:r>
          </a:p>
          <a:p>
            <a:pPr lvl="1" eaLnBrk="1" hangingPunct="1">
              <a:lnSpc>
                <a:spcPct val="100000"/>
              </a:lnSpc>
              <a:spcAft>
                <a:spcPts val="0"/>
              </a:spcAft>
              <a:buFont typeface="Wingdings" panose="05000000000000000000" pitchFamily="2" charset="2"/>
              <a:buNone/>
            </a:pPr>
            <a:endParaRPr lang="en-US" altLang="zh-CN" sz="20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zh-CN" altLang="en-US" dirty="0"/>
              <a:t>假设寄存器堆，可以前递同一时钟周期内要被读写的数据，这样</a:t>
            </a:r>
            <a:r>
              <a:rPr lang="en-US" altLang="zh-CN" dirty="0"/>
              <a:t>add</a:t>
            </a:r>
            <a:r>
              <a:rPr lang="zh-CN" altLang="en-US" dirty="0"/>
              <a:t>指令就不需要停顿，不过这些值来自寄存器堆，而不是流水线寄存器。</a:t>
            </a:r>
            <a:endParaRPr lang="en-US" altLang="zh-CN" dirty="0"/>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zh-CN" dirty="0"/>
              <a:t>P213</a:t>
            </a:r>
            <a:r>
              <a:rPr lang="zh-CN" altLang="en-US" dirty="0"/>
              <a:t>：  </a:t>
            </a:r>
            <a:r>
              <a:rPr lang="en-US" altLang="zh-CN" dirty="0"/>
              <a:t>EX</a:t>
            </a:r>
            <a:r>
              <a:rPr lang="zh-CN" altLang="en-US" dirty="0"/>
              <a:t>冒险，如果前一条指令要写寄存器堆，并且</a:t>
            </a:r>
            <a:r>
              <a:rPr lang="en-US" altLang="zh-CN" dirty="0"/>
              <a:t>1</a:t>
            </a:r>
            <a:r>
              <a:rPr lang="zh-CN" altLang="en-US" dirty="0"/>
              <a:t>）要写的寄存器堆编号不为</a:t>
            </a:r>
            <a:r>
              <a:rPr lang="en-US" altLang="zh-CN" dirty="0"/>
              <a:t>0</a:t>
            </a:r>
            <a:r>
              <a:rPr lang="zh-CN" altLang="en-US" dirty="0"/>
              <a:t>；</a:t>
            </a:r>
            <a:r>
              <a:rPr lang="en-US" altLang="zh-CN" dirty="0"/>
              <a:t>2</a:t>
            </a:r>
            <a:r>
              <a:rPr lang="zh-CN" altLang="en-US" dirty="0"/>
              <a:t>）将要写的寄存器编号与</a:t>
            </a:r>
            <a:r>
              <a:rPr lang="en-US" altLang="zh-CN" dirty="0"/>
              <a:t>ALU</a:t>
            </a:r>
            <a:r>
              <a:rPr lang="zh-CN" altLang="en-US" dirty="0"/>
              <a:t>输入口</a:t>
            </a:r>
            <a:r>
              <a:rPr lang="en-US" altLang="zh-CN" dirty="0"/>
              <a:t>A</a:t>
            </a:r>
            <a:r>
              <a:rPr lang="zh-CN" altLang="en-US" dirty="0"/>
              <a:t>和</a:t>
            </a:r>
            <a:r>
              <a:rPr lang="en-US" altLang="zh-CN" dirty="0"/>
              <a:t>B</a:t>
            </a:r>
            <a:r>
              <a:rPr lang="zh-CN" altLang="en-US" dirty="0"/>
              <a:t>要读取的寄存器编号一致，那么就控制多选器直接从</a:t>
            </a:r>
            <a:r>
              <a:rPr lang="en-US" altLang="zh-CN" dirty="0"/>
              <a:t>EX/MEM</a:t>
            </a:r>
            <a:r>
              <a:rPr lang="zh-CN" altLang="en-US" dirty="0"/>
              <a:t>流水线寄存器中取值。</a:t>
            </a:r>
          </a:p>
          <a:p>
            <a:pPr lvl="1" eaLnBrk="1" hangingPunct="1">
              <a:lnSpc>
                <a:spcPct val="100000"/>
              </a:lnSpc>
              <a:spcAft>
                <a:spcPts val="0"/>
              </a:spcAft>
              <a:buFont typeface="Wingdings" panose="05000000000000000000" pitchFamily="2" charset="2"/>
              <a:buNone/>
            </a:pPr>
            <a:r>
              <a:rPr lang="en-US" altLang="zh-CN" dirty="0"/>
              <a:t>MEM</a:t>
            </a:r>
            <a:r>
              <a:rPr lang="zh-CN" altLang="en-US" dirty="0"/>
              <a:t>冒险：</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12291"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505749CA-0F9A-4BC8-A362-91A9E1E9D60A}"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1229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122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5961D551-3FEF-49BE-B6A1-809569196E90}" type="slidenum">
              <a:rPr lang="en-AU" altLang="en-US" sz="1300" smtClean="0">
                <a:latin typeface="Times New Roman" panose="02020603050405020304" pitchFamily="18" charset="0"/>
              </a:rPr>
              <a:t>52</a:t>
            </a:fld>
            <a:endParaRPr lang="en-AU" altLang="en-US" sz="1300">
              <a:latin typeface="Times New Roman" panose="02020603050405020304" pitchFamily="18" charset="0"/>
            </a:endParaRPr>
          </a:p>
        </p:txBody>
      </p:sp>
      <p:sp>
        <p:nvSpPr>
          <p:cNvPr id="12294" name="Rectangle 2"/>
          <p:cNvSpPr>
            <a:spLocks noGrp="1" noRot="1" noChangeAspect="1" noChangeArrowheads="1" noTextEdit="1"/>
          </p:cNvSpPr>
          <p:nvPr>
            <p:ph type="sldImg"/>
          </p:nvPr>
        </p:nvSpPr>
        <p:spPr/>
      </p:sp>
      <p:sp>
        <p:nvSpPr>
          <p:cNvPr id="122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并非所有指令都会写回寄存器，有时候会在不应该前递的时候，将数据前递出去。一种简单的方案是检查写信号</a:t>
            </a:r>
            <a:r>
              <a:rPr lang="en-US" altLang="zh-CN" dirty="0" err="1"/>
              <a:t>RegWrite</a:t>
            </a:r>
            <a:r>
              <a:rPr lang="zh-CN" altLang="en-US" dirty="0"/>
              <a:t>信号是否有效。</a:t>
            </a:r>
            <a:r>
              <a:rPr lang="en-US" altLang="zh-CN" dirty="0"/>
              <a:t>Sd</a:t>
            </a:r>
            <a:r>
              <a:rPr lang="zh-CN" altLang="en-US" dirty="0"/>
              <a:t>中</a:t>
            </a:r>
            <a:r>
              <a:rPr lang="en-US" altLang="zh-CN" dirty="0" err="1"/>
              <a:t>rd</a:t>
            </a:r>
            <a:r>
              <a:rPr lang="zh-CN" altLang="en-US" dirty="0"/>
              <a:t>字段是立即数的低</a:t>
            </a:r>
            <a:r>
              <a:rPr lang="en-US" altLang="zh-CN" dirty="0"/>
              <a:t>5</a:t>
            </a:r>
            <a:r>
              <a:rPr lang="zh-CN" altLang="en-US" dirty="0"/>
              <a:t>位，为</a:t>
            </a:r>
            <a:r>
              <a:rPr lang="en-US" altLang="zh-CN" dirty="0"/>
              <a:t>8</a:t>
            </a:r>
          </a:p>
          <a:p>
            <a:endParaRPr lang="en-US" altLang="en-US" dirty="0"/>
          </a:p>
          <a:p>
            <a:r>
              <a:rPr lang="zh-CN" altLang="en-US" dirty="0"/>
              <a:t>如对于</a:t>
            </a:r>
            <a:r>
              <a:rPr lang="en-US" altLang="zh-CN" dirty="0" err="1"/>
              <a:t>addi</a:t>
            </a:r>
            <a:r>
              <a:rPr lang="en-US" altLang="zh-CN" dirty="0"/>
              <a:t> x0,x1,2</a:t>
            </a:r>
            <a:r>
              <a:rPr lang="zh-CN" altLang="en-US" dirty="0"/>
              <a:t>，我们希望避免前递非零的结果值。</a:t>
            </a:r>
            <a:endParaRPr lang="en-US" altLang="en-US" dirty="0"/>
          </a:p>
        </p:txBody>
      </p:sp>
    </p:spTree>
    <p:extLst>
      <p:ext uri="{BB962C8B-B14F-4D97-AF65-F5344CB8AC3E}">
        <p14:creationId xmlns:p14="http://schemas.microsoft.com/office/powerpoint/2010/main" val="2138703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只要流水线寄存器保存了将要被前递的数，后续的指令就可以得到所需要的数据。</a:t>
            </a:r>
            <a:endParaRPr lang="en-US" altLang="zh-CN" dirty="0"/>
          </a:p>
          <a:p>
            <a:r>
              <a:rPr lang="zh-CN" altLang="en-US" dirty="0"/>
              <a:t>通过在</a:t>
            </a:r>
            <a:r>
              <a:rPr lang="en-US" altLang="zh-CN" dirty="0"/>
              <a:t>ALU</a:t>
            </a:r>
            <a:r>
              <a:rPr lang="zh-CN" altLang="en-US" dirty="0"/>
              <a:t>的输入上添加多选器再辅以适当的控制，就可以在存在数据冒险的情况下全速运行流水线。</a:t>
            </a:r>
            <a:endParaRPr lang="en-US" altLang="zh-CN"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53</a:t>
            </a:fld>
            <a:endParaRPr lang="zh-CN" altLang="en-US"/>
          </a:p>
        </p:txBody>
      </p:sp>
    </p:spTree>
    <p:extLst>
      <p:ext uri="{BB962C8B-B14F-4D97-AF65-F5344CB8AC3E}">
        <p14:creationId xmlns:p14="http://schemas.microsoft.com/office/powerpoint/2010/main" val="25916805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1433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52070BC8-7D70-4676-A68C-AD0CF8A6FD4F}"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1434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143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1E9406FA-B0F9-49F8-9F79-52C48AA3F871}" type="slidenum">
              <a:rPr lang="en-AU" altLang="en-US" sz="1300" smtClean="0">
                <a:latin typeface="Times New Roman" panose="02020603050405020304" pitchFamily="18" charset="0"/>
              </a:rPr>
              <a:t>55</a:t>
            </a:fld>
            <a:endParaRPr lang="en-AU" altLang="en-US" sz="1300">
              <a:latin typeface="Times New Roman" panose="02020603050405020304" pitchFamily="18" charset="0"/>
            </a:endParaRPr>
          </a:p>
        </p:txBody>
      </p:sp>
      <p:sp>
        <p:nvSpPr>
          <p:cNvPr id="14342" name="Rectangle 2"/>
          <p:cNvSpPr>
            <a:spLocks noGrp="1" noRot="1" noChangeAspect="1" noChangeArrowheads="1" noTextEdit="1"/>
          </p:cNvSpPr>
          <p:nvPr>
            <p:ph type="sldImg"/>
          </p:nvPr>
        </p:nvSpPr>
        <p:spPr/>
      </p:sp>
      <p:sp>
        <p:nvSpPr>
          <p:cNvPr id="143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1638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49D7A1CE-F631-4CCD-A7F0-0973067F101D}"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1638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163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3590717A-3A66-47EE-BEF2-B2B93E86E2DE}" type="slidenum">
              <a:rPr lang="en-AU" altLang="en-US" sz="1300" smtClean="0">
                <a:latin typeface="Times New Roman" panose="02020603050405020304" pitchFamily="18" charset="0"/>
              </a:rPr>
              <a:t>56</a:t>
            </a:fld>
            <a:endParaRPr lang="en-AU" altLang="en-US" sz="1300">
              <a:latin typeface="Times New Roman" panose="02020603050405020304" pitchFamily="18" charset="0"/>
            </a:endParaRPr>
          </a:p>
        </p:txBody>
      </p:sp>
      <p:sp>
        <p:nvSpPr>
          <p:cNvPr id="16390" name="Rectangle 2"/>
          <p:cNvSpPr>
            <a:spLocks noGrp="1" noRot="1" noChangeAspect="1" noChangeArrowheads="1" noTextEdit="1"/>
          </p:cNvSpPr>
          <p:nvPr>
            <p:ph type="sldImg"/>
          </p:nvPr>
        </p:nvSpPr>
        <p:spPr/>
      </p:sp>
      <p:sp>
        <p:nvSpPr>
          <p:cNvPr id="1639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200" b="0" i="0" u="none" strike="noStrike" kern="1200" baseline="0" dirty="0">
                <a:solidFill>
                  <a:schemeClr val="dk1"/>
                </a:solidFill>
                <a:latin typeface="+mn-lt"/>
                <a:ea typeface="+mn-ea"/>
                <a:cs typeface="+mn-cs"/>
              </a:rPr>
              <a:t>来自数据</a:t>
            </a:r>
            <a:r>
              <a:rPr lang="zh-CN" altLang="en-US" sz="1200"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存储器</a:t>
            </a:r>
            <a:r>
              <a:rPr lang="en-US" altLang="zh-CN" sz="1200"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200"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取数操作</a:t>
            </a:r>
            <a:r>
              <a:rPr lang="en-US" altLang="zh-CN" sz="1200"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200"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1200" b="0" i="0" u="none" strike="noStrike" kern="1200" baseline="0" dirty="0">
                <a:solidFill>
                  <a:schemeClr val="dk1"/>
                </a:solidFill>
                <a:latin typeface="+mn-lt"/>
                <a:ea typeface="+mn-ea"/>
                <a:cs typeface="+mn-cs"/>
              </a:rPr>
              <a:t>来自</a:t>
            </a:r>
            <a:r>
              <a:rPr lang="zh-CN" altLang="en-US" sz="1200"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更早的</a:t>
            </a:r>
            <a:r>
              <a:rPr lang="en-US" altLang="zh-CN" sz="1200"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ALU</a:t>
            </a:r>
            <a:r>
              <a:rPr lang="zh-CN" altLang="en-US" sz="1200" kern="12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（运算操作）</a:t>
            </a:r>
            <a:endParaRPr lang="en-US"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2048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F6D110CE-E805-4A44-A4FD-C60CDF1F20CA}"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2048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204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8415B32A-A067-46F0-92FA-0E78A2391A87}" type="slidenum">
              <a:rPr lang="en-AU" altLang="en-US" sz="1300" smtClean="0">
                <a:latin typeface="Times New Roman" panose="02020603050405020304" pitchFamily="18" charset="0"/>
              </a:rPr>
              <a:t>57</a:t>
            </a:fld>
            <a:endParaRPr lang="en-AU" altLang="en-US" sz="1300">
              <a:latin typeface="Times New Roman" panose="02020603050405020304" pitchFamily="18" charset="0"/>
            </a:endParaRPr>
          </a:p>
        </p:txBody>
      </p:sp>
      <p:sp>
        <p:nvSpPr>
          <p:cNvPr id="20486" name="Rectangle 2"/>
          <p:cNvSpPr>
            <a:spLocks noGrp="1" noRot="1" noChangeAspect="1" noChangeArrowheads="1" noTextEdit="1"/>
          </p:cNvSpPr>
          <p:nvPr>
            <p:ph type="sldImg"/>
          </p:nvPr>
        </p:nvSpPr>
        <p:spPr/>
      </p:sp>
      <p:sp>
        <p:nvSpPr>
          <p:cNvPr id="2048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18435"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40F5FB49-76D7-4741-B35F-619646396992}"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18436"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184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0CF68BAD-D4FA-43B2-BB76-DF33AD423C8B}" type="slidenum">
              <a:rPr lang="en-AU" altLang="en-US" sz="1300" smtClean="0">
                <a:latin typeface="Times New Roman" panose="02020603050405020304" pitchFamily="18" charset="0"/>
              </a:rPr>
              <a:t>58</a:t>
            </a:fld>
            <a:endParaRPr lang="en-AU" altLang="en-US" sz="1300">
              <a:latin typeface="Times New Roman" panose="02020603050405020304" pitchFamily="18" charset="0"/>
            </a:endParaRPr>
          </a:p>
        </p:txBody>
      </p:sp>
      <p:sp>
        <p:nvSpPr>
          <p:cNvPr id="18438" name="Rectangle 2"/>
          <p:cNvSpPr>
            <a:spLocks noGrp="1" noRot="1" noChangeAspect="1" noChangeArrowheads="1" noTextEdit="1"/>
          </p:cNvSpPr>
          <p:nvPr>
            <p:ph type="sldImg"/>
          </p:nvPr>
        </p:nvSpPr>
        <p:spPr/>
      </p:sp>
      <p:sp>
        <p:nvSpPr>
          <p:cNvPr id="1843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这是一种复杂的数据冒险，这种冒险是在</a:t>
            </a:r>
            <a:r>
              <a:rPr lang="en-US" altLang="zh-CN" dirty="0"/>
              <a:t>WB</a:t>
            </a:r>
            <a:r>
              <a:rPr lang="zh-CN" altLang="en-US" dirty="0"/>
              <a:t>阶段指令的结果、</a:t>
            </a:r>
            <a:r>
              <a:rPr lang="en-US" altLang="zh-CN" dirty="0"/>
              <a:t>MEM</a:t>
            </a:r>
            <a:r>
              <a:rPr lang="zh-CN" altLang="en-US" dirty="0"/>
              <a:t>阶段指令的结果和</a:t>
            </a:r>
            <a:r>
              <a:rPr lang="en-US" altLang="zh-CN" dirty="0"/>
              <a:t>ALU</a:t>
            </a:r>
            <a:r>
              <a:rPr lang="zh-CN" altLang="en-US" dirty="0"/>
              <a:t>阶段指令的源操作数之间发生的。</a:t>
            </a:r>
            <a:endParaRPr lang="en-US" altLang="zh-CN" dirty="0"/>
          </a:p>
          <a:p>
            <a:r>
              <a:rPr lang="zh-CN" altLang="en-US" dirty="0"/>
              <a:t>比如这里，在一个寄存器中，对一组数据做求和操作时，一系列指令将会读写同一个寄存器。在这个时候，应该用最近的结果。</a:t>
            </a:r>
            <a:endParaRPr lang="en-US"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2048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F6D110CE-E805-4A44-A4FD-C60CDF1F20CA}"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2048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204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8415B32A-A067-46F0-92FA-0E78A2391A87}" type="slidenum">
              <a:rPr lang="en-AU" altLang="en-US" sz="1300" smtClean="0">
                <a:latin typeface="Times New Roman" panose="02020603050405020304" pitchFamily="18" charset="0"/>
              </a:rPr>
              <a:t>59</a:t>
            </a:fld>
            <a:endParaRPr lang="en-AU" altLang="en-US" sz="1300">
              <a:latin typeface="Times New Roman" panose="02020603050405020304" pitchFamily="18" charset="0"/>
            </a:endParaRPr>
          </a:p>
        </p:txBody>
      </p:sp>
      <p:sp>
        <p:nvSpPr>
          <p:cNvPr id="20486" name="Rectangle 2"/>
          <p:cNvSpPr>
            <a:spLocks noGrp="1" noRot="1" noChangeAspect="1" noChangeArrowheads="1" noTextEdit="1"/>
          </p:cNvSpPr>
          <p:nvPr>
            <p:ph type="sldImg"/>
          </p:nvPr>
        </p:nvSpPr>
        <p:spPr/>
      </p:sp>
      <p:sp>
        <p:nvSpPr>
          <p:cNvPr id="2048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22531"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01AF52CA-8622-4F7E-B3F8-D6142E3BE780}"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2253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225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91AADCCA-EA6C-47F4-98E3-FCC4E972C39D}" type="slidenum">
              <a:rPr lang="en-AU" altLang="en-US" sz="1300" smtClean="0">
                <a:latin typeface="Times New Roman" panose="02020603050405020304" pitchFamily="18" charset="0"/>
              </a:rPr>
              <a:t>60</a:t>
            </a:fld>
            <a:endParaRPr lang="en-AU" altLang="en-US" sz="1300">
              <a:latin typeface="Times New Roman" panose="02020603050405020304" pitchFamily="18" charset="0"/>
            </a:endParaRPr>
          </a:p>
        </p:txBody>
      </p:sp>
      <p:sp>
        <p:nvSpPr>
          <p:cNvPr id="22534" name="Rectangle 2"/>
          <p:cNvSpPr>
            <a:spLocks noGrp="1" noRot="1" noChangeAspect="1" noChangeArrowheads="1" noTextEdit="1"/>
          </p:cNvSpPr>
          <p:nvPr>
            <p:ph type="sldImg"/>
          </p:nvPr>
        </p:nvSpPr>
        <p:spPr/>
      </p:sp>
      <p:sp>
        <p:nvSpPr>
          <p:cNvPr id="2253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在上一个图的基础上添加了控制信号。</a:t>
            </a:r>
            <a:endParaRPr lang="en-US"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28675"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52874370-1698-4A9D-84F5-B405CCC999D9}"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28676"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286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089EF089-5B97-4F3F-A93B-7D0F971C2CDA}" type="slidenum">
              <a:rPr lang="en-AU" altLang="en-US" sz="1300" smtClean="0">
                <a:latin typeface="Times New Roman" panose="02020603050405020304" pitchFamily="18" charset="0"/>
              </a:rPr>
              <a:t>61</a:t>
            </a:fld>
            <a:endParaRPr lang="en-AU" altLang="en-US" sz="1300">
              <a:latin typeface="Times New Roman" panose="02020603050405020304" pitchFamily="18" charset="0"/>
            </a:endParaRPr>
          </a:p>
        </p:txBody>
      </p:sp>
      <p:sp>
        <p:nvSpPr>
          <p:cNvPr id="28678" name="Rectangle 2"/>
          <p:cNvSpPr>
            <a:spLocks noGrp="1" noRot="1" noChangeAspect="1" noChangeArrowheads="1" noTextEdit="1"/>
          </p:cNvSpPr>
          <p:nvPr>
            <p:ph type="sldImg"/>
          </p:nvPr>
        </p:nvSpPr>
        <p:spPr/>
      </p:sp>
      <p:sp>
        <p:nvSpPr>
          <p:cNvPr id="286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解释一下</a:t>
            </a:r>
            <a:r>
              <a:rPr lang="en-US" altLang="zh-CN" dirty="0"/>
              <a:t>ld</a:t>
            </a:r>
            <a:r>
              <a:rPr lang="zh-CN" altLang="en-US" dirty="0"/>
              <a:t>是怎么工作的，什么时候才能得到</a:t>
            </a:r>
            <a:r>
              <a:rPr lang="en-US" altLang="zh-CN" dirty="0"/>
              <a:t>x2</a:t>
            </a:r>
            <a:r>
              <a:rPr lang="zh-CN" altLang="en-US" dirty="0"/>
              <a:t>的值？在</a:t>
            </a:r>
            <a:r>
              <a:rPr lang="en-US" altLang="zh-CN" dirty="0"/>
              <a:t>MEM</a:t>
            </a:r>
            <a:r>
              <a:rPr lang="zh-CN" altLang="en-US" dirty="0"/>
              <a:t>结束后，无法用前递避免数据冒险。</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2457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A1424541-7AB2-4AFD-9BA0-0050B642FDC5}"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2458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245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174255E7-8E3A-4739-B635-5A110D634E24}" type="slidenum">
              <a:rPr lang="en-AU" altLang="en-US" sz="1300" smtClean="0">
                <a:latin typeface="Times New Roman" panose="02020603050405020304" pitchFamily="18" charset="0"/>
              </a:rPr>
              <a:t>62</a:t>
            </a:fld>
            <a:endParaRPr lang="en-AU" altLang="en-US" sz="1300">
              <a:latin typeface="Times New Roman" panose="02020603050405020304" pitchFamily="18" charset="0"/>
            </a:endParaRPr>
          </a:p>
        </p:txBody>
      </p:sp>
      <p:sp>
        <p:nvSpPr>
          <p:cNvPr id="24582" name="Rectangle 2"/>
          <p:cNvSpPr>
            <a:spLocks noGrp="1" noRot="1" noChangeAspect="1" noChangeArrowheads="1" noTextEdit="1"/>
          </p:cNvSpPr>
          <p:nvPr>
            <p:ph type="sldImg"/>
          </p:nvPr>
        </p:nvSpPr>
        <p:spPr/>
      </p:sp>
      <p:sp>
        <p:nvSpPr>
          <p:cNvPr id="2458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加载指令紧跟在存储指令之后不需要停顿，因为数据是正向流动</a:t>
            </a: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err="1">
                <a:latin typeface="Times New Roman" panose="02020603050405020304" pitchFamily="18" charset="0"/>
                <a:cs typeface="Times New Roman" panose="02020603050405020304" pitchFamily="18" charset="0"/>
              </a:rPr>
              <a:t>sd</a:t>
            </a:r>
            <a:r>
              <a:rPr lang="en-US" altLang="zh-CN" dirty="0">
                <a:latin typeface="Times New Roman" panose="02020603050405020304" pitchFamily="18" charset="0"/>
                <a:cs typeface="Times New Roman" panose="02020603050405020304" pitchFamily="18" charset="0"/>
              </a:rPr>
              <a:t> x5</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x6</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err="1">
                <a:latin typeface="Times New Roman" panose="02020603050405020304" pitchFamily="18" charset="0"/>
                <a:cs typeface="Times New Roman" panose="02020603050405020304" pitchFamily="18" charset="0"/>
              </a:rPr>
              <a:t>ld</a:t>
            </a:r>
            <a:r>
              <a:rPr lang="en-US" altLang="zh-CN" dirty="0">
                <a:latin typeface="Times New Roman" panose="02020603050405020304" pitchFamily="18" charset="0"/>
                <a:cs typeface="Times New Roman" panose="02020603050405020304" pitchFamily="18" charset="0"/>
              </a:rPr>
              <a:t>  x7</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x6</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28675"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52874370-1698-4A9D-84F5-B405CCC999D9}"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28676"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286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089EF089-5B97-4F3F-A93B-7D0F971C2CDA}" type="slidenum">
              <a:rPr lang="en-AU" altLang="en-US" sz="1300" smtClean="0">
                <a:latin typeface="Times New Roman" panose="02020603050405020304" pitchFamily="18" charset="0"/>
              </a:rPr>
              <a:t>63</a:t>
            </a:fld>
            <a:endParaRPr lang="en-AU" altLang="en-US" sz="1300">
              <a:latin typeface="Times New Roman" panose="02020603050405020304" pitchFamily="18" charset="0"/>
            </a:endParaRPr>
          </a:p>
        </p:txBody>
      </p:sp>
      <p:sp>
        <p:nvSpPr>
          <p:cNvPr id="28678" name="Rectangle 2"/>
          <p:cNvSpPr>
            <a:spLocks noGrp="1" noRot="1" noChangeAspect="1" noChangeArrowheads="1" noTextEdit="1"/>
          </p:cNvSpPr>
          <p:nvPr>
            <p:ph type="sldImg"/>
          </p:nvPr>
        </p:nvSpPr>
        <p:spPr/>
      </p:sp>
      <p:sp>
        <p:nvSpPr>
          <p:cNvPr id="286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2662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A28EBED6-B9CE-48B6-BADA-0369E1266A83}"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2662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266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F222C4CB-5DC9-45E0-A93F-E8DFBFDAD08B}" type="slidenum">
              <a:rPr lang="en-AU" altLang="en-US" sz="1300" smtClean="0">
                <a:latin typeface="Times New Roman" panose="02020603050405020304" pitchFamily="18" charset="0"/>
              </a:rPr>
              <a:t>64</a:t>
            </a:fld>
            <a:endParaRPr lang="en-AU" altLang="en-US" sz="1300">
              <a:latin typeface="Times New Roman" panose="02020603050405020304" pitchFamily="18" charset="0"/>
            </a:endParaRPr>
          </a:p>
        </p:txBody>
      </p:sp>
      <p:sp>
        <p:nvSpPr>
          <p:cNvPr id="26630" name="Rectangle 2"/>
          <p:cNvSpPr>
            <a:spLocks noGrp="1" noRot="1" noChangeAspect="1" noChangeArrowheads="1" noTextEdit="1"/>
          </p:cNvSpPr>
          <p:nvPr>
            <p:ph type="sldImg"/>
          </p:nvPr>
        </p:nvSpPr>
        <p:spPr/>
      </p:sp>
      <p:sp>
        <p:nvSpPr>
          <p:cNvPr id="2663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用流水线寄存器中的值替换通用寄存器中的值。</a:t>
            </a:r>
            <a:endParaRPr lang="en-US" altLang="zh-CN" dirty="0"/>
          </a:p>
          <a:p>
            <a:endParaRPr lang="en-US" altLang="en-US" dirty="0"/>
          </a:p>
          <a:p>
            <a:r>
              <a:rPr lang="zh-CN" altLang="en-US" dirty="0"/>
              <a:t>尽管编译器通常依赖于硬件来解决冒险，并保证指令的正确执行。但是编译器仍然需要理解流水线以获得最优性能。</a:t>
            </a:r>
            <a:endParaRPr lang="en-US" altLang="zh-CN" dirty="0"/>
          </a:p>
          <a:p>
            <a:endParaRPr lang="en-US" altLang="en-US" dirty="0"/>
          </a:p>
          <a:p>
            <a:r>
              <a:rPr lang="zh-CN" altLang="en-US" dirty="0"/>
              <a:t>这里说的将控制均设置为</a:t>
            </a:r>
            <a:r>
              <a:rPr lang="en-US" altLang="zh-CN" dirty="0"/>
              <a:t>0</a:t>
            </a:r>
            <a:r>
              <a:rPr lang="zh-CN" altLang="en-US" dirty="0"/>
              <a:t>，事实上只要将</a:t>
            </a:r>
            <a:r>
              <a:rPr lang="en-US" altLang="zh-CN" dirty="0" err="1"/>
              <a:t>Regwrite</a:t>
            </a:r>
            <a:r>
              <a:rPr lang="zh-CN" altLang="en-US" dirty="0"/>
              <a:t>和</a:t>
            </a:r>
            <a:r>
              <a:rPr lang="en-US" altLang="zh-CN" dirty="0" err="1"/>
              <a:t>MemWrite</a:t>
            </a:r>
            <a:r>
              <a:rPr lang="zh-CN" altLang="en-US" dirty="0"/>
              <a:t>设置为</a:t>
            </a:r>
            <a:r>
              <a:rPr lang="en-US" altLang="zh-CN" dirty="0"/>
              <a:t>0</a:t>
            </a:r>
            <a:r>
              <a:rPr lang="zh-CN" altLang="en-US" dirty="0"/>
              <a:t>即可</a:t>
            </a:r>
            <a:endParaRPr lang="en-US" alt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00B0F0"/>
                </a:solidFill>
                <a:latin typeface="Times New Roman" panose="02020603050405020304" pitchFamily="18" charset="0"/>
                <a:cs typeface="Times New Roman" panose="02020603050405020304" pitchFamily="18" charset="0"/>
              </a:rPr>
              <a:t>通过</a:t>
            </a:r>
            <a:r>
              <a:rPr lang="en-US" altLang="zh-CN" b="1" dirty="0">
                <a:solidFill>
                  <a:srgbClr val="00B0F0"/>
                </a:solidFill>
                <a:latin typeface="Times New Roman" panose="02020603050405020304" pitchFamily="18" charset="0"/>
                <a:cs typeface="Times New Roman" panose="02020603050405020304" pitchFamily="18" charset="0"/>
              </a:rPr>
              <a:t>ID/</a:t>
            </a:r>
            <a:r>
              <a:rPr lang="en-US" altLang="zh-CN" b="1" dirty="0" err="1">
                <a:solidFill>
                  <a:srgbClr val="00B0F0"/>
                </a:solidFill>
                <a:latin typeface="Times New Roman" panose="02020603050405020304" pitchFamily="18" charset="0"/>
                <a:cs typeface="Times New Roman" panose="02020603050405020304" pitchFamily="18" charset="0"/>
              </a:rPr>
              <a:t>EX.MemRead</a:t>
            </a:r>
            <a:r>
              <a:rPr lang="zh-CN" altLang="en-US" b="1" dirty="0">
                <a:solidFill>
                  <a:srgbClr val="00B0F0"/>
                </a:solidFill>
                <a:latin typeface="Times New Roman" panose="02020603050405020304" pitchFamily="18" charset="0"/>
                <a:cs typeface="Times New Roman" panose="02020603050405020304" pitchFamily="18" charset="0"/>
              </a:rPr>
              <a:t>，检测到上一条指令正在做</a:t>
            </a:r>
            <a:r>
              <a:rPr lang="en-US" altLang="zh-CN" b="1" dirty="0" err="1">
                <a:solidFill>
                  <a:srgbClr val="00B0F0"/>
                </a:solidFill>
                <a:latin typeface="Times New Roman" panose="02020603050405020304" pitchFamily="18" charset="0"/>
                <a:cs typeface="Times New Roman" panose="02020603050405020304" pitchFamily="18" charset="0"/>
              </a:rPr>
              <a:t>ld</a:t>
            </a:r>
            <a:r>
              <a:rPr lang="zh-CN" altLang="en-US" b="1" dirty="0">
                <a:solidFill>
                  <a:srgbClr val="00B0F0"/>
                </a:solidFill>
                <a:latin typeface="Times New Roman" panose="02020603050405020304" pitchFamily="18" charset="0"/>
                <a:cs typeface="Times New Roman" panose="02020603050405020304" pitchFamily="18" charset="0"/>
              </a:rPr>
              <a:t>操作，然后又发现</a:t>
            </a:r>
            <a:r>
              <a:rPr lang="en-US" altLang="zh-CN" b="1" dirty="0" err="1">
                <a:solidFill>
                  <a:srgbClr val="00B0F0"/>
                </a:solidFill>
                <a:latin typeface="Times New Roman" panose="02020603050405020304" pitchFamily="18" charset="0"/>
                <a:cs typeface="Times New Roman" panose="02020603050405020304" pitchFamily="18" charset="0"/>
              </a:rPr>
              <a:t>ld</a:t>
            </a:r>
            <a:r>
              <a:rPr lang="zh-CN" altLang="en-US" b="1" dirty="0">
                <a:solidFill>
                  <a:srgbClr val="00B0F0"/>
                </a:solidFill>
                <a:latin typeface="Times New Roman" panose="02020603050405020304" pitchFamily="18" charset="0"/>
                <a:cs typeface="Times New Roman" panose="02020603050405020304" pitchFamily="18" charset="0"/>
              </a:rPr>
              <a:t>要写入的寄存器</a:t>
            </a:r>
            <a:r>
              <a:rPr lang="en-US" altLang="zh-CN" b="1" dirty="0" err="1">
                <a:solidFill>
                  <a:srgbClr val="00B0F0"/>
                </a:solidFill>
                <a:latin typeface="Times New Roman" panose="02020603050405020304" pitchFamily="18" charset="0"/>
                <a:cs typeface="Times New Roman" panose="02020603050405020304" pitchFamily="18" charset="0"/>
              </a:rPr>
              <a:t>rd</a:t>
            </a:r>
            <a:r>
              <a:rPr lang="zh-CN" altLang="en-US" b="1" dirty="0">
                <a:solidFill>
                  <a:srgbClr val="00B0F0"/>
                </a:solidFill>
                <a:latin typeface="Times New Roman" panose="02020603050405020304" pitchFamily="18" charset="0"/>
                <a:cs typeface="Times New Roman" panose="02020603050405020304" pitchFamily="18" charset="0"/>
              </a:rPr>
              <a:t>刚好是我们当前指令所需要的源操作数寄存器。</a:t>
            </a:r>
            <a:endParaRPr lang="en-US" altLang="zh-CN" b="1" dirty="0">
              <a:solidFill>
                <a:srgbClr val="00B0F0"/>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00B0F0"/>
                </a:solidFill>
                <a:latin typeface="Times New Roman" panose="02020603050405020304" pitchFamily="18" charset="0"/>
                <a:cs typeface="Times New Roman" panose="02020603050405020304" pitchFamily="18" charset="0"/>
              </a:rPr>
              <a:t>那么就会发生“</a:t>
            </a:r>
            <a:r>
              <a:rPr lang="zh-CN" altLang="en-US" dirty="0"/>
              <a:t>载入</a:t>
            </a:r>
            <a:r>
              <a:rPr lang="en-US" altLang="zh-CN" dirty="0"/>
              <a:t>-</a:t>
            </a:r>
            <a:r>
              <a:rPr lang="zh-CN" altLang="en-US" dirty="0"/>
              <a:t>使用型数据冒险</a:t>
            </a:r>
            <a:r>
              <a:rPr lang="zh-CN" altLang="en-US" b="1" dirty="0">
                <a:solidFill>
                  <a:srgbClr val="00B0F0"/>
                </a:solidFill>
                <a:latin typeface="Times New Roman" panose="02020603050405020304" pitchFamily="18" charset="0"/>
                <a:cs typeface="Times New Roman" panose="02020603050405020304" pitchFamily="18" charset="0"/>
              </a:rPr>
              <a:t>”</a:t>
            </a:r>
            <a:endParaRPr lang="en-US" altLang="zh-CN" b="1" dirty="0">
              <a:solidFill>
                <a:srgbClr val="00B0F0"/>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solidFill>
                <a:srgbClr val="00B0F0"/>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00B0F0"/>
                </a:solidFill>
                <a:latin typeface="Times New Roman" panose="02020603050405020304" pitchFamily="18" charset="0"/>
                <a:cs typeface="Times New Roman" panose="02020603050405020304" pitchFamily="18" charset="0"/>
              </a:rPr>
              <a:t>这个图说明了，前递所需要的基本硬件。</a:t>
            </a:r>
          </a:p>
          <a:p>
            <a:endParaRPr lang="zh-CN" altLang="en-US" dirty="0"/>
          </a:p>
        </p:txBody>
      </p:sp>
      <p:sp>
        <p:nvSpPr>
          <p:cNvPr id="4" name="灯片编号占位符 3"/>
          <p:cNvSpPr>
            <a:spLocks noGrp="1"/>
          </p:cNvSpPr>
          <p:nvPr>
            <p:ph type="sldNum" sz="quarter" idx="5"/>
          </p:nvPr>
        </p:nvSpPr>
        <p:spPr/>
        <p:txBody>
          <a:bodyPr/>
          <a:lstStyle/>
          <a:p>
            <a:fld id="{B2F71A34-5CF3-4368-A0E8-2F255278EC43}" type="slidenum">
              <a:rPr lang="zh-CN" altLang="en-US" smtClean="0"/>
              <a:t>65</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32771"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EA5721B7-D448-436C-9398-D512DE749E6A}"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3277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327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92E6C1EA-0F49-4261-AA1C-23E2892ECBD6}" type="slidenum">
              <a:rPr lang="en-AU" altLang="en-US" sz="1300" smtClean="0">
                <a:latin typeface="Times New Roman" panose="02020603050405020304" pitchFamily="18" charset="0"/>
              </a:rPr>
              <a:t>66</a:t>
            </a:fld>
            <a:endParaRPr lang="en-AU" altLang="en-US" sz="1300">
              <a:latin typeface="Times New Roman" panose="02020603050405020304" pitchFamily="18" charset="0"/>
            </a:endParaRPr>
          </a:p>
        </p:txBody>
      </p:sp>
      <p:sp>
        <p:nvSpPr>
          <p:cNvPr id="32774" name="Rectangle 2"/>
          <p:cNvSpPr>
            <a:spLocks noGrp="1" noRot="1" noChangeAspect="1" noChangeArrowheads="1" noTextEdit="1"/>
          </p:cNvSpPr>
          <p:nvPr>
            <p:ph type="sldImg"/>
          </p:nvPr>
        </p:nvSpPr>
        <p:spPr/>
      </p:sp>
      <p:sp>
        <p:nvSpPr>
          <p:cNvPr id="327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3757C0-D8D6-4E64-9363-D81570960896}" type="slidenum">
              <a:rPr lang="zh-CN" altLang="en-US" smtClean="0"/>
              <a:t>67</a:t>
            </a:fld>
            <a:endParaRPr lang="zh-CN" altLang="en-US"/>
          </a:p>
        </p:txBody>
      </p:sp>
    </p:spTree>
    <p:extLst>
      <p:ext uri="{BB962C8B-B14F-4D97-AF65-F5344CB8AC3E}">
        <p14:creationId xmlns:p14="http://schemas.microsoft.com/office/powerpoint/2010/main" val="398852861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3481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127BAB02-EFF1-4BF5-8300-E78D45FE09E1}"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3482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348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6828D590-637B-44C3-A602-129D6794D4DC}" type="slidenum">
              <a:rPr lang="en-AU" altLang="en-US" sz="1300" smtClean="0">
                <a:latin typeface="Times New Roman" panose="02020603050405020304" pitchFamily="18" charset="0"/>
              </a:rPr>
              <a:t>68</a:t>
            </a:fld>
            <a:endParaRPr lang="en-AU" altLang="en-US" sz="1300">
              <a:latin typeface="Times New Roman" panose="02020603050405020304" pitchFamily="18" charset="0"/>
            </a:endParaRPr>
          </a:p>
        </p:txBody>
      </p:sp>
      <p:sp>
        <p:nvSpPr>
          <p:cNvPr id="34822" name="Rectangle 2"/>
          <p:cNvSpPr>
            <a:spLocks noGrp="1" noRot="1" noChangeAspect="1" noChangeArrowheads="1" noTextEdit="1"/>
          </p:cNvSpPr>
          <p:nvPr>
            <p:ph type="sldImg"/>
          </p:nvPr>
        </p:nvSpPr>
        <p:spPr/>
      </p:sp>
      <p:sp>
        <p:nvSpPr>
          <p:cNvPr id="348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前面所讲的冒险重点关注的是算术操作和数据传输中的冒险。前面也提过，流水线冒险也包括条件分支。这种为了决定正确执行指令所产生的延迟被称为控制冒险或分支冒险。</a:t>
            </a:r>
            <a:endParaRPr lang="en-US" altLang="zh-CN" dirty="0"/>
          </a:p>
          <a:p>
            <a:endParaRPr lang="en-US" altLang="zh-CN" dirty="0"/>
          </a:p>
          <a:p>
            <a:r>
              <a:rPr lang="zh-CN" altLang="en-US" dirty="0"/>
              <a:t>这里可以回顾一下，为什么</a:t>
            </a:r>
            <a:r>
              <a:rPr lang="en-US" altLang="zh-CN" dirty="0" err="1"/>
              <a:t>beq</a:t>
            </a:r>
            <a:r>
              <a:rPr lang="zh-CN" altLang="en-US" dirty="0"/>
              <a:t>会跳转到 </a:t>
            </a:r>
            <a:r>
              <a:rPr lang="en-US" altLang="zh-CN" dirty="0" err="1"/>
              <a:t>ld</a:t>
            </a:r>
            <a:r>
              <a:rPr lang="zh-CN" altLang="en-US" dirty="0"/>
              <a:t>指令， 因为跳转新地址是</a:t>
            </a:r>
            <a:r>
              <a:rPr lang="en-US" altLang="zh-CN" dirty="0"/>
              <a:t>40+16</a:t>
            </a:r>
            <a:r>
              <a:rPr lang="zh-CN" altLang="en-US" dirty="0"/>
              <a:t>*</a:t>
            </a:r>
            <a:r>
              <a:rPr lang="en-US" altLang="zh-CN" dirty="0"/>
              <a:t>2</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3481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127BAB02-EFF1-4BF5-8300-E78D45FE09E1}"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3482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348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6828D590-637B-44C3-A602-129D6794D4DC}" type="slidenum">
              <a:rPr lang="en-AU" altLang="en-US" sz="1300" smtClean="0">
                <a:latin typeface="Times New Roman" panose="02020603050405020304" pitchFamily="18" charset="0"/>
              </a:rPr>
              <a:t>69</a:t>
            </a:fld>
            <a:endParaRPr lang="en-AU" altLang="en-US" sz="1300">
              <a:latin typeface="Times New Roman" panose="02020603050405020304" pitchFamily="18" charset="0"/>
            </a:endParaRPr>
          </a:p>
        </p:txBody>
      </p:sp>
      <p:sp>
        <p:nvSpPr>
          <p:cNvPr id="34822" name="Rectangle 2"/>
          <p:cNvSpPr>
            <a:spLocks noGrp="1" noRot="1" noChangeAspect="1" noChangeArrowheads="1" noTextEdit="1"/>
          </p:cNvSpPr>
          <p:nvPr>
            <p:ph type="sldImg"/>
          </p:nvPr>
        </p:nvSpPr>
        <p:spPr/>
      </p:sp>
      <p:sp>
        <p:nvSpPr>
          <p:cNvPr id="348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一种提升分支阻塞率的方法是，预测不跳转，那么继续执行下面的指令。因为丢弃指令的代价很小，若条件分支不发生的概率是</a:t>
            </a:r>
            <a:r>
              <a:rPr lang="en-US" altLang="zh-CN" dirty="0"/>
              <a:t>50%</a:t>
            </a:r>
            <a:r>
              <a:rPr lang="zh-CN" altLang="en-US" dirty="0"/>
              <a:t>，这种优化方式可以减少一半由控制冒险带来的代价。</a:t>
            </a:r>
            <a:endParaRPr lang="en-US" altLang="zh-CN" dirty="0"/>
          </a:p>
          <a:p>
            <a:r>
              <a:rPr lang="zh-CN" altLang="en-US" dirty="0"/>
              <a:t>丢弃指令：只需要将初始控制值设置为</a:t>
            </a:r>
            <a:r>
              <a:rPr lang="en-US" altLang="zh-CN" dirty="0"/>
              <a:t>0</a:t>
            </a:r>
            <a:r>
              <a:rPr lang="zh-CN" altLang="en-US" dirty="0"/>
              <a:t>，将</a:t>
            </a:r>
            <a:r>
              <a:rPr lang="en-US" altLang="zh-CN" dirty="0"/>
              <a:t>IF</a:t>
            </a:r>
            <a:r>
              <a:rPr lang="zh-CN" altLang="en-US" dirty="0"/>
              <a:t>、</a:t>
            </a:r>
            <a:r>
              <a:rPr lang="en-US" altLang="zh-CN" dirty="0"/>
              <a:t>ID</a:t>
            </a:r>
            <a:r>
              <a:rPr lang="zh-CN" altLang="en-US" dirty="0"/>
              <a:t>和</a:t>
            </a:r>
            <a:r>
              <a:rPr lang="en-US" altLang="zh-CN" dirty="0"/>
              <a:t>EX</a:t>
            </a:r>
            <a:r>
              <a:rPr lang="zh-CN" altLang="en-US" dirty="0"/>
              <a:t>阶段中的指令都清除。</a:t>
            </a:r>
            <a:endParaRPr lang="en-US" altLang="zh-CN" dirty="0"/>
          </a:p>
          <a:p>
            <a:endParaRPr lang="en-US" altLang="zh-CN" dirty="0"/>
          </a:p>
          <a:p>
            <a:endParaRPr lang="en-US" altLang="zh-CN"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3686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3EB84347-347B-410C-8901-DAEDF01FE0DB}"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3686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368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19489FCB-CA97-4693-94F0-22BEC2D36CF5}" type="slidenum">
              <a:rPr lang="en-AU" altLang="en-US" sz="1300" smtClean="0">
                <a:latin typeface="Times New Roman" panose="02020603050405020304" pitchFamily="18" charset="0"/>
              </a:rPr>
              <a:t>70</a:t>
            </a:fld>
            <a:endParaRPr lang="en-AU" altLang="en-US" sz="1300">
              <a:latin typeface="Times New Roman" panose="02020603050405020304" pitchFamily="18" charset="0"/>
            </a:endParaRPr>
          </a:p>
        </p:txBody>
      </p:sp>
      <p:sp>
        <p:nvSpPr>
          <p:cNvPr id="36870" name="Rectangle 2"/>
          <p:cNvSpPr>
            <a:spLocks noGrp="1" noRot="1" noChangeAspect="1" noChangeArrowheads="1" noTextEdit="1"/>
          </p:cNvSpPr>
          <p:nvPr>
            <p:ph type="sldImg"/>
          </p:nvPr>
        </p:nvSpPr>
        <p:spPr/>
      </p:sp>
      <p:sp>
        <p:nvSpPr>
          <p:cNvPr id="368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如果想要将流水线中的条件分支指令提早的移动执行，需要两个操作提早发生。</a:t>
            </a:r>
            <a:endParaRPr lang="en-US" altLang="zh-CN" dirty="0"/>
          </a:p>
          <a:p>
            <a:r>
              <a:rPr lang="zh-CN" altLang="en-US" dirty="0"/>
              <a:t>将分支地址从</a:t>
            </a:r>
            <a:r>
              <a:rPr lang="en-US" altLang="zh-CN" dirty="0"/>
              <a:t>EX</a:t>
            </a:r>
            <a:r>
              <a:rPr lang="zh-CN" altLang="en-US" dirty="0"/>
              <a:t>阶段移动到</a:t>
            </a:r>
            <a:r>
              <a:rPr lang="en-US" altLang="zh-CN" dirty="0"/>
              <a:t>ID</a:t>
            </a:r>
            <a:r>
              <a:rPr lang="zh-CN" altLang="en-US" dirty="0"/>
              <a:t>阶段。</a:t>
            </a:r>
            <a:endParaRPr lang="en-US" altLang="zh-CN" dirty="0"/>
          </a:p>
          <a:p>
            <a:endParaRPr lang="en-US" alt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第五节。</a:t>
            </a:r>
            <a:endParaRPr lang="en-US" altLang="zh-CN" dirty="0"/>
          </a:p>
          <a:p>
            <a:r>
              <a:rPr lang="zh-CN" altLang="en-US" dirty="0"/>
              <a:t>分支地址的目标计算可以：将</a:t>
            </a:r>
            <a:r>
              <a:rPr lang="en-US" altLang="zh-CN" dirty="0"/>
              <a:t>EX</a:t>
            </a:r>
            <a:r>
              <a:rPr lang="zh-CN" altLang="en-US" dirty="0"/>
              <a:t>阶段的分支地址计算过程移动到</a:t>
            </a:r>
            <a:r>
              <a:rPr lang="en-US" altLang="zh-CN" dirty="0"/>
              <a:t>ID</a:t>
            </a:r>
            <a:r>
              <a:rPr lang="zh-CN" altLang="en-US" dirty="0"/>
              <a:t>阶段</a:t>
            </a:r>
            <a:endParaRPr lang="en-US" altLang="zh-CN" dirty="0"/>
          </a:p>
          <a:p>
            <a:r>
              <a:rPr lang="zh-CN" altLang="en-US" dirty="0"/>
              <a:t>比较困难的是“分支决定”本身。</a:t>
            </a:r>
            <a:endParaRPr lang="en-US" altLang="zh-CN" dirty="0"/>
          </a:p>
          <a:p>
            <a:r>
              <a:rPr lang="zh-CN" altLang="en-US" dirty="0"/>
              <a:t>对于</a:t>
            </a:r>
            <a:r>
              <a:rPr lang="en-US" altLang="zh-CN" dirty="0" err="1"/>
              <a:t>Beq</a:t>
            </a:r>
            <a:r>
              <a:rPr lang="zh-CN" altLang="en-US" dirty="0"/>
              <a:t>指令，其实比较简单，一个“异或”</a:t>
            </a:r>
            <a:r>
              <a:rPr lang="en-US" altLang="zh-CN" dirty="0"/>
              <a:t>+</a:t>
            </a:r>
            <a:r>
              <a:rPr lang="zh-CN" altLang="en-US" dirty="0"/>
              <a:t>“或”组合电路即可解决。</a:t>
            </a:r>
            <a:endParaRPr lang="en-US" altLang="zh-CN" dirty="0"/>
          </a:p>
          <a:p>
            <a:r>
              <a:rPr lang="en-US" altLang="zh-CN" dirty="0"/>
              <a:t>1</a:t>
            </a:r>
            <a:r>
              <a:rPr lang="zh-CN" altLang="en-US" dirty="0"/>
              <a:t>、在</a:t>
            </a:r>
            <a:r>
              <a:rPr lang="en-US" altLang="zh-CN" dirty="0"/>
              <a:t>ID</a:t>
            </a:r>
            <a:r>
              <a:rPr lang="zh-CN" altLang="en-US" dirty="0"/>
              <a:t>阶段需要将</a:t>
            </a:r>
            <a:endParaRPr lang="en-US" altLang="zh-CN" dirty="0"/>
          </a:p>
          <a:p>
            <a:r>
              <a:rPr lang="zh-CN" altLang="en-US" dirty="0"/>
              <a:t>如果一条</a:t>
            </a:r>
            <a:r>
              <a:rPr lang="en-US" altLang="zh-CN" dirty="0"/>
              <a:t>ALU</a:t>
            </a:r>
            <a:r>
              <a:rPr lang="zh-CN" altLang="en-US" dirty="0"/>
              <a:t>指令在分支指令之前，并且这条</a:t>
            </a:r>
            <a:r>
              <a:rPr lang="en-US" altLang="zh-CN" dirty="0"/>
              <a:t>ALU</a:t>
            </a:r>
            <a:r>
              <a:rPr lang="zh-CN" altLang="en-US" dirty="0"/>
              <a:t>指令产生条件分支检测时所需的操作数。那么一次指令停顿就是必须的。</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1200" b="1" dirty="0" err="1">
                <a:solidFill>
                  <a:srgbClr val="0000FF"/>
                </a:solidFill>
                <a:latin typeface="Times New Roman" panose="02020603050405020304" pitchFamily="18" charset="0"/>
                <a:cs typeface="Times New Roman" panose="02020603050405020304" pitchFamily="18" charset="0"/>
              </a:rPr>
              <a:t>IF.Flush</a:t>
            </a:r>
            <a:r>
              <a:rPr lang="zh-CN" altLang="en-US" sz="1200" b="0" dirty="0">
                <a:solidFill>
                  <a:schemeClr val="tx1"/>
                </a:solidFill>
                <a:latin typeface="+mn-lt"/>
                <a:cs typeface="+mn-cs"/>
              </a:rPr>
              <a:t>控制线：将</a:t>
            </a:r>
            <a:r>
              <a:rPr lang="en-US" altLang="zh-CN" sz="1200" b="0" dirty="0">
                <a:solidFill>
                  <a:schemeClr val="tx1"/>
                </a:solidFill>
                <a:latin typeface="+mn-lt"/>
                <a:cs typeface="+mn-cs"/>
              </a:rPr>
              <a:t>IF/ID</a:t>
            </a:r>
            <a:r>
              <a:rPr lang="zh-CN" altLang="en-US" sz="1200" b="0" dirty="0">
                <a:solidFill>
                  <a:schemeClr val="tx1"/>
                </a:solidFill>
                <a:latin typeface="+mn-lt"/>
                <a:cs typeface="+mn-cs"/>
              </a:rPr>
              <a:t>流水线寄存器中的指令字段设置为</a:t>
            </a:r>
            <a:r>
              <a:rPr lang="en-US" altLang="zh-CN" sz="1200" b="0" dirty="0">
                <a:solidFill>
                  <a:schemeClr val="tx1"/>
                </a:solidFill>
                <a:latin typeface="+mn-lt"/>
                <a:cs typeface="+mn-cs"/>
              </a:rPr>
              <a:t>0</a:t>
            </a:r>
            <a:r>
              <a:rPr lang="zh-CN" altLang="en-US" sz="1200" b="0" dirty="0">
                <a:solidFill>
                  <a:schemeClr val="tx1"/>
                </a:solidFill>
                <a:latin typeface="+mn-lt"/>
                <a:cs typeface="+mn-cs"/>
              </a:rPr>
              <a:t>，清除</a:t>
            </a:r>
            <a:r>
              <a:rPr lang="en-US" altLang="zh-CN" sz="1200" b="0" dirty="0">
                <a:solidFill>
                  <a:schemeClr val="tx1"/>
                </a:solidFill>
                <a:latin typeface="+mn-lt"/>
                <a:cs typeface="+mn-cs"/>
              </a:rPr>
              <a:t>IF</a:t>
            </a:r>
            <a:r>
              <a:rPr lang="zh-CN" altLang="en-US" sz="1200" b="0" dirty="0">
                <a:solidFill>
                  <a:schemeClr val="tx1"/>
                </a:solidFill>
                <a:latin typeface="+mn-lt"/>
                <a:cs typeface="+mn-cs"/>
              </a:rPr>
              <a:t>阶段的指令</a:t>
            </a:r>
            <a:r>
              <a:rPr lang="en-US" altLang="zh-CN" sz="1200" b="0" dirty="0">
                <a:solidFill>
                  <a:schemeClr val="tx1"/>
                </a:solidFill>
                <a:latin typeface="+mn-lt"/>
                <a:cs typeface="+mn-cs"/>
              </a:rPr>
              <a:t>.</a:t>
            </a:r>
            <a:r>
              <a:rPr lang="zh-CN" altLang="en-US" sz="1200" b="0" dirty="0">
                <a:solidFill>
                  <a:schemeClr val="tx1"/>
                </a:solidFill>
                <a:latin typeface="+mn-lt"/>
                <a:cs typeface="+mn-cs"/>
              </a:rPr>
              <a:t>这样已经取到的指令就会变成</a:t>
            </a:r>
            <a:r>
              <a:rPr lang="en-US" altLang="zh-CN" sz="1200" b="0" dirty="0" err="1">
                <a:solidFill>
                  <a:schemeClr val="tx1"/>
                </a:solidFill>
                <a:latin typeface="+mn-lt"/>
                <a:cs typeface="+mn-cs"/>
              </a:rPr>
              <a:t>nop</a:t>
            </a:r>
            <a:r>
              <a:rPr lang="zh-CN" altLang="en-US" sz="1200" b="0" dirty="0">
                <a:solidFill>
                  <a:schemeClr val="tx1"/>
                </a:solidFill>
                <a:latin typeface="+mn-lt"/>
                <a:cs typeface="+mn-cs"/>
              </a:rPr>
              <a:t>空指令。</a:t>
            </a:r>
            <a:endParaRPr lang="zh-CN" altLang="en-US" sz="1200" b="1" dirty="0">
              <a:solidFill>
                <a:srgbClr val="0000FF"/>
              </a:solidFill>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B2F71A34-5CF3-4368-A0E8-2F255278EC43}" type="slidenum">
              <a:rPr lang="zh-CN" altLang="en-US" smtClean="0"/>
              <a:t>71</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第五节。</a:t>
            </a:r>
          </a:p>
        </p:txBody>
      </p:sp>
      <p:sp>
        <p:nvSpPr>
          <p:cNvPr id="4" name="灯片编号占位符 3"/>
          <p:cNvSpPr>
            <a:spLocks noGrp="1"/>
          </p:cNvSpPr>
          <p:nvPr>
            <p:ph type="sldNum" sz="quarter" idx="5"/>
          </p:nvPr>
        </p:nvSpPr>
        <p:spPr/>
        <p:txBody>
          <a:bodyPr/>
          <a:lstStyle/>
          <a:p>
            <a:fld id="{B2F71A34-5CF3-4368-A0E8-2F255278EC43}" type="slidenum">
              <a:rPr lang="zh-CN" altLang="en-US" smtClean="0"/>
              <a:t>72</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43011"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797752AC-6ECB-4719-8885-E1E31B22CBF0}"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4301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430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C836596F-1236-452B-8433-26A2028AC6F5}" type="slidenum">
              <a:rPr lang="en-AU" altLang="en-US" sz="1300" smtClean="0">
                <a:latin typeface="Times New Roman" panose="02020603050405020304" pitchFamily="18" charset="0"/>
              </a:rPr>
              <a:t>73</a:t>
            </a:fld>
            <a:endParaRPr lang="en-AU" altLang="en-US" sz="1300">
              <a:latin typeface="Times New Roman" panose="02020603050405020304" pitchFamily="18" charset="0"/>
            </a:endParaRPr>
          </a:p>
        </p:txBody>
      </p:sp>
      <p:sp>
        <p:nvSpPr>
          <p:cNvPr id="43014" name="Rectangle 2"/>
          <p:cNvSpPr>
            <a:spLocks noGrp="1" noRot="1" noChangeAspect="1" noChangeArrowheads="1" noTextEdit="1"/>
          </p:cNvSpPr>
          <p:nvPr>
            <p:ph type="sldImg"/>
          </p:nvPr>
        </p:nvSpPr>
        <p:spPr/>
      </p:sp>
      <p:sp>
        <p:nvSpPr>
          <p:cNvPr id="430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假定条件分支不发生是一种简单的分支预测形式。在这种形式下，我们预测分支不发生，并在预测错误时清空流水线。对于简单的五级流水来说，这种方法结合基于编译的预测，基本足够。但是</a:t>
            </a:r>
            <a:r>
              <a:rPr lang="en-US" altLang="zh-CN" dirty="0"/>
              <a:t>…</a:t>
            </a:r>
          </a:p>
          <a:p>
            <a:endParaRPr lang="en-US" altLang="zh-CN" dirty="0"/>
          </a:p>
          <a:p>
            <a:r>
              <a:rPr lang="zh-CN" altLang="en-US" dirty="0"/>
              <a:t>动态分支预测：一种实现方式是检查指令中的地址，查看上一次，这条条件分支指令是否发生了跳转，如果答案是肯定的，则可以直接从上次执行的地址中取出指令。</a:t>
            </a:r>
            <a:endParaRPr lang="en-US" altLang="zh-CN" dirty="0"/>
          </a:p>
          <a:p>
            <a:endParaRPr lang="en-US" altLang="zh-CN" dirty="0"/>
          </a:p>
          <a:p>
            <a:endParaRPr lang="en-US" altLang="zh-CN"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4505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8741ED48-DFC0-40C7-8E38-F9FF461E71DE}"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4506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450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6BB44825-F3EE-417C-8A82-02A98D495073}" type="slidenum">
              <a:rPr lang="en-AU" altLang="en-US" sz="1300" smtClean="0">
                <a:latin typeface="Times New Roman" panose="02020603050405020304" pitchFamily="18" charset="0"/>
              </a:rPr>
              <a:t>74</a:t>
            </a:fld>
            <a:endParaRPr lang="en-AU" altLang="en-US" sz="1300">
              <a:latin typeface="Times New Roman" panose="02020603050405020304" pitchFamily="18" charset="0"/>
            </a:endParaRPr>
          </a:p>
        </p:txBody>
      </p:sp>
      <p:sp>
        <p:nvSpPr>
          <p:cNvPr id="45062" name="Rectangle 2"/>
          <p:cNvSpPr>
            <a:spLocks noGrp="1" noRot="1" noChangeAspect="1" noChangeArrowheads="1" noTextEdit="1"/>
          </p:cNvSpPr>
          <p:nvPr>
            <p:ph type="sldImg"/>
          </p:nvPr>
        </p:nvSpPr>
        <p:spPr/>
      </p:sp>
      <p:sp>
        <p:nvSpPr>
          <p:cNvPr id="4506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1</a:t>
            </a:r>
            <a:r>
              <a:rPr lang="zh-CN" altLang="en-US" dirty="0"/>
              <a:t>位的预测机制在性能上有一个缺点，即使一个条件分支总是发生跳转，但一旦其不发生跳转时，就会造成两次预测错误，而不是只造成一次错误。</a:t>
            </a:r>
            <a:endParaRPr lang="en-US" altLang="zh-CN" dirty="0"/>
          </a:p>
          <a:p>
            <a:r>
              <a:rPr lang="zh-CN" altLang="en-US" dirty="0"/>
              <a:t>有一个例子：考虑一个循环分支，它在一行代码中发生了</a:t>
            </a:r>
            <a:r>
              <a:rPr lang="en-US" altLang="zh-CN" dirty="0"/>
              <a:t>9</a:t>
            </a:r>
            <a:r>
              <a:rPr lang="zh-CN" altLang="en-US" dirty="0"/>
              <a:t>次跳转，之后产生</a:t>
            </a:r>
            <a:r>
              <a:rPr lang="en-US" altLang="zh-CN" dirty="0"/>
              <a:t>1</a:t>
            </a:r>
            <a:r>
              <a:rPr lang="zh-CN" altLang="en-US" dirty="0"/>
              <a:t>次未跳转，假定这个分支的预测位在预测缓存中，请计算这条分支指令的预测正确率，实际上他的预测正确率是</a:t>
            </a:r>
            <a:r>
              <a:rPr lang="en-US" altLang="zh-CN" dirty="0"/>
              <a:t>80%</a:t>
            </a:r>
            <a:r>
              <a:rPr lang="zh-CN" altLang="en-US" dirty="0"/>
              <a:t>，因为第一次稳定状态的预测行为会在第一次和最后一次预测循环中失败。</a:t>
            </a:r>
            <a:endParaRPr lang="en-US" altLang="zh-CN" dirty="0"/>
          </a:p>
          <a:p>
            <a:endParaRPr lang="en-US" altLang="zh-CN" dirty="0"/>
          </a:p>
          <a:p>
            <a:endParaRPr lang="en-US" altLang="zh-CN"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4710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FDF15289-6651-4E94-9860-A8E0889FFA45}"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4710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471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2CE3D618-8387-40F8-94AE-A1BE4C9C5DBF}" type="slidenum">
              <a:rPr lang="en-AU" altLang="en-US" sz="1300" smtClean="0">
                <a:latin typeface="Times New Roman" panose="02020603050405020304" pitchFamily="18" charset="0"/>
              </a:rPr>
              <a:t>75</a:t>
            </a:fld>
            <a:endParaRPr lang="en-AU" altLang="en-US" sz="1300">
              <a:latin typeface="Times New Roman" panose="02020603050405020304" pitchFamily="18" charset="0"/>
            </a:endParaRPr>
          </a:p>
        </p:txBody>
      </p:sp>
      <p:sp>
        <p:nvSpPr>
          <p:cNvPr id="47110" name="Rectangle 2"/>
          <p:cNvSpPr>
            <a:spLocks noGrp="1" noRot="1" noChangeAspect="1" noChangeArrowheads="1" noTextEdit="1"/>
          </p:cNvSpPr>
          <p:nvPr>
            <p:ph type="sldImg"/>
          </p:nvPr>
        </p:nvSpPr>
        <p:spPr/>
      </p:sp>
      <p:sp>
        <p:nvSpPr>
          <p:cNvPr id="471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理想状态下，对于规律性很强的分支来说，分支预测的准确率应该与分支发生的频率相匹配。</a:t>
            </a:r>
            <a:endParaRPr lang="en-US" altLang="zh-CN" dirty="0"/>
          </a:p>
          <a:p>
            <a:endParaRPr lang="en-US" altLang="en-US" dirty="0"/>
          </a:p>
          <a:p>
            <a:r>
              <a:rPr lang="zh-CN" altLang="en-US" dirty="0"/>
              <a:t>分支预测缓存可以被实现为一个小而专用的，可以被</a:t>
            </a:r>
            <a:r>
              <a:rPr lang="en-US" altLang="zh-CN" dirty="0"/>
              <a:t>IF</a:t>
            </a:r>
            <a:r>
              <a:rPr lang="zh-CN" altLang="en-US" dirty="0"/>
              <a:t>阶段的指令地址所访问的缓存。</a:t>
            </a:r>
            <a:endParaRPr lang="en-US" altLang="zh-CN" dirty="0"/>
          </a:p>
          <a:p>
            <a:endParaRPr lang="en-US" altLang="en-US" dirty="0"/>
          </a:p>
          <a:p>
            <a:r>
              <a:rPr lang="zh-CN" altLang="en-US"/>
              <a:t>假设</a:t>
            </a:r>
            <a:r>
              <a:rPr lang="zh-CN" altLang="en-US" dirty="0"/>
              <a:t>外循环一次内循环要</a:t>
            </a:r>
            <a:r>
              <a:rPr lang="en-US" altLang="zh-CN" dirty="0"/>
              <a:t>10</a:t>
            </a:r>
            <a:r>
              <a:rPr lang="zh-CN" altLang="en-US" dirty="0"/>
              <a:t>次，如果是</a:t>
            </a:r>
            <a:r>
              <a:rPr lang="en-US" altLang="zh-CN" dirty="0"/>
              <a:t>1bit</a:t>
            </a:r>
            <a:r>
              <a:rPr lang="zh-CN" altLang="en-US" dirty="0"/>
              <a:t>，就是</a:t>
            </a:r>
            <a:r>
              <a:rPr lang="en-US" altLang="zh-CN" dirty="0"/>
              <a:t>80%</a:t>
            </a:r>
            <a:r>
              <a:rPr lang="zh-CN" altLang="en-US" dirty="0"/>
              <a:t>的准确率，如果是</a:t>
            </a:r>
            <a:r>
              <a:rPr lang="en-US" altLang="zh-CN" dirty="0"/>
              <a:t>2bit</a:t>
            </a:r>
            <a:r>
              <a:rPr lang="zh-CN" altLang="en-US" dirty="0"/>
              <a:t>，是</a:t>
            </a:r>
            <a:r>
              <a:rPr lang="en-US" altLang="zh-CN" dirty="0"/>
              <a:t>90%</a:t>
            </a:r>
            <a:r>
              <a:rPr lang="zh-CN" altLang="en-US" dirty="0"/>
              <a:t>的准确率</a:t>
            </a:r>
            <a:endParaRPr lang="en-US" alt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49155"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B2B703A0-3D3D-4832-B789-1E1C14C6ECE1}" type="datetime3">
              <a:rPr lang="en-AU" altLang="en-US" sz="130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49156"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491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D2382E0E-3DF9-4185-AE67-9132D2921B40}" type="slidenum">
              <a:rPr lang="en-AU" altLang="en-US" sz="1300" smtClean="0">
                <a:latin typeface="Times New Roman" panose="02020603050405020304" pitchFamily="18" charset="0"/>
              </a:rPr>
              <a:t>76</a:t>
            </a:fld>
            <a:endParaRPr lang="en-AU" altLang="en-US" sz="1300">
              <a:latin typeface="Times New Roman" panose="02020603050405020304" pitchFamily="18" charset="0"/>
            </a:endParaRPr>
          </a:p>
        </p:txBody>
      </p:sp>
      <p:sp>
        <p:nvSpPr>
          <p:cNvPr id="49158" name="Rectangle 2"/>
          <p:cNvSpPr>
            <a:spLocks noGrp="1" noRot="1" noChangeAspect="1" noChangeArrowheads="1" noTextEdit="1"/>
          </p:cNvSpPr>
          <p:nvPr>
            <p:ph type="sldImg"/>
          </p:nvPr>
        </p:nvSpPr>
        <p:spPr/>
      </p:sp>
      <p:sp>
        <p:nvSpPr>
          <p:cNvPr id="4915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6147"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65CD8BB7-6D55-4C37-BB2C-77FF392127E5}" type="datetime3">
              <a:rPr lang="en-AU" altLang="en-US" sz="1300" smtClean="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6148"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61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403DE11A-3294-42D3-9F68-657ED4138CED}" type="slidenum">
              <a:rPr lang="en-AU" altLang="en-US" sz="1300" smtClean="0">
                <a:latin typeface="Times New Roman" panose="02020603050405020304" pitchFamily="18" charset="0"/>
              </a:rPr>
              <a:t>78</a:t>
            </a:fld>
            <a:endParaRPr lang="en-AU" altLang="en-US" sz="1300">
              <a:latin typeface="Times New Roman" panose="02020603050405020304" pitchFamily="18" charset="0"/>
            </a:endParaRPr>
          </a:p>
        </p:txBody>
      </p:sp>
      <p:sp>
        <p:nvSpPr>
          <p:cNvPr id="6150" name="Rectangle 2"/>
          <p:cNvSpPr>
            <a:spLocks noGrp="1" noRot="1" noChangeAspect="1" noChangeArrowheads="1" noTextEdit="1"/>
          </p:cNvSpPr>
          <p:nvPr>
            <p:ph type="sldImg"/>
          </p:nvPr>
        </p:nvSpPr>
        <p:spPr/>
      </p:sp>
      <p:sp>
        <p:nvSpPr>
          <p:cNvPr id="615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8195"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40718628-29F0-4262-A88A-CDFF0E45FB7E}" type="datetime3">
              <a:rPr lang="en-AU" altLang="en-US" sz="1300" smtClean="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8196"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81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A771431A-0BCA-4BCB-B53A-5FEC11B25E07}" type="slidenum">
              <a:rPr lang="en-AU" altLang="en-US" sz="1300" smtClean="0">
                <a:latin typeface="Times New Roman" panose="02020603050405020304" pitchFamily="18" charset="0"/>
              </a:rPr>
              <a:t>80</a:t>
            </a:fld>
            <a:endParaRPr lang="en-AU" altLang="en-US" sz="1300">
              <a:latin typeface="Times New Roman" panose="02020603050405020304" pitchFamily="18" charset="0"/>
            </a:endParaRPr>
          </a:p>
        </p:txBody>
      </p:sp>
      <p:sp>
        <p:nvSpPr>
          <p:cNvPr id="8198" name="Rectangle 2"/>
          <p:cNvSpPr>
            <a:spLocks noGrp="1" noRot="1" noChangeAspect="1" noChangeArrowheads="1" noTextEdit="1"/>
          </p:cNvSpPr>
          <p:nvPr>
            <p:ph type="sldImg"/>
          </p:nvPr>
        </p:nvSpPr>
        <p:spPr/>
      </p:sp>
      <p:sp>
        <p:nvSpPr>
          <p:cNvPr id="819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1024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6C13B9BC-D58E-4504-892B-98095DCE4BF1}" type="datetime3">
              <a:rPr lang="en-AU" altLang="en-US" sz="1300" smtClean="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1024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102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DB5A6150-1385-4252-88B8-300075CD2C4D}" type="slidenum">
              <a:rPr lang="en-AU" altLang="en-US" sz="1300" smtClean="0">
                <a:latin typeface="Times New Roman" panose="02020603050405020304" pitchFamily="18" charset="0"/>
              </a:rPr>
              <a:t>81</a:t>
            </a:fld>
            <a:endParaRPr lang="en-AU" altLang="en-US" sz="1300">
              <a:latin typeface="Times New Roman" panose="02020603050405020304" pitchFamily="18" charset="0"/>
            </a:endParaRPr>
          </a:p>
        </p:txBody>
      </p:sp>
      <p:sp>
        <p:nvSpPr>
          <p:cNvPr id="10246" name="Rectangle 2"/>
          <p:cNvSpPr>
            <a:spLocks noGrp="1" noRot="1" noChangeAspect="1" noChangeArrowheads="1" noTextEdit="1"/>
          </p:cNvSpPr>
          <p:nvPr>
            <p:ph type="sldImg"/>
          </p:nvPr>
        </p:nvSpPr>
        <p:spPr/>
      </p:sp>
      <p:sp>
        <p:nvSpPr>
          <p:cNvPr id="102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12291"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A54F66C1-DD9D-4B51-8D12-240DB4014DBA}" type="datetime3">
              <a:rPr lang="en-AU" altLang="en-US" sz="1300" smtClean="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12292"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122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5E56F39A-F362-4ADD-BE11-FE377A8EFB96}" type="slidenum">
              <a:rPr lang="en-AU" altLang="en-US" sz="1300" smtClean="0">
                <a:latin typeface="Times New Roman" panose="02020603050405020304" pitchFamily="18" charset="0"/>
              </a:rPr>
              <a:t>82</a:t>
            </a:fld>
            <a:endParaRPr lang="en-AU" altLang="en-US" sz="1300">
              <a:latin typeface="Times New Roman" panose="02020603050405020304" pitchFamily="18" charset="0"/>
            </a:endParaRPr>
          </a:p>
        </p:txBody>
      </p:sp>
      <p:sp>
        <p:nvSpPr>
          <p:cNvPr id="12294" name="Rectangle 2"/>
          <p:cNvSpPr>
            <a:spLocks noGrp="1" noRot="1" noChangeAspect="1" noChangeArrowheads="1" noTextEdit="1"/>
          </p:cNvSpPr>
          <p:nvPr>
            <p:ph type="sldImg"/>
          </p:nvPr>
        </p:nvSpPr>
        <p:spPr/>
      </p:sp>
      <p:sp>
        <p:nvSpPr>
          <p:cNvPr id="122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20483"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F01E8867-4F41-4354-A605-E471B83C4644}" type="datetime3">
              <a:rPr lang="en-AU" altLang="en-US" sz="1300" smtClean="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20484"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204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803B84B4-A398-477D-A8E5-DE487E85FF60}" type="slidenum">
              <a:rPr lang="en-AU" altLang="en-US" sz="1300" smtClean="0">
                <a:latin typeface="Times New Roman" panose="02020603050405020304" pitchFamily="18" charset="0"/>
              </a:rPr>
              <a:t>83</a:t>
            </a:fld>
            <a:endParaRPr lang="en-AU" altLang="en-US" sz="1300">
              <a:latin typeface="Times New Roman" panose="02020603050405020304" pitchFamily="18" charset="0"/>
            </a:endParaRPr>
          </a:p>
        </p:txBody>
      </p:sp>
      <p:sp>
        <p:nvSpPr>
          <p:cNvPr id="20486" name="Rectangle 2"/>
          <p:cNvSpPr>
            <a:spLocks noGrp="1" noRot="1" noChangeAspect="1" noChangeArrowheads="1" noTextEdit="1"/>
          </p:cNvSpPr>
          <p:nvPr>
            <p:ph type="sldImg"/>
          </p:nvPr>
        </p:nvSpPr>
        <p:spPr/>
      </p:sp>
      <p:sp>
        <p:nvSpPr>
          <p:cNvPr id="2048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1433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1633C754-5345-480C-9E8D-1FDE16E3CF2D}" type="datetime3">
              <a:rPr lang="en-AU" altLang="en-US" sz="1300" smtClean="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1434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143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73A93B30-A358-441A-8A79-4AA1ECF30E4C}" type="slidenum">
              <a:rPr lang="en-AU" altLang="en-US" sz="1300" smtClean="0">
                <a:latin typeface="Times New Roman" panose="02020603050405020304" pitchFamily="18" charset="0"/>
              </a:rPr>
              <a:t>84</a:t>
            </a:fld>
            <a:endParaRPr lang="en-AU" altLang="en-US" sz="1300">
              <a:latin typeface="Times New Roman" panose="02020603050405020304" pitchFamily="18" charset="0"/>
            </a:endParaRPr>
          </a:p>
        </p:txBody>
      </p:sp>
      <p:sp>
        <p:nvSpPr>
          <p:cNvPr id="14342" name="Rectangle 2"/>
          <p:cNvSpPr>
            <a:spLocks noGrp="1" noRot="1" noChangeAspect="1" noChangeArrowheads="1" noTextEdit="1"/>
          </p:cNvSpPr>
          <p:nvPr>
            <p:ph type="sldImg"/>
          </p:nvPr>
        </p:nvSpPr>
        <p:spPr/>
      </p:sp>
      <p:sp>
        <p:nvSpPr>
          <p:cNvPr id="143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2F71A34-5CF3-4368-A0E8-2F255278EC43}" type="slidenum">
              <a:rPr lang="zh-CN" altLang="en-US" smtClean="0"/>
              <a:t>85</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a:t>
            </a:r>
            <a:r>
              <a:rPr lang="en-US" altLang="zh-CN" dirty="0"/>
              <a:t>clock6</a:t>
            </a:r>
            <a:r>
              <a:rPr lang="zh-CN" altLang="en-US" dirty="0"/>
              <a:t>，检测到处于</a:t>
            </a:r>
            <a:r>
              <a:rPr lang="en-US" altLang="zh-CN" dirty="0"/>
              <a:t>EX</a:t>
            </a:r>
            <a:r>
              <a:rPr lang="zh-CN" altLang="en-US" dirty="0"/>
              <a:t>阶段的</a:t>
            </a:r>
            <a:r>
              <a:rPr lang="en-US" altLang="zh-CN" dirty="0"/>
              <a:t>add</a:t>
            </a:r>
            <a:r>
              <a:rPr lang="zh-CN" altLang="en-US" dirty="0"/>
              <a:t>指令发生例外，保存</a:t>
            </a:r>
            <a:r>
              <a:rPr lang="en-US" altLang="zh-CN" dirty="0"/>
              <a:t>add</a:t>
            </a:r>
            <a:r>
              <a:rPr lang="zh-CN" altLang="en-US" dirty="0"/>
              <a:t>指令地址</a:t>
            </a:r>
            <a:r>
              <a:rPr lang="en-US" altLang="zh-CN" dirty="0"/>
              <a:t>4C</a:t>
            </a:r>
            <a:r>
              <a:rPr lang="zh-CN" altLang="en-US" dirty="0"/>
              <a:t>到</a:t>
            </a:r>
            <a:r>
              <a:rPr lang="en-US" altLang="zh-CN" dirty="0"/>
              <a:t>SEPC</a:t>
            </a:r>
            <a:r>
              <a:rPr lang="zh-CN" altLang="en-US" dirty="0"/>
              <a:t>，所有</a:t>
            </a:r>
            <a:r>
              <a:rPr lang="en-US" altLang="zh-CN" dirty="0"/>
              <a:t>flush</a:t>
            </a:r>
            <a:r>
              <a:rPr lang="zh-CN" altLang="en-US" dirty="0"/>
              <a:t>信号重置，所有控制信号置</a:t>
            </a:r>
            <a:r>
              <a:rPr lang="en-US" altLang="zh-CN" dirty="0"/>
              <a:t>0.</a:t>
            </a:r>
          </a:p>
        </p:txBody>
      </p:sp>
      <p:sp>
        <p:nvSpPr>
          <p:cNvPr id="4" name="灯片编号占位符 3"/>
          <p:cNvSpPr>
            <a:spLocks noGrp="1"/>
          </p:cNvSpPr>
          <p:nvPr>
            <p:ph type="sldNum" sz="quarter" idx="5"/>
          </p:nvPr>
        </p:nvSpPr>
        <p:spPr/>
        <p:txBody>
          <a:bodyPr/>
          <a:lstStyle/>
          <a:p>
            <a:fld id="{B2F71A34-5CF3-4368-A0E8-2F255278EC43}" type="slidenum">
              <a:rPr lang="zh-CN" altLang="en-US" smtClean="0"/>
              <a:t>86</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clock7 </a:t>
            </a:r>
            <a:r>
              <a:rPr lang="zh-CN" altLang="en-US" dirty="0"/>
              <a:t>在流水线中插入气泡，从例外处理例程入口开始取第一条指令。  在</a:t>
            </a:r>
            <a:r>
              <a:rPr lang="en-US" altLang="zh-CN" dirty="0"/>
              <a:t>add</a:t>
            </a:r>
            <a:r>
              <a:rPr lang="zh-CN" altLang="en-US" dirty="0"/>
              <a:t>指令前的指令要完成。</a:t>
            </a:r>
          </a:p>
        </p:txBody>
      </p:sp>
      <p:sp>
        <p:nvSpPr>
          <p:cNvPr id="4" name="灯片编号占位符 3"/>
          <p:cNvSpPr>
            <a:spLocks noGrp="1"/>
          </p:cNvSpPr>
          <p:nvPr>
            <p:ph type="sldNum" sz="quarter" idx="5"/>
          </p:nvPr>
        </p:nvSpPr>
        <p:spPr/>
        <p:txBody>
          <a:bodyPr/>
          <a:lstStyle/>
          <a:p>
            <a:fld id="{B2F71A34-5CF3-4368-A0E8-2F255278EC43}" type="slidenum">
              <a:rPr lang="zh-CN" altLang="en-US" smtClean="0"/>
              <a:t>87</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14339" name="Rectangle 3"/>
          <p:cNvSpPr>
            <a:spLocks noGrp="1" noChangeArrowheads="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1633C754-5345-480C-9E8D-1FDE16E3CF2D}" type="datetime3">
              <a:rPr lang="en-AU" altLang="en-US" sz="1300" smtClean="0">
                <a:latin typeface="Times New Roman" panose="02020603050405020304" pitchFamily="18" charset="0"/>
              </a:rPr>
              <a:t>21 April, 2026</a:t>
            </a:fld>
            <a:endParaRPr lang="en-AU" altLang="en-US" sz="1300">
              <a:latin typeface="Times New Roman" panose="02020603050405020304" pitchFamily="18" charset="0"/>
            </a:endParaRPr>
          </a:p>
        </p:txBody>
      </p:sp>
      <p:sp>
        <p:nvSpPr>
          <p:cNvPr id="14340"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143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7105">
              <a:defRPr sz="1600">
                <a:solidFill>
                  <a:schemeClr val="tx1"/>
                </a:solidFill>
                <a:latin typeface="Arial" panose="020B0604020202020204" pitchFamily="34" charset="0"/>
              </a:defRPr>
            </a:lvl1pPr>
            <a:lvl2pPr marL="742950" indent="-285750" defTabSz="967105">
              <a:defRPr sz="1600">
                <a:solidFill>
                  <a:schemeClr val="tx1"/>
                </a:solidFill>
                <a:latin typeface="Arial" panose="020B0604020202020204" pitchFamily="34" charset="0"/>
              </a:defRPr>
            </a:lvl2pPr>
            <a:lvl3pPr marL="1143000" indent="-228600" defTabSz="967105">
              <a:defRPr sz="1600">
                <a:solidFill>
                  <a:schemeClr val="tx1"/>
                </a:solidFill>
                <a:latin typeface="Arial" panose="020B0604020202020204" pitchFamily="34" charset="0"/>
              </a:defRPr>
            </a:lvl3pPr>
            <a:lvl4pPr marL="1600200" indent="-228600" defTabSz="967105">
              <a:defRPr sz="1600">
                <a:solidFill>
                  <a:schemeClr val="tx1"/>
                </a:solidFill>
                <a:latin typeface="Arial" panose="020B0604020202020204" pitchFamily="34" charset="0"/>
              </a:defRPr>
            </a:lvl4pPr>
            <a:lvl5pPr marL="2057400" indent="-228600" defTabSz="967105">
              <a:defRPr sz="1600">
                <a:solidFill>
                  <a:schemeClr val="tx1"/>
                </a:solidFill>
                <a:latin typeface="Arial" panose="020B0604020202020204" pitchFamily="34" charset="0"/>
              </a:defRPr>
            </a:lvl5pPr>
            <a:lvl6pPr marL="2514600" indent="-228600" defTabSz="967105"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7105"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7105"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7105" eaLnBrk="0" fontAlgn="base" hangingPunct="0">
              <a:spcBef>
                <a:spcPct val="0"/>
              </a:spcBef>
              <a:spcAft>
                <a:spcPct val="0"/>
              </a:spcAft>
              <a:defRPr sz="1600">
                <a:solidFill>
                  <a:schemeClr val="tx1"/>
                </a:solidFill>
                <a:latin typeface="Arial" panose="020B0604020202020204" pitchFamily="34" charset="0"/>
              </a:defRPr>
            </a:lvl9pPr>
          </a:lstStyle>
          <a:p>
            <a:fld id="{73A93B30-A358-441A-8A79-4AA1ECF30E4C}" type="slidenum">
              <a:rPr lang="en-AU" altLang="en-US" sz="1300" smtClean="0">
                <a:latin typeface="Times New Roman" panose="02020603050405020304" pitchFamily="18" charset="0"/>
              </a:rPr>
              <a:t>88</a:t>
            </a:fld>
            <a:endParaRPr lang="en-AU" altLang="en-US" sz="1300">
              <a:latin typeface="Times New Roman" panose="02020603050405020304" pitchFamily="18" charset="0"/>
            </a:endParaRPr>
          </a:p>
        </p:txBody>
      </p:sp>
      <p:sp>
        <p:nvSpPr>
          <p:cNvPr id="14342" name="Rectangle 2"/>
          <p:cNvSpPr>
            <a:spLocks noGrp="1" noRot="1" noChangeAspect="1" noChangeArrowheads="1" noTextEdit="1"/>
          </p:cNvSpPr>
          <p:nvPr>
            <p:ph type="sldImg"/>
          </p:nvPr>
        </p:nvSpPr>
        <p:spPr/>
      </p:sp>
      <p:sp>
        <p:nvSpPr>
          <p:cNvPr id="1434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目录">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标题 1"/>
          <p:cNvSpPr>
            <a:spLocks noGrp="1"/>
          </p:cNvSpPr>
          <p:nvPr>
            <p:ph type="title"/>
          </p:nvPr>
        </p:nvSpPr>
        <p:spPr>
          <a:xfrm>
            <a:off x="838200" y="365125"/>
            <a:ext cx="10515600" cy="1179830"/>
          </a:xfrm>
        </p:spPr>
        <p:txBody>
          <a:bodyPr/>
          <a:lstStyle/>
          <a:p>
            <a:r>
              <a:rPr lang="zh-CN" altLang="en-US"/>
              <a:t>单击此处编辑母版标题样式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r>
              <a:rPr lang="zh-CN" altLang="en-US"/>
              <a:t> </a:t>
            </a:r>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r>
              <a:rPr lang="en-US" altLang="zh-CN"/>
              <a:t>Chapter 4 — The Processor — 79</a:t>
            </a:r>
            <a:endParaRPr lang="zh-CN" altLang="en-US" dirty="0"/>
          </a:p>
        </p:txBody>
      </p:sp>
      <p:sp>
        <p:nvSpPr>
          <p:cNvPr id="6" name="灯片编号占位符 5"/>
          <p:cNvSpPr>
            <a:spLocks noGrp="1"/>
          </p:cNvSpPr>
          <p:nvPr>
            <p:ph type="sldNum" sz="quarter" idx="12"/>
          </p:nvPr>
        </p:nvSpPr>
        <p:spPr/>
        <p:txBody>
          <a:bodyPr/>
          <a:lstStyle/>
          <a:p>
            <a:fld id="{8EE8E787-E6FE-45D8-9039-788B45E44EE7}" type="slidenum">
              <a:rPr lang="zh-CN" altLang="en-US" smtClean="0"/>
              <a:t>‹#›</a:t>
            </a:fld>
            <a:endParaRPr lang="zh-CN" altLang="en-US" dirty="0"/>
          </a:p>
        </p:txBody>
      </p:sp>
      <p:sp>
        <p:nvSpPr>
          <p:cNvPr id="7" name="五边形 6"/>
          <p:cNvSpPr/>
          <p:nvPr userDrawn="1"/>
        </p:nvSpPr>
        <p:spPr>
          <a:xfrm flipH="1">
            <a:off x="838199" y="1387158"/>
            <a:ext cx="10515600" cy="72000"/>
          </a:xfrm>
          <a:prstGeom prst="homePlate">
            <a:avLst>
              <a:gd name="adj" fmla="val 20000"/>
            </a:avLst>
          </a:prstGeom>
          <a:solidFill>
            <a:srgbClr val="003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cs typeface="+mn-ea"/>
              <a:sym typeface="+mn-l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普通">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009015"/>
            <a:ext cx="10515600" cy="5263515"/>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2" name="标题 1"/>
          <p:cNvSpPr>
            <a:spLocks noGrp="1"/>
          </p:cNvSpPr>
          <p:nvPr>
            <p:ph type="title" hasCustomPrompt="1"/>
          </p:nvPr>
        </p:nvSpPr>
        <p:spPr>
          <a:xfrm>
            <a:off x="838200" y="151765"/>
            <a:ext cx="10515600" cy="605790"/>
          </a:xfrm>
        </p:spPr>
        <p:txBody>
          <a:bodyPr>
            <a:noAutofit/>
          </a:bodyPr>
          <a:lstStyle>
            <a:lvl1pPr>
              <a:defRPr sz="4400"/>
            </a:lvl1pPr>
          </a:lstStyle>
          <a:p>
            <a:r>
              <a:rPr lang="zh-CN" altLang="en-US" dirty="0"/>
              <a:t>单击此处编辑文字内容样式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r>
              <a:rPr lang="zh-CN" altLang="en-US"/>
              <a:t> </a:t>
            </a:r>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r>
              <a:rPr lang="en-US" altLang="zh-CN"/>
              <a:t>Chapter 4 — The Processor — 79</a:t>
            </a:r>
            <a:endParaRPr lang="zh-CN" altLang="en-US" dirty="0"/>
          </a:p>
        </p:txBody>
      </p:sp>
      <p:sp>
        <p:nvSpPr>
          <p:cNvPr id="6" name="灯片编号占位符 5"/>
          <p:cNvSpPr>
            <a:spLocks noGrp="1"/>
          </p:cNvSpPr>
          <p:nvPr>
            <p:ph type="sldNum" sz="quarter" idx="12"/>
          </p:nvPr>
        </p:nvSpPr>
        <p:spPr/>
        <p:txBody>
          <a:bodyPr/>
          <a:lstStyle>
            <a:lvl1pPr>
              <a:defRPr>
                <a:solidFill>
                  <a:schemeClr val="tx1"/>
                </a:solidFill>
              </a:defRPr>
            </a:lvl1pPr>
          </a:lstStyle>
          <a:p>
            <a:fld id="{8EE8E787-E6FE-45D8-9039-788B45E44EE7}" type="slidenum">
              <a:rPr lang="zh-CN" altLang="en-US" smtClean="0"/>
              <a:t>‹#›</a:t>
            </a:fld>
            <a:endParaRPr lang="zh-CN" altLang="en-US" dirty="0"/>
          </a:p>
        </p:txBody>
      </p:sp>
      <p:sp>
        <p:nvSpPr>
          <p:cNvPr id="7" name="五边形 6"/>
          <p:cNvSpPr/>
          <p:nvPr userDrawn="1"/>
        </p:nvSpPr>
        <p:spPr>
          <a:xfrm flipH="1">
            <a:off x="838199" y="829908"/>
            <a:ext cx="10515600" cy="72000"/>
          </a:xfrm>
          <a:prstGeom prst="homePlate">
            <a:avLst>
              <a:gd name="adj" fmla="val 20000"/>
            </a:avLst>
          </a:prstGeom>
          <a:solidFill>
            <a:srgbClr val="003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cs typeface="+mn-ea"/>
              <a:sym typeface="+mn-l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左文（多）右图">
    <p:spTree>
      <p:nvGrpSpPr>
        <p:cNvPr id="1" name=""/>
        <p:cNvGrpSpPr/>
        <p:nvPr/>
      </p:nvGrpSpPr>
      <p:grpSpPr>
        <a:xfrm>
          <a:off x="0" y="0"/>
          <a:ext cx="0" cy="0"/>
          <a:chOff x="0" y="0"/>
          <a:chExt cx="0" cy="0"/>
        </a:xfrm>
      </p:grpSpPr>
      <p:sp>
        <p:nvSpPr>
          <p:cNvPr id="2" name="标题 1"/>
          <p:cNvSpPr>
            <a:spLocks noGrp="1"/>
          </p:cNvSpPr>
          <p:nvPr>
            <p:ph type="title"/>
          </p:nvPr>
        </p:nvSpPr>
        <p:spPr>
          <a:xfrm>
            <a:off x="838200" y="327026"/>
            <a:ext cx="10515600" cy="751156"/>
          </a:xfrm>
        </p:spPr>
        <p:txBody>
          <a:bodyPr/>
          <a:lstStyle/>
          <a:p>
            <a:r>
              <a:rPr lang="zh-CN" altLang="en-US"/>
              <a:t>单击此处编辑母版标题样式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r>
              <a:rPr lang="zh-CN" altLang="en-US"/>
              <a:t> </a:t>
            </a:r>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r>
              <a:rPr lang="en-US" altLang="zh-CN"/>
              <a:t>Chapter 4 — The Processor — 79</a:t>
            </a:r>
            <a:endParaRPr lang="zh-CN" altLang="en-US" dirty="0"/>
          </a:p>
        </p:txBody>
      </p:sp>
      <p:sp>
        <p:nvSpPr>
          <p:cNvPr id="6" name="灯片编号占位符 5"/>
          <p:cNvSpPr>
            <a:spLocks noGrp="1"/>
          </p:cNvSpPr>
          <p:nvPr>
            <p:ph type="sldNum" sz="quarter" idx="12"/>
          </p:nvPr>
        </p:nvSpPr>
        <p:spPr/>
        <p:txBody>
          <a:bodyPr/>
          <a:lstStyle>
            <a:lvl1pPr>
              <a:defRPr>
                <a:solidFill>
                  <a:schemeClr val="tx1"/>
                </a:solidFill>
              </a:defRPr>
            </a:lvl1pPr>
          </a:lstStyle>
          <a:p>
            <a:fld id="{8EE8E787-E6FE-45D8-9039-788B45E44EE7}" type="slidenum">
              <a:rPr lang="zh-CN" altLang="en-US" smtClean="0"/>
              <a:t>‹#›</a:t>
            </a:fld>
            <a:endParaRPr lang="zh-CN" altLang="en-US" dirty="0"/>
          </a:p>
        </p:txBody>
      </p:sp>
      <p:sp>
        <p:nvSpPr>
          <p:cNvPr id="7" name="五边形 6"/>
          <p:cNvSpPr/>
          <p:nvPr userDrawn="1"/>
        </p:nvSpPr>
        <p:spPr>
          <a:xfrm flipH="1" flipV="1">
            <a:off x="838200" y="1111250"/>
            <a:ext cx="10515600" cy="72000"/>
          </a:xfrm>
          <a:prstGeom prst="homePlate">
            <a:avLst>
              <a:gd name="adj" fmla="val 20000"/>
            </a:avLst>
          </a:prstGeom>
          <a:solidFill>
            <a:srgbClr val="0033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cs typeface="+mn-ea"/>
              <a:sym typeface="+mn-lt"/>
            </a:endParaRPr>
          </a:p>
        </p:txBody>
      </p:sp>
      <p:sp>
        <p:nvSpPr>
          <p:cNvPr id="9" name="图片占位符 8"/>
          <p:cNvSpPr>
            <a:spLocks noGrp="1"/>
          </p:cNvSpPr>
          <p:nvPr>
            <p:ph type="pic" sz="quarter" idx="13"/>
          </p:nvPr>
        </p:nvSpPr>
        <p:spPr>
          <a:xfrm>
            <a:off x="7239000" y="1271905"/>
            <a:ext cx="4114800" cy="4890770"/>
          </a:xfrm>
        </p:spPr>
        <p:txBody>
          <a:bodyPr/>
          <a:lstStyle/>
          <a:p>
            <a:endParaRPr lang="zh-CN" altLang="en-US"/>
          </a:p>
        </p:txBody>
      </p:sp>
      <p:sp>
        <p:nvSpPr>
          <p:cNvPr id="11" name="文本占位符 10"/>
          <p:cNvSpPr>
            <a:spLocks noGrp="1"/>
          </p:cNvSpPr>
          <p:nvPr>
            <p:ph type="body" sz="quarter" idx="14"/>
          </p:nvPr>
        </p:nvSpPr>
        <p:spPr>
          <a:xfrm>
            <a:off x="838200" y="1271905"/>
            <a:ext cx="6168390" cy="489077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r>
              <a:rPr lang="zh-CN" altLang="en-US"/>
              <a:t> </a:t>
            </a:r>
            <a:endParaRPr lang="zh-CN" altLang="en-US" dirty="0"/>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r>
              <a:rPr lang="en-US" altLang="zh-CN"/>
              <a:t>Chapter 4 — The Processor — 79</a:t>
            </a:r>
            <a:endParaRPr lang="zh-CN" altLang="en-US"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13"/>
          <p:cNvSpPr>
            <a:spLocks noGrp="1" noChangeArrowheads="1"/>
          </p:cNvSpPr>
          <p:nvPr>
            <p:ph type="dt" sz="half" idx="10"/>
          </p:nvPr>
        </p:nvSpPr>
        <p:spPr/>
        <p:txBody>
          <a:bodyPr/>
          <a:lstStyle>
            <a:lvl1pPr>
              <a:defRPr/>
            </a:lvl1pPr>
          </a:lstStyle>
          <a:p>
            <a:pPr>
              <a:defRPr/>
            </a:pPr>
            <a:fld id="{B7D22AB1-BFF8-499F-8443-9B2E7839B4F0}" type="datetime1">
              <a:rPr lang="zh-CN" altLang="en-US" smtClean="0">
                <a:solidFill>
                  <a:srgbClr val="1F497D"/>
                </a:solidFill>
              </a:rPr>
              <a:t>2026/4/21</a:t>
            </a:fld>
            <a:endParaRPr lang="zh-CN" altLang="en-US">
              <a:solidFill>
                <a:srgbClr val="1F497D"/>
              </a:solidFill>
            </a:endParaRPr>
          </a:p>
        </p:txBody>
      </p:sp>
      <p:sp>
        <p:nvSpPr>
          <p:cNvPr id="4" name="页脚占位符 2"/>
          <p:cNvSpPr>
            <a:spLocks noGrp="1" noChangeArrowheads="1"/>
          </p:cNvSpPr>
          <p:nvPr>
            <p:ph type="ftr" sz="quarter" idx="11"/>
          </p:nvPr>
        </p:nvSpPr>
        <p:spPr/>
        <p:txBody>
          <a:bodyPr/>
          <a:lstStyle>
            <a:lvl1pPr>
              <a:defRPr/>
            </a:lvl1pPr>
          </a:lstStyle>
          <a:p>
            <a:pPr>
              <a:defRPr/>
            </a:pPr>
            <a:endParaRPr lang="zh-CN" altLang="en-US">
              <a:solidFill>
                <a:srgbClr val="1F497D"/>
              </a:solidFill>
            </a:endParaRPr>
          </a:p>
        </p:txBody>
      </p:sp>
      <p:sp>
        <p:nvSpPr>
          <p:cNvPr id="5" name="灯片编号占位符 22"/>
          <p:cNvSpPr>
            <a:spLocks noGrp="1" noChangeArrowheads="1"/>
          </p:cNvSpPr>
          <p:nvPr>
            <p:ph type="sldNum" sz="quarter" idx="12"/>
          </p:nvPr>
        </p:nvSpPr>
        <p:spPr/>
        <p:txBody>
          <a:bodyPr/>
          <a:lstStyle>
            <a:lvl1pPr>
              <a:defRPr/>
            </a:lvl1pPr>
          </a:lstStyle>
          <a:p>
            <a:pPr>
              <a:defRPr/>
            </a:pPr>
            <a:fld id="{3BCA681B-4702-CB4A-9A29-560E57031AB1}" type="slidenum">
              <a:rPr lang="en-US" altLang="zh-CN">
                <a:solidFill>
                  <a:srgbClr val="1F497D"/>
                </a:solidFill>
              </a:rPr>
              <a:t>‹#›</a:t>
            </a:fld>
            <a:endParaRPr lang="zh-CN" altLang="en-US">
              <a:solidFill>
                <a:srgbClr val="1F497D"/>
              </a:solidFill>
            </a:endParaRPr>
          </a:p>
        </p:txBody>
      </p:sp>
      <p:sp>
        <p:nvSpPr>
          <p:cNvPr id="6" name="直接连接符 28"/>
          <p:cNvSpPr>
            <a:spLocks noChangeShapeType="1"/>
          </p:cNvSpPr>
          <p:nvPr userDrawn="1"/>
        </p:nvSpPr>
        <p:spPr bwMode="auto">
          <a:xfrm>
            <a:off x="609600" y="1143000"/>
            <a:ext cx="10972800" cy="0"/>
          </a:xfrm>
          <a:prstGeom prst="line">
            <a:avLst/>
          </a:prstGeom>
          <a:noFill/>
          <a:ln w="9525">
            <a:solidFill>
              <a:schemeClr val="accent2"/>
            </a:solidFill>
            <a:prstDash val="dash"/>
            <a:rou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1800">
              <a:solidFill>
                <a:prstClr val="black"/>
              </a:solidFill>
              <a:latin typeface="Arial" panose="020B0604020202020204" pitchFamily="34" charset="0"/>
              <a:ea typeface="宋体" panose="02010600030101010101" pitchFamily="2" charset="-122"/>
              <a:cs typeface="宋体" panose="0201060003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34645"/>
            <a:ext cx="10515600" cy="79502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339215"/>
            <a:ext cx="10515600" cy="494411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olidFill>
              </a:defRPr>
            </a:lvl1pPr>
          </a:lstStyle>
          <a:p>
            <a:r>
              <a:rPr lang="zh-CN" altLang="en-US"/>
              <a:t> </a:t>
            </a:r>
            <a:endParaRPr lang="en-US" altLang="zh-CN"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a:t>Chapter 4 — The Processor — 79</a:t>
            </a:r>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defRPr>
            </a:lvl1pPr>
          </a:lstStyle>
          <a:p>
            <a:fld id="{8EE8E787-E6FE-45D8-9039-788B45E44EE7}"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ctr" defTabSz="914400" rtl="0" eaLnBrk="1" latinLnBrk="0" hangingPunct="1">
        <a:lnSpc>
          <a:spcPct val="90000"/>
        </a:lnSpc>
        <a:spcBef>
          <a:spcPct val="0"/>
        </a:spcBef>
        <a:buNone/>
        <a:defRPr sz="4400" kern="1200">
          <a:solidFill>
            <a:schemeClr val="tx1"/>
          </a:solidFill>
          <a:latin typeface="宋体" panose="02010600030101010101" pitchFamily="2" charset="-122"/>
          <a:ea typeface="宋体" panose="02010600030101010101" pitchFamily="2" charset="-122"/>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3200" kern="1200">
          <a:solidFill>
            <a:schemeClr val="tx1"/>
          </a:solidFill>
          <a:latin typeface="宋体" panose="02010600030101010101" pitchFamily="2" charset="-122"/>
          <a:ea typeface="宋体" panose="02010600030101010101" pitchFamily="2" charset="-122"/>
          <a:cs typeface="+mn-cs"/>
        </a:defRPr>
      </a:lvl1pPr>
      <a:lvl2pPr marL="685800" indent="-228600" algn="l" defTabSz="914400" rtl="0" eaLnBrk="1" latinLnBrk="0" hangingPunct="1">
        <a:lnSpc>
          <a:spcPct val="100000"/>
        </a:lnSpc>
        <a:spcBef>
          <a:spcPts val="500"/>
        </a:spcBef>
        <a:buClr>
          <a:schemeClr val="accent1"/>
        </a:buClr>
        <a:buFont typeface="Arial" panose="020B0604020202020204" pitchFamily="34" charset="0"/>
        <a:buChar char="•"/>
        <a:defRPr sz="2800" kern="1200">
          <a:solidFill>
            <a:schemeClr val="tx1"/>
          </a:solidFill>
          <a:latin typeface="宋体" panose="02010600030101010101" pitchFamily="2" charset="-122"/>
          <a:ea typeface="宋体" panose="02010600030101010101" pitchFamily="2" charset="-122"/>
          <a:cs typeface="+mn-cs"/>
        </a:defRPr>
      </a:lvl2pPr>
      <a:lvl3pPr marL="1143000" indent="-228600" algn="l" defTabSz="914400" rtl="0" eaLnBrk="1" latinLnBrk="0" hangingPunct="1">
        <a:lnSpc>
          <a:spcPct val="100000"/>
        </a:lnSpc>
        <a:spcBef>
          <a:spcPts val="500"/>
        </a:spcBef>
        <a:buClr>
          <a:schemeClr val="accent6">
            <a:lumMod val="75000"/>
          </a:schemeClr>
        </a:buClr>
        <a:buFont typeface="Arial" panose="020B0604020202020204" pitchFamily="34" charset="0"/>
        <a:buChar char="•"/>
        <a:defRPr sz="2400" kern="1200">
          <a:solidFill>
            <a:schemeClr val="tx1"/>
          </a:solidFill>
          <a:latin typeface="宋体" panose="02010600030101010101" pitchFamily="2" charset="-122"/>
          <a:ea typeface="宋体" panose="02010600030101010101" pitchFamily="2" charset="-122"/>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宋体" panose="02010600030101010101" pitchFamily="2" charset="-122"/>
          <a:ea typeface="宋体" panose="02010600030101010101" pitchFamily="2" charset="-122"/>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宋体" panose="02010600030101010101" pitchFamily="2" charset="-122"/>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huazhongyun.github.io/" TargetMode="External"/><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1.png"/><Relationship Id="rId4" Type="http://schemas.openxmlformats.org/officeDocument/2006/relationships/hyperlink" Target="http://faculty.hitsz.edu.cn/huazhongyu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2.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5" name="矩形 3"/>
          <p:cNvSpPr/>
          <p:nvPr/>
        </p:nvSpPr>
        <p:spPr>
          <a:xfrm>
            <a:off x="3042892" y="598427"/>
            <a:ext cx="6840538" cy="1106805"/>
          </a:xfrm>
          <a:prstGeom prst="rect">
            <a:avLst/>
          </a:prstGeom>
          <a:noFill/>
          <a:ln w="9525">
            <a:noFill/>
          </a:ln>
        </p:spPr>
        <p:txBody>
          <a:bodyPr>
            <a:spAutoFit/>
          </a:bodyPr>
          <a:lstStyle>
            <a:lvl1pPr marL="342900" indent="-342900" algn="l" rtl="0" eaLnBrk="1" fontAlgn="base" hangingPunct="1">
              <a:spcBef>
                <a:spcPct val="20000"/>
              </a:spcBef>
              <a:spcAft>
                <a:spcPct val="0"/>
              </a:spcAft>
              <a:buClr>
                <a:schemeClr val="accent2"/>
              </a:buClr>
              <a:buSzPct val="80000"/>
              <a:buFont typeface="Wingdings" panose="05000000000000000000" pitchFamily="2" charset="2"/>
              <a:buChar char="l"/>
              <a:defRPr sz="3200">
                <a:solidFill>
                  <a:schemeClr val="bg2"/>
                </a:solidFill>
                <a:latin typeface="+mn-lt"/>
                <a:ea typeface="+mn-ea"/>
                <a:cs typeface="+mn-cs"/>
              </a:defRPr>
            </a:lvl1pPr>
            <a:lvl2pPr marL="742950" indent="-285750" algn="l" rtl="0" eaLnBrk="1" fontAlgn="base" hangingPunct="1">
              <a:spcBef>
                <a:spcPct val="20000"/>
              </a:spcBef>
              <a:spcAft>
                <a:spcPct val="0"/>
              </a:spcAft>
              <a:buClr>
                <a:schemeClr val="tx1"/>
              </a:buClr>
              <a:buSzPct val="90000"/>
              <a:buChar char="–"/>
              <a:defRPr sz="2800">
                <a:solidFill>
                  <a:schemeClr val="bg2"/>
                </a:solidFill>
                <a:latin typeface="+mn-lt"/>
                <a:ea typeface="+mn-ea"/>
              </a:defRPr>
            </a:lvl2pPr>
            <a:lvl3pPr marL="1143000" indent="-228600" algn="l" rtl="0" eaLnBrk="1" fontAlgn="base" hangingPunct="1">
              <a:spcBef>
                <a:spcPct val="20000"/>
              </a:spcBef>
              <a:spcAft>
                <a:spcPct val="0"/>
              </a:spcAft>
              <a:buClr>
                <a:schemeClr val="accent1"/>
              </a:buClr>
              <a:buSzPct val="60000"/>
              <a:buFont typeface="Wingdings" panose="05000000000000000000" pitchFamily="2" charset="2"/>
              <a:buChar char="l"/>
              <a:defRPr sz="2400">
                <a:solidFill>
                  <a:schemeClr val="bg2"/>
                </a:solidFill>
                <a:latin typeface="+mn-lt"/>
                <a:ea typeface="+mn-ea"/>
              </a:defRPr>
            </a:lvl3pPr>
            <a:lvl4pPr marL="1600200" indent="-228600" algn="l" rtl="0" eaLnBrk="1" fontAlgn="base" hangingPunct="1">
              <a:spcBef>
                <a:spcPct val="20000"/>
              </a:spcBef>
              <a:spcAft>
                <a:spcPct val="0"/>
              </a:spcAft>
              <a:buClr>
                <a:schemeClr val="tx1"/>
              </a:buClr>
              <a:buChar char="–"/>
              <a:defRPr sz="2000">
                <a:solidFill>
                  <a:schemeClr val="bg2"/>
                </a:solidFill>
                <a:latin typeface="+mn-lt"/>
                <a:ea typeface="+mn-ea"/>
              </a:defRPr>
            </a:lvl4pPr>
            <a:lvl5pPr marL="2057400" indent="-228600" algn="l" rtl="0" eaLnBrk="1" fontAlgn="base" hangingPunct="1">
              <a:spcBef>
                <a:spcPct val="20000"/>
              </a:spcBef>
              <a:spcAft>
                <a:spcPct val="0"/>
              </a:spcAft>
              <a:buClr>
                <a:schemeClr val="accent1"/>
              </a:buClr>
              <a:buChar char="•"/>
              <a:defRPr sz="2000">
                <a:solidFill>
                  <a:schemeClr val="bg2"/>
                </a:solidFill>
                <a:latin typeface="+mn-lt"/>
                <a:ea typeface="+mn-ea"/>
              </a:defRPr>
            </a:lvl5pPr>
          </a:lstStyle>
          <a:p>
            <a:pPr marL="0" lvl="0" indent="0" algn="ctr">
              <a:spcBef>
                <a:spcPct val="0"/>
              </a:spcBef>
              <a:buClrTx/>
              <a:buSzTx/>
              <a:buFontTx/>
              <a:buNone/>
            </a:pPr>
            <a:r>
              <a:rPr lang="zh-CN" altLang="en-US" sz="6600" b="1" dirty="0">
                <a:solidFill>
                  <a:srgbClr val="000000"/>
                </a:solidFill>
                <a:latin typeface="Segoe UI Black" panose="020B0A02040204020203" pitchFamily="34" charset="0"/>
                <a:ea typeface="黑体" panose="02010609060101010101" pitchFamily="49" charset="-122"/>
              </a:rPr>
              <a:t>计算机组成原理</a:t>
            </a:r>
          </a:p>
        </p:txBody>
      </p:sp>
      <p:sp>
        <p:nvSpPr>
          <p:cNvPr id="3" name="矩形 6">
            <a:extLst>
              <a:ext uri="{FF2B5EF4-FFF2-40B4-BE49-F238E27FC236}">
                <a16:creationId xmlns:a16="http://schemas.microsoft.com/office/drawing/2014/main" id="{0EF62B53-1D0C-4844-B762-5E935B5A1BB4}"/>
              </a:ext>
            </a:extLst>
          </p:cNvPr>
          <p:cNvSpPr/>
          <p:nvPr/>
        </p:nvSpPr>
        <p:spPr>
          <a:xfrm>
            <a:off x="5564171" y="3936188"/>
            <a:ext cx="5547582" cy="1938992"/>
          </a:xfrm>
          <a:prstGeom prst="rect">
            <a:avLst/>
          </a:prstGeom>
          <a:noFill/>
          <a:ln w="9525">
            <a:noFill/>
          </a:ln>
        </p:spPr>
        <p:txBody>
          <a:bodyPr wrap="square">
            <a:spAutoFit/>
          </a:bodyPr>
          <a:lstStyle>
            <a:lvl1pPr marL="342900" indent="-342900" algn="l" rtl="0" eaLnBrk="1" fontAlgn="base" hangingPunct="1">
              <a:spcBef>
                <a:spcPct val="20000"/>
              </a:spcBef>
              <a:spcAft>
                <a:spcPct val="0"/>
              </a:spcAft>
              <a:buClr>
                <a:schemeClr val="accent2"/>
              </a:buClr>
              <a:buSzPct val="80000"/>
              <a:buFont typeface="Wingdings" panose="05000000000000000000" pitchFamily="2" charset="2"/>
              <a:buChar char="l"/>
              <a:defRPr sz="3200">
                <a:solidFill>
                  <a:schemeClr val="bg2"/>
                </a:solidFill>
                <a:latin typeface="+mn-lt"/>
                <a:ea typeface="+mn-ea"/>
                <a:cs typeface="+mn-cs"/>
              </a:defRPr>
            </a:lvl1pPr>
            <a:lvl2pPr marL="742950" indent="-285750" algn="l" rtl="0" eaLnBrk="1" fontAlgn="base" hangingPunct="1">
              <a:spcBef>
                <a:spcPct val="20000"/>
              </a:spcBef>
              <a:spcAft>
                <a:spcPct val="0"/>
              </a:spcAft>
              <a:buClr>
                <a:schemeClr val="tx1"/>
              </a:buClr>
              <a:buSzPct val="90000"/>
              <a:buChar char="–"/>
              <a:defRPr sz="2800">
                <a:solidFill>
                  <a:schemeClr val="bg2"/>
                </a:solidFill>
                <a:latin typeface="+mn-lt"/>
                <a:ea typeface="+mn-ea"/>
              </a:defRPr>
            </a:lvl2pPr>
            <a:lvl3pPr marL="1143000" indent="-228600" algn="l" rtl="0" eaLnBrk="1" fontAlgn="base" hangingPunct="1">
              <a:spcBef>
                <a:spcPct val="20000"/>
              </a:spcBef>
              <a:spcAft>
                <a:spcPct val="0"/>
              </a:spcAft>
              <a:buClr>
                <a:schemeClr val="accent1"/>
              </a:buClr>
              <a:buSzPct val="60000"/>
              <a:buFont typeface="Wingdings" panose="05000000000000000000" pitchFamily="2" charset="2"/>
              <a:buChar char="l"/>
              <a:defRPr sz="2400">
                <a:solidFill>
                  <a:schemeClr val="bg2"/>
                </a:solidFill>
                <a:latin typeface="+mn-lt"/>
                <a:ea typeface="+mn-ea"/>
              </a:defRPr>
            </a:lvl3pPr>
            <a:lvl4pPr marL="1600200" indent="-228600" algn="l" rtl="0" eaLnBrk="1" fontAlgn="base" hangingPunct="1">
              <a:spcBef>
                <a:spcPct val="20000"/>
              </a:spcBef>
              <a:spcAft>
                <a:spcPct val="0"/>
              </a:spcAft>
              <a:buClr>
                <a:schemeClr val="tx1"/>
              </a:buClr>
              <a:buChar char="–"/>
              <a:defRPr sz="2000">
                <a:solidFill>
                  <a:schemeClr val="bg2"/>
                </a:solidFill>
                <a:latin typeface="+mn-lt"/>
                <a:ea typeface="+mn-ea"/>
              </a:defRPr>
            </a:lvl4pPr>
            <a:lvl5pPr marL="2057400" indent="-228600" algn="l" rtl="0" eaLnBrk="1" fontAlgn="base" hangingPunct="1">
              <a:spcBef>
                <a:spcPct val="20000"/>
              </a:spcBef>
              <a:spcAft>
                <a:spcPct val="0"/>
              </a:spcAft>
              <a:buClr>
                <a:schemeClr val="accent1"/>
              </a:buClr>
              <a:buChar char="•"/>
              <a:defRPr sz="2000">
                <a:solidFill>
                  <a:schemeClr val="bg2"/>
                </a:solidFill>
                <a:latin typeface="+mn-lt"/>
                <a:ea typeface="+mn-ea"/>
              </a:defRPr>
            </a:lvl5pPr>
          </a:lstStyle>
          <a:p>
            <a:pPr marL="0" lvl="0" indent="0">
              <a:spcBef>
                <a:spcPct val="0"/>
              </a:spcBef>
              <a:buClrTx/>
              <a:buSzTx/>
              <a:buFontTx/>
              <a:buNone/>
            </a:pPr>
            <a:r>
              <a:rPr lang="zh-CN" altLang="en-US" sz="2400" dirty="0">
                <a:solidFill>
                  <a:srgbClr val="000000"/>
                </a:solidFill>
                <a:ea typeface="黑体" panose="02010609060101010101" pitchFamily="49" charset="-122"/>
              </a:rPr>
              <a:t>花忠云</a:t>
            </a:r>
            <a:endParaRPr lang="en-US" altLang="zh-CN" sz="2400" dirty="0">
              <a:solidFill>
                <a:srgbClr val="000000"/>
              </a:solidFill>
              <a:ea typeface="黑体" panose="02010609060101010101" pitchFamily="49" charset="-122"/>
            </a:endParaRPr>
          </a:p>
          <a:p>
            <a:pPr marL="0" lvl="0" indent="0">
              <a:spcBef>
                <a:spcPct val="0"/>
              </a:spcBef>
              <a:buClrTx/>
              <a:buSzTx/>
              <a:buFontTx/>
              <a:buNone/>
            </a:pPr>
            <a:r>
              <a:rPr lang="en-GB"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hlinkClick r:id="rId3"/>
              </a:rPr>
              <a:t>https://huazhongyun.github.io/</a:t>
            </a:r>
            <a:endParaRPr lang="en-GB"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a:p>
            <a:pPr marL="0" lvl="0" indent="0">
              <a:spcBef>
                <a:spcPct val="0"/>
              </a:spcBef>
              <a:buClrTx/>
              <a:buSzTx/>
              <a:buFontTx/>
              <a:buNone/>
            </a:pP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hlinkClick r:id="rId4"/>
              </a:rPr>
              <a:t>http://faculty.hitsz.edu.cn/huazhongyun</a:t>
            </a:r>
            <a:r>
              <a:rPr lang="en-US" altLang="zh-CN" sz="24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 </a:t>
            </a:r>
          </a:p>
          <a:p>
            <a:pPr marL="0" lvl="0" indent="0">
              <a:spcBef>
                <a:spcPct val="0"/>
              </a:spcBef>
              <a:buClrTx/>
              <a:buSzTx/>
              <a:buFontTx/>
              <a:buNone/>
            </a:pPr>
            <a:endParaRPr lang="zh-CN" altLang="en-US" sz="2400" dirty="0">
              <a:solidFill>
                <a:srgbClr val="000000"/>
              </a:solidFill>
              <a:ea typeface="黑体" panose="02010609060101010101" pitchFamily="49" charset="-122"/>
            </a:endParaRPr>
          </a:p>
          <a:p>
            <a:pPr marL="0" lvl="0" indent="0">
              <a:spcBef>
                <a:spcPct val="0"/>
              </a:spcBef>
              <a:buClrTx/>
              <a:buSzTx/>
              <a:buFontTx/>
              <a:buNone/>
            </a:pPr>
            <a:r>
              <a:rPr lang="zh-CN" altLang="en-US" sz="2400" dirty="0">
                <a:solidFill>
                  <a:srgbClr val="000000"/>
                </a:solidFill>
                <a:ea typeface="黑体" panose="02010609060101010101" pitchFamily="49" charset="-122"/>
              </a:rPr>
              <a:t>计算机科学与技术学院</a:t>
            </a:r>
            <a:endParaRPr lang="en-US" altLang="zh-CN" sz="2400" dirty="0">
              <a:solidFill>
                <a:srgbClr val="000000"/>
              </a:solidFill>
              <a:ea typeface="黑体" panose="02010609060101010101" pitchFamily="49" charset="-122"/>
            </a:endParaRPr>
          </a:p>
        </p:txBody>
      </p:sp>
      <p:pic>
        <p:nvPicPr>
          <p:cNvPr id="2" name="图片 1">
            <a:extLst>
              <a:ext uri="{FF2B5EF4-FFF2-40B4-BE49-F238E27FC236}">
                <a16:creationId xmlns:a16="http://schemas.microsoft.com/office/drawing/2014/main" id="{DE10EAF3-28A1-4715-B809-B97F285E883F}"/>
              </a:ext>
            </a:extLst>
          </p:cNvPr>
          <p:cNvPicPr>
            <a:picLocks noChangeAspect="1"/>
          </p:cNvPicPr>
          <p:nvPr/>
        </p:nvPicPr>
        <p:blipFill>
          <a:blip r:embed="rId5"/>
          <a:stretch>
            <a:fillRect/>
          </a:stretch>
        </p:blipFill>
        <p:spPr>
          <a:xfrm>
            <a:off x="1184644" y="2327325"/>
            <a:ext cx="2853454" cy="35701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第五章 流水线处理器</a:t>
            </a:r>
          </a:p>
        </p:txBody>
      </p:sp>
      <p:sp>
        <p:nvSpPr>
          <p:cNvPr id="4" name="内容占位符 3"/>
          <p:cNvSpPr>
            <a:spLocks noGrp="1"/>
          </p:cNvSpPr>
          <p:nvPr>
            <p:ph idx="1"/>
          </p:nvPr>
        </p:nvSpPr>
        <p:spPr>
          <a:xfrm>
            <a:off x="838200" y="1617027"/>
            <a:ext cx="10515600" cy="4944110"/>
          </a:xfrm>
        </p:spPr>
        <p:txBody>
          <a:bodyPr>
            <a:normAutofit/>
          </a:bodyPr>
          <a:lstStyle/>
          <a:p>
            <a:pPr>
              <a:spcBef>
                <a:spcPct val="0"/>
              </a:spcBef>
            </a:pPr>
            <a:r>
              <a:rPr lang="zh-CN" altLang="en-US" b="1" dirty="0"/>
              <a:t>流水线概述</a:t>
            </a:r>
            <a:endParaRPr lang="en-US" altLang="zh-CN" dirty="0"/>
          </a:p>
          <a:p>
            <a:pPr>
              <a:spcBef>
                <a:spcPct val="0"/>
              </a:spcBef>
            </a:pPr>
            <a:r>
              <a:rPr lang="zh-CN" altLang="en-US" dirty="0"/>
              <a:t>流水线数据通路和控制</a:t>
            </a:r>
            <a:endParaRPr lang="en-US" altLang="zh-CN" dirty="0"/>
          </a:p>
          <a:p>
            <a:pPr>
              <a:spcBef>
                <a:spcPct val="0"/>
              </a:spcBef>
            </a:pPr>
            <a:r>
              <a:rPr lang="zh-CN" altLang="en-US" dirty="0"/>
              <a:t>数据冒险：前递与停顿</a:t>
            </a:r>
            <a:endParaRPr lang="en-US" altLang="zh-CN" dirty="0"/>
          </a:p>
          <a:p>
            <a:pPr>
              <a:spcBef>
                <a:spcPct val="0"/>
              </a:spcBef>
            </a:pPr>
            <a:r>
              <a:rPr lang="zh-CN" altLang="en-US" dirty="0"/>
              <a:t>控制冒险</a:t>
            </a:r>
            <a:endParaRPr lang="en-US" altLang="zh-CN" dirty="0"/>
          </a:p>
          <a:p>
            <a:pPr>
              <a:spcBef>
                <a:spcPct val="0"/>
              </a:spcBef>
            </a:pPr>
            <a:r>
              <a:rPr lang="zh-CN" altLang="en-US" dirty="0"/>
              <a:t>例外</a:t>
            </a:r>
            <a:endParaRPr lang="en-US" altLang="zh-CN" dirty="0"/>
          </a:p>
        </p:txBody>
      </p:sp>
      <p:sp>
        <p:nvSpPr>
          <p:cNvPr id="6" name="灯片编号占位符 5"/>
          <p:cNvSpPr>
            <a:spLocks noGrp="1"/>
          </p:cNvSpPr>
          <p:nvPr>
            <p:ph type="sldNum" sz="quarter" idx="12"/>
          </p:nvPr>
        </p:nvSpPr>
        <p:spPr/>
        <p:txBody>
          <a:bodyPr/>
          <a:lstStyle/>
          <a:p>
            <a:fld id="{8EE8E787-E6FE-45D8-9039-788B45E44EE7}" type="slidenum">
              <a:rPr lang="zh-CN" altLang="en-US" smtClean="0"/>
              <a:t>2</a:t>
            </a:fld>
            <a:endParaRPr lang="zh-CN" altLang="en-US" dirty="0"/>
          </a:p>
        </p:txBody>
      </p:sp>
    </p:spTree>
    <p:extLst>
      <p:ext uri="{BB962C8B-B14F-4D97-AF65-F5344CB8AC3E}">
        <p14:creationId xmlns:p14="http://schemas.microsoft.com/office/powerpoint/2010/main" val="164950739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3"/>
          <p:cNvSpPr>
            <a:spLocks noGrp="1" noChangeArrowheads="1"/>
          </p:cNvSpPr>
          <p:nvPr>
            <p:ph idx="1"/>
          </p:nvPr>
        </p:nvSpPr>
        <p:spPr>
          <a:xfrm>
            <a:off x="838200" y="1009015"/>
            <a:ext cx="10515600" cy="5848985"/>
          </a:xfrm>
        </p:spPr>
        <p:txBody>
          <a:bodyPr>
            <a:normAutofit/>
          </a:bodyPr>
          <a:lstStyle/>
          <a:p>
            <a:pPr algn="just">
              <a:lnSpc>
                <a:spcPts val="4300"/>
              </a:lnSpc>
            </a:pPr>
            <a:r>
              <a:rPr lang="zh-CN" altLang="en-US" b="1" dirty="0"/>
              <a:t>处理器中的关键路径决定了时钟周期</a:t>
            </a:r>
            <a:r>
              <a:rPr lang="zh-CN" altLang="en-US" dirty="0"/>
              <a:t>：单周期设计中，时钟周期数对于每条指令必须</a:t>
            </a:r>
            <a:r>
              <a:rPr lang="zh-CN" altLang="en-US" dirty="0">
                <a:solidFill>
                  <a:srgbClr val="0000FF"/>
                </a:solidFill>
              </a:rPr>
              <a:t>相等</a:t>
            </a:r>
            <a:endParaRPr lang="en-US" altLang="zh-CN" dirty="0">
              <a:solidFill>
                <a:srgbClr val="0000FF"/>
              </a:solidFill>
            </a:endParaRPr>
          </a:p>
          <a:p>
            <a:pPr lvl="1">
              <a:lnSpc>
                <a:spcPts val="4300"/>
              </a:lnSpc>
            </a:pPr>
            <a:r>
              <a:rPr lang="zh-CN" altLang="en-US" dirty="0"/>
              <a:t>例如</a:t>
            </a:r>
            <a:r>
              <a:rPr lang="en-US" altLang="zh-CN" dirty="0"/>
              <a:t>load</a:t>
            </a:r>
            <a:r>
              <a:rPr lang="zh-CN" altLang="en-US" dirty="0"/>
              <a:t>指令，经历了完整的五个步骤：指令存储器、寄存器堆、</a:t>
            </a:r>
            <a:r>
              <a:rPr lang="en-US" altLang="zh-CN" dirty="0"/>
              <a:t>ALU</a:t>
            </a:r>
            <a:r>
              <a:rPr lang="zh-CN" altLang="en-US" dirty="0"/>
              <a:t>、数据存储器、寄存器堆</a:t>
            </a:r>
            <a:endParaRPr lang="en-US" altLang="zh-CN" dirty="0"/>
          </a:p>
          <a:p>
            <a:pPr eaLnBrk="1" hangingPunct="1">
              <a:lnSpc>
                <a:spcPts val="4300"/>
              </a:lnSpc>
            </a:pPr>
            <a:r>
              <a:rPr lang="zh-CN" altLang="en-US" dirty="0"/>
              <a:t>违反了设计思想</a:t>
            </a:r>
            <a:endParaRPr lang="en-US" altLang="en-US" dirty="0"/>
          </a:p>
          <a:p>
            <a:pPr lvl="1" eaLnBrk="1" hangingPunct="1">
              <a:lnSpc>
                <a:spcPts val="4300"/>
              </a:lnSpc>
            </a:pPr>
            <a:r>
              <a:rPr lang="zh-CN" altLang="en-US" dirty="0"/>
              <a:t>时钟周期必须满足所有指令中</a:t>
            </a:r>
            <a:r>
              <a:rPr lang="zh-CN" altLang="en-US" dirty="0">
                <a:solidFill>
                  <a:srgbClr val="0000FF"/>
                </a:solidFill>
              </a:rPr>
              <a:t>最坏</a:t>
            </a:r>
            <a:r>
              <a:rPr lang="zh-CN" altLang="en-US" dirty="0"/>
              <a:t>的情况</a:t>
            </a:r>
            <a:endParaRPr lang="en-US" altLang="zh-CN" dirty="0"/>
          </a:p>
          <a:p>
            <a:pPr lvl="1" eaLnBrk="1" hangingPunct="1">
              <a:lnSpc>
                <a:spcPts val="4300"/>
              </a:lnSpc>
            </a:pPr>
            <a:r>
              <a:rPr lang="zh-CN" altLang="en-US" dirty="0"/>
              <a:t>无法加速经常性事件：不能使用那些缩短常用指令执行时间而不改变最坏情况的实现技术</a:t>
            </a:r>
            <a:endParaRPr lang="en-US" altLang="zh-CN" dirty="0"/>
          </a:p>
          <a:p>
            <a:pPr>
              <a:lnSpc>
                <a:spcPts val="4300"/>
              </a:lnSpc>
            </a:pPr>
            <a:r>
              <a:rPr lang="zh-CN" altLang="en-US" dirty="0"/>
              <a:t>可通过流水线来提高性能</a:t>
            </a:r>
            <a:endParaRPr lang="en-US" altLang="en-US"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3</a:t>
            </a:fld>
            <a:endParaRPr lang="zh-CN" altLang="en-US" dirty="0"/>
          </a:p>
        </p:txBody>
      </p:sp>
      <p:sp>
        <p:nvSpPr>
          <p:cNvPr id="8" name="标题 7"/>
          <p:cNvSpPr>
            <a:spLocks noGrp="1"/>
          </p:cNvSpPr>
          <p:nvPr>
            <p:ph type="title"/>
          </p:nvPr>
        </p:nvSpPr>
        <p:spPr/>
        <p:txBody>
          <a:bodyPr/>
          <a:lstStyle/>
          <a:p>
            <a:r>
              <a:rPr lang="zh-CN" altLang="en-US" dirty="0"/>
              <a:t>单周期处理器的性能问题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420">
                                            <p:txEl>
                                              <p:pRg st="1" end="1"/>
                                            </p:txEl>
                                          </p:spTgt>
                                        </p:tgtEl>
                                        <p:attrNameLst>
                                          <p:attrName>style.visibility</p:attrName>
                                        </p:attrNameLst>
                                      </p:cBhvr>
                                      <p:to>
                                        <p:strVal val="visible"/>
                                      </p:to>
                                    </p:set>
                                    <p:animEffect transition="in" filter="fade">
                                      <p:cBhvr>
                                        <p:cTn id="7" dur="500"/>
                                        <p:tgtEl>
                                          <p:spTgt spid="6042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0420">
                                            <p:txEl>
                                              <p:pRg st="2" end="2"/>
                                            </p:txEl>
                                          </p:spTgt>
                                        </p:tgtEl>
                                        <p:attrNameLst>
                                          <p:attrName>style.visibility</p:attrName>
                                        </p:attrNameLst>
                                      </p:cBhvr>
                                      <p:to>
                                        <p:strVal val="visible"/>
                                      </p:to>
                                    </p:set>
                                    <p:animEffect transition="in" filter="fade">
                                      <p:cBhvr>
                                        <p:cTn id="12" dur="500"/>
                                        <p:tgtEl>
                                          <p:spTgt spid="6042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0420">
                                            <p:txEl>
                                              <p:pRg st="3" end="3"/>
                                            </p:txEl>
                                          </p:spTgt>
                                        </p:tgtEl>
                                        <p:attrNameLst>
                                          <p:attrName>style.visibility</p:attrName>
                                        </p:attrNameLst>
                                      </p:cBhvr>
                                      <p:to>
                                        <p:strVal val="visible"/>
                                      </p:to>
                                    </p:set>
                                    <p:animEffect transition="in" filter="fade">
                                      <p:cBhvr>
                                        <p:cTn id="17" dur="500"/>
                                        <p:tgtEl>
                                          <p:spTgt spid="60420">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60420">
                                            <p:txEl>
                                              <p:pRg st="4" end="4"/>
                                            </p:txEl>
                                          </p:spTgt>
                                        </p:tgtEl>
                                        <p:attrNameLst>
                                          <p:attrName>style.visibility</p:attrName>
                                        </p:attrNameLst>
                                      </p:cBhvr>
                                      <p:to>
                                        <p:strVal val="visible"/>
                                      </p:to>
                                    </p:set>
                                    <p:animEffect transition="in" filter="fade">
                                      <p:cBhvr>
                                        <p:cTn id="20" dur="500"/>
                                        <p:tgtEl>
                                          <p:spTgt spid="60420">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0420">
                                            <p:txEl>
                                              <p:pRg st="5" end="5"/>
                                            </p:txEl>
                                          </p:spTgt>
                                        </p:tgtEl>
                                        <p:attrNameLst>
                                          <p:attrName>style.visibility</p:attrName>
                                        </p:attrNameLst>
                                      </p:cBhvr>
                                      <p:to>
                                        <p:strVal val="visible"/>
                                      </p:to>
                                    </p:set>
                                    <p:animEffect transition="in" filter="fade">
                                      <p:cBhvr>
                                        <p:cTn id="25" dur="500"/>
                                        <p:tgtEl>
                                          <p:spTgt spid="6042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9" name="Rectangle 3"/>
          <p:cNvSpPr>
            <a:spLocks noGrp="1" noChangeArrowheads="1"/>
          </p:cNvSpPr>
          <p:nvPr>
            <p:ph idx="1"/>
          </p:nvPr>
        </p:nvSpPr>
        <p:spPr/>
        <p:txBody>
          <a:bodyPr>
            <a:normAutofit/>
          </a:bodyPr>
          <a:lstStyle/>
          <a:p>
            <a:pPr eaLnBrk="1" hangingPunct="1"/>
            <a:r>
              <a:rPr lang="zh-CN" altLang="en-US" dirty="0">
                <a:solidFill>
                  <a:srgbClr val="0000FF"/>
                </a:solidFill>
              </a:rPr>
              <a:t>以洗衣服为例类比流水线</a:t>
            </a:r>
            <a:r>
              <a:rPr lang="en-US" altLang="en-US" dirty="0"/>
              <a:t>:</a:t>
            </a:r>
            <a:r>
              <a:rPr lang="zh-CN" altLang="en-US" dirty="0"/>
              <a:t>重叠执行</a:t>
            </a:r>
            <a:endParaRPr lang="en-US" altLang="zh-CN" dirty="0"/>
          </a:p>
          <a:p>
            <a:pPr lvl="1"/>
            <a:r>
              <a:rPr lang="zh-CN" altLang="en-US" dirty="0"/>
              <a:t>假设洗衣包括四个步骤：洗衣机中洗衣、烘干机中烘干、叠衣服、收纳到柜子中</a:t>
            </a:r>
            <a:r>
              <a:rPr lang="en-US" altLang="zh-CN" dirty="0"/>
              <a:t>,</a:t>
            </a:r>
            <a:r>
              <a:rPr lang="zh-CN" altLang="en-US" dirty="0"/>
              <a:t>每个步骤</a:t>
            </a:r>
            <a:r>
              <a:rPr lang="en-US" altLang="zh-CN" dirty="0"/>
              <a:t>0.5</a:t>
            </a:r>
            <a:r>
              <a:rPr lang="zh-CN" altLang="en-US" dirty="0"/>
              <a:t>小时</a:t>
            </a:r>
          </a:p>
        </p:txBody>
      </p:sp>
      <p:sp>
        <p:nvSpPr>
          <p:cNvPr id="3" name="标题 2"/>
          <p:cNvSpPr>
            <a:spLocks noGrp="1"/>
          </p:cNvSpPr>
          <p:nvPr>
            <p:ph type="title"/>
          </p:nvPr>
        </p:nvSpPr>
        <p:spPr/>
        <p:txBody>
          <a:bodyPr>
            <a:noAutofit/>
          </a:bodyPr>
          <a:lstStyle/>
          <a:p>
            <a:r>
              <a:rPr lang="zh-CN" altLang="en-US" dirty="0"/>
              <a:t>流水线的概念介绍：一个比喻</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4</a:t>
            </a:fld>
            <a:endParaRPr lang="zh-CN" altLang="en-US" dirty="0"/>
          </a:p>
        </p:txBody>
      </p:sp>
      <p:pic>
        <p:nvPicPr>
          <p:cNvPr id="62467" name="Picture 8" descr="f04-25-P374493"/>
          <p:cNvPicPr>
            <a:picLocks noChangeAspect="1" noChangeArrowheads="1"/>
          </p:cNvPicPr>
          <p:nvPr/>
        </p:nvPicPr>
        <p:blipFill rotWithShape="1">
          <a:blip r:embed="rId3">
            <a:extLst>
              <a:ext uri="{28A0092B-C50C-407E-A947-70E740481C1C}">
                <a14:useLocalDpi xmlns:a14="http://schemas.microsoft.com/office/drawing/2010/main" val="0"/>
              </a:ext>
            </a:extLst>
          </a:blip>
          <a:srcRect t="48583"/>
          <a:stretch/>
        </p:blipFill>
        <p:spPr bwMode="auto">
          <a:xfrm>
            <a:off x="1456840" y="4600575"/>
            <a:ext cx="5167613"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71" name="Rectangle 6"/>
          <p:cNvSpPr>
            <a:spLocks noChangeArrowheads="1"/>
          </p:cNvSpPr>
          <p:nvPr/>
        </p:nvSpPr>
        <p:spPr bwMode="auto">
          <a:xfrm>
            <a:off x="6816725" y="2708275"/>
            <a:ext cx="3735388"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sz="2800" dirty="0"/>
              <a:t>负载为</a:t>
            </a:r>
            <a:r>
              <a:rPr lang="en-US" altLang="zh-CN" sz="2800" dirty="0"/>
              <a:t>4</a:t>
            </a:r>
            <a:r>
              <a:rPr lang="en-US" altLang="en-US" sz="2800" dirty="0"/>
              <a:t>:</a:t>
            </a:r>
          </a:p>
          <a:p>
            <a:pPr lvl="1" eaLnBrk="1" hangingPunct="1"/>
            <a:r>
              <a:rPr lang="zh-CN" altLang="en-US" sz="2400" dirty="0"/>
              <a:t>加速比</a:t>
            </a:r>
            <a:br>
              <a:rPr lang="en-US" altLang="en-US" sz="2400" dirty="0"/>
            </a:br>
            <a:r>
              <a:rPr lang="en-US" altLang="en-US" sz="2400" dirty="0"/>
              <a:t>= 8/3.5 = 2.3</a:t>
            </a:r>
          </a:p>
          <a:p>
            <a:pPr eaLnBrk="1" hangingPunct="1"/>
            <a:r>
              <a:rPr lang="zh-CN" altLang="en-US" sz="2800" dirty="0"/>
              <a:t>负载足够多</a:t>
            </a:r>
            <a:r>
              <a:rPr lang="en-US" altLang="en-US" sz="2800" dirty="0"/>
              <a:t>:</a:t>
            </a:r>
          </a:p>
          <a:p>
            <a:pPr lvl="1"/>
            <a:r>
              <a:rPr lang="zh-CN" altLang="en-US" sz="2400" dirty="0"/>
              <a:t>加速比</a:t>
            </a:r>
            <a:br>
              <a:rPr lang="en-US" altLang="en-US" sz="2400" dirty="0"/>
            </a:br>
            <a:r>
              <a:rPr lang="en-US" altLang="en-US" sz="2400" dirty="0"/>
              <a:t>= 2n/(0.5n+1.5) ≈ 4</a:t>
            </a:r>
            <a:br>
              <a:rPr lang="en-US" altLang="en-US" sz="2400" dirty="0"/>
            </a:br>
            <a:r>
              <a:rPr lang="en-US" altLang="en-US" sz="2400" dirty="0"/>
              <a:t>= </a:t>
            </a:r>
            <a:r>
              <a:rPr lang="zh-CN" altLang="en-US" sz="2000" dirty="0"/>
              <a:t>流水线中步骤的数目（流水线的级数）</a:t>
            </a:r>
            <a:endParaRPr lang="en-US" altLang="en-US" sz="2400" dirty="0"/>
          </a:p>
        </p:txBody>
      </p:sp>
      <p:pic>
        <p:nvPicPr>
          <p:cNvPr id="7" name="Picture 8" descr="f04-25-P374493"/>
          <p:cNvPicPr>
            <a:picLocks noChangeAspect="1" noChangeArrowheads="1"/>
          </p:cNvPicPr>
          <p:nvPr/>
        </p:nvPicPr>
        <p:blipFill rotWithShape="1">
          <a:blip r:embed="rId3">
            <a:extLst>
              <a:ext uri="{28A0092B-C50C-407E-A947-70E740481C1C}">
                <a14:useLocalDpi xmlns:a14="http://schemas.microsoft.com/office/drawing/2010/main" val="0"/>
              </a:ext>
            </a:extLst>
          </a:blip>
          <a:srcRect b="52109"/>
          <a:stretch/>
        </p:blipFill>
        <p:spPr bwMode="auto">
          <a:xfrm>
            <a:off x="1456840" y="2596531"/>
            <a:ext cx="5167613" cy="1975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469">
                                            <p:txEl>
                                              <p:pRg st="1" end="1"/>
                                            </p:txEl>
                                          </p:spTgt>
                                        </p:tgtEl>
                                        <p:attrNameLst>
                                          <p:attrName>style.visibility</p:attrName>
                                        </p:attrNameLst>
                                      </p:cBhvr>
                                      <p:to>
                                        <p:strVal val="visible"/>
                                      </p:to>
                                    </p:set>
                                    <p:animEffect transition="in" filter="fade">
                                      <p:cBhvr>
                                        <p:cTn id="7" dur="500"/>
                                        <p:tgtEl>
                                          <p:spTgt spid="6246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2467"/>
                                        </p:tgtEl>
                                        <p:attrNameLst>
                                          <p:attrName>style.visibility</p:attrName>
                                        </p:attrNameLst>
                                      </p:cBhvr>
                                      <p:to>
                                        <p:strVal val="visible"/>
                                      </p:to>
                                    </p:set>
                                    <p:animEffect transition="in" filter="fade">
                                      <p:cBhvr>
                                        <p:cTn id="17" dur="500"/>
                                        <p:tgtEl>
                                          <p:spTgt spid="6246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2471">
                                            <p:txEl>
                                              <p:pRg st="0" end="0"/>
                                            </p:txEl>
                                          </p:spTgt>
                                        </p:tgtEl>
                                        <p:attrNameLst>
                                          <p:attrName>style.visibility</p:attrName>
                                        </p:attrNameLst>
                                      </p:cBhvr>
                                      <p:to>
                                        <p:strVal val="visible"/>
                                      </p:to>
                                    </p:set>
                                    <p:animEffect transition="in" filter="fade">
                                      <p:cBhvr>
                                        <p:cTn id="22" dur="500"/>
                                        <p:tgtEl>
                                          <p:spTgt spid="62471">
                                            <p:txEl>
                                              <p:pRg st="0" end="0"/>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62471">
                                            <p:txEl>
                                              <p:pRg st="1" end="1"/>
                                            </p:txEl>
                                          </p:spTgt>
                                        </p:tgtEl>
                                        <p:attrNameLst>
                                          <p:attrName>style.visibility</p:attrName>
                                        </p:attrNameLst>
                                      </p:cBhvr>
                                      <p:to>
                                        <p:strVal val="visible"/>
                                      </p:to>
                                    </p:set>
                                    <p:animEffect transition="in" filter="fade">
                                      <p:cBhvr>
                                        <p:cTn id="25" dur="500"/>
                                        <p:tgtEl>
                                          <p:spTgt spid="62471">
                                            <p:txEl>
                                              <p:p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62471">
                                            <p:txEl>
                                              <p:pRg st="2" end="2"/>
                                            </p:txEl>
                                          </p:spTgt>
                                        </p:tgtEl>
                                        <p:attrNameLst>
                                          <p:attrName>style.visibility</p:attrName>
                                        </p:attrNameLst>
                                      </p:cBhvr>
                                      <p:to>
                                        <p:strVal val="visible"/>
                                      </p:to>
                                    </p:set>
                                    <p:animEffect transition="in" filter="fade">
                                      <p:cBhvr>
                                        <p:cTn id="28" dur="500"/>
                                        <p:tgtEl>
                                          <p:spTgt spid="62471">
                                            <p:txEl>
                                              <p:pRg st="2" end="2"/>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62471">
                                            <p:txEl>
                                              <p:pRg st="3" end="3"/>
                                            </p:txEl>
                                          </p:spTgt>
                                        </p:tgtEl>
                                        <p:attrNameLst>
                                          <p:attrName>style.visibility</p:attrName>
                                        </p:attrNameLst>
                                      </p:cBhvr>
                                      <p:to>
                                        <p:strVal val="visible"/>
                                      </p:to>
                                    </p:set>
                                    <p:animEffect transition="in" filter="fade">
                                      <p:cBhvr>
                                        <p:cTn id="31" dur="500"/>
                                        <p:tgtEl>
                                          <p:spTgt spid="624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pPr>
              <a:lnSpc>
                <a:spcPct val="140000"/>
              </a:lnSpc>
            </a:pPr>
            <a:r>
              <a:rPr lang="zh-CN" altLang="en-US" dirty="0">
                <a:latin typeface="Times New Roman" panose="02020603050405020304" pitchFamily="18" charset="0"/>
                <a:cs typeface="Times New Roman" panose="02020603050405020304" pitchFamily="18" charset="0"/>
              </a:rPr>
              <a:t>五个阶段</a:t>
            </a:r>
            <a:endParaRPr lang="en-US" altLang="zh-CN" dirty="0">
              <a:latin typeface="Times New Roman" panose="02020603050405020304" pitchFamily="18" charset="0"/>
              <a:cs typeface="Times New Roman" panose="02020603050405020304" pitchFamily="18" charset="0"/>
            </a:endParaRPr>
          </a:p>
          <a:p>
            <a:pPr lvl="1">
              <a:lnSpc>
                <a:spcPct val="140000"/>
              </a:lnSpc>
            </a:pPr>
            <a:r>
              <a:rPr lang="en-US" altLang="zh-CN" dirty="0">
                <a:latin typeface="Times New Roman" panose="02020603050405020304" pitchFamily="18" charset="0"/>
                <a:cs typeface="Times New Roman" panose="02020603050405020304" pitchFamily="18" charset="0"/>
              </a:rPr>
              <a:t>IF (instruction fetch): </a:t>
            </a:r>
            <a:r>
              <a:rPr lang="zh-CN" altLang="en-US" dirty="0">
                <a:latin typeface="Times New Roman" panose="02020603050405020304" pitchFamily="18" charset="0"/>
                <a:cs typeface="Times New Roman" panose="02020603050405020304" pitchFamily="18" charset="0"/>
              </a:rPr>
              <a:t>从存储器中取出指令</a:t>
            </a:r>
            <a:endParaRPr lang="en-US" altLang="zh-CN" dirty="0">
              <a:latin typeface="Times New Roman" panose="02020603050405020304" pitchFamily="18" charset="0"/>
              <a:cs typeface="Times New Roman" panose="02020603050405020304" pitchFamily="18" charset="0"/>
            </a:endParaRPr>
          </a:p>
          <a:p>
            <a:pPr lvl="1">
              <a:lnSpc>
                <a:spcPct val="140000"/>
              </a:lnSpc>
            </a:pPr>
            <a:r>
              <a:rPr lang="en-US" altLang="zh-CN" dirty="0">
                <a:latin typeface="Times New Roman" panose="02020603050405020304" pitchFamily="18" charset="0"/>
                <a:cs typeface="Times New Roman" panose="02020603050405020304" pitchFamily="18" charset="0"/>
              </a:rPr>
              <a:t>ID (instruction decode): </a:t>
            </a:r>
            <a:r>
              <a:rPr lang="zh-CN" altLang="en-US" dirty="0">
                <a:latin typeface="Times New Roman" panose="02020603050405020304" pitchFamily="18" charset="0"/>
                <a:cs typeface="Times New Roman" panose="02020603050405020304" pitchFamily="18" charset="0"/>
              </a:rPr>
              <a:t>读寄存器并译码指令</a:t>
            </a:r>
            <a:endParaRPr lang="en-US" altLang="zh-CN" dirty="0">
              <a:latin typeface="Times New Roman" panose="02020603050405020304" pitchFamily="18" charset="0"/>
              <a:cs typeface="Times New Roman" panose="02020603050405020304" pitchFamily="18" charset="0"/>
            </a:endParaRPr>
          </a:p>
          <a:p>
            <a:pPr lvl="1">
              <a:lnSpc>
                <a:spcPct val="140000"/>
              </a:lnSpc>
            </a:pPr>
            <a:r>
              <a:rPr lang="en-US" altLang="zh-CN" dirty="0">
                <a:latin typeface="Times New Roman" panose="02020603050405020304" pitchFamily="18" charset="0"/>
                <a:cs typeface="Times New Roman" panose="02020603050405020304" pitchFamily="18" charset="0"/>
              </a:rPr>
              <a:t>EX (execute): </a:t>
            </a:r>
            <a:r>
              <a:rPr lang="zh-CN" altLang="en-US" dirty="0">
                <a:latin typeface="Times New Roman" panose="02020603050405020304" pitchFamily="18" charset="0"/>
                <a:cs typeface="Times New Roman" panose="02020603050405020304" pitchFamily="18" charset="0"/>
              </a:rPr>
              <a:t>执行操作或计算地址</a:t>
            </a:r>
            <a:endParaRPr lang="en-US" altLang="zh-CN" dirty="0">
              <a:latin typeface="Times New Roman" panose="02020603050405020304" pitchFamily="18" charset="0"/>
              <a:cs typeface="Times New Roman" panose="02020603050405020304" pitchFamily="18" charset="0"/>
            </a:endParaRPr>
          </a:p>
          <a:p>
            <a:pPr lvl="1">
              <a:lnSpc>
                <a:spcPct val="140000"/>
              </a:lnSpc>
            </a:pPr>
            <a:r>
              <a:rPr lang="en-US" altLang="zh-CN" dirty="0">
                <a:latin typeface="Times New Roman" panose="02020603050405020304" pitchFamily="18" charset="0"/>
                <a:cs typeface="Times New Roman" panose="02020603050405020304" pitchFamily="18" charset="0"/>
              </a:rPr>
              <a:t>MEM (memory access): </a:t>
            </a:r>
            <a:r>
              <a:rPr lang="zh-CN" altLang="en-US" dirty="0">
                <a:latin typeface="Times New Roman" panose="02020603050405020304" pitchFamily="18" charset="0"/>
                <a:cs typeface="Times New Roman" panose="02020603050405020304" pitchFamily="18" charset="0"/>
              </a:rPr>
              <a:t>访问数据存储器中的操作数（如有必要）</a:t>
            </a:r>
            <a:endParaRPr lang="en-US" altLang="zh-CN" dirty="0">
              <a:latin typeface="Times New Roman" panose="02020603050405020304" pitchFamily="18" charset="0"/>
              <a:cs typeface="Times New Roman" panose="02020603050405020304" pitchFamily="18" charset="0"/>
            </a:endParaRPr>
          </a:p>
          <a:p>
            <a:pPr lvl="1">
              <a:lnSpc>
                <a:spcPct val="140000"/>
              </a:lnSpc>
            </a:pPr>
            <a:r>
              <a:rPr lang="en-US" altLang="zh-CN" dirty="0">
                <a:latin typeface="Times New Roman" panose="02020603050405020304" pitchFamily="18" charset="0"/>
                <a:cs typeface="Times New Roman" panose="02020603050405020304" pitchFamily="18" charset="0"/>
              </a:rPr>
              <a:t>WB (write back): </a:t>
            </a:r>
            <a:r>
              <a:rPr lang="zh-CN" altLang="en-US" dirty="0">
                <a:latin typeface="Times New Roman" panose="02020603050405020304" pitchFamily="18" charset="0"/>
                <a:cs typeface="Times New Roman" panose="02020603050405020304" pitchFamily="18" charset="0"/>
              </a:rPr>
              <a:t>将结果写入寄存器（如有必要）</a:t>
            </a:r>
            <a:endParaRPr lang="en-US" altLang="zh-CN" dirty="0">
              <a:latin typeface="Times New Roman" panose="02020603050405020304" pitchFamily="18" charset="0"/>
              <a:cs typeface="Times New Roman" panose="02020603050405020304" pitchFamily="18" charset="0"/>
            </a:endParaRPr>
          </a:p>
          <a:p>
            <a:pPr>
              <a:lnSpc>
                <a:spcPct val="140000"/>
              </a:lnSpc>
            </a:pPr>
            <a:r>
              <a:rPr lang="zh-CN" altLang="en-US" dirty="0">
                <a:latin typeface="Times New Roman" panose="02020603050405020304" pitchFamily="18" charset="0"/>
                <a:cs typeface="Times New Roman" panose="02020603050405020304" pitchFamily="18" charset="0"/>
              </a:rPr>
              <a:t>让五个阶段重叠执行</a:t>
            </a:r>
          </a:p>
        </p:txBody>
      </p:sp>
      <p:sp>
        <p:nvSpPr>
          <p:cNvPr id="5" name="标题 4"/>
          <p:cNvSpPr>
            <a:spLocks noGrp="1"/>
          </p:cNvSpPr>
          <p:nvPr>
            <p:ph type="title"/>
          </p:nvPr>
        </p:nvSpPr>
        <p:spPr/>
        <p:txBody>
          <a:bodyPr/>
          <a:lstStyle/>
          <a:p>
            <a:r>
              <a:rPr lang="en-US" altLang="en-US" dirty="0"/>
              <a:t>RISC-V </a:t>
            </a:r>
            <a:r>
              <a:rPr lang="zh-CN" altLang="en-US" dirty="0"/>
              <a:t>指令执行的五个阶段</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5</a:t>
            </a:fld>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3"/>
          <p:cNvSpPr>
            <a:spLocks noGrp="1" noChangeArrowheads="1"/>
          </p:cNvSpPr>
          <p:nvPr>
            <p:ph idx="1"/>
          </p:nvPr>
        </p:nvSpPr>
        <p:spPr/>
        <p:txBody>
          <a:bodyPr>
            <a:normAutofit/>
          </a:bodyPr>
          <a:lstStyle/>
          <a:p>
            <a:pPr eaLnBrk="1" hangingPunct="1"/>
            <a:r>
              <a:rPr lang="zh-CN" altLang="en-US" dirty="0"/>
              <a:t>假设各个阶段的耗时：</a:t>
            </a:r>
            <a:endParaRPr lang="en-US" altLang="en-US" dirty="0"/>
          </a:p>
          <a:p>
            <a:pPr lvl="1" eaLnBrk="1" hangingPunct="1"/>
            <a:r>
              <a:rPr lang="zh-CN" altLang="en-US" dirty="0"/>
              <a:t>寄存器堆的读或写为</a:t>
            </a:r>
            <a:r>
              <a:rPr lang="en-US" altLang="zh-CN" dirty="0"/>
              <a:t>100ps</a:t>
            </a:r>
            <a:endParaRPr lang="en-US" altLang="en-US" dirty="0"/>
          </a:p>
          <a:p>
            <a:pPr lvl="1" eaLnBrk="1" hangingPunct="1"/>
            <a:r>
              <a:rPr lang="zh-CN" altLang="en-US" dirty="0"/>
              <a:t>其他阶段为</a:t>
            </a:r>
            <a:r>
              <a:rPr lang="en-US" altLang="zh-CN" dirty="0"/>
              <a:t>200ps</a:t>
            </a:r>
          </a:p>
          <a:p>
            <a:pPr marL="457200" lvl="1" indent="0" eaLnBrk="1" hangingPunct="1">
              <a:buNone/>
            </a:pPr>
            <a:endParaRPr lang="en-US" altLang="en-US" dirty="0"/>
          </a:p>
          <a:p>
            <a:pPr eaLnBrk="1" hangingPunct="1"/>
            <a:r>
              <a:rPr lang="zh-CN" altLang="en-US" dirty="0"/>
              <a:t>比较流水线指令执行与单周期指令执行的平均执行时间</a:t>
            </a:r>
            <a:endParaRPr lang="en-US" altLang="en-US"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6</a:t>
            </a:fld>
            <a:endParaRPr lang="zh-CN" altLang="en-US" dirty="0"/>
          </a:p>
        </p:txBody>
      </p:sp>
      <p:graphicFrame>
        <p:nvGraphicFramePr>
          <p:cNvPr id="327684" name="Group 4"/>
          <p:cNvGraphicFramePr>
            <a:graphicFrameLocks noGrp="1"/>
          </p:cNvGraphicFramePr>
          <p:nvPr>
            <p:extLst>
              <p:ext uri="{D42A27DB-BD31-4B8C-83A1-F6EECF244321}">
                <p14:modId xmlns:p14="http://schemas.microsoft.com/office/powerpoint/2010/main" val="169647573"/>
              </p:ext>
            </p:extLst>
          </p:nvPr>
        </p:nvGraphicFramePr>
        <p:xfrm>
          <a:off x="1097521" y="3853836"/>
          <a:ext cx="9996957" cy="2307271"/>
        </p:xfrm>
        <a:graphic>
          <a:graphicData uri="http://schemas.openxmlformats.org/drawingml/2006/table">
            <a:tbl>
              <a:tblPr/>
              <a:tblGrid>
                <a:gridCol w="3362037">
                  <a:extLst>
                    <a:ext uri="{9D8B030D-6E8A-4147-A177-3AD203B41FA5}">
                      <a16:colId xmlns:a16="http://schemas.microsoft.com/office/drawing/2014/main" val="20000"/>
                    </a:ext>
                  </a:extLst>
                </a:gridCol>
                <a:gridCol w="1105820">
                  <a:extLst>
                    <a:ext uri="{9D8B030D-6E8A-4147-A177-3AD203B41FA5}">
                      <a16:colId xmlns:a16="http://schemas.microsoft.com/office/drawing/2014/main" val="20001"/>
                    </a:ext>
                  </a:extLst>
                </a:gridCol>
                <a:gridCol w="1105820">
                  <a:extLst>
                    <a:ext uri="{9D8B030D-6E8A-4147-A177-3AD203B41FA5}">
                      <a16:colId xmlns:a16="http://schemas.microsoft.com/office/drawing/2014/main" val="20002"/>
                    </a:ext>
                  </a:extLst>
                </a:gridCol>
                <a:gridCol w="1105820">
                  <a:extLst>
                    <a:ext uri="{9D8B030D-6E8A-4147-A177-3AD203B41FA5}">
                      <a16:colId xmlns:a16="http://schemas.microsoft.com/office/drawing/2014/main" val="20003"/>
                    </a:ext>
                  </a:extLst>
                </a:gridCol>
                <a:gridCol w="1105820">
                  <a:extLst>
                    <a:ext uri="{9D8B030D-6E8A-4147-A177-3AD203B41FA5}">
                      <a16:colId xmlns:a16="http://schemas.microsoft.com/office/drawing/2014/main" val="20004"/>
                    </a:ext>
                  </a:extLst>
                </a:gridCol>
                <a:gridCol w="1105820">
                  <a:extLst>
                    <a:ext uri="{9D8B030D-6E8A-4147-A177-3AD203B41FA5}">
                      <a16:colId xmlns:a16="http://schemas.microsoft.com/office/drawing/2014/main" val="20005"/>
                    </a:ext>
                  </a:extLst>
                </a:gridCol>
                <a:gridCol w="1105820">
                  <a:extLst>
                    <a:ext uri="{9D8B030D-6E8A-4147-A177-3AD203B41FA5}">
                      <a16:colId xmlns:a16="http://schemas.microsoft.com/office/drawing/2014/main" val="20006"/>
                    </a:ext>
                  </a:extLst>
                </a:gridCol>
              </a:tblGrid>
              <a:tr h="64006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rPr>
                        <a:t>指令类型</a:t>
                      </a:r>
                      <a:endParaRPr kumimoji="0" lang="en-AU"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rPr>
                        <a:t>取指令</a:t>
                      </a:r>
                      <a:endParaRPr kumimoji="0" lang="en-AU"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rPr>
                        <a:t>读寄存器</a:t>
                      </a:r>
                      <a:endParaRPr kumimoji="0" lang="en-AU"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dirty="0">
                          <a:ln>
                            <a:noFill/>
                          </a:ln>
                          <a:solidFill>
                            <a:schemeClr val="tx1"/>
                          </a:solidFill>
                          <a:effectLst/>
                          <a:latin typeface="Arial" panose="020B0604020202020204" pitchFamily="34" charset="0"/>
                        </a:rPr>
                        <a:t>ALU </a:t>
                      </a:r>
                      <a:r>
                        <a:rPr kumimoji="0" lang="zh-CN" altLang="en-US" sz="2000" b="0" i="0" u="none" strike="noStrike" cap="none" normalizeH="0" baseline="0" dirty="0">
                          <a:ln>
                            <a:noFill/>
                          </a:ln>
                          <a:solidFill>
                            <a:schemeClr val="tx1"/>
                          </a:solidFill>
                          <a:effectLst/>
                          <a:latin typeface="Arial" panose="020B0604020202020204" pitchFamily="34" charset="0"/>
                        </a:rPr>
                        <a:t>操作</a:t>
                      </a:r>
                      <a:endParaRPr kumimoji="0" lang="en-AU"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rPr>
                        <a:t>数据存取</a:t>
                      </a:r>
                      <a:endParaRPr kumimoji="0" lang="en-AU"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rPr>
                        <a:t>写寄存器</a:t>
                      </a:r>
                      <a:endParaRPr kumimoji="0" lang="en-AU"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rPr>
                        <a:t>总时间</a:t>
                      </a:r>
                      <a:endParaRPr kumimoji="0" lang="en-AU"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39997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Arial" panose="020B0604020202020204" pitchFamily="34" charset="0"/>
                        </a:rPr>
                        <a:t>Load doubleword (</a:t>
                      </a:r>
                      <a:r>
                        <a:rPr kumimoji="0" lang="en-US" sz="2000" b="0" i="0" u="none" strike="noStrike" cap="none" normalizeH="0" baseline="0" dirty="0" err="1">
                          <a:ln>
                            <a:noFill/>
                          </a:ln>
                          <a:solidFill>
                            <a:schemeClr val="tx1"/>
                          </a:solidFill>
                          <a:effectLst/>
                          <a:latin typeface="Arial" panose="020B0604020202020204" pitchFamily="34" charset="0"/>
                        </a:rPr>
                        <a:t>ld</a:t>
                      </a:r>
                      <a:r>
                        <a:rPr kumimoji="0" lang="en-US" sz="2000" b="0" i="0" u="none" strike="noStrike" cap="none" normalizeH="0" baseline="0" dirty="0">
                          <a:ln>
                            <a:noFill/>
                          </a:ln>
                          <a:solidFill>
                            <a:schemeClr val="tx1"/>
                          </a:solidFill>
                          <a:effectLst/>
                          <a:latin typeface="Arial" panose="020B0604020202020204" pitchFamily="34" charset="0"/>
                        </a:rPr>
                        <a:t>)</a:t>
                      </a:r>
                      <a:endParaRPr kumimoji="0" lang="en-AU"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a:ln>
                            <a:noFill/>
                          </a:ln>
                          <a:solidFill>
                            <a:schemeClr val="tx1"/>
                          </a:solidFill>
                          <a:effectLst/>
                          <a:latin typeface="Arial" panose="020B0604020202020204" pitchFamily="34" charset="0"/>
                        </a:rPr>
                        <a:t>200ps</a:t>
                      </a:r>
                      <a:endParaRPr kumimoji="0" lang="en-AU" sz="2000" b="0" i="0" u="none" strike="noStrike" cap="none" normalizeH="0" baseline="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dirty="0">
                          <a:ln>
                            <a:noFill/>
                          </a:ln>
                          <a:solidFill>
                            <a:schemeClr val="tx1"/>
                          </a:solidFill>
                          <a:effectLst/>
                          <a:latin typeface="Arial" panose="020B0604020202020204" pitchFamily="34" charset="0"/>
                        </a:rPr>
                        <a:t>100 </a:t>
                      </a:r>
                      <a:r>
                        <a:rPr kumimoji="0" lang="en-US" sz="2000" b="0" i="0" u="none" strike="noStrike" cap="none" normalizeH="0" baseline="0" dirty="0" err="1">
                          <a:ln>
                            <a:noFill/>
                          </a:ln>
                          <a:solidFill>
                            <a:schemeClr val="tx1"/>
                          </a:solidFill>
                          <a:effectLst/>
                          <a:latin typeface="Arial" panose="020B0604020202020204" pitchFamily="34" charset="0"/>
                        </a:rPr>
                        <a:t>ps</a:t>
                      </a:r>
                      <a:endParaRPr kumimoji="0" lang="en-AU"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dirty="0">
                          <a:ln>
                            <a:noFill/>
                          </a:ln>
                          <a:solidFill>
                            <a:schemeClr val="tx1"/>
                          </a:solidFill>
                          <a:effectLst/>
                          <a:latin typeface="Arial" panose="020B0604020202020204" pitchFamily="34" charset="0"/>
                        </a:rPr>
                        <a:t>200ps</a:t>
                      </a:r>
                      <a:endParaRPr kumimoji="0" lang="en-AU"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dirty="0">
                          <a:ln>
                            <a:noFill/>
                          </a:ln>
                          <a:solidFill>
                            <a:schemeClr val="tx1"/>
                          </a:solidFill>
                          <a:effectLst/>
                          <a:latin typeface="Arial" panose="020B0604020202020204" pitchFamily="34" charset="0"/>
                        </a:rPr>
                        <a:t>200ps</a:t>
                      </a:r>
                      <a:endParaRPr kumimoji="0" lang="en-AU"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dirty="0">
                          <a:ln>
                            <a:noFill/>
                          </a:ln>
                          <a:solidFill>
                            <a:schemeClr val="tx1"/>
                          </a:solidFill>
                          <a:effectLst/>
                          <a:latin typeface="Arial" panose="020B0604020202020204" pitchFamily="34" charset="0"/>
                        </a:rPr>
                        <a:t>100ps</a:t>
                      </a:r>
                      <a:endParaRPr kumimoji="0" lang="en-AU"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dirty="0">
                          <a:ln>
                            <a:noFill/>
                          </a:ln>
                          <a:solidFill>
                            <a:schemeClr val="tx1"/>
                          </a:solidFill>
                          <a:effectLst/>
                          <a:latin typeface="Arial" panose="020B0604020202020204" pitchFamily="34" charset="0"/>
                        </a:rPr>
                        <a:t>800ps</a:t>
                      </a:r>
                      <a:endParaRPr kumimoji="0" lang="en-AU"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extLst>
                  <a:ext uri="{0D108BD9-81ED-4DB2-BD59-A6C34878D82A}">
                    <a16:rowId xmlns:a16="http://schemas.microsoft.com/office/drawing/2014/main" val="10001"/>
                  </a:ext>
                </a:extLst>
              </a:tr>
              <a:tr h="404737">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dirty="0">
                          <a:ln>
                            <a:noFill/>
                          </a:ln>
                          <a:solidFill>
                            <a:schemeClr val="tx1"/>
                          </a:solidFill>
                          <a:effectLst/>
                          <a:latin typeface="Arial" panose="020B0604020202020204" pitchFamily="34" charset="0"/>
                        </a:rPr>
                        <a:t>Store doubleword (</a:t>
                      </a:r>
                      <a:r>
                        <a:rPr kumimoji="0" lang="en-US" sz="2000" b="0" i="0" u="none" strike="noStrike" cap="none" normalizeH="0" baseline="0" dirty="0" err="1">
                          <a:ln>
                            <a:noFill/>
                          </a:ln>
                          <a:solidFill>
                            <a:schemeClr val="tx1"/>
                          </a:solidFill>
                          <a:effectLst/>
                          <a:latin typeface="Arial" panose="020B0604020202020204" pitchFamily="34" charset="0"/>
                        </a:rPr>
                        <a:t>sd</a:t>
                      </a:r>
                      <a:r>
                        <a:rPr kumimoji="0" lang="en-US" sz="2000" b="0" i="0" u="none" strike="noStrike" cap="none" normalizeH="0" baseline="0" dirty="0">
                          <a:ln>
                            <a:noFill/>
                          </a:ln>
                          <a:solidFill>
                            <a:schemeClr val="tx1"/>
                          </a:solidFill>
                          <a:effectLst/>
                          <a:latin typeface="Arial" panose="020B0604020202020204" pitchFamily="34" charset="0"/>
                        </a:rPr>
                        <a:t>)</a:t>
                      </a:r>
                      <a:endParaRPr kumimoji="0" lang="en-AU"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a:ln>
                            <a:noFill/>
                          </a:ln>
                          <a:solidFill>
                            <a:schemeClr val="tx1"/>
                          </a:solidFill>
                          <a:effectLst/>
                          <a:latin typeface="Arial" panose="020B0604020202020204" pitchFamily="34" charset="0"/>
                        </a:rPr>
                        <a:t>200ps</a:t>
                      </a:r>
                      <a:endParaRPr kumimoji="0" lang="en-AU" sz="2000" b="0" i="0" u="none" strike="noStrike" cap="none" normalizeH="0" baseline="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a:ln>
                            <a:noFill/>
                          </a:ln>
                          <a:solidFill>
                            <a:schemeClr val="tx1"/>
                          </a:solidFill>
                          <a:effectLst/>
                          <a:latin typeface="Arial" panose="020B0604020202020204" pitchFamily="34" charset="0"/>
                        </a:rPr>
                        <a:t>100 ps</a:t>
                      </a:r>
                      <a:endParaRPr kumimoji="0" lang="en-AU" sz="2000" b="0" i="0" u="none" strike="noStrike" cap="none" normalizeH="0" baseline="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a:ln>
                            <a:noFill/>
                          </a:ln>
                          <a:solidFill>
                            <a:schemeClr val="tx1"/>
                          </a:solidFill>
                          <a:effectLst/>
                          <a:latin typeface="Arial" panose="020B0604020202020204" pitchFamily="34" charset="0"/>
                        </a:rPr>
                        <a:t>200ps</a:t>
                      </a:r>
                      <a:endParaRPr kumimoji="0" lang="en-AU" sz="2000" b="0" i="0" u="none" strike="noStrike" cap="none" normalizeH="0" baseline="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dirty="0">
                          <a:ln>
                            <a:noFill/>
                          </a:ln>
                          <a:solidFill>
                            <a:schemeClr val="tx1"/>
                          </a:solidFill>
                          <a:effectLst/>
                          <a:latin typeface="Arial" panose="020B0604020202020204" pitchFamily="34" charset="0"/>
                        </a:rPr>
                        <a:t>200ps</a:t>
                      </a:r>
                      <a:endParaRPr kumimoji="0" lang="en-AU"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dirty="0">
                          <a:ln>
                            <a:noFill/>
                          </a:ln>
                          <a:solidFill>
                            <a:schemeClr val="tx1"/>
                          </a:solidFill>
                          <a:effectLst/>
                          <a:latin typeface="Arial" panose="020B0604020202020204" pitchFamily="34" charset="0"/>
                        </a:rPr>
                        <a:t>700ps</a:t>
                      </a:r>
                      <a:endParaRPr kumimoji="0" lang="en-AU"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9974">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dirty="0">
                          <a:ln>
                            <a:noFill/>
                          </a:ln>
                          <a:solidFill>
                            <a:schemeClr val="tx1"/>
                          </a:solidFill>
                          <a:effectLst/>
                          <a:latin typeface="Arial" panose="020B0604020202020204" pitchFamily="34" charset="0"/>
                        </a:rPr>
                        <a:t>R-format (add, sun, and, or)</a:t>
                      </a:r>
                      <a:endParaRPr kumimoji="0" lang="en-AU"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dirty="0">
                          <a:ln>
                            <a:noFill/>
                          </a:ln>
                          <a:solidFill>
                            <a:schemeClr val="tx1"/>
                          </a:solidFill>
                          <a:effectLst/>
                          <a:latin typeface="Arial" panose="020B0604020202020204" pitchFamily="34" charset="0"/>
                        </a:rPr>
                        <a:t>200ps</a:t>
                      </a:r>
                      <a:endParaRPr kumimoji="0" lang="en-AU"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a:ln>
                            <a:noFill/>
                          </a:ln>
                          <a:solidFill>
                            <a:schemeClr val="tx1"/>
                          </a:solidFill>
                          <a:effectLst/>
                          <a:latin typeface="Arial" panose="020B0604020202020204" pitchFamily="34" charset="0"/>
                        </a:rPr>
                        <a:t>100 ps</a:t>
                      </a:r>
                      <a:endParaRPr kumimoji="0" lang="en-AU" sz="2000" b="0" i="0" u="none" strike="noStrike" cap="none" normalizeH="0" baseline="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a:ln>
                            <a:noFill/>
                          </a:ln>
                          <a:solidFill>
                            <a:schemeClr val="tx1"/>
                          </a:solidFill>
                          <a:effectLst/>
                          <a:latin typeface="Arial" panose="020B0604020202020204" pitchFamily="34" charset="0"/>
                        </a:rPr>
                        <a:t>200ps</a:t>
                      </a:r>
                      <a:endParaRPr kumimoji="0" lang="en-AU" sz="2000" b="0" i="0" u="none" strike="noStrike" cap="none" normalizeH="0" baseline="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2000" b="0" i="0" u="none" strike="noStrike" cap="none" normalizeH="0" baseline="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dirty="0">
                          <a:ln>
                            <a:noFill/>
                          </a:ln>
                          <a:solidFill>
                            <a:schemeClr val="tx1"/>
                          </a:solidFill>
                          <a:effectLst/>
                          <a:latin typeface="Arial" panose="020B0604020202020204" pitchFamily="34" charset="0"/>
                        </a:rPr>
                        <a:t>100ps</a:t>
                      </a:r>
                      <a:endParaRPr kumimoji="0" lang="en-AU"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dirty="0">
                          <a:ln>
                            <a:noFill/>
                          </a:ln>
                          <a:solidFill>
                            <a:schemeClr val="tx1"/>
                          </a:solidFill>
                          <a:effectLst/>
                          <a:latin typeface="Arial" panose="020B0604020202020204" pitchFamily="34" charset="0"/>
                        </a:rPr>
                        <a:t>600ps</a:t>
                      </a:r>
                      <a:endParaRPr kumimoji="0" lang="en-AU"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156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dirty="0">
                          <a:ln>
                            <a:noFill/>
                          </a:ln>
                          <a:solidFill>
                            <a:schemeClr val="tx1"/>
                          </a:solidFill>
                          <a:effectLst/>
                          <a:latin typeface="Arial" panose="020B0604020202020204" pitchFamily="34" charset="0"/>
                        </a:rPr>
                        <a:t>Branch (</a:t>
                      </a:r>
                      <a:r>
                        <a:rPr kumimoji="0" lang="en-US" sz="2000" b="0" i="0" u="none" strike="noStrike" cap="none" normalizeH="0" baseline="0" dirty="0" err="1">
                          <a:ln>
                            <a:noFill/>
                          </a:ln>
                          <a:solidFill>
                            <a:schemeClr val="tx1"/>
                          </a:solidFill>
                          <a:effectLst/>
                          <a:latin typeface="Arial" panose="020B0604020202020204" pitchFamily="34" charset="0"/>
                        </a:rPr>
                        <a:t>beq</a:t>
                      </a:r>
                      <a:r>
                        <a:rPr kumimoji="0" lang="en-US" sz="2000" b="0" i="0" u="none" strike="noStrike" cap="none" normalizeH="0" baseline="0" dirty="0">
                          <a:ln>
                            <a:noFill/>
                          </a:ln>
                          <a:solidFill>
                            <a:schemeClr val="tx1"/>
                          </a:solidFill>
                          <a:effectLst/>
                          <a:latin typeface="Arial" panose="020B0604020202020204" pitchFamily="34" charset="0"/>
                        </a:rPr>
                        <a:t>)</a:t>
                      </a:r>
                      <a:endParaRPr kumimoji="0" lang="en-AU"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dirty="0">
                          <a:ln>
                            <a:noFill/>
                          </a:ln>
                          <a:solidFill>
                            <a:schemeClr val="tx1"/>
                          </a:solidFill>
                          <a:effectLst/>
                          <a:latin typeface="Arial" panose="020B0604020202020204" pitchFamily="34" charset="0"/>
                        </a:rPr>
                        <a:t>200ps</a:t>
                      </a:r>
                      <a:endParaRPr kumimoji="0" lang="en-AU"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a:ln>
                            <a:noFill/>
                          </a:ln>
                          <a:solidFill>
                            <a:schemeClr val="tx1"/>
                          </a:solidFill>
                          <a:effectLst/>
                          <a:latin typeface="Arial" panose="020B0604020202020204" pitchFamily="34" charset="0"/>
                        </a:rPr>
                        <a:t>100 ps</a:t>
                      </a:r>
                      <a:endParaRPr kumimoji="0" lang="en-AU" sz="2000" b="0" i="0" u="none" strike="noStrike" cap="none" normalizeH="0" baseline="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a:ln>
                            <a:noFill/>
                          </a:ln>
                          <a:solidFill>
                            <a:schemeClr val="tx1"/>
                          </a:solidFill>
                          <a:effectLst/>
                          <a:latin typeface="Arial" panose="020B0604020202020204" pitchFamily="34" charset="0"/>
                        </a:rPr>
                        <a:t>200ps</a:t>
                      </a:r>
                      <a:endParaRPr kumimoji="0" lang="en-AU" sz="2000" b="0" i="0" u="none" strike="noStrike" cap="none" normalizeH="0" baseline="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en-US" sz="2000" b="0" i="0" u="none" strike="noStrike" cap="none" normalizeH="0" baseline="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defRPr/>
                      </a:pPr>
                      <a:endParaRPr kumimoji="0" lang="en-AU" altLang="zh-CN"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sz="2000" b="0" i="0" u="none" strike="noStrike" cap="none" normalizeH="0" baseline="0" dirty="0">
                          <a:ln>
                            <a:noFill/>
                          </a:ln>
                          <a:solidFill>
                            <a:schemeClr val="tx1"/>
                          </a:solidFill>
                          <a:effectLst/>
                          <a:latin typeface="Arial" panose="020B0604020202020204" pitchFamily="34" charset="0"/>
                        </a:rPr>
                        <a:t>500ps</a:t>
                      </a:r>
                      <a:endParaRPr kumimoji="0" lang="en-AU" sz="2000" b="0" i="0" u="none" strike="noStrike" cap="none" normalizeH="0" baseline="0" dirty="0">
                        <a:ln>
                          <a:noFill/>
                        </a:ln>
                        <a:solidFill>
                          <a:schemeClr val="tx1"/>
                        </a:solidFill>
                        <a:effectLst/>
                        <a:latin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6" name="标题 5"/>
          <p:cNvSpPr>
            <a:spLocks noGrp="1"/>
          </p:cNvSpPr>
          <p:nvPr>
            <p:ph type="title"/>
          </p:nvPr>
        </p:nvSpPr>
        <p:spPr/>
        <p:txBody>
          <a:bodyPr/>
          <a:lstStyle/>
          <a:p>
            <a:r>
              <a:rPr lang="zh-CN" altLang="en-US" dirty="0"/>
              <a:t>流水线性能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6564">
                                            <p:txEl>
                                              <p:pRg st="0" end="0"/>
                                            </p:txEl>
                                          </p:spTgt>
                                        </p:tgtEl>
                                        <p:attrNameLst>
                                          <p:attrName>style.visibility</p:attrName>
                                        </p:attrNameLst>
                                      </p:cBhvr>
                                      <p:to>
                                        <p:strVal val="visible"/>
                                      </p:to>
                                    </p:set>
                                    <p:animEffect transition="in" filter="fade">
                                      <p:cBhvr>
                                        <p:cTn id="7" dur="500"/>
                                        <p:tgtEl>
                                          <p:spTgt spid="6656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6564">
                                            <p:txEl>
                                              <p:pRg st="1" end="1"/>
                                            </p:txEl>
                                          </p:spTgt>
                                        </p:tgtEl>
                                        <p:attrNameLst>
                                          <p:attrName>style.visibility</p:attrName>
                                        </p:attrNameLst>
                                      </p:cBhvr>
                                      <p:to>
                                        <p:strVal val="visible"/>
                                      </p:to>
                                    </p:set>
                                    <p:animEffect transition="in" filter="fade">
                                      <p:cBhvr>
                                        <p:cTn id="10" dur="500"/>
                                        <p:tgtEl>
                                          <p:spTgt spid="6656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6564">
                                            <p:txEl>
                                              <p:pRg st="2" end="2"/>
                                            </p:txEl>
                                          </p:spTgt>
                                        </p:tgtEl>
                                        <p:attrNameLst>
                                          <p:attrName>style.visibility</p:attrName>
                                        </p:attrNameLst>
                                      </p:cBhvr>
                                      <p:to>
                                        <p:strVal val="visible"/>
                                      </p:to>
                                    </p:set>
                                    <p:animEffect transition="in" filter="fade">
                                      <p:cBhvr>
                                        <p:cTn id="13" dur="500"/>
                                        <p:tgtEl>
                                          <p:spTgt spid="66564">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66564">
                                            <p:txEl>
                                              <p:pRg st="4" end="4"/>
                                            </p:txEl>
                                          </p:spTgt>
                                        </p:tgtEl>
                                        <p:attrNameLst>
                                          <p:attrName>style.visibility</p:attrName>
                                        </p:attrNameLst>
                                      </p:cBhvr>
                                      <p:to>
                                        <p:strVal val="visible"/>
                                      </p:to>
                                    </p:set>
                                    <p:animEffect transition="in" filter="fade">
                                      <p:cBhvr>
                                        <p:cTn id="16" dur="500"/>
                                        <p:tgtEl>
                                          <p:spTgt spid="66564">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27684"/>
                                        </p:tgtEl>
                                        <p:attrNameLst>
                                          <p:attrName>style.visibility</p:attrName>
                                        </p:attrNameLst>
                                      </p:cBhvr>
                                      <p:to>
                                        <p:strVal val="visible"/>
                                      </p:to>
                                    </p:set>
                                    <p:animEffect transition="in" filter="fade">
                                      <p:cBhvr>
                                        <p:cTn id="21" dur="500"/>
                                        <p:tgtEl>
                                          <p:spTgt spid="327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流水线性能</a:t>
            </a:r>
          </a:p>
        </p:txBody>
      </p:sp>
      <p:sp>
        <p:nvSpPr>
          <p:cNvPr id="4" name="灯片编号占位符 3"/>
          <p:cNvSpPr>
            <a:spLocks noGrp="1"/>
          </p:cNvSpPr>
          <p:nvPr>
            <p:ph type="sldNum" sz="quarter" idx="12"/>
          </p:nvPr>
        </p:nvSpPr>
        <p:spPr>
          <a:xfrm>
            <a:off x="8690502" y="6187668"/>
            <a:ext cx="2743200" cy="365125"/>
          </a:xfrm>
        </p:spPr>
        <p:txBody>
          <a:bodyPr/>
          <a:lstStyle/>
          <a:p>
            <a:fld id="{8EE8E787-E6FE-45D8-9039-788B45E44EE7}" type="slidenum">
              <a:rPr lang="zh-CN" altLang="en-US" smtClean="0"/>
              <a:t>7</a:t>
            </a:fld>
            <a:endParaRPr lang="zh-CN" altLang="en-US" dirty="0"/>
          </a:p>
        </p:txBody>
      </p:sp>
      <p:sp>
        <p:nvSpPr>
          <p:cNvPr id="104" name="矩形 103"/>
          <p:cNvSpPr/>
          <p:nvPr/>
        </p:nvSpPr>
        <p:spPr>
          <a:xfrm>
            <a:off x="1991252" y="5055463"/>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instruction fetch</a:t>
            </a:r>
            <a:endParaRPr lang="en-US" altLang="zh-CN" sz="1400" dirty="0"/>
          </a:p>
        </p:txBody>
      </p:sp>
      <p:sp>
        <p:nvSpPr>
          <p:cNvPr id="105" name="矩形 104"/>
          <p:cNvSpPr/>
          <p:nvPr/>
        </p:nvSpPr>
        <p:spPr>
          <a:xfrm>
            <a:off x="2982487" y="5442813"/>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instruction fetch</a:t>
            </a:r>
            <a:endParaRPr lang="en-US" altLang="zh-CN" sz="1400"/>
          </a:p>
        </p:txBody>
      </p:sp>
      <p:sp>
        <p:nvSpPr>
          <p:cNvPr id="106" name="矩形 105"/>
          <p:cNvSpPr/>
          <p:nvPr/>
        </p:nvSpPr>
        <p:spPr>
          <a:xfrm>
            <a:off x="3973722" y="5830163"/>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instruction fetch</a:t>
            </a:r>
            <a:endParaRPr lang="en-US" altLang="zh-CN" sz="1400"/>
          </a:p>
        </p:txBody>
      </p:sp>
      <p:sp>
        <p:nvSpPr>
          <p:cNvPr id="130" name="文本框 129"/>
          <p:cNvSpPr txBox="1"/>
          <p:nvPr/>
        </p:nvSpPr>
        <p:spPr>
          <a:xfrm>
            <a:off x="1289577" y="4469358"/>
            <a:ext cx="781050" cy="368300"/>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Time</a:t>
            </a:r>
          </a:p>
        </p:txBody>
      </p:sp>
      <p:sp>
        <p:nvSpPr>
          <p:cNvPr id="131" name="矩形 130"/>
          <p:cNvSpPr/>
          <p:nvPr/>
        </p:nvSpPr>
        <p:spPr>
          <a:xfrm>
            <a:off x="3460642" y="5055463"/>
            <a:ext cx="513080" cy="386715"/>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sp>
        <p:nvSpPr>
          <p:cNvPr id="134" name="矩形 133"/>
          <p:cNvSpPr/>
          <p:nvPr/>
        </p:nvSpPr>
        <p:spPr>
          <a:xfrm>
            <a:off x="4964957" y="5055463"/>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Data access</a:t>
            </a:r>
          </a:p>
        </p:txBody>
      </p:sp>
      <p:sp>
        <p:nvSpPr>
          <p:cNvPr id="137" name="矩形 136"/>
          <p:cNvSpPr/>
          <p:nvPr/>
        </p:nvSpPr>
        <p:spPr>
          <a:xfrm>
            <a:off x="4451877" y="5443448"/>
            <a:ext cx="513080" cy="386715"/>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sp>
        <p:nvSpPr>
          <p:cNvPr id="138" name="矩形 137"/>
          <p:cNvSpPr/>
          <p:nvPr/>
        </p:nvSpPr>
        <p:spPr>
          <a:xfrm>
            <a:off x="3973722" y="5055463"/>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ALU</a:t>
            </a:r>
          </a:p>
        </p:txBody>
      </p:sp>
      <p:sp>
        <p:nvSpPr>
          <p:cNvPr id="139" name="矩形 138"/>
          <p:cNvSpPr/>
          <p:nvPr/>
        </p:nvSpPr>
        <p:spPr>
          <a:xfrm>
            <a:off x="4964957" y="5442178"/>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ALU</a:t>
            </a:r>
          </a:p>
        </p:txBody>
      </p:sp>
      <p:sp>
        <p:nvSpPr>
          <p:cNvPr id="140" name="矩形 139"/>
          <p:cNvSpPr/>
          <p:nvPr/>
        </p:nvSpPr>
        <p:spPr>
          <a:xfrm>
            <a:off x="5443112" y="5830798"/>
            <a:ext cx="513080" cy="386715"/>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sp>
        <p:nvSpPr>
          <p:cNvPr id="141" name="矩形 140"/>
          <p:cNvSpPr/>
          <p:nvPr/>
        </p:nvSpPr>
        <p:spPr>
          <a:xfrm>
            <a:off x="5956192" y="5056733"/>
            <a:ext cx="513080" cy="386715"/>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sp>
        <p:nvSpPr>
          <p:cNvPr id="142" name="矩形 141"/>
          <p:cNvSpPr/>
          <p:nvPr/>
        </p:nvSpPr>
        <p:spPr>
          <a:xfrm>
            <a:off x="5956192" y="5442178"/>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Data access</a:t>
            </a:r>
          </a:p>
        </p:txBody>
      </p:sp>
      <p:sp>
        <p:nvSpPr>
          <p:cNvPr id="143" name="矩形 142"/>
          <p:cNvSpPr/>
          <p:nvPr/>
        </p:nvSpPr>
        <p:spPr>
          <a:xfrm>
            <a:off x="5956192" y="5829528"/>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ALU</a:t>
            </a:r>
          </a:p>
        </p:txBody>
      </p:sp>
      <p:sp>
        <p:nvSpPr>
          <p:cNvPr id="144" name="矩形 143"/>
          <p:cNvSpPr/>
          <p:nvPr/>
        </p:nvSpPr>
        <p:spPr>
          <a:xfrm>
            <a:off x="6947427" y="5443448"/>
            <a:ext cx="513080" cy="386715"/>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sp>
        <p:nvSpPr>
          <p:cNvPr id="145" name="矩形 144"/>
          <p:cNvSpPr/>
          <p:nvPr/>
        </p:nvSpPr>
        <p:spPr>
          <a:xfrm>
            <a:off x="6947427" y="5829528"/>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Data access</a:t>
            </a:r>
          </a:p>
        </p:txBody>
      </p:sp>
      <p:sp>
        <p:nvSpPr>
          <p:cNvPr id="146" name="矩形 145"/>
          <p:cNvSpPr/>
          <p:nvPr/>
        </p:nvSpPr>
        <p:spPr>
          <a:xfrm>
            <a:off x="7938662" y="5829528"/>
            <a:ext cx="513080" cy="386715"/>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grpSp>
        <p:nvGrpSpPr>
          <p:cNvPr id="200" name="时间轴与坐标"/>
          <p:cNvGrpSpPr/>
          <p:nvPr/>
        </p:nvGrpSpPr>
        <p:grpSpPr>
          <a:xfrm>
            <a:off x="1991252" y="4322492"/>
            <a:ext cx="9295130" cy="452662"/>
            <a:chOff x="2564456" y="2569836"/>
            <a:chExt cx="9204478" cy="387006"/>
          </a:xfrm>
        </p:grpSpPr>
        <p:grpSp>
          <p:nvGrpSpPr>
            <p:cNvPr id="201" name="时间轴"/>
            <p:cNvGrpSpPr/>
            <p:nvPr/>
          </p:nvGrpSpPr>
          <p:grpSpPr>
            <a:xfrm>
              <a:off x="2564456" y="2866955"/>
              <a:ext cx="9204478" cy="89887"/>
              <a:chOff x="2564456" y="2846523"/>
              <a:chExt cx="9204478" cy="89887"/>
            </a:xfrm>
          </p:grpSpPr>
          <p:cxnSp>
            <p:nvCxnSpPr>
              <p:cNvPr id="202" name="直接箭头连接符 201"/>
              <p:cNvCxnSpPr/>
              <p:nvPr/>
            </p:nvCxnSpPr>
            <p:spPr>
              <a:xfrm>
                <a:off x="2564456" y="2846523"/>
                <a:ext cx="9204478" cy="5972"/>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203" name="直接连接符 202"/>
              <p:cNvCxnSpPr/>
              <p:nvPr/>
            </p:nvCxnSpPr>
            <p:spPr>
              <a:xfrm>
                <a:off x="3540324" y="2852589"/>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204" name="直接连接符 203"/>
              <p:cNvCxnSpPr/>
              <p:nvPr/>
            </p:nvCxnSpPr>
            <p:spPr>
              <a:xfrm>
                <a:off x="7482361" y="2850417"/>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205" name="直接连接符 204"/>
              <p:cNvCxnSpPr/>
              <p:nvPr/>
            </p:nvCxnSpPr>
            <p:spPr>
              <a:xfrm>
                <a:off x="8511018" y="2850416"/>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206" name="直接连接符 205"/>
              <p:cNvCxnSpPr/>
              <p:nvPr/>
            </p:nvCxnSpPr>
            <p:spPr>
              <a:xfrm>
                <a:off x="9485248" y="2850415"/>
                <a:ext cx="0" cy="83821"/>
              </a:xfrm>
              <a:prstGeom prst="line">
                <a:avLst/>
              </a:prstGeom>
              <a:ln w="15875"/>
            </p:spPr>
            <p:style>
              <a:lnRef idx="1">
                <a:schemeClr val="dk1"/>
              </a:lnRef>
              <a:fillRef idx="0">
                <a:schemeClr val="dk1"/>
              </a:fillRef>
              <a:effectRef idx="0">
                <a:schemeClr val="dk1"/>
              </a:effectRef>
              <a:fontRef idx="minor">
                <a:schemeClr val="tx1"/>
              </a:fontRef>
            </p:style>
          </p:cxnSp>
        </p:grpSp>
        <p:sp>
          <p:nvSpPr>
            <p:cNvPr id="207" name="文本框 206"/>
            <p:cNvSpPr txBox="1"/>
            <p:nvPr/>
          </p:nvSpPr>
          <p:spPr>
            <a:xfrm>
              <a:off x="3243041" y="2574432"/>
              <a:ext cx="595084" cy="315763"/>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200</a:t>
              </a:r>
              <a:endParaRPr lang="zh-CN" altLang="en-US" dirty="0">
                <a:latin typeface="Times New Roman" panose="02020603050405020304" pitchFamily="18" charset="0"/>
                <a:cs typeface="Times New Roman" panose="02020603050405020304" pitchFamily="18" charset="0"/>
              </a:endParaRPr>
            </a:p>
          </p:txBody>
        </p:sp>
        <p:sp>
          <p:nvSpPr>
            <p:cNvPr id="208" name="文本框 207"/>
            <p:cNvSpPr txBox="1"/>
            <p:nvPr/>
          </p:nvSpPr>
          <p:spPr>
            <a:xfrm>
              <a:off x="5231517" y="2569836"/>
              <a:ext cx="595084" cy="315763"/>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600</a:t>
              </a:r>
              <a:endParaRPr lang="zh-CN" altLang="en-US" dirty="0">
                <a:latin typeface="Times New Roman" panose="02020603050405020304" pitchFamily="18" charset="0"/>
                <a:cs typeface="Times New Roman" panose="02020603050405020304" pitchFamily="18" charset="0"/>
              </a:endParaRPr>
            </a:p>
          </p:txBody>
        </p:sp>
        <p:sp>
          <p:nvSpPr>
            <p:cNvPr id="209" name="文本框 208"/>
            <p:cNvSpPr txBox="1"/>
            <p:nvPr/>
          </p:nvSpPr>
          <p:spPr>
            <a:xfrm>
              <a:off x="4249588" y="2570126"/>
              <a:ext cx="595084" cy="315763"/>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400</a:t>
              </a:r>
              <a:endParaRPr lang="zh-CN" altLang="en-US" dirty="0">
                <a:latin typeface="Times New Roman" panose="02020603050405020304" pitchFamily="18" charset="0"/>
                <a:cs typeface="Times New Roman" panose="02020603050405020304" pitchFamily="18" charset="0"/>
              </a:endParaRPr>
            </a:p>
          </p:txBody>
        </p:sp>
        <p:sp>
          <p:nvSpPr>
            <p:cNvPr id="210" name="文本框 209"/>
            <p:cNvSpPr txBox="1"/>
            <p:nvPr/>
          </p:nvSpPr>
          <p:spPr>
            <a:xfrm>
              <a:off x="6213087" y="2569991"/>
              <a:ext cx="595084" cy="315763"/>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800</a:t>
              </a:r>
              <a:endParaRPr lang="zh-CN" altLang="en-US" dirty="0">
                <a:latin typeface="Times New Roman" panose="02020603050405020304" pitchFamily="18" charset="0"/>
                <a:cs typeface="Times New Roman" panose="02020603050405020304" pitchFamily="18" charset="0"/>
              </a:endParaRPr>
            </a:p>
          </p:txBody>
        </p:sp>
        <p:sp>
          <p:nvSpPr>
            <p:cNvPr id="211" name="文本框 210"/>
            <p:cNvSpPr txBox="1"/>
            <p:nvPr/>
          </p:nvSpPr>
          <p:spPr>
            <a:xfrm>
              <a:off x="8183812" y="2584603"/>
              <a:ext cx="654053" cy="315763"/>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1200</a:t>
              </a:r>
              <a:endParaRPr lang="zh-CN" altLang="en-US" dirty="0">
                <a:latin typeface="Times New Roman" panose="02020603050405020304" pitchFamily="18" charset="0"/>
                <a:cs typeface="Times New Roman" panose="02020603050405020304" pitchFamily="18" charset="0"/>
              </a:endParaRPr>
            </a:p>
          </p:txBody>
        </p:sp>
        <p:sp>
          <p:nvSpPr>
            <p:cNvPr id="212" name="文本框 211"/>
            <p:cNvSpPr txBox="1"/>
            <p:nvPr/>
          </p:nvSpPr>
          <p:spPr>
            <a:xfrm>
              <a:off x="7152460" y="2579608"/>
              <a:ext cx="660070" cy="315763"/>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1000</a:t>
              </a:r>
              <a:endParaRPr lang="zh-CN" altLang="en-US" dirty="0">
                <a:latin typeface="Times New Roman" panose="02020603050405020304" pitchFamily="18" charset="0"/>
                <a:cs typeface="Times New Roman" panose="02020603050405020304" pitchFamily="18" charset="0"/>
              </a:endParaRPr>
            </a:p>
          </p:txBody>
        </p:sp>
        <p:sp>
          <p:nvSpPr>
            <p:cNvPr id="213" name="文本框 212"/>
            <p:cNvSpPr txBox="1"/>
            <p:nvPr/>
          </p:nvSpPr>
          <p:spPr>
            <a:xfrm>
              <a:off x="9135299" y="2584646"/>
              <a:ext cx="654041" cy="315763"/>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1400</a:t>
              </a:r>
              <a:endParaRPr lang="zh-CN" altLang="en-US" dirty="0">
                <a:latin typeface="Times New Roman" panose="02020603050405020304" pitchFamily="18" charset="0"/>
                <a:cs typeface="Times New Roman" panose="02020603050405020304" pitchFamily="18" charset="0"/>
              </a:endParaRPr>
            </a:p>
          </p:txBody>
        </p:sp>
        <p:sp>
          <p:nvSpPr>
            <p:cNvPr id="214" name="文本框 213"/>
            <p:cNvSpPr txBox="1"/>
            <p:nvPr/>
          </p:nvSpPr>
          <p:spPr>
            <a:xfrm>
              <a:off x="10134594" y="2584864"/>
              <a:ext cx="654039" cy="315763"/>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1600</a:t>
              </a:r>
              <a:endParaRPr lang="zh-CN" altLang="en-US" dirty="0">
                <a:latin typeface="Times New Roman" panose="02020603050405020304" pitchFamily="18" charset="0"/>
                <a:cs typeface="Times New Roman" panose="02020603050405020304" pitchFamily="18" charset="0"/>
              </a:endParaRPr>
            </a:p>
          </p:txBody>
        </p:sp>
      </p:grpSp>
      <p:sp>
        <p:nvSpPr>
          <p:cNvPr id="215" name="文本框 214"/>
          <p:cNvSpPr txBox="1"/>
          <p:nvPr/>
        </p:nvSpPr>
        <p:spPr>
          <a:xfrm>
            <a:off x="10669797" y="4339818"/>
            <a:ext cx="659765"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1800</a:t>
            </a:r>
            <a:endParaRPr lang="zh-CN" altLang="en-US" dirty="0">
              <a:latin typeface="Times New Roman" panose="02020603050405020304" pitchFamily="18" charset="0"/>
              <a:cs typeface="Times New Roman" panose="02020603050405020304" pitchFamily="18" charset="0"/>
            </a:endParaRPr>
          </a:p>
        </p:txBody>
      </p:sp>
      <p:cxnSp>
        <p:nvCxnSpPr>
          <p:cNvPr id="216" name="直接连接符 215"/>
          <p:cNvCxnSpPr/>
          <p:nvPr/>
        </p:nvCxnSpPr>
        <p:spPr>
          <a:xfrm>
            <a:off x="10957292" y="4676724"/>
            <a:ext cx="0" cy="96520"/>
          </a:xfrm>
          <a:prstGeom prst="line">
            <a:avLst/>
          </a:prstGeom>
          <a:ln w="15875"/>
        </p:spPr>
        <p:style>
          <a:lnRef idx="1">
            <a:schemeClr val="dk1"/>
          </a:lnRef>
          <a:fillRef idx="0">
            <a:schemeClr val="dk1"/>
          </a:fillRef>
          <a:effectRef idx="0">
            <a:schemeClr val="dk1"/>
          </a:effectRef>
          <a:fontRef idx="minor">
            <a:schemeClr val="tx1"/>
          </a:fontRef>
        </p:style>
      </p:cxnSp>
      <p:cxnSp>
        <p:nvCxnSpPr>
          <p:cNvPr id="217" name="直接连接符 216"/>
          <p:cNvCxnSpPr/>
          <p:nvPr/>
        </p:nvCxnSpPr>
        <p:spPr>
          <a:xfrm>
            <a:off x="9966110" y="4674571"/>
            <a:ext cx="0" cy="98041"/>
          </a:xfrm>
          <a:prstGeom prst="line">
            <a:avLst/>
          </a:prstGeom>
          <a:ln w="15875"/>
        </p:spPr>
        <p:style>
          <a:lnRef idx="1">
            <a:schemeClr val="dk1"/>
          </a:lnRef>
          <a:fillRef idx="0">
            <a:schemeClr val="dk1"/>
          </a:fillRef>
          <a:effectRef idx="0">
            <a:schemeClr val="dk1"/>
          </a:effectRef>
          <a:fontRef idx="minor">
            <a:schemeClr val="tx1"/>
          </a:fontRef>
        </p:style>
      </p:cxnSp>
      <p:cxnSp>
        <p:nvCxnSpPr>
          <p:cNvPr id="218" name="直接连接符 217"/>
          <p:cNvCxnSpPr/>
          <p:nvPr/>
        </p:nvCxnSpPr>
        <p:spPr>
          <a:xfrm>
            <a:off x="4984832" y="4665048"/>
            <a:ext cx="0" cy="98041"/>
          </a:xfrm>
          <a:prstGeom prst="line">
            <a:avLst/>
          </a:prstGeom>
          <a:ln w="15875"/>
        </p:spPr>
        <p:style>
          <a:lnRef idx="1">
            <a:schemeClr val="dk1"/>
          </a:lnRef>
          <a:fillRef idx="0">
            <a:schemeClr val="dk1"/>
          </a:fillRef>
          <a:effectRef idx="0">
            <a:schemeClr val="dk1"/>
          </a:effectRef>
          <a:fontRef idx="minor">
            <a:schemeClr val="tx1"/>
          </a:fontRef>
        </p:style>
      </p:cxnSp>
      <p:cxnSp>
        <p:nvCxnSpPr>
          <p:cNvPr id="219" name="直接连接符 218"/>
          <p:cNvCxnSpPr/>
          <p:nvPr/>
        </p:nvCxnSpPr>
        <p:spPr>
          <a:xfrm>
            <a:off x="3993481" y="4665048"/>
            <a:ext cx="0" cy="98041"/>
          </a:xfrm>
          <a:prstGeom prst="line">
            <a:avLst/>
          </a:prstGeom>
          <a:ln w="15875"/>
        </p:spPr>
        <p:style>
          <a:lnRef idx="1">
            <a:schemeClr val="dk1"/>
          </a:lnRef>
          <a:fillRef idx="0">
            <a:schemeClr val="dk1"/>
          </a:fillRef>
          <a:effectRef idx="0">
            <a:schemeClr val="dk1"/>
          </a:effectRef>
          <a:fontRef idx="minor">
            <a:schemeClr val="tx1"/>
          </a:fontRef>
        </p:style>
      </p:cxnSp>
      <p:cxnSp>
        <p:nvCxnSpPr>
          <p:cNvPr id="220" name="直接连接符 219"/>
          <p:cNvCxnSpPr/>
          <p:nvPr/>
        </p:nvCxnSpPr>
        <p:spPr>
          <a:xfrm>
            <a:off x="5975610" y="4671398"/>
            <a:ext cx="0" cy="98041"/>
          </a:xfrm>
          <a:prstGeom prst="line">
            <a:avLst/>
          </a:prstGeom>
          <a:ln w="15875"/>
        </p:spPr>
        <p:style>
          <a:lnRef idx="1">
            <a:schemeClr val="dk1"/>
          </a:lnRef>
          <a:fillRef idx="0">
            <a:schemeClr val="dk1"/>
          </a:fillRef>
          <a:effectRef idx="0">
            <a:schemeClr val="dk1"/>
          </a:effectRef>
          <a:fontRef idx="minor">
            <a:schemeClr val="tx1"/>
          </a:fontRef>
        </p:style>
      </p:cxnSp>
      <p:sp>
        <p:nvSpPr>
          <p:cNvPr id="222" name="文本框 221"/>
          <p:cNvSpPr txBox="1"/>
          <p:nvPr/>
        </p:nvSpPr>
        <p:spPr>
          <a:xfrm>
            <a:off x="147458" y="3903074"/>
            <a:ext cx="1186732" cy="1323439"/>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Program</a:t>
            </a:r>
          </a:p>
          <a:p>
            <a:r>
              <a:rPr lang="en-US" altLang="zh-CN" sz="2000" dirty="0">
                <a:latin typeface="Times New Roman" panose="02020603050405020304" pitchFamily="18" charset="0"/>
                <a:cs typeface="Times New Roman" panose="02020603050405020304" pitchFamily="18" charset="0"/>
              </a:rPr>
              <a:t>execution</a:t>
            </a:r>
          </a:p>
          <a:p>
            <a:r>
              <a:rPr lang="en-US" altLang="zh-CN" sz="2000" dirty="0">
                <a:latin typeface="Times New Roman" panose="02020603050405020304" pitchFamily="18" charset="0"/>
                <a:cs typeface="Times New Roman" panose="02020603050405020304" pitchFamily="18" charset="0"/>
              </a:rPr>
              <a:t>order</a:t>
            </a:r>
          </a:p>
          <a:p>
            <a:endParaRPr lang="zh-CN" altLang="en-US" sz="2000" dirty="0"/>
          </a:p>
        </p:txBody>
      </p:sp>
      <p:grpSp>
        <p:nvGrpSpPr>
          <p:cNvPr id="6" name="组合 5"/>
          <p:cNvGrpSpPr/>
          <p:nvPr/>
        </p:nvGrpSpPr>
        <p:grpSpPr>
          <a:xfrm>
            <a:off x="185420" y="1196910"/>
            <a:ext cx="11144885" cy="2909967"/>
            <a:chOff x="104775" y="1472565"/>
            <a:chExt cx="11144885" cy="2909967"/>
          </a:xfrm>
        </p:grpSpPr>
        <p:sp>
          <p:nvSpPr>
            <p:cNvPr id="13" name="矩形 12"/>
            <p:cNvSpPr/>
            <p:nvPr/>
          </p:nvSpPr>
          <p:spPr>
            <a:xfrm>
              <a:off x="1905635" y="269621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instruction fetch</a:t>
              </a:r>
              <a:endParaRPr lang="en-US" altLang="zh-CN" sz="1400" dirty="0"/>
            </a:p>
          </p:txBody>
        </p:sp>
        <p:sp>
          <p:nvSpPr>
            <p:cNvPr id="51" name="矩形 50"/>
            <p:cNvSpPr/>
            <p:nvPr/>
          </p:nvSpPr>
          <p:spPr>
            <a:xfrm>
              <a:off x="9886315" y="347535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instruction fetch</a:t>
              </a:r>
              <a:endParaRPr lang="en-US" altLang="zh-CN" sz="1400"/>
            </a:p>
          </p:txBody>
        </p:sp>
        <p:cxnSp>
          <p:nvCxnSpPr>
            <p:cNvPr id="52" name="直接箭头连接符 51"/>
            <p:cNvCxnSpPr>
              <a:endCxn id="172" idx="1"/>
            </p:cNvCxnSpPr>
            <p:nvPr/>
          </p:nvCxnSpPr>
          <p:spPr>
            <a:xfrm flipV="1">
              <a:off x="1905635" y="3276600"/>
              <a:ext cx="3990340" cy="10795"/>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55" name="文本框 54"/>
            <p:cNvSpPr txBox="1"/>
            <p:nvPr/>
          </p:nvSpPr>
          <p:spPr>
            <a:xfrm>
              <a:off x="3232150" y="3287395"/>
              <a:ext cx="1123950"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800ps</a:t>
              </a:r>
            </a:p>
          </p:txBody>
        </p:sp>
        <p:cxnSp>
          <p:nvCxnSpPr>
            <p:cNvPr id="58" name="直接箭头连接符 57"/>
            <p:cNvCxnSpPr/>
            <p:nvPr/>
          </p:nvCxnSpPr>
          <p:spPr>
            <a:xfrm flipH="1">
              <a:off x="9875520" y="4008120"/>
              <a:ext cx="561340" cy="5080"/>
            </a:xfrm>
            <a:prstGeom prst="straightConnector1">
              <a:avLst/>
            </a:prstGeom>
            <a:ln w="6350" cmpd="sng">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a:off x="10589895" y="4013200"/>
              <a:ext cx="428625" cy="0"/>
            </a:xfrm>
            <a:prstGeom prst="straightConnector1">
              <a:avLst/>
            </a:prstGeom>
            <a:ln w="12700" cmpd="sng">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9875520" y="4013200"/>
              <a:ext cx="1133475"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800ps</a:t>
              </a:r>
            </a:p>
          </p:txBody>
        </p:sp>
        <p:sp>
          <p:nvSpPr>
            <p:cNvPr id="102" name="文本框 101"/>
            <p:cNvSpPr txBox="1"/>
            <p:nvPr/>
          </p:nvSpPr>
          <p:spPr>
            <a:xfrm>
              <a:off x="1209675" y="1940560"/>
              <a:ext cx="781050" cy="368300"/>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Time</a:t>
              </a:r>
            </a:p>
          </p:txBody>
        </p:sp>
        <p:grpSp>
          <p:nvGrpSpPr>
            <p:cNvPr id="147" name="时间轴与坐标"/>
            <p:cNvGrpSpPr/>
            <p:nvPr/>
          </p:nvGrpSpPr>
          <p:grpSpPr>
            <a:xfrm>
              <a:off x="1911350" y="1773374"/>
              <a:ext cx="9295130" cy="452662"/>
              <a:chOff x="2564456" y="2569836"/>
              <a:chExt cx="9204478" cy="387006"/>
            </a:xfrm>
          </p:grpSpPr>
          <p:grpSp>
            <p:nvGrpSpPr>
              <p:cNvPr id="148" name="时间轴"/>
              <p:cNvGrpSpPr/>
              <p:nvPr/>
            </p:nvGrpSpPr>
            <p:grpSpPr>
              <a:xfrm>
                <a:off x="2564456" y="2866955"/>
                <a:ext cx="9204478" cy="89887"/>
                <a:chOff x="2564456" y="2846523"/>
                <a:chExt cx="9204478" cy="89887"/>
              </a:xfrm>
            </p:grpSpPr>
            <p:cxnSp>
              <p:nvCxnSpPr>
                <p:cNvPr id="149" name="直接箭头连接符 148"/>
                <p:cNvCxnSpPr/>
                <p:nvPr/>
              </p:nvCxnSpPr>
              <p:spPr>
                <a:xfrm>
                  <a:off x="2564456" y="2846523"/>
                  <a:ext cx="9204478" cy="5972"/>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150" name="直接连接符 149"/>
                <p:cNvCxnSpPr/>
                <p:nvPr/>
              </p:nvCxnSpPr>
              <p:spPr>
                <a:xfrm>
                  <a:off x="3540324" y="2852589"/>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151" name="直接连接符 150"/>
                <p:cNvCxnSpPr/>
                <p:nvPr/>
              </p:nvCxnSpPr>
              <p:spPr>
                <a:xfrm>
                  <a:off x="7482361" y="2850417"/>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152" name="直接连接符 151"/>
                <p:cNvCxnSpPr/>
                <p:nvPr/>
              </p:nvCxnSpPr>
              <p:spPr>
                <a:xfrm>
                  <a:off x="8511018" y="2850416"/>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153" name="直接连接符 152"/>
                <p:cNvCxnSpPr/>
                <p:nvPr/>
              </p:nvCxnSpPr>
              <p:spPr>
                <a:xfrm>
                  <a:off x="9485248" y="2850415"/>
                  <a:ext cx="0" cy="83821"/>
                </a:xfrm>
                <a:prstGeom prst="line">
                  <a:avLst/>
                </a:prstGeom>
                <a:ln w="15875"/>
              </p:spPr>
              <p:style>
                <a:lnRef idx="1">
                  <a:schemeClr val="dk1"/>
                </a:lnRef>
                <a:fillRef idx="0">
                  <a:schemeClr val="dk1"/>
                </a:fillRef>
                <a:effectRef idx="0">
                  <a:schemeClr val="dk1"/>
                </a:effectRef>
                <a:fontRef idx="minor">
                  <a:schemeClr val="tx1"/>
                </a:fontRef>
              </p:style>
            </p:cxnSp>
          </p:grpSp>
          <p:sp>
            <p:nvSpPr>
              <p:cNvPr id="154" name="文本框 153"/>
              <p:cNvSpPr txBox="1"/>
              <p:nvPr/>
            </p:nvSpPr>
            <p:spPr>
              <a:xfrm>
                <a:off x="3243041" y="2574432"/>
                <a:ext cx="595084" cy="315763"/>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200</a:t>
                </a:r>
                <a:endParaRPr lang="zh-CN" altLang="en-US" dirty="0">
                  <a:latin typeface="Times New Roman" panose="02020603050405020304" pitchFamily="18" charset="0"/>
                  <a:cs typeface="Times New Roman" panose="02020603050405020304" pitchFamily="18" charset="0"/>
                </a:endParaRPr>
              </a:p>
            </p:txBody>
          </p:sp>
          <p:sp>
            <p:nvSpPr>
              <p:cNvPr id="155" name="文本框 154"/>
              <p:cNvSpPr txBox="1"/>
              <p:nvPr/>
            </p:nvSpPr>
            <p:spPr>
              <a:xfrm>
                <a:off x="5231517" y="2569836"/>
                <a:ext cx="595084" cy="315763"/>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600</a:t>
                </a:r>
                <a:endParaRPr lang="zh-CN" altLang="en-US" dirty="0">
                  <a:latin typeface="Times New Roman" panose="02020603050405020304" pitchFamily="18" charset="0"/>
                  <a:cs typeface="Times New Roman" panose="02020603050405020304" pitchFamily="18" charset="0"/>
                </a:endParaRPr>
              </a:p>
            </p:txBody>
          </p:sp>
          <p:sp>
            <p:nvSpPr>
              <p:cNvPr id="156" name="文本框 155"/>
              <p:cNvSpPr txBox="1"/>
              <p:nvPr/>
            </p:nvSpPr>
            <p:spPr>
              <a:xfrm>
                <a:off x="4249588" y="2570126"/>
                <a:ext cx="595084" cy="315763"/>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400</a:t>
                </a:r>
                <a:endParaRPr lang="zh-CN" altLang="en-US" dirty="0">
                  <a:latin typeface="Times New Roman" panose="02020603050405020304" pitchFamily="18" charset="0"/>
                  <a:cs typeface="Times New Roman" panose="02020603050405020304" pitchFamily="18" charset="0"/>
                </a:endParaRPr>
              </a:p>
            </p:txBody>
          </p:sp>
          <p:sp>
            <p:nvSpPr>
              <p:cNvPr id="157" name="文本框 156"/>
              <p:cNvSpPr txBox="1"/>
              <p:nvPr/>
            </p:nvSpPr>
            <p:spPr>
              <a:xfrm>
                <a:off x="6213087" y="2569991"/>
                <a:ext cx="595084" cy="315763"/>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800</a:t>
                </a:r>
                <a:endParaRPr lang="zh-CN" altLang="en-US" dirty="0">
                  <a:latin typeface="Times New Roman" panose="02020603050405020304" pitchFamily="18" charset="0"/>
                  <a:cs typeface="Times New Roman" panose="02020603050405020304" pitchFamily="18" charset="0"/>
                </a:endParaRPr>
              </a:p>
            </p:txBody>
          </p:sp>
          <p:sp>
            <p:nvSpPr>
              <p:cNvPr id="158" name="文本框 157"/>
              <p:cNvSpPr txBox="1"/>
              <p:nvPr/>
            </p:nvSpPr>
            <p:spPr>
              <a:xfrm>
                <a:off x="8183812" y="2584603"/>
                <a:ext cx="654053" cy="315763"/>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1200</a:t>
                </a:r>
                <a:endParaRPr lang="zh-CN" altLang="en-US" dirty="0">
                  <a:latin typeface="Times New Roman" panose="02020603050405020304" pitchFamily="18" charset="0"/>
                  <a:cs typeface="Times New Roman" panose="02020603050405020304" pitchFamily="18" charset="0"/>
                </a:endParaRPr>
              </a:p>
            </p:txBody>
          </p:sp>
          <p:sp>
            <p:nvSpPr>
              <p:cNvPr id="159" name="文本框 158"/>
              <p:cNvSpPr txBox="1"/>
              <p:nvPr/>
            </p:nvSpPr>
            <p:spPr>
              <a:xfrm>
                <a:off x="7152460" y="2579608"/>
                <a:ext cx="660070" cy="315763"/>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1000</a:t>
                </a:r>
                <a:endParaRPr lang="zh-CN" altLang="en-US" dirty="0">
                  <a:latin typeface="Times New Roman" panose="02020603050405020304" pitchFamily="18" charset="0"/>
                  <a:cs typeface="Times New Roman" panose="02020603050405020304" pitchFamily="18" charset="0"/>
                </a:endParaRPr>
              </a:p>
            </p:txBody>
          </p:sp>
          <p:sp>
            <p:nvSpPr>
              <p:cNvPr id="160" name="文本框 159"/>
              <p:cNvSpPr txBox="1"/>
              <p:nvPr/>
            </p:nvSpPr>
            <p:spPr>
              <a:xfrm>
                <a:off x="9135299" y="2584646"/>
                <a:ext cx="654041" cy="315763"/>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1400</a:t>
                </a:r>
                <a:endParaRPr lang="zh-CN" altLang="en-US" dirty="0">
                  <a:latin typeface="Times New Roman" panose="02020603050405020304" pitchFamily="18" charset="0"/>
                  <a:cs typeface="Times New Roman" panose="02020603050405020304" pitchFamily="18" charset="0"/>
                </a:endParaRPr>
              </a:p>
            </p:txBody>
          </p:sp>
          <p:sp>
            <p:nvSpPr>
              <p:cNvPr id="161" name="文本框 160"/>
              <p:cNvSpPr txBox="1"/>
              <p:nvPr/>
            </p:nvSpPr>
            <p:spPr>
              <a:xfrm>
                <a:off x="10134594" y="2584864"/>
                <a:ext cx="654039" cy="315763"/>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1600</a:t>
                </a:r>
                <a:endParaRPr lang="zh-CN" altLang="en-US" dirty="0">
                  <a:latin typeface="Times New Roman" panose="02020603050405020304" pitchFamily="18" charset="0"/>
                  <a:cs typeface="Times New Roman" panose="02020603050405020304" pitchFamily="18" charset="0"/>
                </a:endParaRPr>
              </a:p>
            </p:txBody>
          </p:sp>
        </p:grpSp>
        <p:sp>
          <p:nvSpPr>
            <p:cNvPr id="162" name="文本框 161"/>
            <p:cNvSpPr txBox="1"/>
            <p:nvPr/>
          </p:nvSpPr>
          <p:spPr>
            <a:xfrm>
              <a:off x="10589895" y="1790700"/>
              <a:ext cx="659765"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1800</a:t>
              </a:r>
              <a:endParaRPr lang="zh-CN" altLang="en-US" dirty="0">
                <a:latin typeface="Times New Roman" panose="02020603050405020304" pitchFamily="18" charset="0"/>
                <a:cs typeface="Times New Roman" panose="02020603050405020304" pitchFamily="18" charset="0"/>
              </a:endParaRPr>
            </a:p>
          </p:txBody>
        </p:sp>
        <p:cxnSp>
          <p:nvCxnSpPr>
            <p:cNvPr id="163" name="直接连接符 162"/>
            <p:cNvCxnSpPr/>
            <p:nvPr/>
          </p:nvCxnSpPr>
          <p:spPr>
            <a:xfrm>
              <a:off x="10877390" y="2127606"/>
              <a:ext cx="0" cy="96520"/>
            </a:xfrm>
            <a:prstGeom prst="line">
              <a:avLst/>
            </a:prstGeom>
            <a:ln w="15875"/>
          </p:spPr>
          <p:style>
            <a:lnRef idx="1">
              <a:schemeClr val="dk1"/>
            </a:lnRef>
            <a:fillRef idx="0">
              <a:schemeClr val="dk1"/>
            </a:fillRef>
            <a:effectRef idx="0">
              <a:schemeClr val="dk1"/>
            </a:effectRef>
            <a:fontRef idx="minor">
              <a:schemeClr val="tx1"/>
            </a:fontRef>
          </p:style>
        </p:cxnSp>
        <p:cxnSp>
          <p:nvCxnSpPr>
            <p:cNvPr id="164" name="直接连接符 163"/>
            <p:cNvCxnSpPr/>
            <p:nvPr/>
          </p:nvCxnSpPr>
          <p:spPr>
            <a:xfrm>
              <a:off x="9886208" y="2125453"/>
              <a:ext cx="0" cy="98041"/>
            </a:xfrm>
            <a:prstGeom prst="line">
              <a:avLst/>
            </a:prstGeom>
            <a:ln w="15875"/>
          </p:spPr>
          <p:style>
            <a:lnRef idx="1">
              <a:schemeClr val="dk1"/>
            </a:lnRef>
            <a:fillRef idx="0">
              <a:schemeClr val="dk1"/>
            </a:fillRef>
            <a:effectRef idx="0">
              <a:schemeClr val="dk1"/>
            </a:effectRef>
            <a:fontRef idx="minor">
              <a:schemeClr val="tx1"/>
            </a:fontRef>
          </p:style>
        </p:cxnSp>
        <p:cxnSp>
          <p:nvCxnSpPr>
            <p:cNvPr id="165" name="直接连接符 164"/>
            <p:cNvCxnSpPr/>
            <p:nvPr/>
          </p:nvCxnSpPr>
          <p:spPr>
            <a:xfrm>
              <a:off x="4904930" y="2115930"/>
              <a:ext cx="0" cy="98041"/>
            </a:xfrm>
            <a:prstGeom prst="line">
              <a:avLst/>
            </a:prstGeom>
            <a:ln w="15875"/>
          </p:spPr>
          <p:style>
            <a:lnRef idx="1">
              <a:schemeClr val="dk1"/>
            </a:lnRef>
            <a:fillRef idx="0">
              <a:schemeClr val="dk1"/>
            </a:fillRef>
            <a:effectRef idx="0">
              <a:schemeClr val="dk1"/>
            </a:effectRef>
            <a:fontRef idx="minor">
              <a:schemeClr val="tx1"/>
            </a:fontRef>
          </p:style>
        </p:cxnSp>
        <p:cxnSp>
          <p:nvCxnSpPr>
            <p:cNvPr id="166" name="直接连接符 165"/>
            <p:cNvCxnSpPr/>
            <p:nvPr/>
          </p:nvCxnSpPr>
          <p:spPr>
            <a:xfrm>
              <a:off x="3913579" y="2115930"/>
              <a:ext cx="0" cy="98041"/>
            </a:xfrm>
            <a:prstGeom prst="line">
              <a:avLst/>
            </a:prstGeom>
            <a:ln w="15875"/>
          </p:spPr>
          <p:style>
            <a:lnRef idx="1">
              <a:schemeClr val="dk1"/>
            </a:lnRef>
            <a:fillRef idx="0">
              <a:schemeClr val="dk1"/>
            </a:fillRef>
            <a:effectRef idx="0">
              <a:schemeClr val="dk1"/>
            </a:effectRef>
            <a:fontRef idx="minor">
              <a:schemeClr val="tx1"/>
            </a:fontRef>
          </p:style>
        </p:cxnSp>
        <p:cxnSp>
          <p:nvCxnSpPr>
            <p:cNvPr id="167" name="直接连接符 166"/>
            <p:cNvCxnSpPr/>
            <p:nvPr/>
          </p:nvCxnSpPr>
          <p:spPr>
            <a:xfrm>
              <a:off x="5895708" y="2122280"/>
              <a:ext cx="0" cy="98041"/>
            </a:xfrm>
            <a:prstGeom prst="line">
              <a:avLst/>
            </a:prstGeom>
            <a:ln w="15875"/>
          </p:spPr>
          <p:style>
            <a:lnRef idx="1">
              <a:schemeClr val="dk1"/>
            </a:lnRef>
            <a:fillRef idx="0">
              <a:schemeClr val="dk1"/>
            </a:fillRef>
            <a:effectRef idx="0">
              <a:schemeClr val="dk1"/>
            </a:effectRef>
            <a:fontRef idx="minor">
              <a:schemeClr val="tx1"/>
            </a:fontRef>
          </p:style>
        </p:cxnSp>
        <p:sp>
          <p:nvSpPr>
            <p:cNvPr id="168" name="矩形 167"/>
            <p:cNvSpPr/>
            <p:nvPr/>
          </p:nvSpPr>
          <p:spPr>
            <a:xfrm>
              <a:off x="2887345" y="2696210"/>
              <a:ext cx="513080" cy="386715"/>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Reg</a:t>
              </a:r>
            </a:p>
          </p:txBody>
        </p:sp>
        <p:sp>
          <p:nvSpPr>
            <p:cNvPr id="169" name="矩形 168"/>
            <p:cNvSpPr/>
            <p:nvPr/>
          </p:nvSpPr>
          <p:spPr>
            <a:xfrm>
              <a:off x="3400425" y="269557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ALU</a:t>
              </a:r>
            </a:p>
          </p:txBody>
        </p:sp>
        <p:sp>
          <p:nvSpPr>
            <p:cNvPr id="170" name="矩形 169"/>
            <p:cNvSpPr/>
            <p:nvPr/>
          </p:nvSpPr>
          <p:spPr>
            <a:xfrm>
              <a:off x="4391660" y="269557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Data access</a:t>
              </a:r>
            </a:p>
          </p:txBody>
        </p:sp>
        <p:sp>
          <p:nvSpPr>
            <p:cNvPr id="171" name="矩形 170"/>
            <p:cNvSpPr/>
            <p:nvPr/>
          </p:nvSpPr>
          <p:spPr>
            <a:xfrm>
              <a:off x="5382895" y="2697480"/>
              <a:ext cx="513080" cy="386715"/>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sp>
          <p:nvSpPr>
            <p:cNvPr id="172" name="矩形 171"/>
            <p:cNvSpPr/>
            <p:nvPr/>
          </p:nvSpPr>
          <p:spPr>
            <a:xfrm>
              <a:off x="5895975" y="308292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instruction fetch</a:t>
              </a:r>
              <a:endParaRPr lang="en-US" altLang="zh-CN" sz="1400" dirty="0"/>
            </a:p>
          </p:txBody>
        </p:sp>
        <p:cxnSp>
          <p:nvCxnSpPr>
            <p:cNvPr id="173" name="直接箭头连接符 172"/>
            <p:cNvCxnSpPr>
              <a:endCxn id="51" idx="1"/>
            </p:cNvCxnSpPr>
            <p:nvPr/>
          </p:nvCxnSpPr>
          <p:spPr>
            <a:xfrm flipV="1">
              <a:off x="5895975" y="3669030"/>
              <a:ext cx="3990340" cy="5080"/>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174" name="文本框 173"/>
            <p:cNvSpPr txBox="1"/>
            <p:nvPr/>
          </p:nvSpPr>
          <p:spPr>
            <a:xfrm>
              <a:off x="7222490" y="3674110"/>
              <a:ext cx="1123950"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800ps</a:t>
              </a:r>
            </a:p>
          </p:txBody>
        </p:sp>
        <p:sp>
          <p:nvSpPr>
            <p:cNvPr id="175" name="矩形 174"/>
            <p:cNvSpPr/>
            <p:nvPr/>
          </p:nvSpPr>
          <p:spPr>
            <a:xfrm>
              <a:off x="6877685" y="3082925"/>
              <a:ext cx="513080" cy="386715"/>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sp>
          <p:nvSpPr>
            <p:cNvPr id="176" name="矩形 175"/>
            <p:cNvSpPr/>
            <p:nvPr/>
          </p:nvSpPr>
          <p:spPr>
            <a:xfrm>
              <a:off x="7390765" y="308229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ALU</a:t>
              </a:r>
            </a:p>
          </p:txBody>
        </p:sp>
        <p:sp>
          <p:nvSpPr>
            <p:cNvPr id="177" name="矩形 176"/>
            <p:cNvSpPr/>
            <p:nvPr/>
          </p:nvSpPr>
          <p:spPr>
            <a:xfrm>
              <a:off x="8382000" y="308229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Data access</a:t>
              </a:r>
            </a:p>
          </p:txBody>
        </p:sp>
        <p:sp>
          <p:nvSpPr>
            <p:cNvPr id="178" name="矩形 177"/>
            <p:cNvSpPr/>
            <p:nvPr/>
          </p:nvSpPr>
          <p:spPr>
            <a:xfrm>
              <a:off x="9373235" y="3082290"/>
              <a:ext cx="513080" cy="386715"/>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Reg</a:t>
              </a:r>
            </a:p>
          </p:txBody>
        </p:sp>
        <p:sp>
          <p:nvSpPr>
            <p:cNvPr id="221" name="文本框 220"/>
            <p:cNvSpPr txBox="1"/>
            <p:nvPr/>
          </p:nvSpPr>
          <p:spPr>
            <a:xfrm>
              <a:off x="104775" y="1472565"/>
              <a:ext cx="1176147" cy="1015663"/>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Program</a:t>
              </a:r>
            </a:p>
            <a:p>
              <a:r>
                <a:rPr lang="en-US" altLang="zh-CN" sz="2000" dirty="0">
                  <a:latin typeface="Times New Roman" panose="02020603050405020304" pitchFamily="18" charset="0"/>
                  <a:cs typeface="Times New Roman" panose="02020603050405020304" pitchFamily="18" charset="0"/>
                </a:rPr>
                <a:t>execution</a:t>
              </a:r>
            </a:p>
            <a:p>
              <a:r>
                <a:rPr lang="en-US" altLang="zh-CN" sz="2000" dirty="0">
                  <a:latin typeface="Times New Roman" panose="02020603050405020304" pitchFamily="18" charset="0"/>
                  <a:cs typeface="Times New Roman" panose="02020603050405020304" pitchFamily="18" charset="0"/>
                </a:rPr>
                <a:t>order</a:t>
              </a:r>
            </a:p>
          </p:txBody>
        </p:sp>
        <p:cxnSp>
          <p:nvCxnSpPr>
            <p:cNvPr id="224" name="直接箭头连接符 223"/>
            <p:cNvCxnSpPr/>
            <p:nvPr/>
          </p:nvCxnSpPr>
          <p:spPr>
            <a:xfrm flipH="1">
              <a:off x="492136" y="2863215"/>
              <a:ext cx="1" cy="99949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5" name="文本框 224"/>
            <p:cNvSpPr txBox="1"/>
            <p:nvPr/>
          </p:nvSpPr>
          <p:spPr>
            <a:xfrm>
              <a:off x="685165" y="2863215"/>
              <a:ext cx="1226185" cy="306705"/>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ld x1,100(x4)</a:t>
              </a:r>
            </a:p>
          </p:txBody>
        </p:sp>
        <p:sp>
          <p:nvSpPr>
            <p:cNvPr id="226" name="文本框 225"/>
            <p:cNvSpPr txBox="1"/>
            <p:nvPr/>
          </p:nvSpPr>
          <p:spPr>
            <a:xfrm>
              <a:off x="679450" y="3193415"/>
              <a:ext cx="1226185" cy="306705"/>
            </a:xfrm>
            <a:prstGeom prst="rect">
              <a:avLst/>
            </a:prstGeom>
            <a:noFill/>
          </p:spPr>
          <p:txBody>
            <a:bodyPr wrap="square" rtlCol="0">
              <a:spAutoFit/>
            </a:bodyPr>
            <a:lstStyle>
              <a:defPPr>
                <a:defRPr lang="zh-CN"/>
              </a:defPPr>
              <a:lvl1pPr>
                <a:defRPr sz="1400">
                  <a:latin typeface="Times New Roman" panose="02020603050405020304" pitchFamily="18" charset="0"/>
                  <a:cs typeface="Times New Roman" panose="02020603050405020304" pitchFamily="18" charset="0"/>
                </a:defRPr>
              </a:lvl1pPr>
            </a:lstStyle>
            <a:p>
              <a:r>
                <a:rPr lang="en-US" altLang="zh-CN" dirty="0"/>
                <a:t>ld x2,200(x4)</a:t>
              </a:r>
            </a:p>
          </p:txBody>
        </p:sp>
        <p:sp>
          <p:nvSpPr>
            <p:cNvPr id="227" name="文本框 226"/>
            <p:cNvSpPr txBox="1"/>
            <p:nvPr/>
          </p:nvSpPr>
          <p:spPr>
            <a:xfrm>
              <a:off x="685165" y="3556000"/>
              <a:ext cx="1226185" cy="306705"/>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ld</a:t>
              </a:r>
              <a:r>
                <a:rPr lang="en-US" altLang="zh-CN" sz="1400" dirty="0"/>
                <a:t> </a:t>
              </a:r>
              <a:r>
                <a:rPr lang="en-US" altLang="zh-CN" sz="1400" dirty="0">
                  <a:latin typeface="Times New Roman" panose="02020603050405020304" pitchFamily="18" charset="0"/>
                  <a:cs typeface="Times New Roman" panose="02020603050405020304" pitchFamily="18" charset="0"/>
                </a:rPr>
                <a:t>x3,400</a:t>
              </a:r>
              <a:r>
                <a:rPr lang="en-US" altLang="zh-CN" sz="1400" dirty="0"/>
                <a:t>(x4)</a:t>
              </a:r>
            </a:p>
          </p:txBody>
        </p:sp>
      </p:grpSp>
      <p:cxnSp>
        <p:nvCxnSpPr>
          <p:cNvPr id="228" name="直接箭头连接符 227"/>
          <p:cNvCxnSpPr/>
          <p:nvPr/>
        </p:nvCxnSpPr>
        <p:spPr>
          <a:xfrm>
            <a:off x="596792" y="5055463"/>
            <a:ext cx="0" cy="116078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9" name="文本框 228"/>
          <p:cNvSpPr txBox="1"/>
          <p:nvPr/>
        </p:nvSpPr>
        <p:spPr>
          <a:xfrm>
            <a:off x="757338" y="5160122"/>
            <a:ext cx="1226185" cy="306705"/>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ld</a:t>
            </a:r>
            <a:r>
              <a:rPr lang="en-US" altLang="zh-CN" sz="1400" dirty="0"/>
              <a:t> </a:t>
            </a:r>
            <a:r>
              <a:rPr lang="en-US" altLang="zh-CN" sz="1400" dirty="0">
                <a:latin typeface="Times New Roman" panose="02020603050405020304" pitchFamily="18" charset="0"/>
                <a:cs typeface="Times New Roman" panose="02020603050405020304" pitchFamily="18" charset="0"/>
              </a:rPr>
              <a:t>x1,100</a:t>
            </a:r>
            <a:r>
              <a:rPr lang="en-US" altLang="zh-CN" sz="1400" dirty="0"/>
              <a:t>(x4)</a:t>
            </a:r>
          </a:p>
        </p:txBody>
      </p:sp>
      <p:sp>
        <p:nvSpPr>
          <p:cNvPr id="230" name="文本框 229"/>
          <p:cNvSpPr txBox="1"/>
          <p:nvPr/>
        </p:nvSpPr>
        <p:spPr>
          <a:xfrm>
            <a:off x="753637" y="5546953"/>
            <a:ext cx="1226185" cy="306705"/>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ld</a:t>
            </a:r>
            <a:r>
              <a:rPr lang="en-US" altLang="zh-CN" sz="1400" dirty="0"/>
              <a:t> </a:t>
            </a:r>
            <a:r>
              <a:rPr lang="en-US" altLang="zh-CN" sz="1400" dirty="0">
                <a:latin typeface="Times New Roman" panose="02020603050405020304" pitchFamily="18" charset="0"/>
                <a:cs typeface="Times New Roman" panose="02020603050405020304" pitchFamily="18" charset="0"/>
              </a:rPr>
              <a:t>x2,200</a:t>
            </a:r>
            <a:r>
              <a:rPr lang="en-US" altLang="zh-CN" sz="1400" dirty="0"/>
              <a:t>(x4)</a:t>
            </a:r>
          </a:p>
        </p:txBody>
      </p:sp>
      <p:sp>
        <p:nvSpPr>
          <p:cNvPr id="231" name="文本框 230"/>
          <p:cNvSpPr txBox="1"/>
          <p:nvPr/>
        </p:nvSpPr>
        <p:spPr>
          <a:xfrm>
            <a:off x="759987" y="5965418"/>
            <a:ext cx="1226185" cy="306705"/>
          </a:xfrm>
          <a:prstGeom prst="rect">
            <a:avLst/>
          </a:prstGeom>
          <a:noFill/>
        </p:spPr>
        <p:txBody>
          <a:bodyPr wrap="square" rtlCol="0">
            <a:spAutoFit/>
          </a:bodyPr>
          <a:lstStyle/>
          <a:p>
            <a:r>
              <a:rPr lang="en-US" altLang="zh-CN" sz="1400" dirty="0">
                <a:latin typeface="Times New Roman" panose="02020603050405020304" pitchFamily="18" charset="0"/>
                <a:cs typeface="Times New Roman" panose="02020603050405020304" pitchFamily="18" charset="0"/>
              </a:rPr>
              <a:t>ld</a:t>
            </a:r>
            <a:r>
              <a:rPr lang="en-US" altLang="zh-CN" sz="1400" dirty="0"/>
              <a:t> </a:t>
            </a:r>
            <a:r>
              <a:rPr lang="en-US" altLang="zh-CN" sz="1400" dirty="0">
                <a:latin typeface="Times New Roman" panose="02020603050405020304" pitchFamily="18" charset="0"/>
                <a:cs typeface="Times New Roman" panose="02020603050405020304" pitchFamily="18" charset="0"/>
              </a:rPr>
              <a:t>x3,400</a:t>
            </a:r>
            <a:r>
              <a:rPr lang="en-US" altLang="zh-CN" sz="1400" dirty="0"/>
              <a:t>(x4)</a:t>
            </a:r>
          </a:p>
        </p:txBody>
      </p:sp>
      <p:cxnSp>
        <p:nvCxnSpPr>
          <p:cNvPr id="236" name="直接箭头连接符 235"/>
          <p:cNvCxnSpPr/>
          <p:nvPr/>
        </p:nvCxnSpPr>
        <p:spPr>
          <a:xfrm flipV="1">
            <a:off x="7938027" y="6326733"/>
            <a:ext cx="1006475" cy="3175"/>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37" name="文本框 236"/>
          <p:cNvSpPr txBox="1"/>
          <p:nvPr/>
        </p:nvSpPr>
        <p:spPr>
          <a:xfrm>
            <a:off x="7879607" y="6382613"/>
            <a:ext cx="1123950"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200ps</a:t>
            </a:r>
          </a:p>
        </p:txBody>
      </p:sp>
      <p:cxnSp>
        <p:nvCxnSpPr>
          <p:cNvPr id="238" name="直接箭头连接符 237"/>
          <p:cNvCxnSpPr/>
          <p:nvPr/>
        </p:nvCxnSpPr>
        <p:spPr>
          <a:xfrm flipV="1">
            <a:off x="6939807" y="6329908"/>
            <a:ext cx="1006475" cy="3175"/>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39" name="文本框 238"/>
          <p:cNvSpPr txBox="1"/>
          <p:nvPr/>
        </p:nvSpPr>
        <p:spPr>
          <a:xfrm>
            <a:off x="6881387" y="6382613"/>
            <a:ext cx="1123950"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200ps</a:t>
            </a:r>
          </a:p>
        </p:txBody>
      </p:sp>
      <p:cxnSp>
        <p:nvCxnSpPr>
          <p:cNvPr id="240" name="直接箭头连接符 239"/>
          <p:cNvCxnSpPr/>
          <p:nvPr/>
        </p:nvCxnSpPr>
        <p:spPr>
          <a:xfrm flipV="1">
            <a:off x="5967622" y="6329908"/>
            <a:ext cx="1006475" cy="3175"/>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41" name="文本框 240"/>
          <p:cNvSpPr txBox="1"/>
          <p:nvPr/>
        </p:nvSpPr>
        <p:spPr>
          <a:xfrm>
            <a:off x="5909202" y="6382613"/>
            <a:ext cx="1123950"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200ps</a:t>
            </a:r>
          </a:p>
        </p:txBody>
      </p:sp>
      <p:cxnSp>
        <p:nvCxnSpPr>
          <p:cNvPr id="242" name="直接箭头连接符 241"/>
          <p:cNvCxnSpPr/>
          <p:nvPr/>
        </p:nvCxnSpPr>
        <p:spPr>
          <a:xfrm flipV="1">
            <a:off x="4957337" y="6329908"/>
            <a:ext cx="1006475" cy="3175"/>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43" name="文本框 242"/>
          <p:cNvSpPr txBox="1"/>
          <p:nvPr/>
        </p:nvSpPr>
        <p:spPr>
          <a:xfrm>
            <a:off x="4898917" y="6382613"/>
            <a:ext cx="1123950"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200ps</a:t>
            </a:r>
          </a:p>
        </p:txBody>
      </p:sp>
      <p:cxnSp>
        <p:nvCxnSpPr>
          <p:cNvPr id="244" name="直接箭头连接符 243"/>
          <p:cNvCxnSpPr/>
          <p:nvPr/>
        </p:nvCxnSpPr>
        <p:spPr>
          <a:xfrm flipV="1">
            <a:off x="3965467" y="6329908"/>
            <a:ext cx="1006475" cy="3175"/>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45" name="文本框 244"/>
          <p:cNvSpPr txBox="1"/>
          <p:nvPr/>
        </p:nvSpPr>
        <p:spPr>
          <a:xfrm>
            <a:off x="3907047" y="6382613"/>
            <a:ext cx="1123950"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200ps</a:t>
            </a:r>
          </a:p>
        </p:txBody>
      </p:sp>
      <p:cxnSp>
        <p:nvCxnSpPr>
          <p:cNvPr id="246" name="直接箭头连接符 245"/>
          <p:cNvCxnSpPr/>
          <p:nvPr/>
        </p:nvCxnSpPr>
        <p:spPr>
          <a:xfrm flipV="1">
            <a:off x="2974867" y="5967323"/>
            <a:ext cx="1006475" cy="3175"/>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47" name="文本框 246"/>
          <p:cNvSpPr txBox="1"/>
          <p:nvPr/>
        </p:nvSpPr>
        <p:spPr>
          <a:xfrm>
            <a:off x="2916447" y="6020028"/>
            <a:ext cx="1123950"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200ps</a:t>
            </a:r>
          </a:p>
        </p:txBody>
      </p:sp>
      <p:cxnSp>
        <p:nvCxnSpPr>
          <p:cNvPr id="248" name="直接箭头连接符 247"/>
          <p:cNvCxnSpPr/>
          <p:nvPr/>
        </p:nvCxnSpPr>
        <p:spPr>
          <a:xfrm flipV="1">
            <a:off x="1983632" y="5550128"/>
            <a:ext cx="1006475" cy="3175"/>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49" name="文本框 248"/>
          <p:cNvSpPr txBox="1"/>
          <p:nvPr/>
        </p:nvSpPr>
        <p:spPr>
          <a:xfrm>
            <a:off x="1925212" y="5602833"/>
            <a:ext cx="1123950" cy="36933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200ps</a:t>
            </a:r>
          </a:p>
        </p:txBody>
      </p:sp>
      <mc:AlternateContent xmlns:mc="http://schemas.openxmlformats.org/markup-compatibility/2006" xmlns:a14="http://schemas.microsoft.com/office/drawing/2010/main">
        <mc:Choice Requires="a14">
          <p:sp>
            <p:nvSpPr>
              <p:cNvPr id="5" name="矩形 4"/>
              <p:cNvSpPr/>
              <p:nvPr/>
            </p:nvSpPr>
            <p:spPr>
              <a:xfrm>
                <a:off x="4709433" y="937015"/>
                <a:ext cx="2617812" cy="51293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dirty="0"/>
                  <a:t>Single-cycle(</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𝑐</m:t>
                        </m:r>
                      </m:sub>
                    </m:sSub>
                    <m:r>
                      <a:rPr lang="en-US" altLang="zh-CN" b="0" i="1" smtClean="0">
                        <a:latin typeface="Cambria Math" panose="02040503050406030204" pitchFamily="18" charset="0"/>
                      </a:rPr>
                      <m:t>=800</m:t>
                    </m:r>
                    <m:r>
                      <a:rPr lang="en-US" altLang="zh-CN" b="0" i="1" smtClean="0">
                        <a:latin typeface="Cambria Math" panose="02040503050406030204" pitchFamily="18" charset="0"/>
                      </a:rPr>
                      <m:t>𝑝𝑠</m:t>
                    </m:r>
                  </m:oMath>
                </a14:m>
                <a:r>
                  <a:rPr lang="en-US" altLang="zh-CN" dirty="0"/>
                  <a:t>)</a:t>
                </a:r>
                <a:endParaRPr lang="zh-CN" altLang="en-US" dirty="0"/>
              </a:p>
            </p:txBody>
          </p:sp>
        </mc:Choice>
        <mc:Fallback xmlns="">
          <p:sp>
            <p:nvSpPr>
              <p:cNvPr id="5" name="矩形 4">
                <a:extLst/>
              </p:cNvPr>
              <p:cNvSpPr>
                <a:spLocks noRot="1" noChangeAspect="1" noMove="1" noResize="1" noEditPoints="1" noAdjustHandles="1" noChangeArrowheads="1" noChangeShapeType="1" noTextEdit="1"/>
              </p:cNvSpPr>
              <p:nvPr/>
            </p:nvSpPr>
            <p:spPr>
              <a:xfrm>
                <a:off x="4709433" y="937015"/>
                <a:ext cx="2617812" cy="512938"/>
              </a:xfrm>
              <a:prstGeom prst="rect">
                <a:avLst/>
              </a:prstGeom>
              <a:blipFill>
                <a:blip r:embed="rId3"/>
                <a:stretch>
                  <a:fillRect l="-3256" r="-3023" b="-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8" name="矩形 107"/>
              <p:cNvSpPr/>
              <p:nvPr/>
            </p:nvSpPr>
            <p:spPr>
              <a:xfrm>
                <a:off x="4745920" y="3896861"/>
                <a:ext cx="2617812" cy="38893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dirty="0"/>
                  <a:t>pipelined(</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𝑐</m:t>
                        </m:r>
                      </m:sub>
                    </m:sSub>
                    <m:r>
                      <a:rPr lang="en-US" altLang="zh-CN" b="0" i="1" smtClean="0">
                        <a:latin typeface="Cambria Math" panose="02040503050406030204" pitchFamily="18" charset="0"/>
                      </a:rPr>
                      <m:t>=200</m:t>
                    </m:r>
                    <m:r>
                      <a:rPr lang="en-US" altLang="zh-CN" b="0" i="1" smtClean="0">
                        <a:latin typeface="Cambria Math" panose="02040503050406030204" pitchFamily="18" charset="0"/>
                      </a:rPr>
                      <m:t>𝑝𝑠</m:t>
                    </m:r>
                  </m:oMath>
                </a14:m>
                <a:r>
                  <a:rPr lang="en-US" altLang="zh-CN" dirty="0"/>
                  <a:t>)</a:t>
                </a:r>
                <a:endParaRPr lang="zh-CN" altLang="en-US" dirty="0"/>
              </a:p>
            </p:txBody>
          </p:sp>
        </mc:Choice>
        <mc:Fallback xmlns="">
          <p:sp>
            <p:nvSpPr>
              <p:cNvPr id="108" name="矩形 107">
                <a:extLst/>
              </p:cNvPr>
              <p:cNvSpPr>
                <a:spLocks noRot="1" noChangeAspect="1" noMove="1" noResize="1" noEditPoints="1" noAdjustHandles="1" noChangeArrowheads="1" noChangeShapeType="1" noTextEdit="1"/>
              </p:cNvSpPr>
              <p:nvPr/>
            </p:nvSpPr>
            <p:spPr>
              <a:xfrm>
                <a:off x="4745920" y="3896861"/>
                <a:ext cx="2617812" cy="388938"/>
              </a:xfrm>
              <a:prstGeom prst="rect">
                <a:avLst/>
              </a:prstGeom>
              <a:blipFill>
                <a:blip r:embed="rId4"/>
                <a:stretch>
                  <a:fillRect t="-4615" b="-20000"/>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8"/>
                                        </p:tgtEl>
                                        <p:attrNameLst>
                                          <p:attrName>style.visibility</p:attrName>
                                        </p:attrNameLst>
                                      </p:cBhvr>
                                      <p:to>
                                        <p:strVal val="visible"/>
                                      </p:to>
                                    </p:set>
                                    <p:animEffect transition="in" filter="fade">
                                      <p:cBhvr>
                                        <p:cTn id="12" dur="500"/>
                                        <p:tgtEl>
                                          <p:spTgt spid="10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4"/>
                                        </p:tgtEl>
                                        <p:attrNameLst>
                                          <p:attrName>style.visibility</p:attrName>
                                        </p:attrNameLst>
                                      </p:cBhvr>
                                      <p:to>
                                        <p:strVal val="visible"/>
                                      </p:to>
                                    </p:set>
                                    <p:animEffect transition="in" filter="fade">
                                      <p:cBhvr>
                                        <p:cTn id="18" dur="500"/>
                                        <p:tgtEl>
                                          <p:spTgt spid="10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5"/>
                                        </p:tgtEl>
                                        <p:attrNameLst>
                                          <p:attrName>style.visibility</p:attrName>
                                        </p:attrNameLst>
                                      </p:cBhvr>
                                      <p:to>
                                        <p:strVal val="visible"/>
                                      </p:to>
                                    </p:set>
                                    <p:animEffect transition="in" filter="fade">
                                      <p:cBhvr>
                                        <p:cTn id="21" dur="500"/>
                                        <p:tgtEl>
                                          <p:spTgt spid="10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6"/>
                                        </p:tgtEl>
                                        <p:attrNameLst>
                                          <p:attrName>style.visibility</p:attrName>
                                        </p:attrNameLst>
                                      </p:cBhvr>
                                      <p:to>
                                        <p:strVal val="visible"/>
                                      </p:to>
                                    </p:set>
                                    <p:animEffect transition="in" filter="fade">
                                      <p:cBhvr>
                                        <p:cTn id="24" dur="500"/>
                                        <p:tgtEl>
                                          <p:spTgt spid="10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0"/>
                                        </p:tgtEl>
                                        <p:attrNameLst>
                                          <p:attrName>style.visibility</p:attrName>
                                        </p:attrNameLst>
                                      </p:cBhvr>
                                      <p:to>
                                        <p:strVal val="visible"/>
                                      </p:to>
                                    </p:set>
                                    <p:animEffect transition="in" filter="fade">
                                      <p:cBhvr>
                                        <p:cTn id="27" dur="500"/>
                                        <p:tgtEl>
                                          <p:spTgt spid="13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1"/>
                                        </p:tgtEl>
                                        <p:attrNameLst>
                                          <p:attrName>style.visibility</p:attrName>
                                        </p:attrNameLst>
                                      </p:cBhvr>
                                      <p:to>
                                        <p:strVal val="visible"/>
                                      </p:to>
                                    </p:set>
                                    <p:animEffect transition="in" filter="fade">
                                      <p:cBhvr>
                                        <p:cTn id="30" dur="500"/>
                                        <p:tgtEl>
                                          <p:spTgt spid="13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4"/>
                                        </p:tgtEl>
                                        <p:attrNameLst>
                                          <p:attrName>style.visibility</p:attrName>
                                        </p:attrNameLst>
                                      </p:cBhvr>
                                      <p:to>
                                        <p:strVal val="visible"/>
                                      </p:to>
                                    </p:set>
                                    <p:animEffect transition="in" filter="fade">
                                      <p:cBhvr>
                                        <p:cTn id="33" dur="500"/>
                                        <p:tgtEl>
                                          <p:spTgt spid="13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7"/>
                                        </p:tgtEl>
                                        <p:attrNameLst>
                                          <p:attrName>style.visibility</p:attrName>
                                        </p:attrNameLst>
                                      </p:cBhvr>
                                      <p:to>
                                        <p:strVal val="visible"/>
                                      </p:to>
                                    </p:set>
                                    <p:animEffect transition="in" filter="fade">
                                      <p:cBhvr>
                                        <p:cTn id="36" dur="500"/>
                                        <p:tgtEl>
                                          <p:spTgt spid="13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8"/>
                                        </p:tgtEl>
                                        <p:attrNameLst>
                                          <p:attrName>style.visibility</p:attrName>
                                        </p:attrNameLst>
                                      </p:cBhvr>
                                      <p:to>
                                        <p:strVal val="visible"/>
                                      </p:to>
                                    </p:set>
                                    <p:animEffect transition="in" filter="fade">
                                      <p:cBhvr>
                                        <p:cTn id="39" dur="500"/>
                                        <p:tgtEl>
                                          <p:spTgt spid="13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39"/>
                                        </p:tgtEl>
                                        <p:attrNameLst>
                                          <p:attrName>style.visibility</p:attrName>
                                        </p:attrNameLst>
                                      </p:cBhvr>
                                      <p:to>
                                        <p:strVal val="visible"/>
                                      </p:to>
                                    </p:set>
                                    <p:animEffect transition="in" filter="fade">
                                      <p:cBhvr>
                                        <p:cTn id="42" dur="500"/>
                                        <p:tgtEl>
                                          <p:spTgt spid="13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40"/>
                                        </p:tgtEl>
                                        <p:attrNameLst>
                                          <p:attrName>style.visibility</p:attrName>
                                        </p:attrNameLst>
                                      </p:cBhvr>
                                      <p:to>
                                        <p:strVal val="visible"/>
                                      </p:to>
                                    </p:set>
                                    <p:animEffect transition="in" filter="fade">
                                      <p:cBhvr>
                                        <p:cTn id="45" dur="500"/>
                                        <p:tgtEl>
                                          <p:spTgt spid="14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41"/>
                                        </p:tgtEl>
                                        <p:attrNameLst>
                                          <p:attrName>style.visibility</p:attrName>
                                        </p:attrNameLst>
                                      </p:cBhvr>
                                      <p:to>
                                        <p:strVal val="visible"/>
                                      </p:to>
                                    </p:set>
                                    <p:animEffect transition="in" filter="fade">
                                      <p:cBhvr>
                                        <p:cTn id="48" dur="500"/>
                                        <p:tgtEl>
                                          <p:spTgt spid="14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42"/>
                                        </p:tgtEl>
                                        <p:attrNameLst>
                                          <p:attrName>style.visibility</p:attrName>
                                        </p:attrNameLst>
                                      </p:cBhvr>
                                      <p:to>
                                        <p:strVal val="visible"/>
                                      </p:to>
                                    </p:set>
                                    <p:animEffect transition="in" filter="fade">
                                      <p:cBhvr>
                                        <p:cTn id="51" dur="500"/>
                                        <p:tgtEl>
                                          <p:spTgt spid="14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43"/>
                                        </p:tgtEl>
                                        <p:attrNameLst>
                                          <p:attrName>style.visibility</p:attrName>
                                        </p:attrNameLst>
                                      </p:cBhvr>
                                      <p:to>
                                        <p:strVal val="visible"/>
                                      </p:to>
                                    </p:set>
                                    <p:animEffect transition="in" filter="fade">
                                      <p:cBhvr>
                                        <p:cTn id="54" dur="500"/>
                                        <p:tgtEl>
                                          <p:spTgt spid="143"/>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44"/>
                                        </p:tgtEl>
                                        <p:attrNameLst>
                                          <p:attrName>style.visibility</p:attrName>
                                        </p:attrNameLst>
                                      </p:cBhvr>
                                      <p:to>
                                        <p:strVal val="visible"/>
                                      </p:to>
                                    </p:set>
                                    <p:animEffect transition="in" filter="fade">
                                      <p:cBhvr>
                                        <p:cTn id="57" dur="500"/>
                                        <p:tgtEl>
                                          <p:spTgt spid="14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45"/>
                                        </p:tgtEl>
                                        <p:attrNameLst>
                                          <p:attrName>style.visibility</p:attrName>
                                        </p:attrNameLst>
                                      </p:cBhvr>
                                      <p:to>
                                        <p:strVal val="visible"/>
                                      </p:to>
                                    </p:set>
                                    <p:animEffect transition="in" filter="fade">
                                      <p:cBhvr>
                                        <p:cTn id="60" dur="500"/>
                                        <p:tgtEl>
                                          <p:spTgt spid="145"/>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46"/>
                                        </p:tgtEl>
                                        <p:attrNameLst>
                                          <p:attrName>style.visibility</p:attrName>
                                        </p:attrNameLst>
                                      </p:cBhvr>
                                      <p:to>
                                        <p:strVal val="visible"/>
                                      </p:to>
                                    </p:set>
                                    <p:animEffect transition="in" filter="fade">
                                      <p:cBhvr>
                                        <p:cTn id="63" dur="500"/>
                                        <p:tgtEl>
                                          <p:spTgt spid="146"/>
                                        </p:tgtEl>
                                      </p:cBhvr>
                                    </p:animEffect>
                                  </p:childTnLst>
                                </p:cTn>
                              </p:par>
                              <p:par>
                                <p:cTn id="64" presetID="10" presetClass="entr" presetSubtype="0" fill="hold" nodeType="withEffect">
                                  <p:stCondLst>
                                    <p:cond delay="0"/>
                                  </p:stCondLst>
                                  <p:childTnLst>
                                    <p:set>
                                      <p:cBhvr>
                                        <p:cTn id="65" dur="1" fill="hold">
                                          <p:stCondLst>
                                            <p:cond delay="0"/>
                                          </p:stCondLst>
                                        </p:cTn>
                                        <p:tgtEl>
                                          <p:spTgt spid="200"/>
                                        </p:tgtEl>
                                        <p:attrNameLst>
                                          <p:attrName>style.visibility</p:attrName>
                                        </p:attrNameLst>
                                      </p:cBhvr>
                                      <p:to>
                                        <p:strVal val="visible"/>
                                      </p:to>
                                    </p:set>
                                    <p:animEffect transition="in" filter="fade">
                                      <p:cBhvr>
                                        <p:cTn id="66" dur="500"/>
                                        <p:tgtEl>
                                          <p:spTgt spid="20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15"/>
                                        </p:tgtEl>
                                        <p:attrNameLst>
                                          <p:attrName>style.visibility</p:attrName>
                                        </p:attrNameLst>
                                      </p:cBhvr>
                                      <p:to>
                                        <p:strVal val="visible"/>
                                      </p:to>
                                    </p:set>
                                    <p:animEffect transition="in" filter="fade">
                                      <p:cBhvr>
                                        <p:cTn id="69" dur="500"/>
                                        <p:tgtEl>
                                          <p:spTgt spid="215"/>
                                        </p:tgtEl>
                                      </p:cBhvr>
                                    </p:animEffect>
                                  </p:childTnLst>
                                </p:cTn>
                              </p:par>
                              <p:par>
                                <p:cTn id="70" presetID="10" presetClass="entr" presetSubtype="0" fill="hold" nodeType="withEffect">
                                  <p:stCondLst>
                                    <p:cond delay="0"/>
                                  </p:stCondLst>
                                  <p:childTnLst>
                                    <p:set>
                                      <p:cBhvr>
                                        <p:cTn id="71" dur="1" fill="hold">
                                          <p:stCondLst>
                                            <p:cond delay="0"/>
                                          </p:stCondLst>
                                        </p:cTn>
                                        <p:tgtEl>
                                          <p:spTgt spid="216"/>
                                        </p:tgtEl>
                                        <p:attrNameLst>
                                          <p:attrName>style.visibility</p:attrName>
                                        </p:attrNameLst>
                                      </p:cBhvr>
                                      <p:to>
                                        <p:strVal val="visible"/>
                                      </p:to>
                                    </p:set>
                                    <p:animEffect transition="in" filter="fade">
                                      <p:cBhvr>
                                        <p:cTn id="72" dur="500"/>
                                        <p:tgtEl>
                                          <p:spTgt spid="216"/>
                                        </p:tgtEl>
                                      </p:cBhvr>
                                    </p:animEffect>
                                  </p:childTnLst>
                                </p:cTn>
                              </p:par>
                              <p:par>
                                <p:cTn id="73" presetID="10" presetClass="entr" presetSubtype="0" fill="hold" nodeType="withEffect">
                                  <p:stCondLst>
                                    <p:cond delay="0"/>
                                  </p:stCondLst>
                                  <p:childTnLst>
                                    <p:set>
                                      <p:cBhvr>
                                        <p:cTn id="74" dur="1" fill="hold">
                                          <p:stCondLst>
                                            <p:cond delay="0"/>
                                          </p:stCondLst>
                                        </p:cTn>
                                        <p:tgtEl>
                                          <p:spTgt spid="217"/>
                                        </p:tgtEl>
                                        <p:attrNameLst>
                                          <p:attrName>style.visibility</p:attrName>
                                        </p:attrNameLst>
                                      </p:cBhvr>
                                      <p:to>
                                        <p:strVal val="visible"/>
                                      </p:to>
                                    </p:set>
                                    <p:animEffect transition="in" filter="fade">
                                      <p:cBhvr>
                                        <p:cTn id="75" dur="500"/>
                                        <p:tgtEl>
                                          <p:spTgt spid="217"/>
                                        </p:tgtEl>
                                      </p:cBhvr>
                                    </p:animEffect>
                                  </p:childTnLst>
                                </p:cTn>
                              </p:par>
                              <p:par>
                                <p:cTn id="76" presetID="10" presetClass="entr" presetSubtype="0" fill="hold" nodeType="withEffect">
                                  <p:stCondLst>
                                    <p:cond delay="0"/>
                                  </p:stCondLst>
                                  <p:childTnLst>
                                    <p:set>
                                      <p:cBhvr>
                                        <p:cTn id="77" dur="1" fill="hold">
                                          <p:stCondLst>
                                            <p:cond delay="0"/>
                                          </p:stCondLst>
                                        </p:cTn>
                                        <p:tgtEl>
                                          <p:spTgt spid="218"/>
                                        </p:tgtEl>
                                        <p:attrNameLst>
                                          <p:attrName>style.visibility</p:attrName>
                                        </p:attrNameLst>
                                      </p:cBhvr>
                                      <p:to>
                                        <p:strVal val="visible"/>
                                      </p:to>
                                    </p:set>
                                    <p:animEffect transition="in" filter="fade">
                                      <p:cBhvr>
                                        <p:cTn id="78" dur="500"/>
                                        <p:tgtEl>
                                          <p:spTgt spid="218"/>
                                        </p:tgtEl>
                                      </p:cBhvr>
                                    </p:animEffect>
                                  </p:childTnLst>
                                </p:cTn>
                              </p:par>
                              <p:par>
                                <p:cTn id="79" presetID="10" presetClass="entr" presetSubtype="0" fill="hold" nodeType="withEffect">
                                  <p:stCondLst>
                                    <p:cond delay="0"/>
                                  </p:stCondLst>
                                  <p:childTnLst>
                                    <p:set>
                                      <p:cBhvr>
                                        <p:cTn id="80" dur="1" fill="hold">
                                          <p:stCondLst>
                                            <p:cond delay="0"/>
                                          </p:stCondLst>
                                        </p:cTn>
                                        <p:tgtEl>
                                          <p:spTgt spid="219"/>
                                        </p:tgtEl>
                                        <p:attrNameLst>
                                          <p:attrName>style.visibility</p:attrName>
                                        </p:attrNameLst>
                                      </p:cBhvr>
                                      <p:to>
                                        <p:strVal val="visible"/>
                                      </p:to>
                                    </p:set>
                                    <p:animEffect transition="in" filter="fade">
                                      <p:cBhvr>
                                        <p:cTn id="81" dur="500"/>
                                        <p:tgtEl>
                                          <p:spTgt spid="219"/>
                                        </p:tgtEl>
                                      </p:cBhvr>
                                    </p:animEffect>
                                  </p:childTnLst>
                                </p:cTn>
                              </p:par>
                              <p:par>
                                <p:cTn id="82" presetID="10" presetClass="entr" presetSubtype="0" fill="hold" nodeType="withEffect">
                                  <p:stCondLst>
                                    <p:cond delay="0"/>
                                  </p:stCondLst>
                                  <p:childTnLst>
                                    <p:set>
                                      <p:cBhvr>
                                        <p:cTn id="83" dur="1" fill="hold">
                                          <p:stCondLst>
                                            <p:cond delay="0"/>
                                          </p:stCondLst>
                                        </p:cTn>
                                        <p:tgtEl>
                                          <p:spTgt spid="220"/>
                                        </p:tgtEl>
                                        <p:attrNameLst>
                                          <p:attrName>style.visibility</p:attrName>
                                        </p:attrNameLst>
                                      </p:cBhvr>
                                      <p:to>
                                        <p:strVal val="visible"/>
                                      </p:to>
                                    </p:set>
                                    <p:animEffect transition="in" filter="fade">
                                      <p:cBhvr>
                                        <p:cTn id="84" dur="500"/>
                                        <p:tgtEl>
                                          <p:spTgt spid="22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22"/>
                                        </p:tgtEl>
                                        <p:attrNameLst>
                                          <p:attrName>style.visibility</p:attrName>
                                        </p:attrNameLst>
                                      </p:cBhvr>
                                      <p:to>
                                        <p:strVal val="visible"/>
                                      </p:to>
                                    </p:set>
                                    <p:animEffect transition="in" filter="fade">
                                      <p:cBhvr>
                                        <p:cTn id="87" dur="500"/>
                                        <p:tgtEl>
                                          <p:spTgt spid="222"/>
                                        </p:tgtEl>
                                      </p:cBhvr>
                                    </p:animEffect>
                                  </p:childTnLst>
                                </p:cTn>
                              </p:par>
                              <p:par>
                                <p:cTn id="88" presetID="10" presetClass="entr" presetSubtype="0" fill="hold" nodeType="withEffect">
                                  <p:stCondLst>
                                    <p:cond delay="0"/>
                                  </p:stCondLst>
                                  <p:childTnLst>
                                    <p:set>
                                      <p:cBhvr>
                                        <p:cTn id="89" dur="1" fill="hold">
                                          <p:stCondLst>
                                            <p:cond delay="0"/>
                                          </p:stCondLst>
                                        </p:cTn>
                                        <p:tgtEl>
                                          <p:spTgt spid="228"/>
                                        </p:tgtEl>
                                        <p:attrNameLst>
                                          <p:attrName>style.visibility</p:attrName>
                                        </p:attrNameLst>
                                      </p:cBhvr>
                                      <p:to>
                                        <p:strVal val="visible"/>
                                      </p:to>
                                    </p:set>
                                    <p:animEffect transition="in" filter="fade">
                                      <p:cBhvr>
                                        <p:cTn id="90" dur="500"/>
                                        <p:tgtEl>
                                          <p:spTgt spid="228"/>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229"/>
                                        </p:tgtEl>
                                        <p:attrNameLst>
                                          <p:attrName>style.visibility</p:attrName>
                                        </p:attrNameLst>
                                      </p:cBhvr>
                                      <p:to>
                                        <p:strVal val="visible"/>
                                      </p:to>
                                    </p:set>
                                    <p:animEffect transition="in" filter="fade">
                                      <p:cBhvr>
                                        <p:cTn id="93" dur="500"/>
                                        <p:tgtEl>
                                          <p:spTgt spid="229"/>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230"/>
                                        </p:tgtEl>
                                        <p:attrNameLst>
                                          <p:attrName>style.visibility</p:attrName>
                                        </p:attrNameLst>
                                      </p:cBhvr>
                                      <p:to>
                                        <p:strVal val="visible"/>
                                      </p:to>
                                    </p:set>
                                    <p:animEffect transition="in" filter="fade">
                                      <p:cBhvr>
                                        <p:cTn id="96" dur="500"/>
                                        <p:tgtEl>
                                          <p:spTgt spid="230"/>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231"/>
                                        </p:tgtEl>
                                        <p:attrNameLst>
                                          <p:attrName>style.visibility</p:attrName>
                                        </p:attrNameLst>
                                      </p:cBhvr>
                                      <p:to>
                                        <p:strVal val="visible"/>
                                      </p:to>
                                    </p:set>
                                    <p:animEffect transition="in" filter="fade">
                                      <p:cBhvr>
                                        <p:cTn id="99" dur="500"/>
                                        <p:tgtEl>
                                          <p:spTgt spid="231"/>
                                        </p:tgtEl>
                                      </p:cBhvr>
                                    </p:animEffect>
                                  </p:childTnLst>
                                </p:cTn>
                              </p:par>
                              <p:par>
                                <p:cTn id="100" presetID="10" presetClass="entr" presetSubtype="0" fill="hold" nodeType="withEffect">
                                  <p:stCondLst>
                                    <p:cond delay="0"/>
                                  </p:stCondLst>
                                  <p:childTnLst>
                                    <p:set>
                                      <p:cBhvr>
                                        <p:cTn id="101" dur="1" fill="hold">
                                          <p:stCondLst>
                                            <p:cond delay="0"/>
                                          </p:stCondLst>
                                        </p:cTn>
                                        <p:tgtEl>
                                          <p:spTgt spid="236"/>
                                        </p:tgtEl>
                                        <p:attrNameLst>
                                          <p:attrName>style.visibility</p:attrName>
                                        </p:attrNameLst>
                                      </p:cBhvr>
                                      <p:to>
                                        <p:strVal val="visible"/>
                                      </p:to>
                                    </p:set>
                                    <p:animEffect transition="in" filter="fade">
                                      <p:cBhvr>
                                        <p:cTn id="102" dur="500"/>
                                        <p:tgtEl>
                                          <p:spTgt spid="23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237"/>
                                        </p:tgtEl>
                                        <p:attrNameLst>
                                          <p:attrName>style.visibility</p:attrName>
                                        </p:attrNameLst>
                                      </p:cBhvr>
                                      <p:to>
                                        <p:strVal val="visible"/>
                                      </p:to>
                                    </p:set>
                                    <p:animEffect transition="in" filter="fade">
                                      <p:cBhvr>
                                        <p:cTn id="105" dur="500"/>
                                        <p:tgtEl>
                                          <p:spTgt spid="237"/>
                                        </p:tgtEl>
                                      </p:cBhvr>
                                    </p:animEffect>
                                  </p:childTnLst>
                                </p:cTn>
                              </p:par>
                              <p:par>
                                <p:cTn id="106" presetID="10" presetClass="entr" presetSubtype="0" fill="hold" nodeType="withEffect">
                                  <p:stCondLst>
                                    <p:cond delay="0"/>
                                  </p:stCondLst>
                                  <p:childTnLst>
                                    <p:set>
                                      <p:cBhvr>
                                        <p:cTn id="107" dur="1" fill="hold">
                                          <p:stCondLst>
                                            <p:cond delay="0"/>
                                          </p:stCondLst>
                                        </p:cTn>
                                        <p:tgtEl>
                                          <p:spTgt spid="238"/>
                                        </p:tgtEl>
                                        <p:attrNameLst>
                                          <p:attrName>style.visibility</p:attrName>
                                        </p:attrNameLst>
                                      </p:cBhvr>
                                      <p:to>
                                        <p:strVal val="visible"/>
                                      </p:to>
                                    </p:set>
                                    <p:animEffect transition="in" filter="fade">
                                      <p:cBhvr>
                                        <p:cTn id="108" dur="500"/>
                                        <p:tgtEl>
                                          <p:spTgt spid="238"/>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239"/>
                                        </p:tgtEl>
                                        <p:attrNameLst>
                                          <p:attrName>style.visibility</p:attrName>
                                        </p:attrNameLst>
                                      </p:cBhvr>
                                      <p:to>
                                        <p:strVal val="visible"/>
                                      </p:to>
                                    </p:set>
                                    <p:animEffect transition="in" filter="fade">
                                      <p:cBhvr>
                                        <p:cTn id="111" dur="500"/>
                                        <p:tgtEl>
                                          <p:spTgt spid="239"/>
                                        </p:tgtEl>
                                      </p:cBhvr>
                                    </p:animEffect>
                                  </p:childTnLst>
                                </p:cTn>
                              </p:par>
                              <p:par>
                                <p:cTn id="112" presetID="10" presetClass="entr" presetSubtype="0" fill="hold" nodeType="withEffect">
                                  <p:stCondLst>
                                    <p:cond delay="0"/>
                                  </p:stCondLst>
                                  <p:childTnLst>
                                    <p:set>
                                      <p:cBhvr>
                                        <p:cTn id="113" dur="1" fill="hold">
                                          <p:stCondLst>
                                            <p:cond delay="0"/>
                                          </p:stCondLst>
                                        </p:cTn>
                                        <p:tgtEl>
                                          <p:spTgt spid="240"/>
                                        </p:tgtEl>
                                        <p:attrNameLst>
                                          <p:attrName>style.visibility</p:attrName>
                                        </p:attrNameLst>
                                      </p:cBhvr>
                                      <p:to>
                                        <p:strVal val="visible"/>
                                      </p:to>
                                    </p:set>
                                    <p:animEffect transition="in" filter="fade">
                                      <p:cBhvr>
                                        <p:cTn id="114" dur="500"/>
                                        <p:tgtEl>
                                          <p:spTgt spid="240"/>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241"/>
                                        </p:tgtEl>
                                        <p:attrNameLst>
                                          <p:attrName>style.visibility</p:attrName>
                                        </p:attrNameLst>
                                      </p:cBhvr>
                                      <p:to>
                                        <p:strVal val="visible"/>
                                      </p:to>
                                    </p:set>
                                    <p:animEffect transition="in" filter="fade">
                                      <p:cBhvr>
                                        <p:cTn id="117" dur="500"/>
                                        <p:tgtEl>
                                          <p:spTgt spid="241"/>
                                        </p:tgtEl>
                                      </p:cBhvr>
                                    </p:animEffect>
                                  </p:childTnLst>
                                </p:cTn>
                              </p:par>
                              <p:par>
                                <p:cTn id="118" presetID="10" presetClass="entr" presetSubtype="0" fill="hold" nodeType="withEffect">
                                  <p:stCondLst>
                                    <p:cond delay="0"/>
                                  </p:stCondLst>
                                  <p:childTnLst>
                                    <p:set>
                                      <p:cBhvr>
                                        <p:cTn id="119" dur="1" fill="hold">
                                          <p:stCondLst>
                                            <p:cond delay="0"/>
                                          </p:stCondLst>
                                        </p:cTn>
                                        <p:tgtEl>
                                          <p:spTgt spid="242"/>
                                        </p:tgtEl>
                                        <p:attrNameLst>
                                          <p:attrName>style.visibility</p:attrName>
                                        </p:attrNameLst>
                                      </p:cBhvr>
                                      <p:to>
                                        <p:strVal val="visible"/>
                                      </p:to>
                                    </p:set>
                                    <p:animEffect transition="in" filter="fade">
                                      <p:cBhvr>
                                        <p:cTn id="120" dur="500"/>
                                        <p:tgtEl>
                                          <p:spTgt spid="242"/>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243"/>
                                        </p:tgtEl>
                                        <p:attrNameLst>
                                          <p:attrName>style.visibility</p:attrName>
                                        </p:attrNameLst>
                                      </p:cBhvr>
                                      <p:to>
                                        <p:strVal val="visible"/>
                                      </p:to>
                                    </p:set>
                                    <p:animEffect transition="in" filter="fade">
                                      <p:cBhvr>
                                        <p:cTn id="123" dur="500"/>
                                        <p:tgtEl>
                                          <p:spTgt spid="243"/>
                                        </p:tgtEl>
                                      </p:cBhvr>
                                    </p:animEffect>
                                  </p:childTnLst>
                                </p:cTn>
                              </p:par>
                              <p:par>
                                <p:cTn id="124" presetID="10" presetClass="entr" presetSubtype="0" fill="hold" nodeType="withEffect">
                                  <p:stCondLst>
                                    <p:cond delay="0"/>
                                  </p:stCondLst>
                                  <p:childTnLst>
                                    <p:set>
                                      <p:cBhvr>
                                        <p:cTn id="125" dur="1" fill="hold">
                                          <p:stCondLst>
                                            <p:cond delay="0"/>
                                          </p:stCondLst>
                                        </p:cTn>
                                        <p:tgtEl>
                                          <p:spTgt spid="244"/>
                                        </p:tgtEl>
                                        <p:attrNameLst>
                                          <p:attrName>style.visibility</p:attrName>
                                        </p:attrNameLst>
                                      </p:cBhvr>
                                      <p:to>
                                        <p:strVal val="visible"/>
                                      </p:to>
                                    </p:set>
                                    <p:animEffect transition="in" filter="fade">
                                      <p:cBhvr>
                                        <p:cTn id="126" dur="500"/>
                                        <p:tgtEl>
                                          <p:spTgt spid="244"/>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245"/>
                                        </p:tgtEl>
                                        <p:attrNameLst>
                                          <p:attrName>style.visibility</p:attrName>
                                        </p:attrNameLst>
                                      </p:cBhvr>
                                      <p:to>
                                        <p:strVal val="visible"/>
                                      </p:to>
                                    </p:set>
                                    <p:animEffect transition="in" filter="fade">
                                      <p:cBhvr>
                                        <p:cTn id="129" dur="500"/>
                                        <p:tgtEl>
                                          <p:spTgt spid="245"/>
                                        </p:tgtEl>
                                      </p:cBhvr>
                                    </p:animEffect>
                                  </p:childTnLst>
                                </p:cTn>
                              </p:par>
                              <p:par>
                                <p:cTn id="130" presetID="10" presetClass="entr" presetSubtype="0" fill="hold" nodeType="withEffect">
                                  <p:stCondLst>
                                    <p:cond delay="0"/>
                                  </p:stCondLst>
                                  <p:childTnLst>
                                    <p:set>
                                      <p:cBhvr>
                                        <p:cTn id="131" dur="1" fill="hold">
                                          <p:stCondLst>
                                            <p:cond delay="0"/>
                                          </p:stCondLst>
                                        </p:cTn>
                                        <p:tgtEl>
                                          <p:spTgt spid="246"/>
                                        </p:tgtEl>
                                        <p:attrNameLst>
                                          <p:attrName>style.visibility</p:attrName>
                                        </p:attrNameLst>
                                      </p:cBhvr>
                                      <p:to>
                                        <p:strVal val="visible"/>
                                      </p:to>
                                    </p:set>
                                    <p:animEffect transition="in" filter="fade">
                                      <p:cBhvr>
                                        <p:cTn id="132" dur="500"/>
                                        <p:tgtEl>
                                          <p:spTgt spid="246"/>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247"/>
                                        </p:tgtEl>
                                        <p:attrNameLst>
                                          <p:attrName>style.visibility</p:attrName>
                                        </p:attrNameLst>
                                      </p:cBhvr>
                                      <p:to>
                                        <p:strVal val="visible"/>
                                      </p:to>
                                    </p:set>
                                    <p:animEffect transition="in" filter="fade">
                                      <p:cBhvr>
                                        <p:cTn id="135" dur="500"/>
                                        <p:tgtEl>
                                          <p:spTgt spid="247"/>
                                        </p:tgtEl>
                                      </p:cBhvr>
                                    </p:animEffect>
                                  </p:childTnLst>
                                </p:cTn>
                              </p:par>
                              <p:par>
                                <p:cTn id="136" presetID="10" presetClass="entr" presetSubtype="0" fill="hold" nodeType="withEffect">
                                  <p:stCondLst>
                                    <p:cond delay="0"/>
                                  </p:stCondLst>
                                  <p:childTnLst>
                                    <p:set>
                                      <p:cBhvr>
                                        <p:cTn id="137" dur="1" fill="hold">
                                          <p:stCondLst>
                                            <p:cond delay="0"/>
                                          </p:stCondLst>
                                        </p:cTn>
                                        <p:tgtEl>
                                          <p:spTgt spid="248"/>
                                        </p:tgtEl>
                                        <p:attrNameLst>
                                          <p:attrName>style.visibility</p:attrName>
                                        </p:attrNameLst>
                                      </p:cBhvr>
                                      <p:to>
                                        <p:strVal val="visible"/>
                                      </p:to>
                                    </p:set>
                                    <p:animEffect transition="in" filter="fade">
                                      <p:cBhvr>
                                        <p:cTn id="138" dur="500"/>
                                        <p:tgtEl>
                                          <p:spTgt spid="248"/>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249"/>
                                        </p:tgtEl>
                                        <p:attrNameLst>
                                          <p:attrName>style.visibility</p:attrName>
                                        </p:attrNameLst>
                                      </p:cBhvr>
                                      <p:to>
                                        <p:strVal val="visible"/>
                                      </p:to>
                                    </p:set>
                                    <p:animEffect transition="in" filter="fade">
                                      <p:cBhvr>
                                        <p:cTn id="141" dur="500"/>
                                        <p:tgtEl>
                                          <p:spTgt spid="2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4" grpId="0" animBg="1"/>
      <p:bldP spid="105" grpId="0" animBg="1"/>
      <p:bldP spid="106" grpId="0" animBg="1"/>
      <p:bldP spid="130" grpId="0"/>
      <p:bldP spid="131" grpId="0" animBg="1"/>
      <p:bldP spid="134" grpId="0" animBg="1"/>
      <p:bldP spid="137" grpId="0" animBg="1"/>
      <p:bldP spid="138" grpId="0" animBg="1"/>
      <p:bldP spid="139" grpId="0" animBg="1"/>
      <p:bldP spid="140" grpId="0" animBg="1"/>
      <p:bldP spid="141" grpId="0" animBg="1"/>
      <p:bldP spid="142" grpId="0" animBg="1"/>
      <p:bldP spid="143" grpId="0" animBg="1"/>
      <p:bldP spid="144" grpId="0" animBg="1"/>
      <p:bldP spid="145" grpId="0" animBg="1"/>
      <p:bldP spid="146" grpId="0" animBg="1"/>
      <p:bldP spid="215" grpId="0"/>
      <p:bldP spid="222" grpId="0"/>
      <p:bldP spid="229" grpId="0"/>
      <p:bldP spid="230" grpId="0"/>
      <p:bldP spid="231" grpId="0"/>
      <p:bldP spid="237" grpId="0"/>
      <p:bldP spid="239" grpId="0"/>
      <p:bldP spid="241" grpId="0"/>
      <p:bldP spid="243" grpId="0"/>
      <p:bldP spid="245" grpId="0"/>
      <p:bldP spid="247" grpId="0"/>
      <p:bldP spid="249" grpId="0"/>
      <p:bldP spid="5" grpId="0" animBg="1"/>
      <p:bldP spid="10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p:txBody>
          <a:bodyPr/>
          <a:lstStyle/>
          <a:p>
            <a:pPr>
              <a:lnSpc>
                <a:spcPts val="4300"/>
              </a:lnSpc>
            </a:pPr>
            <a:r>
              <a:rPr lang="zh-CN" altLang="en-US" dirty="0"/>
              <a:t>如果流水线各阶段操作平衡</a:t>
            </a:r>
          </a:p>
          <a:p>
            <a:pPr lvl="1">
              <a:lnSpc>
                <a:spcPts val="4300"/>
              </a:lnSpc>
            </a:pPr>
            <a:r>
              <a:rPr lang="zh-CN" altLang="en-US" dirty="0"/>
              <a:t>例如：所有阶段需要相同的时间</a:t>
            </a:r>
          </a:p>
          <a:p>
            <a:pPr marL="457200" lvl="1" indent="0">
              <a:lnSpc>
                <a:spcPts val="4300"/>
              </a:lnSpc>
              <a:buNone/>
            </a:pPr>
            <a:r>
              <a:rPr lang="zh-CN" altLang="en-US" dirty="0"/>
              <a:t> 则：指令执行时间</a:t>
            </a:r>
            <a:r>
              <a:rPr lang="zh-CN" altLang="en-US" baseline="-25000" dirty="0"/>
              <a:t>流水线</a:t>
            </a:r>
            <a:r>
              <a:rPr lang="en-US" altLang="zh-CN" dirty="0"/>
              <a:t>≈</a:t>
            </a:r>
            <a:r>
              <a:rPr lang="zh-CN" altLang="en-US" dirty="0"/>
              <a:t>指令执行时间</a:t>
            </a:r>
            <a:r>
              <a:rPr lang="zh-CN" altLang="en-US" baseline="-25000" dirty="0"/>
              <a:t>非流水线</a:t>
            </a:r>
            <a:r>
              <a:rPr lang="en-US" altLang="zh-CN" dirty="0"/>
              <a:t>/</a:t>
            </a:r>
            <a:r>
              <a:rPr lang="zh-CN" altLang="en-US" dirty="0"/>
              <a:t>流水线级数</a:t>
            </a:r>
          </a:p>
          <a:p>
            <a:pPr>
              <a:lnSpc>
                <a:spcPts val="4300"/>
              </a:lnSpc>
            </a:pPr>
            <a:r>
              <a:rPr lang="zh-CN" altLang="en-US" dirty="0"/>
              <a:t>在理想条件和有大量指令的情况下，流水线带来的加速比约等于流水线的级数</a:t>
            </a:r>
          </a:p>
          <a:p>
            <a:pPr>
              <a:lnSpc>
                <a:spcPts val="4300"/>
              </a:lnSpc>
            </a:pPr>
            <a:r>
              <a:rPr lang="zh-CN" altLang="en-US" dirty="0"/>
              <a:t>若各阶段不完全平衡，加速比会变小</a:t>
            </a:r>
          </a:p>
          <a:p>
            <a:pPr>
              <a:lnSpc>
                <a:spcPts val="4300"/>
              </a:lnSpc>
            </a:pPr>
            <a:r>
              <a:rPr lang="zh-CN" altLang="en-US" dirty="0"/>
              <a:t>通过提高指令吞吐率来提高性能</a:t>
            </a:r>
          </a:p>
          <a:p>
            <a:pPr lvl="1">
              <a:lnSpc>
                <a:spcPts val="4300"/>
              </a:lnSpc>
            </a:pPr>
            <a:r>
              <a:rPr lang="zh-CN" altLang="en-US" dirty="0">
                <a:solidFill>
                  <a:srgbClr val="0000FF"/>
                </a:solidFill>
              </a:rPr>
              <a:t>注意：单个指令的执行时间没有减少</a:t>
            </a:r>
          </a:p>
        </p:txBody>
      </p:sp>
      <p:sp>
        <p:nvSpPr>
          <p:cNvPr id="6" name="标题 5"/>
          <p:cNvSpPr>
            <a:spLocks noGrp="1"/>
          </p:cNvSpPr>
          <p:nvPr>
            <p:ph type="title"/>
          </p:nvPr>
        </p:nvSpPr>
        <p:spPr/>
        <p:txBody>
          <a:bodyPr/>
          <a:lstStyle/>
          <a:p>
            <a:r>
              <a:rPr lang="zh-CN" altLang="en-US"/>
              <a:t>流水线加速比</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8</a:t>
            </a:fld>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3"/>
          <p:cNvSpPr>
            <a:spLocks noGrp="1" noChangeArrowheads="1"/>
          </p:cNvSpPr>
          <p:nvPr>
            <p:ph idx="1"/>
          </p:nvPr>
        </p:nvSpPr>
        <p:spPr/>
        <p:txBody>
          <a:bodyPr>
            <a:normAutofit fontScale="92500"/>
          </a:bodyPr>
          <a:lstStyle/>
          <a:p>
            <a:pPr eaLnBrk="1" hangingPunct="1">
              <a:lnSpc>
                <a:spcPct val="150000"/>
              </a:lnSpc>
            </a:pPr>
            <a:r>
              <a:rPr lang="en-US" altLang="en-US" dirty="0">
                <a:latin typeface="Times New Roman" panose="02020603050405020304" pitchFamily="18" charset="0"/>
                <a:cs typeface="Times New Roman" panose="02020603050405020304" pitchFamily="18" charset="0"/>
              </a:rPr>
              <a:t>RISC-V </a:t>
            </a:r>
            <a:r>
              <a:rPr lang="zh-CN" altLang="en-US" dirty="0">
                <a:latin typeface="Times New Roman" panose="02020603050405020304" pitchFamily="18" charset="0"/>
                <a:cs typeface="Times New Roman" panose="02020603050405020304" pitchFamily="18" charset="0"/>
              </a:rPr>
              <a:t>指令系统是面向流水线设计的</a:t>
            </a:r>
            <a:endParaRPr lang="en-US" altLang="en-US" dirty="0">
              <a:latin typeface="Times New Roman" panose="02020603050405020304" pitchFamily="18" charset="0"/>
              <a:cs typeface="Times New Roman" panose="02020603050405020304" pitchFamily="18" charset="0"/>
            </a:endParaRPr>
          </a:p>
          <a:p>
            <a:pPr lvl="1" eaLnBrk="1" hangingPunct="1">
              <a:lnSpc>
                <a:spcPct val="150000"/>
              </a:lnSpc>
            </a:pPr>
            <a:r>
              <a:rPr lang="zh-CN" altLang="en-US" dirty="0">
                <a:latin typeface="Times New Roman" panose="02020603050405020304" pitchFamily="18" charset="0"/>
                <a:cs typeface="Times New Roman" panose="02020603050405020304" pitchFamily="18" charset="0"/>
              </a:rPr>
              <a:t>所有</a:t>
            </a:r>
            <a:r>
              <a:rPr lang="en-US" altLang="zh-CN" dirty="0">
                <a:latin typeface="Times New Roman" panose="02020603050405020304" pitchFamily="18" charset="0"/>
                <a:cs typeface="Times New Roman" panose="02020603050405020304" pitchFamily="18" charset="0"/>
              </a:rPr>
              <a:t>RISC-V</a:t>
            </a:r>
            <a:r>
              <a:rPr lang="zh-CN" altLang="en-US" dirty="0">
                <a:latin typeface="Times New Roman" panose="02020603050405020304" pitchFamily="18" charset="0"/>
                <a:cs typeface="Times New Roman" panose="02020603050405020304" pitchFamily="18" charset="0"/>
              </a:rPr>
              <a:t>指令长度相同，都是</a:t>
            </a:r>
            <a:r>
              <a:rPr lang="en-US" altLang="zh-CN" dirty="0">
                <a:latin typeface="Times New Roman" panose="02020603050405020304" pitchFamily="18" charset="0"/>
                <a:cs typeface="Times New Roman" panose="02020603050405020304" pitchFamily="18" charset="0"/>
              </a:rPr>
              <a:t>32 bits</a:t>
            </a:r>
            <a:endParaRPr lang="en-US" altLang="en-US" dirty="0">
              <a:latin typeface="Times New Roman" panose="02020603050405020304" pitchFamily="18" charset="0"/>
              <a:cs typeface="Times New Roman" panose="02020603050405020304" pitchFamily="18" charset="0"/>
            </a:endParaRPr>
          </a:p>
          <a:p>
            <a:pPr lvl="2" eaLnBrk="1" hangingPunct="1">
              <a:lnSpc>
                <a:spcPct val="150000"/>
              </a:lnSpc>
            </a:pPr>
            <a:r>
              <a:rPr lang="zh-CN" altLang="en-US" dirty="0">
                <a:latin typeface="Times New Roman" panose="02020603050405020304" pitchFamily="18" charset="0"/>
                <a:cs typeface="Times New Roman" panose="02020603050405020304" pitchFamily="18" charset="0"/>
              </a:rPr>
              <a:t>简化了流水线第一阶段取指令和第二阶段指令译码</a:t>
            </a:r>
            <a:endParaRPr lang="en-US" altLang="en-US" dirty="0">
              <a:latin typeface="Times New Roman" panose="02020603050405020304" pitchFamily="18" charset="0"/>
              <a:cs typeface="Times New Roman" panose="02020603050405020304" pitchFamily="18" charset="0"/>
            </a:endParaRPr>
          </a:p>
          <a:p>
            <a:pPr lvl="2" eaLnBrk="1" hangingPunct="1">
              <a:lnSpc>
                <a:spcPct val="150000"/>
              </a:lnSpc>
            </a:pPr>
            <a:r>
              <a:rPr lang="en-US" altLang="en-US" dirty="0">
                <a:latin typeface="Times New Roman" panose="02020603050405020304" pitchFamily="18" charset="0"/>
                <a:cs typeface="Times New Roman" panose="02020603050405020304" pitchFamily="18" charset="0"/>
              </a:rPr>
              <a:t>x86: 1-17 bytes</a:t>
            </a:r>
            <a:r>
              <a:rPr lang="zh-CN" altLang="en-US" dirty="0">
                <a:latin typeface="Times New Roman" panose="02020603050405020304" pitchFamily="18" charset="0"/>
                <a:cs typeface="Times New Roman" panose="02020603050405020304" pitchFamily="18" charset="0"/>
              </a:rPr>
              <a:t>的变长指令不利于流水线实现</a:t>
            </a:r>
            <a:endParaRPr lang="en-US" altLang="en-US"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只有</a:t>
            </a:r>
            <a:r>
              <a:rPr lang="en-US" altLang="zh-CN" dirty="0">
                <a:latin typeface="Times New Roman" panose="02020603050405020304" pitchFamily="18" charset="0"/>
                <a:cs typeface="Times New Roman" panose="02020603050405020304" pitchFamily="18" charset="0"/>
              </a:rPr>
              <a:t>6</a:t>
            </a:r>
            <a:r>
              <a:rPr lang="zh-CN" altLang="en-US" dirty="0">
                <a:latin typeface="Times New Roman" panose="02020603050405020304" pitchFamily="18" charset="0"/>
                <a:cs typeface="Times New Roman" panose="02020603050405020304" pitchFamily="18" charset="0"/>
              </a:rPr>
              <a:t>种指令格式，格式整齐，如源寄存器和目标寄存器位置相同</a:t>
            </a:r>
            <a:endParaRPr lang="en-US" altLang="zh-CN" dirty="0">
              <a:latin typeface="Times New Roman" panose="02020603050405020304" pitchFamily="18" charset="0"/>
              <a:cs typeface="Times New Roman" panose="02020603050405020304" pitchFamily="18" charset="0"/>
            </a:endParaRPr>
          </a:p>
          <a:p>
            <a:pPr lvl="2">
              <a:lnSpc>
                <a:spcPct val="150000"/>
              </a:lnSpc>
            </a:pPr>
            <a:r>
              <a:rPr lang="zh-CN" altLang="en-US" dirty="0">
                <a:latin typeface="Times New Roman" panose="02020603050405020304" pitchFamily="18" charset="0"/>
                <a:cs typeface="Times New Roman" panose="02020603050405020304" pitchFamily="18" charset="0"/>
              </a:rPr>
              <a:t>能在一个阶段内完成译码和读寄存器</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存储器操作只出现在</a:t>
            </a:r>
            <a:r>
              <a:rPr lang="en-US" altLang="zh-CN" dirty="0">
                <a:latin typeface="Times New Roman" panose="02020603050405020304" pitchFamily="18" charset="0"/>
                <a:cs typeface="Times New Roman" panose="02020603050405020304" pitchFamily="18" charset="0"/>
              </a:rPr>
              <a:t>load/store</a:t>
            </a:r>
            <a:r>
              <a:rPr lang="zh-CN" altLang="en-US" dirty="0">
                <a:latin typeface="Times New Roman" panose="02020603050405020304" pitchFamily="18" charset="0"/>
                <a:cs typeface="Times New Roman" panose="02020603050405020304" pitchFamily="18" charset="0"/>
              </a:rPr>
              <a:t>指令中</a:t>
            </a:r>
            <a:endParaRPr lang="en-US" altLang="zh-CN" dirty="0">
              <a:latin typeface="Times New Roman" panose="02020603050405020304" pitchFamily="18" charset="0"/>
              <a:cs typeface="Times New Roman" panose="02020603050405020304" pitchFamily="18" charset="0"/>
            </a:endParaRPr>
          </a:p>
          <a:p>
            <a:pPr lvl="2">
              <a:lnSpc>
                <a:spcPct val="150000"/>
              </a:lnSpc>
            </a:pPr>
            <a:r>
              <a:rPr lang="zh-CN" altLang="en-US" dirty="0">
                <a:latin typeface="Times New Roman" panose="02020603050405020304" pitchFamily="18" charset="0"/>
                <a:cs typeface="Times New Roman" panose="02020603050405020304" pitchFamily="18" charset="0"/>
              </a:rPr>
              <a:t>可以利用执行阶段来计算存储器地址，然后在下一阶段访问存储器</a:t>
            </a:r>
            <a:endParaRPr lang="en-US"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8EE8E787-E6FE-45D8-9039-788B45E44EE7}" type="slidenum">
              <a:rPr lang="zh-CN" altLang="en-US" smtClean="0"/>
              <a:t>9</a:t>
            </a:fld>
            <a:endParaRPr lang="zh-CN" altLang="en-US" dirty="0"/>
          </a:p>
        </p:txBody>
      </p:sp>
      <p:sp>
        <p:nvSpPr>
          <p:cNvPr id="3" name="标题 2"/>
          <p:cNvSpPr>
            <a:spLocks noGrp="1"/>
          </p:cNvSpPr>
          <p:nvPr>
            <p:ph type="title"/>
          </p:nvPr>
        </p:nvSpPr>
        <p:spPr/>
        <p:txBody>
          <a:bodyPr/>
          <a:lstStyle/>
          <a:p>
            <a:r>
              <a:rPr lang="zh-CN" altLang="en-US" dirty="0"/>
              <a:t>面向流水线的指令系统设计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708">
                                            <p:txEl>
                                              <p:pRg st="1" end="1"/>
                                            </p:txEl>
                                          </p:spTgt>
                                        </p:tgtEl>
                                        <p:attrNameLst>
                                          <p:attrName>style.visibility</p:attrName>
                                        </p:attrNameLst>
                                      </p:cBhvr>
                                      <p:to>
                                        <p:strVal val="visible"/>
                                      </p:to>
                                    </p:set>
                                    <p:animEffect transition="in" filter="fade">
                                      <p:cBhvr>
                                        <p:cTn id="7" dur="500"/>
                                        <p:tgtEl>
                                          <p:spTgt spid="72708">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2708">
                                            <p:txEl>
                                              <p:pRg st="2" end="2"/>
                                            </p:txEl>
                                          </p:spTgt>
                                        </p:tgtEl>
                                        <p:attrNameLst>
                                          <p:attrName>style.visibility</p:attrName>
                                        </p:attrNameLst>
                                      </p:cBhvr>
                                      <p:to>
                                        <p:strVal val="visible"/>
                                      </p:to>
                                    </p:set>
                                    <p:animEffect transition="in" filter="fade">
                                      <p:cBhvr>
                                        <p:cTn id="10" dur="500"/>
                                        <p:tgtEl>
                                          <p:spTgt spid="72708">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2708">
                                            <p:txEl>
                                              <p:pRg st="3" end="3"/>
                                            </p:txEl>
                                          </p:spTgt>
                                        </p:tgtEl>
                                        <p:attrNameLst>
                                          <p:attrName>style.visibility</p:attrName>
                                        </p:attrNameLst>
                                      </p:cBhvr>
                                      <p:to>
                                        <p:strVal val="visible"/>
                                      </p:to>
                                    </p:set>
                                    <p:animEffect transition="in" filter="fade">
                                      <p:cBhvr>
                                        <p:cTn id="13" dur="500"/>
                                        <p:tgtEl>
                                          <p:spTgt spid="72708">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2708">
                                            <p:txEl>
                                              <p:pRg st="4" end="4"/>
                                            </p:txEl>
                                          </p:spTgt>
                                        </p:tgtEl>
                                        <p:attrNameLst>
                                          <p:attrName>style.visibility</p:attrName>
                                        </p:attrNameLst>
                                      </p:cBhvr>
                                      <p:to>
                                        <p:strVal val="visible"/>
                                      </p:to>
                                    </p:set>
                                    <p:animEffect transition="in" filter="fade">
                                      <p:cBhvr>
                                        <p:cTn id="18" dur="500"/>
                                        <p:tgtEl>
                                          <p:spTgt spid="72708">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72708">
                                            <p:txEl>
                                              <p:pRg st="5" end="5"/>
                                            </p:txEl>
                                          </p:spTgt>
                                        </p:tgtEl>
                                        <p:attrNameLst>
                                          <p:attrName>style.visibility</p:attrName>
                                        </p:attrNameLst>
                                      </p:cBhvr>
                                      <p:to>
                                        <p:strVal val="visible"/>
                                      </p:to>
                                    </p:set>
                                    <p:animEffect transition="in" filter="fade">
                                      <p:cBhvr>
                                        <p:cTn id="21" dur="500"/>
                                        <p:tgtEl>
                                          <p:spTgt spid="72708">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72708">
                                            <p:txEl>
                                              <p:pRg st="6" end="6"/>
                                            </p:txEl>
                                          </p:spTgt>
                                        </p:tgtEl>
                                        <p:attrNameLst>
                                          <p:attrName>style.visibility</p:attrName>
                                        </p:attrNameLst>
                                      </p:cBhvr>
                                      <p:to>
                                        <p:strVal val="visible"/>
                                      </p:to>
                                    </p:set>
                                    <p:animEffect transition="in" filter="fade">
                                      <p:cBhvr>
                                        <p:cTn id="26" dur="500"/>
                                        <p:tgtEl>
                                          <p:spTgt spid="72708">
                                            <p:txEl>
                                              <p:pRg st="6" end="6"/>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72708">
                                            <p:txEl>
                                              <p:pRg st="7" end="7"/>
                                            </p:txEl>
                                          </p:spTgt>
                                        </p:tgtEl>
                                        <p:attrNameLst>
                                          <p:attrName>style.visibility</p:attrName>
                                        </p:attrNameLst>
                                      </p:cBhvr>
                                      <p:to>
                                        <p:strVal val="visible"/>
                                      </p:to>
                                    </p:set>
                                    <p:animEffect transition="in" filter="fade">
                                      <p:cBhvr>
                                        <p:cTn id="29" dur="500"/>
                                        <p:tgtEl>
                                          <p:spTgt spid="7270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3"/>
          <p:cNvSpPr>
            <a:spLocks noGrp="1" noChangeArrowheads="1"/>
          </p:cNvSpPr>
          <p:nvPr>
            <p:ph idx="1"/>
          </p:nvPr>
        </p:nvSpPr>
        <p:spPr>
          <a:xfrm>
            <a:off x="838200" y="1009015"/>
            <a:ext cx="10839450" cy="5263515"/>
          </a:xfrm>
        </p:spPr>
        <p:txBody>
          <a:bodyPr>
            <a:normAutofit/>
          </a:bodyPr>
          <a:lstStyle/>
          <a:p>
            <a:pPr marL="0" indent="0" algn="just" eaLnBrk="1" hangingPunct="1">
              <a:lnSpc>
                <a:spcPct val="90000"/>
              </a:lnSpc>
              <a:buNone/>
            </a:pPr>
            <a:r>
              <a:rPr lang="zh-CN" altLang="en-US" dirty="0"/>
              <a:t>流水线中有一种情况，在下一个时钟周期中下一条指令无法执行，这种情况被称为</a:t>
            </a:r>
            <a:r>
              <a:rPr lang="zh-CN" altLang="en-US" dirty="0">
                <a:solidFill>
                  <a:srgbClr val="0000FF"/>
                </a:solidFill>
              </a:rPr>
              <a:t>流水线冒险</a:t>
            </a:r>
            <a:r>
              <a:rPr lang="en-US" altLang="zh-CN" dirty="0">
                <a:solidFill>
                  <a:srgbClr val="0000FF"/>
                </a:solidFill>
              </a:rPr>
              <a:t>(hazard)</a:t>
            </a:r>
            <a:endParaRPr lang="en-US" altLang="en-US" dirty="0">
              <a:solidFill>
                <a:srgbClr val="0000FF"/>
              </a:solidFill>
            </a:endParaRPr>
          </a:p>
          <a:p>
            <a:pPr algn="just" eaLnBrk="1" hangingPunct="1">
              <a:lnSpc>
                <a:spcPct val="90000"/>
              </a:lnSpc>
            </a:pPr>
            <a:r>
              <a:rPr lang="zh-CN" altLang="en-US" dirty="0"/>
              <a:t>结构冒险</a:t>
            </a:r>
            <a:endParaRPr lang="en-US" altLang="zh-CN" dirty="0"/>
          </a:p>
          <a:p>
            <a:pPr lvl="1" algn="just" eaLnBrk="1" hangingPunct="1">
              <a:lnSpc>
                <a:spcPct val="90000"/>
              </a:lnSpc>
            </a:pPr>
            <a:r>
              <a:rPr lang="zh-CN" altLang="en-US" dirty="0"/>
              <a:t>因</a:t>
            </a:r>
            <a:r>
              <a:rPr lang="zh-CN" altLang="en-US" b="1" dirty="0">
                <a:solidFill>
                  <a:srgbClr val="FF0000"/>
                </a:solidFill>
              </a:rPr>
              <a:t>缺乏硬件支持</a:t>
            </a:r>
            <a:r>
              <a:rPr lang="zh-CN" altLang="en-US" dirty="0"/>
              <a:t>而导致指令不能在预定的时钟周期内执行的情况</a:t>
            </a:r>
            <a:endParaRPr lang="en-US" altLang="en-US" dirty="0"/>
          </a:p>
          <a:p>
            <a:pPr algn="just" eaLnBrk="1" hangingPunct="1">
              <a:lnSpc>
                <a:spcPct val="90000"/>
              </a:lnSpc>
            </a:pPr>
            <a:r>
              <a:rPr lang="zh-CN" altLang="en-US" dirty="0"/>
              <a:t>数据冒险</a:t>
            </a:r>
            <a:endParaRPr lang="en-US" altLang="zh-CN" dirty="0"/>
          </a:p>
          <a:p>
            <a:pPr lvl="1" algn="just" eaLnBrk="1" hangingPunct="1">
              <a:lnSpc>
                <a:spcPct val="90000"/>
              </a:lnSpc>
            </a:pPr>
            <a:r>
              <a:rPr lang="zh-CN" altLang="en-US" dirty="0"/>
              <a:t>因</a:t>
            </a:r>
            <a:r>
              <a:rPr lang="zh-CN" altLang="en-US" b="1" dirty="0">
                <a:solidFill>
                  <a:srgbClr val="FF0000"/>
                </a:solidFill>
              </a:rPr>
              <a:t>无法提供指令执行所需数据</a:t>
            </a:r>
            <a:r>
              <a:rPr lang="zh-CN" altLang="en-US" dirty="0"/>
              <a:t>而导致指令不能在预期的时钟周期内执行的情况。</a:t>
            </a:r>
            <a:r>
              <a:rPr lang="zh-CN" altLang="en-US" dirty="0">
                <a:solidFill>
                  <a:srgbClr val="0000FF"/>
                </a:solidFill>
              </a:rPr>
              <a:t>如上下指令依赖</a:t>
            </a:r>
            <a:r>
              <a:rPr lang="zh-CN" altLang="en-US" dirty="0"/>
              <a:t>。</a:t>
            </a:r>
            <a:endParaRPr lang="en-US" altLang="en-US" dirty="0"/>
          </a:p>
          <a:p>
            <a:pPr algn="just" eaLnBrk="1" hangingPunct="1">
              <a:lnSpc>
                <a:spcPct val="90000"/>
              </a:lnSpc>
            </a:pPr>
            <a:r>
              <a:rPr lang="zh-CN" altLang="en-US" dirty="0"/>
              <a:t>控制冒险（分支冒险）</a:t>
            </a:r>
            <a:endParaRPr lang="en-US" altLang="zh-CN" dirty="0"/>
          </a:p>
          <a:p>
            <a:pPr lvl="1" algn="just">
              <a:lnSpc>
                <a:spcPct val="90000"/>
              </a:lnSpc>
            </a:pPr>
            <a:r>
              <a:rPr lang="zh-CN" altLang="en-US" dirty="0"/>
              <a:t>由于</a:t>
            </a:r>
            <a:r>
              <a:rPr lang="zh-CN" altLang="en-US" b="1" dirty="0">
                <a:solidFill>
                  <a:srgbClr val="FF0000"/>
                </a:solidFill>
              </a:rPr>
              <a:t>取到的指令并不是所需要的</a:t>
            </a:r>
            <a:r>
              <a:rPr lang="zh-CN" altLang="en-US" dirty="0"/>
              <a:t>，或者</a:t>
            </a:r>
            <a:r>
              <a:rPr lang="zh-CN" altLang="en-US" b="1" dirty="0">
                <a:solidFill>
                  <a:srgbClr val="FF0000"/>
                </a:solidFill>
              </a:rPr>
              <a:t>指令地址的流向不是流水线所预期</a:t>
            </a:r>
            <a:r>
              <a:rPr lang="zh-CN" altLang="en-US" dirty="0"/>
              <a:t>的，导致正确的指令无法在正确的时钟周期内执行的情况</a:t>
            </a:r>
            <a:endParaRPr lang="en-US" altLang="en-US"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10</a:t>
            </a:fld>
            <a:endParaRPr lang="zh-CN" altLang="en-US" dirty="0"/>
          </a:p>
        </p:txBody>
      </p:sp>
      <p:sp>
        <p:nvSpPr>
          <p:cNvPr id="3" name="标题 2"/>
          <p:cNvSpPr>
            <a:spLocks noGrp="1"/>
          </p:cNvSpPr>
          <p:nvPr>
            <p:ph type="title"/>
          </p:nvPr>
        </p:nvSpPr>
        <p:spPr/>
        <p:txBody>
          <a:bodyPr/>
          <a:lstStyle/>
          <a:p>
            <a:r>
              <a:rPr lang="zh-CN" altLang="en-US" dirty="0"/>
              <a:t>流水线冒险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4756">
                                            <p:txEl>
                                              <p:pRg st="0" end="0"/>
                                            </p:txEl>
                                          </p:spTgt>
                                        </p:tgtEl>
                                        <p:attrNameLst>
                                          <p:attrName>style.visibility</p:attrName>
                                        </p:attrNameLst>
                                      </p:cBhvr>
                                      <p:to>
                                        <p:strVal val="visible"/>
                                      </p:to>
                                    </p:set>
                                    <p:animEffect transition="in" filter="fade">
                                      <p:cBhvr>
                                        <p:cTn id="7" dur="500"/>
                                        <p:tgtEl>
                                          <p:spTgt spid="747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4756">
                                            <p:txEl>
                                              <p:pRg st="1" end="1"/>
                                            </p:txEl>
                                          </p:spTgt>
                                        </p:tgtEl>
                                        <p:attrNameLst>
                                          <p:attrName>style.visibility</p:attrName>
                                        </p:attrNameLst>
                                      </p:cBhvr>
                                      <p:to>
                                        <p:strVal val="visible"/>
                                      </p:to>
                                    </p:set>
                                    <p:animEffect transition="in" filter="fade">
                                      <p:cBhvr>
                                        <p:cTn id="12" dur="500"/>
                                        <p:tgtEl>
                                          <p:spTgt spid="74756">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74756">
                                            <p:txEl>
                                              <p:pRg st="3" end="3"/>
                                            </p:txEl>
                                          </p:spTgt>
                                        </p:tgtEl>
                                        <p:attrNameLst>
                                          <p:attrName>style.visibility</p:attrName>
                                        </p:attrNameLst>
                                      </p:cBhvr>
                                      <p:to>
                                        <p:strVal val="visible"/>
                                      </p:to>
                                    </p:set>
                                    <p:animEffect transition="in" filter="fade">
                                      <p:cBhvr>
                                        <p:cTn id="15" dur="500"/>
                                        <p:tgtEl>
                                          <p:spTgt spid="74756">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74756">
                                            <p:txEl>
                                              <p:pRg st="5" end="5"/>
                                            </p:txEl>
                                          </p:spTgt>
                                        </p:tgtEl>
                                        <p:attrNameLst>
                                          <p:attrName>style.visibility</p:attrName>
                                        </p:attrNameLst>
                                      </p:cBhvr>
                                      <p:to>
                                        <p:strVal val="visible"/>
                                      </p:to>
                                    </p:set>
                                    <p:animEffect transition="in" filter="fade">
                                      <p:cBhvr>
                                        <p:cTn id="18" dur="500"/>
                                        <p:tgtEl>
                                          <p:spTgt spid="74756">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4756">
                                            <p:txEl>
                                              <p:pRg st="2" end="2"/>
                                            </p:txEl>
                                          </p:spTgt>
                                        </p:tgtEl>
                                        <p:attrNameLst>
                                          <p:attrName>style.visibility</p:attrName>
                                        </p:attrNameLst>
                                      </p:cBhvr>
                                      <p:to>
                                        <p:strVal val="visible"/>
                                      </p:to>
                                    </p:set>
                                    <p:animEffect transition="in" filter="fade">
                                      <p:cBhvr>
                                        <p:cTn id="23" dur="500"/>
                                        <p:tgtEl>
                                          <p:spTgt spid="74756">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74756">
                                            <p:txEl>
                                              <p:pRg st="4" end="4"/>
                                            </p:txEl>
                                          </p:spTgt>
                                        </p:tgtEl>
                                        <p:attrNameLst>
                                          <p:attrName>style.visibility</p:attrName>
                                        </p:attrNameLst>
                                      </p:cBhvr>
                                      <p:to>
                                        <p:strVal val="visible"/>
                                      </p:to>
                                    </p:set>
                                    <p:animEffect transition="in" filter="fade">
                                      <p:cBhvr>
                                        <p:cTn id="28" dur="500"/>
                                        <p:tgtEl>
                                          <p:spTgt spid="74756">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74756">
                                            <p:txEl>
                                              <p:pRg st="6" end="6"/>
                                            </p:txEl>
                                          </p:spTgt>
                                        </p:tgtEl>
                                        <p:attrNameLst>
                                          <p:attrName>style.visibility</p:attrName>
                                        </p:attrNameLst>
                                      </p:cBhvr>
                                      <p:to>
                                        <p:strVal val="visible"/>
                                      </p:to>
                                    </p:set>
                                    <p:animEffect transition="in" filter="fade">
                                      <p:cBhvr>
                                        <p:cTn id="33" dur="500"/>
                                        <p:tgtEl>
                                          <p:spTgt spid="7475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占位符 2"/>
          <p:cNvPicPr>
            <a:picLocks noGrp="1" noChangeAspect="1"/>
          </p:cNvPicPr>
          <p:nvPr>
            <p:ph idx="1"/>
          </p:nvPr>
        </p:nvPicPr>
        <p:blipFill>
          <a:blip r:embed="rId3"/>
          <a:stretch>
            <a:fillRect/>
          </a:stretch>
        </p:blipFill>
        <p:spPr>
          <a:xfrm>
            <a:off x="4038421" y="1214513"/>
            <a:ext cx="4115157" cy="4852837"/>
          </a:xfrm>
          <a:prstGeom prst="rect">
            <a:avLst/>
          </a:prstGeom>
        </p:spPr>
      </p:pic>
      <p:sp>
        <p:nvSpPr>
          <p:cNvPr id="5" name="灯片编号占位符 4"/>
          <p:cNvSpPr>
            <a:spLocks noGrp="1"/>
          </p:cNvSpPr>
          <p:nvPr>
            <p:ph type="sldNum" sz="quarter" idx="12"/>
          </p:nvPr>
        </p:nvSpPr>
        <p:spPr/>
        <p:txBody>
          <a:bodyPr/>
          <a:lstStyle/>
          <a:p>
            <a:fld id="{8EE8E787-E6FE-45D8-9039-788B45E44EE7}" type="slidenum">
              <a:rPr lang="zh-CN" altLang="en-US" smtClean="0"/>
              <a:t>11</a:t>
            </a:fld>
            <a:endParaRPr lang="zh-CN" altLang="en-US" dirty="0"/>
          </a:p>
        </p:txBody>
      </p:sp>
      <p:sp>
        <p:nvSpPr>
          <p:cNvPr id="76804" name="Rectangle 3"/>
          <p:cNvSpPr>
            <a:spLocks noGrp="1" noChangeArrowheads="1"/>
          </p:cNvSpPr>
          <p:nvPr>
            <p:ph type="body" sz="quarter" idx="4294967295"/>
          </p:nvPr>
        </p:nvSpPr>
        <p:spPr>
          <a:xfrm>
            <a:off x="838200" y="990600"/>
            <a:ext cx="10801350" cy="2705100"/>
          </a:xfrm>
        </p:spPr>
        <p:txBody>
          <a:bodyPr>
            <a:normAutofit/>
          </a:bodyPr>
          <a:lstStyle/>
          <a:p>
            <a:pPr eaLnBrk="1" hangingPunct="1"/>
            <a:r>
              <a:rPr lang="zh-CN" altLang="en-US" b="1" dirty="0"/>
              <a:t>硬件资源</a:t>
            </a:r>
            <a:r>
              <a:rPr lang="zh-CN" altLang="en-US" dirty="0"/>
              <a:t>不支持多条指令在同一时钟周期执行</a:t>
            </a:r>
            <a:endParaRPr lang="en-US" altLang="en-US" dirty="0"/>
          </a:p>
          <a:p>
            <a:pPr eaLnBrk="1" hangingPunct="1"/>
            <a:r>
              <a:rPr lang="zh-CN" altLang="en-US" dirty="0"/>
              <a:t>假设下图</a:t>
            </a:r>
            <a:r>
              <a:rPr lang="en-US" altLang="zh-CN" dirty="0"/>
              <a:t>RISC-V</a:t>
            </a:r>
            <a:r>
              <a:rPr lang="zh-CN" altLang="en-US" dirty="0"/>
              <a:t>流水线结构</a:t>
            </a:r>
            <a:r>
              <a:rPr lang="zh-CN" altLang="en-US" dirty="0">
                <a:solidFill>
                  <a:srgbClr val="0000FF"/>
                </a:solidFill>
              </a:rPr>
              <a:t>只有一个存储器</a:t>
            </a:r>
            <a:endParaRPr lang="en-US" altLang="en-US" dirty="0">
              <a:solidFill>
                <a:srgbClr val="0000FF"/>
              </a:solidFill>
            </a:endParaRPr>
          </a:p>
          <a:p>
            <a:pPr lvl="1"/>
            <a:r>
              <a:rPr lang="en-US" altLang="en-US" dirty="0"/>
              <a:t>load/store</a:t>
            </a:r>
            <a:r>
              <a:rPr lang="zh-CN" altLang="en-US" dirty="0"/>
              <a:t>需要访问存储器</a:t>
            </a:r>
            <a:endParaRPr lang="en-US" altLang="en-US" dirty="0"/>
          </a:p>
          <a:p>
            <a:pPr lvl="1" eaLnBrk="1" hangingPunct="1"/>
            <a:r>
              <a:rPr lang="zh-CN" altLang="en-US" dirty="0"/>
              <a:t>如果有第四条指令，则第一条指令从存储器取数据的同时，第四条指令从同一存储器取指令，流水线发生结构冒险</a:t>
            </a:r>
            <a:endParaRPr lang="en-US" altLang="en-US" dirty="0"/>
          </a:p>
        </p:txBody>
      </p:sp>
      <p:sp>
        <p:nvSpPr>
          <p:cNvPr id="12" name="标题 11"/>
          <p:cNvSpPr>
            <a:spLocks noGrp="1"/>
          </p:cNvSpPr>
          <p:nvPr>
            <p:ph type="title"/>
          </p:nvPr>
        </p:nvSpPr>
        <p:spPr/>
        <p:txBody>
          <a:bodyPr/>
          <a:lstStyle/>
          <a:p>
            <a:r>
              <a:rPr lang="zh-CN" altLang="en-US" dirty="0"/>
              <a:t>结构冒险</a:t>
            </a:r>
          </a:p>
        </p:txBody>
      </p:sp>
      <p:sp>
        <p:nvSpPr>
          <p:cNvPr id="8" name="Rectangle 3"/>
          <p:cNvSpPr txBox="1">
            <a:spLocks noChangeArrowheads="1"/>
          </p:cNvSpPr>
          <p:nvPr/>
        </p:nvSpPr>
        <p:spPr>
          <a:xfrm>
            <a:off x="9175750" y="3665220"/>
            <a:ext cx="2821940" cy="278384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3200" kern="1200">
                <a:solidFill>
                  <a:schemeClr val="tx1"/>
                </a:solidFill>
                <a:latin typeface="宋体" panose="02010600030101010101" pitchFamily="2" charset="-122"/>
                <a:ea typeface="宋体" panose="02010600030101010101" pitchFamily="2" charset="-122"/>
                <a:cs typeface="+mn-cs"/>
              </a:defRPr>
            </a:lvl1pPr>
            <a:lvl2pPr marL="685800" indent="-228600" algn="l" defTabSz="914400" rtl="0" eaLnBrk="1" latinLnBrk="0" hangingPunct="1">
              <a:lnSpc>
                <a:spcPct val="100000"/>
              </a:lnSpc>
              <a:spcBef>
                <a:spcPts val="500"/>
              </a:spcBef>
              <a:buClr>
                <a:schemeClr val="accent1"/>
              </a:buClr>
              <a:buFont typeface="Arial" panose="020B0604020202020204" pitchFamily="34" charset="0"/>
              <a:buChar char="•"/>
              <a:defRPr sz="2800" kern="1200">
                <a:solidFill>
                  <a:schemeClr val="tx1"/>
                </a:solidFill>
                <a:latin typeface="宋体" panose="02010600030101010101" pitchFamily="2" charset="-122"/>
                <a:ea typeface="宋体" panose="02010600030101010101" pitchFamily="2" charset="-122"/>
                <a:cs typeface="+mn-cs"/>
              </a:defRPr>
            </a:lvl2pPr>
            <a:lvl3pPr marL="1143000" indent="-228600" algn="l" defTabSz="914400" rtl="0" eaLnBrk="1" latinLnBrk="0" hangingPunct="1">
              <a:lnSpc>
                <a:spcPct val="100000"/>
              </a:lnSpc>
              <a:spcBef>
                <a:spcPts val="500"/>
              </a:spcBef>
              <a:buClr>
                <a:schemeClr val="accent6">
                  <a:lumMod val="75000"/>
                </a:schemeClr>
              </a:buClr>
              <a:buFont typeface="Arial" panose="020B0604020202020204" pitchFamily="34" charset="0"/>
              <a:buChar char="•"/>
              <a:defRPr sz="2400" kern="1200">
                <a:solidFill>
                  <a:schemeClr val="tx1"/>
                </a:solidFill>
                <a:latin typeface="宋体" panose="02010600030101010101" pitchFamily="2" charset="-122"/>
                <a:ea typeface="宋体" panose="02010600030101010101" pitchFamily="2" charset="-122"/>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宋体" panose="02010600030101010101" pitchFamily="2" charset="-122"/>
                <a:ea typeface="宋体" panose="02010600030101010101" pitchFamily="2" charset="-122"/>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宋体" panose="02010600030101010101" pitchFamily="2" charset="-122"/>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dirty="0">
                <a:solidFill>
                  <a:srgbClr val="0000FF"/>
                </a:solidFill>
              </a:rPr>
              <a:t>因此，流水线数据通路需要独立的指令</a:t>
            </a:r>
            <a:r>
              <a:rPr lang="en-US" altLang="zh-CN" sz="2800" dirty="0">
                <a:solidFill>
                  <a:srgbClr val="0000FF"/>
                </a:solidFill>
              </a:rPr>
              <a:t>/</a:t>
            </a:r>
            <a:r>
              <a:rPr lang="zh-CN" altLang="en-US" sz="2800" dirty="0">
                <a:solidFill>
                  <a:srgbClr val="0000FF"/>
                </a:solidFill>
              </a:rPr>
              <a:t>数据存储器，或者独立的指令</a:t>
            </a:r>
            <a:r>
              <a:rPr lang="en-US" altLang="zh-CN" sz="2800" dirty="0">
                <a:solidFill>
                  <a:srgbClr val="0000FF"/>
                </a:solidFill>
              </a:rPr>
              <a:t>/</a:t>
            </a:r>
            <a:r>
              <a:rPr lang="zh-CN" altLang="en-US" sz="2800" dirty="0">
                <a:solidFill>
                  <a:srgbClr val="0000FF"/>
                </a:solidFill>
              </a:rPr>
              <a:t>数据</a:t>
            </a:r>
            <a:r>
              <a:rPr lang="en-US" altLang="zh-CN" sz="2800" dirty="0">
                <a:solidFill>
                  <a:srgbClr val="0000FF"/>
                </a:solidFill>
              </a:rPr>
              <a:t>cache</a:t>
            </a:r>
            <a:endParaRPr lang="en-US" altLang="en-US" sz="2800" dirty="0">
              <a:solidFill>
                <a:srgbClr val="0000FF"/>
              </a:solidFill>
            </a:endParaRPr>
          </a:p>
        </p:txBody>
      </p:sp>
      <p:grpSp>
        <p:nvGrpSpPr>
          <p:cNvPr id="9" name="组合 8"/>
          <p:cNvGrpSpPr/>
          <p:nvPr/>
        </p:nvGrpSpPr>
        <p:grpSpPr>
          <a:xfrm>
            <a:off x="625475" y="3687351"/>
            <a:ext cx="8402955" cy="2429510"/>
            <a:chOff x="925" y="3537"/>
            <a:chExt cx="13233" cy="3826"/>
          </a:xfrm>
        </p:grpSpPr>
        <p:sp>
          <p:nvSpPr>
            <p:cNvPr id="10" name="矩形 9"/>
            <p:cNvSpPr/>
            <p:nvPr/>
          </p:nvSpPr>
          <p:spPr>
            <a:xfrm>
              <a:off x="3115" y="4691"/>
              <a:ext cx="1561" cy="61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instruction fetch</a:t>
              </a:r>
              <a:endParaRPr lang="en-US" altLang="zh-CN" sz="1400"/>
            </a:p>
          </p:txBody>
        </p:sp>
        <p:sp>
          <p:nvSpPr>
            <p:cNvPr id="11" name="矩形 10"/>
            <p:cNvSpPr/>
            <p:nvPr/>
          </p:nvSpPr>
          <p:spPr>
            <a:xfrm>
              <a:off x="4676" y="5301"/>
              <a:ext cx="1561" cy="61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instruction fetch</a:t>
              </a:r>
              <a:endParaRPr lang="en-US" altLang="zh-CN" sz="1400" dirty="0"/>
            </a:p>
          </p:txBody>
        </p:sp>
        <p:sp>
          <p:nvSpPr>
            <p:cNvPr id="13" name="矩形 12"/>
            <p:cNvSpPr/>
            <p:nvPr/>
          </p:nvSpPr>
          <p:spPr>
            <a:xfrm>
              <a:off x="6237" y="5911"/>
              <a:ext cx="1561" cy="61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instruction fetch</a:t>
              </a:r>
              <a:endParaRPr lang="en-US" altLang="zh-CN" sz="1400" dirty="0"/>
            </a:p>
          </p:txBody>
        </p:sp>
        <p:sp>
          <p:nvSpPr>
            <p:cNvPr id="14" name="文本框 13"/>
            <p:cNvSpPr txBox="1"/>
            <p:nvPr/>
          </p:nvSpPr>
          <p:spPr>
            <a:xfrm>
              <a:off x="2010" y="3768"/>
              <a:ext cx="1230" cy="580"/>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Time</a:t>
              </a:r>
            </a:p>
          </p:txBody>
        </p:sp>
        <p:sp>
          <p:nvSpPr>
            <p:cNvPr id="15" name="矩形 14"/>
            <p:cNvSpPr/>
            <p:nvPr/>
          </p:nvSpPr>
          <p:spPr>
            <a:xfrm>
              <a:off x="5429" y="4691"/>
              <a:ext cx="808" cy="609"/>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sp>
          <p:nvSpPr>
            <p:cNvPr id="16" name="矩形 15"/>
            <p:cNvSpPr/>
            <p:nvPr/>
          </p:nvSpPr>
          <p:spPr>
            <a:xfrm>
              <a:off x="7798" y="4691"/>
              <a:ext cx="1561" cy="61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solidFill>
                    <a:srgbClr val="0000FF"/>
                  </a:solidFill>
                  <a:latin typeface="Times New Roman" panose="02020603050405020304" pitchFamily="18" charset="0"/>
                  <a:cs typeface="Times New Roman" panose="02020603050405020304" pitchFamily="18" charset="0"/>
                </a:rPr>
                <a:t>Data access</a:t>
              </a:r>
            </a:p>
          </p:txBody>
        </p:sp>
        <p:sp>
          <p:nvSpPr>
            <p:cNvPr id="17" name="矩形 16"/>
            <p:cNvSpPr/>
            <p:nvPr/>
          </p:nvSpPr>
          <p:spPr>
            <a:xfrm>
              <a:off x="6990" y="5302"/>
              <a:ext cx="808" cy="609"/>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sp>
          <p:nvSpPr>
            <p:cNvPr id="18" name="矩形 17"/>
            <p:cNvSpPr/>
            <p:nvPr/>
          </p:nvSpPr>
          <p:spPr>
            <a:xfrm>
              <a:off x="6237" y="4691"/>
              <a:ext cx="1561" cy="61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ALU</a:t>
              </a:r>
            </a:p>
          </p:txBody>
        </p:sp>
        <p:sp>
          <p:nvSpPr>
            <p:cNvPr id="19" name="矩形 18"/>
            <p:cNvSpPr/>
            <p:nvPr/>
          </p:nvSpPr>
          <p:spPr>
            <a:xfrm>
              <a:off x="7798" y="5300"/>
              <a:ext cx="1561" cy="61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ALU</a:t>
              </a:r>
            </a:p>
          </p:txBody>
        </p:sp>
        <p:sp>
          <p:nvSpPr>
            <p:cNvPr id="20" name="矩形 19"/>
            <p:cNvSpPr/>
            <p:nvPr/>
          </p:nvSpPr>
          <p:spPr>
            <a:xfrm>
              <a:off x="8551" y="5912"/>
              <a:ext cx="808" cy="609"/>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err="1">
                  <a:latin typeface="Times New Roman" panose="02020603050405020304" pitchFamily="18" charset="0"/>
                  <a:cs typeface="Times New Roman" panose="02020603050405020304" pitchFamily="18" charset="0"/>
                </a:rPr>
                <a:t>Reg</a:t>
              </a:r>
              <a:endParaRPr lang="en-US" altLang="zh-CN" sz="1400" dirty="0">
                <a:latin typeface="Times New Roman" panose="02020603050405020304" pitchFamily="18" charset="0"/>
                <a:cs typeface="Times New Roman" panose="02020603050405020304" pitchFamily="18" charset="0"/>
              </a:endParaRPr>
            </a:p>
          </p:txBody>
        </p:sp>
        <p:sp>
          <p:nvSpPr>
            <p:cNvPr id="21" name="矩形 20"/>
            <p:cNvSpPr/>
            <p:nvPr/>
          </p:nvSpPr>
          <p:spPr>
            <a:xfrm>
              <a:off x="9359" y="4693"/>
              <a:ext cx="808" cy="609"/>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sp>
          <p:nvSpPr>
            <p:cNvPr id="22" name="矩形 21"/>
            <p:cNvSpPr/>
            <p:nvPr/>
          </p:nvSpPr>
          <p:spPr>
            <a:xfrm>
              <a:off x="9359" y="5300"/>
              <a:ext cx="1561" cy="61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Data access</a:t>
              </a:r>
            </a:p>
          </p:txBody>
        </p:sp>
        <p:sp>
          <p:nvSpPr>
            <p:cNvPr id="23" name="矩形 22"/>
            <p:cNvSpPr/>
            <p:nvPr/>
          </p:nvSpPr>
          <p:spPr>
            <a:xfrm>
              <a:off x="9359" y="5910"/>
              <a:ext cx="1561" cy="61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ALU</a:t>
              </a:r>
            </a:p>
          </p:txBody>
        </p:sp>
        <p:sp>
          <p:nvSpPr>
            <p:cNvPr id="24" name="矩形 23"/>
            <p:cNvSpPr/>
            <p:nvPr/>
          </p:nvSpPr>
          <p:spPr>
            <a:xfrm>
              <a:off x="10920" y="5302"/>
              <a:ext cx="808" cy="609"/>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sp>
          <p:nvSpPr>
            <p:cNvPr id="25" name="矩形 24"/>
            <p:cNvSpPr/>
            <p:nvPr/>
          </p:nvSpPr>
          <p:spPr>
            <a:xfrm>
              <a:off x="10920" y="5910"/>
              <a:ext cx="1561" cy="61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Data access</a:t>
              </a:r>
            </a:p>
          </p:txBody>
        </p:sp>
        <p:sp>
          <p:nvSpPr>
            <p:cNvPr id="26" name="矩形 25"/>
            <p:cNvSpPr/>
            <p:nvPr/>
          </p:nvSpPr>
          <p:spPr>
            <a:xfrm>
              <a:off x="12481" y="5910"/>
              <a:ext cx="808" cy="609"/>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grpSp>
          <p:nvGrpSpPr>
            <p:cNvPr id="27" name="时间轴与坐标"/>
            <p:cNvGrpSpPr/>
            <p:nvPr/>
          </p:nvGrpSpPr>
          <p:grpSpPr>
            <a:xfrm>
              <a:off x="3115" y="3537"/>
              <a:ext cx="10950" cy="713"/>
              <a:chOff x="2564456" y="2569836"/>
              <a:chExt cx="6885437" cy="387006"/>
            </a:xfrm>
          </p:grpSpPr>
          <p:grpSp>
            <p:nvGrpSpPr>
              <p:cNvPr id="50" name="时间轴"/>
              <p:cNvGrpSpPr/>
              <p:nvPr/>
            </p:nvGrpSpPr>
            <p:grpSpPr>
              <a:xfrm>
                <a:off x="2564456" y="2866955"/>
                <a:ext cx="6885437" cy="89887"/>
                <a:chOff x="2564456" y="2846523"/>
                <a:chExt cx="6885437" cy="89887"/>
              </a:xfrm>
            </p:grpSpPr>
            <p:cxnSp>
              <p:nvCxnSpPr>
                <p:cNvPr id="57" name="直接箭头连接符 56"/>
                <p:cNvCxnSpPr/>
                <p:nvPr/>
              </p:nvCxnSpPr>
              <p:spPr>
                <a:xfrm>
                  <a:off x="2564456" y="2846523"/>
                  <a:ext cx="6885437"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58" name="直接连接符 57"/>
                <p:cNvCxnSpPr/>
                <p:nvPr/>
              </p:nvCxnSpPr>
              <p:spPr>
                <a:xfrm>
                  <a:off x="3540324" y="2852589"/>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59" name="直接连接符 58"/>
                <p:cNvCxnSpPr/>
                <p:nvPr/>
              </p:nvCxnSpPr>
              <p:spPr>
                <a:xfrm>
                  <a:off x="7482361" y="2850417"/>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60" name="直接连接符 59"/>
                <p:cNvCxnSpPr/>
                <p:nvPr/>
              </p:nvCxnSpPr>
              <p:spPr>
                <a:xfrm>
                  <a:off x="8511018" y="2850416"/>
                  <a:ext cx="0" cy="83821"/>
                </a:xfrm>
                <a:prstGeom prst="line">
                  <a:avLst/>
                </a:prstGeom>
                <a:ln w="15875"/>
              </p:spPr>
              <p:style>
                <a:lnRef idx="1">
                  <a:schemeClr val="dk1"/>
                </a:lnRef>
                <a:fillRef idx="0">
                  <a:schemeClr val="dk1"/>
                </a:fillRef>
                <a:effectRef idx="0">
                  <a:schemeClr val="dk1"/>
                </a:effectRef>
                <a:fontRef idx="minor">
                  <a:schemeClr val="tx1"/>
                </a:fontRef>
              </p:style>
            </p:cxnSp>
          </p:grpSp>
          <p:sp>
            <p:nvSpPr>
              <p:cNvPr id="51" name="文本框 50"/>
              <p:cNvSpPr txBox="1"/>
              <p:nvPr/>
            </p:nvSpPr>
            <p:spPr>
              <a:xfrm>
                <a:off x="3243041" y="2574432"/>
                <a:ext cx="595084" cy="315698"/>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200</a:t>
                </a:r>
                <a:endParaRPr lang="zh-CN" altLang="en-US" dirty="0">
                  <a:latin typeface="Times New Roman" panose="02020603050405020304" pitchFamily="18" charset="0"/>
                  <a:cs typeface="Times New Roman" panose="02020603050405020304" pitchFamily="18" charset="0"/>
                </a:endParaRPr>
              </a:p>
            </p:txBody>
          </p:sp>
          <p:sp>
            <p:nvSpPr>
              <p:cNvPr id="52" name="文本框 51"/>
              <p:cNvSpPr txBox="1"/>
              <p:nvPr/>
            </p:nvSpPr>
            <p:spPr>
              <a:xfrm>
                <a:off x="5231517" y="2569836"/>
                <a:ext cx="595084" cy="315698"/>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600</a:t>
                </a:r>
                <a:endParaRPr lang="zh-CN" altLang="en-US" dirty="0">
                  <a:latin typeface="Times New Roman" panose="02020603050405020304" pitchFamily="18" charset="0"/>
                  <a:cs typeface="Times New Roman" panose="02020603050405020304" pitchFamily="18" charset="0"/>
                </a:endParaRPr>
              </a:p>
            </p:txBody>
          </p:sp>
          <p:sp>
            <p:nvSpPr>
              <p:cNvPr id="53" name="文本框 52"/>
              <p:cNvSpPr txBox="1"/>
              <p:nvPr/>
            </p:nvSpPr>
            <p:spPr>
              <a:xfrm>
                <a:off x="4249588" y="2570126"/>
                <a:ext cx="595084" cy="315698"/>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400</a:t>
                </a:r>
                <a:endParaRPr lang="zh-CN" altLang="en-US" dirty="0">
                  <a:latin typeface="Times New Roman" panose="02020603050405020304" pitchFamily="18" charset="0"/>
                  <a:cs typeface="Times New Roman" panose="02020603050405020304" pitchFamily="18" charset="0"/>
                </a:endParaRPr>
              </a:p>
            </p:txBody>
          </p:sp>
          <p:sp>
            <p:nvSpPr>
              <p:cNvPr id="54" name="文本框 53"/>
              <p:cNvSpPr txBox="1"/>
              <p:nvPr/>
            </p:nvSpPr>
            <p:spPr>
              <a:xfrm>
                <a:off x="6213087" y="2569991"/>
                <a:ext cx="595084" cy="315698"/>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800</a:t>
                </a:r>
                <a:endParaRPr lang="zh-CN" altLang="en-US" dirty="0">
                  <a:latin typeface="Times New Roman" panose="02020603050405020304" pitchFamily="18" charset="0"/>
                  <a:cs typeface="Times New Roman" panose="02020603050405020304" pitchFamily="18" charset="0"/>
                </a:endParaRPr>
              </a:p>
            </p:txBody>
          </p:sp>
          <p:sp>
            <p:nvSpPr>
              <p:cNvPr id="55" name="文本框 54"/>
              <p:cNvSpPr txBox="1"/>
              <p:nvPr/>
            </p:nvSpPr>
            <p:spPr>
              <a:xfrm>
                <a:off x="8183812" y="2584603"/>
                <a:ext cx="654053" cy="315698"/>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1200</a:t>
                </a:r>
                <a:endParaRPr lang="zh-CN" altLang="en-US" dirty="0">
                  <a:latin typeface="Times New Roman" panose="02020603050405020304" pitchFamily="18" charset="0"/>
                  <a:cs typeface="Times New Roman" panose="02020603050405020304" pitchFamily="18" charset="0"/>
                </a:endParaRPr>
              </a:p>
            </p:txBody>
          </p:sp>
          <p:sp>
            <p:nvSpPr>
              <p:cNvPr id="56" name="文本框 55"/>
              <p:cNvSpPr txBox="1"/>
              <p:nvPr/>
            </p:nvSpPr>
            <p:spPr>
              <a:xfrm>
                <a:off x="7152460" y="2579608"/>
                <a:ext cx="660070" cy="315698"/>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1000</a:t>
                </a:r>
                <a:endParaRPr lang="zh-CN" altLang="en-US" dirty="0">
                  <a:latin typeface="Times New Roman" panose="02020603050405020304" pitchFamily="18" charset="0"/>
                  <a:cs typeface="Times New Roman" panose="02020603050405020304" pitchFamily="18" charset="0"/>
                </a:endParaRPr>
              </a:p>
            </p:txBody>
          </p:sp>
        </p:grpSp>
        <p:cxnSp>
          <p:nvCxnSpPr>
            <p:cNvPr id="28" name="直接连接符 27"/>
            <p:cNvCxnSpPr/>
            <p:nvPr/>
          </p:nvCxnSpPr>
          <p:spPr>
            <a:xfrm>
              <a:off x="7829" y="4076"/>
              <a:ext cx="0" cy="154"/>
            </a:xfrm>
            <a:prstGeom prst="line">
              <a:avLst/>
            </a:prstGeom>
            <a:ln w="15875"/>
          </p:spPr>
          <p:style>
            <a:lnRef idx="1">
              <a:schemeClr val="dk1"/>
            </a:lnRef>
            <a:fillRef idx="0">
              <a:schemeClr val="dk1"/>
            </a:fillRef>
            <a:effectRef idx="0">
              <a:schemeClr val="dk1"/>
            </a:effectRef>
            <a:fontRef idx="minor">
              <a:schemeClr val="tx1"/>
            </a:fontRef>
          </p:style>
        </p:cxnSp>
        <p:cxnSp>
          <p:nvCxnSpPr>
            <p:cNvPr id="29" name="直接连接符 28"/>
            <p:cNvCxnSpPr/>
            <p:nvPr/>
          </p:nvCxnSpPr>
          <p:spPr>
            <a:xfrm>
              <a:off x="6268" y="4076"/>
              <a:ext cx="0" cy="154"/>
            </a:xfrm>
            <a:prstGeom prst="line">
              <a:avLst/>
            </a:prstGeom>
            <a:ln w="15875"/>
          </p:spPr>
          <p:style>
            <a:lnRef idx="1">
              <a:schemeClr val="dk1"/>
            </a:lnRef>
            <a:fillRef idx="0">
              <a:schemeClr val="dk1"/>
            </a:fillRef>
            <a:effectRef idx="0">
              <a:schemeClr val="dk1"/>
            </a:effectRef>
            <a:fontRef idx="minor">
              <a:schemeClr val="tx1"/>
            </a:fontRef>
          </p:style>
        </p:cxnSp>
        <p:cxnSp>
          <p:nvCxnSpPr>
            <p:cNvPr id="30" name="直接连接符 29"/>
            <p:cNvCxnSpPr/>
            <p:nvPr/>
          </p:nvCxnSpPr>
          <p:spPr>
            <a:xfrm>
              <a:off x="9390" y="4086"/>
              <a:ext cx="0" cy="154"/>
            </a:xfrm>
            <a:prstGeom prst="line">
              <a:avLst/>
            </a:prstGeom>
            <a:ln w="15875"/>
          </p:spPr>
          <p:style>
            <a:lnRef idx="1">
              <a:schemeClr val="dk1"/>
            </a:lnRef>
            <a:fillRef idx="0">
              <a:schemeClr val="dk1"/>
            </a:fillRef>
            <a:effectRef idx="0">
              <a:schemeClr val="dk1"/>
            </a:effectRef>
            <a:fontRef idx="minor">
              <a:schemeClr val="tx1"/>
            </a:fontRef>
          </p:style>
        </p:cxnSp>
        <p:cxnSp>
          <p:nvCxnSpPr>
            <p:cNvPr id="31" name="直接箭头连接符 30"/>
            <p:cNvCxnSpPr/>
            <p:nvPr/>
          </p:nvCxnSpPr>
          <p:spPr>
            <a:xfrm>
              <a:off x="925" y="4771"/>
              <a:ext cx="0" cy="1932"/>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1172" y="4871"/>
              <a:ext cx="1931" cy="483"/>
            </a:xfrm>
            <a:prstGeom prst="rect">
              <a:avLst/>
            </a:prstGeom>
            <a:noFill/>
          </p:spPr>
          <p:txBody>
            <a:bodyPr wrap="square" rtlCol="0">
              <a:spAutoFit/>
            </a:bodyPr>
            <a:lstStyle/>
            <a:p>
              <a:r>
                <a:rPr lang="en-US" altLang="zh-CN" sz="1400" b="1" dirty="0">
                  <a:latin typeface="Times New Roman" panose="02020603050405020304" pitchFamily="18" charset="0"/>
                  <a:cs typeface="Times New Roman" panose="02020603050405020304" pitchFamily="18" charset="0"/>
                </a:rPr>
                <a:t>ld x1,100(x4)</a:t>
              </a:r>
            </a:p>
          </p:txBody>
        </p:sp>
        <p:sp>
          <p:nvSpPr>
            <p:cNvPr id="33" name="文本框 32"/>
            <p:cNvSpPr txBox="1"/>
            <p:nvPr/>
          </p:nvSpPr>
          <p:spPr>
            <a:xfrm>
              <a:off x="1172" y="5542"/>
              <a:ext cx="1931" cy="483"/>
            </a:xfrm>
            <a:prstGeom prst="rect">
              <a:avLst/>
            </a:prstGeom>
            <a:noFill/>
          </p:spPr>
          <p:txBody>
            <a:bodyPr wrap="square" rtlCol="0">
              <a:spAutoFit/>
            </a:bodyPr>
            <a:lstStyle>
              <a:defPPr>
                <a:defRPr lang="zh-CN"/>
              </a:defPPr>
              <a:lvl1pPr>
                <a:defRPr sz="1400" b="1">
                  <a:latin typeface="Times New Roman" panose="02020603050405020304" pitchFamily="18" charset="0"/>
                  <a:cs typeface="Times New Roman" panose="02020603050405020304" pitchFamily="18" charset="0"/>
                </a:defRPr>
              </a:lvl1pPr>
            </a:lstStyle>
            <a:p>
              <a:r>
                <a:rPr lang="en-US" altLang="zh-CN" dirty="0"/>
                <a:t>ld x2,200(x4)</a:t>
              </a:r>
            </a:p>
          </p:txBody>
        </p:sp>
        <p:sp>
          <p:nvSpPr>
            <p:cNvPr id="34" name="文本框 33"/>
            <p:cNvSpPr txBox="1"/>
            <p:nvPr/>
          </p:nvSpPr>
          <p:spPr>
            <a:xfrm>
              <a:off x="1180" y="6163"/>
              <a:ext cx="1931" cy="483"/>
            </a:xfrm>
            <a:prstGeom prst="rect">
              <a:avLst/>
            </a:prstGeom>
            <a:noFill/>
          </p:spPr>
          <p:txBody>
            <a:bodyPr wrap="square" rtlCol="0">
              <a:spAutoFit/>
            </a:bodyPr>
            <a:lstStyle>
              <a:defPPr>
                <a:defRPr lang="zh-CN"/>
              </a:defPPr>
              <a:lvl1pPr>
                <a:defRPr sz="1400" b="1">
                  <a:latin typeface="Times New Roman" panose="02020603050405020304" pitchFamily="18" charset="0"/>
                  <a:cs typeface="Times New Roman" panose="02020603050405020304" pitchFamily="18" charset="0"/>
                </a:defRPr>
              </a:lvl1pPr>
            </a:lstStyle>
            <a:p>
              <a:r>
                <a:rPr lang="en-US" altLang="zh-CN" dirty="0"/>
                <a:t>ld x3,400(x4)</a:t>
              </a:r>
            </a:p>
          </p:txBody>
        </p:sp>
        <p:cxnSp>
          <p:nvCxnSpPr>
            <p:cNvPr id="35" name="直接箭头连接符 34"/>
            <p:cNvCxnSpPr/>
            <p:nvPr/>
          </p:nvCxnSpPr>
          <p:spPr>
            <a:xfrm flipV="1">
              <a:off x="12480" y="6693"/>
              <a:ext cx="1585" cy="5"/>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36" name="文本框 35"/>
            <p:cNvSpPr txBox="1"/>
            <p:nvPr/>
          </p:nvSpPr>
          <p:spPr>
            <a:xfrm>
              <a:off x="12388" y="6781"/>
              <a:ext cx="1770" cy="58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200ps</a:t>
              </a:r>
            </a:p>
          </p:txBody>
        </p:sp>
        <p:cxnSp>
          <p:nvCxnSpPr>
            <p:cNvPr id="37" name="直接箭头连接符 36"/>
            <p:cNvCxnSpPr/>
            <p:nvPr/>
          </p:nvCxnSpPr>
          <p:spPr>
            <a:xfrm flipV="1">
              <a:off x="10908" y="6698"/>
              <a:ext cx="1585" cy="5"/>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38" name="文本框 37"/>
            <p:cNvSpPr txBox="1"/>
            <p:nvPr/>
          </p:nvSpPr>
          <p:spPr>
            <a:xfrm>
              <a:off x="10816" y="6781"/>
              <a:ext cx="1770" cy="58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200ps</a:t>
              </a:r>
            </a:p>
          </p:txBody>
        </p:sp>
        <p:cxnSp>
          <p:nvCxnSpPr>
            <p:cNvPr id="39" name="直接箭头连接符 38"/>
            <p:cNvCxnSpPr/>
            <p:nvPr/>
          </p:nvCxnSpPr>
          <p:spPr>
            <a:xfrm flipV="1">
              <a:off x="9377" y="6698"/>
              <a:ext cx="1585" cy="5"/>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40" name="文本框 39"/>
            <p:cNvSpPr txBox="1"/>
            <p:nvPr/>
          </p:nvSpPr>
          <p:spPr>
            <a:xfrm>
              <a:off x="9285" y="6781"/>
              <a:ext cx="1770" cy="58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200ps</a:t>
              </a:r>
            </a:p>
          </p:txBody>
        </p:sp>
        <p:cxnSp>
          <p:nvCxnSpPr>
            <p:cNvPr id="41" name="直接箭头连接符 40"/>
            <p:cNvCxnSpPr/>
            <p:nvPr/>
          </p:nvCxnSpPr>
          <p:spPr>
            <a:xfrm flipV="1">
              <a:off x="7786" y="6698"/>
              <a:ext cx="1585" cy="5"/>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42" name="文本框 41"/>
            <p:cNvSpPr txBox="1"/>
            <p:nvPr/>
          </p:nvSpPr>
          <p:spPr>
            <a:xfrm>
              <a:off x="7694" y="6781"/>
              <a:ext cx="1770" cy="58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200ps</a:t>
              </a:r>
            </a:p>
          </p:txBody>
        </p:sp>
        <p:cxnSp>
          <p:nvCxnSpPr>
            <p:cNvPr id="43" name="直接箭头连接符 42"/>
            <p:cNvCxnSpPr/>
            <p:nvPr/>
          </p:nvCxnSpPr>
          <p:spPr>
            <a:xfrm flipV="1">
              <a:off x="6224" y="6698"/>
              <a:ext cx="1585" cy="5"/>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44" name="文本框 43"/>
            <p:cNvSpPr txBox="1"/>
            <p:nvPr/>
          </p:nvSpPr>
          <p:spPr>
            <a:xfrm>
              <a:off x="6132" y="6781"/>
              <a:ext cx="1770" cy="58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200ps</a:t>
              </a:r>
            </a:p>
          </p:txBody>
        </p:sp>
        <p:cxnSp>
          <p:nvCxnSpPr>
            <p:cNvPr id="45" name="直接箭头连接符 44"/>
            <p:cNvCxnSpPr/>
            <p:nvPr/>
          </p:nvCxnSpPr>
          <p:spPr>
            <a:xfrm flipV="1">
              <a:off x="4664" y="6127"/>
              <a:ext cx="1585" cy="5"/>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46" name="文本框 45"/>
            <p:cNvSpPr txBox="1"/>
            <p:nvPr/>
          </p:nvSpPr>
          <p:spPr>
            <a:xfrm>
              <a:off x="4572" y="6210"/>
              <a:ext cx="1770" cy="58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200ps</a:t>
              </a:r>
            </a:p>
          </p:txBody>
        </p:sp>
        <p:cxnSp>
          <p:nvCxnSpPr>
            <p:cNvPr id="47" name="直接箭头连接符 46"/>
            <p:cNvCxnSpPr/>
            <p:nvPr/>
          </p:nvCxnSpPr>
          <p:spPr>
            <a:xfrm flipV="1">
              <a:off x="3103" y="5470"/>
              <a:ext cx="1585" cy="5"/>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48" name="文本框 47"/>
            <p:cNvSpPr txBox="1"/>
            <p:nvPr/>
          </p:nvSpPr>
          <p:spPr>
            <a:xfrm>
              <a:off x="3011" y="5553"/>
              <a:ext cx="1770" cy="582"/>
            </a:xfrm>
            <a:prstGeom prst="rect">
              <a:avLst/>
            </a:prstGeom>
            <a:noFill/>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200ps</a:t>
              </a:r>
            </a:p>
          </p:txBody>
        </p:sp>
      </p:grpSp>
      <p:grpSp>
        <p:nvGrpSpPr>
          <p:cNvPr id="2" name="组合 1"/>
          <p:cNvGrpSpPr/>
          <p:nvPr/>
        </p:nvGrpSpPr>
        <p:grpSpPr>
          <a:xfrm>
            <a:off x="5009515" y="6095483"/>
            <a:ext cx="4478020" cy="387985"/>
            <a:chOff x="5009515" y="6095483"/>
            <a:chExt cx="4478020" cy="387985"/>
          </a:xfrm>
        </p:grpSpPr>
        <p:sp>
          <p:nvSpPr>
            <p:cNvPr id="61" name="矩形 60"/>
            <p:cNvSpPr/>
            <p:nvPr/>
          </p:nvSpPr>
          <p:spPr>
            <a:xfrm>
              <a:off x="5009515" y="6096118"/>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solidFill>
                    <a:srgbClr val="0000FF"/>
                  </a:solidFill>
                  <a:latin typeface="Times New Roman" panose="02020603050405020304" pitchFamily="18" charset="0"/>
                  <a:cs typeface="Times New Roman" panose="02020603050405020304" pitchFamily="18" charset="0"/>
                </a:rPr>
                <a:t>instruction fetch</a:t>
              </a:r>
              <a:endParaRPr lang="en-US" altLang="zh-CN" sz="1400" dirty="0">
                <a:solidFill>
                  <a:srgbClr val="0000FF"/>
                </a:solidFill>
              </a:endParaRPr>
            </a:p>
          </p:txBody>
        </p:sp>
        <p:sp>
          <p:nvSpPr>
            <p:cNvPr id="62" name="矩形 61"/>
            <p:cNvSpPr/>
            <p:nvPr/>
          </p:nvSpPr>
          <p:spPr>
            <a:xfrm>
              <a:off x="6478905" y="6096753"/>
              <a:ext cx="513080" cy="386715"/>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err="1">
                  <a:latin typeface="Times New Roman" panose="02020603050405020304" pitchFamily="18" charset="0"/>
                  <a:cs typeface="Times New Roman" panose="02020603050405020304" pitchFamily="18" charset="0"/>
                </a:rPr>
                <a:t>Reg</a:t>
              </a:r>
              <a:endParaRPr lang="en-US" altLang="zh-CN" sz="1400" dirty="0">
                <a:latin typeface="Times New Roman" panose="02020603050405020304" pitchFamily="18" charset="0"/>
                <a:cs typeface="Times New Roman" panose="02020603050405020304" pitchFamily="18" charset="0"/>
              </a:endParaRPr>
            </a:p>
          </p:txBody>
        </p:sp>
        <p:sp>
          <p:nvSpPr>
            <p:cNvPr id="63" name="矩形 62"/>
            <p:cNvSpPr/>
            <p:nvPr/>
          </p:nvSpPr>
          <p:spPr>
            <a:xfrm>
              <a:off x="6991985" y="6095483"/>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ALU</a:t>
              </a:r>
            </a:p>
          </p:txBody>
        </p:sp>
        <p:sp>
          <p:nvSpPr>
            <p:cNvPr id="64" name="矩形 63"/>
            <p:cNvSpPr/>
            <p:nvPr/>
          </p:nvSpPr>
          <p:spPr>
            <a:xfrm>
              <a:off x="7983220" y="6095483"/>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Data access</a:t>
              </a:r>
            </a:p>
          </p:txBody>
        </p:sp>
        <p:sp>
          <p:nvSpPr>
            <p:cNvPr id="65" name="矩形 64"/>
            <p:cNvSpPr/>
            <p:nvPr/>
          </p:nvSpPr>
          <p:spPr>
            <a:xfrm>
              <a:off x="8974455" y="6095483"/>
              <a:ext cx="513080" cy="386715"/>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6804">
                                            <p:txEl>
                                              <p:pRg st="1" end="1"/>
                                            </p:txEl>
                                          </p:spTgt>
                                        </p:tgtEl>
                                        <p:attrNameLst>
                                          <p:attrName>style.visibility</p:attrName>
                                        </p:attrNameLst>
                                      </p:cBhvr>
                                      <p:to>
                                        <p:strVal val="visible"/>
                                      </p:to>
                                    </p:set>
                                    <p:animEffect transition="in" filter="fade">
                                      <p:cBhvr>
                                        <p:cTn id="7" dur="500"/>
                                        <p:tgtEl>
                                          <p:spTgt spid="76804">
                                            <p:txEl>
                                              <p:pRg st="1" end="1"/>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76804">
                                            <p:txEl>
                                              <p:pRg st="2" end="2"/>
                                            </p:txEl>
                                          </p:spTgt>
                                        </p:tgtEl>
                                        <p:attrNameLst>
                                          <p:attrName>style.visibility</p:attrName>
                                        </p:attrNameLst>
                                      </p:cBhvr>
                                      <p:to>
                                        <p:strVal val="visible"/>
                                      </p:to>
                                    </p:set>
                                    <p:animEffect transition="in" filter="fade">
                                      <p:cBhvr>
                                        <p:cTn id="16" dur="500"/>
                                        <p:tgtEl>
                                          <p:spTgt spid="76804">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76804">
                                            <p:txEl>
                                              <p:pRg st="3" end="3"/>
                                            </p:txEl>
                                          </p:spTgt>
                                        </p:tgtEl>
                                        <p:attrNameLst>
                                          <p:attrName>style.visibility</p:attrName>
                                        </p:attrNameLst>
                                      </p:cBhvr>
                                      <p:to>
                                        <p:strVal val="visible"/>
                                      </p:to>
                                    </p:set>
                                    <p:animEffect transition="in" filter="fade">
                                      <p:cBhvr>
                                        <p:cTn id="19" dur="500"/>
                                        <p:tgtEl>
                                          <p:spTgt spid="76804">
                                            <p:txEl>
                                              <p:pRg st="3" end="3"/>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fade">
                                      <p:cBhvr>
                                        <p:cTn id="2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Rectangle 3"/>
          <p:cNvSpPr>
            <a:spLocks noGrp="1" noChangeArrowheads="1"/>
          </p:cNvSpPr>
          <p:nvPr>
            <p:ph idx="1"/>
          </p:nvPr>
        </p:nvSpPr>
        <p:spPr/>
        <p:txBody>
          <a:bodyPr>
            <a:normAutofit/>
          </a:bodyPr>
          <a:lstStyle/>
          <a:p>
            <a:pPr eaLnBrk="1" hangingPunct="1"/>
            <a:r>
              <a:rPr lang="zh-CN" altLang="en-US" dirty="0"/>
              <a:t>一条指令依赖于前面一条尚在流水线中的指令运行结果</a:t>
            </a:r>
            <a:endParaRPr lang="en-US" altLang="zh-CN" dirty="0"/>
          </a:p>
          <a:p>
            <a:pPr marL="457200" lvl="1" indent="0" eaLnBrk="1" hangingPunct="1">
              <a:buNone/>
            </a:pPr>
            <a:r>
              <a:rPr lang="en-US" altLang="en-US" dirty="0">
                <a:latin typeface="Lucida Console" panose="020B0609040504020204" pitchFamily="49" charset="0"/>
              </a:rPr>
              <a:t>add	</a:t>
            </a:r>
            <a:r>
              <a:rPr lang="en-US" altLang="en-US" dirty="0">
                <a:solidFill>
                  <a:srgbClr val="FF0000"/>
                </a:solidFill>
                <a:latin typeface="Lucida Console" panose="020B0609040504020204" pitchFamily="49" charset="0"/>
              </a:rPr>
              <a:t>x19</a:t>
            </a:r>
            <a:r>
              <a:rPr lang="en-US" altLang="en-US" dirty="0">
                <a:latin typeface="Lucida Console" panose="020B0609040504020204" pitchFamily="49" charset="0"/>
              </a:rPr>
              <a:t>, x0, x1</a:t>
            </a:r>
            <a:br>
              <a:rPr lang="en-US" altLang="en-US" dirty="0">
                <a:latin typeface="Lucida Console" panose="020B0609040504020204" pitchFamily="49" charset="0"/>
              </a:rPr>
            </a:br>
            <a:r>
              <a:rPr lang="en-US" altLang="en-US" dirty="0">
                <a:latin typeface="Lucida Console" panose="020B0609040504020204" pitchFamily="49" charset="0"/>
              </a:rPr>
              <a:t>sub	x2, </a:t>
            </a:r>
            <a:r>
              <a:rPr lang="en-US" altLang="en-US" dirty="0">
                <a:solidFill>
                  <a:srgbClr val="FF0000"/>
                </a:solidFill>
                <a:latin typeface="Lucida Console" panose="020B0609040504020204" pitchFamily="49" charset="0"/>
              </a:rPr>
              <a:t>x19</a:t>
            </a:r>
            <a:r>
              <a:rPr lang="en-US" altLang="en-US" dirty="0">
                <a:latin typeface="Lucida Console" panose="020B0609040504020204" pitchFamily="49" charset="0"/>
              </a:rPr>
              <a:t>, x3</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12</a:t>
            </a:fld>
            <a:endParaRPr lang="zh-CN" altLang="en-US" dirty="0"/>
          </a:p>
        </p:txBody>
      </p:sp>
      <p:sp>
        <p:nvSpPr>
          <p:cNvPr id="3" name="标题 2"/>
          <p:cNvSpPr>
            <a:spLocks noGrp="1"/>
          </p:cNvSpPr>
          <p:nvPr>
            <p:ph type="title"/>
          </p:nvPr>
        </p:nvSpPr>
        <p:spPr/>
        <p:txBody>
          <a:bodyPr/>
          <a:lstStyle/>
          <a:p>
            <a:r>
              <a:rPr lang="zh-CN" altLang="en-US" dirty="0"/>
              <a:t>数据冒险</a:t>
            </a:r>
          </a:p>
        </p:txBody>
      </p:sp>
      <p:grpSp>
        <p:nvGrpSpPr>
          <p:cNvPr id="2" name="组合 1"/>
          <p:cNvGrpSpPr/>
          <p:nvPr/>
        </p:nvGrpSpPr>
        <p:grpSpPr>
          <a:xfrm>
            <a:off x="205284" y="2414819"/>
            <a:ext cx="10782925" cy="4109171"/>
            <a:chOff x="205284" y="2414819"/>
            <a:chExt cx="10782925" cy="4109171"/>
          </a:xfrm>
        </p:grpSpPr>
        <p:sp>
          <p:nvSpPr>
            <p:cNvPr id="25" name="文本框 24"/>
            <p:cNvSpPr txBox="1"/>
            <p:nvPr/>
          </p:nvSpPr>
          <p:spPr>
            <a:xfrm>
              <a:off x="217242" y="3159529"/>
              <a:ext cx="1616933"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add x19,x0,x1</a:t>
              </a:r>
              <a:endParaRPr lang="zh-CN" altLang="en-US" b="1" dirty="0">
                <a:latin typeface="Times New Roman" panose="02020603050405020304" pitchFamily="18" charset="0"/>
                <a:cs typeface="Times New Roman" panose="02020603050405020304" pitchFamily="18" charset="0"/>
              </a:endParaRPr>
            </a:p>
          </p:txBody>
        </p:sp>
        <p:sp>
          <p:nvSpPr>
            <p:cNvPr id="107" name="文本框 106"/>
            <p:cNvSpPr txBox="1"/>
            <p:nvPr/>
          </p:nvSpPr>
          <p:spPr>
            <a:xfrm>
              <a:off x="205284" y="5903198"/>
              <a:ext cx="1581150" cy="369332"/>
            </a:xfrm>
            <a:prstGeom prst="rect">
              <a:avLst/>
            </a:prstGeom>
            <a:noFill/>
          </p:spPr>
          <p:txBody>
            <a:bodyPr wrap="square" rtlCol="0">
              <a:spAutoFit/>
            </a:bodyPr>
            <a:lstStyle>
              <a:defPPr>
                <a:defRPr lang="zh-CN"/>
              </a:defPPr>
              <a:lvl1pPr>
                <a:defRPr b="1">
                  <a:latin typeface="Times New Roman" panose="02020603050405020304" pitchFamily="18" charset="0"/>
                  <a:cs typeface="Times New Roman" panose="02020603050405020304" pitchFamily="18" charset="0"/>
                </a:defRPr>
              </a:lvl1pPr>
            </a:lstStyle>
            <a:p>
              <a:r>
                <a:rPr lang="en-US" altLang="zh-CN" dirty="0"/>
                <a:t>sub x2,x19,x3</a:t>
              </a:r>
              <a:endParaRPr lang="zh-CN" altLang="en-US" dirty="0"/>
            </a:p>
          </p:txBody>
        </p:sp>
        <p:grpSp>
          <p:nvGrpSpPr>
            <p:cNvPr id="78859" name="时间轴"/>
            <p:cNvGrpSpPr/>
            <p:nvPr/>
          </p:nvGrpSpPr>
          <p:grpSpPr>
            <a:xfrm>
              <a:off x="738623" y="2414819"/>
              <a:ext cx="10249586" cy="524594"/>
              <a:chOff x="1208504" y="2687594"/>
              <a:chExt cx="8904166" cy="669480"/>
            </a:xfrm>
          </p:grpSpPr>
          <p:grpSp>
            <p:nvGrpSpPr>
              <p:cNvPr id="24" name="时间轴与坐标"/>
              <p:cNvGrpSpPr/>
              <p:nvPr/>
            </p:nvGrpSpPr>
            <p:grpSpPr>
              <a:xfrm>
                <a:off x="1948689" y="2687594"/>
                <a:ext cx="8163981" cy="509937"/>
                <a:chOff x="2765695" y="2600605"/>
                <a:chExt cx="7773780" cy="351351"/>
              </a:xfrm>
            </p:grpSpPr>
            <p:grpSp>
              <p:nvGrpSpPr>
                <p:cNvPr id="22" name="时间轴"/>
                <p:cNvGrpSpPr/>
                <p:nvPr/>
              </p:nvGrpSpPr>
              <p:grpSpPr>
                <a:xfrm>
                  <a:off x="2765695" y="2868133"/>
                  <a:ext cx="7618449" cy="83823"/>
                  <a:chOff x="2765695" y="2847701"/>
                  <a:chExt cx="7618449" cy="83823"/>
                </a:xfrm>
              </p:grpSpPr>
              <p:cxnSp>
                <p:nvCxnSpPr>
                  <p:cNvPr id="5" name="直接箭头连接符 4"/>
                  <p:cNvCxnSpPr/>
                  <p:nvPr/>
                </p:nvCxnSpPr>
                <p:spPr>
                  <a:xfrm>
                    <a:off x="2765695" y="2847701"/>
                    <a:ext cx="7618449" cy="2"/>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10" name="直接连接符 9"/>
                  <p:cNvCxnSpPr/>
                  <p:nvPr/>
                </p:nvCxnSpPr>
                <p:spPr>
                  <a:xfrm>
                    <a:off x="3744686" y="2847703"/>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13" name="直接连接符 12"/>
                  <p:cNvCxnSpPr/>
                  <p:nvPr/>
                </p:nvCxnSpPr>
                <p:spPr>
                  <a:xfrm>
                    <a:off x="4659086" y="2847703"/>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14" name="直接连接符 13"/>
                  <p:cNvCxnSpPr/>
                  <p:nvPr/>
                </p:nvCxnSpPr>
                <p:spPr>
                  <a:xfrm>
                    <a:off x="5573486" y="2847703"/>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15" name="直接连接符 14"/>
                  <p:cNvCxnSpPr/>
                  <p:nvPr/>
                </p:nvCxnSpPr>
                <p:spPr>
                  <a:xfrm>
                    <a:off x="6494236" y="2847703"/>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16" name="直接连接符 15"/>
                  <p:cNvCxnSpPr/>
                  <p:nvPr/>
                </p:nvCxnSpPr>
                <p:spPr>
                  <a:xfrm>
                    <a:off x="7424511" y="2847703"/>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17" name="直接连接符 16"/>
                  <p:cNvCxnSpPr/>
                  <p:nvPr/>
                </p:nvCxnSpPr>
                <p:spPr>
                  <a:xfrm>
                    <a:off x="8319861" y="2847702"/>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a:off x="9243786" y="2847701"/>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20" name="直接连接符 19"/>
                  <p:cNvCxnSpPr/>
                  <p:nvPr/>
                </p:nvCxnSpPr>
                <p:spPr>
                  <a:xfrm>
                    <a:off x="10153423" y="2847701"/>
                    <a:ext cx="0" cy="83821"/>
                  </a:xfrm>
                  <a:prstGeom prst="line">
                    <a:avLst/>
                  </a:prstGeom>
                  <a:ln w="15875"/>
                </p:spPr>
                <p:style>
                  <a:lnRef idx="1">
                    <a:schemeClr val="dk1"/>
                  </a:lnRef>
                  <a:fillRef idx="0">
                    <a:schemeClr val="dk1"/>
                  </a:fillRef>
                  <a:effectRef idx="0">
                    <a:schemeClr val="dk1"/>
                  </a:effectRef>
                  <a:fontRef idx="minor">
                    <a:schemeClr val="tx1"/>
                  </a:fontRef>
                </p:style>
              </p:cxnSp>
            </p:grpSp>
            <p:sp>
              <p:nvSpPr>
                <p:cNvPr id="23" name="文本框 22"/>
                <p:cNvSpPr txBox="1"/>
                <p:nvPr/>
              </p:nvSpPr>
              <p:spPr>
                <a:xfrm>
                  <a:off x="3519716" y="2604444"/>
                  <a:ext cx="595084" cy="324754"/>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200</a:t>
                  </a:r>
                  <a:endParaRPr lang="zh-CN" altLang="en-US" dirty="0">
                    <a:latin typeface="Times New Roman" panose="02020603050405020304" pitchFamily="18" charset="0"/>
                    <a:cs typeface="Times New Roman" panose="02020603050405020304" pitchFamily="18" charset="0"/>
                  </a:endParaRPr>
                </a:p>
              </p:txBody>
            </p:sp>
            <p:sp>
              <p:nvSpPr>
                <p:cNvPr id="26" name="文本框 25"/>
                <p:cNvSpPr txBox="1"/>
                <p:nvPr/>
              </p:nvSpPr>
              <p:spPr>
                <a:xfrm>
                  <a:off x="5353505" y="2603337"/>
                  <a:ext cx="595084" cy="324754"/>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600</a:t>
                  </a:r>
                  <a:endParaRPr lang="zh-CN" altLang="en-US" dirty="0">
                    <a:latin typeface="Times New Roman" panose="02020603050405020304" pitchFamily="18" charset="0"/>
                    <a:cs typeface="Times New Roman" panose="02020603050405020304" pitchFamily="18" charset="0"/>
                  </a:endParaRPr>
                </a:p>
              </p:txBody>
            </p:sp>
            <p:sp>
              <p:nvSpPr>
                <p:cNvPr id="27" name="文本框 26"/>
                <p:cNvSpPr txBox="1"/>
                <p:nvPr/>
              </p:nvSpPr>
              <p:spPr>
                <a:xfrm>
                  <a:off x="4386039" y="2600605"/>
                  <a:ext cx="595084" cy="324754"/>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400</a:t>
                  </a:r>
                  <a:endParaRPr lang="zh-CN" altLang="en-US" dirty="0">
                    <a:latin typeface="Times New Roman" panose="02020603050405020304" pitchFamily="18" charset="0"/>
                    <a:cs typeface="Times New Roman" panose="02020603050405020304" pitchFamily="18" charset="0"/>
                  </a:endParaRPr>
                </a:p>
              </p:txBody>
            </p:sp>
            <p:sp>
              <p:nvSpPr>
                <p:cNvPr id="28" name="文本框 27"/>
                <p:cNvSpPr txBox="1"/>
                <p:nvPr/>
              </p:nvSpPr>
              <p:spPr>
                <a:xfrm>
                  <a:off x="6288318" y="2601695"/>
                  <a:ext cx="595084" cy="324754"/>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800</a:t>
                  </a:r>
                  <a:endParaRPr lang="zh-CN" altLang="en-US" dirty="0">
                    <a:latin typeface="Times New Roman" panose="02020603050405020304" pitchFamily="18" charset="0"/>
                    <a:cs typeface="Times New Roman" panose="02020603050405020304" pitchFamily="18" charset="0"/>
                  </a:endParaRPr>
                </a:p>
              </p:txBody>
            </p:sp>
            <p:sp>
              <p:nvSpPr>
                <p:cNvPr id="29" name="文本框 28"/>
                <p:cNvSpPr txBox="1"/>
                <p:nvPr/>
              </p:nvSpPr>
              <p:spPr>
                <a:xfrm>
                  <a:off x="8057053" y="2602594"/>
                  <a:ext cx="654053" cy="324754"/>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1200</a:t>
                  </a:r>
                  <a:endParaRPr lang="zh-CN" altLang="en-US" dirty="0">
                    <a:latin typeface="Times New Roman" panose="02020603050405020304" pitchFamily="18" charset="0"/>
                    <a:cs typeface="Times New Roman" panose="02020603050405020304" pitchFamily="18" charset="0"/>
                  </a:endParaRPr>
                </a:p>
              </p:txBody>
            </p:sp>
            <p:sp>
              <p:nvSpPr>
                <p:cNvPr id="30" name="文本框 29"/>
                <p:cNvSpPr txBox="1"/>
                <p:nvPr/>
              </p:nvSpPr>
              <p:spPr>
                <a:xfrm>
                  <a:off x="7172918" y="2614504"/>
                  <a:ext cx="660070" cy="324754"/>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1000</a:t>
                  </a:r>
                  <a:endParaRPr lang="zh-CN" altLang="en-US" dirty="0">
                    <a:latin typeface="Times New Roman" panose="02020603050405020304" pitchFamily="18" charset="0"/>
                    <a:cs typeface="Times New Roman" panose="02020603050405020304" pitchFamily="18" charset="0"/>
                  </a:endParaRPr>
                </a:p>
              </p:txBody>
            </p:sp>
            <p:sp>
              <p:nvSpPr>
                <p:cNvPr id="31" name="文本框 30"/>
                <p:cNvSpPr txBox="1"/>
                <p:nvPr/>
              </p:nvSpPr>
              <p:spPr>
                <a:xfrm>
                  <a:off x="8973696" y="2614890"/>
                  <a:ext cx="654041" cy="324754"/>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1400</a:t>
                  </a:r>
                  <a:endParaRPr lang="zh-CN" altLang="en-US" dirty="0">
                    <a:latin typeface="Times New Roman" panose="02020603050405020304" pitchFamily="18" charset="0"/>
                    <a:cs typeface="Times New Roman" panose="02020603050405020304" pitchFamily="18" charset="0"/>
                  </a:endParaRPr>
                </a:p>
              </p:txBody>
            </p:sp>
            <p:sp>
              <p:nvSpPr>
                <p:cNvPr id="32" name="文本框 31"/>
                <p:cNvSpPr txBox="1"/>
                <p:nvPr/>
              </p:nvSpPr>
              <p:spPr>
                <a:xfrm>
                  <a:off x="9885436" y="2614634"/>
                  <a:ext cx="654039" cy="324755"/>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1600</a:t>
                  </a:r>
                  <a:endParaRPr lang="zh-CN" altLang="en-US" dirty="0">
                    <a:latin typeface="Times New Roman" panose="02020603050405020304" pitchFamily="18" charset="0"/>
                    <a:cs typeface="Times New Roman" panose="02020603050405020304" pitchFamily="18" charset="0"/>
                  </a:endParaRPr>
                </a:p>
              </p:txBody>
            </p:sp>
          </p:grpSp>
          <p:sp>
            <p:nvSpPr>
              <p:cNvPr id="78858" name="文本框 78857"/>
              <p:cNvSpPr txBox="1"/>
              <p:nvPr/>
            </p:nvSpPr>
            <p:spPr>
              <a:xfrm>
                <a:off x="1208504" y="2885737"/>
                <a:ext cx="830116" cy="471337"/>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Time</a:t>
                </a:r>
                <a:endParaRPr lang="zh-CN" altLang="en-US" dirty="0">
                  <a:latin typeface="Times New Roman" panose="02020603050405020304" pitchFamily="18" charset="0"/>
                  <a:cs typeface="Times New Roman" panose="02020603050405020304" pitchFamily="18" charset="0"/>
                </a:endParaRPr>
              </a:p>
            </p:txBody>
          </p:sp>
        </p:grpSp>
        <p:grpSp>
          <p:nvGrpSpPr>
            <p:cNvPr id="78881" name="指令"/>
            <p:cNvGrpSpPr/>
            <p:nvPr/>
          </p:nvGrpSpPr>
          <p:grpSpPr>
            <a:xfrm>
              <a:off x="1855672" y="2942753"/>
              <a:ext cx="5258795" cy="876787"/>
              <a:chOff x="2136775" y="3141544"/>
              <a:chExt cx="5258795" cy="876787"/>
            </a:xfrm>
          </p:grpSpPr>
          <p:sp>
            <p:nvSpPr>
              <p:cNvPr id="142" name="矩形 141"/>
              <p:cNvSpPr/>
              <p:nvPr/>
            </p:nvSpPr>
            <p:spPr>
              <a:xfrm>
                <a:off x="6624323" y="3263778"/>
                <a:ext cx="378097" cy="681688"/>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8873" name="矩形 78872"/>
              <p:cNvSpPr/>
              <p:nvPr/>
            </p:nvSpPr>
            <p:spPr>
              <a:xfrm>
                <a:off x="3614861" y="3271147"/>
                <a:ext cx="378097" cy="681688"/>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863" name="矩形 78862"/>
              <p:cNvSpPr/>
              <p:nvPr/>
            </p:nvSpPr>
            <p:spPr>
              <a:xfrm>
                <a:off x="2489891" y="3271904"/>
                <a:ext cx="361764" cy="65684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78860" name="指令"/>
              <p:cNvGrpSpPr/>
              <p:nvPr/>
            </p:nvGrpSpPr>
            <p:grpSpPr>
              <a:xfrm>
                <a:off x="2322658" y="3141544"/>
                <a:ext cx="5072912" cy="876787"/>
                <a:chOff x="2280117" y="3141545"/>
                <a:chExt cx="4512585" cy="823761"/>
              </a:xfrm>
            </p:grpSpPr>
            <p:sp>
              <p:nvSpPr>
                <p:cNvPr id="40" name="任意多边形: 形状 39"/>
                <p:cNvSpPr/>
                <p:nvPr/>
              </p:nvSpPr>
              <p:spPr>
                <a:xfrm>
                  <a:off x="4251065" y="3141545"/>
                  <a:ext cx="509332" cy="823761"/>
                </a:xfrm>
                <a:custGeom>
                  <a:avLst/>
                  <a:gdLst>
                    <a:gd name="connsiteX0" fmla="*/ 3175 w 384175"/>
                    <a:gd name="connsiteY0" fmla="*/ 0 h 746125"/>
                    <a:gd name="connsiteX1" fmla="*/ 0 w 384175"/>
                    <a:gd name="connsiteY1" fmla="*/ 320675 h 746125"/>
                    <a:gd name="connsiteX2" fmla="*/ 104775 w 384175"/>
                    <a:gd name="connsiteY2" fmla="*/ 361950 h 746125"/>
                    <a:gd name="connsiteX3" fmla="*/ 0 w 384175"/>
                    <a:gd name="connsiteY3" fmla="*/ 454025 h 746125"/>
                    <a:gd name="connsiteX4" fmla="*/ 0 w 384175"/>
                    <a:gd name="connsiteY4" fmla="*/ 746125 h 746125"/>
                    <a:gd name="connsiteX5" fmla="*/ 377825 w 384175"/>
                    <a:gd name="connsiteY5" fmla="*/ 539750 h 746125"/>
                    <a:gd name="connsiteX6" fmla="*/ 384175 w 384175"/>
                    <a:gd name="connsiteY6" fmla="*/ 209550 h 746125"/>
                    <a:gd name="connsiteX7" fmla="*/ 3175 w 384175"/>
                    <a:gd name="connsiteY7" fmla="*/ 0 h 746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175" h="746125">
                      <a:moveTo>
                        <a:pt x="3175" y="0"/>
                      </a:moveTo>
                      <a:cubicBezTo>
                        <a:pt x="2117" y="106892"/>
                        <a:pt x="1058" y="213783"/>
                        <a:pt x="0" y="320675"/>
                      </a:cubicBezTo>
                      <a:lnTo>
                        <a:pt x="104775" y="361950"/>
                      </a:lnTo>
                      <a:lnTo>
                        <a:pt x="0" y="454025"/>
                      </a:lnTo>
                      <a:lnTo>
                        <a:pt x="0" y="746125"/>
                      </a:lnTo>
                      <a:lnTo>
                        <a:pt x="377825" y="539750"/>
                      </a:lnTo>
                      <a:lnTo>
                        <a:pt x="384175" y="209550"/>
                      </a:lnTo>
                      <a:lnTo>
                        <a:pt x="3175" y="0"/>
                      </a:lnTo>
                      <a:close/>
                    </a:path>
                  </a:pathLst>
                </a:custGeom>
                <a:solidFill>
                  <a:srgbClr val="B2B3B6"/>
                </a:solidFill>
                <a:ln w="19050">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solidFill>
                      <a:schemeClr val="tx1"/>
                    </a:solidFill>
                  </a:endParaRPr>
                </a:p>
              </p:txBody>
            </p:sp>
            <p:sp>
              <p:nvSpPr>
                <p:cNvPr id="44" name="矩形 43"/>
                <p:cNvSpPr/>
                <p:nvPr/>
              </p:nvSpPr>
              <p:spPr>
                <a:xfrm>
                  <a:off x="5134289" y="3265336"/>
                  <a:ext cx="640553" cy="61716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文本框 45"/>
                <p:cNvSpPr txBox="1"/>
                <p:nvPr/>
              </p:nvSpPr>
              <p:spPr>
                <a:xfrm>
                  <a:off x="2280117" y="3410893"/>
                  <a:ext cx="395881" cy="400110"/>
                </a:xfrm>
                <a:prstGeom prst="rect">
                  <a:avLst/>
                </a:prstGeom>
                <a:noFill/>
              </p:spPr>
              <p:txBody>
                <a:bodyPr wrap="square" rtlCol="0">
                  <a:spAutoFit/>
                </a:bodyPr>
                <a:lstStyle/>
                <a:p>
                  <a:r>
                    <a:rPr lang="en-US" altLang="zh-CN" sz="2000" dirty="0"/>
                    <a:t>IF</a:t>
                  </a:r>
                  <a:endParaRPr lang="zh-CN" altLang="en-US" sz="2000" dirty="0"/>
                </a:p>
              </p:txBody>
            </p:sp>
            <p:cxnSp>
              <p:nvCxnSpPr>
                <p:cNvPr id="49" name="直接连接符 48"/>
                <p:cNvCxnSpPr/>
                <p:nvPr/>
              </p:nvCxnSpPr>
              <p:spPr>
                <a:xfrm>
                  <a:off x="2752611" y="3604497"/>
                  <a:ext cx="3334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53" name="直接连接符 52"/>
                <p:cNvCxnSpPr/>
                <p:nvPr/>
              </p:nvCxnSpPr>
              <p:spPr>
                <a:xfrm>
                  <a:off x="3771900" y="3363734"/>
                  <a:ext cx="477238" cy="4922"/>
                </a:xfrm>
                <a:prstGeom prst="line">
                  <a:avLst/>
                </a:prstGeom>
                <a:ln w="12700"/>
              </p:spPr>
              <p:style>
                <a:lnRef idx="1">
                  <a:schemeClr val="dk1"/>
                </a:lnRef>
                <a:fillRef idx="0">
                  <a:schemeClr val="dk1"/>
                </a:fillRef>
                <a:effectRef idx="0">
                  <a:schemeClr val="dk1"/>
                </a:effectRef>
                <a:fontRef idx="minor">
                  <a:schemeClr val="tx1"/>
                </a:fontRef>
              </p:style>
            </p:cxnSp>
            <p:cxnSp>
              <p:nvCxnSpPr>
                <p:cNvPr id="55" name="直接连接符 54"/>
                <p:cNvCxnSpPr/>
                <p:nvPr/>
              </p:nvCxnSpPr>
              <p:spPr>
                <a:xfrm>
                  <a:off x="3771900" y="3768468"/>
                  <a:ext cx="471541"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57" name="直接连接符 56"/>
                <p:cNvCxnSpPr/>
                <p:nvPr/>
              </p:nvCxnSpPr>
              <p:spPr>
                <a:xfrm>
                  <a:off x="4760908" y="3538082"/>
                  <a:ext cx="377852"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58" name="直接连接符 57"/>
                <p:cNvCxnSpPr/>
                <p:nvPr/>
              </p:nvCxnSpPr>
              <p:spPr>
                <a:xfrm>
                  <a:off x="5783179" y="3551705"/>
                  <a:ext cx="312821"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3" name="直接连接符 62"/>
                <p:cNvCxnSpPr/>
                <p:nvPr/>
              </p:nvCxnSpPr>
              <p:spPr>
                <a:xfrm>
                  <a:off x="3012962" y="3523897"/>
                  <a:ext cx="0" cy="73363"/>
                </a:xfrm>
                <a:prstGeom prst="line">
                  <a:avLst/>
                </a:prstGeom>
                <a:ln w="12700"/>
              </p:spPr>
              <p:style>
                <a:lnRef idx="1">
                  <a:schemeClr val="dk1"/>
                </a:lnRef>
                <a:fillRef idx="0">
                  <a:schemeClr val="dk1"/>
                </a:fillRef>
                <a:effectRef idx="0">
                  <a:schemeClr val="dk1"/>
                </a:effectRef>
                <a:fontRef idx="minor">
                  <a:schemeClr val="tx1"/>
                </a:fontRef>
              </p:style>
            </p:cxnSp>
            <p:cxnSp>
              <p:nvCxnSpPr>
                <p:cNvPr id="78849" name="直接连接符 78848"/>
                <p:cNvCxnSpPr/>
                <p:nvPr/>
              </p:nvCxnSpPr>
              <p:spPr>
                <a:xfrm>
                  <a:off x="3010850" y="3523897"/>
                  <a:ext cx="79488" cy="0"/>
                </a:xfrm>
                <a:prstGeom prst="line">
                  <a:avLst/>
                </a:prstGeom>
                <a:ln w="12700"/>
              </p:spPr>
              <p:style>
                <a:lnRef idx="1">
                  <a:schemeClr val="dk1"/>
                </a:lnRef>
                <a:fillRef idx="0">
                  <a:schemeClr val="dk1"/>
                </a:fillRef>
                <a:effectRef idx="0">
                  <a:schemeClr val="dk1"/>
                </a:effectRef>
                <a:fontRef idx="minor">
                  <a:schemeClr val="tx1"/>
                </a:fontRef>
              </p:style>
            </p:cxnSp>
            <p:sp>
              <p:nvSpPr>
                <p:cNvPr id="71" name="文本框 70"/>
                <p:cNvSpPr txBox="1"/>
                <p:nvPr/>
              </p:nvSpPr>
              <p:spPr>
                <a:xfrm>
                  <a:off x="3273501" y="3394306"/>
                  <a:ext cx="442733" cy="400110"/>
                </a:xfrm>
                <a:prstGeom prst="rect">
                  <a:avLst/>
                </a:prstGeom>
                <a:noFill/>
              </p:spPr>
              <p:txBody>
                <a:bodyPr wrap="square" rtlCol="0">
                  <a:spAutoFit/>
                </a:bodyPr>
                <a:lstStyle/>
                <a:p>
                  <a:r>
                    <a:rPr lang="en-US" altLang="zh-CN" sz="2000" dirty="0"/>
                    <a:t>ID</a:t>
                  </a:r>
                  <a:endParaRPr lang="zh-CN" altLang="en-US" sz="2000" dirty="0"/>
                </a:p>
              </p:txBody>
            </p:sp>
            <p:sp>
              <p:nvSpPr>
                <p:cNvPr id="73" name="文本框 72"/>
                <p:cNvSpPr txBox="1"/>
                <p:nvPr/>
              </p:nvSpPr>
              <p:spPr>
                <a:xfrm>
                  <a:off x="4320711" y="3352956"/>
                  <a:ext cx="536617" cy="400110"/>
                </a:xfrm>
                <a:prstGeom prst="rect">
                  <a:avLst/>
                </a:prstGeom>
                <a:noFill/>
              </p:spPr>
              <p:txBody>
                <a:bodyPr wrap="square" rtlCol="0">
                  <a:spAutoFit/>
                </a:bodyPr>
                <a:lstStyle/>
                <a:p>
                  <a:r>
                    <a:rPr lang="en-US" altLang="zh-CN" sz="2000" dirty="0"/>
                    <a:t>EX </a:t>
                  </a:r>
                  <a:endParaRPr lang="zh-CN" altLang="en-US" sz="2000" dirty="0"/>
                </a:p>
              </p:txBody>
            </p:sp>
            <p:sp>
              <p:nvSpPr>
                <p:cNvPr id="74" name="文本框 73"/>
                <p:cNvSpPr txBox="1"/>
                <p:nvPr/>
              </p:nvSpPr>
              <p:spPr>
                <a:xfrm>
                  <a:off x="5084130" y="3363734"/>
                  <a:ext cx="753886" cy="400110"/>
                </a:xfrm>
                <a:prstGeom prst="rect">
                  <a:avLst/>
                </a:prstGeom>
                <a:noFill/>
              </p:spPr>
              <p:txBody>
                <a:bodyPr wrap="square" rtlCol="0">
                  <a:spAutoFit/>
                </a:bodyPr>
                <a:lstStyle/>
                <a:p>
                  <a:r>
                    <a:rPr lang="en-US" altLang="zh-CN" sz="2000" dirty="0"/>
                    <a:t>MEM</a:t>
                  </a:r>
                  <a:endParaRPr lang="zh-CN" altLang="en-US" sz="2000" dirty="0"/>
                </a:p>
              </p:txBody>
            </p:sp>
            <p:sp>
              <p:nvSpPr>
                <p:cNvPr id="75" name="文本框 74"/>
                <p:cNvSpPr txBox="1"/>
                <p:nvPr/>
              </p:nvSpPr>
              <p:spPr>
                <a:xfrm>
                  <a:off x="6155221" y="3380188"/>
                  <a:ext cx="637481" cy="400110"/>
                </a:xfrm>
                <a:prstGeom prst="rect">
                  <a:avLst/>
                </a:prstGeom>
                <a:noFill/>
              </p:spPr>
              <p:txBody>
                <a:bodyPr wrap="square" rtlCol="0">
                  <a:spAutoFit/>
                </a:bodyPr>
                <a:lstStyle/>
                <a:p>
                  <a:r>
                    <a:rPr lang="en-US" altLang="zh-CN" sz="2000" dirty="0"/>
                    <a:t>WB</a:t>
                  </a:r>
                  <a:endParaRPr lang="zh-CN" altLang="en-US" sz="2000" dirty="0"/>
                </a:p>
              </p:txBody>
            </p:sp>
          </p:grpSp>
          <p:sp>
            <p:nvSpPr>
              <p:cNvPr id="78862" name="矩形 78861"/>
              <p:cNvSpPr/>
              <p:nvPr/>
            </p:nvSpPr>
            <p:spPr>
              <a:xfrm>
                <a:off x="2136775" y="3273303"/>
                <a:ext cx="714879" cy="65685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8865" name="直接连接符 78864"/>
              <p:cNvCxnSpPr/>
              <p:nvPr/>
            </p:nvCxnSpPr>
            <p:spPr>
              <a:xfrm flipH="1">
                <a:off x="3235070" y="3272697"/>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112" name="直接连接符 111"/>
              <p:cNvCxnSpPr/>
              <p:nvPr/>
            </p:nvCxnSpPr>
            <p:spPr>
              <a:xfrm flipH="1">
                <a:off x="3241532" y="3958529"/>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113" name="直接连接符 112"/>
              <p:cNvCxnSpPr/>
              <p:nvPr/>
            </p:nvCxnSpPr>
            <p:spPr>
              <a:xfrm flipV="1">
                <a:off x="3241532" y="3283908"/>
                <a:ext cx="1" cy="674621"/>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78868" name="直接连接符 78867"/>
              <p:cNvCxnSpPr/>
              <p:nvPr/>
            </p:nvCxnSpPr>
            <p:spPr>
              <a:xfrm>
                <a:off x="3618783" y="3271904"/>
                <a:ext cx="38089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117" name="直接连接符 116"/>
              <p:cNvCxnSpPr/>
              <p:nvPr/>
            </p:nvCxnSpPr>
            <p:spPr>
              <a:xfrm>
                <a:off x="3618783" y="3958529"/>
                <a:ext cx="38089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118" name="直接连接符 117"/>
              <p:cNvCxnSpPr/>
              <p:nvPr/>
            </p:nvCxnSpPr>
            <p:spPr>
              <a:xfrm>
                <a:off x="3995430" y="3279627"/>
                <a:ext cx="0" cy="675283"/>
              </a:xfrm>
              <a:prstGeom prst="line">
                <a:avLst/>
              </a:prstGeom>
              <a:ln w="15875"/>
            </p:spPr>
            <p:style>
              <a:lnRef idx="1">
                <a:schemeClr val="dk1"/>
              </a:lnRef>
              <a:fillRef idx="0">
                <a:schemeClr val="dk1"/>
              </a:fillRef>
              <a:effectRef idx="0">
                <a:schemeClr val="dk1"/>
              </a:effectRef>
              <a:fontRef idx="minor">
                <a:schemeClr val="tx1"/>
              </a:fontRef>
            </p:style>
          </p:cxnSp>
          <p:grpSp>
            <p:nvGrpSpPr>
              <p:cNvPr id="78878" name="组合 78877"/>
              <p:cNvGrpSpPr/>
              <p:nvPr/>
            </p:nvGrpSpPr>
            <p:grpSpPr>
              <a:xfrm rot="10800000">
                <a:off x="6612448" y="3256447"/>
                <a:ext cx="764605" cy="686625"/>
                <a:chOff x="7546826" y="3370312"/>
                <a:chExt cx="764605" cy="686625"/>
              </a:xfrm>
            </p:grpSpPr>
            <p:cxnSp>
              <p:nvCxnSpPr>
                <p:cNvPr id="134" name="直接连接符 133"/>
                <p:cNvCxnSpPr/>
                <p:nvPr/>
              </p:nvCxnSpPr>
              <p:spPr>
                <a:xfrm flipH="1">
                  <a:off x="7546826" y="3371105"/>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135" name="直接连接符 134"/>
                <p:cNvCxnSpPr/>
                <p:nvPr/>
              </p:nvCxnSpPr>
              <p:spPr>
                <a:xfrm flipH="1">
                  <a:off x="7553288" y="4056937"/>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136" name="直接连接符 135"/>
                <p:cNvCxnSpPr/>
                <p:nvPr/>
              </p:nvCxnSpPr>
              <p:spPr>
                <a:xfrm flipV="1">
                  <a:off x="7553288" y="3382316"/>
                  <a:ext cx="1" cy="674621"/>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137" name="直接连接符 136"/>
                <p:cNvCxnSpPr/>
                <p:nvPr/>
              </p:nvCxnSpPr>
              <p:spPr>
                <a:xfrm>
                  <a:off x="7930539" y="3370312"/>
                  <a:ext cx="38089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138" name="直接连接符 137"/>
                <p:cNvCxnSpPr/>
                <p:nvPr/>
              </p:nvCxnSpPr>
              <p:spPr>
                <a:xfrm>
                  <a:off x="7930539" y="4056937"/>
                  <a:ext cx="38089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139" name="直接连接符 138"/>
                <p:cNvCxnSpPr/>
                <p:nvPr/>
              </p:nvCxnSpPr>
              <p:spPr>
                <a:xfrm>
                  <a:off x="8307186" y="3378035"/>
                  <a:ext cx="0" cy="675283"/>
                </a:xfrm>
                <a:prstGeom prst="line">
                  <a:avLst/>
                </a:prstGeom>
                <a:ln w="15875"/>
              </p:spPr>
              <p:style>
                <a:lnRef idx="1">
                  <a:schemeClr val="dk1"/>
                </a:lnRef>
                <a:fillRef idx="0">
                  <a:schemeClr val="dk1"/>
                </a:fillRef>
                <a:effectRef idx="0">
                  <a:schemeClr val="dk1"/>
                </a:effectRef>
                <a:fontRef idx="minor">
                  <a:schemeClr val="tx1"/>
                </a:fontRef>
              </p:style>
            </p:cxnSp>
          </p:grpSp>
        </p:grpSp>
        <p:grpSp>
          <p:nvGrpSpPr>
            <p:cNvPr id="78882" name="气泡"/>
            <p:cNvGrpSpPr/>
            <p:nvPr/>
          </p:nvGrpSpPr>
          <p:grpSpPr>
            <a:xfrm>
              <a:off x="2877231" y="3969319"/>
              <a:ext cx="5608042" cy="912753"/>
              <a:chOff x="2877231" y="4200211"/>
              <a:chExt cx="5608042" cy="912753"/>
            </a:xfrm>
          </p:grpSpPr>
          <p:grpSp>
            <p:nvGrpSpPr>
              <p:cNvPr id="179" name="组合 178"/>
              <p:cNvGrpSpPr/>
              <p:nvPr/>
            </p:nvGrpSpPr>
            <p:grpSpPr>
              <a:xfrm>
                <a:off x="2877231" y="4228071"/>
                <a:ext cx="1084602" cy="884893"/>
                <a:chOff x="1765542" y="4690619"/>
                <a:chExt cx="1298665" cy="876761"/>
              </a:xfrm>
            </p:grpSpPr>
            <p:grpSp>
              <p:nvGrpSpPr>
                <p:cNvPr id="180" name="bubble"/>
                <p:cNvGrpSpPr/>
                <p:nvPr/>
              </p:nvGrpSpPr>
              <p:grpSpPr>
                <a:xfrm>
                  <a:off x="1765542" y="4690619"/>
                  <a:ext cx="1228295" cy="876761"/>
                  <a:chOff x="3887298" y="4676458"/>
                  <a:chExt cx="747010" cy="614334"/>
                </a:xfrm>
              </p:grpSpPr>
              <p:sp>
                <p:nvSpPr>
                  <p:cNvPr id="182" name="思想气泡: 云 181"/>
                  <p:cNvSpPr/>
                  <p:nvPr/>
                </p:nvSpPr>
                <p:spPr>
                  <a:xfrm>
                    <a:off x="3887298" y="4676458"/>
                    <a:ext cx="747010" cy="500679"/>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3" name="任意多边形: 形状 182"/>
                  <p:cNvSpPr/>
                  <p:nvPr/>
                </p:nvSpPr>
                <p:spPr>
                  <a:xfrm>
                    <a:off x="4058014" y="5158267"/>
                    <a:ext cx="138633" cy="132525"/>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椭圆 183"/>
                  <p:cNvSpPr/>
                  <p:nvPr/>
                </p:nvSpPr>
                <p:spPr>
                  <a:xfrm>
                    <a:off x="4095750" y="5111750"/>
                    <a:ext cx="65387" cy="6538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椭圆 184"/>
                  <p:cNvSpPr/>
                  <p:nvPr/>
                </p:nvSpPr>
                <p:spPr>
                  <a:xfrm>
                    <a:off x="4131262" y="5034704"/>
                    <a:ext cx="142257" cy="13252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1" name="文本框 180"/>
                <p:cNvSpPr txBox="1"/>
                <p:nvPr/>
              </p:nvSpPr>
              <p:spPr>
                <a:xfrm>
                  <a:off x="1838148" y="4795864"/>
                  <a:ext cx="1226059" cy="406576"/>
                </a:xfrm>
                <a:prstGeom prst="rect">
                  <a:avLst/>
                </a:prstGeom>
                <a:noFill/>
              </p:spPr>
              <p:txBody>
                <a:bodyPr wrap="square" rtlCol="0">
                  <a:spAutoFit/>
                </a:bodyPr>
                <a:lstStyle/>
                <a:p>
                  <a:r>
                    <a:rPr lang="en-US" altLang="zh-CN" sz="2000" dirty="0">
                      <a:solidFill>
                        <a:srgbClr val="1B5196"/>
                      </a:solidFill>
                    </a:rPr>
                    <a:t>bubble</a:t>
                  </a:r>
                  <a:endParaRPr lang="zh-CN" altLang="en-US" sz="2000" dirty="0">
                    <a:solidFill>
                      <a:srgbClr val="1B5196"/>
                    </a:solidFill>
                  </a:endParaRPr>
                </a:p>
              </p:txBody>
            </p:sp>
          </p:grpSp>
          <p:grpSp>
            <p:nvGrpSpPr>
              <p:cNvPr id="193" name="组合 192"/>
              <p:cNvGrpSpPr/>
              <p:nvPr/>
            </p:nvGrpSpPr>
            <p:grpSpPr>
              <a:xfrm>
                <a:off x="4047556" y="4200259"/>
                <a:ext cx="1097302" cy="884893"/>
                <a:chOff x="1750336" y="4690619"/>
                <a:chExt cx="1313871" cy="876761"/>
              </a:xfrm>
            </p:grpSpPr>
            <p:grpSp>
              <p:nvGrpSpPr>
                <p:cNvPr id="194" name="bubble"/>
                <p:cNvGrpSpPr/>
                <p:nvPr/>
              </p:nvGrpSpPr>
              <p:grpSpPr>
                <a:xfrm>
                  <a:off x="1750336" y="4690619"/>
                  <a:ext cx="1228295" cy="876761"/>
                  <a:chOff x="3878050" y="4676458"/>
                  <a:chExt cx="747010" cy="614334"/>
                </a:xfrm>
              </p:grpSpPr>
              <p:sp>
                <p:nvSpPr>
                  <p:cNvPr id="196" name="思想气泡: 云 195"/>
                  <p:cNvSpPr/>
                  <p:nvPr/>
                </p:nvSpPr>
                <p:spPr>
                  <a:xfrm>
                    <a:off x="3878050" y="4676458"/>
                    <a:ext cx="747010" cy="500679"/>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7" name="任意多边形: 形状 196"/>
                  <p:cNvSpPr/>
                  <p:nvPr/>
                </p:nvSpPr>
                <p:spPr>
                  <a:xfrm>
                    <a:off x="4058014" y="5158267"/>
                    <a:ext cx="138633" cy="132525"/>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8" name="椭圆 197"/>
                  <p:cNvSpPr/>
                  <p:nvPr/>
                </p:nvSpPr>
                <p:spPr>
                  <a:xfrm>
                    <a:off x="4095750" y="5111750"/>
                    <a:ext cx="65387" cy="6538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9" name="椭圆 198"/>
                  <p:cNvSpPr/>
                  <p:nvPr/>
                </p:nvSpPr>
                <p:spPr>
                  <a:xfrm>
                    <a:off x="4131262" y="5034704"/>
                    <a:ext cx="142257" cy="13252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5" name="文本框 194"/>
                <p:cNvSpPr txBox="1"/>
                <p:nvPr/>
              </p:nvSpPr>
              <p:spPr>
                <a:xfrm>
                  <a:off x="1838148" y="4795864"/>
                  <a:ext cx="1226059" cy="406576"/>
                </a:xfrm>
                <a:prstGeom prst="rect">
                  <a:avLst/>
                </a:prstGeom>
                <a:noFill/>
              </p:spPr>
              <p:txBody>
                <a:bodyPr wrap="square" rtlCol="0">
                  <a:spAutoFit/>
                </a:bodyPr>
                <a:lstStyle/>
                <a:p>
                  <a:r>
                    <a:rPr lang="en-US" altLang="zh-CN" sz="2000" dirty="0">
                      <a:solidFill>
                        <a:srgbClr val="1B5196"/>
                      </a:solidFill>
                    </a:rPr>
                    <a:t>bubble</a:t>
                  </a:r>
                  <a:endParaRPr lang="zh-CN" altLang="en-US" sz="2000" dirty="0">
                    <a:solidFill>
                      <a:srgbClr val="1B5196"/>
                    </a:solidFill>
                  </a:endParaRPr>
                </a:p>
              </p:txBody>
            </p:sp>
          </p:grpSp>
          <p:grpSp>
            <p:nvGrpSpPr>
              <p:cNvPr id="200" name="组合 199"/>
              <p:cNvGrpSpPr/>
              <p:nvPr/>
            </p:nvGrpSpPr>
            <p:grpSpPr>
              <a:xfrm>
                <a:off x="5190422" y="4200259"/>
                <a:ext cx="1084602" cy="884893"/>
                <a:chOff x="1765542" y="4690619"/>
                <a:chExt cx="1298665" cy="876761"/>
              </a:xfrm>
            </p:grpSpPr>
            <p:grpSp>
              <p:nvGrpSpPr>
                <p:cNvPr id="201" name="bubble"/>
                <p:cNvGrpSpPr/>
                <p:nvPr/>
              </p:nvGrpSpPr>
              <p:grpSpPr>
                <a:xfrm>
                  <a:off x="1765542" y="4690619"/>
                  <a:ext cx="1228295" cy="876761"/>
                  <a:chOff x="3887298" y="4676458"/>
                  <a:chExt cx="747010" cy="614334"/>
                </a:xfrm>
              </p:grpSpPr>
              <p:sp>
                <p:nvSpPr>
                  <p:cNvPr id="203" name="思想气泡: 云 202"/>
                  <p:cNvSpPr/>
                  <p:nvPr/>
                </p:nvSpPr>
                <p:spPr>
                  <a:xfrm>
                    <a:off x="3887298" y="4676458"/>
                    <a:ext cx="747010" cy="500679"/>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4" name="任意多边形: 形状 203"/>
                  <p:cNvSpPr/>
                  <p:nvPr/>
                </p:nvSpPr>
                <p:spPr>
                  <a:xfrm>
                    <a:off x="4058014" y="5158267"/>
                    <a:ext cx="138633" cy="132525"/>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5" name="椭圆 204"/>
                  <p:cNvSpPr/>
                  <p:nvPr/>
                </p:nvSpPr>
                <p:spPr>
                  <a:xfrm>
                    <a:off x="4095750" y="5111750"/>
                    <a:ext cx="65387" cy="6538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椭圆 205"/>
                  <p:cNvSpPr/>
                  <p:nvPr/>
                </p:nvSpPr>
                <p:spPr>
                  <a:xfrm>
                    <a:off x="4131262" y="5034704"/>
                    <a:ext cx="142257" cy="13252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2" name="文本框 201"/>
                <p:cNvSpPr txBox="1"/>
                <p:nvPr/>
              </p:nvSpPr>
              <p:spPr>
                <a:xfrm>
                  <a:off x="1838148" y="4795864"/>
                  <a:ext cx="1226059" cy="406576"/>
                </a:xfrm>
                <a:prstGeom prst="rect">
                  <a:avLst/>
                </a:prstGeom>
                <a:noFill/>
              </p:spPr>
              <p:txBody>
                <a:bodyPr wrap="square" rtlCol="0">
                  <a:spAutoFit/>
                </a:bodyPr>
                <a:lstStyle/>
                <a:p>
                  <a:r>
                    <a:rPr lang="en-US" altLang="zh-CN" sz="2000" dirty="0">
                      <a:solidFill>
                        <a:srgbClr val="1B5196"/>
                      </a:solidFill>
                    </a:rPr>
                    <a:t>bubble</a:t>
                  </a:r>
                  <a:endParaRPr lang="zh-CN" altLang="en-US" sz="2000" dirty="0">
                    <a:solidFill>
                      <a:srgbClr val="1B5196"/>
                    </a:solidFill>
                  </a:endParaRPr>
                </a:p>
              </p:txBody>
            </p:sp>
          </p:grpSp>
          <p:grpSp>
            <p:nvGrpSpPr>
              <p:cNvPr id="207" name="组合 206"/>
              <p:cNvGrpSpPr/>
              <p:nvPr/>
            </p:nvGrpSpPr>
            <p:grpSpPr>
              <a:xfrm>
                <a:off x="6308471" y="4200211"/>
                <a:ext cx="1084602" cy="884893"/>
                <a:chOff x="1765542" y="4690619"/>
                <a:chExt cx="1298665" cy="876761"/>
              </a:xfrm>
            </p:grpSpPr>
            <p:grpSp>
              <p:nvGrpSpPr>
                <p:cNvPr id="208" name="bubble"/>
                <p:cNvGrpSpPr/>
                <p:nvPr/>
              </p:nvGrpSpPr>
              <p:grpSpPr>
                <a:xfrm>
                  <a:off x="1765542" y="4690619"/>
                  <a:ext cx="1228295" cy="876761"/>
                  <a:chOff x="3887298" y="4676458"/>
                  <a:chExt cx="747010" cy="614334"/>
                </a:xfrm>
              </p:grpSpPr>
              <p:sp>
                <p:nvSpPr>
                  <p:cNvPr id="210" name="思想气泡: 云 209"/>
                  <p:cNvSpPr/>
                  <p:nvPr/>
                </p:nvSpPr>
                <p:spPr>
                  <a:xfrm>
                    <a:off x="3887298" y="4676458"/>
                    <a:ext cx="747010" cy="500679"/>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1" name="任意多边形: 形状 210"/>
                  <p:cNvSpPr/>
                  <p:nvPr/>
                </p:nvSpPr>
                <p:spPr>
                  <a:xfrm>
                    <a:off x="4058014" y="5158267"/>
                    <a:ext cx="138633" cy="132525"/>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2" name="椭圆 211"/>
                  <p:cNvSpPr/>
                  <p:nvPr/>
                </p:nvSpPr>
                <p:spPr>
                  <a:xfrm>
                    <a:off x="4095750" y="5111750"/>
                    <a:ext cx="65387" cy="6538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3" name="椭圆 212"/>
                  <p:cNvSpPr/>
                  <p:nvPr/>
                </p:nvSpPr>
                <p:spPr>
                  <a:xfrm>
                    <a:off x="4131262" y="5034704"/>
                    <a:ext cx="142257" cy="13252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9" name="文本框 208"/>
                <p:cNvSpPr txBox="1"/>
                <p:nvPr/>
              </p:nvSpPr>
              <p:spPr>
                <a:xfrm>
                  <a:off x="1838148" y="4795864"/>
                  <a:ext cx="1226059" cy="406576"/>
                </a:xfrm>
                <a:prstGeom prst="rect">
                  <a:avLst/>
                </a:prstGeom>
                <a:noFill/>
              </p:spPr>
              <p:txBody>
                <a:bodyPr wrap="square" rtlCol="0">
                  <a:spAutoFit/>
                </a:bodyPr>
                <a:lstStyle/>
                <a:p>
                  <a:r>
                    <a:rPr lang="en-US" altLang="zh-CN" sz="2000" dirty="0">
                      <a:solidFill>
                        <a:srgbClr val="1B5196"/>
                      </a:solidFill>
                    </a:rPr>
                    <a:t>bubble</a:t>
                  </a:r>
                  <a:endParaRPr lang="zh-CN" altLang="en-US" sz="2000" dirty="0">
                    <a:solidFill>
                      <a:srgbClr val="1B5196"/>
                    </a:solidFill>
                  </a:endParaRPr>
                </a:p>
              </p:txBody>
            </p:sp>
          </p:grpSp>
          <p:grpSp>
            <p:nvGrpSpPr>
              <p:cNvPr id="214" name="组合 213"/>
              <p:cNvGrpSpPr/>
              <p:nvPr/>
            </p:nvGrpSpPr>
            <p:grpSpPr>
              <a:xfrm>
                <a:off x="7400671" y="4200211"/>
                <a:ext cx="1084602" cy="884893"/>
                <a:chOff x="1765542" y="4690619"/>
                <a:chExt cx="1298665" cy="876761"/>
              </a:xfrm>
            </p:grpSpPr>
            <p:grpSp>
              <p:nvGrpSpPr>
                <p:cNvPr id="215" name="bubble"/>
                <p:cNvGrpSpPr/>
                <p:nvPr/>
              </p:nvGrpSpPr>
              <p:grpSpPr>
                <a:xfrm>
                  <a:off x="1765542" y="4690619"/>
                  <a:ext cx="1228295" cy="876761"/>
                  <a:chOff x="3887298" y="4676458"/>
                  <a:chExt cx="747010" cy="614334"/>
                </a:xfrm>
              </p:grpSpPr>
              <p:sp>
                <p:nvSpPr>
                  <p:cNvPr id="217" name="思想气泡: 云 216"/>
                  <p:cNvSpPr/>
                  <p:nvPr/>
                </p:nvSpPr>
                <p:spPr>
                  <a:xfrm>
                    <a:off x="3887298" y="4676458"/>
                    <a:ext cx="747010" cy="500679"/>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8" name="任意多边形: 形状 217"/>
                  <p:cNvSpPr/>
                  <p:nvPr/>
                </p:nvSpPr>
                <p:spPr>
                  <a:xfrm>
                    <a:off x="4058014" y="5158267"/>
                    <a:ext cx="138633" cy="132525"/>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9" name="椭圆 218"/>
                  <p:cNvSpPr/>
                  <p:nvPr/>
                </p:nvSpPr>
                <p:spPr>
                  <a:xfrm>
                    <a:off x="4095750" y="5111750"/>
                    <a:ext cx="65387" cy="6538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0" name="椭圆 219"/>
                  <p:cNvSpPr/>
                  <p:nvPr/>
                </p:nvSpPr>
                <p:spPr>
                  <a:xfrm>
                    <a:off x="4131262" y="5034704"/>
                    <a:ext cx="142257" cy="13252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6" name="文本框 215"/>
                <p:cNvSpPr txBox="1"/>
                <p:nvPr/>
              </p:nvSpPr>
              <p:spPr>
                <a:xfrm>
                  <a:off x="1838148" y="4795864"/>
                  <a:ext cx="1226059" cy="406576"/>
                </a:xfrm>
                <a:prstGeom prst="rect">
                  <a:avLst/>
                </a:prstGeom>
                <a:noFill/>
              </p:spPr>
              <p:txBody>
                <a:bodyPr wrap="square" rtlCol="0">
                  <a:spAutoFit/>
                </a:bodyPr>
                <a:lstStyle/>
                <a:p>
                  <a:r>
                    <a:rPr lang="en-US" altLang="zh-CN" sz="2000" dirty="0">
                      <a:solidFill>
                        <a:srgbClr val="1B5196"/>
                      </a:solidFill>
                    </a:rPr>
                    <a:t>bubble</a:t>
                  </a:r>
                  <a:endParaRPr lang="zh-CN" altLang="en-US" sz="2000" dirty="0">
                    <a:solidFill>
                      <a:srgbClr val="1B5196"/>
                    </a:solidFill>
                  </a:endParaRPr>
                </a:p>
              </p:txBody>
            </p:sp>
          </p:grpSp>
        </p:grpSp>
        <p:grpSp>
          <p:nvGrpSpPr>
            <p:cNvPr id="222" name="气泡"/>
            <p:cNvGrpSpPr/>
            <p:nvPr/>
          </p:nvGrpSpPr>
          <p:grpSpPr>
            <a:xfrm>
              <a:off x="4021540" y="4820096"/>
              <a:ext cx="5608042" cy="912753"/>
              <a:chOff x="2877231" y="4200211"/>
              <a:chExt cx="5608042" cy="912753"/>
            </a:xfrm>
          </p:grpSpPr>
          <p:grpSp>
            <p:nvGrpSpPr>
              <p:cNvPr id="223" name="组合 222"/>
              <p:cNvGrpSpPr/>
              <p:nvPr/>
            </p:nvGrpSpPr>
            <p:grpSpPr>
              <a:xfrm>
                <a:off x="2877231" y="4228071"/>
                <a:ext cx="1084602" cy="884893"/>
                <a:chOff x="1765542" y="4690619"/>
                <a:chExt cx="1298665" cy="876761"/>
              </a:xfrm>
            </p:grpSpPr>
            <p:grpSp>
              <p:nvGrpSpPr>
                <p:cNvPr id="252" name="bubble"/>
                <p:cNvGrpSpPr/>
                <p:nvPr/>
              </p:nvGrpSpPr>
              <p:grpSpPr>
                <a:xfrm>
                  <a:off x="1765542" y="4690619"/>
                  <a:ext cx="1228295" cy="876761"/>
                  <a:chOff x="3887298" y="4676458"/>
                  <a:chExt cx="747010" cy="614334"/>
                </a:xfrm>
              </p:grpSpPr>
              <p:sp>
                <p:nvSpPr>
                  <p:cNvPr id="254" name="思想气泡: 云 253"/>
                  <p:cNvSpPr/>
                  <p:nvPr/>
                </p:nvSpPr>
                <p:spPr>
                  <a:xfrm>
                    <a:off x="3887298" y="4676458"/>
                    <a:ext cx="747010" cy="500679"/>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5" name="任意多边形: 形状 254"/>
                  <p:cNvSpPr/>
                  <p:nvPr/>
                </p:nvSpPr>
                <p:spPr>
                  <a:xfrm>
                    <a:off x="4058014" y="5158267"/>
                    <a:ext cx="138633" cy="132525"/>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6" name="椭圆 255"/>
                  <p:cNvSpPr/>
                  <p:nvPr/>
                </p:nvSpPr>
                <p:spPr>
                  <a:xfrm>
                    <a:off x="4095750" y="5111750"/>
                    <a:ext cx="65387" cy="6538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7" name="椭圆 256"/>
                  <p:cNvSpPr/>
                  <p:nvPr/>
                </p:nvSpPr>
                <p:spPr>
                  <a:xfrm>
                    <a:off x="4131262" y="5034704"/>
                    <a:ext cx="142257" cy="13252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3" name="文本框 252"/>
                <p:cNvSpPr txBox="1"/>
                <p:nvPr/>
              </p:nvSpPr>
              <p:spPr>
                <a:xfrm>
                  <a:off x="1838148" y="4795864"/>
                  <a:ext cx="1226059" cy="406576"/>
                </a:xfrm>
                <a:prstGeom prst="rect">
                  <a:avLst/>
                </a:prstGeom>
                <a:noFill/>
              </p:spPr>
              <p:txBody>
                <a:bodyPr wrap="square" rtlCol="0">
                  <a:spAutoFit/>
                </a:bodyPr>
                <a:lstStyle/>
                <a:p>
                  <a:r>
                    <a:rPr lang="en-US" altLang="zh-CN" sz="2000" dirty="0">
                      <a:solidFill>
                        <a:srgbClr val="1B5196"/>
                      </a:solidFill>
                    </a:rPr>
                    <a:t>bubble</a:t>
                  </a:r>
                  <a:endParaRPr lang="zh-CN" altLang="en-US" sz="2000" dirty="0">
                    <a:solidFill>
                      <a:srgbClr val="1B5196"/>
                    </a:solidFill>
                  </a:endParaRPr>
                </a:p>
              </p:txBody>
            </p:sp>
          </p:grpSp>
          <p:grpSp>
            <p:nvGrpSpPr>
              <p:cNvPr id="224" name="组合 223"/>
              <p:cNvGrpSpPr/>
              <p:nvPr/>
            </p:nvGrpSpPr>
            <p:grpSpPr>
              <a:xfrm>
                <a:off x="4047556" y="4200259"/>
                <a:ext cx="1097302" cy="884893"/>
                <a:chOff x="1750336" y="4690619"/>
                <a:chExt cx="1313871" cy="876761"/>
              </a:xfrm>
            </p:grpSpPr>
            <p:grpSp>
              <p:nvGrpSpPr>
                <p:cNvPr id="246" name="bubble"/>
                <p:cNvGrpSpPr/>
                <p:nvPr/>
              </p:nvGrpSpPr>
              <p:grpSpPr>
                <a:xfrm>
                  <a:off x="1750336" y="4690619"/>
                  <a:ext cx="1228295" cy="876761"/>
                  <a:chOff x="3878050" y="4676458"/>
                  <a:chExt cx="747010" cy="614334"/>
                </a:xfrm>
              </p:grpSpPr>
              <p:sp>
                <p:nvSpPr>
                  <p:cNvPr id="248" name="思想气泡: 云 247"/>
                  <p:cNvSpPr/>
                  <p:nvPr/>
                </p:nvSpPr>
                <p:spPr>
                  <a:xfrm>
                    <a:off x="3878050" y="4676458"/>
                    <a:ext cx="747010" cy="500679"/>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9" name="任意多边形: 形状 248"/>
                  <p:cNvSpPr/>
                  <p:nvPr/>
                </p:nvSpPr>
                <p:spPr>
                  <a:xfrm>
                    <a:off x="4058014" y="5158267"/>
                    <a:ext cx="138633" cy="132525"/>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0" name="椭圆 249"/>
                  <p:cNvSpPr/>
                  <p:nvPr/>
                </p:nvSpPr>
                <p:spPr>
                  <a:xfrm>
                    <a:off x="4095750" y="5111750"/>
                    <a:ext cx="65387" cy="6538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1" name="椭圆 250"/>
                  <p:cNvSpPr/>
                  <p:nvPr/>
                </p:nvSpPr>
                <p:spPr>
                  <a:xfrm>
                    <a:off x="4131262" y="5034704"/>
                    <a:ext cx="142257" cy="13252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7" name="文本框 246"/>
                <p:cNvSpPr txBox="1"/>
                <p:nvPr/>
              </p:nvSpPr>
              <p:spPr>
                <a:xfrm>
                  <a:off x="1838148" y="4795864"/>
                  <a:ext cx="1226059" cy="406576"/>
                </a:xfrm>
                <a:prstGeom prst="rect">
                  <a:avLst/>
                </a:prstGeom>
                <a:noFill/>
              </p:spPr>
              <p:txBody>
                <a:bodyPr wrap="square" rtlCol="0">
                  <a:spAutoFit/>
                </a:bodyPr>
                <a:lstStyle/>
                <a:p>
                  <a:r>
                    <a:rPr lang="en-US" altLang="zh-CN" sz="2000" dirty="0">
                      <a:solidFill>
                        <a:srgbClr val="1B5196"/>
                      </a:solidFill>
                    </a:rPr>
                    <a:t>bubble</a:t>
                  </a:r>
                  <a:endParaRPr lang="zh-CN" altLang="en-US" sz="2000" dirty="0">
                    <a:solidFill>
                      <a:srgbClr val="1B5196"/>
                    </a:solidFill>
                  </a:endParaRPr>
                </a:p>
              </p:txBody>
            </p:sp>
          </p:grpSp>
          <p:grpSp>
            <p:nvGrpSpPr>
              <p:cNvPr id="225" name="组合 224"/>
              <p:cNvGrpSpPr/>
              <p:nvPr/>
            </p:nvGrpSpPr>
            <p:grpSpPr>
              <a:xfrm>
                <a:off x="5190422" y="4200259"/>
                <a:ext cx="1084602" cy="884893"/>
                <a:chOff x="1765542" y="4690619"/>
                <a:chExt cx="1298665" cy="876761"/>
              </a:xfrm>
            </p:grpSpPr>
            <p:grpSp>
              <p:nvGrpSpPr>
                <p:cNvPr id="240" name="bubble"/>
                <p:cNvGrpSpPr/>
                <p:nvPr/>
              </p:nvGrpSpPr>
              <p:grpSpPr>
                <a:xfrm>
                  <a:off x="1765542" y="4690619"/>
                  <a:ext cx="1228295" cy="876761"/>
                  <a:chOff x="3887298" y="4676458"/>
                  <a:chExt cx="747010" cy="614334"/>
                </a:xfrm>
              </p:grpSpPr>
              <p:sp>
                <p:nvSpPr>
                  <p:cNvPr id="242" name="思想气泡: 云 241"/>
                  <p:cNvSpPr/>
                  <p:nvPr/>
                </p:nvSpPr>
                <p:spPr>
                  <a:xfrm>
                    <a:off x="3887298" y="4676458"/>
                    <a:ext cx="747010" cy="500679"/>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3" name="任意多边形: 形状 242"/>
                  <p:cNvSpPr/>
                  <p:nvPr/>
                </p:nvSpPr>
                <p:spPr>
                  <a:xfrm>
                    <a:off x="4058014" y="5158267"/>
                    <a:ext cx="138633" cy="132525"/>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4" name="椭圆 243"/>
                  <p:cNvSpPr/>
                  <p:nvPr/>
                </p:nvSpPr>
                <p:spPr>
                  <a:xfrm>
                    <a:off x="4095750" y="5111750"/>
                    <a:ext cx="65387" cy="6538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5" name="椭圆 244"/>
                  <p:cNvSpPr/>
                  <p:nvPr/>
                </p:nvSpPr>
                <p:spPr>
                  <a:xfrm>
                    <a:off x="4131262" y="5034704"/>
                    <a:ext cx="142257" cy="13252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1" name="文本框 240"/>
                <p:cNvSpPr txBox="1"/>
                <p:nvPr/>
              </p:nvSpPr>
              <p:spPr>
                <a:xfrm>
                  <a:off x="1838148" y="4795864"/>
                  <a:ext cx="1226059" cy="406576"/>
                </a:xfrm>
                <a:prstGeom prst="rect">
                  <a:avLst/>
                </a:prstGeom>
                <a:noFill/>
              </p:spPr>
              <p:txBody>
                <a:bodyPr wrap="square" rtlCol="0">
                  <a:spAutoFit/>
                </a:bodyPr>
                <a:lstStyle/>
                <a:p>
                  <a:r>
                    <a:rPr lang="en-US" altLang="zh-CN" sz="2000" dirty="0">
                      <a:solidFill>
                        <a:srgbClr val="1B5196"/>
                      </a:solidFill>
                    </a:rPr>
                    <a:t>bubble</a:t>
                  </a:r>
                  <a:endParaRPr lang="zh-CN" altLang="en-US" sz="2000" dirty="0">
                    <a:solidFill>
                      <a:srgbClr val="1B5196"/>
                    </a:solidFill>
                  </a:endParaRPr>
                </a:p>
              </p:txBody>
            </p:sp>
          </p:grpSp>
          <p:grpSp>
            <p:nvGrpSpPr>
              <p:cNvPr id="226" name="组合 225"/>
              <p:cNvGrpSpPr/>
              <p:nvPr/>
            </p:nvGrpSpPr>
            <p:grpSpPr>
              <a:xfrm>
                <a:off x="6308471" y="4200211"/>
                <a:ext cx="1084602" cy="884893"/>
                <a:chOff x="1765542" y="4690619"/>
                <a:chExt cx="1298665" cy="876761"/>
              </a:xfrm>
            </p:grpSpPr>
            <p:grpSp>
              <p:nvGrpSpPr>
                <p:cNvPr id="234" name="bubble"/>
                <p:cNvGrpSpPr/>
                <p:nvPr/>
              </p:nvGrpSpPr>
              <p:grpSpPr>
                <a:xfrm>
                  <a:off x="1765542" y="4690619"/>
                  <a:ext cx="1228295" cy="876761"/>
                  <a:chOff x="3887298" y="4676458"/>
                  <a:chExt cx="747010" cy="614334"/>
                </a:xfrm>
              </p:grpSpPr>
              <p:sp>
                <p:nvSpPr>
                  <p:cNvPr id="236" name="思想气泡: 云 235"/>
                  <p:cNvSpPr/>
                  <p:nvPr/>
                </p:nvSpPr>
                <p:spPr>
                  <a:xfrm>
                    <a:off x="3887298" y="4676458"/>
                    <a:ext cx="747010" cy="500679"/>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7" name="任意多边形: 形状 236"/>
                  <p:cNvSpPr/>
                  <p:nvPr/>
                </p:nvSpPr>
                <p:spPr>
                  <a:xfrm>
                    <a:off x="4058014" y="5158267"/>
                    <a:ext cx="138633" cy="132525"/>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8" name="椭圆 237"/>
                  <p:cNvSpPr/>
                  <p:nvPr/>
                </p:nvSpPr>
                <p:spPr>
                  <a:xfrm>
                    <a:off x="4095750" y="5111750"/>
                    <a:ext cx="65387" cy="6538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9" name="椭圆 238"/>
                  <p:cNvSpPr/>
                  <p:nvPr/>
                </p:nvSpPr>
                <p:spPr>
                  <a:xfrm>
                    <a:off x="4131262" y="5034704"/>
                    <a:ext cx="142257" cy="13252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5" name="文本框 234"/>
                <p:cNvSpPr txBox="1"/>
                <p:nvPr/>
              </p:nvSpPr>
              <p:spPr>
                <a:xfrm>
                  <a:off x="1838148" y="4795864"/>
                  <a:ext cx="1226059" cy="406576"/>
                </a:xfrm>
                <a:prstGeom prst="rect">
                  <a:avLst/>
                </a:prstGeom>
                <a:noFill/>
              </p:spPr>
              <p:txBody>
                <a:bodyPr wrap="square" rtlCol="0">
                  <a:spAutoFit/>
                </a:bodyPr>
                <a:lstStyle/>
                <a:p>
                  <a:r>
                    <a:rPr lang="en-US" altLang="zh-CN" sz="2000" dirty="0">
                      <a:solidFill>
                        <a:srgbClr val="1B5196"/>
                      </a:solidFill>
                    </a:rPr>
                    <a:t>bubble</a:t>
                  </a:r>
                  <a:endParaRPr lang="zh-CN" altLang="en-US" sz="2000" dirty="0">
                    <a:solidFill>
                      <a:srgbClr val="1B5196"/>
                    </a:solidFill>
                  </a:endParaRPr>
                </a:p>
              </p:txBody>
            </p:sp>
          </p:grpSp>
          <p:grpSp>
            <p:nvGrpSpPr>
              <p:cNvPr id="227" name="组合 226"/>
              <p:cNvGrpSpPr/>
              <p:nvPr/>
            </p:nvGrpSpPr>
            <p:grpSpPr>
              <a:xfrm>
                <a:off x="7400671" y="4200211"/>
                <a:ext cx="1084602" cy="884893"/>
                <a:chOff x="1765542" y="4690619"/>
                <a:chExt cx="1298665" cy="876761"/>
              </a:xfrm>
            </p:grpSpPr>
            <p:grpSp>
              <p:nvGrpSpPr>
                <p:cNvPr id="228" name="bubble"/>
                <p:cNvGrpSpPr/>
                <p:nvPr/>
              </p:nvGrpSpPr>
              <p:grpSpPr>
                <a:xfrm>
                  <a:off x="1765542" y="4690619"/>
                  <a:ext cx="1228295" cy="876761"/>
                  <a:chOff x="3887298" y="4676458"/>
                  <a:chExt cx="747010" cy="614334"/>
                </a:xfrm>
              </p:grpSpPr>
              <p:sp>
                <p:nvSpPr>
                  <p:cNvPr id="230" name="思想气泡: 云 229"/>
                  <p:cNvSpPr/>
                  <p:nvPr/>
                </p:nvSpPr>
                <p:spPr>
                  <a:xfrm>
                    <a:off x="3887298" y="4676458"/>
                    <a:ext cx="747010" cy="500679"/>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1" name="任意多边形: 形状 230"/>
                  <p:cNvSpPr/>
                  <p:nvPr/>
                </p:nvSpPr>
                <p:spPr>
                  <a:xfrm>
                    <a:off x="4058014" y="5158267"/>
                    <a:ext cx="138633" cy="132525"/>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2" name="椭圆 231"/>
                  <p:cNvSpPr/>
                  <p:nvPr/>
                </p:nvSpPr>
                <p:spPr>
                  <a:xfrm>
                    <a:off x="4095750" y="5111750"/>
                    <a:ext cx="65387" cy="6538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3" name="椭圆 232"/>
                  <p:cNvSpPr/>
                  <p:nvPr/>
                </p:nvSpPr>
                <p:spPr>
                  <a:xfrm>
                    <a:off x="4131262" y="5034704"/>
                    <a:ext cx="142257" cy="13252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9" name="文本框 228"/>
                <p:cNvSpPr txBox="1"/>
                <p:nvPr/>
              </p:nvSpPr>
              <p:spPr>
                <a:xfrm>
                  <a:off x="1838148" y="4795864"/>
                  <a:ext cx="1226059" cy="406576"/>
                </a:xfrm>
                <a:prstGeom prst="rect">
                  <a:avLst/>
                </a:prstGeom>
                <a:noFill/>
              </p:spPr>
              <p:txBody>
                <a:bodyPr wrap="square" rtlCol="0">
                  <a:spAutoFit/>
                </a:bodyPr>
                <a:lstStyle/>
                <a:p>
                  <a:r>
                    <a:rPr lang="en-US" altLang="zh-CN" sz="2000" dirty="0">
                      <a:solidFill>
                        <a:srgbClr val="1B5196"/>
                      </a:solidFill>
                    </a:rPr>
                    <a:t>bubble</a:t>
                  </a:r>
                  <a:endParaRPr lang="zh-CN" altLang="en-US" sz="2000" dirty="0">
                    <a:solidFill>
                      <a:srgbClr val="1B5196"/>
                    </a:solidFill>
                  </a:endParaRPr>
                </a:p>
              </p:txBody>
            </p:sp>
          </p:grpSp>
        </p:grpSp>
        <p:grpSp>
          <p:nvGrpSpPr>
            <p:cNvPr id="146" name="指令"/>
            <p:cNvGrpSpPr/>
            <p:nvPr/>
          </p:nvGrpSpPr>
          <p:grpSpPr>
            <a:xfrm>
              <a:off x="5283287" y="5647203"/>
              <a:ext cx="5258795" cy="876787"/>
              <a:chOff x="2136775" y="3141544"/>
              <a:chExt cx="5258795" cy="876787"/>
            </a:xfrm>
          </p:grpSpPr>
          <p:sp>
            <p:nvSpPr>
              <p:cNvPr id="147" name="矩形 146"/>
              <p:cNvSpPr/>
              <p:nvPr/>
            </p:nvSpPr>
            <p:spPr>
              <a:xfrm>
                <a:off x="6624323" y="3263778"/>
                <a:ext cx="378097" cy="681688"/>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8" name="矩形 147"/>
              <p:cNvSpPr/>
              <p:nvPr/>
            </p:nvSpPr>
            <p:spPr>
              <a:xfrm>
                <a:off x="3614861" y="3271147"/>
                <a:ext cx="378097" cy="681688"/>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a:off x="2489891" y="3271904"/>
                <a:ext cx="361764" cy="65684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0" name="指令"/>
              <p:cNvGrpSpPr/>
              <p:nvPr/>
            </p:nvGrpSpPr>
            <p:grpSpPr>
              <a:xfrm>
                <a:off x="2322658" y="3141544"/>
                <a:ext cx="5072912" cy="876787"/>
                <a:chOff x="2280117" y="3141545"/>
                <a:chExt cx="4512585" cy="823761"/>
              </a:xfrm>
            </p:grpSpPr>
            <p:sp>
              <p:nvSpPr>
                <p:cNvPr id="165" name="任意多边形: 形状 164"/>
                <p:cNvSpPr/>
                <p:nvPr/>
              </p:nvSpPr>
              <p:spPr>
                <a:xfrm>
                  <a:off x="4251065" y="3141545"/>
                  <a:ext cx="509332" cy="823761"/>
                </a:xfrm>
                <a:custGeom>
                  <a:avLst/>
                  <a:gdLst>
                    <a:gd name="connsiteX0" fmla="*/ 3175 w 384175"/>
                    <a:gd name="connsiteY0" fmla="*/ 0 h 746125"/>
                    <a:gd name="connsiteX1" fmla="*/ 0 w 384175"/>
                    <a:gd name="connsiteY1" fmla="*/ 320675 h 746125"/>
                    <a:gd name="connsiteX2" fmla="*/ 104775 w 384175"/>
                    <a:gd name="connsiteY2" fmla="*/ 361950 h 746125"/>
                    <a:gd name="connsiteX3" fmla="*/ 0 w 384175"/>
                    <a:gd name="connsiteY3" fmla="*/ 454025 h 746125"/>
                    <a:gd name="connsiteX4" fmla="*/ 0 w 384175"/>
                    <a:gd name="connsiteY4" fmla="*/ 746125 h 746125"/>
                    <a:gd name="connsiteX5" fmla="*/ 377825 w 384175"/>
                    <a:gd name="connsiteY5" fmla="*/ 539750 h 746125"/>
                    <a:gd name="connsiteX6" fmla="*/ 384175 w 384175"/>
                    <a:gd name="connsiteY6" fmla="*/ 209550 h 746125"/>
                    <a:gd name="connsiteX7" fmla="*/ 3175 w 384175"/>
                    <a:gd name="connsiteY7" fmla="*/ 0 h 746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175" h="746125">
                      <a:moveTo>
                        <a:pt x="3175" y="0"/>
                      </a:moveTo>
                      <a:cubicBezTo>
                        <a:pt x="2117" y="106892"/>
                        <a:pt x="1058" y="213783"/>
                        <a:pt x="0" y="320675"/>
                      </a:cubicBezTo>
                      <a:lnTo>
                        <a:pt x="104775" y="361950"/>
                      </a:lnTo>
                      <a:lnTo>
                        <a:pt x="0" y="454025"/>
                      </a:lnTo>
                      <a:lnTo>
                        <a:pt x="0" y="746125"/>
                      </a:lnTo>
                      <a:lnTo>
                        <a:pt x="377825" y="539750"/>
                      </a:lnTo>
                      <a:lnTo>
                        <a:pt x="384175" y="209550"/>
                      </a:lnTo>
                      <a:lnTo>
                        <a:pt x="3175" y="0"/>
                      </a:lnTo>
                      <a:close/>
                    </a:path>
                  </a:pathLst>
                </a:custGeom>
                <a:solidFill>
                  <a:srgbClr val="B2B3B6"/>
                </a:solidFill>
                <a:ln w="19050">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solidFill>
                      <a:schemeClr val="tx1"/>
                    </a:solidFill>
                  </a:endParaRPr>
                </a:p>
              </p:txBody>
            </p:sp>
            <p:sp>
              <p:nvSpPr>
                <p:cNvPr id="166" name="矩形 165"/>
                <p:cNvSpPr/>
                <p:nvPr/>
              </p:nvSpPr>
              <p:spPr>
                <a:xfrm>
                  <a:off x="5134289" y="3265336"/>
                  <a:ext cx="640553" cy="61716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7" name="文本框 166"/>
                <p:cNvSpPr txBox="1"/>
                <p:nvPr/>
              </p:nvSpPr>
              <p:spPr>
                <a:xfrm>
                  <a:off x="2280117" y="3410893"/>
                  <a:ext cx="395881" cy="400110"/>
                </a:xfrm>
                <a:prstGeom prst="rect">
                  <a:avLst/>
                </a:prstGeom>
                <a:noFill/>
              </p:spPr>
              <p:txBody>
                <a:bodyPr wrap="square" rtlCol="0">
                  <a:spAutoFit/>
                </a:bodyPr>
                <a:lstStyle/>
                <a:p>
                  <a:r>
                    <a:rPr lang="en-US" altLang="zh-CN" sz="2000" dirty="0"/>
                    <a:t>IF</a:t>
                  </a:r>
                  <a:endParaRPr lang="zh-CN" altLang="en-US" sz="2000" dirty="0"/>
                </a:p>
              </p:txBody>
            </p:sp>
            <p:cxnSp>
              <p:nvCxnSpPr>
                <p:cNvPr id="168" name="直接连接符 167"/>
                <p:cNvCxnSpPr/>
                <p:nvPr/>
              </p:nvCxnSpPr>
              <p:spPr>
                <a:xfrm>
                  <a:off x="2752611" y="3604497"/>
                  <a:ext cx="3334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69" name="直接连接符 168"/>
                <p:cNvCxnSpPr/>
                <p:nvPr/>
              </p:nvCxnSpPr>
              <p:spPr>
                <a:xfrm>
                  <a:off x="3771900" y="3363734"/>
                  <a:ext cx="477238" cy="4922"/>
                </a:xfrm>
                <a:prstGeom prst="line">
                  <a:avLst/>
                </a:prstGeom>
                <a:ln w="12700"/>
              </p:spPr>
              <p:style>
                <a:lnRef idx="1">
                  <a:schemeClr val="dk1"/>
                </a:lnRef>
                <a:fillRef idx="0">
                  <a:schemeClr val="dk1"/>
                </a:fillRef>
                <a:effectRef idx="0">
                  <a:schemeClr val="dk1"/>
                </a:effectRef>
                <a:fontRef idx="minor">
                  <a:schemeClr val="tx1"/>
                </a:fontRef>
              </p:style>
            </p:cxnSp>
            <p:cxnSp>
              <p:nvCxnSpPr>
                <p:cNvPr id="170" name="直接连接符 169"/>
                <p:cNvCxnSpPr/>
                <p:nvPr/>
              </p:nvCxnSpPr>
              <p:spPr>
                <a:xfrm>
                  <a:off x="3771900" y="3768468"/>
                  <a:ext cx="471541"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71" name="直接连接符 170"/>
                <p:cNvCxnSpPr/>
                <p:nvPr/>
              </p:nvCxnSpPr>
              <p:spPr>
                <a:xfrm>
                  <a:off x="4760908" y="3538082"/>
                  <a:ext cx="377852"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72" name="直接连接符 171"/>
                <p:cNvCxnSpPr/>
                <p:nvPr/>
              </p:nvCxnSpPr>
              <p:spPr>
                <a:xfrm>
                  <a:off x="5783179" y="3551705"/>
                  <a:ext cx="312821"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73" name="直接连接符 172"/>
                <p:cNvCxnSpPr/>
                <p:nvPr/>
              </p:nvCxnSpPr>
              <p:spPr>
                <a:xfrm>
                  <a:off x="3012962" y="3523897"/>
                  <a:ext cx="0" cy="73363"/>
                </a:xfrm>
                <a:prstGeom prst="line">
                  <a:avLst/>
                </a:prstGeom>
                <a:ln w="12700"/>
              </p:spPr>
              <p:style>
                <a:lnRef idx="1">
                  <a:schemeClr val="dk1"/>
                </a:lnRef>
                <a:fillRef idx="0">
                  <a:schemeClr val="dk1"/>
                </a:fillRef>
                <a:effectRef idx="0">
                  <a:schemeClr val="dk1"/>
                </a:effectRef>
                <a:fontRef idx="minor">
                  <a:schemeClr val="tx1"/>
                </a:fontRef>
              </p:style>
            </p:cxnSp>
            <p:cxnSp>
              <p:nvCxnSpPr>
                <p:cNvPr id="174" name="直接连接符 173"/>
                <p:cNvCxnSpPr/>
                <p:nvPr/>
              </p:nvCxnSpPr>
              <p:spPr>
                <a:xfrm>
                  <a:off x="3010850" y="3523897"/>
                  <a:ext cx="79488" cy="0"/>
                </a:xfrm>
                <a:prstGeom prst="line">
                  <a:avLst/>
                </a:prstGeom>
                <a:ln w="12700"/>
              </p:spPr>
              <p:style>
                <a:lnRef idx="1">
                  <a:schemeClr val="dk1"/>
                </a:lnRef>
                <a:fillRef idx="0">
                  <a:schemeClr val="dk1"/>
                </a:fillRef>
                <a:effectRef idx="0">
                  <a:schemeClr val="dk1"/>
                </a:effectRef>
                <a:fontRef idx="minor">
                  <a:schemeClr val="tx1"/>
                </a:fontRef>
              </p:style>
            </p:cxnSp>
            <p:sp>
              <p:nvSpPr>
                <p:cNvPr id="175" name="文本框 174"/>
                <p:cNvSpPr txBox="1"/>
                <p:nvPr/>
              </p:nvSpPr>
              <p:spPr>
                <a:xfrm>
                  <a:off x="3273501" y="3394306"/>
                  <a:ext cx="442733" cy="400110"/>
                </a:xfrm>
                <a:prstGeom prst="rect">
                  <a:avLst/>
                </a:prstGeom>
                <a:noFill/>
              </p:spPr>
              <p:txBody>
                <a:bodyPr wrap="square" rtlCol="0">
                  <a:spAutoFit/>
                </a:bodyPr>
                <a:lstStyle/>
                <a:p>
                  <a:r>
                    <a:rPr lang="en-US" altLang="zh-CN" sz="2000" dirty="0"/>
                    <a:t>ID</a:t>
                  </a:r>
                  <a:endParaRPr lang="zh-CN" altLang="en-US" sz="2000" dirty="0"/>
                </a:p>
              </p:txBody>
            </p:sp>
            <p:sp>
              <p:nvSpPr>
                <p:cNvPr id="176" name="文本框 175"/>
                <p:cNvSpPr txBox="1"/>
                <p:nvPr/>
              </p:nvSpPr>
              <p:spPr>
                <a:xfrm>
                  <a:off x="4320711" y="3352956"/>
                  <a:ext cx="536617" cy="400110"/>
                </a:xfrm>
                <a:prstGeom prst="rect">
                  <a:avLst/>
                </a:prstGeom>
                <a:noFill/>
              </p:spPr>
              <p:txBody>
                <a:bodyPr wrap="square" rtlCol="0">
                  <a:spAutoFit/>
                </a:bodyPr>
                <a:lstStyle/>
                <a:p>
                  <a:r>
                    <a:rPr lang="en-US" altLang="zh-CN" sz="2000" dirty="0"/>
                    <a:t>EX </a:t>
                  </a:r>
                  <a:endParaRPr lang="zh-CN" altLang="en-US" sz="2000" dirty="0"/>
                </a:p>
              </p:txBody>
            </p:sp>
            <p:sp>
              <p:nvSpPr>
                <p:cNvPr id="177" name="文本框 176"/>
                <p:cNvSpPr txBox="1"/>
                <p:nvPr/>
              </p:nvSpPr>
              <p:spPr>
                <a:xfrm>
                  <a:off x="5084130" y="3363734"/>
                  <a:ext cx="753886" cy="400110"/>
                </a:xfrm>
                <a:prstGeom prst="rect">
                  <a:avLst/>
                </a:prstGeom>
                <a:noFill/>
              </p:spPr>
              <p:txBody>
                <a:bodyPr wrap="square" rtlCol="0">
                  <a:spAutoFit/>
                </a:bodyPr>
                <a:lstStyle/>
                <a:p>
                  <a:r>
                    <a:rPr lang="en-US" altLang="zh-CN" sz="2000" dirty="0"/>
                    <a:t>MEM</a:t>
                  </a:r>
                  <a:endParaRPr lang="zh-CN" altLang="en-US" sz="2000" dirty="0"/>
                </a:p>
              </p:txBody>
            </p:sp>
            <p:sp>
              <p:nvSpPr>
                <p:cNvPr id="178" name="文本框 177"/>
                <p:cNvSpPr txBox="1"/>
                <p:nvPr/>
              </p:nvSpPr>
              <p:spPr>
                <a:xfrm>
                  <a:off x="6155221" y="3380188"/>
                  <a:ext cx="637481" cy="400110"/>
                </a:xfrm>
                <a:prstGeom prst="rect">
                  <a:avLst/>
                </a:prstGeom>
                <a:noFill/>
              </p:spPr>
              <p:txBody>
                <a:bodyPr wrap="square" rtlCol="0">
                  <a:spAutoFit/>
                </a:bodyPr>
                <a:lstStyle/>
                <a:p>
                  <a:r>
                    <a:rPr lang="en-US" altLang="zh-CN" sz="2000" dirty="0"/>
                    <a:t>WB</a:t>
                  </a:r>
                  <a:endParaRPr lang="zh-CN" altLang="en-US" sz="2000" dirty="0"/>
                </a:p>
              </p:txBody>
            </p:sp>
          </p:grpSp>
          <p:sp>
            <p:nvSpPr>
              <p:cNvPr id="151" name="矩形 150"/>
              <p:cNvSpPr/>
              <p:nvPr/>
            </p:nvSpPr>
            <p:spPr>
              <a:xfrm>
                <a:off x="2136775" y="3273303"/>
                <a:ext cx="714879" cy="65685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2" name="直接连接符 151"/>
              <p:cNvCxnSpPr/>
              <p:nvPr/>
            </p:nvCxnSpPr>
            <p:spPr>
              <a:xfrm flipH="1">
                <a:off x="3235070" y="3272697"/>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153" name="直接连接符 152"/>
              <p:cNvCxnSpPr/>
              <p:nvPr/>
            </p:nvCxnSpPr>
            <p:spPr>
              <a:xfrm flipH="1">
                <a:off x="3241532" y="3958529"/>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154" name="直接连接符 153"/>
              <p:cNvCxnSpPr/>
              <p:nvPr/>
            </p:nvCxnSpPr>
            <p:spPr>
              <a:xfrm flipV="1">
                <a:off x="3241532" y="3283908"/>
                <a:ext cx="1" cy="674621"/>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155" name="直接连接符 154"/>
              <p:cNvCxnSpPr/>
              <p:nvPr/>
            </p:nvCxnSpPr>
            <p:spPr>
              <a:xfrm>
                <a:off x="3618783" y="3271904"/>
                <a:ext cx="38089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156" name="直接连接符 155"/>
              <p:cNvCxnSpPr/>
              <p:nvPr/>
            </p:nvCxnSpPr>
            <p:spPr>
              <a:xfrm>
                <a:off x="3618783" y="3958529"/>
                <a:ext cx="38089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157" name="直接连接符 156"/>
              <p:cNvCxnSpPr/>
              <p:nvPr/>
            </p:nvCxnSpPr>
            <p:spPr>
              <a:xfrm>
                <a:off x="3995430" y="3279627"/>
                <a:ext cx="0" cy="675283"/>
              </a:xfrm>
              <a:prstGeom prst="line">
                <a:avLst/>
              </a:prstGeom>
              <a:ln w="15875"/>
            </p:spPr>
            <p:style>
              <a:lnRef idx="1">
                <a:schemeClr val="dk1"/>
              </a:lnRef>
              <a:fillRef idx="0">
                <a:schemeClr val="dk1"/>
              </a:fillRef>
              <a:effectRef idx="0">
                <a:schemeClr val="dk1"/>
              </a:effectRef>
              <a:fontRef idx="minor">
                <a:schemeClr val="tx1"/>
              </a:fontRef>
            </p:style>
          </p:cxnSp>
          <p:grpSp>
            <p:nvGrpSpPr>
              <p:cNvPr id="158" name="组合 157"/>
              <p:cNvGrpSpPr/>
              <p:nvPr/>
            </p:nvGrpSpPr>
            <p:grpSpPr>
              <a:xfrm rot="10800000">
                <a:off x="6612448" y="3256447"/>
                <a:ext cx="764605" cy="686625"/>
                <a:chOff x="7546826" y="3370312"/>
                <a:chExt cx="764605" cy="686625"/>
              </a:xfrm>
            </p:grpSpPr>
            <p:cxnSp>
              <p:nvCxnSpPr>
                <p:cNvPr id="159" name="直接连接符 158"/>
                <p:cNvCxnSpPr/>
                <p:nvPr/>
              </p:nvCxnSpPr>
              <p:spPr>
                <a:xfrm flipH="1">
                  <a:off x="7546826" y="3371105"/>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160" name="直接连接符 159"/>
                <p:cNvCxnSpPr/>
                <p:nvPr/>
              </p:nvCxnSpPr>
              <p:spPr>
                <a:xfrm flipH="1">
                  <a:off x="7553288" y="4056937"/>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161" name="直接连接符 160"/>
                <p:cNvCxnSpPr/>
                <p:nvPr/>
              </p:nvCxnSpPr>
              <p:spPr>
                <a:xfrm flipV="1">
                  <a:off x="7553288" y="3382316"/>
                  <a:ext cx="1" cy="674621"/>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162" name="直接连接符 161"/>
                <p:cNvCxnSpPr/>
                <p:nvPr/>
              </p:nvCxnSpPr>
              <p:spPr>
                <a:xfrm>
                  <a:off x="7930539" y="3370312"/>
                  <a:ext cx="38089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163" name="直接连接符 162"/>
                <p:cNvCxnSpPr/>
                <p:nvPr/>
              </p:nvCxnSpPr>
              <p:spPr>
                <a:xfrm>
                  <a:off x="7930539" y="4056937"/>
                  <a:ext cx="38089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164" name="直接连接符 163"/>
                <p:cNvCxnSpPr/>
                <p:nvPr/>
              </p:nvCxnSpPr>
              <p:spPr>
                <a:xfrm>
                  <a:off x="8307186" y="3378035"/>
                  <a:ext cx="0" cy="675283"/>
                </a:xfrm>
                <a:prstGeom prst="line">
                  <a:avLst/>
                </a:prstGeom>
                <a:ln w="15875"/>
              </p:spPr>
              <p:style>
                <a:lnRef idx="1">
                  <a:schemeClr val="dk1"/>
                </a:lnRef>
                <a:fillRef idx="0">
                  <a:schemeClr val="dk1"/>
                </a:fillRef>
                <a:effectRef idx="0">
                  <a:schemeClr val="dk1"/>
                </a:effectRef>
                <a:fontRef idx="minor">
                  <a:schemeClr val="tx1"/>
                </a:fontRef>
              </p:style>
            </p:cxn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852">
                                            <p:txEl>
                                              <p:pRg st="1" end="1"/>
                                            </p:txEl>
                                          </p:spTgt>
                                        </p:tgtEl>
                                        <p:attrNameLst>
                                          <p:attrName>style.visibility</p:attrName>
                                        </p:attrNameLst>
                                      </p:cBhvr>
                                      <p:to>
                                        <p:strVal val="visible"/>
                                      </p:to>
                                    </p:set>
                                    <p:animEffect transition="in" filter="fade">
                                      <p:cBhvr>
                                        <p:cTn id="7" dur="500"/>
                                        <p:tgtEl>
                                          <p:spTgt spid="7885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3"/>
          <p:cNvSpPr>
            <a:spLocks noGrp="1" noChangeArrowheads="1"/>
          </p:cNvSpPr>
          <p:nvPr>
            <p:ph idx="1"/>
          </p:nvPr>
        </p:nvSpPr>
        <p:spPr>
          <a:xfrm>
            <a:off x="838200" y="1009015"/>
            <a:ext cx="10515600" cy="5263515"/>
          </a:xfrm>
        </p:spPr>
        <p:txBody>
          <a:bodyPr>
            <a:normAutofit/>
          </a:bodyPr>
          <a:lstStyle/>
          <a:p>
            <a:pPr eaLnBrk="1" hangingPunct="1"/>
            <a:r>
              <a:rPr lang="zh-CN" altLang="en-US" dirty="0"/>
              <a:t>一种解决数据冒险的方法</a:t>
            </a:r>
            <a:endParaRPr lang="en-US" altLang="zh-CN" dirty="0"/>
          </a:p>
          <a:p>
            <a:pPr lvl="1"/>
            <a:r>
              <a:rPr lang="zh-CN" altLang="en-US" dirty="0"/>
              <a:t>一旦</a:t>
            </a:r>
            <a:r>
              <a:rPr lang="en-US" altLang="zh-CN" dirty="0"/>
              <a:t>ALU</a:t>
            </a:r>
            <a:r>
              <a:rPr lang="zh-CN" altLang="en-US" dirty="0"/>
              <a:t>计算出结果，就提前取到数据，而不是等到数据到达寄存器或存储器</a:t>
            </a:r>
            <a:endParaRPr lang="en-US" altLang="zh-CN" dirty="0"/>
          </a:p>
          <a:p>
            <a:pPr lvl="1"/>
            <a:r>
              <a:rPr lang="zh-CN" altLang="en-US" dirty="0"/>
              <a:t>需要向内部资源添加额外的硬件</a:t>
            </a:r>
            <a:endParaRPr lang="en-US" altLang="zh-CN" dirty="0"/>
          </a:p>
          <a:p>
            <a:pPr lvl="2"/>
            <a:r>
              <a:rPr lang="zh-CN" altLang="en-US" dirty="0"/>
              <a:t>寄存器堆或存储器右半部分为阴影：正在被读</a:t>
            </a:r>
            <a:endParaRPr lang="en-US" altLang="zh-CN" dirty="0"/>
          </a:p>
          <a:p>
            <a:pPr lvl="2"/>
            <a:r>
              <a:rPr lang="zh-CN" altLang="en-US" dirty="0"/>
              <a:t>反之，则正在被写</a:t>
            </a:r>
            <a:endParaRPr lang="en-US" altLang="en-US"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13</a:t>
            </a:fld>
            <a:endParaRPr lang="zh-CN" altLang="en-US" dirty="0"/>
          </a:p>
        </p:txBody>
      </p:sp>
      <p:sp>
        <p:nvSpPr>
          <p:cNvPr id="6" name="标题 5"/>
          <p:cNvSpPr>
            <a:spLocks noGrp="1"/>
          </p:cNvSpPr>
          <p:nvPr>
            <p:ph type="title"/>
          </p:nvPr>
        </p:nvSpPr>
        <p:spPr/>
        <p:txBody>
          <a:bodyPr/>
          <a:lstStyle/>
          <a:p>
            <a:r>
              <a:rPr lang="zh-CN" altLang="en-US" dirty="0">
                <a:latin typeface="Times New Roman" panose="02020603050405020304" pitchFamily="18" charset="0"/>
                <a:cs typeface="Times New Roman" panose="02020603050405020304" pitchFamily="18" charset="0"/>
              </a:rPr>
              <a:t>前递</a:t>
            </a:r>
            <a:r>
              <a:rPr lang="en-US" altLang="en-US" dirty="0">
                <a:latin typeface="Times New Roman" panose="02020603050405020304" pitchFamily="18" charset="0"/>
                <a:cs typeface="Times New Roman" panose="02020603050405020304" pitchFamily="18" charset="0"/>
              </a:rPr>
              <a:t>(forwarding)</a:t>
            </a:r>
            <a:endParaRPr lang="zh-CN" altLang="en-US" dirty="0">
              <a:latin typeface="Times New Roman" panose="02020603050405020304" pitchFamily="18" charset="0"/>
              <a:cs typeface="Times New Roman" panose="02020603050405020304" pitchFamily="18" charset="0"/>
            </a:endParaRPr>
          </a:p>
        </p:txBody>
      </p:sp>
      <p:grpSp>
        <p:nvGrpSpPr>
          <p:cNvPr id="5" name="组合 4"/>
          <p:cNvGrpSpPr/>
          <p:nvPr/>
        </p:nvGrpSpPr>
        <p:grpSpPr>
          <a:xfrm>
            <a:off x="1031944" y="3810392"/>
            <a:ext cx="9535965" cy="2824107"/>
            <a:chOff x="1031944" y="3810392"/>
            <a:chExt cx="9535965" cy="2824107"/>
          </a:xfrm>
        </p:grpSpPr>
        <p:grpSp>
          <p:nvGrpSpPr>
            <p:cNvPr id="3" name="组合 2"/>
            <p:cNvGrpSpPr/>
            <p:nvPr/>
          </p:nvGrpSpPr>
          <p:grpSpPr>
            <a:xfrm>
              <a:off x="1031944" y="3810392"/>
              <a:ext cx="9535965" cy="2824107"/>
              <a:chOff x="1031944" y="3810392"/>
              <a:chExt cx="9535965" cy="2824107"/>
            </a:xfrm>
          </p:grpSpPr>
          <p:grpSp>
            <p:nvGrpSpPr>
              <p:cNvPr id="79" name="组合 78"/>
              <p:cNvGrpSpPr/>
              <p:nvPr/>
            </p:nvGrpSpPr>
            <p:grpSpPr>
              <a:xfrm>
                <a:off x="4204357" y="4536896"/>
                <a:ext cx="5258795" cy="876787"/>
                <a:chOff x="2136775" y="3141544"/>
                <a:chExt cx="5258795" cy="876787"/>
              </a:xfrm>
            </p:grpSpPr>
            <p:sp>
              <p:nvSpPr>
                <p:cNvPr id="80" name="矩形 79"/>
                <p:cNvSpPr/>
                <p:nvPr/>
              </p:nvSpPr>
              <p:spPr>
                <a:xfrm>
                  <a:off x="6624323" y="3263778"/>
                  <a:ext cx="378097" cy="681688"/>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矩形 80"/>
                <p:cNvSpPr/>
                <p:nvPr/>
              </p:nvSpPr>
              <p:spPr>
                <a:xfrm>
                  <a:off x="3614861" y="3271147"/>
                  <a:ext cx="378097" cy="681688"/>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p:cNvSpPr/>
                <p:nvPr/>
              </p:nvSpPr>
              <p:spPr>
                <a:xfrm>
                  <a:off x="2489891" y="3271904"/>
                  <a:ext cx="361764" cy="65684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83" name="指令"/>
                <p:cNvGrpSpPr/>
                <p:nvPr/>
              </p:nvGrpSpPr>
              <p:grpSpPr>
                <a:xfrm>
                  <a:off x="2322658" y="3141544"/>
                  <a:ext cx="5072912" cy="876787"/>
                  <a:chOff x="2280117" y="3141545"/>
                  <a:chExt cx="4512585" cy="823761"/>
                </a:xfrm>
              </p:grpSpPr>
              <p:sp>
                <p:nvSpPr>
                  <p:cNvPr id="98" name="任意多边形: 形状 97"/>
                  <p:cNvSpPr/>
                  <p:nvPr/>
                </p:nvSpPr>
                <p:spPr>
                  <a:xfrm>
                    <a:off x="4251065" y="3141545"/>
                    <a:ext cx="509332" cy="823761"/>
                  </a:xfrm>
                  <a:custGeom>
                    <a:avLst/>
                    <a:gdLst>
                      <a:gd name="connsiteX0" fmla="*/ 3175 w 384175"/>
                      <a:gd name="connsiteY0" fmla="*/ 0 h 746125"/>
                      <a:gd name="connsiteX1" fmla="*/ 0 w 384175"/>
                      <a:gd name="connsiteY1" fmla="*/ 320675 h 746125"/>
                      <a:gd name="connsiteX2" fmla="*/ 104775 w 384175"/>
                      <a:gd name="connsiteY2" fmla="*/ 361950 h 746125"/>
                      <a:gd name="connsiteX3" fmla="*/ 0 w 384175"/>
                      <a:gd name="connsiteY3" fmla="*/ 454025 h 746125"/>
                      <a:gd name="connsiteX4" fmla="*/ 0 w 384175"/>
                      <a:gd name="connsiteY4" fmla="*/ 746125 h 746125"/>
                      <a:gd name="connsiteX5" fmla="*/ 377825 w 384175"/>
                      <a:gd name="connsiteY5" fmla="*/ 539750 h 746125"/>
                      <a:gd name="connsiteX6" fmla="*/ 384175 w 384175"/>
                      <a:gd name="connsiteY6" fmla="*/ 209550 h 746125"/>
                      <a:gd name="connsiteX7" fmla="*/ 3175 w 384175"/>
                      <a:gd name="connsiteY7" fmla="*/ 0 h 746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175" h="746125">
                        <a:moveTo>
                          <a:pt x="3175" y="0"/>
                        </a:moveTo>
                        <a:cubicBezTo>
                          <a:pt x="2117" y="106892"/>
                          <a:pt x="1058" y="213783"/>
                          <a:pt x="0" y="320675"/>
                        </a:cubicBezTo>
                        <a:lnTo>
                          <a:pt x="104775" y="361950"/>
                        </a:lnTo>
                        <a:lnTo>
                          <a:pt x="0" y="454025"/>
                        </a:lnTo>
                        <a:lnTo>
                          <a:pt x="0" y="746125"/>
                        </a:lnTo>
                        <a:lnTo>
                          <a:pt x="377825" y="539750"/>
                        </a:lnTo>
                        <a:lnTo>
                          <a:pt x="384175" y="209550"/>
                        </a:lnTo>
                        <a:lnTo>
                          <a:pt x="3175" y="0"/>
                        </a:lnTo>
                        <a:close/>
                      </a:path>
                    </a:pathLst>
                  </a:custGeom>
                  <a:solidFill>
                    <a:srgbClr val="B2B3B6"/>
                  </a:solidFill>
                  <a:ln w="19050">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solidFill>
                        <a:schemeClr val="tx1"/>
                      </a:solidFill>
                    </a:endParaRPr>
                  </a:p>
                </p:txBody>
              </p:sp>
              <p:sp>
                <p:nvSpPr>
                  <p:cNvPr id="99" name="矩形 98"/>
                  <p:cNvSpPr/>
                  <p:nvPr/>
                </p:nvSpPr>
                <p:spPr>
                  <a:xfrm>
                    <a:off x="5134289" y="3265336"/>
                    <a:ext cx="640553" cy="61716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0" name="文本框 99"/>
                  <p:cNvSpPr txBox="1"/>
                  <p:nvPr/>
                </p:nvSpPr>
                <p:spPr>
                  <a:xfrm>
                    <a:off x="2280117" y="3410893"/>
                    <a:ext cx="395881" cy="400110"/>
                  </a:xfrm>
                  <a:prstGeom prst="rect">
                    <a:avLst/>
                  </a:prstGeom>
                  <a:noFill/>
                </p:spPr>
                <p:txBody>
                  <a:bodyPr wrap="square" rtlCol="0">
                    <a:spAutoFit/>
                  </a:bodyPr>
                  <a:lstStyle/>
                  <a:p>
                    <a:r>
                      <a:rPr lang="en-US" altLang="zh-CN" sz="2000" dirty="0"/>
                      <a:t>IF</a:t>
                    </a:r>
                    <a:endParaRPr lang="zh-CN" altLang="en-US" sz="2000" dirty="0"/>
                  </a:p>
                </p:txBody>
              </p:sp>
              <p:cxnSp>
                <p:nvCxnSpPr>
                  <p:cNvPr id="101" name="直接连接符 100"/>
                  <p:cNvCxnSpPr/>
                  <p:nvPr/>
                </p:nvCxnSpPr>
                <p:spPr>
                  <a:xfrm>
                    <a:off x="2752611" y="3604497"/>
                    <a:ext cx="3334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02" name="直接连接符 101"/>
                  <p:cNvCxnSpPr/>
                  <p:nvPr/>
                </p:nvCxnSpPr>
                <p:spPr>
                  <a:xfrm>
                    <a:off x="3771900" y="3363734"/>
                    <a:ext cx="477238" cy="4922"/>
                  </a:xfrm>
                  <a:prstGeom prst="line">
                    <a:avLst/>
                  </a:prstGeom>
                  <a:ln w="12700"/>
                </p:spPr>
                <p:style>
                  <a:lnRef idx="1">
                    <a:schemeClr val="dk1"/>
                  </a:lnRef>
                  <a:fillRef idx="0">
                    <a:schemeClr val="dk1"/>
                  </a:fillRef>
                  <a:effectRef idx="0">
                    <a:schemeClr val="dk1"/>
                  </a:effectRef>
                  <a:fontRef idx="minor">
                    <a:schemeClr val="tx1"/>
                  </a:fontRef>
                </p:style>
              </p:cxnSp>
              <p:cxnSp>
                <p:nvCxnSpPr>
                  <p:cNvPr id="103" name="直接连接符 102"/>
                  <p:cNvCxnSpPr/>
                  <p:nvPr/>
                </p:nvCxnSpPr>
                <p:spPr>
                  <a:xfrm>
                    <a:off x="3771900" y="3768468"/>
                    <a:ext cx="471541"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04" name="直接连接符 103"/>
                  <p:cNvCxnSpPr/>
                  <p:nvPr/>
                </p:nvCxnSpPr>
                <p:spPr>
                  <a:xfrm>
                    <a:off x="4760908" y="3538082"/>
                    <a:ext cx="377852"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05" name="直接连接符 104"/>
                  <p:cNvCxnSpPr/>
                  <p:nvPr/>
                </p:nvCxnSpPr>
                <p:spPr>
                  <a:xfrm>
                    <a:off x="5783179" y="3551705"/>
                    <a:ext cx="312821"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06" name="直接连接符 105"/>
                  <p:cNvCxnSpPr/>
                  <p:nvPr/>
                </p:nvCxnSpPr>
                <p:spPr>
                  <a:xfrm>
                    <a:off x="3012962" y="3523897"/>
                    <a:ext cx="0" cy="73363"/>
                  </a:xfrm>
                  <a:prstGeom prst="line">
                    <a:avLst/>
                  </a:prstGeom>
                  <a:ln w="12700"/>
                </p:spPr>
                <p:style>
                  <a:lnRef idx="1">
                    <a:schemeClr val="dk1"/>
                  </a:lnRef>
                  <a:fillRef idx="0">
                    <a:schemeClr val="dk1"/>
                  </a:fillRef>
                  <a:effectRef idx="0">
                    <a:schemeClr val="dk1"/>
                  </a:effectRef>
                  <a:fontRef idx="minor">
                    <a:schemeClr val="tx1"/>
                  </a:fontRef>
                </p:style>
              </p:cxnSp>
              <p:cxnSp>
                <p:nvCxnSpPr>
                  <p:cNvPr id="107" name="直接连接符 106"/>
                  <p:cNvCxnSpPr/>
                  <p:nvPr/>
                </p:nvCxnSpPr>
                <p:spPr>
                  <a:xfrm>
                    <a:off x="3010850" y="3523897"/>
                    <a:ext cx="79488" cy="0"/>
                  </a:xfrm>
                  <a:prstGeom prst="line">
                    <a:avLst/>
                  </a:prstGeom>
                  <a:ln w="12700"/>
                </p:spPr>
                <p:style>
                  <a:lnRef idx="1">
                    <a:schemeClr val="dk1"/>
                  </a:lnRef>
                  <a:fillRef idx="0">
                    <a:schemeClr val="dk1"/>
                  </a:fillRef>
                  <a:effectRef idx="0">
                    <a:schemeClr val="dk1"/>
                  </a:effectRef>
                  <a:fontRef idx="minor">
                    <a:schemeClr val="tx1"/>
                  </a:fontRef>
                </p:style>
              </p:cxnSp>
              <p:sp>
                <p:nvSpPr>
                  <p:cNvPr id="108" name="文本框 107"/>
                  <p:cNvSpPr txBox="1"/>
                  <p:nvPr/>
                </p:nvSpPr>
                <p:spPr>
                  <a:xfrm>
                    <a:off x="3273501" y="3394306"/>
                    <a:ext cx="442733" cy="400110"/>
                  </a:xfrm>
                  <a:prstGeom prst="rect">
                    <a:avLst/>
                  </a:prstGeom>
                  <a:noFill/>
                </p:spPr>
                <p:txBody>
                  <a:bodyPr wrap="square" rtlCol="0">
                    <a:spAutoFit/>
                  </a:bodyPr>
                  <a:lstStyle/>
                  <a:p>
                    <a:r>
                      <a:rPr lang="en-US" altLang="zh-CN" sz="2000" dirty="0"/>
                      <a:t>ID</a:t>
                    </a:r>
                    <a:endParaRPr lang="zh-CN" altLang="en-US" sz="2000" dirty="0"/>
                  </a:p>
                </p:txBody>
              </p:sp>
              <p:sp>
                <p:nvSpPr>
                  <p:cNvPr id="109" name="文本框 108"/>
                  <p:cNvSpPr txBox="1"/>
                  <p:nvPr/>
                </p:nvSpPr>
                <p:spPr>
                  <a:xfrm>
                    <a:off x="4320711" y="3352956"/>
                    <a:ext cx="536617" cy="400110"/>
                  </a:xfrm>
                  <a:prstGeom prst="rect">
                    <a:avLst/>
                  </a:prstGeom>
                  <a:noFill/>
                </p:spPr>
                <p:txBody>
                  <a:bodyPr wrap="square" rtlCol="0">
                    <a:spAutoFit/>
                  </a:bodyPr>
                  <a:lstStyle/>
                  <a:p>
                    <a:r>
                      <a:rPr lang="en-US" altLang="zh-CN" sz="2000" dirty="0"/>
                      <a:t>EX </a:t>
                    </a:r>
                    <a:endParaRPr lang="zh-CN" altLang="en-US" sz="2000" dirty="0"/>
                  </a:p>
                </p:txBody>
              </p:sp>
              <p:sp>
                <p:nvSpPr>
                  <p:cNvPr id="110" name="文本框 109"/>
                  <p:cNvSpPr txBox="1"/>
                  <p:nvPr/>
                </p:nvSpPr>
                <p:spPr>
                  <a:xfrm>
                    <a:off x="5084130" y="3363734"/>
                    <a:ext cx="753886" cy="400110"/>
                  </a:xfrm>
                  <a:prstGeom prst="rect">
                    <a:avLst/>
                  </a:prstGeom>
                  <a:noFill/>
                </p:spPr>
                <p:txBody>
                  <a:bodyPr wrap="square" rtlCol="0">
                    <a:spAutoFit/>
                  </a:bodyPr>
                  <a:lstStyle/>
                  <a:p>
                    <a:r>
                      <a:rPr lang="en-US" altLang="zh-CN" sz="2000" dirty="0"/>
                      <a:t>MEM</a:t>
                    </a:r>
                    <a:endParaRPr lang="zh-CN" altLang="en-US" sz="2000" dirty="0"/>
                  </a:p>
                </p:txBody>
              </p:sp>
              <p:sp>
                <p:nvSpPr>
                  <p:cNvPr id="111" name="文本框 110"/>
                  <p:cNvSpPr txBox="1"/>
                  <p:nvPr/>
                </p:nvSpPr>
                <p:spPr>
                  <a:xfrm>
                    <a:off x="6155221" y="3380188"/>
                    <a:ext cx="637481" cy="400110"/>
                  </a:xfrm>
                  <a:prstGeom prst="rect">
                    <a:avLst/>
                  </a:prstGeom>
                  <a:noFill/>
                </p:spPr>
                <p:txBody>
                  <a:bodyPr wrap="square" rtlCol="0">
                    <a:spAutoFit/>
                  </a:bodyPr>
                  <a:lstStyle/>
                  <a:p>
                    <a:r>
                      <a:rPr lang="en-US" altLang="zh-CN" sz="2000" dirty="0"/>
                      <a:t>WB</a:t>
                    </a:r>
                    <a:endParaRPr lang="zh-CN" altLang="en-US" sz="2000" dirty="0"/>
                  </a:p>
                </p:txBody>
              </p:sp>
            </p:grpSp>
            <p:sp>
              <p:nvSpPr>
                <p:cNvPr id="84" name="矩形 83"/>
                <p:cNvSpPr/>
                <p:nvPr/>
              </p:nvSpPr>
              <p:spPr>
                <a:xfrm>
                  <a:off x="2136775" y="3273303"/>
                  <a:ext cx="714879" cy="65685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5" name="直接连接符 84"/>
                <p:cNvCxnSpPr/>
                <p:nvPr/>
              </p:nvCxnSpPr>
              <p:spPr>
                <a:xfrm flipH="1">
                  <a:off x="3235070" y="3272697"/>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86" name="直接连接符 85"/>
                <p:cNvCxnSpPr/>
                <p:nvPr/>
              </p:nvCxnSpPr>
              <p:spPr>
                <a:xfrm flipH="1">
                  <a:off x="3241532" y="3958529"/>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87" name="直接连接符 86"/>
                <p:cNvCxnSpPr/>
                <p:nvPr/>
              </p:nvCxnSpPr>
              <p:spPr>
                <a:xfrm flipV="1">
                  <a:off x="3241532" y="3283908"/>
                  <a:ext cx="1" cy="674621"/>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88" name="直接连接符 87"/>
                <p:cNvCxnSpPr/>
                <p:nvPr/>
              </p:nvCxnSpPr>
              <p:spPr>
                <a:xfrm>
                  <a:off x="3618783" y="3271904"/>
                  <a:ext cx="38089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89" name="直接连接符 88"/>
                <p:cNvCxnSpPr/>
                <p:nvPr/>
              </p:nvCxnSpPr>
              <p:spPr>
                <a:xfrm>
                  <a:off x="3618783" y="3958529"/>
                  <a:ext cx="38089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90" name="直接连接符 89"/>
                <p:cNvCxnSpPr/>
                <p:nvPr/>
              </p:nvCxnSpPr>
              <p:spPr>
                <a:xfrm>
                  <a:off x="3995430" y="3279627"/>
                  <a:ext cx="0" cy="675283"/>
                </a:xfrm>
                <a:prstGeom prst="line">
                  <a:avLst/>
                </a:prstGeom>
                <a:ln w="15875"/>
              </p:spPr>
              <p:style>
                <a:lnRef idx="1">
                  <a:schemeClr val="dk1"/>
                </a:lnRef>
                <a:fillRef idx="0">
                  <a:schemeClr val="dk1"/>
                </a:fillRef>
                <a:effectRef idx="0">
                  <a:schemeClr val="dk1"/>
                </a:effectRef>
                <a:fontRef idx="minor">
                  <a:schemeClr val="tx1"/>
                </a:fontRef>
              </p:style>
            </p:cxnSp>
            <p:grpSp>
              <p:nvGrpSpPr>
                <p:cNvPr id="91" name="组合 90"/>
                <p:cNvGrpSpPr/>
                <p:nvPr/>
              </p:nvGrpSpPr>
              <p:grpSpPr>
                <a:xfrm rot="10800000">
                  <a:off x="6612448" y="3256447"/>
                  <a:ext cx="764605" cy="686625"/>
                  <a:chOff x="7546826" y="3370312"/>
                  <a:chExt cx="764605" cy="686625"/>
                </a:xfrm>
              </p:grpSpPr>
              <p:cxnSp>
                <p:nvCxnSpPr>
                  <p:cNvPr id="92" name="直接连接符 91"/>
                  <p:cNvCxnSpPr/>
                  <p:nvPr/>
                </p:nvCxnSpPr>
                <p:spPr>
                  <a:xfrm flipH="1">
                    <a:off x="7546826" y="3371105"/>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93" name="直接连接符 92"/>
                  <p:cNvCxnSpPr/>
                  <p:nvPr/>
                </p:nvCxnSpPr>
                <p:spPr>
                  <a:xfrm flipH="1">
                    <a:off x="7553288" y="4056937"/>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94" name="直接连接符 93"/>
                  <p:cNvCxnSpPr/>
                  <p:nvPr/>
                </p:nvCxnSpPr>
                <p:spPr>
                  <a:xfrm flipV="1">
                    <a:off x="7553288" y="3382316"/>
                    <a:ext cx="1" cy="674621"/>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95" name="直接连接符 94"/>
                  <p:cNvCxnSpPr/>
                  <p:nvPr/>
                </p:nvCxnSpPr>
                <p:spPr>
                  <a:xfrm>
                    <a:off x="7930539" y="3370312"/>
                    <a:ext cx="38089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96" name="直接连接符 95"/>
                  <p:cNvCxnSpPr/>
                  <p:nvPr/>
                </p:nvCxnSpPr>
                <p:spPr>
                  <a:xfrm>
                    <a:off x="7930539" y="4056937"/>
                    <a:ext cx="38089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97" name="直接连接符 96"/>
                  <p:cNvCxnSpPr/>
                  <p:nvPr/>
                </p:nvCxnSpPr>
                <p:spPr>
                  <a:xfrm>
                    <a:off x="8307186" y="3378035"/>
                    <a:ext cx="0" cy="675283"/>
                  </a:xfrm>
                  <a:prstGeom prst="line">
                    <a:avLst/>
                  </a:prstGeom>
                  <a:ln w="15875"/>
                </p:spPr>
                <p:style>
                  <a:lnRef idx="1">
                    <a:schemeClr val="dk1"/>
                  </a:lnRef>
                  <a:fillRef idx="0">
                    <a:schemeClr val="dk1"/>
                  </a:fillRef>
                  <a:effectRef idx="0">
                    <a:schemeClr val="dk1"/>
                  </a:effectRef>
                  <a:fontRef idx="minor">
                    <a:schemeClr val="tx1"/>
                  </a:fontRef>
                </p:style>
              </p:cxnSp>
            </p:grpSp>
          </p:grpSp>
          <p:grpSp>
            <p:nvGrpSpPr>
              <p:cNvPr id="2" name="组合 1"/>
              <p:cNvGrpSpPr/>
              <p:nvPr/>
            </p:nvGrpSpPr>
            <p:grpSpPr>
              <a:xfrm>
                <a:off x="1031944" y="3810392"/>
                <a:ext cx="9535965" cy="2824107"/>
                <a:chOff x="1031944" y="3810392"/>
                <a:chExt cx="9535965" cy="2824107"/>
              </a:xfrm>
            </p:grpSpPr>
            <p:grpSp>
              <p:nvGrpSpPr>
                <p:cNvPr id="112" name="组合 111"/>
                <p:cNvGrpSpPr/>
                <p:nvPr/>
              </p:nvGrpSpPr>
              <p:grpSpPr>
                <a:xfrm>
                  <a:off x="5309114" y="5757712"/>
                  <a:ext cx="5258795" cy="876787"/>
                  <a:chOff x="2136775" y="3141544"/>
                  <a:chExt cx="5258795" cy="876787"/>
                </a:xfrm>
              </p:grpSpPr>
              <p:sp>
                <p:nvSpPr>
                  <p:cNvPr id="113" name="矩形 112"/>
                  <p:cNvSpPr/>
                  <p:nvPr/>
                </p:nvSpPr>
                <p:spPr>
                  <a:xfrm>
                    <a:off x="6624323" y="3263778"/>
                    <a:ext cx="378097" cy="681688"/>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4" name="矩形 113"/>
                  <p:cNvSpPr/>
                  <p:nvPr/>
                </p:nvSpPr>
                <p:spPr>
                  <a:xfrm>
                    <a:off x="3614861" y="3271147"/>
                    <a:ext cx="378097" cy="681688"/>
                  </a:xfrm>
                  <a:prstGeom prst="rect">
                    <a:avLst/>
                  </a:prstGeom>
                  <a:solidFill>
                    <a:srgbClr val="AEE5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5" name="矩形 114"/>
                  <p:cNvSpPr/>
                  <p:nvPr/>
                </p:nvSpPr>
                <p:spPr>
                  <a:xfrm>
                    <a:off x="2489891" y="3271904"/>
                    <a:ext cx="361764" cy="65684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16" name="指令"/>
                  <p:cNvGrpSpPr/>
                  <p:nvPr/>
                </p:nvGrpSpPr>
                <p:grpSpPr>
                  <a:xfrm>
                    <a:off x="2322658" y="3141544"/>
                    <a:ext cx="5072912" cy="876787"/>
                    <a:chOff x="2280117" y="3141545"/>
                    <a:chExt cx="4512585" cy="823761"/>
                  </a:xfrm>
                </p:grpSpPr>
                <p:sp>
                  <p:nvSpPr>
                    <p:cNvPr id="131" name="任意多边形: 形状 130"/>
                    <p:cNvSpPr/>
                    <p:nvPr/>
                  </p:nvSpPr>
                  <p:spPr>
                    <a:xfrm>
                      <a:off x="4251065" y="3141545"/>
                      <a:ext cx="509332" cy="823761"/>
                    </a:xfrm>
                    <a:custGeom>
                      <a:avLst/>
                      <a:gdLst>
                        <a:gd name="connsiteX0" fmla="*/ 3175 w 384175"/>
                        <a:gd name="connsiteY0" fmla="*/ 0 h 746125"/>
                        <a:gd name="connsiteX1" fmla="*/ 0 w 384175"/>
                        <a:gd name="connsiteY1" fmla="*/ 320675 h 746125"/>
                        <a:gd name="connsiteX2" fmla="*/ 104775 w 384175"/>
                        <a:gd name="connsiteY2" fmla="*/ 361950 h 746125"/>
                        <a:gd name="connsiteX3" fmla="*/ 0 w 384175"/>
                        <a:gd name="connsiteY3" fmla="*/ 454025 h 746125"/>
                        <a:gd name="connsiteX4" fmla="*/ 0 w 384175"/>
                        <a:gd name="connsiteY4" fmla="*/ 746125 h 746125"/>
                        <a:gd name="connsiteX5" fmla="*/ 377825 w 384175"/>
                        <a:gd name="connsiteY5" fmla="*/ 539750 h 746125"/>
                        <a:gd name="connsiteX6" fmla="*/ 384175 w 384175"/>
                        <a:gd name="connsiteY6" fmla="*/ 209550 h 746125"/>
                        <a:gd name="connsiteX7" fmla="*/ 3175 w 384175"/>
                        <a:gd name="connsiteY7" fmla="*/ 0 h 746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175" h="746125">
                          <a:moveTo>
                            <a:pt x="3175" y="0"/>
                          </a:moveTo>
                          <a:cubicBezTo>
                            <a:pt x="2117" y="106892"/>
                            <a:pt x="1058" y="213783"/>
                            <a:pt x="0" y="320675"/>
                          </a:cubicBezTo>
                          <a:lnTo>
                            <a:pt x="104775" y="361950"/>
                          </a:lnTo>
                          <a:lnTo>
                            <a:pt x="0" y="454025"/>
                          </a:lnTo>
                          <a:lnTo>
                            <a:pt x="0" y="746125"/>
                          </a:lnTo>
                          <a:lnTo>
                            <a:pt x="377825" y="539750"/>
                          </a:lnTo>
                          <a:lnTo>
                            <a:pt x="384175" y="209550"/>
                          </a:lnTo>
                          <a:lnTo>
                            <a:pt x="3175" y="0"/>
                          </a:lnTo>
                          <a:close/>
                        </a:path>
                      </a:pathLst>
                    </a:custGeom>
                    <a:solidFill>
                      <a:srgbClr val="B2B3B6"/>
                    </a:solidFill>
                    <a:ln w="19050">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solidFill>
                          <a:schemeClr val="tx1"/>
                        </a:solidFill>
                      </a:endParaRPr>
                    </a:p>
                  </p:txBody>
                </p:sp>
                <p:sp>
                  <p:nvSpPr>
                    <p:cNvPr id="132" name="矩形 131"/>
                    <p:cNvSpPr/>
                    <p:nvPr/>
                  </p:nvSpPr>
                  <p:spPr>
                    <a:xfrm>
                      <a:off x="5134289" y="3265336"/>
                      <a:ext cx="640553" cy="61716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3" name="文本框 132"/>
                    <p:cNvSpPr txBox="1"/>
                    <p:nvPr/>
                  </p:nvSpPr>
                  <p:spPr>
                    <a:xfrm>
                      <a:off x="2280117" y="3410893"/>
                      <a:ext cx="395881" cy="400110"/>
                    </a:xfrm>
                    <a:prstGeom prst="rect">
                      <a:avLst/>
                    </a:prstGeom>
                    <a:noFill/>
                  </p:spPr>
                  <p:txBody>
                    <a:bodyPr wrap="square" rtlCol="0">
                      <a:spAutoFit/>
                    </a:bodyPr>
                    <a:lstStyle/>
                    <a:p>
                      <a:r>
                        <a:rPr lang="en-US" altLang="zh-CN" sz="2000" dirty="0"/>
                        <a:t>IF</a:t>
                      </a:r>
                      <a:endParaRPr lang="zh-CN" altLang="en-US" sz="2000" dirty="0"/>
                    </a:p>
                  </p:txBody>
                </p:sp>
                <p:cxnSp>
                  <p:nvCxnSpPr>
                    <p:cNvPr id="134" name="直接连接符 133"/>
                    <p:cNvCxnSpPr/>
                    <p:nvPr/>
                  </p:nvCxnSpPr>
                  <p:spPr>
                    <a:xfrm>
                      <a:off x="2752611" y="3604497"/>
                      <a:ext cx="3334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35" name="直接连接符 134"/>
                    <p:cNvCxnSpPr/>
                    <p:nvPr/>
                  </p:nvCxnSpPr>
                  <p:spPr>
                    <a:xfrm>
                      <a:off x="3771900" y="3363734"/>
                      <a:ext cx="477238" cy="4922"/>
                    </a:xfrm>
                    <a:prstGeom prst="line">
                      <a:avLst/>
                    </a:prstGeom>
                    <a:ln w="12700">
                      <a:solidFill>
                        <a:srgbClr val="54C9F5"/>
                      </a:solidFill>
                    </a:ln>
                  </p:spPr>
                  <p:style>
                    <a:lnRef idx="1">
                      <a:schemeClr val="dk1"/>
                    </a:lnRef>
                    <a:fillRef idx="0">
                      <a:schemeClr val="dk1"/>
                    </a:fillRef>
                    <a:effectRef idx="0">
                      <a:schemeClr val="dk1"/>
                    </a:effectRef>
                    <a:fontRef idx="minor">
                      <a:schemeClr val="tx1"/>
                    </a:fontRef>
                  </p:style>
                </p:cxnSp>
                <p:cxnSp>
                  <p:nvCxnSpPr>
                    <p:cNvPr id="136" name="直接连接符 135"/>
                    <p:cNvCxnSpPr/>
                    <p:nvPr/>
                  </p:nvCxnSpPr>
                  <p:spPr>
                    <a:xfrm>
                      <a:off x="3771900" y="3768468"/>
                      <a:ext cx="471541"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37" name="直接连接符 136"/>
                    <p:cNvCxnSpPr/>
                    <p:nvPr/>
                  </p:nvCxnSpPr>
                  <p:spPr>
                    <a:xfrm>
                      <a:off x="4760908" y="3538082"/>
                      <a:ext cx="377852"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38" name="直接连接符 137"/>
                    <p:cNvCxnSpPr/>
                    <p:nvPr/>
                  </p:nvCxnSpPr>
                  <p:spPr>
                    <a:xfrm>
                      <a:off x="5783179" y="3551705"/>
                      <a:ext cx="312821"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39" name="直接连接符 138"/>
                    <p:cNvCxnSpPr/>
                    <p:nvPr/>
                  </p:nvCxnSpPr>
                  <p:spPr>
                    <a:xfrm>
                      <a:off x="3012962" y="3523897"/>
                      <a:ext cx="0" cy="73363"/>
                    </a:xfrm>
                    <a:prstGeom prst="line">
                      <a:avLst/>
                    </a:prstGeom>
                    <a:ln w="12700"/>
                  </p:spPr>
                  <p:style>
                    <a:lnRef idx="1">
                      <a:schemeClr val="dk1"/>
                    </a:lnRef>
                    <a:fillRef idx="0">
                      <a:schemeClr val="dk1"/>
                    </a:fillRef>
                    <a:effectRef idx="0">
                      <a:schemeClr val="dk1"/>
                    </a:effectRef>
                    <a:fontRef idx="minor">
                      <a:schemeClr val="tx1"/>
                    </a:fontRef>
                  </p:style>
                </p:cxnSp>
                <p:cxnSp>
                  <p:nvCxnSpPr>
                    <p:cNvPr id="140" name="直接连接符 139"/>
                    <p:cNvCxnSpPr/>
                    <p:nvPr/>
                  </p:nvCxnSpPr>
                  <p:spPr>
                    <a:xfrm>
                      <a:off x="3010850" y="3523897"/>
                      <a:ext cx="79488" cy="0"/>
                    </a:xfrm>
                    <a:prstGeom prst="line">
                      <a:avLst/>
                    </a:prstGeom>
                    <a:ln w="12700"/>
                  </p:spPr>
                  <p:style>
                    <a:lnRef idx="1">
                      <a:schemeClr val="dk1"/>
                    </a:lnRef>
                    <a:fillRef idx="0">
                      <a:schemeClr val="dk1"/>
                    </a:fillRef>
                    <a:effectRef idx="0">
                      <a:schemeClr val="dk1"/>
                    </a:effectRef>
                    <a:fontRef idx="minor">
                      <a:schemeClr val="tx1"/>
                    </a:fontRef>
                  </p:style>
                </p:cxnSp>
                <p:sp>
                  <p:nvSpPr>
                    <p:cNvPr id="141" name="文本框 140"/>
                    <p:cNvSpPr txBox="1"/>
                    <p:nvPr/>
                  </p:nvSpPr>
                  <p:spPr>
                    <a:xfrm>
                      <a:off x="3273501" y="3394306"/>
                      <a:ext cx="442733" cy="400110"/>
                    </a:xfrm>
                    <a:prstGeom prst="rect">
                      <a:avLst/>
                    </a:prstGeom>
                    <a:noFill/>
                  </p:spPr>
                  <p:txBody>
                    <a:bodyPr wrap="square" rtlCol="0">
                      <a:spAutoFit/>
                    </a:bodyPr>
                    <a:lstStyle/>
                    <a:p>
                      <a:r>
                        <a:rPr lang="en-US" altLang="zh-CN" sz="2000" dirty="0"/>
                        <a:t>ID</a:t>
                      </a:r>
                      <a:endParaRPr lang="zh-CN" altLang="en-US" sz="2000" dirty="0"/>
                    </a:p>
                  </p:txBody>
                </p:sp>
                <p:sp>
                  <p:nvSpPr>
                    <p:cNvPr id="142" name="文本框 141"/>
                    <p:cNvSpPr txBox="1"/>
                    <p:nvPr/>
                  </p:nvSpPr>
                  <p:spPr>
                    <a:xfrm>
                      <a:off x="4320711" y="3352956"/>
                      <a:ext cx="536617" cy="400110"/>
                    </a:xfrm>
                    <a:prstGeom prst="rect">
                      <a:avLst/>
                    </a:prstGeom>
                    <a:noFill/>
                  </p:spPr>
                  <p:txBody>
                    <a:bodyPr wrap="square" rtlCol="0">
                      <a:spAutoFit/>
                    </a:bodyPr>
                    <a:lstStyle/>
                    <a:p>
                      <a:r>
                        <a:rPr lang="en-US" altLang="zh-CN" sz="2000" dirty="0"/>
                        <a:t>EX </a:t>
                      </a:r>
                      <a:endParaRPr lang="zh-CN" altLang="en-US" sz="2000" dirty="0"/>
                    </a:p>
                  </p:txBody>
                </p:sp>
                <p:sp>
                  <p:nvSpPr>
                    <p:cNvPr id="143" name="文本框 142"/>
                    <p:cNvSpPr txBox="1"/>
                    <p:nvPr/>
                  </p:nvSpPr>
                  <p:spPr>
                    <a:xfrm>
                      <a:off x="5084130" y="3363734"/>
                      <a:ext cx="753886" cy="400110"/>
                    </a:xfrm>
                    <a:prstGeom prst="rect">
                      <a:avLst/>
                    </a:prstGeom>
                    <a:noFill/>
                  </p:spPr>
                  <p:txBody>
                    <a:bodyPr wrap="square" rtlCol="0">
                      <a:spAutoFit/>
                    </a:bodyPr>
                    <a:lstStyle/>
                    <a:p>
                      <a:r>
                        <a:rPr lang="en-US" altLang="zh-CN" sz="2000" dirty="0"/>
                        <a:t>MEM</a:t>
                      </a:r>
                      <a:endParaRPr lang="zh-CN" altLang="en-US" sz="2000" dirty="0"/>
                    </a:p>
                  </p:txBody>
                </p:sp>
                <p:sp>
                  <p:nvSpPr>
                    <p:cNvPr id="144" name="文本框 143"/>
                    <p:cNvSpPr txBox="1"/>
                    <p:nvPr/>
                  </p:nvSpPr>
                  <p:spPr>
                    <a:xfrm>
                      <a:off x="6155221" y="3380188"/>
                      <a:ext cx="637481" cy="400110"/>
                    </a:xfrm>
                    <a:prstGeom prst="rect">
                      <a:avLst/>
                    </a:prstGeom>
                    <a:noFill/>
                  </p:spPr>
                  <p:txBody>
                    <a:bodyPr wrap="square" rtlCol="0">
                      <a:spAutoFit/>
                    </a:bodyPr>
                    <a:lstStyle/>
                    <a:p>
                      <a:r>
                        <a:rPr lang="en-US" altLang="zh-CN" sz="2000" dirty="0"/>
                        <a:t>WB</a:t>
                      </a:r>
                      <a:endParaRPr lang="zh-CN" altLang="en-US" sz="2000" dirty="0"/>
                    </a:p>
                  </p:txBody>
                </p:sp>
              </p:grpSp>
              <p:sp>
                <p:nvSpPr>
                  <p:cNvPr id="117" name="矩形 116"/>
                  <p:cNvSpPr/>
                  <p:nvPr/>
                </p:nvSpPr>
                <p:spPr>
                  <a:xfrm>
                    <a:off x="2136775" y="3273303"/>
                    <a:ext cx="714879" cy="65685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8" name="直接连接符 117"/>
                  <p:cNvCxnSpPr/>
                  <p:nvPr/>
                </p:nvCxnSpPr>
                <p:spPr>
                  <a:xfrm flipH="1">
                    <a:off x="3235070" y="3272697"/>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119" name="直接连接符 118"/>
                  <p:cNvCxnSpPr/>
                  <p:nvPr/>
                </p:nvCxnSpPr>
                <p:spPr>
                  <a:xfrm flipH="1">
                    <a:off x="3241532" y="3958529"/>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120" name="直接连接符 119"/>
                  <p:cNvCxnSpPr/>
                  <p:nvPr/>
                </p:nvCxnSpPr>
                <p:spPr>
                  <a:xfrm flipV="1">
                    <a:off x="3241532" y="3283908"/>
                    <a:ext cx="1" cy="674621"/>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121" name="直接连接符 120"/>
                  <p:cNvCxnSpPr/>
                  <p:nvPr/>
                </p:nvCxnSpPr>
                <p:spPr>
                  <a:xfrm>
                    <a:off x="3618783" y="3271904"/>
                    <a:ext cx="380892" cy="0"/>
                  </a:xfrm>
                  <a:prstGeom prst="line">
                    <a:avLst/>
                  </a:prstGeom>
                  <a:ln w="15875">
                    <a:solidFill>
                      <a:srgbClr val="00AEEF"/>
                    </a:solidFill>
                  </a:ln>
                </p:spPr>
                <p:style>
                  <a:lnRef idx="1">
                    <a:schemeClr val="dk1"/>
                  </a:lnRef>
                  <a:fillRef idx="0">
                    <a:schemeClr val="dk1"/>
                  </a:fillRef>
                  <a:effectRef idx="0">
                    <a:schemeClr val="dk1"/>
                  </a:effectRef>
                  <a:fontRef idx="minor">
                    <a:schemeClr val="tx1"/>
                  </a:fontRef>
                </p:style>
              </p:cxnSp>
              <p:cxnSp>
                <p:nvCxnSpPr>
                  <p:cNvPr id="122" name="直接连接符 121"/>
                  <p:cNvCxnSpPr/>
                  <p:nvPr/>
                </p:nvCxnSpPr>
                <p:spPr>
                  <a:xfrm>
                    <a:off x="3618783" y="3958529"/>
                    <a:ext cx="380892" cy="0"/>
                  </a:xfrm>
                  <a:prstGeom prst="line">
                    <a:avLst/>
                  </a:prstGeom>
                  <a:ln w="15875">
                    <a:solidFill>
                      <a:srgbClr val="00AEEF"/>
                    </a:solidFill>
                  </a:ln>
                </p:spPr>
                <p:style>
                  <a:lnRef idx="1">
                    <a:schemeClr val="dk1"/>
                  </a:lnRef>
                  <a:fillRef idx="0">
                    <a:schemeClr val="dk1"/>
                  </a:fillRef>
                  <a:effectRef idx="0">
                    <a:schemeClr val="dk1"/>
                  </a:effectRef>
                  <a:fontRef idx="minor">
                    <a:schemeClr val="tx1"/>
                  </a:fontRef>
                </p:style>
              </p:cxnSp>
              <p:cxnSp>
                <p:nvCxnSpPr>
                  <p:cNvPr id="123" name="直接连接符 122"/>
                  <p:cNvCxnSpPr/>
                  <p:nvPr/>
                </p:nvCxnSpPr>
                <p:spPr>
                  <a:xfrm>
                    <a:off x="3995430" y="3279627"/>
                    <a:ext cx="0" cy="675283"/>
                  </a:xfrm>
                  <a:prstGeom prst="line">
                    <a:avLst/>
                  </a:prstGeom>
                  <a:ln w="15875">
                    <a:solidFill>
                      <a:srgbClr val="00AEEF"/>
                    </a:solidFill>
                  </a:ln>
                </p:spPr>
                <p:style>
                  <a:lnRef idx="1">
                    <a:schemeClr val="dk1"/>
                  </a:lnRef>
                  <a:fillRef idx="0">
                    <a:schemeClr val="dk1"/>
                  </a:fillRef>
                  <a:effectRef idx="0">
                    <a:schemeClr val="dk1"/>
                  </a:effectRef>
                  <a:fontRef idx="minor">
                    <a:schemeClr val="tx1"/>
                  </a:fontRef>
                </p:style>
              </p:cxnSp>
              <p:grpSp>
                <p:nvGrpSpPr>
                  <p:cNvPr id="124" name="组合 123"/>
                  <p:cNvGrpSpPr/>
                  <p:nvPr/>
                </p:nvGrpSpPr>
                <p:grpSpPr>
                  <a:xfrm rot="10800000">
                    <a:off x="6612448" y="3256447"/>
                    <a:ext cx="764605" cy="686625"/>
                    <a:chOff x="7546826" y="3370312"/>
                    <a:chExt cx="764605" cy="686625"/>
                  </a:xfrm>
                </p:grpSpPr>
                <p:cxnSp>
                  <p:nvCxnSpPr>
                    <p:cNvPr id="125" name="直接连接符 124"/>
                    <p:cNvCxnSpPr/>
                    <p:nvPr/>
                  </p:nvCxnSpPr>
                  <p:spPr>
                    <a:xfrm flipH="1">
                      <a:off x="7546826" y="3371105"/>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126" name="直接连接符 125"/>
                    <p:cNvCxnSpPr/>
                    <p:nvPr/>
                  </p:nvCxnSpPr>
                  <p:spPr>
                    <a:xfrm flipH="1">
                      <a:off x="7553288" y="4056937"/>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127" name="直接连接符 126"/>
                    <p:cNvCxnSpPr/>
                    <p:nvPr/>
                  </p:nvCxnSpPr>
                  <p:spPr>
                    <a:xfrm flipV="1">
                      <a:off x="7553288" y="3382316"/>
                      <a:ext cx="1" cy="674621"/>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128" name="直接连接符 127"/>
                    <p:cNvCxnSpPr/>
                    <p:nvPr/>
                  </p:nvCxnSpPr>
                  <p:spPr>
                    <a:xfrm>
                      <a:off x="7930539" y="3370312"/>
                      <a:ext cx="38089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129" name="直接连接符 128"/>
                    <p:cNvCxnSpPr/>
                    <p:nvPr/>
                  </p:nvCxnSpPr>
                  <p:spPr>
                    <a:xfrm>
                      <a:off x="7930539" y="4056937"/>
                      <a:ext cx="38089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130" name="直接连接符 129"/>
                    <p:cNvCxnSpPr/>
                    <p:nvPr/>
                  </p:nvCxnSpPr>
                  <p:spPr>
                    <a:xfrm>
                      <a:off x="8307186" y="3378035"/>
                      <a:ext cx="0" cy="675283"/>
                    </a:xfrm>
                    <a:prstGeom prst="line">
                      <a:avLst/>
                    </a:prstGeom>
                    <a:ln w="15875"/>
                  </p:spPr>
                  <p:style>
                    <a:lnRef idx="1">
                      <a:schemeClr val="dk1"/>
                    </a:lnRef>
                    <a:fillRef idx="0">
                      <a:schemeClr val="dk1"/>
                    </a:fillRef>
                    <a:effectRef idx="0">
                      <a:schemeClr val="dk1"/>
                    </a:effectRef>
                    <a:fontRef idx="minor">
                      <a:schemeClr val="tx1"/>
                    </a:fontRef>
                  </p:style>
                </p:cxnSp>
              </p:grpSp>
            </p:grpSp>
            <p:grpSp>
              <p:nvGrpSpPr>
                <p:cNvPr id="80902" name="旁路1"/>
                <p:cNvGrpSpPr/>
                <p:nvPr/>
              </p:nvGrpSpPr>
              <p:grpSpPr>
                <a:xfrm>
                  <a:off x="3123323" y="3986151"/>
                  <a:ext cx="6914274" cy="2060064"/>
                  <a:chOff x="637023" y="4121993"/>
                  <a:chExt cx="6914274" cy="2060064"/>
                </a:xfrm>
              </p:grpSpPr>
              <p:grpSp>
                <p:nvGrpSpPr>
                  <p:cNvPr id="25" name="时间轴"/>
                  <p:cNvGrpSpPr/>
                  <p:nvPr/>
                </p:nvGrpSpPr>
                <p:grpSpPr>
                  <a:xfrm>
                    <a:off x="637023" y="4121993"/>
                    <a:ext cx="6914274" cy="571022"/>
                    <a:chOff x="1208504" y="2628344"/>
                    <a:chExt cx="6006666" cy="728730"/>
                  </a:xfrm>
                </p:grpSpPr>
                <p:grpSp>
                  <p:nvGrpSpPr>
                    <p:cNvPr id="26" name="时间轴与坐标"/>
                    <p:cNvGrpSpPr/>
                    <p:nvPr/>
                  </p:nvGrpSpPr>
                  <p:grpSpPr>
                    <a:xfrm>
                      <a:off x="1948689" y="2628344"/>
                      <a:ext cx="5266481" cy="569199"/>
                      <a:chOff x="2765695" y="2559774"/>
                      <a:chExt cx="5014766" cy="392182"/>
                    </a:xfrm>
                  </p:grpSpPr>
                  <p:grpSp>
                    <p:nvGrpSpPr>
                      <p:cNvPr id="28" name="时间轴"/>
                      <p:cNvGrpSpPr/>
                      <p:nvPr/>
                    </p:nvGrpSpPr>
                    <p:grpSpPr>
                      <a:xfrm>
                        <a:off x="2765695" y="2868133"/>
                        <a:ext cx="5014766" cy="83823"/>
                        <a:chOff x="2765695" y="2847701"/>
                        <a:chExt cx="5014766" cy="83823"/>
                      </a:xfrm>
                    </p:grpSpPr>
                    <p:cxnSp>
                      <p:nvCxnSpPr>
                        <p:cNvPr id="37" name="直接箭头连接符 36"/>
                        <p:cNvCxnSpPr/>
                        <p:nvPr/>
                      </p:nvCxnSpPr>
                      <p:spPr>
                        <a:xfrm>
                          <a:off x="2765695" y="2847701"/>
                          <a:ext cx="5014766"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38" name="直接连接符 37"/>
                        <p:cNvCxnSpPr/>
                        <p:nvPr/>
                      </p:nvCxnSpPr>
                      <p:spPr>
                        <a:xfrm>
                          <a:off x="3744686" y="2847703"/>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39" name="直接连接符 38"/>
                        <p:cNvCxnSpPr/>
                        <p:nvPr/>
                      </p:nvCxnSpPr>
                      <p:spPr>
                        <a:xfrm>
                          <a:off x="4659086" y="2847703"/>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40" name="直接连接符 39"/>
                        <p:cNvCxnSpPr/>
                        <p:nvPr/>
                      </p:nvCxnSpPr>
                      <p:spPr>
                        <a:xfrm>
                          <a:off x="5573486" y="2847703"/>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41" name="直接连接符 40"/>
                        <p:cNvCxnSpPr/>
                        <p:nvPr/>
                      </p:nvCxnSpPr>
                      <p:spPr>
                        <a:xfrm>
                          <a:off x="6494236" y="2847703"/>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42" name="直接连接符 41"/>
                        <p:cNvCxnSpPr/>
                        <p:nvPr/>
                      </p:nvCxnSpPr>
                      <p:spPr>
                        <a:xfrm>
                          <a:off x="7424511" y="2847703"/>
                          <a:ext cx="0" cy="83821"/>
                        </a:xfrm>
                        <a:prstGeom prst="line">
                          <a:avLst/>
                        </a:prstGeom>
                        <a:ln w="15875"/>
                      </p:spPr>
                      <p:style>
                        <a:lnRef idx="1">
                          <a:schemeClr val="dk1"/>
                        </a:lnRef>
                        <a:fillRef idx="0">
                          <a:schemeClr val="dk1"/>
                        </a:fillRef>
                        <a:effectRef idx="0">
                          <a:schemeClr val="dk1"/>
                        </a:effectRef>
                        <a:fontRef idx="minor">
                          <a:schemeClr val="tx1"/>
                        </a:fontRef>
                      </p:style>
                    </p:cxnSp>
                  </p:grpSp>
                  <p:sp>
                    <p:nvSpPr>
                      <p:cNvPr id="29" name="文本框 28"/>
                      <p:cNvSpPr txBox="1"/>
                      <p:nvPr/>
                    </p:nvSpPr>
                    <p:spPr>
                      <a:xfrm>
                        <a:off x="3519716" y="2559774"/>
                        <a:ext cx="595084" cy="324754"/>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200</a:t>
                        </a:r>
                        <a:endParaRPr lang="zh-CN" altLang="en-US" dirty="0">
                          <a:latin typeface="Times New Roman" panose="02020603050405020304" pitchFamily="18" charset="0"/>
                          <a:cs typeface="Times New Roman" panose="02020603050405020304" pitchFamily="18" charset="0"/>
                        </a:endParaRPr>
                      </a:p>
                    </p:txBody>
                  </p:sp>
                  <p:sp>
                    <p:nvSpPr>
                      <p:cNvPr id="30" name="文本框 29"/>
                      <p:cNvSpPr txBox="1"/>
                      <p:nvPr/>
                    </p:nvSpPr>
                    <p:spPr>
                      <a:xfrm>
                        <a:off x="5353505" y="2569836"/>
                        <a:ext cx="595084" cy="324754"/>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600</a:t>
                        </a:r>
                        <a:endParaRPr lang="zh-CN" altLang="en-US" dirty="0">
                          <a:latin typeface="Times New Roman" panose="02020603050405020304" pitchFamily="18" charset="0"/>
                          <a:cs typeface="Times New Roman" panose="02020603050405020304" pitchFamily="18" charset="0"/>
                        </a:endParaRPr>
                      </a:p>
                    </p:txBody>
                  </p:sp>
                  <p:sp>
                    <p:nvSpPr>
                      <p:cNvPr id="31" name="文本框 30"/>
                      <p:cNvSpPr txBox="1"/>
                      <p:nvPr/>
                    </p:nvSpPr>
                    <p:spPr>
                      <a:xfrm>
                        <a:off x="4386039" y="2578269"/>
                        <a:ext cx="595084" cy="324754"/>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400</a:t>
                        </a:r>
                        <a:endParaRPr lang="zh-CN" altLang="en-US" dirty="0">
                          <a:latin typeface="Times New Roman" panose="02020603050405020304" pitchFamily="18" charset="0"/>
                          <a:cs typeface="Times New Roman" panose="02020603050405020304" pitchFamily="18" charset="0"/>
                        </a:endParaRPr>
                      </a:p>
                    </p:txBody>
                  </p:sp>
                  <p:sp>
                    <p:nvSpPr>
                      <p:cNvPr id="32" name="文本框 31"/>
                      <p:cNvSpPr txBox="1"/>
                      <p:nvPr/>
                    </p:nvSpPr>
                    <p:spPr>
                      <a:xfrm>
                        <a:off x="6288318" y="2579361"/>
                        <a:ext cx="595084" cy="324754"/>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800</a:t>
                        </a:r>
                        <a:endParaRPr lang="zh-CN" altLang="en-US" dirty="0">
                          <a:latin typeface="Times New Roman" panose="02020603050405020304" pitchFamily="18" charset="0"/>
                          <a:cs typeface="Times New Roman" panose="02020603050405020304" pitchFamily="18" charset="0"/>
                        </a:endParaRPr>
                      </a:p>
                    </p:txBody>
                  </p:sp>
                  <p:sp>
                    <p:nvSpPr>
                      <p:cNvPr id="34" name="文本框 33"/>
                      <p:cNvSpPr txBox="1"/>
                      <p:nvPr/>
                    </p:nvSpPr>
                    <p:spPr>
                      <a:xfrm>
                        <a:off x="7120391" y="2569836"/>
                        <a:ext cx="660070" cy="324754"/>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1000</a:t>
                        </a:r>
                        <a:endParaRPr lang="zh-CN" altLang="en-US" dirty="0">
                          <a:latin typeface="Times New Roman" panose="02020603050405020304" pitchFamily="18" charset="0"/>
                          <a:cs typeface="Times New Roman" panose="02020603050405020304" pitchFamily="18" charset="0"/>
                        </a:endParaRPr>
                      </a:p>
                    </p:txBody>
                  </p:sp>
                </p:grpSp>
                <p:sp>
                  <p:nvSpPr>
                    <p:cNvPr id="27" name="文本框 26"/>
                    <p:cNvSpPr txBox="1"/>
                    <p:nvPr/>
                  </p:nvSpPr>
                  <p:spPr>
                    <a:xfrm>
                      <a:off x="1208504" y="2885737"/>
                      <a:ext cx="830116" cy="471337"/>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Time</a:t>
                      </a:r>
                      <a:endParaRPr lang="zh-CN" altLang="en-US" dirty="0">
                        <a:latin typeface="Times New Roman" panose="02020603050405020304" pitchFamily="18" charset="0"/>
                        <a:cs typeface="Times New Roman" panose="02020603050405020304" pitchFamily="18" charset="0"/>
                      </a:endParaRPr>
                    </a:p>
                  </p:txBody>
                </p:sp>
              </p:grpSp>
              <p:cxnSp>
                <p:nvCxnSpPr>
                  <p:cNvPr id="80896" name="直接连接符 80895"/>
                  <p:cNvCxnSpPr/>
                  <p:nvPr/>
                </p:nvCxnSpPr>
                <p:spPr>
                  <a:xfrm>
                    <a:off x="4883331" y="5073490"/>
                    <a:ext cx="88719" cy="1092747"/>
                  </a:xfrm>
                  <a:prstGeom prst="line">
                    <a:avLst/>
                  </a:prstGeom>
                  <a:ln w="25400">
                    <a:solidFill>
                      <a:srgbClr val="54C9F5"/>
                    </a:solidFill>
                  </a:ln>
                </p:spPr>
                <p:style>
                  <a:lnRef idx="1">
                    <a:schemeClr val="accent1"/>
                  </a:lnRef>
                  <a:fillRef idx="0">
                    <a:schemeClr val="accent1"/>
                  </a:fillRef>
                  <a:effectRef idx="0">
                    <a:schemeClr val="accent1"/>
                  </a:effectRef>
                  <a:fontRef idx="minor">
                    <a:schemeClr val="tx1"/>
                  </a:fontRef>
                </p:style>
              </p:cxnSp>
              <p:sp>
                <p:nvSpPr>
                  <p:cNvPr id="80898" name="椭圆 80897"/>
                  <p:cNvSpPr/>
                  <p:nvPr/>
                </p:nvSpPr>
                <p:spPr>
                  <a:xfrm>
                    <a:off x="4814253" y="5003697"/>
                    <a:ext cx="128794" cy="125000"/>
                  </a:xfrm>
                  <a:prstGeom prst="ellipse">
                    <a:avLst/>
                  </a:prstGeom>
                  <a:solidFill>
                    <a:srgbClr val="00AE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a:xfrm>
                    <a:off x="4907940" y="6057057"/>
                    <a:ext cx="128794" cy="125000"/>
                  </a:xfrm>
                  <a:prstGeom prst="ellipse">
                    <a:avLst/>
                  </a:prstGeom>
                  <a:solidFill>
                    <a:srgbClr val="00AE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0908" name="组合 80907"/>
                <p:cNvGrpSpPr/>
                <p:nvPr/>
              </p:nvGrpSpPr>
              <p:grpSpPr>
                <a:xfrm>
                  <a:off x="1031944" y="3810392"/>
                  <a:ext cx="2862580" cy="2623185"/>
                  <a:chOff x="135239" y="3679558"/>
                  <a:chExt cx="2862580" cy="2623185"/>
                </a:xfrm>
              </p:grpSpPr>
              <p:sp>
                <p:nvSpPr>
                  <p:cNvPr id="80906" name="文本框 80905"/>
                  <p:cNvSpPr txBox="1"/>
                  <p:nvPr/>
                </p:nvSpPr>
                <p:spPr>
                  <a:xfrm>
                    <a:off x="135239" y="3679558"/>
                    <a:ext cx="2046532" cy="1015663"/>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Program</a:t>
                    </a:r>
                    <a:r>
                      <a:rPr lang="en-US" altLang="zh-CN" sz="2000" dirty="0"/>
                      <a:t> </a:t>
                    </a:r>
                    <a:r>
                      <a:rPr lang="en-US" altLang="zh-CN" sz="2000" dirty="0">
                        <a:latin typeface="Times New Roman" panose="02020603050405020304" pitchFamily="18" charset="0"/>
                        <a:cs typeface="Times New Roman" panose="02020603050405020304" pitchFamily="18" charset="0"/>
                      </a:rPr>
                      <a:t>execution</a:t>
                    </a:r>
                    <a:r>
                      <a:rPr lang="en-US" altLang="zh-CN" sz="2000" dirty="0"/>
                      <a:t> </a:t>
                    </a:r>
                    <a:r>
                      <a:rPr lang="en-US" altLang="zh-CN" sz="2000" dirty="0">
                        <a:latin typeface="Times New Roman" panose="02020603050405020304" pitchFamily="18" charset="0"/>
                        <a:cs typeface="Times New Roman" panose="02020603050405020304" pitchFamily="18" charset="0"/>
                      </a:rPr>
                      <a:t>order</a:t>
                    </a:r>
                  </a:p>
                  <a:p>
                    <a:r>
                      <a:rPr lang="en-US" altLang="zh-CN" sz="2000" dirty="0"/>
                      <a:t>(</a:t>
                    </a:r>
                    <a:r>
                      <a:rPr lang="en-US" altLang="zh-CN" sz="2000" dirty="0">
                        <a:latin typeface="Times New Roman" panose="02020603050405020304" pitchFamily="18" charset="0"/>
                        <a:cs typeface="Times New Roman" panose="02020603050405020304" pitchFamily="18" charset="0"/>
                      </a:rPr>
                      <a:t>in</a:t>
                    </a:r>
                    <a:r>
                      <a:rPr lang="en-US" altLang="zh-CN" sz="2000" dirty="0"/>
                      <a:t> </a:t>
                    </a:r>
                    <a:r>
                      <a:rPr lang="en-US" altLang="zh-CN" sz="2000" dirty="0">
                        <a:latin typeface="Times New Roman" panose="02020603050405020304" pitchFamily="18" charset="0"/>
                        <a:cs typeface="Times New Roman" panose="02020603050405020304" pitchFamily="18" charset="0"/>
                      </a:rPr>
                      <a:t>instructions</a:t>
                    </a:r>
                    <a:r>
                      <a:rPr lang="en-US" altLang="zh-CN" sz="2000" dirty="0"/>
                      <a:t>)</a:t>
                    </a:r>
                    <a:endParaRPr lang="zh-CN" altLang="en-US" sz="2000" dirty="0"/>
                  </a:p>
                </p:txBody>
              </p:sp>
              <p:sp>
                <p:nvSpPr>
                  <p:cNvPr id="80907" name="文本框 80906"/>
                  <p:cNvSpPr txBox="1"/>
                  <p:nvPr/>
                </p:nvSpPr>
                <p:spPr>
                  <a:xfrm>
                    <a:off x="795004" y="4740008"/>
                    <a:ext cx="2202815" cy="460375"/>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add </a:t>
                    </a:r>
                    <a:r>
                      <a:rPr lang="en-US" altLang="zh-CN" sz="2400" b="1" dirty="0">
                        <a:solidFill>
                          <a:srgbClr val="00AEEF"/>
                        </a:solidFill>
                        <a:latin typeface="Times New Roman" panose="02020603050405020304" pitchFamily="18" charset="0"/>
                        <a:cs typeface="Times New Roman" panose="02020603050405020304" pitchFamily="18" charset="0"/>
                      </a:rPr>
                      <a:t>x1</a:t>
                    </a:r>
                    <a:r>
                      <a:rPr lang="en-US" altLang="zh-CN" sz="2400" b="1" dirty="0">
                        <a:latin typeface="Times New Roman" panose="02020603050405020304" pitchFamily="18" charset="0"/>
                        <a:cs typeface="Times New Roman" panose="02020603050405020304" pitchFamily="18" charset="0"/>
                      </a:rPr>
                      <a:t>,x2,x3</a:t>
                    </a:r>
                  </a:p>
                </p:txBody>
              </p:sp>
              <p:sp>
                <p:nvSpPr>
                  <p:cNvPr id="77" name="文本框 76"/>
                  <p:cNvSpPr txBox="1"/>
                  <p:nvPr/>
                </p:nvSpPr>
                <p:spPr>
                  <a:xfrm>
                    <a:off x="901049" y="5842368"/>
                    <a:ext cx="1938655" cy="460375"/>
                  </a:xfrm>
                  <a:prstGeom prst="rect">
                    <a:avLst/>
                  </a:prstGeom>
                  <a:noFill/>
                </p:spPr>
                <p:txBody>
                  <a:bodyPr wrap="square" rtlCol="0">
                    <a:spAutoFit/>
                  </a:bodyPr>
                  <a:lstStyle/>
                  <a:p>
                    <a:r>
                      <a:rPr lang="en-US" altLang="zh-CN" sz="2400" b="1" dirty="0">
                        <a:latin typeface="Times New Roman" panose="02020603050405020304" pitchFamily="18" charset="0"/>
                        <a:cs typeface="Times New Roman" panose="02020603050405020304" pitchFamily="18" charset="0"/>
                      </a:rPr>
                      <a:t>sub x4,</a:t>
                    </a:r>
                    <a:r>
                      <a:rPr lang="en-US" altLang="zh-CN" sz="2400" b="1" dirty="0">
                        <a:solidFill>
                          <a:srgbClr val="00AEEF"/>
                        </a:solidFill>
                        <a:latin typeface="Times New Roman" panose="02020603050405020304" pitchFamily="18" charset="0"/>
                        <a:cs typeface="Times New Roman" panose="02020603050405020304" pitchFamily="18" charset="0"/>
                      </a:rPr>
                      <a:t>x1</a:t>
                    </a:r>
                    <a:r>
                      <a:rPr lang="en-US" altLang="zh-CN" sz="2400" b="1" dirty="0">
                        <a:latin typeface="Times New Roman" panose="02020603050405020304" pitchFamily="18" charset="0"/>
                        <a:cs typeface="Times New Roman" panose="02020603050405020304" pitchFamily="18" charset="0"/>
                      </a:rPr>
                      <a:t>,x5 </a:t>
                    </a:r>
                  </a:p>
                </p:txBody>
              </p:sp>
            </p:grpSp>
          </p:grpSp>
        </p:grpSp>
        <p:cxnSp>
          <p:nvCxnSpPr>
            <p:cNvPr id="145" name="直接箭头连接符 144"/>
            <p:cNvCxnSpPr/>
            <p:nvPr/>
          </p:nvCxnSpPr>
          <p:spPr>
            <a:xfrm>
              <a:off x="1282423" y="4937856"/>
              <a:ext cx="0" cy="1334674"/>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0900">
                                            <p:txEl>
                                              <p:pRg st="1" end="1"/>
                                            </p:txEl>
                                          </p:spTgt>
                                        </p:tgtEl>
                                        <p:attrNameLst>
                                          <p:attrName>style.visibility</p:attrName>
                                        </p:attrNameLst>
                                      </p:cBhvr>
                                      <p:to>
                                        <p:strVal val="visible"/>
                                      </p:to>
                                    </p:set>
                                    <p:animEffect transition="in" filter="fade">
                                      <p:cBhvr>
                                        <p:cTn id="7" dur="500"/>
                                        <p:tgtEl>
                                          <p:spTgt spid="8090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0900">
                                            <p:txEl>
                                              <p:pRg st="2" end="2"/>
                                            </p:txEl>
                                          </p:spTgt>
                                        </p:tgtEl>
                                        <p:attrNameLst>
                                          <p:attrName>style.visibility</p:attrName>
                                        </p:attrNameLst>
                                      </p:cBhvr>
                                      <p:to>
                                        <p:strVal val="visible"/>
                                      </p:to>
                                    </p:set>
                                    <p:animEffect transition="in" filter="fade">
                                      <p:cBhvr>
                                        <p:cTn id="12" dur="500"/>
                                        <p:tgtEl>
                                          <p:spTgt spid="80900">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80900">
                                            <p:txEl>
                                              <p:pRg st="3" end="3"/>
                                            </p:txEl>
                                          </p:spTgt>
                                        </p:tgtEl>
                                        <p:attrNameLst>
                                          <p:attrName>style.visibility</p:attrName>
                                        </p:attrNameLst>
                                      </p:cBhvr>
                                      <p:to>
                                        <p:strVal val="visible"/>
                                      </p:to>
                                    </p:set>
                                    <p:animEffect transition="in" filter="fade">
                                      <p:cBhvr>
                                        <p:cTn id="15" dur="500"/>
                                        <p:tgtEl>
                                          <p:spTgt spid="80900">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80900">
                                            <p:txEl>
                                              <p:pRg st="4" end="4"/>
                                            </p:txEl>
                                          </p:spTgt>
                                        </p:tgtEl>
                                        <p:attrNameLst>
                                          <p:attrName>style.visibility</p:attrName>
                                        </p:attrNameLst>
                                      </p:cBhvr>
                                      <p:to>
                                        <p:strVal val="visible"/>
                                      </p:to>
                                    </p:set>
                                    <p:animEffect transition="in" filter="fade">
                                      <p:cBhvr>
                                        <p:cTn id="18" dur="500"/>
                                        <p:tgtEl>
                                          <p:spTgt spid="80900">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3"/>
          <p:cNvSpPr>
            <a:spLocks noGrp="1" noChangeArrowheads="1"/>
          </p:cNvSpPr>
          <p:nvPr>
            <p:ph idx="1"/>
          </p:nvPr>
        </p:nvSpPr>
        <p:spPr/>
        <p:txBody>
          <a:bodyPr>
            <a:normAutofit/>
          </a:bodyPr>
          <a:lstStyle/>
          <a:p>
            <a:pPr eaLnBrk="1" hangingPunct="1"/>
            <a:r>
              <a:rPr lang="zh-CN" altLang="en-US" sz="2800" dirty="0">
                <a:latin typeface="Times New Roman" panose="02020603050405020304" pitchFamily="18" charset="0"/>
                <a:cs typeface="Times New Roman" panose="02020603050405020304" pitchFamily="18" charset="0"/>
              </a:rPr>
              <a:t>前递不能避免所有的流水线停顿</a:t>
            </a:r>
            <a:endParaRPr lang="en-US" altLang="zh-CN" sz="2800" dirty="0">
              <a:latin typeface="Times New Roman" panose="02020603050405020304" pitchFamily="18" charset="0"/>
              <a:cs typeface="Times New Roman" panose="02020603050405020304" pitchFamily="18" charset="0"/>
            </a:endParaRPr>
          </a:p>
          <a:p>
            <a:pPr lvl="1"/>
            <a:r>
              <a:rPr lang="zh-CN" altLang="en-US" sz="2400" dirty="0">
                <a:latin typeface="Times New Roman" panose="02020603050405020304" pitchFamily="18" charset="0"/>
                <a:cs typeface="Times New Roman" panose="02020603050405020304" pitchFamily="18" charset="0"/>
              </a:rPr>
              <a:t>当载入指令要取的数据还没被取回，其他指令就需要该数据时，无法及时前递</a:t>
            </a:r>
          </a:p>
          <a:p>
            <a:pPr lvl="1"/>
            <a:r>
              <a:rPr lang="zh-CN" altLang="en-US" sz="2400" dirty="0">
                <a:latin typeface="Times New Roman" panose="02020603050405020304" pitchFamily="18" charset="0"/>
                <a:cs typeface="Times New Roman" panose="02020603050405020304" pitchFamily="18" charset="0"/>
                <a:sym typeface="+mn-ea"/>
              </a:rPr>
              <a:t>一种解决方案：流水线停顿</a:t>
            </a:r>
            <a:r>
              <a:rPr lang="en-US" altLang="zh-CN" sz="2400" dirty="0">
                <a:latin typeface="Times New Roman" panose="02020603050405020304" pitchFamily="18" charset="0"/>
                <a:cs typeface="Times New Roman" panose="02020603050405020304" pitchFamily="18" charset="0"/>
                <a:sym typeface="+mn-ea"/>
              </a:rPr>
              <a:t>(stall)</a:t>
            </a:r>
            <a:r>
              <a:rPr lang="zh-CN" altLang="en-US" sz="2400" dirty="0">
                <a:latin typeface="Times New Roman" panose="02020603050405020304" pitchFamily="18" charset="0"/>
                <a:cs typeface="Times New Roman" panose="02020603050405020304" pitchFamily="18" charset="0"/>
                <a:sym typeface="+mn-ea"/>
              </a:rPr>
              <a:t>，也称为气泡</a:t>
            </a:r>
            <a:r>
              <a:rPr lang="en-US" altLang="zh-CN" sz="2400" dirty="0">
                <a:latin typeface="Times New Roman" panose="02020603050405020304" pitchFamily="18" charset="0"/>
                <a:cs typeface="Times New Roman" panose="02020603050405020304" pitchFamily="18" charset="0"/>
                <a:sym typeface="+mn-ea"/>
              </a:rPr>
              <a:t>(bubble)</a:t>
            </a:r>
            <a:r>
              <a:rPr lang="zh-CN" altLang="en-US" sz="2400" dirty="0">
                <a:latin typeface="Times New Roman" panose="02020603050405020304" pitchFamily="18" charset="0"/>
                <a:cs typeface="Times New Roman" panose="02020603050405020304" pitchFamily="18" charset="0"/>
                <a:sym typeface="+mn-ea"/>
              </a:rPr>
              <a:t>，为了解决冒险而实施的一种阻塞</a:t>
            </a:r>
            <a:endParaRPr lang="en-US" altLang="zh-CN" sz="2400" dirty="0">
              <a:latin typeface="Times New Roman" panose="02020603050405020304" pitchFamily="18" charset="0"/>
              <a:cs typeface="Times New Roman" panose="02020603050405020304" pitchFamily="18" charset="0"/>
            </a:endParaRPr>
          </a:p>
          <a:p>
            <a:pPr lvl="1"/>
            <a:endParaRPr lang="en-US" altLang="zh-CN" sz="24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8EE8E787-E6FE-45D8-9039-788B45E44EE7}" type="slidenum">
              <a:rPr lang="zh-CN" altLang="en-US" smtClean="0"/>
              <a:t>14</a:t>
            </a:fld>
            <a:endParaRPr lang="zh-CN" altLang="en-US" dirty="0"/>
          </a:p>
        </p:txBody>
      </p:sp>
      <p:sp>
        <p:nvSpPr>
          <p:cNvPr id="3" name="标题 2"/>
          <p:cNvSpPr>
            <a:spLocks noGrp="1"/>
          </p:cNvSpPr>
          <p:nvPr>
            <p:ph type="title"/>
          </p:nvPr>
        </p:nvSpPr>
        <p:spPr/>
        <p:txBody>
          <a:bodyPr/>
          <a:lstStyle/>
          <a:p>
            <a:r>
              <a:rPr lang="zh-CN" altLang="en-US" dirty="0">
                <a:latin typeface="Times New Roman" panose="02020603050405020304" pitchFamily="18" charset="0"/>
                <a:cs typeface="Times New Roman" panose="02020603050405020304" pitchFamily="18" charset="0"/>
              </a:rPr>
              <a:t>载入</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使用型数据冒险</a:t>
            </a:r>
            <a:r>
              <a:rPr lang="en-US" altLang="zh-CN" dirty="0">
                <a:latin typeface="Times New Roman" panose="02020603050405020304" pitchFamily="18" charset="0"/>
                <a:cs typeface="Times New Roman" panose="02020603050405020304" pitchFamily="18" charset="0"/>
              </a:rPr>
              <a:t>(load-use data hazard)</a:t>
            </a:r>
          </a:p>
        </p:txBody>
      </p:sp>
      <p:grpSp>
        <p:nvGrpSpPr>
          <p:cNvPr id="2" name="组合 1"/>
          <p:cNvGrpSpPr/>
          <p:nvPr/>
        </p:nvGrpSpPr>
        <p:grpSpPr>
          <a:xfrm>
            <a:off x="451248" y="2949802"/>
            <a:ext cx="11066230" cy="3629674"/>
            <a:chOff x="451248" y="2949802"/>
            <a:chExt cx="11066230" cy="3629674"/>
          </a:xfrm>
        </p:grpSpPr>
        <p:grpSp>
          <p:nvGrpSpPr>
            <p:cNvPr id="61" name="Program"/>
            <p:cNvGrpSpPr/>
            <p:nvPr/>
          </p:nvGrpSpPr>
          <p:grpSpPr>
            <a:xfrm>
              <a:off x="451248" y="2949802"/>
              <a:ext cx="3697705" cy="3572748"/>
              <a:chOff x="-445457" y="2818968"/>
              <a:chExt cx="3697705" cy="3572748"/>
            </a:xfrm>
          </p:grpSpPr>
          <p:cxnSp>
            <p:nvCxnSpPr>
              <p:cNvPr id="62" name="直接箭头连接符 61"/>
              <p:cNvCxnSpPr/>
              <p:nvPr/>
            </p:nvCxnSpPr>
            <p:spPr>
              <a:xfrm>
                <a:off x="409903" y="3765485"/>
                <a:ext cx="0" cy="2626231"/>
              </a:xfrm>
              <a:prstGeom prst="straightConnector1">
                <a:avLst/>
              </a:prstGeom>
              <a:ln w="25400">
                <a:headEnd type="stealth"/>
                <a:tailEnd type="triangle"/>
              </a:ln>
            </p:spPr>
            <p:style>
              <a:lnRef idx="1">
                <a:schemeClr val="dk1"/>
              </a:lnRef>
              <a:fillRef idx="0">
                <a:schemeClr val="dk1"/>
              </a:fillRef>
              <a:effectRef idx="0">
                <a:schemeClr val="dk1"/>
              </a:effectRef>
              <a:fontRef idx="minor">
                <a:schemeClr val="tx1"/>
              </a:fontRef>
            </p:style>
          </p:cxnSp>
          <p:sp>
            <p:nvSpPr>
              <p:cNvPr id="63" name="文本框 62"/>
              <p:cNvSpPr txBox="1"/>
              <p:nvPr/>
            </p:nvSpPr>
            <p:spPr>
              <a:xfrm>
                <a:off x="-445457" y="2818968"/>
                <a:ext cx="2046532" cy="1015663"/>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Program execution order</a:t>
                </a:r>
              </a:p>
              <a:p>
                <a:r>
                  <a:rPr lang="en-US" altLang="zh-CN" sz="2000" dirty="0">
                    <a:latin typeface="Times New Roman" panose="02020603050405020304" pitchFamily="18" charset="0"/>
                    <a:cs typeface="Times New Roman" panose="02020603050405020304" pitchFamily="18" charset="0"/>
                  </a:rPr>
                  <a:t>(in instructions)</a:t>
                </a:r>
                <a:endParaRPr lang="zh-CN" altLang="en-US" sz="2000" dirty="0">
                  <a:latin typeface="Times New Roman" panose="02020603050405020304" pitchFamily="18" charset="0"/>
                  <a:cs typeface="Times New Roman" panose="02020603050405020304" pitchFamily="18" charset="0"/>
                </a:endParaRPr>
              </a:p>
            </p:txBody>
          </p:sp>
          <p:sp>
            <p:nvSpPr>
              <p:cNvPr id="64" name="文本框 63"/>
              <p:cNvSpPr txBox="1"/>
              <p:nvPr/>
            </p:nvSpPr>
            <p:spPr>
              <a:xfrm>
                <a:off x="810573" y="3939108"/>
                <a:ext cx="2005965" cy="460375"/>
              </a:xfrm>
              <a:prstGeom prst="rect">
                <a:avLst/>
              </a:prstGeom>
              <a:noFill/>
            </p:spPr>
            <p:txBody>
              <a:bodyPr wrap="square" rtlCol="0">
                <a:spAutoFit/>
              </a:bodyPr>
              <a:lstStyle/>
              <a:p>
                <a:r>
                  <a:rPr lang="en-US" altLang="zh-CN" sz="2400" dirty="0" err="1">
                    <a:latin typeface="Times New Roman" panose="02020603050405020304" pitchFamily="18" charset="0"/>
                    <a:cs typeface="Times New Roman" panose="02020603050405020304" pitchFamily="18" charset="0"/>
                  </a:rPr>
                  <a:t>ld</a:t>
                </a:r>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00AEEF"/>
                    </a:solidFill>
                    <a:latin typeface="Times New Roman" panose="02020603050405020304" pitchFamily="18" charset="0"/>
                    <a:cs typeface="Times New Roman" panose="02020603050405020304" pitchFamily="18" charset="0"/>
                  </a:rPr>
                  <a:t>x1</a:t>
                </a:r>
                <a:r>
                  <a:rPr lang="en-US" altLang="zh-CN" sz="2400" dirty="0">
                    <a:latin typeface="Times New Roman" panose="02020603050405020304" pitchFamily="18" charset="0"/>
                    <a:cs typeface="Times New Roman" panose="02020603050405020304" pitchFamily="18" charset="0"/>
                  </a:rPr>
                  <a:t>,0(x2)</a:t>
                </a:r>
              </a:p>
            </p:txBody>
          </p:sp>
          <p:sp>
            <p:nvSpPr>
              <p:cNvPr id="65" name="文本框 64"/>
              <p:cNvSpPr txBox="1"/>
              <p:nvPr/>
            </p:nvSpPr>
            <p:spPr>
              <a:xfrm>
                <a:off x="945670" y="5775528"/>
                <a:ext cx="2306578" cy="46037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sub x4,</a:t>
                </a:r>
                <a:r>
                  <a:rPr lang="en-US" altLang="zh-CN" sz="2400" dirty="0">
                    <a:solidFill>
                      <a:srgbClr val="00AEEF"/>
                    </a:solidFill>
                    <a:latin typeface="Times New Roman" panose="02020603050405020304" pitchFamily="18" charset="0"/>
                    <a:cs typeface="Times New Roman" panose="02020603050405020304" pitchFamily="18" charset="0"/>
                  </a:rPr>
                  <a:t>x1</a:t>
                </a:r>
                <a:r>
                  <a:rPr lang="en-US" altLang="zh-CN" sz="2400" dirty="0">
                    <a:latin typeface="Times New Roman" panose="02020603050405020304" pitchFamily="18" charset="0"/>
                    <a:cs typeface="Times New Roman" panose="02020603050405020304" pitchFamily="18" charset="0"/>
                  </a:rPr>
                  <a:t>,x5 </a:t>
                </a:r>
              </a:p>
            </p:txBody>
          </p:sp>
        </p:grpSp>
        <p:grpSp>
          <p:nvGrpSpPr>
            <p:cNvPr id="82944" name="时间轴"/>
            <p:cNvGrpSpPr/>
            <p:nvPr/>
          </p:nvGrpSpPr>
          <p:grpSpPr>
            <a:xfrm>
              <a:off x="2370070" y="3190018"/>
              <a:ext cx="9147408" cy="2786691"/>
              <a:chOff x="2581662" y="2986235"/>
              <a:chExt cx="9147408" cy="2786691"/>
            </a:xfrm>
          </p:grpSpPr>
          <p:grpSp>
            <p:nvGrpSpPr>
              <p:cNvPr id="85" name="时间轴"/>
              <p:cNvGrpSpPr/>
              <p:nvPr/>
            </p:nvGrpSpPr>
            <p:grpSpPr>
              <a:xfrm>
                <a:off x="2581662" y="2986235"/>
                <a:ext cx="9147408" cy="601799"/>
                <a:chOff x="1208504" y="2628344"/>
                <a:chExt cx="7946666" cy="768008"/>
              </a:xfrm>
            </p:grpSpPr>
            <p:grpSp>
              <p:nvGrpSpPr>
                <p:cNvPr id="86" name="时间轴与坐标"/>
                <p:cNvGrpSpPr/>
                <p:nvPr/>
              </p:nvGrpSpPr>
              <p:grpSpPr>
                <a:xfrm>
                  <a:off x="2001092" y="2628344"/>
                  <a:ext cx="7154078" cy="569199"/>
                  <a:chOff x="2815593" y="2559774"/>
                  <a:chExt cx="6812144" cy="392182"/>
                </a:xfrm>
              </p:grpSpPr>
              <p:grpSp>
                <p:nvGrpSpPr>
                  <p:cNvPr id="88" name="时间轴"/>
                  <p:cNvGrpSpPr/>
                  <p:nvPr/>
                </p:nvGrpSpPr>
                <p:grpSpPr>
                  <a:xfrm>
                    <a:off x="2815593" y="2868133"/>
                    <a:ext cx="6793073" cy="83823"/>
                    <a:chOff x="2815593" y="2847701"/>
                    <a:chExt cx="6793073" cy="83823"/>
                  </a:xfrm>
                </p:grpSpPr>
                <p:cxnSp>
                  <p:nvCxnSpPr>
                    <p:cNvPr id="97" name="直接箭头连接符 96"/>
                    <p:cNvCxnSpPr/>
                    <p:nvPr/>
                  </p:nvCxnSpPr>
                  <p:spPr>
                    <a:xfrm>
                      <a:off x="2815593" y="2847703"/>
                      <a:ext cx="6793073"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98" name="直接连接符 97"/>
                    <p:cNvCxnSpPr/>
                    <p:nvPr/>
                  </p:nvCxnSpPr>
                  <p:spPr>
                    <a:xfrm>
                      <a:off x="3744686" y="2847703"/>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99" name="直接连接符 98"/>
                    <p:cNvCxnSpPr/>
                    <p:nvPr/>
                  </p:nvCxnSpPr>
                  <p:spPr>
                    <a:xfrm>
                      <a:off x="4659086" y="2847703"/>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100" name="直接连接符 99"/>
                    <p:cNvCxnSpPr/>
                    <p:nvPr/>
                  </p:nvCxnSpPr>
                  <p:spPr>
                    <a:xfrm>
                      <a:off x="5573486" y="2847703"/>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101" name="直接连接符 100"/>
                    <p:cNvCxnSpPr/>
                    <p:nvPr/>
                  </p:nvCxnSpPr>
                  <p:spPr>
                    <a:xfrm>
                      <a:off x="6494236" y="2847703"/>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102" name="直接连接符 101"/>
                    <p:cNvCxnSpPr/>
                    <p:nvPr/>
                  </p:nvCxnSpPr>
                  <p:spPr>
                    <a:xfrm>
                      <a:off x="7424511" y="2847703"/>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103" name="直接连接符 102"/>
                    <p:cNvCxnSpPr/>
                    <p:nvPr/>
                  </p:nvCxnSpPr>
                  <p:spPr>
                    <a:xfrm>
                      <a:off x="8319861" y="2847702"/>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104" name="直接连接符 103"/>
                    <p:cNvCxnSpPr/>
                    <p:nvPr/>
                  </p:nvCxnSpPr>
                  <p:spPr>
                    <a:xfrm>
                      <a:off x="9243786" y="2847701"/>
                      <a:ext cx="0" cy="83821"/>
                    </a:xfrm>
                    <a:prstGeom prst="line">
                      <a:avLst/>
                    </a:prstGeom>
                    <a:ln w="15875"/>
                  </p:spPr>
                  <p:style>
                    <a:lnRef idx="1">
                      <a:schemeClr val="dk1"/>
                    </a:lnRef>
                    <a:fillRef idx="0">
                      <a:schemeClr val="dk1"/>
                    </a:fillRef>
                    <a:effectRef idx="0">
                      <a:schemeClr val="dk1"/>
                    </a:effectRef>
                    <a:fontRef idx="minor">
                      <a:schemeClr val="tx1"/>
                    </a:fontRef>
                  </p:style>
                </p:cxnSp>
              </p:grpSp>
              <p:sp>
                <p:nvSpPr>
                  <p:cNvPr id="89" name="文本框 88"/>
                  <p:cNvSpPr txBox="1"/>
                  <p:nvPr/>
                </p:nvSpPr>
                <p:spPr>
                  <a:xfrm>
                    <a:off x="3519716" y="2559774"/>
                    <a:ext cx="595084" cy="351818"/>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200</a:t>
                    </a:r>
                    <a:endParaRPr lang="zh-CN" altLang="en-US" sz="2000" dirty="0">
                      <a:latin typeface="Times New Roman" panose="02020603050405020304" pitchFamily="18" charset="0"/>
                      <a:cs typeface="Times New Roman" panose="02020603050405020304" pitchFamily="18" charset="0"/>
                    </a:endParaRPr>
                  </a:p>
                </p:txBody>
              </p:sp>
              <p:sp>
                <p:nvSpPr>
                  <p:cNvPr id="90" name="文本框 89"/>
                  <p:cNvSpPr txBox="1"/>
                  <p:nvPr/>
                </p:nvSpPr>
                <p:spPr>
                  <a:xfrm>
                    <a:off x="5353505" y="2569836"/>
                    <a:ext cx="595084" cy="351818"/>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600</a:t>
                    </a:r>
                    <a:endParaRPr lang="zh-CN" altLang="en-US" sz="2000" dirty="0">
                      <a:latin typeface="Times New Roman" panose="02020603050405020304" pitchFamily="18" charset="0"/>
                      <a:cs typeface="Times New Roman" panose="02020603050405020304" pitchFamily="18" charset="0"/>
                    </a:endParaRPr>
                  </a:p>
                </p:txBody>
              </p:sp>
              <p:sp>
                <p:nvSpPr>
                  <p:cNvPr id="91" name="文本框 90"/>
                  <p:cNvSpPr txBox="1"/>
                  <p:nvPr/>
                </p:nvSpPr>
                <p:spPr>
                  <a:xfrm>
                    <a:off x="4386039" y="2578269"/>
                    <a:ext cx="595084" cy="351818"/>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400</a:t>
                    </a:r>
                    <a:endParaRPr lang="zh-CN" altLang="en-US" sz="2000" dirty="0">
                      <a:latin typeface="Times New Roman" panose="02020603050405020304" pitchFamily="18" charset="0"/>
                      <a:cs typeface="Times New Roman" panose="02020603050405020304" pitchFamily="18" charset="0"/>
                    </a:endParaRPr>
                  </a:p>
                </p:txBody>
              </p:sp>
              <p:sp>
                <p:nvSpPr>
                  <p:cNvPr id="92" name="文本框 91"/>
                  <p:cNvSpPr txBox="1"/>
                  <p:nvPr/>
                </p:nvSpPr>
                <p:spPr>
                  <a:xfrm>
                    <a:off x="6288318" y="2579361"/>
                    <a:ext cx="595084" cy="351818"/>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800</a:t>
                    </a:r>
                    <a:endParaRPr lang="zh-CN" altLang="en-US" sz="2000" dirty="0">
                      <a:latin typeface="Times New Roman" panose="02020603050405020304" pitchFamily="18" charset="0"/>
                      <a:cs typeface="Times New Roman" panose="02020603050405020304" pitchFamily="18" charset="0"/>
                    </a:endParaRPr>
                  </a:p>
                </p:txBody>
              </p:sp>
              <p:sp>
                <p:nvSpPr>
                  <p:cNvPr id="93" name="文本框 92"/>
                  <p:cNvSpPr txBox="1"/>
                  <p:nvPr/>
                </p:nvSpPr>
                <p:spPr>
                  <a:xfrm>
                    <a:off x="8036042" y="2580260"/>
                    <a:ext cx="654053" cy="351818"/>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1200</a:t>
                    </a:r>
                    <a:endParaRPr lang="zh-CN" altLang="en-US" sz="2000" dirty="0">
                      <a:latin typeface="Times New Roman" panose="02020603050405020304" pitchFamily="18" charset="0"/>
                      <a:cs typeface="Times New Roman" panose="02020603050405020304" pitchFamily="18" charset="0"/>
                    </a:endParaRPr>
                  </a:p>
                </p:txBody>
              </p:sp>
              <p:sp>
                <p:nvSpPr>
                  <p:cNvPr id="94" name="文本框 93"/>
                  <p:cNvSpPr txBox="1"/>
                  <p:nvPr/>
                </p:nvSpPr>
                <p:spPr>
                  <a:xfrm>
                    <a:off x="7120391" y="2569836"/>
                    <a:ext cx="660070" cy="351818"/>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1000</a:t>
                    </a:r>
                    <a:endParaRPr lang="zh-CN" altLang="en-US" sz="2000" dirty="0">
                      <a:latin typeface="Times New Roman" panose="02020603050405020304" pitchFamily="18" charset="0"/>
                      <a:cs typeface="Times New Roman" panose="02020603050405020304" pitchFamily="18" charset="0"/>
                    </a:endParaRPr>
                  </a:p>
                </p:txBody>
              </p:sp>
              <p:sp>
                <p:nvSpPr>
                  <p:cNvPr id="95" name="文本框 94"/>
                  <p:cNvSpPr txBox="1"/>
                  <p:nvPr/>
                </p:nvSpPr>
                <p:spPr>
                  <a:xfrm>
                    <a:off x="8973696" y="2581389"/>
                    <a:ext cx="654041" cy="351818"/>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1400</a:t>
                    </a:r>
                    <a:endParaRPr lang="zh-CN" altLang="en-US" sz="2000" dirty="0">
                      <a:latin typeface="Times New Roman" panose="02020603050405020304" pitchFamily="18" charset="0"/>
                      <a:cs typeface="Times New Roman" panose="02020603050405020304" pitchFamily="18" charset="0"/>
                    </a:endParaRPr>
                  </a:p>
                </p:txBody>
              </p:sp>
            </p:grpSp>
            <p:sp>
              <p:nvSpPr>
                <p:cNvPr id="87" name="文本框 86"/>
                <p:cNvSpPr txBox="1"/>
                <p:nvPr/>
              </p:nvSpPr>
              <p:spPr>
                <a:xfrm>
                  <a:off x="1208504" y="2885737"/>
                  <a:ext cx="830116" cy="510615"/>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Time</a:t>
                  </a:r>
                  <a:endParaRPr lang="zh-CN" altLang="en-US" sz="2000" dirty="0">
                    <a:latin typeface="Times New Roman" panose="02020603050405020304" pitchFamily="18" charset="0"/>
                    <a:cs typeface="Times New Roman" panose="02020603050405020304" pitchFamily="18" charset="0"/>
                  </a:endParaRPr>
                </a:p>
              </p:txBody>
            </p:sp>
          </p:grpSp>
          <p:cxnSp>
            <p:nvCxnSpPr>
              <p:cNvPr id="125" name="直接连接符 124"/>
              <p:cNvCxnSpPr/>
              <p:nvPr/>
            </p:nvCxnSpPr>
            <p:spPr>
              <a:xfrm>
                <a:off x="8004843" y="3920926"/>
                <a:ext cx="140822" cy="1779806"/>
              </a:xfrm>
              <a:prstGeom prst="line">
                <a:avLst/>
              </a:prstGeom>
              <a:ln w="25400">
                <a:solidFill>
                  <a:srgbClr val="54C9F5"/>
                </a:solidFill>
              </a:ln>
            </p:spPr>
            <p:style>
              <a:lnRef idx="1">
                <a:schemeClr val="accent1"/>
              </a:lnRef>
              <a:fillRef idx="0">
                <a:schemeClr val="accent1"/>
              </a:fillRef>
              <a:effectRef idx="0">
                <a:schemeClr val="accent1"/>
              </a:effectRef>
              <a:fontRef idx="minor">
                <a:schemeClr val="tx1"/>
              </a:fontRef>
            </p:style>
          </p:cxnSp>
          <p:sp>
            <p:nvSpPr>
              <p:cNvPr id="126" name="椭圆 125"/>
              <p:cNvSpPr/>
              <p:nvPr/>
            </p:nvSpPr>
            <p:spPr>
              <a:xfrm>
                <a:off x="7934274" y="3849338"/>
                <a:ext cx="128794" cy="125000"/>
              </a:xfrm>
              <a:prstGeom prst="ellipse">
                <a:avLst/>
              </a:prstGeom>
              <a:solidFill>
                <a:srgbClr val="00AE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p:cNvSpPr/>
              <p:nvPr/>
            </p:nvSpPr>
            <p:spPr>
              <a:xfrm>
                <a:off x="8085876" y="5647926"/>
                <a:ext cx="128794" cy="125000"/>
              </a:xfrm>
              <a:prstGeom prst="ellipse">
                <a:avLst/>
              </a:prstGeom>
              <a:solidFill>
                <a:srgbClr val="00AE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3" name="指令"/>
            <p:cNvGrpSpPr/>
            <p:nvPr/>
          </p:nvGrpSpPr>
          <p:grpSpPr>
            <a:xfrm>
              <a:off x="5839017" y="5702689"/>
              <a:ext cx="5258795" cy="876787"/>
              <a:chOff x="2136775" y="3141544"/>
              <a:chExt cx="5258795" cy="876787"/>
            </a:xfrm>
          </p:grpSpPr>
          <p:sp>
            <p:nvSpPr>
              <p:cNvPr id="134" name="矩形 133"/>
              <p:cNvSpPr/>
              <p:nvPr/>
            </p:nvSpPr>
            <p:spPr>
              <a:xfrm>
                <a:off x="6624323" y="3263778"/>
                <a:ext cx="378097" cy="681688"/>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5" name="矩形 134"/>
              <p:cNvSpPr/>
              <p:nvPr/>
            </p:nvSpPr>
            <p:spPr>
              <a:xfrm>
                <a:off x="3614861" y="3271147"/>
                <a:ext cx="378097" cy="681688"/>
              </a:xfrm>
              <a:prstGeom prst="rect">
                <a:avLst/>
              </a:prstGeom>
              <a:solidFill>
                <a:srgbClr val="AEE5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6" name="矩形 135"/>
              <p:cNvSpPr/>
              <p:nvPr/>
            </p:nvSpPr>
            <p:spPr>
              <a:xfrm>
                <a:off x="2489891" y="3271904"/>
                <a:ext cx="361764" cy="65684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37" name="指令"/>
              <p:cNvGrpSpPr/>
              <p:nvPr/>
            </p:nvGrpSpPr>
            <p:grpSpPr>
              <a:xfrm>
                <a:off x="2322658" y="3141544"/>
                <a:ext cx="5072912" cy="876787"/>
                <a:chOff x="2280117" y="3141545"/>
                <a:chExt cx="4512585" cy="823761"/>
              </a:xfrm>
            </p:grpSpPr>
            <p:sp>
              <p:nvSpPr>
                <p:cNvPr id="152" name="任意多边形: 形状 151"/>
                <p:cNvSpPr/>
                <p:nvPr/>
              </p:nvSpPr>
              <p:spPr>
                <a:xfrm>
                  <a:off x="4251065" y="3141545"/>
                  <a:ext cx="509332" cy="823761"/>
                </a:xfrm>
                <a:custGeom>
                  <a:avLst/>
                  <a:gdLst>
                    <a:gd name="connsiteX0" fmla="*/ 3175 w 384175"/>
                    <a:gd name="connsiteY0" fmla="*/ 0 h 746125"/>
                    <a:gd name="connsiteX1" fmla="*/ 0 w 384175"/>
                    <a:gd name="connsiteY1" fmla="*/ 320675 h 746125"/>
                    <a:gd name="connsiteX2" fmla="*/ 104775 w 384175"/>
                    <a:gd name="connsiteY2" fmla="*/ 361950 h 746125"/>
                    <a:gd name="connsiteX3" fmla="*/ 0 w 384175"/>
                    <a:gd name="connsiteY3" fmla="*/ 454025 h 746125"/>
                    <a:gd name="connsiteX4" fmla="*/ 0 w 384175"/>
                    <a:gd name="connsiteY4" fmla="*/ 746125 h 746125"/>
                    <a:gd name="connsiteX5" fmla="*/ 377825 w 384175"/>
                    <a:gd name="connsiteY5" fmla="*/ 539750 h 746125"/>
                    <a:gd name="connsiteX6" fmla="*/ 384175 w 384175"/>
                    <a:gd name="connsiteY6" fmla="*/ 209550 h 746125"/>
                    <a:gd name="connsiteX7" fmla="*/ 3175 w 384175"/>
                    <a:gd name="connsiteY7" fmla="*/ 0 h 746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175" h="746125">
                      <a:moveTo>
                        <a:pt x="3175" y="0"/>
                      </a:moveTo>
                      <a:cubicBezTo>
                        <a:pt x="2117" y="106892"/>
                        <a:pt x="1058" y="213783"/>
                        <a:pt x="0" y="320675"/>
                      </a:cubicBezTo>
                      <a:lnTo>
                        <a:pt x="104775" y="361950"/>
                      </a:lnTo>
                      <a:lnTo>
                        <a:pt x="0" y="454025"/>
                      </a:lnTo>
                      <a:lnTo>
                        <a:pt x="0" y="746125"/>
                      </a:lnTo>
                      <a:lnTo>
                        <a:pt x="377825" y="539750"/>
                      </a:lnTo>
                      <a:lnTo>
                        <a:pt x="384175" y="209550"/>
                      </a:lnTo>
                      <a:lnTo>
                        <a:pt x="3175" y="0"/>
                      </a:lnTo>
                      <a:close/>
                    </a:path>
                  </a:pathLst>
                </a:custGeom>
                <a:solidFill>
                  <a:srgbClr val="B2B3B6"/>
                </a:solidFill>
                <a:ln w="19050">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solidFill>
                      <a:schemeClr val="tx1"/>
                    </a:solidFill>
                  </a:endParaRPr>
                </a:p>
              </p:txBody>
            </p:sp>
            <p:sp>
              <p:nvSpPr>
                <p:cNvPr id="153" name="矩形 152"/>
                <p:cNvSpPr/>
                <p:nvPr/>
              </p:nvSpPr>
              <p:spPr>
                <a:xfrm>
                  <a:off x="5134289" y="3265336"/>
                  <a:ext cx="640553" cy="61716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4" name="文本框 153"/>
                <p:cNvSpPr txBox="1"/>
                <p:nvPr/>
              </p:nvSpPr>
              <p:spPr>
                <a:xfrm>
                  <a:off x="2280117" y="3410893"/>
                  <a:ext cx="395881" cy="400110"/>
                </a:xfrm>
                <a:prstGeom prst="rect">
                  <a:avLst/>
                </a:prstGeom>
                <a:noFill/>
              </p:spPr>
              <p:txBody>
                <a:bodyPr wrap="square" rtlCol="0">
                  <a:spAutoFit/>
                </a:bodyPr>
                <a:lstStyle/>
                <a:p>
                  <a:r>
                    <a:rPr lang="en-US" altLang="zh-CN" sz="2000" dirty="0"/>
                    <a:t>IF</a:t>
                  </a:r>
                  <a:endParaRPr lang="zh-CN" altLang="en-US" sz="2000" dirty="0"/>
                </a:p>
              </p:txBody>
            </p:sp>
            <p:cxnSp>
              <p:nvCxnSpPr>
                <p:cNvPr id="155" name="直接连接符 154"/>
                <p:cNvCxnSpPr/>
                <p:nvPr/>
              </p:nvCxnSpPr>
              <p:spPr>
                <a:xfrm>
                  <a:off x="2752611" y="3604497"/>
                  <a:ext cx="3334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56" name="直接连接符 155"/>
                <p:cNvCxnSpPr/>
                <p:nvPr/>
              </p:nvCxnSpPr>
              <p:spPr>
                <a:xfrm>
                  <a:off x="3771900" y="3363734"/>
                  <a:ext cx="477238" cy="4922"/>
                </a:xfrm>
                <a:prstGeom prst="line">
                  <a:avLst/>
                </a:prstGeom>
                <a:ln w="12700"/>
              </p:spPr>
              <p:style>
                <a:lnRef idx="1">
                  <a:schemeClr val="dk1"/>
                </a:lnRef>
                <a:fillRef idx="0">
                  <a:schemeClr val="dk1"/>
                </a:fillRef>
                <a:effectRef idx="0">
                  <a:schemeClr val="dk1"/>
                </a:effectRef>
                <a:fontRef idx="minor">
                  <a:schemeClr val="tx1"/>
                </a:fontRef>
              </p:style>
            </p:cxnSp>
            <p:cxnSp>
              <p:nvCxnSpPr>
                <p:cNvPr id="157" name="直接连接符 156"/>
                <p:cNvCxnSpPr/>
                <p:nvPr/>
              </p:nvCxnSpPr>
              <p:spPr>
                <a:xfrm>
                  <a:off x="3771900" y="3768468"/>
                  <a:ext cx="471541"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58" name="直接连接符 157"/>
                <p:cNvCxnSpPr/>
                <p:nvPr/>
              </p:nvCxnSpPr>
              <p:spPr>
                <a:xfrm>
                  <a:off x="4760908" y="3538082"/>
                  <a:ext cx="377852"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59" name="直接连接符 158"/>
                <p:cNvCxnSpPr/>
                <p:nvPr/>
              </p:nvCxnSpPr>
              <p:spPr>
                <a:xfrm>
                  <a:off x="5783179" y="3551705"/>
                  <a:ext cx="312821"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60" name="直接连接符 159"/>
                <p:cNvCxnSpPr/>
                <p:nvPr/>
              </p:nvCxnSpPr>
              <p:spPr>
                <a:xfrm>
                  <a:off x="3012962" y="3523897"/>
                  <a:ext cx="0" cy="73363"/>
                </a:xfrm>
                <a:prstGeom prst="line">
                  <a:avLst/>
                </a:prstGeom>
                <a:ln w="12700"/>
              </p:spPr>
              <p:style>
                <a:lnRef idx="1">
                  <a:schemeClr val="dk1"/>
                </a:lnRef>
                <a:fillRef idx="0">
                  <a:schemeClr val="dk1"/>
                </a:fillRef>
                <a:effectRef idx="0">
                  <a:schemeClr val="dk1"/>
                </a:effectRef>
                <a:fontRef idx="minor">
                  <a:schemeClr val="tx1"/>
                </a:fontRef>
              </p:style>
            </p:cxnSp>
            <p:cxnSp>
              <p:nvCxnSpPr>
                <p:cNvPr id="161" name="直接连接符 160"/>
                <p:cNvCxnSpPr/>
                <p:nvPr/>
              </p:nvCxnSpPr>
              <p:spPr>
                <a:xfrm>
                  <a:off x="3010850" y="3523897"/>
                  <a:ext cx="79488" cy="0"/>
                </a:xfrm>
                <a:prstGeom prst="line">
                  <a:avLst/>
                </a:prstGeom>
                <a:ln w="12700"/>
              </p:spPr>
              <p:style>
                <a:lnRef idx="1">
                  <a:schemeClr val="dk1"/>
                </a:lnRef>
                <a:fillRef idx="0">
                  <a:schemeClr val="dk1"/>
                </a:fillRef>
                <a:effectRef idx="0">
                  <a:schemeClr val="dk1"/>
                </a:effectRef>
                <a:fontRef idx="minor">
                  <a:schemeClr val="tx1"/>
                </a:fontRef>
              </p:style>
            </p:cxnSp>
            <p:sp>
              <p:nvSpPr>
                <p:cNvPr id="162" name="文本框 161"/>
                <p:cNvSpPr txBox="1"/>
                <p:nvPr/>
              </p:nvSpPr>
              <p:spPr>
                <a:xfrm>
                  <a:off x="3273501" y="3394306"/>
                  <a:ext cx="442733" cy="400110"/>
                </a:xfrm>
                <a:prstGeom prst="rect">
                  <a:avLst/>
                </a:prstGeom>
                <a:noFill/>
              </p:spPr>
              <p:txBody>
                <a:bodyPr wrap="square" rtlCol="0">
                  <a:spAutoFit/>
                </a:bodyPr>
                <a:lstStyle/>
                <a:p>
                  <a:r>
                    <a:rPr lang="en-US" altLang="zh-CN" sz="2000" dirty="0"/>
                    <a:t>ID</a:t>
                  </a:r>
                  <a:endParaRPr lang="zh-CN" altLang="en-US" sz="2000" dirty="0"/>
                </a:p>
              </p:txBody>
            </p:sp>
            <p:sp>
              <p:nvSpPr>
                <p:cNvPr id="163" name="文本框 162"/>
                <p:cNvSpPr txBox="1"/>
                <p:nvPr/>
              </p:nvSpPr>
              <p:spPr>
                <a:xfrm>
                  <a:off x="4320711" y="3352956"/>
                  <a:ext cx="536617" cy="400110"/>
                </a:xfrm>
                <a:prstGeom prst="rect">
                  <a:avLst/>
                </a:prstGeom>
                <a:noFill/>
              </p:spPr>
              <p:txBody>
                <a:bodyPr wrap="square" rtlCol="0">
                  <a:spAutoFit/>
                </a:bodyPr>
                <a:lstStyle/>
                <a:p>
                  <a:r>
                    <a:rPr lang="en-US" altLang="zh-CN" sz="2000" dirty="0"/>
                    <a:t>EX </a:t>
                  </a:r>
                  <a:endParaRPr lang="zh-CN" altLang="en-US" sz="2000" dirty="0"/>
                </a:p>
              </p:txBody>
            </p:sp>
            <p:sp>
              <p:nvSpPr>
                <p:cNvPr id="164" name="文本框 163"/>
                <p:cNvSpPr txBox="1"/>
                <p:nvPr/>
              </p:nvSpPr>
              <p:spPr>
                <a:xfrm>
                  <a:off x="5084130" y="3363734"/>
                  <a:ext cx="753886" cy="400110"/>
                </a:xfrm>
                <a:prstGeom prst="rect">
                  <a:avLst/>
                </a:prstGeom>
                <a:noFill/>
              </p:spPr>
              <p:txBody>
                <a:bodyPr wrap="square" rtlCol="0">
                  <a:spAutoFit/>
                </a:bodyPr>
                <a:lstStyle/>
                <a:p>
                  <a:r>
                    <a:rPr lang="en-US" altLang="zh-CN" sz="2000" dirty="0"/>
                    <a:t>MEM</a:t>
                  </a:r>
                  <a:endParaRPr lang="zh-CN" altLang="en-US" sz="2000" dirty="0"/>
                </a:p>
              </p:txBody>
            </p:sp>
            <p:sp>
              <p:nvSpPr>
                <p:cNvPr id="165" name="文本框 164"/>
                <p:cNvSpPr txBox="1"/>
                <p:nvPr/>
              </p:nvSpPr>
              <p:spPr>
                <a:xfrm>
                  <a:off x="6155221" y="3380188"/>
                  <a:ext cx="637481" cy="400110"/>
                </a:xfrm>
                <a:prstGeom prst="rect">
                  <a:avLst/>
                </a:prstGeom>
                <a:noFill/>
              </p:spPr>
              <p:txBody>
                <a:bodyPr wrap="square" rtlCol="0">
                  <a:spAutoFit/>
                </a:bodyPr>
                <a:lstStyle/>
                <a:p>
                  <a:r>
                    <a:rPr lang="en-US" altLang="zh-CN" sz="2000" dirty="0"/>
                    <a:t>WB</a:t>
                  </a:r>
                  <a:endParaRPr lang="zh-CN" altLang="en-US" sz="2000" dirty="0"/>
                </a:p>
              </p:txBody>
            </p:sp>
          </p:grpSp>
          <p:sp>
            <p:nvSpPr>
              <p:cNvPr id="138" name="矩形 137"/>
              <p:cNvSpPr/>
              <p:nvPr/>
            </p:nvSpPr>
            <p:spPr>
              <a:xfrm>
                <a:off x="2136775" y="3273303"/>
                <a:ext cx="714879" cy="65685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9" name="直接连接符 138"/>
              <p:cNvCxnSpPr/>
              <p:nvPr/>
            </p:nvCxnSpPr>
            <p:spPr>
              <a:xfrm flipH="1">
                <a:off x="3235070" y="3272697"/>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140" name="直接连接符 139"/>
              <p:cNvCxnSpPr/>
              <p:nvPr/>
            </p:nvCxnSpPr>
            <p:spPr>
              <a:xfrm flipH="1">
                <a:off x="3241532" y="3958529"/>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141" name="直接连接符 140"/>
              <p:cNvCxnSpPr/>
              <p:nvPr/>
            </p:nvCxnSpPr>
            <p:spPr>
              <a:xfrm flipV="1">
                <a:off x="3241532" y="3283908"/>
                <a:ext cx="1" cy="674621"/>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142" name="直接连接符 141"/>
              <p:cNvCxnSpPr/>
              <p:nvPr/>
            </p:nvCxnSpPr>
            <p:spPr>
              <a:xfrm>
                <a:off x="3618783" y="3271904"/>
                <a:ext cx="380892" cy="0"/>
              </a:xfrm>
              <a:prstGeom prst="line">
                <a:avLst/>
              </a:prstGeom>
              <a:ln w="15875">
                <a:solidFill>
                  <a:srgbClr val="00AEEF"/>
                </a:solidFill>
              </a:ln>
            </p:spPr>
            <p:style>
              <a:lnRef idx="1">
                <a:schemeClr val="dk1"/>
              </a:lnRef>
              <a:fillRef idx="0">
                <a:schemeClr val="dk1"/>
              </a:fillRef>
              <a:effectRef idx="0">
                <a:schemeClr val="dk1"/>
              </a:effectRef>
              <a:fontRef idx="minor">
                <a:schemeClr val="tx1"/>
              </a:fontRef>
            </p:style>
          </p:cxnSp>
          <p:cxnSp>
            <p:nvCxnSpPr>
              <p:cNvPr id="143" name="直接连接符 142"/>
              <p:cNvCxnSpPr/>
              <p:nvPr/>
            </p:nvCxnSpPr>
            <p:spPr>
              <a:xfrm>
                <a:off x="3618783" y="3958529"/>
                <a:ext cx="380892" cy="0"/>
              </a:xfrm>
              <a:prstGeom prst="line">
                <a:avLst/>
              </a:prstGeom>
              <a:ln w="15875">
                <a:solidFill>
                  <a:srgbClr val="00AEEF"/>
                </a:solidFill>
              </a:ln>
            </p:spPr>
            <p:style>
              <a:lnRef idx="1">
                <a:schemeClr val="dk1"/>
              </a:lnRef>
              <a:fillRef idx="0">
                <a:schemeClr val="dk1"/>
              </a:fillRef>
              <a:effectRef idx="0">
                <a:schemeClr val="dk1"/>
              </a:effectRef>
              <a:fontRef idx="minor">
                <a:schemeClr val="tx1"/>
              </a:fontRef>
            </p:style>
          </p:cxnSp>
          <p:cxnSp>
            <p:nvCxnSpPr>
              <p:cNvPr id="144" name="直接连接符 143"/>
              <p:cNvCxnSpPr/>
              <p:nvPr/>
            </p:nvCxnSpPr>
            <p:spPr>
              <a:xfrm>
                <a:off x="3995430" y="3279627"/>
                <a:ext cx="0" cy="675283"/>
              </a:xfrm>
              <a:prstGeom prst="line">
                <a:avLst/>
              </a:prstGeom>
              <a:ln w="15875">
                <a:solidFill>
                  <a:srgbClr val="00AEEF"/>
                </a:solidFill>
              </a:ln>
            </p:spPr>
            <p:style>
              <a:lnRef idx="1">
                <a:schemeClr val="dk1"/>
              </a:lnRef>
              <a:fillRef idx="0">
                <a:schemeClr val="dk1"/>
              </a:fillRef>
              <a:effectRef idx="0">
                <a:schemeClr val="dk1"/>
              </a:effectRef>
              <a:fontRef idx="minor">
                <a:schemeClr val="tx1"/>
              </a:fontRef>
            </p:style>
          </p:cxnSp>
          <p:grpSp>
            <p:nvGrpSpPr>
              <p:cNvPr id="145" name="组合 144"/>
              <p:cNvGrpSpPr/>
              <p:nvPr/>
            </p:nvGrpSpPr>
            <p:grpSpPr>
              <a:xfrm rot="10800000">
                <a:off x="6612448" y="3256447"/>
                <a:ext cx="764605" cy="686625"/>
                <a:chOff x="7546826" y="3370312"/>
                <a:chExt cx="764605" cy="686625"/>
              </a:xfrm>
            </p:grpSpPr>
            <p:cxnSp>
              <p:nvCxnSpPr>
                <p:cNvPr id="146" name="直接连接符 145"/>
                <p:cNvCxnSpPr/>
                <p:nvPr/>
              </p:nvCxnSpPr>
              <p:spPr>
                <a:xfrm flipH="1">
                  <a:off x="7546826" y="3371105"/>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147" name="直接连接符 146"/>
                <p:cNvCxnSpPr/>
                <p:nvPr/>
              </p:nvCxnSpPr>
              <p:spPr>
                <a:xfrm flipH="1">
                  <a:off x="7553288" y="4056937"/>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148" name="直接连接符 147"/>
                <p:cNvCxnSpPr/>
                <p:nvPr/>
              </p:nvCxnSpPr>
              <p:spPr>
                <a:xfrm flipV="1">
                  <a:off x="7553288" y="3382316"/>
                  <a:ext cx="1" cy="674621"/>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149" name="直接连接符 148"/>
                <p:cNvCxnSpPr/>
                <p:nvPr/>
              </p:nvCxnSpPr>
              <p:spPr>
                <a:xfrm>
                  <a:off x="7930539" y="3370312"/>
                  <a:ext cx="38089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150" name="直接连接符 149"/>
                <p:cNvCxnSpPr/>
                <p:nvPr/>
              </p:nvCxnSpPr>
              <p:spPr>
                <a:xfrm>
                  <a:off x="7930539" y="4056937"/>
                  <a:ext cx="38089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151" name="直接连接符 150"/>
                <p:cNvCxnSpPr/>
                <p:nvPr/>
              </p:nvCxnSpPr>
              <p:spPr>
                <a:xfrm>
                  <a:off x="8307186" y="3378035"/>
                  <a:ext cx="0" cy="675283"/>
                </a:xfrm>
                <a:prstGeom prst="line">
                  <a:avLst/>
                </a:prstGeom>
                <a:ln w="15875"/>
              </p:spPr>
              <p:style>
                <a:lnRef idx="1">
                  <a:schemeClr val="dk1"/>
                </a:lnRef>
                <a:fillRef idx="0">
                  <a:schemeClr val="dk1"/>
                </a:fillRef>
                <a:effectRef idx="0">
                  <a:schemeClr val="dk1"/>
                </a:effectRef>
                <a:fontRef idx="minor">
                  <a:schemeClr val="tx1"/>
                </a:fontRef>
              </p:style>
            </p:cxnSp>
          </p:grpSp>
        </p:grpSp>
        <p:grpSp>
          <p:nvGrpSpPr>
            <p:cNvPr id="204" name="指令"/>
            <p:cNvGrpSpPr/>
            <p:nvPr/>
          </p:nvGrpSpPr>
          <p:grpSpPr>
            <a:xfrm>
              <a:off x="3512473" y="3681414"/>
              <a:ext cx="5258795" cy="876787"/>
              <a:chOff x="2136775" y="3141544"/>
              <a:chExt cx="5258795" cy="876787"/>
            </a:xfrm>
          </p:grpSpPr>
          <p:sp>
            <p:nvSpPr>
              <p:cNvPr id="205" name="矩形 204"/>
              <p:cNvSpPr/>
              <p:nvPr/>
            </p:nvSpPr>
            <p:spPr>
              <a:xfrm>
                <a:off x="6624323" y="3263778"/>
                <a:ext cx="378097" cy="681688"/>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6" name="矩形 205"/>
              <p:cNvSpPr/>
              <p:nvPr/>
            </p:nvSpPr>
            <p:spPr>
              <a:xfrm>
                <a:off x="3614861" y="3271147"/>
                <a:ext cx="378097" cy="681688"/>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7" name="矩形 206"/>
              <p:cNvSpPr/>
              <p:nvPr/>
            </p:nvSpPr>
            <p:spPr>
              <a:xfrm>
                <a:off x="2489891" y="3271904"/>
                <a:ext cx="361764" cy="65684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08" name="指令"/>
              <p:cNvGrpSpPr/>
              <p:nvPr/>
            </p:nvGrpSpPr>
            <p:grpSpPr>
              <a:xfrm>
                <a:off x="2322658" y="3141544"/>
                <a:ext cx="5072912" cy="876787"/>
                <a:chOff x="2280117" y="3141545"/>
                <a:chExt cx="4512585" cy="823761"/>
              </a:xfrm>
            </p:grpSpPr>
            <p:sp>
              <p:nvSpPr>
                <p:cNvPr id="223" name="任意多边形: 形状 222"/>
                <p:cNvSpPr/>
                <p:nvPr/>
              </p:nvSpPr>
              <p:spPr>
                <a:xfrm>
                  <a:off x="4251065" y="3141545"/>
                  <a:ext cx="509332" cy="823761"/>
                </a:xfrm>
                <a:custGeom>
                  <a:avLst/>
                  <a:gdLst>
                    <a:gd name="connsiteX0" fmla="*/ 3175 w 384175"/>
                    <a:gd name="connsiteY0" fmla="*/ 0 h 746125"/>
                    <a:gd name="connsiteX1" fmla="*/ 0 w 384175"/>
                    <a:gd name="connsiteY1" fmla="*/ 320675 h 746125"/>
                    <a:gd name="connsiteX2" fmla="*/ 104775 w 384175"/>
                    <a:gd name="connsiteY2" fmla="*/ 361950 h 746125"/>
                    <a:gd name="connsiteX3" fmla="*/ 0 w 384175"/>
                    <a:gd name="connsiteY3" fmla="*/ 454025 h 746125"/>
                    <a:gd name="connsiteX4" fmla="*/ 0 w 384175"/>
                    <a:gd name="connsiteY4" fmla="*/ 746125 h 746125"/>
                    <a:gd name="connsiteX5" fmla="*/ 377825 w 384175"/>
                    <a:gd name="connsiteY5" fmla="*/ 539750 h 746125"/>
                    <a:gd name="connsiteX6" fmla="*/ 384175 w 384175"/>
                    <a:gd name="connsiteY6" fmla="*/ 209550 h 746125"/>
                    <a:gd name="connsiteX7" fmla="*/ 3175 w 384175"/>
                    <a:gd name="connsiteY7" fmla="*/ 0 h 746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4175" h="746125">
                      <a:moveTo>
                        <a:pt x="3175" y="0"/>
                      </a:moveTo>
                      <a:cubicBezTo>
                        <a:pt x="2117" y="106892"/>
                        <a:pt x="1058" y="213783"/>
                        <a:pt x="0" y="320675"/>
                      </a:cubicBezTo>
                      <a:lnTo>
                        <a:pt x="104775" y="361950"/>
                      </a:lnTo>
                      <a:lnTo>
                        <a:pt x="0" y="454025"/>
                      </a:lnTo>
                      <a:lnTo>
                        <a:pt x="0" y="746125"/>
                      </a:lnTo>
                      <a:lnTo>
                        <a:pt x="377825" y="539750"/>
                      </a:lnTo>
                      <a:lnTo>
                        <a:pt x="384175" y="209550"/>
                      </a:lnTo>
                      <a:lnTo>
                        <a:pt x="3175" y="0"/>
                      </a:lnTo>
                      <a:close/>
                    </a:path>
                  </a:pathLst>
                </a:custGeom>
                <a:solidFill>
                  <a:srgbClr val="B2B3B6"/>
                </a:solidFill>
                <a:ln w="19050">
                  <a:solidFill>
                    <a:schemeClr val="tx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dirty="0">
                    <a:solidFill>
                      <a:schemeClr val="tx1"/>
                    </a:solidFill>
                  </a:endParaRPr>
                </a:p>
              </p:txBody>
            </p:sp>
            <p:sp>
              <p:nvSpPr>
                <p:cNvPr id="224" name="矩形 223"/>
                <p:cNvSpPr/>
                <p:nvPr/>
              </p:nvSpPr>
              <p:spPr>
                <a:xfrm>
                  <a:off x="5134289" y="3265336"/>
                  <a:ext cx="640553" cy="61716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5" name="文本框 224"/>
                <p:cNvSpPr txBox="1"/>
                <p:nvPr/>
              </p:nvSpPr>
              <p:spPr>
                <a:xfrm>
                  <a:off x="2280117" y="3410893"/>
                  <a:ext cx="395881" cy="400110"/>
                </a:xfrm>
                <a:prstGeom prst="rect">
                  <a:avLst/>
                </a:prstGeom>
                <a:noFill/>
              </p:spPr>
              <p:txBody>
                <a:bodyPr wrap="square" rtlCol="0">
                  <a:spAutoFit/>
                </a:bodyPr>
                <a:lstStyle/>
                <a:p>
                  <a:r>
                    <a:rPr lang="en-US" altLang="zh-CN" sz="2000" dirty="0"/>
                    <a:t>IF</a:t>
                  </a:r>
                  <a:endParaRPr lang="zh-CN" altLang="en-US" sz="2000" dirty="0"/>
                </a:p>
              </p:txBody>
            </p:sp>
            <p:cxnSp>
              <p:nvCxnSpPr>
                <p:cNvPr id="226" name="直接连接符 225"/>
                <p:cNvCxnSpPr/>
                <p:nvPr/>
              </p:nvCxnSpPr>
              <p:spPr>
                <a:xfrm>
                  <a:off x="2752611" y="3604497"/>
                  <a:ext cx="3334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227" name="直接连接符 226"/>
                <p:cNvCxnSpPr/>
                <p:nvPr/>
              </p:nvCxnSpPr>
              <p:spPr>
                <a:xfrm>
                  <a:off x="3771900" y="3363734"/>
                  <a:ext cx="477238" cy="4922"/>
                </a:xfrm>
                <a:prstGeom prst="line">
                  <a:avLst/>
                </a:prstGeom>
                <a:ln w="12700"/>
              </p:spPr>
              <p:style>
                <a:lnRef idx="1">
                  <a:schemeClr val="dk1"/>
                </a:lnRef>
                <a:fillRef idx="0">
                  <a:schemeClr val="dk1"/>
                </a:fillRef>
                <a:effectRef idx="0">
                  <a:schemeClr val="dk1"/>
                </a:effectRef>
                <a:fontRef idx="minor">
                  <a:schemeClr val="tx1"/>
                </a:fontRef>
              </p:style>
            </p:cxnSp>
            <p:cxnSp>
              <p:nvCxnSpPr>
                <p:cNvPr id="228" name="直接连接符 227"/>
                <p:cNvCxnSpPr/>
                <p:nvPr/>
              </p:nvCxnSpPr>
              <p:spPr>
                <a:xfrm>
                  <a:off x="3771900" y="3768468"/>
                  <a:ext cx="471541"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229" name="直接连接符 228"/>
                <p:cNvCxnSpPr/>
                <p:nvPr/>
              </p:nvCxnSpPr>
              <p:spPr>
                <a:xfrm>
                  <a:off x="4760908" y="3538082"/>
                  <a:ext cx="377852"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230" name="直接连接符 229"/>
                <p:cNvCxnSpPr/>
                <p:nvPr/>
              </p:nvCxnSpPr>
              <p:spPr>
                <a:xfrm>
                  <a:off x="5783179" y="3551705"/>
                  <a:ext cx="312821"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231" name="直接连接符 230"/>
                <p:cNvCxnSpPr/>
                <p:nvPr/>
              </p:nvCxnSpPr>
              <p:spPr>
                <a:xfrm>
                  <a:off x="3012962" y="3523897"/>
                  <a:ext cx="0" cy="73363"/>
                </a:xfrm>
                <a:prstGeom prst="line">
                  <a:avLst/>
                </a:prstGeom>
                <a:ln w="12700"/>
              </p:spPr>
              <p:style>
                <a:lnRef idx="1">
                  <a:schemeClr val="dk1"/>
                </a:lnRef>
                <a:fillRef idx="0">
                  <a:schemeClr val="dk1"/>
                </a:fillRef>
                <a:effectRef idx="0">
                  <a:schemeClr val="dk1"/>
                </a:effectRef>
                <a:fontRef idx="minor">
                  <a:schemeClr val="tx1"/>
                </a:fontRef>
              </p:style>
            </p:cxnSp>
            <p:cxnSp>
              <p:nvCxnSpPr>
                <p:cNvPr id="232" name="直接连接符 231"/>
                <p:cNvCxnSpPr/>
                <p:nvPr/>
              </p:nvCxnSpPr>
              <p:spPr>
                <a:xfrm>
                  <a:off x="3010850" y="3523897"/>
                  <a:ext cx="79488" cy="0"/>
                </a:xfrm>
                <a:prstGeom prst="line">
                  <a:avLst/>
                </a:prstGeom>
                <a:ln w="12700"/>
              </p:spPr>
              <p:style>
                <a:lnRef idx="1">
                  <a:schemeClr val="dk1"/>
                </a:lnRef>
                <a:fillRef idx="0">
                  <a:schemeClr val="dk1"/>
                </a:fillRef>
                <a:effectRef idx="0">
                  <a:schemeClr val="dk1"/>
                </a:effectRef>
                <a:fontRef idx="minor">
                  <a:schemeClr val="tx1"/>
                </a:fontRef>
              </p:style>
            </p:cxnSp>
            <p:sp>
              <p:nvSpPr>
                <p:cNvPr id="233" name="文本框 232"/>
                <p:cNvSpPr txBox="1"/>
                <p:nvPr/>
              </p:nvSpPr>
              <p:spPr>
                <a:xfrm>
                  <a:off x="3273501" y="3394306"/>
                  <a:ext cx="442733" cy="400110"/>
                </a:xfrm>
                <a:prstGeom prst="rect">
                  <a:avLst/>
                </a:prstGeom>
                <a:noFill/>
              </p:spPr>
              <p:txBody>
                <a:bodyPr wrap="square" rtlCol="0">
                  <a:spAutoFit/>
                </a:bodyPr>
                <a:lstStyle/>
                <a:p>
                  <a:r>
                    <a:rPr lang="en-US" altLang="zh-CN" sz="2000" dirty="0"/>
                    <a:t>ID</a:t>
                  </a:r>
                  <a:endParaRPr lang="zh-CN" altLang="en-US" sz="2000" dirty="0"/>
                </a:p>
              </p:txBody>
            </p:sp>
            <p:sp>
              <p:nvSpPr>
                <p:cNvPr id="234" name="文本框 233"/>
                <p:cNvSpPr txBox="1"/>
                <p:nvPr/>
              </p:nvSpPr>
              <p:spPr>
                <a:xfrm>
                  <a:off x="4320711" y="3352956"/>
                  <a:ext cx="536617" cy="400110"/>
                </a:xfrm>
                <a:prstGeom prst="rect">
                  <a:avLst/>
                </a:prstGeom>
                <a:noFill/>
              </p:spPr>
              <p:txBody>
                <a:bodyPr wrap="square" rtlCol="0">
                  <a:spAutoFit/>
                </a:bodyPr>
                <a:lstStyle/>
                <a:p>
                  <a:r>
                    <a:rPr lang="en-US" altLang="zh-CN" sz="2000" dirty="0"/>
                    <a:t>EX </a:t>
                  </a:r>
                  <a:endParaRPr lang="zh-CN" altLang="en-US" sz="2000" dirty="0"/>
                </a:p>
              </p:txBody>
            </p:sp>
            <p:sp>
              <p:nvSpPr>
                <p:cNvPr id="235" name="文本框 234"/>
                <p:cNvSpPr txBox="1"/>
                <p:nvPr/>
              </p:nvSpPr>
              <p:spPr>
                <a:xfrm>
                  <a:off x="5084130" y="3363734"/>
                  <a:ext cx="753886" cy="400110"/>
                </a:xfrm>
                <a:prstGeom prst="rect">
                  <a:avLst/>
                </a:prstGeom>
                <a:noFill/>
              </p:spPr>
              <p:txBody>
                <a:bodyPr wrap="square" rtlCol="0">
                  <a:spAutoFit/>
                </a:bodyPr>
                <a:lstStyle/>
                <a:p>
                  <a:r>
                    <a:rPr lang="en-US" altLang="zh-CN" sz="2000" dirty="0"/>
                    <a:t>MEM</a:t>
                  </a:r>
                  <a:endParaRPr lang="zh-CN" altLang="en-US" sz="2000" dirty="0"/>
                </a:p>
              </p:txBody>
            </p:sp>
            <p:sp>
              <p:nvSpPr>
                <p:cNvPr id="236" name="文本框 235"/>
                <p:cNvSpPr txBox="1"/>
                <p:nvPr/>
              </p:nvSpPr>
              <p:spPr>
                <a:xfrm>
                  <a:off x="6155221" y="3380188"/>
                  <a:ext cx="637481" cy="400110"/>
                </a:xfrm>
                <a:prstGeom prst="rect">
                  <a:avLst/>
                </a:prstGeom>
                <a:noFill/>
              </p:spPr>
              <p:txBody>
                <a:bodyPr wrap="square" rtlCol="0">
                  <a:spAutoFit/>
                </a:bodyPr>
                <a:lstStyle/>
                <a:p>
                  <a:r>
                    <a:rPr lang="en-US" altLang="zh-CN" sz="2000" dirty="0"/>
                    <a:t>WB</a:t>
                  </a:r>
                  <a:endParaRPr lang="zh-CN" altLang="en-US" sz="2000" dirty="0"/>
                </a:p>
              </p:txBody>
            </p:sp>
          </p:grpSp>
          <p:sp>
            <p:nvSpPr>
              <p:cNvPr id="209" name="矩形 208"/>
              <p:cNvSpPr/>
              <p:nvPr/>
            </p:nvSpPr>
            <p:spPr>
              <a:xfrm>
                <a:off x="2136775" y="3273303"/>
                <a:ext cx="714879" cy="656853"/>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0" name="直接连接符 209"/>
              <p:cNvCxnSpPr/>
              <p:nvPr/>
            </p:nvCxnSpPr>
            <p:spPr>
              <a:xfrm flipH="1">
                <a:off x="3235070" y="3272697"/>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211" name="直接连接符 210"/>
              <p:cNvCxnSpPr/>
              <p:nvPr/>
            </p:nvCxnSpPr>
            <p:spPr>
              <a:xfrm flipH="1">
                <a:off x="3241532" y="3958529"/>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212" name="直接连接符 211"/>
              <p:cNvCxnSpPr/>
              <p:nvPr/>
            </p:nvCxnSpPr>
            <p:spPr>
              <a:xfrm flipV="1">
                <a:off x="3241532" y="3283908"/>
                <a:ext cx="1" cy="674621"/>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213" name="直接连接符 212"/>
              <p:cNvCxnSpPr/>
              <p:nvPr/>
            </p:nvCxnSpPr>
            <p:spPr>
              <a:xfrm>
                <a:off x="3618783" y="3271904"/>
                <a:ext cx="38089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214" name="直接连接符 213"/>
              <p:cNvCxnSpPr/>
              <p:nvPr/>
            </p:nvCxnSpPr>
            <p:spPr>
              <a:xfrm>
                <a:off x="3618783" y="3958529"/>
                <a:ext cx="38089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215" name="直接连接符 214"/>
              <p:cNvCxnSpPr/>
              <p:nvPr/>
            </p:nvCxnSpPr>
            <p:spPr>
              <a:xfrm>
                <a:off x="3995430" y="3279627"/>
                <a:ext cx="0" cy="675283"/>
              </a:xfrm>
              <a:prstGeom prst="line">
                <a:avLst/>
              </a:prstGeom>
              <a:ln w="15875"/>
            </p:spPr>
            <p:style>
              <a:lnRef idx="1">
                <a:schemeClr val="dk1"/>
              </a:lnRef>
              <a:fillRef idx="0">
                <a:schemeClr val="dk1"/>
              </a:fillRef>
              <a:effectRef idx="0">
                <a:schemeClr val="dk1"/>
              </a:effectRef>
              <a:fontRef idx="minor">
                <a:schemeClr val="tx1"/>
              </a:fontRef>
            </p:style>
          </p:cxnSp>
          <p:grpSp>
            <p:nvGrpSpPr>
              <p:cNvPr id="216" name="组合 215"/>
              <p:cNvGrpSpPr/>
              <p:nvPr/>
            </p:nvGrpSpPr>
            <p:grpSpPr>
              <a:xfrm rot="10800000">
                <a:off x="6612448" y="3256447"/>
                <a:ext cx="764605" cy="686625"/>
                <a:chOff x="7546826" y="3370312"/>
                <a:chExt cx="764605" cy="686625"/>
              </a:xfrm>
            </p:grpSpPr>
            <p:cxnSp>
              <p:nvCxnSpPr>
                <p:cNvPr id="217" name="直接连接符 216"/>
                <p:cNvCxnSpPr/>
                <p:nvPr/>
              </p:nvCxnSpPr>
              <p:spPr>
                <a:xfrm flipH="1">
                  <a:off x="7546826" y="3371105"/>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218" name="直接连接符 217"/>
                <p:cNvCxnSpPr/>
                <p:nvPr/>
              </p:nvCxnSpPr>
              <p:spPr>
                <a:xfrm flipH="1">
                  <a:off x="7553288" y="4056937"/>
                  <a:ext cx="390063" cy="0"/>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219" name="直接连接符 218"/>
                <p:cNvCxnSpPr/>
                <p:nvPr/>
              </p:nvCxnSpPr>
              <p:spPr>
                <a:xfrm flipV="1">
                  <a:off x="7553288" y="3382316"/>
                  <a:ext cx="1" cy="674621"/>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220" name="直接连接符 219"/>
                <p:cNvCxnSpPr/>
                <p:nvPr/>
              </p:nvCxnSpPr>
              <p:spPr>
                <a:xfrm>
                  <a:off x="7930539" y="3370312"/>
                  <a:ext cx="38089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221" name="直接连接符 220"/>
                <p:cNvCxnSpPr/>
                <p:nvPr/>
              </p:nvCxnSpPr>
              <p:spPr>
                <a:xfrm>
                  <a:off x="7930539" y="4056937"/>
                  <a:ext cx="380892" cy="0"/>
                </a:xfrm>
                <a:prstGeom prst="line">
                  <a:avLst/>
                </a:prstGeom>
                <a:ln w="15875"/>
              </p:spPr>
              <p:style>
                <a:lnRef idx="1">
                  <a:schemeClr val="dk1"/>
                </a:lnRef>
                <a:fillRef idx="0">
                  <a:schemeClr val="dk1"/>
                </a:fillRef>
                <a:effectRef idx="0">
                  <a:schemeClr val="dk1"/>
                </a:effectRef>
                <a:fontRef idx="minor">
                  <a:schemeClr val="tx1"/>
                </a:fontRef>
              </p:style>
            </p:cxnSp>
            <p:cxnSp>
              <p:nvCxnSpPr>
                <p:cNvPr id="222" name="直接连接符 221"/>
                <p:cNvCxnSpPr/>
                <p:nvPr/>
              </p:nvCxnSpPr>
              <p:spPr>
                <a:xfrm>
                  <a:off x="8307186" y="3378035"/>
                  <a:ext cx="0" cy="675283"/>
                </a:xfrm>
                <a:prstGeom prst="line">
                  <a:avLst/>
                </a:prstGeom>
                <a:ln w="15875"/>
              </p:spPr>
              <p:style>
                <a:lnRef idx="1">
                  <a:schemeClr val="dk1"/>
                </a:lnRef>
                <a:fillRef idx="0">
                  <a:schemeClr val="dk1"/>
                </a:fillRef>
                <a:effectRef idx="0">
                  <a:schemeClr val="dk1"/>
                </a:effectRef>
                <a:fontRef idx="minor">
                  <a:schemeClr val="tx1"/>
                </a:fontRef>
              </p:style>
            </p:cxnSp>
          </p:grpSp>
        </p:grpSp>
        <p:grpSp>
          <p:nvGrpSpPr>
            <p:cNvPr id="247" name="气泡"/>
            <p:cNvGrpSpPr/>
            <p:nvPr/>
          </p:nvGrpSpPr>
          <p:grpSpPr>
            <a:xfrm>
              <a:off x="4493310" y="4821161"/>
              <a:ext cx="5608042" cy="912753"/>
              <a:chOff x="2877231" y="4200211"/>
              <a:chExt cx="5608042" cy="912753"/>
            </a:xfrm>
          </p:grpSpPr>
          <p:grpSp>
            <p:nvGrpSpPr>
              <p:cNvPr id="248" name="组合 247"/>
              <p:cNvGrpSpPr/>
              <p:nvPr/>
            </p:nvGrpSpPr>
            <p:grpSpPr>
              <a:xfrm>
                <a:off x="2877231" y="4228071"/>
                <a:ext cx="1084602" cy="884893"/>
                <a:chOff x="1765542" y="4690619"/>
                <a:chExt cx="1298665" cy="876761"/>
              </a:xfrm>
            </p:grpSpPr>
            <p:grpSp>
              <p:nvGrpSpPr>
                <p:cNvPr id="277" name="bubble"/>
                <p:cNvGrpSpPr/>
                <p:nvPr/>
              </p:nvGrpSpPr>
              <p:grpSpPr>
                <a:xfrm>
                  <a:off x="1765542" y="4690619"/>
                  <a:ext cx="1228295" cy="876761"/>
                  <a:chOff x="3887298" y="4676458"/>
                  <a:chExt cx="747010" cy="614334"/>
                </a:xfrm>
              </p:grpSpPr>
              <p:sp>
                <p:nvSpPr>
                  <p:cNvPr id="279" name="思想气泡: 云 278"/>
                  <p:cNvSpPr/>
                  <p:nvPr/>
                </p:nvSpPr>
                <p:spPr>
                  <a:xfrm>
                    <a:off x="3887298" y="4676458"/>
                    <a:ext cx="747010" cy="500679"/>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0" name="任意多边形: 形状 279"/>
                  <p:cNvSpPr/>
                  <p:nvPr/>
                </p:nvSpPr>
                <p:spPr>
                  <a:xfrm>
                    <a:off x="4058014" y="5158267"/>
                    <a:ext cx="138633" cy="132525"/>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1" name="椭圆 280"/>
                  <p:cNvSpPr/>
                  <p:nvPr/>
                </p:nvSpPr>
                <p:spPr>
                  <a:xfrm>
                    <a:off x="4095750" y="5111750"/>
                    <a:ext cx="65387" cy="6538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2" name="椭圆 281"/>
                  <p:cNvSpPr/>
                  <p:nvPr/>
                </p:nvSpPr>
                <p:spPr>
                  <a:xfrm>
                    <a:off x="4131262" y="5034704"/>
                    <a:ext cx="142257" cy="13252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8" name="文本框 277"/>
                <p:cNvSpPr txBox="1"/>
                <p:nvPr/>
              </p:nvSpPr>
              <p:spPr>
                <a:xfrm>
                  <a:off x="1838148" y="4795864"/>
                  <a:ext cx="1226059" cy="406576"/>
                </a:xfrm>
                <a:prstGeom prst="rect">
                  <a:avLst/>
                </a:prstGeom>
                <a:noFill/>
              </p:spPr>
              <p:txBody>
                <a:bodyPr wrap="square" rtlCol="0">
                  <a:spAutoFit/>
                </a:bodyPr>
                <a:lstStyle/>
                <a:p>
                  <a:r>
                    <a:rPr lang="en-US" altLang="zh-CN" sz="2000" dirty="0">
                      <a:solidFill>
                        <a:srgbClr val="1B5196"/>
                      </a:solidFill>
                    </a:rPr>
                    <a:t>bubble</a:t>
                  </a:r>
                  <a:endParaRPr lang="zh-CN" altLang="en-US" sz="2000" dirty="0">
                    <a:solidFill>
                      <a:srgbClr val="1B5196"/>
                    </a:solidFill>
                  </a:endParaRPr>
                </a:p>
              </p:txBody>
            </p:sp>
          </p:grpSp>
          <p:grpSp>
            <p:nvGrpSpPr>
              <p:cNvPr id="249" name="组合 248"/>
              <p:cNvGrpSpPr/>
              <p:nvPr/>
            </p:nvGrpSpPr>
            <p:grpSpPr>
              <a:xfrm>
                <a:off x="4047556" y="4200259"/>
                <a:ext cx="1097302" cy="884893"/>
                <a:chOff x="1750336" y="4690619"/>
                <a:chExt cx="1313871" cy="876761"/>
              </a:xfrm>
            </p:grpSpPr>
            <p:grpSp>
              <p:nvGrpSpPr>
                <p:cNvPr id="271" name="bubble"/>
                <p:cNvGrpSpPr/>
                <p:nvPr/>
              </p:nvGrpSpPr>
              <p:grpSpPr>
                <a:xfrm>
                  <a:off x="1750336" y="4690619"/>
                  <a:ext cx="1228295" cy="876761"/>
                  <a:chOff x="3878050" y="4676458"/>
                  <a:chExt cx="747010" cy="614334"/>
                </a:xfrm>
              </p:grpSpPr>
              <p:sp>
                <p:nvSpPr>
                  <p:cNvPr id="273" name="思想气泡: 云 272"/>
                  <p:cNvSpPr/>
                  <p:nvPr/>
                </p:nvSpPr>
                <p:spPr>
                  <a:xfrm>
                    <a:off x="3878050" y="4676458"/>
                    <a:ext cx="747010" cy="500679"/>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4" name="任意多边形: 形状 273"/>
                  <p:cNvSpPr/>
                  <p:nvPr/>
                </p:nvSpPr>
                <p:spPr>
                  <a:xfrm>
                    <a:off x="4058014" y="5158267"/>
                    <a:ext cx="138633" cy="132525"/>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5" name="椭圆 274"/>
                  <p:cNvSpPr/>
                  <p:nvPr/>
                </p:nvSpPr>
                <p:spPr>
                  <a:xfrm>
                    <a:off x="4095750" y="5111750"/>
                    <a:ext cx="65387" cy="6538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 name="椭圆 275"/>
                  <p:cNvSpPr/>
                  <p:nvPr/>
                </p:nvSpPr>
                <p:spPr>
                  <a:xfrm>
                    <a:off x="4131262" y="5034704"/>
                    <a:ext cx="142257" cy="13252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2" name="文本框 271"/>
                <p:cNvSpPr txBox="1"/>
                <p:nvPr/>
              </p:nvSpPr>
              <p:spPr>
                <a:xfrm>
                  <a:off x="1838148" y="4795864"/>
                  <a:ext cx="1226059" cy="406576"/>
                </a:xfrm>
                <a:prstGeom prst="rect">
                  <a:avLst/>
                </a:prstGeom>
                <a:noFill/>
              </p:spPr>
              <p:txBody>
                <a:bodyPr wrap="square" rtlCol="0">
                  <a:spAutoFit/>
                </a:bodyPr>
                <a:lstStyle/>
                <a:p>
                  <a:r>
                    <a:rPr lang="en-US" altLang="zh-CN" sz="2000" dirty="0">
                      <a:solidFill>
                        <a:srgbClr val="1B5196"/>
                      </a:solidFill>
                    </a:rPr>
                    <a:t>bubble</a:t>
                  </a:r>
                  <a:endParaRPr lang="zh-CN" altLang="en-US" sz="2000" dirty="0">
                    <a:solidFill>
                      <a:srgbClr val="1B5196"/>
                    </a:solidFill>
                  </a:endParaRPr>
                </a:p>
              </p:txBody>
            </p:sp>
          </p:grpSp>
          <p:grpSp>
            <p:nvGrpSpPr>
              <p:cNvPr id="250" name="组合 249"/>
              <p:cNvGrpSpPr/>
              <p:nvPr/>
            </p:nvGrpSpPr>
            <p:grpSpPr>
              <a:xfrm>
                <a:off x="5190422" y="4200259"/>
                <a:ext cx="1084602" cy="884893"/>
                <a:chOff x="1765542" y="4690619"/>
                <a:chExt cx="1298665" cy="876761"/>
              </a:xfrm>
            </p:grpSpPr>
            <p:grpSp>
              <p:nvGrpSpPr>
                <p:cNvPr id="265" name="bubble"/>
                <p:cNvGrpSpPr/>
                <p:nvPr/>
              </p:nvGrpSpPr>
              <p:grpSpPr>
                <a:xfrm>
                  <a:off x="1765542" y="4690619"/>
                  <a:ext cx="1228295" cy="876761"/>
                  <a:chOff x="3887298" y="4676458"/>
                  <a:chExt cx="747010" cy="614334"/>
                </a:xfrm>
              </p:grpSpPr>
              <p:sp>
                <p:nvSpPr>
                  <p:cNvPr id="267" name="思想气泡: 云 266"/>
                  <p:cNvSpPr/>
                  <p:nvPr/>
                </p:nvSpPr>
                <p:spPr>
                  <a:xfrm>
                    <a:off x="3887298" y="4676458"/>
                    <a:ext cx="747010" cy="500679"/>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8" name="任意多边形: 形状 267"/>
                  <p:cNvSpPr/>
                  <p:nvPr/>
                </p:nvSpPr>
                <p:spPr>
                  <a:xfrm>
                    <a:off x="4058014" y="5158267"/>
                    <a:ext cx="138633" cy="132525"/>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9" name="椭圆 268"/>
                  <p:cNvSpPr/>
                  <p:nvPr/>
                </p:nvSpPr>
                <p:spPr>
                  <a:xfrm>
                    <a:off x="4095750" y="5111750"/>
                    <a:ext cx="65387" cy="6538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0" name="椭圆 269"/>
                  <p:cNvSpPr/>
                  <p:nvPr/>
                </p:nvSpPr>
                <p:spPr>
                  <a:xfrm>
                    <a:off x="4131262" y="5034704"/>
                    <a:ext cx="142257" cy="13252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6" name="文本框 265"/>
                <p:cNvSpPr txBox="1"/>
                <p:nvPr/>
              </p:nvSpPr>
              <p:spPr>
                <a:xfrm>
                  <a:off x="1838148" y="4795864"/>
                  <a:ext cx="1226059" cy="406576"/>
                </a:xfrm>
                <a:prstGeom prst="rect">
                  <a:avLst/>
                </a:prstGeom>
                <a:noFill/>
              </p:spPr>
              <p:txBody>
                <a:bodyPr wrap="square" rtlCol="0">
                  <a:spAutoFit/>
                </a:bodyPr>
                <a:lstStyle/>
                <a:p>
                  <a:r>
                    <a:rPr lang="en-US" altLang="zh-CN" sz="2000" dirty="0">
                      <a:solidFill>
                        <a:srgbClr val="1B5196"/>
                      </a:solidFill>
                    </a:rPr>
                    <a:t>bubble</a:t>
                  </a:r>
                  <a:endParaRPr lang="zh-CN" altLang="en-US" sz="2000" dirty="0">
                    <a:solidFill>
                      <a:srgbClr val="1B5196"/>
                    </a:solidFill>
                  </a:endParaRPr>
                </a:p>
              </p:txBody>
            </p:sp>
          </p:grpSp>
          <p:grpSp>
            <p:nvGrpSpPr>
              <p:cNvPr id="251" name="组合 250"/>
              <p:cNvGrpSpPr/>
              <p:nvPr/>
            </p:nvGrpSpPr>
            <p:grpSpPr>
              <a:xfrm>
                <a:off x="6308471" y="4200211"/>
                <a:ext cx="1084602" cy="884893"/>
                <a:chOff x="1765542" y="4690619"/>
                <a:chExt cx="1298665" cy="876761"/>
              </a:xfrm>
            </p:grpSpPr>
            <p:grpSp>
              <p:nvGrpSpPr>
                <p:cNvPr id="259" name="bubble"/>
                <p:cNvGrpSpPr/>
                <p:nvPr/>
              </p:nvGrpSpPr>
              <p:grpSpPr>
                <a:xfrm>
                  <a:off x="1765542" y="4690619"/>
                  <a:ext cx="1228295" cy="876761"/>
                  <a:chOff x="3887298" y="4676458"/>
                  <a:chExt cx="747010" cy="614334"/>
                </a:xfrm>
              </p:grpSpPr>
              <p:sp>
                <p:nvSpPr>
                  <p:cNvPr id="261" name="思想气泡: 云 260"/>
                  <p:cNvSpPr/>
                  <p:nvPr/>
                </p:nvSpPr>
                <p:spPr>
                  <a:xfrm>
                    <a:off x="3887298" y="4676458"/>
                    <a:ext cx="747010" cy="500679"/>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2" name="任意多边形: 形状 261"/>
                  <p:cNvSpPr/>
                  <p:nvPr/>
                </p:nvSpPr>
                <p:spPr>
                  <a:xfrm>
                    <a:off x="4058014" y="5158267"/>
                    <a:ext cx="138633" cy="132525"/>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3" name="椭圆 262"/>
                  <p:cNvSpPr/>
                  <p:nvPr/>
                </p:nvSpPr>
                <p:spPr>
                  <a:xfrm>
                    <a:off x="4095750" y="5111750"/>
                    <a:ext cx="65387" cy="6538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4" name="椭圆 263"/>
                  <p:cNvSpPr/>
                  <p:nvPr/>
                </p:nvSpPr>
                <p:spPr>
                  <a:xfrm>
                    <a:off x="4131262" y="5034704"/>
                    <a:ext cx="142257" cy="13252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0" name="文本框 259"/>
                <p:cNvSpPr txBox="1"/>
                <p:nvPr/>
              </p:nvSpPr>
              <p:spPr>
                <a:xfrm>
                  <a:off x="1838148" y="4795864"/>
                  <a:ext cx="1226059" cy="406576"/>
                </a:xfrm>
                <a:prstGeom prst="rect">
                  <a:avLst/>
                </a:prstGeom>
                <a:noFill/>
              </p:spPr>
              <p:txBody>
                <a:bodyPr wrap="square" rtlCol="0">
                  <a:spAutoFit/>
                </a:bodyPr>
                <a:lstStyle/>
                <a:p>
                  <a:r>
                    <a:rPr lang="en-US" altLang="zh-CN" sz="2000" dirty="0">
                      <a:solidFill>
                        <a:srgbClr val="1B5196"/>
                      </a:solidFill>
                    </a:rPr>
                    <a:t>bubble</a:t>
                  </a:r>
                  <a:endParaRPr lang="zh-CN" altLang="en-US" sz="2000" dirty="0">
                    <a:solidFill>
                      <a:srgbClr val="1B5196"/>
                    </a:solidFill>
                  </a:endParaRPr>
                </a:p>
              </p:txBody>
            </p:sp>
          </p:grpSp>
          <p:grpSp>
            <p:nvGrpSpPr>
              <p:cNvPr id="252" name="组合 251"/>
              <p:cNvGrpSpPr/>
              <p:nvPr/>
            </p:nvGrpSpPr>
            <p:grpSpPr>
              <a:xfrm>
                <a:off x="7400671" y="4200211"/>
                <a:ext cx="1084602" cy="884893"/>
                <a:chOff x="1765542" y="4690619"/>
                <a:chExt cx="1298665" cy="876761"/>
              </a:xfrm>
            </p:grpSpPr>
            <p:grpSp>
              <p:nvGrpSpPr>
                <p:cNvPr id="253" name="bubble"/>
                <p:cNvGrpSpPr/>
                <p:nvPr/>
              </p:nvGrpSpPr>
              <p:grpSpPr>
                <a:xfrm>
                  <a:off x="1765542" y="4690619"/>
                  <a:ext cx="1228295" cy="876761"/>
                  <a:chOff x="3887298" y="4676458"/>
                  <a:chExt cx="747010" cy="614334"/>
                </a:xfrm>
              </p:grpSpPr>
              <p:sp>
                <p:nvSpPr>
                  <p:cNvPr id="255" name="思想气泡: 云 254"/>
                  <p:cNvSpPr/>
                  <p:nvPr/>
                </p:nvSpPr>
                <p:spPr>
                  <a:xfrm>
                    <a:off x="3887298" y="4676458"/>
                    <a:ext cx="747010" cy="500679"/>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6" name="任意多边形: 形状 255"/>
                  <p:cNvSpPr/>
                  <p:nvPr/>
                </p:nvSpPr>
                <p:spPr>
                  <a:xfrm>
                    <a:off x="4058014" y="5158267"/>
                    <a:ext cx="138633" cy="132525"/>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7" name="椭圆 256"/>
                  <p:cNvSpPr/>
                  <p:nvPr/>
                </p:nvSpPr>
                <p:spPr>
                  <a:xfrm>
                    <a:off x="4095750" y="5111750"/>
                    <a:ext cx="65387" cy="6538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8" name="椭圆 257"/>
                  <p:cNvSpPr/>
                  <p:nvPr/>
                </p:nvSpPr>
                <p:spPr>
                  <a:xfrm>
                    <a:off x="4131262" y="5034704"/>
                    <a:ext cx="142257" cy="13252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4" name="文本框 253"/>
                <p:cNvSpPr txBox="1"/>
                <p:nvPr/>
              </p:nvSpPr>
              <p:spPr>
                <a:xfrm>
                  <a:off x="1838148" y="4795864"/>
                  <a:ext cx="1226059" cy="406576"/>
                </a:xfrm>
                <a:prstGeom prst="rect">
                  <a:avLst/>
                </a:prstGeom>
                <a:noFill/>
              </p:spPr>
              <p:txBody>
                <a:bodyPr wrap="square" rtlCol="0">
                  <a:spAutoFit/>
                </a:bodyPr>
                <a:lstStyle/>
                <a:p>
                  <a:r>
                    <a:rPr lang="en-US" altLang="zh-CN" sz="2000" dirty="0">
                      <a:solidFill>
                        <a:srgbClr val="1B5196"/>
                      </a:solidFill>
                    </a:rPr>
                    <a:t>bubble</a:t>
                  </a:r>
                  <a:endParaRPr lang="zh-CN" altLang="en-US" sz="2000" dirty="0">
                    <a:solidFill>
                      <a:srgbClr val="1B5196"/>
                    </a:solidFill>
                  </a:endParaRPr>
                </a:p>
              </p:txBody>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948">
                                            <p:txEl>
                                              <p:pRg st="1" end="1"/>
                                            </p:txEl>
                                          </p:spTgt>
                                        </p:tgtEl>
                                        <p:attrNameLst>
                                          <p:attrName>style.visibility</p:attrName>
                                        </p:attrNameLst>
                                      </p:cBhvr>
                                      <p:to>
                                        <p:strVal val="visible"/>
                                      </p:to>
                                    </p:set>
                                    <p:animEffect transition="in" filter="fade">
                                      <p:cBhvr>
                                        <p:cTn id="7" dur="500"/>
                                        <p:tgtEl>
                                          <p:spTgt spid="8294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2948">
                                            <p:txEl>
                                              <p:pRg st="2" end="2"/>
                                            </p:txEl>
                                          </p:spTgt>
                                        </p:tgtEl>
                                        <p:attrNameLst>
                                          <p:attrName>style.visibility</p:attrName>
                                        </p:attrNameLst>
                                      </p:cBhvr>
                                      <p:to>
                                        <p:strVal val="visible"/>
                                      </p:to>
                                    </p:set>
                                    <p:animEffect transition="in" filter="fade">
                                      <p:cBhvr>
                                        <p:cTn id="12" dur="500"/>
                                        <p:tgtEl>
                                          <p:spTgt spid="8294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3"/>
          <p:cNvSpPr>
            <a:spLocks noGrp="1" noChangeArrowheads="1"/>
          </p:cNvSpPr>
          <p:nvPr>
            <p:ph idx="1"/>
          </p:nvPr>
        </p:nvSpPr>
        <p:spPr/>
        <p:txBody>
          <a:bodyPr>
            <a:normAutofit/>
          </a:bodyPr>
          <a:lstStyle/>
          <a:p>
            <a:pPr eaLnBrk="1" hangingPunct="1"/>
            <a:r>
              <a:rPr lang="zh-CN" altLang="en-US" dirty="0">
                <a:latin typeface="Times New Roman" panose="02020603050405020304" pitchFamily="18" charset="0"/>
                <a:cs typeface="Times New Roman" panose="02020603050405020304" pitchFamily="18" charset="0"/>
              </a:rPr>
              <a:t>重排代码，避免在</a:t>
            </a:r>
            <a:r>
              <a:rPr lang="en-US" altLang="zh-CN" dirty="0">
                <a:latin typeface="Times New Roman" panose="02020603050405020304" pitchFamily="18" charset="0"/>
                <a:cs typeface="Times New Roman" panose="02020603050405020304" pitchFamily="18" charset="0"/>
              </a:rPr>
              <a:t>load</a:t>
            </a:r>
            <a:r>
              <a:rPr lang="zh-CN" altLang="en-US" dirty="0">
                <a:latin typeface="Times New Roman" panose="02020603050405020304" pitchFamily="18" charset="0"/>
                <a:cs typeface="Times New Roman" panose="02020603050405020304" pitchFamily="18" charset="0"/>
              </a:rPr>
              <a:t>指令之后立即使用取到的数据</a:t>
            </a:r>
            <a:endParaRPr lang="en-US" altLang="en-US" dirty="0">
              <a:latin typeface="Times New Roman" panose="02020603050405020304" pitchFamily="18" charset="0"/>
              <a:cs typeface="Times New Roman" panose="02020603050405020304" pitchFamily="18" charset="0"/>
            </a:endParaRPr>
          </a:p>
          <a:p>
            <a:pPr eaLnBrk="1" hangingPunct="1"/>
            <a:r>
              <a:rPr lang="en-US" altLang="en-US" dirty="0">
                <a:latin typeface="Times New Roman" panose="02020603050405020304" pitchFamily="18" charset="0"/>
                <a:cs typeface="Times New Roman" panose="02020603050405020304" pitchFamily="18" charset="0"/>
              </a:rPr>
              <a:t>C code: a = b + e; c = b + f;</a:t>
            </a:r>
            <a:endParaRPr lang="en-AU"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8EE8E787-E6FE-45D8-9039-788B45E44EE7}" type="slidenum">
              <a:rPr lang="zh-CN" altLang="en-US" smtClean="0"/>
              <a:t>15</a:t>
            </a:fld>
            <a:endParaRPr lang="zh-CN" altLang="en-US" dirty="0"/>
          </a:p>
        </p:txBody>
      </p:sp>
      <p:sp>
        <p:nvSpPr>
          <p:cNvPr id="85001" name="Line 8"/>
          <p:cNvSpPr>
            <a:spLocks noChangeShapeType="1"/>
          </p:cNvSpPr>
          <p:nvPr/>
        </p:nvSpPr>
        <p:spPr bwMode="auto">
          <a:xfrm flipV="1">
            <a:off x="6522178" y="3747535"/>
            <a:ext cx="428628" cy="820100"/>
          </a:xfrm>
          <a:prstGeom prst="line">
            <a:avLst/>
          </a:prstGeom>
          <a:noFill/>
          <a:ln w="28575">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9" name="组合 8"/>
          <p:cNvGrpSpPr/>
          <p:nvPr/>
        </p:nvGrpSpPr>
        <p:grpSpPr>
          <a:xfrm>
            <a:off x="6981825" y="2559050"/>
            <a:ext cx="3486150" cy="3789584"/>
            <a:chOff x="6981825" y="2559050"/>
            <a:chExt cx="3486150" cy="3789584"/>
          </a:xfrm>
        </p:grpSpPr>
        <p:sp>
          <p:nvSpPr>
            <p:cNvPr id="85000" name="Text Box 7"/>
            <p:cNvSpPr txBox="1">
              <a:spLocks noChangeArrowheads="1"/>
            </p:cNvSpPr>
            <p:nvPr/>
          </p:nvSpPr>
          <p:spPr bwMode="auto">
            <a:xfrm>
              <a:off x="6981825" y="2559050"/>
              <a:ext cx="3486150" cy="3120854"/>
            </a:xfrm>
            <a:prstGeom prst="rect">
              <a:avLst/>
            </a:prstGeom>
            <a:solidFill>
              <a:schemeClr val="bg1"/>
            </a:solidFill>
            <a:ln>
              <a:noFill/>
            </a:ln>
          </p:spPr>
          <p:txBody>
            <a:bodyPr wrap="square">
              <a:spAutoFit/>
            </a:bodyPr>
            <a:lstStyle>
              <a:lvl1pPr defTabSz="62865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defTabSz="6286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defTabSz="62865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defTabSz="62865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defTabSz="62865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buClrTx/>
                <a:buSzTx/>
                <a:buFontTx/>
                <a:buNone/>
              </a:pPr>
              <a:r>
                <a:rPr lang="en-US" altLang="en-US" sz="2400" dirty="0" err="1">
                  <a:latin typeface="Lucida Console" panose="020B0609040504020204" pitchFamily="49" charset="0"/>
                </a:rPr>
                <a:t>ld</a:t>
              </a:r>
              <a:r>
                <a:rPr lang="en-US" altLang="en-US" sz="2400" dirty="0">
                  <a:latin typeface="Lucida Console" panose="020B0609040504020204" pitchFamily="49" charset="0"/>
                </a:rPr>
                <a:t>		x1, 0(x0)</a:t>
              </a:r>
            </a:p>
            <a:p>
              <a:pPr>
                <a:buClrTx/>
                <a:buSzTx/>
                <a:buFontTx/>
                <a:buNone/>
              </a:pPr>
              <a:r>
                <a:rPr lang="en-US" altLang="en-US" sz="2400" dirty="0" err="1">
                  <a:latin typeface="Lucida Console" panose="020B0609040504020204" pitchFamily="49" charset="0"/>
                </a:rPr>
                <a:t>ld</a:t>
              </a:r>
              <a:r>
                <a:rPr lang="en-US" altLang="en-US" sz="2400" dirty="0">
                  <a:latin typeface="Lucida Console" panose="020B0609040504020204" pitchFamily="49" charset="0"/>
                </a:rPr>
                <a:t>		x2, 8(x0)</a:t>
              </a:r>
            </a:p>
            <a:p>
              <a:pPr>
                <a:buClrTx/>
                <a:buSzTx/>
                <a:buFont typeface="Wingdings" panose="05000000000000000000" pitchFamily="2" charset="2"/>
                <a:buNone/>
              </a:pPr>
              <a:r>
                <a:rPr lang="en-US" altLang="en-US" sz="2400" dirty="0" err="1">
                  <a:latin typeface="Lucida Console" panose="020B0609040504020204" pitchFamily="49" charset="0"/>
                </a:rPr>
                <a:t>ld</a:t>
              </a:r>
              <a:r>
                <a:rPr lang="en-US" altLang="en-US" sz="2400" dirty="0">
                  <a:latin typeface="Lucida Console" panose="020B0609040504020204" pitchFamily="49" charset="0"/>
                </a:rPr>
                <a:t>		x4, 16(x0)</a:t>
              </a:r>
            </a:p>
            <a:p>
              <a:pPr>
                <a:buClrTx/>
                <a:buSzTx/>
                <a:buFontTx/>
                <a:buNone/>
              </a:pPr>
              <a:r>
                <a:rPr lang="en-US" altLang="en-US" sz="2400" dirty="0">
                  <a:latin typeface="Lucida Console" panose="020B0609040504020204" pitchFamily="49" charset="0"/>
                </a:rPr>
                <a:t>add		x3, x1, x2</a:t>
              </a:r>
            </a:p>
            <a:p>
              <a:pPr>
                <a:buClrTx/>
                <a:buSzTx/>
                <a:buFontTx/>
                <a:buNone/>
              </a:pPr>
              <a:r>
                <a:rPr lang="en-US" altLang="en-US" sz="2400" dirty="0" err="1">
                  <a:latin typeface="Lucida Console" panose="020B0609040504020204" pitchFamily="49" charset="0"/>
                </a:rPr>
                <a:t>sd</a:t>
              </a:r>
              <a:r>
                <a:rPr lang="en-US" altLang="en-US" sz="2400" dirty="0">
                  <a:latin typeface="Lucida Console" panose="020B0609040504020204" pitchFamily="49" charset="0"/>
                </a:rPr>
                <a:t>		x3, 24(x0)</a:t>
              </a:r>
            </a:p>
            <a:p>
              <a:pPr>
                <a:buClrTx/>
                <a:buSzTx/>
                <a:buFontTx/>
                <a:buNone/>
              </a:pPr>
              <a:r>
                <a:rPr lang="en-US" altLang="en-US" sz="2400" dirty="0">
                  <a:latin typeface="Lucida Console" panose="020B0609040504020204" pitchFamily="49" charset="0"/>
                </a:rPr>
                <a:t>add		x5, x1, x4</a:t>
              </a:r>
            </a:p>
            <a:p>
              <a:pPr>
                <a:buClrTx/>
                <a:buSzTx/>
                <a:buFontTx/>
                <a:buNone/>
              </a:pPr>
              <a:r>
                <a:rPr lang="en-US" altLang="en-US" sz="2400" dirty="0" err="1">
                  <a:latin typeface="Lucida Console" panose="020B0609040504020204" pitchFamily="49" charset="0"/>
                </a:rPr>
                <a:t>sd</a:t>
              </a:r>
              <a:r>
                <a:rPr lang="en-US" altLang="en-US" sz="2400" dirty="0">
                  <a:latin typeface="Lucida Console" panose="020B0609040504020204" pitchFamily="49" charset="0"/>
                </a:rPr>
                <a:t>		x5, 32(x0)</a:t>
              </a:r>
              <a:endParaRPr lang="en-AU" altLang="en-US" sz="2400" dirty="0">
                <a:latin typeface="Lucida Console" panose="020B0609040504020204" pitchFamily="49" charset="0"/>
              </a:endParaRPr>
            </a:p>
          </p:txBody>
        </p:sp>
        <p:sp>
          <p:nvSpPr>
            <p:cNvPr id="85014" name="Text Box 21"/>
            <p:cNvSpPr txBox="1">
              <a:spLocks noChangeArrowheads="1"/>
            </p:cNvSpPr>
            <p:nvPr/>
          </p:nvSpPr>
          <p:spPr bwMode="auto">
            <a:xfrm>
              <a:off x="8409781" y="5886969"/>
              <a:ext cx="1655761" cy="461665"/>
            </a:xfrm>
            <a:prstGeom prst="rect">
              <a:avLst/>
            </a:prstGeom>
            <a:solidFill>
              <a:schemeClr val="accent1">
                <a:lumMod val="20000"/>
                <a:lumOff val="80000"/>
              </a:schemeClr>
            </a:solidFill>
            <a:ln w="9525">
              <a:solidFill>
                <a:schemeClr val="tx1"/>
              </a:solidFill>
              <a:miter lim="800000"/>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2400" dirty="0"/>
                <a:t>11 cycles</a:t>
              </a:r>
              <a:endParaRPr lang="en-AU" altLang="en-US" sz="2400" dirty="0"/>
            </a:p>
          </p:txBody>
        </p:sp>
      </p:grpSp>
      <p:sp>
        <p:nvSpPr>
          <p:cNvPr id="3" name="标题 2"/>
          <p:cNvSpPr>
            <a:spLocks noGrp="1"/>
          </p:cNvSpPr>
          <p:nvPr>
            <p:ph type="title"/>
          </p:nvPr>
        </p:nvSpPr>
        <p:spPr/>
        <p:txBody>
          <a:bodyPr/>
          <a:lstStyle/>
          <a:p>
            <a:r>
              <a:rPr lang="zh-CN" altLang="en-US" dirty="0"/>
              <a:t>重排代码以避免流水线停顿</a:t>
            </a:r>
          </a:p>
        </p:txBody>
      </p:sp>
      <p:grpSp>
        <p:nvGrpSpPr>
          <p:cNvPr id="10" name="组合 9"/>
          <p:cNvGrpSpPr/>
          <p:nvPr/>
        </p:nvGrpSpPr>
        <p:grpSpPr>
          <a:xfrm>
            <a:off x="1531676" y="2559050"/>
            <a:ext cx="4956436" cy="3839750"/>
            <a:chOff x="1531676" y="2559050"/>
            <a:chExt cx="4956436" cy="3839750"/>
          </a:xfrm>
        </p:grpSpPr>
        <p:sp>
          <p:nvSpPr>
            <p:cNvPr id="85015" name="Text Box 22"/>
            <p:cNvSpPr txBox="1">
              <a:spLocks noChangeArrowheads="1"/>
            </p:cNvSpPr>
            <p:nvPr/>
          </p:nvSpPr>
          <p:spPr bwMode="auto">
            <a:xfrm>
              <a:off x="4564065" y="5937135"/>
              <a:ext cx="1608136" cy="461665"/>
            </a:xfrm>
            <a:prstGeom prst="rect">
              <a:avLst/>
            </a:prstGeom>
            <a:solidFill>
              <a:schemeClr val="accent1">
                <a:lumMod val="20000"/>
                <a:lumOff val="80000"/>
              </a:schemeClr>
            </a:solidFill>
            <a:ln w="9525">
              <a:solidFill>
                <a:schemeClr val="tx1"/>
              </a:solidFill>
              <a:miter lim="800000"/>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2400" dirty="0"/>
                <a:t>13 cycles</a:t>
              </a:r>
              <a:endParaRPr lang="en-AU" altLang="en-US" sz="2400" dirty="0"/>
            </a:p>
          </p:txBody>
        </p:sp>
        <p:grpSp>
          <p:nvGrpSpPr>
            <p:cNvPr id="2" name="组合 1"/>
            <p:cNvGrpSpPr/>
            <p:nvPr/>
          </p:nvGrpSpPr>
          <p:grpSpPr>
            <a:xfrm>
              <a:off x="1531676" y="2559050"/>
              <a:ext cx="4956436" cy="3120854"/>
              <a:chOff x="1531676" y="2559050"/>
              <a:chExt cx="4956436" cy="3120854"/>
            </a:xfrm>
          </p:grpSpPr>
          <p:sp>
            <p:nvSpPr>
              <p:cNvPr id="84997" name="Text Box 4"/>
              <p:cNvSpPr txBox="1">
                <a:spLocks noChangeArrowheads="1"/>
              </p:cNvSpPr>
              <p:nvPr/>
            </p:nvSpPr>
            <p:spPr bwMode="auto">
              <a:xfrm>
                <a:off x="3189289" y="2559050"/>
                <a:ext cx="3298823" cy="3120854"/>
              </a:xfrm>
              <a:prstGeom prst="rect">
                <a:avLst/>
              </a:prstGeom>
              <a:solidFill>
                <a:schemeClr val="bg1"/>
              </a:solidFill>
              <a:ln>
                <a:noFill/>
              </a:ln>
            </p:spPr>
            <p:txBody>
              <a:bodyPr wrap="square">
                <a:spAutoFit/>
              </a:bodyPr>
              <a:lstStyle>
                <a:lvl1pPr defTabSz="62865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defTabSz="6286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defTabSz="62865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defTabSz="62865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defTabSz="62865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defTabSz="62865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buClrTx/>
                  <a:buSzTx/>
                  <a:buFontTx/>
                  <a:buNone/>
                </a:pPr>
                <a:r>
                  <a:rPr lang="en-US" altLang="en-US" sz="2400" dirty="0" err="1">
                    <a:latin typeface="Lucida Console" panose="020B0609040504020204" pitchFamily="49" charset="0"/>
                  </a:rPr>
                  <a:t>ld</a:t>
                </a:r>
                <a:r>
                  <a:rPr lang="en-US" altLang="en-US" sz="2400" dirty="0">
                    <a:latin typeface="Lucida Console" panose="020B0609040504020204" pitchFamily="49" charset="0"/>
                  </a:rPr>
                  <a:t>		x1, 0(x0)</a:t>
                </a:r>
              </a:p>
              <a:p>
                <a:pPr>
                  <a:buClrTx/>
                  <a:buSzTx/>
                  <a:buFontTx/>
                  <a:buNone/>
                </a:pPr>
                <a:r>
                  <a:rPr lang="en-US" altLang="en-US" sz="2400" dirty="0" err="1">
                    <a:latin typeface="Lucida Console" panose="020B0609040504020204" pitchFamily="49" charset="0"/>
                  </a:rPr>
                  <a:t>ld</a:t>
                </a:r>
                <a:r>
                  <a:rPr lang="en-US" altLang="en-US" sz="2400" dirty="0">
                    <a:latin typeface="Lucida Console" panose="020B0609040504020204" pitchFamily="49" charset="0"/>
                  </a:rPr>
                  <a:t>		x2, 8(x0)</a:t>
                </a:r>
              </a:p>
              <a:p>
                <a:pPr>
                  <a:buClrTx/>
                  <a:buSzTx/>
                  <a:buFontTx/>
                  <a:buNone/>
                </a:pPr>
                <a:r>
                  <a:rPr lang="en-US" altLang="en-US" sz="2400" dirty="0">
                    <a:latin typeface="Lucida Console" panose="020B0609040504020204" pitchFamily="49" charset="0"/>
                  </a:rPr>
                  <a:t>add		x3, x1, x2</a:t>
                </a:r>
              </a:p>
              <a:p>
                <a:pPr>
                  <a:buClrTx/>
                  <a:buSzTx/>
                  <a:buFontTx/>
                  <a:buNone/>
                </a:pPr>
                <a:r>
                  <a:rPr lang="en-US" altLang="en-US" sz="2400" dirty="0" err="1">
                    <a:latin typeface="Lucida Console" panose="020B0609040504020204" pitchFamily="49" charset="0"/>
                  </a:rPr>
                  <a:t>sd</a:t>
                </a:r>
                <a:r>
                  <a:rPr lang="en-US" altLang="en-US" sz="2400" dirty="0">
                    <a:latin typeface="Lucida Console" panose="020B0609040504020204" pitchFamily="49" charset="0"/>
                  </a:rPr>
                  <a:t>		x3, 24(x0)</a:t>
                </a:r>
              </a:p>
              <a:p>
                <a:pPr>
                  <a:buClrTx/>
                  <a:buSzTx/>
                  <a:buFont typeface="Wingdings" panose="05000000000000000000" pitchFamily="2" charset="2"/>
                  <a:buNone/>
                </a:pPr>
                <a:r>
                  <a:rPr lang="en-US" altLang="en-US" sz="2400" dirty="0" err="1">
                    <a:latin typeface="Lucida Console" panose="020B0609040504020204" pitchFamily="49" charset="0"/>
                  </a:rPr>
                  <a:t>ld</a:t>
                </a:r>
                <a:r>
                  <a:rPr lang="en-US" altLang="en-US" sz="2400" dirty="0">
                    <a:latin typeface="Lucida Console" panose="020B0609040504020204" pitchFamily="49" charset="0"/>
                  </a:rPr>
                  <a:t>		x4, 16(x0)</a:t>
                </a:r>
              </a:p>
              <a:p>
                <a:pPr>
                  <a:buClrTx/>
                  <a:buSzTx/>
                  <a:buFontTx/>
                  <a:buNone/>
                </a:pPr>
                <a:r>
                  <a:rPr lang="en-US" altLang="en-US" sz="2400" dirty="0">
                    <a:latin typeface="Lucida Console" panose="020B0609040504020204" pitchFamily="49" charset="0"/>
                  </a:rPr>
                  <a:t>add		x5, x1, x4</a:t>
                </a:r>
              </a:p>
              <a:p>
                <a:pPr>
                  <a:buClrTx/>
                  <a:buSzTx/>
                  <a:buFontTx/>
                  <a:buNone/>
                </a:pPr>
                <a:r>
                  <a:rPr lang="en-US" altLang="en-US" sz="2400" dirty="0" err="1">
                    <a:latin typeface="Lucida Console" panose="020B0609040504020204" pitchFamily="49" charset="0"/>
                  </a:rPr>
                  <a:t>sd</a:t>
                </a:r>
                <a:r>
                  <a:rPr lang="en-US" altLang="en-US" sz="2400" dirty="0">
                    <a:latin typeface="Lucida Console" panose="020B0609040504020204" pitchFamily="49" charset="0"/>
                  </a:rPr>
                  <a:t>		x5, 32(x0)</a:t>
                </a:r>
                <a:endParaRPr lang="en-AU" altLang="en-US" sz="2400" dirty="0">
                  <a:latin typeface="Lucida Console" panose="020B0609040504020204" pitchFamily="49" charset="0"/>
                </a:endParaRPr>
              </a:p>
            </p:txBody>
          </p:sp>
          <p:sp>
            <p:nvSpPr>
              <p:cNvPr id="28" name="Text Box 22"/>
              <p:cNvSpPr txBox="1">
                <a:spLocks noChangeArrowheads="1"/>
              </p:cNvSpPr>
              <p:nvPr/>
            </p:nvSpPr>
            <p:spPr bwMode="auto">
              <a:xfrm>
                <a:off x="1544246" y="3256260"/>
                <a:ext cx="903286" cy="461665"/>
              </a:xfrm>
              <a:prstGeom prst="rect">
                <a:avLst/>
              </a:prstGeom>
              <a:solidFill>
                <a:schemeClr val="accent1">
                  <a:lumMod val="20000"/>
                  <a:lumOff val="80000"/>
                </a:schemeClr>
              </a:solidFill>
              <a:ln w="9525">
                <a:solidFill>
                  <a:schemeClr val="tx1"/>
                </a:solidFill>
                <a:miter lim="800000"/>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2400" dirty="0"/>
                  <a:t>stall</a:t>
                </a:r>
                <a:endParaRPr lang="en-AU" altLang="en-US" sz="2400" dirty="0"/>
              </a:p>
            </p:txBody>
          </p:sp>
          <p:cxnSp>
            <p:nvCxnSpPr>
              <p:cNvPr id="8" name="直接箭头连接符 7"/>
              <p:cNvCxnSpPr/>
              <p:nvPr/>
            </p:nvCxnSpPr>
            <p:spPr>
              <a:xfrm flipV="1">
                <a:off x="2483250" y="3498848"/>
                <a:ext cx="770729" cy="1"/>
              </a:xfrm>
              <a:prstGeom prst="straightConnector1">
                <a:avLst/>
              </a:prstGeom>
              <a:ln w="60325">
                <a:tailEnd type="triangle"/>
              </a:ln>
            </p:spPr>
            <p:style>
              <a:lnRef idx="1">
                <a:schemeClr val="accent1"/>
              </a:lnRef>
              <a:fillRef idx="0">
                <a:schemeClr val="accent1"/>
              </a:fillRef>
              <a:effectRef idx="0">
                <a:schemeClr val="accent1"/>
              </a:effectRef>
              <a:fontRef idx="minor">
                <a:schemeClr val="tx1"/>
              </a:fontRef>
            </p:style>
          </p:cxnSp>
          <p:sp>
            <p:nvSpPr>
              <p:cNvPr id="32" name="Text Box 22"/>
              <p:cNvSpPr txBox="1">
                <a:spLocks noChangeArrowheads="1"/>
              </p:cNvSpPr>
              <p:nvPr/>
            </p:nvSpPr>
            <p:spPr bwMode="auto">
              <a:xfrm>
                <a:off x="1531676" y="4513065"/>
                <a:ext cx="903286" cy="461665"/>
              </a:xfrm>
              <a:prstGeom prst="rect">
                <a:avLst/>
              </a:prstGeom>
              <a:solidFill>
                <a:schemeClr val="accent1">
                  <a:lumMod val="20000"/>
                  <a:lumOff val="80000"/>
                </a:schemeClr>
              </a:solidFill>
              <a:ln w="9525">
                <a:solidFill>
                  <a:schemeClr val="tx1"/>
                </a:solidFill>
                <a:miter lim="800000"/>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2400" dirty="0"/>
                  <a:t>stall</a:t>
                </a:r>
                <a:endParaRPr lang="en-AU" altLang="en-US" sz="2400" dirty="0"/>
              </a:p>
            </p:txBody>
          </p:sp>
          <p:cxnSp>
            <p:nvCxnSpPr>
              <p:cNvPr id="33" name="直接箭头连接符 32"/>
              <p:cNvCxnSpPr/>
              <p:nvPr/>
            </p:nvCxnSpPr>
            <p:spPr>
              <a:xfrm flipV="1">
                <a:off x="2483249" y="4769248"/>
                <a:ext cx="770729" cy="1"/>
              </a:xfrm>
              <a:prstGeom prst="straightConnector1">
                <a:avLst/>
              </a:prstGeom>
              <a:ln w="60325">
                <a:tailEnd type="triangle"/>
              </a:ln>
            </p:spPr>
            <p:style>
              <a:lnRef idx="1">
                <a:schemeClr val="accent1"/>
              </a:lnRef>
              <a:fillRef idx="0">
                <a:schemeClr val="accent1"/>
              </a:fillRef>
              <a:effectRef idx="0">
                <a:schemeClr val="accent1"/>
              </a:effectRef>
              <a:fontRef idx="minor">
                <a:schemeClr val="tx1"/>
              </a:fontRef>
            </p:style>
          </p:cxnSp>
        </p:grpSp>
      </p:grpSp>
      <p:grpSp>
        <p:nvGrpSpPr>
          <p:cNvPr id="6" name="组合 5"/>
          <p:cNvGrpSpPr/>
          <p:nvPr/>
        </p:nvGrpSpPr>
        <p:grpSpPr>
          <a:xfrm>
            <a:off x="4357962" y="3040462"/>
            <a:ext cx="2254855" cy="2196802"/>
            <a:chOff x="10620375" y="1303027"/>
            <a:chExt cx="2254855" cy="2196802"/>
          </a:xfrm>
        </p:grpSpPr>
        <p:sp>
          <p:nvSpPr>
            <p:cNvPr id="85002" name="Oval 9"/>
            <p:cNvSpPr>
              <a:spLocks noChangeArrowheads="1"/>
            </p:cNvSpPr>
            <p:nvPr/>
          </p:nvSpPr>
          <p:spPr bwMode="auto">
            <a:xfrm>
              <a:off x="10639425" y="1303027"/>
              <a:ext cx="647700" cy="431800"/>
            </a:xfrm>
            <a:prstGeom prst="ellipse">
              <a:avLst/>
            </a:prstGeom>
            <a:solidFill>
              <a:srgbClr val="FFFFFF"/>
            </a:solidFill>
            <a:ln w="19050">
              <a:solidFill>
                <a:srgbClr val="FF0000"/>
              </a:solidFill>
              <a:rou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en-US" sz="1600"/>
            </a:p>
          </p:txBody>
        </p:sp>
        <p:sp>
          <p:nvSpPr>
            <p:cNvPr id="85003" name="Oval 10"/>
            <p:cNvSpPr>
              <a:spLocks noChangeArrowheads="1"/>
            </p:cNvSpPr>
            <p:nvPr/>
          </p:nvSpPr>
          <p:spPr bwMode="auto">
            <a:xfrm>
              <a:off x="12095163" y="1734827"/>
              <a:ext cx="647700" cy="431800"/>
            </a:xfrm>
            <a:prstGeom prst="ellipse">
              <a:avLst/>
            </a:prstGeom>
            <a:solidFill>
              <a:srgbClr val="FFFFFF"/>
            </a:solidFill>
            <a:ln w="19050">
              <a:solidFill>
                <a:srgbClr val="FF0000"/>
              </a:solidFill>
              <a:rou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en-US" sz="1600" dirty="0"/>
            </a:p>
          </p:txBody>
        </p:sp>
        <p:sp>
          <p:nvSpPr>
            <p:cNvPr id="85004" name="Oval 11"/>
            <p:cNvSpPr>
              <a:spLocks noChangeArrowheads="1"/>
            </p:cNvSpPr>
            <p:nvPr/>
          </p:nvSpPr>
          <p:spPr bwMode="auto">
            <a:xfrm>
              <a:off x="10620375" y="2606364"/>
              <a:ext cx="647700" cy="431800"/>
            </a:xfrm>
            <a:prstGeom prst="ellipse">
              <a:avLst/>
            </a:prstGeom>
            <a:solidFill>
              <a:srgbClr val="FFFFFF"/>
            </a:solidFill>
            <a:ln w="19050">
              <a:solidFill>
                <a:srgbClr val="FF0000"/>
              </a:solidFill>
              <a:rou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en-US" sz="1600"/>
            </a:p>
          </p:txBody>
        </p:sp>
        <p:sp>
          <p:nvSpPr>
            <p:cNvPr id="85005" name="Oval 12"/>
            <p:cNvSpPr>
              <a:spLocks noChangeArrowheads="1"/>
            </p:cNvSpPr>
            <p:nvPr/>
          </p:nvSpPr>
          <p:spPr bwMode="auto">
            <a:xfrm>
              <a:off x="12095163" y="3031814"/>
              <a:ext cx="647700" cy="431800"/>
            </a:xfrm>
            <a:prstGeom prst="ellipse">
              <a:avLst/>
            </a:prstGeom>
            <a:solidFill>
              <a:srgbClr val="FFFFFF"/>
            </a:solidFill>
            <a:ln w="19050">
              <a:solidFill>
                <a:srgbClr val="FF0000"/>
              </a:solidFill>
              <a:rou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en-US" sz="1600"/>
            </a:p>
          </p:txBody>
        </p:sp>
        <p:sp>
          <p:nvSpPr>
            <p:cNvPr id="85010" name="Line 17"/>
            <p:cNvSpPr>
              <a:spLocks noChangeShapeType="1"/>
            </p:cNvSpPr>
            <p:nvPr/>
          </p:nvSpPr>
          <p:spPr bwMode="auto">
            <a:xfrm>
              <a:off x="11287125" y="1552561"/>
              <a:ext cx="808038" cy="398162"/>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5011" name="Line 18"/>
            <p:cNvSpPr>
              <a:spLocks noChangeShapeType="1"/>
            </p:cNvSpPr>
            <p:nvPr/>
          </p:nvSpPr>
          <p:spPr bwMode="auto">
            <a:xfrm>
              <a:off x="11272611" y="2830200"/>
              <a:ext cx="808038" cy="43180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 name="文本框 28"/>
            <p:cNvSpPr txBox="1"/>
            <p:nvPr/>
          </p:nvSpPr>
          <p:spPr>
            <a:xfrm>
              <a:off x="10718158" y="1303797"/>
              <a:ext cx="688844" cy="461665"/>
            </a:xfrm>
            <a:prstGeom prst="rect">
              <a:avLst/>
            </a:prstGeom>
            <a:noFill/>
          </p:spPr>
          <p:txBody>
            <a:bodyPr wrap="square">
              <a:spAutoFit/>
            </a:bodyPr>
            <a:lstStyle/>
            <a:p>
              <a:r>
                <a:rPr lang="en-US" altLang="en-US" sz="2400" dirty="0">
                  <a:solidFill>
                    <a:srgbClr val="FF0000"/>
                  </a:solidFill>
                  <a:latin typeface="Lucida Console" panose="020B0609040504020204" pitchFamily="49" charset="0"/>
                </a:rPr>
                <a:t>x2</a:t>
              </a:r>
              <a:endParaRPr lang="zh-CN" altLang="en-US" sz="2400" dirty="0">
                <a:solidFill>
                  <a:srgbClr val="FF0000"/>
                </a:solidFill>
              </a:endParaRPr>
            </a:p>
          </p:txBody>
        </p:sp>
        <p:sp>
          <p:nvSpPr>
            <p:cNvPr id="30" name="文本框 29"/>
            <p:cNvSpPr txBox="1"/>
            <p:nvPr/>
          </p:nvSpPr>
          <p:spPr>
            <a:xfrm>
              <a:off x="12147872" y="3038164"/>
              <a:ext cx="688844" cy="461665"/>
            </a:xfrm>
            <a:prstGeom prst="rect">
              <a:avLst/>
            </a:prstGeom>
            <a:noFill/>
          </p:spPr>
          <p:txBody>
            <a:bodyPr wrap="square">
              <a:spAutoFit/>
            </a:bodyPr>
            <a:lstStyle/>
            <a:p>
              <a:r>
                <a:rPr lang="en-US" altLang="en-US" sz="2400" dirty="0">
                  <a:solidFill>
                    <a:srgbClr val="FF0000"/>
                  </a:solidFill>
                  <a:latin typeface="Lucida Console" panose="020B0609040504020204" pitchFamily="49" charset="0"/>
                </a:rPr>
                <a:t>x4</a:t>
              </a:r>
              <a:endParaRPr lang="zh-CN" altLang="en-US" sz="2400" dirty="0">
                <a:solidFill>
                  <a:srgbClr val="FF0000"/>
                </a:solidFill>
              </a:endParaRPr>
            </a:p>
          </p:txBody>
        </p:sp>
        <p:sp>
          <p:nvSpPr>
            <p:cNvPr id="31" name="文本框 30"/>
            <p:cNvSpPr txBox="1"/>
            <p:nvPr/>
          </p:nvSpPr>
          <p:spPr>
            <a:xfrm>
              <a:off x="10705065" y="2598949"/>
              <a:ext cx="688844" cy="461665"/>
            </a:xfrm>
            <a:prstGeom prst="rect">
              <a:avLst/>
            </a:prstGeom>
            <a:noFill/>
          </p:spPr>
          <p:txBody>
            <a:bodyPr wrap="square">
              <a:spAutoFit/>
            </a:bodyPr>
            <a:lstStyle/>
            <a:p>
              <a:r>
                <a:rPr lang="en-US" altLang="en-US" sz="2400" dirty="0">
                  <a:solidFill>
                    <a:srgbClr val="FF0000"/>
                  </a:solidFill>
                  <a:latin typeface="Lucida Console" panose="020B0609040504020204" pitchFamily="49" charset="0"/>
                </a:rPr>
                <a:t>x4</a:t>
              </a:r>
              <a:endParaRPr lang="zh-CN" altLang="en-US" sz="2400" dirty="0">
                <a:solidFill>
                  <a:srgbClr val="FF0000"/>
                </a:solidFill>
              </a:endParaRPr>
            </a:p>
          </p:txBody>
        </p:sp>
        <p:sp>
          <p:nvSpPr>
            <p:cNvPr id="34" name="文本框 33"/>
            <p:cNvSpPr txBox="1"/>
            <p:nvPr/>
          </p:nvSpPr>
          <p:spPr>
            <a:xfrm>
              <a:off x="12186386" y="1724207"/>
              <a:ext cx="688844" cy="461665"/>
            </a:xfrm>
            <a:prstGeom prst="rect">
              <a:avLst/>
            </a:prstGeom>
            <a:noFill/>
          </p:spPr>
          <p:txBody>
            <a:bodyPr wrap="square">
              <a:spAutoFit/>
            </a:bodyPr>
            <a:lstStyle/>
            <a:p>
              <a:r>
                <a:rPr lang="en-US" altLang="en-US" sz="2400" dirty="0">
                  <a:solidFill>
                    <a:srgbClr val="FF0000"/>
                  </a:solidFill>
                  <a:latin typeface="Lucida Console" panose="020B0609040504020204" pitchFamily="49" charset="0"/>
                </a:rPr>
                <a:t>x2</a:t>
              </a:r>
              <a:endParaRPr lang="zh-CN" altLang="en-US" sz="2400" dirty="0">
                <a:solidFill>
                  <a:srgbClr val="FF0000"/>
                </a:solidFill>
              </a:endParaRPr>
            </a:p>
          </p:txBody>
        </p:sp>
      </p:grpSp>
      <p:grpSp>
        <p:nvGrpSpPr>
          <p:cNvPr id="7" name="组合 6"/>
          <p:cNvGrpSpPr/>
          <p:nvPr/>
        </p:nvGrpSpPr>
        <p:grpSpPr>
          <a:xfrm>
            <a:off x="8192118" y="2996373"/>
            <a:ext cx="2423395" cy="2246207"/>
            <a:chOff x="11144574" y="1946287"/>
            <a:chExt cx="2423395" cy="2246207"/>
          </a:xfrm>
        </p:grpSpPr>
        <p:sp>
          <p:nvSpPr>
            <p:cNvPr id="85006" name="Oval 13"/>
            <p:cNvSpPr>
              <a:spLocks noChangeArrowheads="1"/>
            </p:cNvSpPr>
            <p:nvPr/>
          </p:nvSpPr>
          <p:spPr bwMode="auto">
            <a:xfrm>
              <a:off x="11144574" y="1980657"/>
              <a:ext cx="647700" cy="431800"/>
            </a:xfrm>
            <a:prstGeom prst="ellipse">
              <a:avLst/>
            </a:prstGeom>
            <a:solidFill>
              <a:srgbClr val="FFFFFF"/>
            </a:solidFill>
            <a:ln w="19050">
              <a:solidFill>
                <a:srgbClr val="FF0000"/>
              </a:solidFill>
              <a:rou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en-US" sz="1600"/>
            </a:p>
          </p:txBody>
        </p:sp>
        <p:sp>
          <p:nvSpPr>
            <p:cNvPr id="85007" name="Oval 14"/>
            <p:cNvSpPr>
              <a:spLocks noChangeArrowheads="1"/>
            </p:cNvSpPr>
            <p:nvPr/>
          </p:nvSpPr>
          <p:spPr bwMode="auto">
            <a:xfrm>
              <a:off x="12608249" y="2870145"/>
              <a:ext cx="647700" cy="431800"/>
            </a:xfrm>
            <a:prstGeom prst="ellipse">
              <a:avLst/>
            </a:prstGeom>
            <a:solidFill>
              <a:srgbClr val="FFFFFF"/>
            </a:solidFill>
            <a:ln w="19050">
              <a:solidFill>
                <a:srgbClr val="FF0000"/>
              </a:solidFill>
              <a:rou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en-US" sz="1600"/>
            </a:p>
          </p:txBody>
        </p:sp>
        <p:sp>
          <p:nvSpPr>
            <p:cNvPr id="85008" name="Oval 15"/>
            <p:cNvSpPr>
              <a:spLocks noChangeArrowheads="1"/>
            </p:cNvSpPr>
            <p:nvPr/>
          </p:nvSpPr>
          <p:spPr bwMode="auto">
            <a:xfrm>
              <a:off x="12627299" y="3736604"/>
              <a:ext cx="647700" cy="431800"/>
            </a:xfrm>
            <a:prstGeom prst="ellipse">
              <a:avLst/>
            </a:prstGeom>
            <a:solidFill>
              <a:srgbClr val="FFFFFF"/>
            </a:solidFill>
            <a:ln w="19050">
              <a:solidFill>
                <a:srgbClr val="FF0000"/>
              </a:solidFill>
              <a:rou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en-US" sz="1600"/>
            </a:p>
          </p:txBody>
        </p:sp>
        <p:sp>
          <p:nvSpPr>
            <p:cNvPr id="85009" name="Oval 16"/>
            <p:cNvSpPr>
              <a:spLocks noChangeArrowheads="1"/>
            </p:cNvSpPr>
            <p:nvPr/>
          </p:nvSpPr>
          <p:spPr bwMode="auto">
            <a:xfrm>
              <a:off x="11144574" y="2417219"/>
              <a:ext cx="647700" cy="431800"/>
            </a:xfrm>
            <a:prstGeom prst="ellipse">
              <a:avLst/>
            </a:prstGeom>
            <a:solidFill>
              <a:srgbClr val="FFFFFF"/>
            </a:solidFill>
            <a:ln w="19050">
              <a:solidFill>
                <a:srgbClr val="FF0000"/>
              </a:solidFill>
              <a:rou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en-US" sz="1600"/>
            </a:p>
          </p:txBody>
        </p:sp>
        <p:sp>
          <p:nvSpPr>
            <p:cNvPr id="85012" name="Line 19"/>
            <p:cNvSpPr>
              <a:spLocks noChangeShapeType="1"/>
            </p:cNvSpPr>
            <p:nvPr/>
          </p:nvSpPr>
          <p:spPr bwMode="auto">
            <a:xfrm>
              <a:off x="11798624" y="2210844"/>
              <a:ext cx="796925" cy="863599"/>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85013" name="Line 20"/>
            <p:cNvSpPr>
              <a:spLocks noChangeShapeType="1"/>
            </p:cNvSpPr>
            <p:nvPr/>
          </p:nvSpPr>
          <p:spPr bwMode="auto">
            <a:xfrm>
              <a:off x="11798624" y="2642642"/>
              <a:ext cx="819150" cy="1311276"/>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 name="文本框 34"/>
            <p:cNvSpPr txBox="1"/>
            <p:nvPr/>
          </p:nvSpPr>
          <p:spPr>
            <a:xfrm>
              <a:off x="11209188" y="1946287"/>
              <a:ext cx="688844" cy="461665"/>
            </a:xfrm>
            <a:prstGeom prst="rect">
              <a:avLst/>
            </a:prstGeom>
            <a:noFill/>
          </p:spPr>
          <p:txBody>
            <a:bodyPr wrap="square">
              <a:spAutoFit/>
            </a:bodyPr>
            <a:lstStyle/>
            <a:p>
              <a:r>
                <a:rPr lang="en-US" altLang="en-US" sz="2400" dirty="0">
                  <a:solidFill>
                    <a:srgbClr val="FF0000"/>
                  </a:solidFill>
                  <a:latin typeface="Lucida Console" panose="020B0609040504020204" pitchFamily="49" charset="0"/>
                </a:rPr>
                <a:t>x2</a:t>
              </a:r>
              <a:endParaRPr lang="zh-CN" altLang="en-US" sz="2400" dirty="0">
                <a:solidFill>
                  <a:srgbClr val="FF0000"/>
                </a:solidFill>
              </a:endParaRPr>
            </a:p>
          </p:txBody>
        </p:sp>
        <p:sp>
          <p:nvSpPr>
            <p:cNvPr id="36" name="文本框 35"/>
            <p:cNvSpPr txBox="1"/>
            <p:nvPr/>
          </p:nvSpPr>
          <p:spPr>
            <a:xfrm>
              <a:off x="11209188" y="2396378"/>
              <a:ext cx="688844" cy="461665"/>
            </a:xfrm>
            <a:prstGeom prst="rect">
              <a:avLst/>
            </a:prstGeom>
            <a:noFill/>
          </p:spPr>
          <p:txBody>
            <a:bodyPr wrap="square">
              <a:spAutoFit/>
            </a:bodyPr>
            <a:lstStyle/>
            <a:p>
              <a:r>
                <a:rPr lang="en-US" altLang="en-US" sz="2400" dirty="0">
                  <a:solidFill>
                    <a:srgbClr val="FF0000"/>
                  </a:solidFill>
                  <a:latin typeface="Lucida Console" panose="020B0609040504020204" pitchFamily="49" charset="0"/>
                </a:rPr>
                <a:t>x4</a:t>
              </a:r>
              <a:endParaRPr lang="zh-CN" altLang="en-US" sz="2400" dirty="0">
                <a:solidFill>
                  <a:srgbClr val="FF0000"/>
                </a:solidFill>
              </a:endParaRPr>
            </a:p>
          </p:txBody>
        </p:sp>
        <p:sp>
          <p:nvSpPr>
            <p:cNvPr id="37" name="文本框 36"/>
            <p:cNvSpPr txBox="1"/>
            <p:nvPr/>
          </p:nvSpPr>
          <p:spPr>
            <a:xfrm>
              <a:off x="12690938" y="3730829"/>
              <a:ext cx="688844" cy="461665"/>
            </a:xfrm>
            <a:prstGeom prst="rect">
              <a:avLst/>
            </a:prstGeom>
            <a:noFill/>
          </p:spPr>
          <p:txBody>
            <a:bodyPr wrap="square">
              <a:spAutoFit/>
            </a:bodyPr>
            <a:lstStyle/>
            <a:p>
              <a:r>
                <a:rPr lang="en-US" altLang="en-US" sz="2400" dirty="0">
                  <a:solidFill>
                    <a:srgbClr val="FF0000"/>
                  </a:solidFill>
                  <a:latin typeface="Lucida Console" panose="020B0609040504020204" pitchFamily="49" charset="0"/>
                </a:rPr>
                <a:t>x4</a:t>
              </a:r>
              <a:endParaRPr lang="zh-CN" altLang="en-US" sz="2400" dirty="0">
                <a:solidFill>
                  <a:srgbClr val="FF0000"/>
                </a:solidFill>
              </a:endParaRPr>
            </a:p>
          </p:txBody>
        </p:sp>
        <p:sp>
          <p:nvSpPr>
            <p:cNvPr id="38" name="文本框 37"/>
            <p:cNvSpPr txBox="1"/>
            <p:nvPr/>
          </p:nvSpPr>
          <p:spPr>
            <a:xfrm>
              <a:off x="12676269" y="2863533"/>
              <a:ext cx="891700" cy="461665"/>
            </a:xfrm>
            <a:prstGeom prst="rect">
              <a:avLst/>
            </a:prstGeom>
            <a:noFill/>
          </p:spPr>
          <p:txBody>
            <a:bodyPr wrap="square">
              <a:spAutoFit/>
            </a:bodyPr>
            <a:lstStyle/>
            <a:p>
              <a:r>
                <a:rPr lang="en-US" altLang="en-US" sz="2400" dirty="0">
                  <a:solidFill>
                    <a:srgbClr val="FF0000"/>
                  </a:solidFill>
                  <a:latin typeface="Lucida Console" panose="020B0609040504020204" pitchFamily="49" charset="0"/>
                </a:rPr>
                <a:t>x2</a:t>
              </a:r>
              <a:endParaRPr lang="zh-CN" altLang="en-US" sz="2400" dirty="0">
                <a:solidFill>
                  <a:srgbClr val="FF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4996">
                                            <p:txEl>
                                              <p:pRg st="1" end="1"/>
                                            </p:txEl>
                                          </p:spTgt>
                                        </p:tgtEl>
                                        <p:attrNameLst>
                                          <p:attrName>style.visibility</p:attrName>
                                        </p:attrNameLst>
                                      </p:cBhvr>
                                      <p:to>
                                        <p:strVal val="visible"/>
                                      </p:to>
                                    </p:set>
                                    <p:animEffect transition="in" filter="fade">
                                      <p:cBhvr>
                                        <p:cTn id="7" dur="500"/>
                                        <p:tgtEl>
                                          <p:spTgt spid="8499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5001"/>
                                        </p:tgtEl>
                                        <p:attrNameLst>
                                          <p:attrName>style.visibility</p:attrName>
                                        </p:attrNameLst>
                                      </p:cBhvr>
                                      <p:to>
                                        <p:strVal val="visible"/>
                                      </p:to>
                                    </p:set>
                                    <p:animEffect transition="in" filter="fade">
                                      <p:cBhvr>
                                        <p:cTn id="22" dur="500"/>
                                        <p:tgtEl>
                                          <p:spTgt spid="85001"/>
                                        </p:tgtEl>
                                      </p:cBhvr>
                                    </p:animEffect>
                                  </p:childTnLst>
                                </p:cTn>
                              </p:par>
                              <p:par>
                                <p:cTn id="23" presetID="10"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0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4" name="Rectangle 3"/>
          <p:cNvSpPr>
            <a:spLocks noGrp="1" noChangeArrowheads="1"/>
          </p:cNvSpPr>
          <p:nvPr>
            <p:ph idx="1"/>
          </p:nvPr>
        </p:nvSpPr>
        <p:spPr>
          <a:xfrm>
            <a:off x="838200" y="1009015"/>
            <a:ext cx="10515600" cy="5263515"/>
          </a:xfrm>
        </p:spPr>
        <p:txBody>
          <a:bodyPr>
            <a:normAutofit fontScale="92500"/>
          </a:bodyPr>
          <a:lstStyle/>
          <a:p>
            <a:pPr>
              <a:lnSpc>
                <a:spcPct val="120000"/>
              </a:lnSpc>
            </a:pPr>
            <a:r>
              <a:rPr lang="zh-CN" altLang="en-US" sz="3100" dirty="0"/>
              <a:t>控制冒险也称为分支冒险（分支决定了控制流）：</a:t>
            </a:r>
            <a:r>
              <a:rPr lang="zh-CN" altLang="en-US" sz="3100" dirty="0">
                <a:sym typeface="+mn-ea"/>
              </a:rPr>
              <a:t>由于</a:t>
            </a:r>
            <a:r>
              <a:rPr lang="zh-CN" altLang="en-US" sz="3100" b="1" dirty="0">
                <a:solidFill>
                  <a:srgbClr val="FF0000"/>
                </a:solidFill>
                <a:sym typeface="+mn-ea"/>
              </a:rPr>
              <a:t>取到的指令并不是所需要的</a:t>
            </a:r>
            <a:r>
              <a:rPr lang="zh-CN" altLang="en-US" sz="3100" dirty="0">
                <a:sym typeface="+mn-ea"/>
              </a:rPr>
              <a:t>，或者</a:t>
            </a:r>
            <a:r>
              <a:rPr lang="zh-CN" altLang="en-US" sz="3100" b="1" dirty="0">
                <a:solidFill>
                  <a:srgbClr val="FF0000"/>
                </a:solidFill>
                <a:sym typeface="+mn-ea"/>
              </a:rPr>
              <a:t>指令地址的流向不是流水线所预期</a:t>
            </a:r>
            <a:r>
              <a:rPr lang="zh-CN" altLang="en-US" sz="3100" dirty="0">
                <a:sym typeface="+mn-ea"/>
              </a:rPr>
              <a:t>的，导致正确的指令无法在正确的时钟周期内执行的情况</a:t>
            </a:r>
            <a:endParaRPr lang="en-US" altLang="zh-CN" sz="3100" dirty="0"/>
          </a:p>
          <a:p>
            <a:pPr lvl="1">
              <a:lnSpc>
                <a:spcPct val="120000"/>
              </a:lnSpc>
            </a:pPr>
            <a:r>
              <a:rPr lang="zh-CN" altLang="en-US" dirty="0"/>
              <a:t>由于分支指令之后的</a:t>
            </a:r>
            <a:r>
              <a:rPr lang="en-US" altLang="zh-CN" dirty="0"/>
              <a:t>IF</a:t>
            </a:r>
            <a:r>
              <a:rPr lang="zh-CN" altLang="en-US" dirty="0"/>
              <a:t>阶段依赖于分支的结果</a:t>
            </a:r>
            <a:endParaRPr lang="en-US" altLang="zh-CN" dirty="0"/>
          </a:p>
          <a:p>
            <a:pPr lvl="1">
              <a:lnSpc>
                <a:spcPct val="120000"/>
              </a:lnSpc>
            </a:pPr>
            <a:r>
              <a:rPr lang="zh-CN" altLang="en-US" dirty="0"/>
              <a:t>此时，分支指令仍在</a:t>
            </a:r>
            <a:r>
              <a:rPr lang="en-US" altLang="zh-CN" dirty="0"/>
              <a:t>ID</a:t>
            </a:r>
            <a:r>
              <a:rPr lang="zh-CN" altLang="en-US" dirty="0"/>
              <a:t>阶段，无法决定下一条要运行的指令</a:t>
            </a:r>
            <a:endParaRPr lang="en-US" altLang="zh-CN" dirty="0"/>
          </a:p>
          <a:p>
            <a:pPr marL="914400" lvl="2" indent="0">
              <a:lnSpc>
                <a:spcPct val="120000"/>
              </a:lnSpc>
              <a:buNone/>
            </a:pPr>
            <a:endParaRPr lang="en-US" altLang="en-US" dirty="0"/>
          </a:p>
          <a:p>
            <a:pPr eaLnBrk="1" hangingPunct="1">
              <a:lnSpc>
                <a:spcPct val="120000"/>
              </a:lnSpc>
            </a:pPr>
            <a:r>
              <a:rPr lang="zh-CN" altLang="en-US" sz="3100" dirty="0"/>
              <a:t>添加硬件电路：</a:t>
            </a:r>
            <a:endParaRPr lang="en-US" altLang="zh-CN" sz="3100" dirty="0"/>
          </a:p>
          <a:p>
            <a:pPr lvl="1">
              <a:lnSpc>
                <a:spcPct val="120000"/>
              </a:lnSpc>
            </a:pPr>
            <a:r>
              <a:rPr lang="zh-CN" altLang="en-US" dirty="0"/>
              <a:t>在</a:t>
            </a:r>
            <a:r>
              <a:rPr lang="en-US" altLang="zh-CN" dirty="0"/>
              <a:t>RISC-V</a:t>
            </a:r>
            <a:r>
              <a:rPr lang="zh-CN" altLang="en-US" dirty="0"/>
              <a:t>流水线中尽可能早地完成</a:t>
            </a:r>
            <a:r>
              <a:rPr lang="zh-CN" altLang="en-US" dirty="0">
                <a:solidFill>
                  <a:srgbClr val="0000FF"/>
                </a:solidFill>
              </a:rPr>
              <a:t>寄存器比较</a:t>
            </a:r>
            <a:r>
              <a:rPr lang="zh-CN" altLang="en-US" dirty="0"/>
              <a:t>、</a:t>
            </a:r>
            <a:r>
              <a:rPr lang="zh-CN" altLang="en-US" dirty="0">
                <a:solidFill>
                  <a:srgbClr val="0000FF"/>
                </a:solidFill>
              </a:rPr>
              <a:t>分支目标地址计算</a:t>
            </a:r>
            <a:endParaRPr lang="en-US" altLang="zh-CN" dirty="0">
              <a:solidFill>
                <a:srgbClr val="0000FF"/>
              </a:solidFill>
            </a:endParaRPr>
          </a:p>
          <a:p>
            <a:pPr lvl="1">
              <a:lnSpc>
                <a:spcPct val="120000"/>
              </a:lnSpc>
            </a:pPr>
            <a:r>
              <a:rPr lang="zh-CN" altLang="en-US" dirty="0"/>
              <a:t>使得以上能在</a:t>
            </a:r>
            <a:r>
              <a:rPr lang="en-US" altLang="zh-CN" dirty="0">
                <a:solidFill>
                  <a:srgbClr val="0000FF"/>
                </a:solidFill>
              </a:rPr>
              <a:t>ID</a:t>
            </a:r>
            <a:r>
              <a:rPr lang="zh-CN" altLang="en-US" dirty="0">
                <a:solidFill>
                  <a:srgbClr val="0000FF"/>
                </a:solidFill>
              </a:rPr>
              <a:t>阶段</a:t>
            </a:r>
            <a:r>
              <a:rPr lang="zh-CN" altLang="en-US" dirty="0"/>
              <a:t>完成</a:t>
            </a:r>
            <a:endParaRPr lang="en-US" altLang="en-US"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16</a:t>
            </a:fld>
            <a:endParaRPr lang="zh-CN" altLang="en-US" dirty="0"/>
          </a:p>
        </p:txBody>
      </p:sp>
      <p:sp>
        <p:nvSpPr>
          <p:cNvPr id="3" name="标题 2"/>
          <p:cNvSpPr>
            <a:spLocks noGrp="1"/>
          </p:cNvSpPr>
          <p:nvPr>
            <p:ph type="title"/>
          </p:nvPr>
        </p:nvSpPr>
        <p:spPr/>
        <p:txBody>
          <a:bodyPr/>
          <a:lstStyle/>
          <a:p>
            <a:r>
              <a:rPr lang="zh-CN" altLang="en-US" dirty="0"/>
              <a:t>控制冒险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7044">
                                            <p:txEl>
                                              <p:pRg st="4" end="4"/>
                                            </p:txEl>
                                          </p:spTgt>
                                        </p:tgtEl>
                                        <p:attrNameLst>
                                          <p:attrName>style.visibility</p:attrName>
                                        </p:attrNameLst>
                                      </p:cBhvr>
                                      <p:to>
                                        <p:strVal val="visible"/>
                                      </p:to>
                                    </p:set>
                                    <p:animEffect transition="in" filter="fade">
                                      <p:cBhvr>
                                        <p:cTn id="7" dur="500"/>
                                        <p:tgtEl>
                                          <p:spTgt spid="87044">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7044">
                                            <p:txEl>
                                              <p:pRg st="5" end="5"/>
                                            </p:txEl>
                                          </p:spTgt>
                                        </p:tgtEl>
                                        <p:attrNameLst>
                                          <p:attrName>style.visibility</p:attrName>
                                        </p:attrNameLst>
                                      </p:cBhvr>
                                      <p:to>
                                        <p:strVal val="visible"/>
                                      </p:to>
                                    </p:set>
                                    <p:animEffect transition="in" filter="fade">
                                      <p:cBhvr>
                                        <p:cTn id="10" dur="500"/>
                                        <p:tgtEl>
                                          <p:spTgt spid="87044">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87044">
                                            <p:txEl>
                                              <p:pRg st="6" end="6"/>
                                            </p:txEl>
                                          </p:spTgt>
                                        </p:tgtEl>
                                        <p:attrNameLst>
                                          <p:attrName>style.visibility</p:attrName>
                                        </p:attrNameLst>
                                      </p:cBhvr>
                                      <p:to>
                                        <p:strVal val="visible"/>
                                      </p:to>
                                    </p:set>
                                    <p:animEffect transition="in" filter="fade">
                                      <p:cBhvr>
                                        <p:cTn id="13" dur="500"/>
                                        <p:tgtEl>
                                          <p:spTgt spid="8704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3"/>
          <p:cNvSpPr>
            <a:spLocks noGrp="1" noChangeArrowheads="1"/>
          </p:cNvSpPr>
          <p:nvPr>
            <p:ph idx="1"/>
          </p:nvPr>
        </p:nvSpPr>
        <p:spPr/>
        <p:txBody>
          <a:bodyPr>
            <a:normAutofit/>
          </a:bodyPr>
          <a:lstStyle/>
          <a:p>
            <a:pPr eaLnBrk="1" hangingPunct="1"/>
            <a:r>
              <a:rPr lang="zh-CN" altLang="en-US" dirty="0"/>
              <a:t>在取下一条指令之前，等待分支结果</a:t>
            </a:r>
            <a:endParaRPr lang="en-US" altLang="zh-CN" dirty="0"/>
          </a:p>
          <a:p>
            <a:pPr lvl="1"/>
            <a:r>
              <a:rPr lang="en-US" altLang="en-US" dirty="0"/>
              <a:t>beq</a:t>
            </a:r>
            <a:r>
              <a:rPr lang="zh-CN" altLang="en-US" dirty="0"/>
              <a:t>指令的</a:t>
            </a:r>
            <a:r>
              <a:rPr lang="en-US" altLang="zh-CN" dirty="0"/>
              <a:t>ID</a:t>
            </a:r>
            <a:r>
              <a:rPr lang="zh-CN" altLang="en-US" dirty="0"/>
              <a:t>阶段“通过其他硬件电路”得到分支结果</a:t>
            </a:r>
            <a:endParaRPr lang="en-US" altLang="en-US"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17</a:t>
            </a:fld>
            <a:endParaRPr lang="zh-CN" altLang="en-US" dirty="0"/>
          </a:p>
        </p:txBody>
      </p:sp>
      <p:sp>
        <p:nvSpPr>
          <p:cNvPr id="3" name="标题 2"/>
          <p:cNvSpPr>
            <a:spLocks noGrp="1"/>
          </p:cNvSpPr>
          <p:nvPr>
            <p:ph type="title"/>
          </p:nvPr>
        </p:nvSpPr>
        <p:spPr/>
        <p:txBody>
          <a:bodyPr/>
          <a:lstStyle/>
          <a:p>
            <a:r>
              <a:rPr lang="zh-CN" altLang="en-US" sz="4000" dirty="0"/>
              <a:t>方案一：每遇到条件分支指令就停顿的流水线</a:t>
            </a:r>
          </a:p>
        </p:txBody>
      </p:sp>
      <p:grpSp>
        <p:nvGrpSpPr>
          <p:cNvPr id="7" name="组合 6"/>
          <p:cNvGrpSpPr/>
          <p:nvPr/>
        </p:nvGrpSpPr>
        <p:grpSpPr>
          <a:xfrm>
            <a:off x="618309" y="2203269"/>
            <a:ext cx="11082571" cy="3663904"/>
            <a:chOff x="359410" y="2503805"/>
            <a:chExt cx="9359356" cy="2935605"/>
          </a:xfrm>
        </p:grpSpPr>
        <p:sp>
          <p:nvSpPr>
            <p:cNvPr id="8" name="矩形 7"/>
            <p:cNvSpPr/>
            <p:nvPr/>
          </p:nvSpPr>
          <p:spPr>
            <a:xfrm>
              <a:off x="2130425" y="348488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instruction fetch</a:t>
              </a:r>
            </a:p>
          </p:txBody>
        </p:sp>
        <p:sp>
          <p:nvSpPr>
            <p:cNvPr id="9" name="矩形 8"/>
            <p:cNvSpPr/>
            <p:nvPr/>
          </p:nvSpPr>
          <p:spPr>
            <a:xfrm>
              <a:off x="3121660" y="387223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a:latin typeface="Times New Roman" panose="02020603050405020304" pitchFamily="18" charset="0"/>
                  <a:cs typeface="Times New Roman" panose="02020603050405020304" pitchFamily="18" charset="0"/>
                </a:rPr>
                <a:t>instruction fetch</a:t>
              </a:r>
            </a:p>
          </p:txBody>
        </p:sp>
        <p:sp>
          <p:nvSpPr>
            <p:cNvPr id="10" name="文本框 9"/>
            <p:cNvSpPr txBox="1"/>
            <p:nvPr/>
          </p:nvSpPr>
          <p:spPr>
            <a:xfrm>
              <a:off x="1428750" y="2898775"/>
              <a:ext cx="781050" cy="322359"/>
            </a:xfrm>
            <a:prstGeom prst="rect">
              <a:avLst/>
            </a:prstGeom>
            <a:noFill/>
          </p:spPr>
          <p:txBody>
            <a:bodyPr wrap="square" rtlCol="0">
              <a:spAutoFit/>
            </a:bodyPr>
            <a:lstStyle/>
            <a:p>
              <a:r>
                <a:rPr lang="en-US" altLang="zh-CN" b="1">
                  <a:latin typeface="Times New Roman" panose="02020603050405020304" pitchFamily="18" charset="0"/>
                  <a:cs typeface="Times New Roman" panose="02020603050405020304" pitchFamily="18" charset="0"/>
                </a:rPr>
                <a:t>Time</a:t>
              </a:r>
            </a:p>
          </p:txBody>
        </p:sp>
        <p:sp>
          <p:nvSpPr>
            <p:cNvPr id="11" name="矩形 10"/>
            <p:cNvSpPr/>
            <p:nvPr/>
          </p:nvSpPr>
          <p:spPr>
            <a:xfrm>
              <a:off x="3599815" y="3484880"/>
              <a:ext cx="513080" cy="386715"/>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a:latin typeface="Times New Roman" panose="02020603050405020304" pitchFamily="18" charset="0"/>
                  <a:cs typeface="Times New Roman" panose="02020603050405020304" pitchFamily="18" charset="0"/>
                </a:rPr>
                <a:t>Reg</a:t>
              </a:r>
            </a:p>
          </p:txBody>
        </p:sp>
        <p:sp>
          <p:nvSpPr>
            <p:cNvPr id="12" name="矩形 11"/>
            <p:cNvSpPr/>
            <p:nvPr/>
          </p:nvSpPr>
          <p:spPr>
            <a:xfrm>
              <a:off x="5104130" y="348488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a:latin typeface="Times New Roman" panose="02020603050405020304" pitchFamily="18" charset="0"/>
                  <a:cs typeface="Times New Roman" panose="02020603050405020304" pitchFamily="18" charset="0"/>
                </a:rPr>
                <a:t>Data access</a:t>
              </a:r>
            </a:p>
          </p:txBody>
        </p:sp>
        <p:sp>
          <p:nvSpPr>
            <p:cNvPr id="13" name="矩形 12"/>
            <p:cNvSpPr/>
            <p:nvPr/>
          </p:nvSpPr>
          <p:spPr>
            <a:xfrm>
              <a:off x="4591050" y="3872865"/>
              <a:ext cx="513080" cy="386715"/>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a:latin typeface="Times New Roman" panose="02020603050405020304" pitchFamily="18" charset="0"/>
                  <a:cs typeface="Times New Roman" panose="02020603050405020304" pitchFamily="18" charset="0"/>
                </a:rPr>
                <a:t>Reg</a:t>
              </a:r>
            </a:p>
          </p:txBody>
        </p:sp>
        <p:sp>
          <p:nvSpPr>
            <p:cNvPr id="14" name="矩形 13"/>
            <p:cNvSpPr/>
            <p:nvPr/>
          </p:nvSpPr>
          <p:spPr>
            <a:xfrm>
              <a:off x="4112895" y="348488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ALU</a:t>
              </a:r>
            </a:p>
          </p:txBody>
        </p:sp>
        <p:sp>
          <p:nvSpPr>
            <p:cNvPr id="15" name="矩形 14"/>
            <p:cNvSpPr/>
            <p:nvPr/>
          </p:nvSpPr>
          <p:spPr>
            <a:xfrm>
              <a:off x="5104130" y="387159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a:latin typeface="Times New Roman" panose="02020603050405020304" pitchFamily="18" charset="0"/>
                  <a:cs typeface="Times New Roman" panose="02020603050405020304" pitchFamily="18" charset="0"/>
                </a:rPr>
                <a:t>ALU</a:t>
              </a:r>
            </a:p>
          </p:txBody>
        </p:sp>
        <p:sp>
          <p:nvSpPr>
            <p:cNvPr id="16" name="矩形 15"/>
            <p:cNvSpPr/>
            <p:nvPr/>
          </p:nvSpPr>
          <p:spPr>
            <a:xfrm>
              <a:off x="6095365" y="3484880"/>
              <a:ext cx="513080" cy="386715"/>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Reg</a:t>
              </a:r>
            </a:p>
          </p:txBody>
        </p:sp>
        <p:sp>
          <p:nvSpPr>
            <p:cNvPr id="17" name="矩形 16"/>
            <p:cNvSpPr/>
            <p:nvPr/>
          </p:nvSpPr>
          <p:spPr>
            <a:xfrm>
              <a:off x="6095365" y="387159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a:latin typeface="Times New Roman" panose="02020603050405020304" pitchFamily="18" charset="0"/>
                  <a:cs typeface="Times New Roman" panose="02020603050405020304" pitchFamily="18" charset="0"/>
                </a:rPr>
                <a:t>Data access</a:t>
              </a:r>
            </a:p>
          </p:txBody>
        </p:sp>
        <p:sp>
          <p:nvSpPr>
            <p:cNvPr id="18" name="矩形 17"/>
            <p:cNvSpPr/>
            <p:nvPr/>
          </p:nvSpPr>
          <p:spPr>
            <a:xfrm>
              <a:off x="7086600" y="3872865"/>
              <a:ext cx="513080" cy="386715"/>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a:latin typeface="Times New Roman" panose="02020603050405020304" pitchFamily="18" charset="0"/>
                  <a:cs typeface="Times New Roman" panose="02020603050405020304" pitchFamily="18" charset="0"/>
                </a:rPr>
                <a:t>Reg</a:t>
              </a:r>
            </a:p>
          </p:txBody>
        </p:sp>
        <p:grpSp>
          <p:nvGrpSpPr>
            <p:cNvPr id="19" name="时间轴与坐标"/>
            <p:cNvGrpSpPr/>
            <p:nvPr/>
          </p:nvGrpSpPr>
          <p:grpSpPr>
            <a:xfrm>
              <a:off x="2130425" y="2752090"/>
              <a:ext cx="7588341" cy="452755"/>
              <a:chOff x="2564456" y="2569836"/>
              <a:chExt cx="7514335" cy="387006"/>
            </a:xfrm>
          </p:grpSpPr>
          <p:grpSp>
            <p:nvGrpSpPr>
              <p:cNvPr id="75" name="时间轴"/>
              <p:cNvGrpSpPr/>
              <p:nvPr/>
            </p:nvGrpSpPr>
            <p:grpSpPr>
              <a:xfrm>
                <a:off x="2564456" y="2866955"/>
                <a:ext cx="7514335" cy="89887"/>
                <a:chOff x="2564456" y="2846523"/>
                <a:chExt cx="7514335" cy="89887"/>
              </a:xfrm>
            </p:grpSpPr>
            <p:cxnSp>
              <p:nvCxnSpPr>
                <p:cNvPr id="83" name="直接箭头连接符 82"/>
                <p:cNvCxnSpPr/>
                <p:nvPr/>
              </p:nvCxnSpPr>
              <p:spPr>
                <a:xfrm>
                  <a:off x="2564456" y="2846523"/>
                  <a:ext cx="7514335"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84" name="直接连接符 83"/>
                <p:cNvCxnSpPr/>
                <p:nvPr/>
              </p:nvCxnSpPr>
              <p:spPr>
                <a:xfrm>
                  <a:off x="3540324" y="2852589"/>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85" name="直接连接符 84"/>
                <p:cNvCxnSpPr/>
                <p:nvPr/>
              </p:nvCxnSpPr>
              <p:spPr>
                <a:xfrm>
                  <a:off x="7482361" y="2850417"/>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86" name="直接连接符 85"/>
                <p:cNvCxnSpPr/>
                <p:nvPr/>
              </p:nvCxnSpPr>
              <p:spPr>
                <a:xfrm>
                  <a:off x="8511018" y="2850416"/>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87" name="直接连接符 86"/>
                <p:cNvCxnSpPr/>
                <p:nvPr/>
              </p:nvCxnSpPr>
              <p:spPr>
                <a:xfrm>
                  <a:off x="9485248" y="2850415"/>
                  <a:ext cx="0" cy="83821"/>
                </a:xfrm>
                <a:prstGeom prst="line">
                  <a:avLst/>
                </a:prstGeom>
                <a:ln w="15875"/>
              </p:spPr>
              <p:style>
                <a:lnRef idx="1">
                  <a:schemeClr val="dk1"/>
                </a:lnRef>
                <a:fillRef idx="0">
                  <a:schemeClr val="dk1"/>
                </a:fillRef>
                <a:effectRef idx="0">
                  <a:schemeClr val="dk1"/>
                </a:effectRef>
                <a:fontRef idx="minor">
                  <a:schemeClr val="tx1"/>
                </a:fontRef>
              </p:style>
            </p:cxnSp>
          </p:grpSp>
          <p:sp>
            <p:nvSpPr>
              <p:cNvPr id="76" name="文本框 75"/>
              <p:cNvSpPr txBox="1"/>
              <p:nvPr/>
            </p:nvSpPr>
            <p:spPr>
              <a:xfrm>
                <a:off x="3243041" y="2574432"/>
                <a:ext cx="595084" cy="275547"/>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200</a:t>
                </a:r>
                <a:endParaRPr lang="zh-CN" altLang="en-US" sz="2000" dirty="0">
                  <a:latin typeface="Times New Roman" panose="02020603050405020304" pitchFamily="18" charset="0"/>
                  <a:cs typeface="Times New Roman" panose="02020603050405020304" pitchFamily="18" charset="0"/>
                </a:endParaRPr>
              </a:p>
            </p:txBody>
          </p:sp>
          <p:sp>
            <p:nvSpPr>
              <p:cNvPr id="77" name="文本框 76"/>
              <p:cNvSpPr txBox="1"/>
              <p:nvPr/>
            </p:nvSpPr>
            <p:spPr>
              <a:xfrm>
                <a:off x="5231517" y="2569836"/>
                <a:ext cx="595084" cy="275547"/>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600</a:t>
                </a:r>
                <a:endParaRPr lang="zh-CN" altLang="en-US" sz="2000" dirty="0">
                  <a:latin typeface="Times New Roman" panose="02020603050405020304" pitchFamily="18" charset="0"/>
                  <a:cs typeface="Times New Roman" panose="02020603050405020304" pitchFamily="18" charset="0"/>
                </a:endParaRPr>
              </a:p>
            </p:txBody>
          </p:sp>
          <p:sp>
            <p:nvSpPr>
              <p:cNvPr id="78" name="文本框 77"/>
              <p:cNvSpPr txBox="1"/>
              <p:nvPr/>
            </p:nvSpPr>
            <p:spPr>
              <a:xfrm>
                <a:off x="4249588" y="2570126"/>
                <a:ext cx="595084" cy="275547"/>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400</a:t>
                </a:r>
                <a:endParaRPr lang="zh-CN" altLang="en-US" sz="2000" dirty="0">
                  <a:latin typeface="Times New Roman" panose="02020603050405020304" pitchFamily="18" charset="0"/>
                  <a:cs typeface="Times New Roman" panose="02020603050405020304" pitchFamily="18" charset="0"/>
                </a:endParaRPr>
              </a:p>
            </p:txBody>
          </p:sp>
          <p:sp>
            <p:nvSpPr>
              <p:cNvPr id="79" name="文本框 78"/>
              <p:cNvSpPr txBox="1"/>
              <p:nvPr/>
            </p:nvSpPr>
            <p:spPr>
              <a:xfrm>
                <a:off x="6213087" y="2569991"/>
                <a:ext cx="595084" cy="275547"/>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800</a:t>
                </a:r>
                <a:endParaRPr lang="zh-CN" altLang="en-US" sz="2000" dirty="0">
                  <a:latin typeface="Times New Roman" panose="02020603050405020304" pitchFamily="18" charset="0"/>
                  <a:cs typeface="Times New Roman" panose="02020603050405020304" pitchFamily="18" charset="0"/>
                </a:endParaRPr>
              </a:p>
            </p:txBody>
          </p:sp>
          <p:sp>
            <p:nvSpPr>
              <p:cNvPr id="80" name="文本框 79"/>
              <p:cNvSpPr txBox="1"/>
              <p:nvPr/>
            </p:nvSpPr>
            <p:spPr>
              <a:xfrm>
                <a:off x="8183812" y="2584603"/>
                <a:ext cx="654053" cy="275547"/>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1200</a:t>
                </a:r>
                <a:endParaRPr lang="zh-CN" altLang="en-US" sz="2000" dirty="0">
                  <a:latin typeface="Times New Roman" panose="02020603050405020304" pitchFamily="18" charset="0"/>
                  <a:cs typeface="Times New Roman" panose="02020603050405020304" pitchFamily="18" charset="0"/>
                </a:endParaRPr>
              </a:p>
            </p:txBody>
          </p:sp>
          <p:sp>
            <p:nvSpPr>
              <p:cNvPr id="81" name="文本框 80"/>
              <p:cNvSpPr txBox="1"/>
              <p:nvPr/>
            </p:nvSpPr>
            <p:spPr>
              <a:xfrm>
                <a:off x="7152460" y="2579608"/>
                <a:ext cx="660070" cy="275547"/>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1000</a:t>
                </a:r>
                <a:endParaRPr lang="zh-CN" altLang="en-US" sz="2000" dirty="0">
                  <a:latin typeface="Times New Roman" panose="02020603050405020304" pitchFamily="18" charset="0"/>
                  <a:cs typeface="Times New Roman" panose="02020603050405020304" pitchFamily="18" charset="0"/>
                </a:endParaRPr>
              </a:p>
            </p:txBody>
          </p:sp>
          <p:sp>
            <p:nvSpPr>
              <p:cNvPr id="82" name="文本框 81"/>
              <p:cNvSpPr txBox="1"/>
              <p:nvPr/>
            </p:nvSpPr>
            <p:spPr>
              <a:xfrm>
                <a:off x="9135299" y="2584646"/>
                <a:ext cx="654041" cy="275547"/>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1400</a:t>
                </a:r>
                <a:endParaRPr lang="zh-CN" altLang="en-US" sz="2000" dirty="0">
                  <a:latin typeface="Times New Roman" panose="02020603050405020304" pitchFamily="18" charset="0"/>
                  <a:cs typeface="Times New Roman" panose="02020603050405020304" pitchFamily="18" charset="0"/>
                </a:endParaRPr>
              </a:p>
            </p:txBody>
          </p:sp>
        </p:grpSp>
        <p:cxnSp>
          <p:nvCxnSpPr>
            <p:cNvPr id="20" name="直接连接符 19"/>
            <p:cNvCxnSpPr/>
            <p:nvPr/>
          </p:nvCxnSpPr>
          <p:spPr>
            <a:xfrm>
              <a:off x="5123815" y="3094355"/>
              <a:ext cx="0" cy="97790"/>
            </a:xfrm>
            <a:prstGeom prst="line">
              <a:avLst/>
            </a:prstGeom>
            <a:ln w="15875"/>
          </p:spPr>
          <p:style>
            <a:lnRef idx="1">
              <a:schemeClr val="dk1"/>
            </a:lnRef>
            <a:fillRef idx="0">
              <a:schemeClr val="dk1"/>
            </a:fillRef>
            <a:effectRef idx="0">
              <a:schemeClr val="dk1"/>
            </a:effectRef>
            <a:fontRef idx="minor">
              <a:schemeClr val="tx1"/>
            </a:fontRef>
          </p:style>
        </p:cxnSp>
        <p:cxnSp>
          <p:nvCxnSpPr>
            <p:cNvPr id="21" name="直接连接符 20"/>
            <p:cNvCxnSpPr/>
            <p:nvPr/>
          </p:nvCxnSpPr>
          <p:spPr>
            <a:xfrm>
              <a:off x="4132580" y="3094355"/>
              <a:ext cx="0" cy="97790"/>
            </a:xfrm>
            <a:prstGeom prst="line">
              <a:avLst/>
            </a:prstGeom>
            <a:ln w="15875"/>
          </p:spPr>
          <p:style>
            <a:lnRef idx="1">
              <a:schemeClr val="dk1"/>
            </a:lnRef>
            <a:fillRef idx="0">
              <a:schemeClr val="dk1"/>
            </a:fillRef>
            <a:effectRef idx="0">
              <a:schemeClr val="dk1"/>
            </a:effectRef>
            <a:fontRef idx="minor">
              <a:schemeClr val="tx1"/>
            </a:fontRef>
          </p:style>
        </p:cxnSp>
        <p:cxnSp>
          <p:nvCxnSpPr>
            <p:cNvPr id="22" name="直接连接符 21"/>
            <p:cNvCxnSpPr/>
            <p:nvPr/>
          </p:nvCxnSpPr>
          <p:spPr>
            <a:xfrm>
              <a:off x="6115050" y="3100705"/>
              <a:ext cx="0" cy="97790"/>
            </a:xfrm>
            <a:prstGeom prst="line">
              <a:avLst/>
            </a:prstGeom>
            <a:ln w="15875"/>
          </p:spPr>
          <p:style>
            <a:lnRef idx="1">
              <a:schemeClr val="dk1"/>
            </a:lnRef>
            <a:fillRef idx="0">
              <a:schemeClr val="dk1"/>
            </a:fillRef>
            <a:effectRef idx="0">
              <a:schemeClr val="dk1"/>
            </a:effectRef>
            <a:fontRef idx="minor">
              <a:schemeClr val="tx1"/>
            </a:fontRef>
          </p:style>
        </p:cxnSp>
        <p:cxnSp>
          <p:nvCxnSpPr>
            <p:cNvPr id="23" name="直接箭头连接符 22"/>
            <p:cNvCxnSpPr/>
            <p:nvPr/>
          </p:nvCxnSpPr>
          <p:spPr>
            <a:xfrm flipH="1">
              <a:off x="737953" y="3646170"/>
              <a:ext cx="1822" cy="1570362"/>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898524" y="3646170"/>
              <a:ext cx="1351650" cy="517855"/>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add x4,x5,x6</a:t>
              </a:r>
            </a:p>
            <a:p>
              <a:endParaRPr lang="en-US" altLang="zh-CN" b="1" dirty="0">
                <a:latin typeface="Times New Roman" panose="02020603050405020304" pitchFamily="18" charset="0"/>
                <a:cs typeface="Times New Roman" panose="02020603050405020304" pitchFamily="18" charset="0"/>
              </a:endParaRPr>
            </a:p>
          </p:txBody>
        </p:sp>
        <p:sp>
          <p:nvSpPr>
            <p:cNvPr id="25" name="文本框 24"/>
            <p:cNvSpPr txBox="1"/>
            <p:nvPr/>
          </p:nvSpPr>
          <p:spPr>
            <a:xfrm>
              <a:off x="904239" y="3991610"/>
              <a:ext cx="1409206" cy="295917"/>
            </a:xfrm>
            <a:prstGeom prst="rect">
              <a:avLst/>
            </a:prstGeom>
            <a:noFill/>
          </p:spPr>
          <p:txBody>
            <a:bodyPr wrap="square" rtlCol="0">
              <a:spAutoFit/>
            </a:bodyPr>
            <a:lstStyle/>
            <a:p>
              <a:r>
                <a:rPr lang="en-US" altLang="zh-CN" b="1" dirty="0">
                  <a:solidFill>
                    <a:srgbClr val="47669C"/>
                  </a:solidFill>
                  <a:latin typeface="Times New Roman" panose="02020603050405020304" pitchFamily="18" charset="0"/>
                  <a:cs typeface="Times New Roman" panose="02020603050405020304" pitchFamily="18" charset="0"/>
                </a:rPr>
                <a:t>beq x1,x0,label</a:t>
              </a:r>
            </a:p>
          </p:txBody>
        </p:sp>
        <p:sp>
          <p:nvSpPr>
            <p:cNvPr id="26" name="文本框 25"/>
            <p:cNvSpPr txBox="1"/>
            <p:nvPr/>
          </p:nvSpPr>
          <p:spPr>
            <a:xfrm>
              <a:off x="904239" y="4920615"/>
              <a:ext cx="1980732" cy="517855"/>
            </a:xfrm>
            <a:prstGeom prst="rect">
              <a:avLst/>
            </a:prstGeom>
            <a:noFill/>
          </p:spPr>
          <p:txBody>
            <a:bodyPr wrap="square" rtlCol="0">
              <a:spAutoFit/>
            </a:bodyPr>
            <a:lstStyle/>
            <a:p>
              <a:r>
                <a:rPr lang="en-US" altLang="zh-CN" b="1" dirty="0">
                  <a:solidFill>
                    <a:srgbClr val="47669C"/>
                  </a:solidFill>
                  <a:latin typeface="Times New Roman" panose="02020603050405020304" pitchFamily="18" charset="0"/>
                  <a:cs typeface="Times New Roman" panose="02020603050405020304" pitchFamily="18" charset="0"/>
                </a:rPr>
                <a:t>or x7,x8,x9 </a:t>
              </a:r>
            </a:p>
            <a:p>
              <a:r>
                <a:rPr lang="zh-CN" altLang="en-US" b="1" dirty="0">
                  <a:solidFill>
                    <a:srgbClr val="47669C"/>
                  </a:solidFill>
                  <a:latin typeface="Times New Roman" panose="02020603050405020304" pitchFamily="18" charset="0"/>
                  <a:cs typeface="Times New Roman" panose="02020603050405020304" pitchFamily="18" charset="0"/>
                </a:rPr>
                <a:t>（</a:t>
              </a:r>
              <a:r>
                <a:rPr lang="en-US" altLang="zh-CN" b="1" dirty="0" err="1">
                  <a:solidFill>
                    <a:srgbClr val="47669C"/>
                  </a:solidFill>
                  <a:latin typeface="Times New Roman" panose="02020603050405020304" pitchFamily="18" charset="0"/>
                  <a:cs typeface="Times New Roman" panose="02020603050405020304" pitchFamily="18" charset="0"/>
                </a:rPr>
                <a:t>beq</a:t>
              </a:r>
              <a:r>
                <a:rPr lang="zh-CN" altLang="en-US" b="1" dirty="0">
                  <a:solidFill>
                    <a:srgbClr val="47669C"/>
                  </a:solidFill>
                  <a:latin typeface="Times New Roman" panose="02020603050405020304" pitchFamily="18" charset="0"/>
                  <a:cs typeface="Times New Roman" panose="02020603050405020304" pitchFamily="18" charset="0"/>
                </a:rPr>
                <a:t>跳转目标指令）</a:t>
              </a:r>
              <a:endParaRPr lang="en-US" altLang="zh-CN" b="1" dirty="0">
                <a:solidFill>
                  <a:srgbClr val="47669C"/>
                </a:solidFill>
                <a:latin typeface="Times New Roman" panose="02020603050405020304" pitchFamily="18" charset="0"/>
                <a:cs typeface="Times New Roman" panose="02020603050405020304" pitchFamily="18" charset="0"/>
              </a:endParaRPr>
            </a:p>
          </p:txBody>
        </p:sp>
        <p:cxnSp>
          <p:nvCxnSpPr>
            <p:cNvPr id="27" name="直接箭头连接符 26"/>
            <p:cNvCxnSpPr/>
            <p:nvPr/>
          </p:nvCxnSpPr>
          <p:spPr>
            <a:xfrm flipV="1">
              <a:off x="2122805" y="3979545"/>
              <a:ext cx="1006475" cy="3175"/>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8" name="文本框 27"/>
            <p:cNvSpPr txBox="1"/>
            <p:nvPr/>
          </p:nvSpPr>
          <p:spPr>
            <a:xfrm>
              <a:off x="2064385" y="4032250"/>
              <a:ext cx="1123950" cy="322359"/>
            </a:xfrm>
            <a:prstGeom prst="rect">
              <a:avLst/>
            </a:prstGeom>
            <a:noFill/>
          </p:spPr>
          <p:txBody>
            <a:bodyPr wrap="square" rtlCol="0">
              <a:spAutoFit/>
            </a:bodyPr>
            <a:lstStyle/>
            <a:p>
              <a:pPr algn="ctr"/>
              <a:r>
                <a:rPr lang="en-US" altLang="zh-CN">
                  <a:latin typeface="Times New Roman" panose="02020603050405020304" pitchFamily="18" charset="0"/>
                  <a:cs typeface="Times New Roman" panose="02020603050405020304" pitchFamily="18" charset="0"/>
                </a:rPr>
                <a:t>200ps</a:t>
              </a:r>
            </a:p>
          </p:txBody>
        </p:sp>
        <p:sp>
          <p:nvSpPr>
            <p:cNvPr id="29" name="文本框 28"/>
            <p:cNvSpPr txBox="1"/>
            <p:nvPr/>
          </p:nvSpPr>
          <p:spPr>
            <a:xfrm>
              <a:off x="359410" y="2503805"/>
              <a:ext cx="1704975" cy="1060370"/>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Program</a:t>
              </a:r>
            </a:p>
            <a:p>
              <a:r>
                <a:rPr lang="en-US" altLang="zh-CN" sz="2000" dirty="0">
                  <a:latin typeface="Times New Roman" panose="02020603050405020304" pitchFamily="18" charset="0"/>
                  <a:cs typeface="Times New Roman" panose="02020603050405020304" pitchFamily="18" charset="0"/>
                </a:rPr>
                <a:t>execution</a:t>
              </a:r>
            </a:p>
            <a:p>
              <a:r>
                <a:rPr lang="en-US" altLang="zh-CN" sz="2000" dirty="0">
                  <a:latin typeface="Times New Roman" panose="02020603050405020304" pitchFamily="18" charset="0"/>
                  <a:cs typeface="Times New Roman" panose="02020603050405020304" pitchFamily="18" charset="0"/>
                </a:rPr>
                <a:t>order</a:t>
              </a:r>
            </a:p>
            <a:p>
              <a:r>
                <a:rPr lang="en-US" altLang="zh-CN" sz="2000" dirty="0">
                  <a:latin typeface="Times New Roman" panose="02020603050405020304" pitchFamily="18" charset="0"/>
                  <a:cs typeface="Times New Roman" panose="02020603050405020304" pitchFamily="18" charset="0"/>
                </a:rPr>
                <a:t>(in instruction)</a:t>
              </a:r>
              <a:endParaRPr lang="zh-CN" altLang="en-US" sz="2000" dirty="0">
                <a:latin typeface="Times New Roman" panose="02020603050405020304" pitchFamily="18" charset="0"/>
                <a:cs typeface="Times New Roman" panose="02020603050405020304" pitchFamily="18" charset="0"/>
              </a:endParaRPr>
            </a:p>
          </p:txBody>
        </p:sp>
        <p:grpSp>
          <p:nvGrpSpPr>
            <p:cNvPr id="30" name="组合 29"/>
            <p:cNvGrpSpPr/>
            <p:nvPr/>
          </p:nvGrpSpPr>
          <p:grpSpPr>
            <a:xfrm>
              <a:off x="3129280" y="5064125"/>
              <a:ext cx="1949450" cy="375285"/>
              <a:chOff x="4979" y="8290"/>
              <a:chExt cx="3070" cy="591"/>
            </a:xfrm>
          </p:grpSpPr>
          <p:cxnSp>
            <p:nvCxnSpPr>
              <p:cNvPr id="73" name="直接箭头连接符 72"/>
              <p:cNvCxnSpPr/>
              <p:nvPr/>
            </p:nvCxnSpPr>
            <p:spPr>
              <a:xfrm>
                <a:off x="4979" y="8290"/>
                <a:ext cx="3070" cy="0"/>
              </a:xfrm>
              <a:prstGeom prst="straightConnector1">
                <a:avLst/>
              </a:prstGeom>
              <a:ln>
                <a:solidFill>
                  <a:srgbClr val="47669C"/>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74" name="文本框 73"/>
              <p:cNvSpPr txBox="1"/>
              <p:nvPr/>
            </p:nvSpPr>
            <p:spPr>
              <a:xfrm>
                <a:off x="5623" y="8373"/>
                <a:ext cx="1770" cy="508"/>
              </a:xfrm>
              <a:prstGeom prst="rect">
                <a:avLst/>
              </a:prstGeom>
              <a:noFill/>
            </p:spPr>
            <p:txBody>
              <a:bodyPr wrap="square" rtlCol="0">
                <a:spAutoFit/>
              </a:bodyPr>
              <a:lstStyle/>
              <a:p>
                <a:pPr algn="ctr"/>
                <a:r>
                  <a:rPr lang="en-US" altLang="zh-CN">
                    <a:solidFill>
                      <a:srgbClr val="47669C"/>
                    </a:solidFill>
                    <a:latin typeface="Times New Roman" panose="02020603050405020304" pitchFamily="18" charset="0"/>
                    <a:cs typeface="Times New Roman" panose="02020603050405020304" pitchFamily="18" charset="0"/>
                  </a:rPr>
                  <a:t>400ps</a:t>
                </a:r>
              </a:p>
            </p:txBody>
          </p:sp>
        </p:grpSp>
        <p:grpSp>
          <p:nvGrpSpPr>
            <p:cNvPr id="31" name="组合 30"/>
            <p:cNvGrpSpPr/>
            <p:nvPr/>
          </p:nvGrpSpPr>
          <p:grpSpPr>
            <a:xfrm>
              <a:off x="4132580" y="4283075"/>
              <a:ext cx="5081270" cy="593725"/>
              <a:chOff x="6436" y="6684"/>
              <a:chExt cx="8002" cy="935"/>
            </a:xfrm>
          </p:grpSpPr>
          <p:grpSp>
            <p:nvGrpSpPr>
              <p:cNvPr id="38" name="组合 37"/>
              <p:cNvGrpSpPr/>
              <p:nvPr/>
            </p:nvGrpSpPr>
            <p:grpSpPr>
              <a:xfrm>
                <a:off x="6436" y="6745"/>
                <a:ext cx="1613" cy="875"/>
                <a:chOff x="1918" y="3460"/>
                <a:chExt cx="5118" cy="3166"/>
              </a:xfrm>
            </p:grpSpPr>
            <p:grpSp>
              <p:nvGrpSpPr>
                <p:cNvPr id="67" name="组合 66"/>
                <p:cNvGrpSpPr/>
                <p:nvPr/>
              </p:nvGrpSpPr>
              <p:grpSpPr>
                <a:xfrm>
                  <a:off x="1918" y="3460"/>
                  <a:ext cx="5118" cy="3166"/>
                  <a:chOff x="1918" y="3460"/>
                  <a:chExt cx="5118" cy="3166"/>
                </a:xfrm>
              </p:grpSpPr>
              <p:sp>
                <p:nvSpPr>
                  <p:cNvPr id="69" name="思想气泡: 云 4"/>
                  <p:cNvSpPr/>
                  <p:nvPr/>
                </p:nvSpPr>
                <p:spPr>
                  <a:xfrm>
                    <a:off x="1918" y="3460"/>
                    <a:ext cx="5119" cy="2581"/>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0" name="任意多边形: 形状 5"/>
                  <p:cNvSpPr/>
                  <p:nvPr/>
                </p:nvSpPr>
                <p:spPr>
                  <a:xfrm>
                    <a:off x="3088" y="5944"/>
                    <a:ext cx="950" cy="683"/>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1" name="椭圆 70"/>
                  <p:cNvSpPr/>
                  <p:nvPr/>
                </p:nvSpPr>
                <p:spPr>
                  <a:xfrm>
                    <a:off x="3346" y="5704"/>
                    <a:ext cx="448" cy="33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2" name="椭圆 71"/>
                  <p:cNvSpPr/>
                  <p:nvPr/>
                </p:nvSpPr>
                <p:spPr>
                  <a:xfrm>
                    <a:off x="3590" y="5307"/>
                    <a:ext cx="975" cy="68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sp>
              <p:nvSpPr>
                <p:cNvPr id="68" name="文本框 67"/>
                <p:cNvSpPr txBox="1"/>
                <p:nvPr/>
              </p:nvSpPr>
              <p:spPr>
                <a:xfrm>
                  <a:off x="1921" y="3861"/>
                  <a:ext cx="4710" cy="1837"/>
                </a:xfrm>
                <a:prstGeom prst="rect">
                  <a:avLst/>
                </a:prstGeom>
                <a:noFill/>
              </p:spPr>
              <p:txBody>
                <a:bodyPr wrap="square" rtlCol="0">
                  <a:spAutoFit/>
                </a:bodyPr>
                <a:lstStyle/>
                <a:p>
                  <a:pPr algn="ctr"/>
                  <a:r>
                    <a:rPr lang="en-US" altLang="zh-CN">
                      <a:solidFill>
                        <a:srgbClr val="2F528F"/>
                      </a:solidFill>
                      <a:latin typeface="Times New Roman" panose="02020603050405020304" pitchFamily="18" charset="0"/>
                      <a:cs typeface="Times New Roman" panose="02020603050405020304" pitchFamily="18" charset="0"/>
                    </a:rPr>
                    <a:t>bubble</a:t>
                  </a:r>
                </a:p>
              </p:txBody>
            </p:sp>
          </p:grpSp>
          <p:grpSp>
            <p:nvGrpSpPr>
              <p:cNvPr id="39" name="组合 38"/>
              <p:cNvGrpSpPr/>
              <p:nvPr/>
            </p:nvGrpSpPr>
            <p:grpSpPr>
              <a:xfrm>
                <a:off x="8004" y="6708"/>
                <a:ext cx="1613" cy="875"/>
                <a:chOff x="1918" y="3460"/>
                <a:chExt cx="5118" cy="3166"/>
              </a:xfrm>
            </p:grpSpPr>
            <p:grpSp>
              <p:nvGrpSpPr>
                <p:cNvPr id="61" name="组合 60"/>
                <p:cNvGrpSpPr/>
                <p:nvPr/>
              </p:nvGrpSpPr>
              <p:grpSpPr>
                <a:xfrm>
                  <a:off x="1918" y="3460"/>
                  <a:ext cx="5118" cy="3166"/>
                  <a:chOff x="1918" y="3460"/>
                  <a:chExt cx="5118" cy="3166"/>
                </a:xfrm>
              </p:grpSpPr>
              <p:sp>
                <p:nvSpPr>
                  <p:cNvPr id="63" name="思想气泡: 云 4"/>
                  <p:cNvSpPr/>
                  <p:nvPr/>
                </p:nvSpPr>
                <p:spPr>
                  <a:xfrm>
                    <a:off x="1918" y="3460"/>
                    <a:ext cx="5119" cy="2581"/>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4" name="任意多边形: 形状 5"/>
                  <p:cNvSpPr/>
                  <p:nvPr/>
                </p:nvSpPr>
                <p:spPr>
                  <a:xfrm>
                    <a:off x="3088" y="5944"/>
                    <a:ext cx="950" cy="683"/>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5" name="椭圆 64"/>
                  <p:cNvSpPr/>
                  <p:nvPr/>
                </p:nvSpPr>
                <p:spPr>
                  <a:xfrm>
                    <a:off x="3346" y="5704"/>
                    <a:ext cx="448" cy="33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6" name="椭圆 65"/>
                  <p:cNvSpPr/>
                  <p:nvPr/>
                </p:nvSpPr>
                <p:spPr>
                  <a:xfrm>
                    <a:off x="3590" y="5307"/>
                    <a:ext cx="975" cy="68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sp>
              <p:nvSpPr>
                <p:cNvPr id="62" name="文本框 61"/>
                <p:cNvSpPr txBox="1"/>
                <p:nvPr/>
              </p:nvSpPr>
              <p:spPr>
                <a:xfrm>
                  <a:off x="1921" y="3861"/>
                  <a:ext cx="4710" cy="1837"/>
                </a:xfrm>
                <a:prstGeom prst="rect">
                  <a:avLst/>
                </a:prstGeom>
                <a:noFill/>
              </p:spPr>
              <p:txBody>
                <a:bodyPr wrap="square" rtlCol="0">
                  <a:spAutoFit/>
                </a:bodyPr>
                <a:lstStyle/>
                <a:p>
                  <a:pPr algn="ctr"/>
                  <a:r>
                    <a:rPr lang="en-US" altLang="zh-CN">
                      <a:solidFill>
                        <a:srgbClr val="2F528F"/>
                      </a:solidFill>
                      <a:latin typeface="Times New Roman" panose="02020603050405020304" pitchFamily="18" charset="0"/>
                      <a:cs typeface="Times New Roman" panose="02020603050405020304" pitchFamily="18" charset="0"/>
                    </a:rPr>
                    <a:t>bubble</a:t>
                  </a:r>
                </a:p>
              </p:txBody>
            </p:sp>
          </p:grpSp>
          <p:grpSp>
            <p:nvGrpSpPr>
              <p:cNvPr id="40" name="组合 39"/>
              <p:cNvGrpSpPr/>
              <p:nvPr/>
            </p:nvGrpSpPr>
            <p:grpSpPr>
              <a:xfrm>
                <a:off x="9589" y="6707"/>
                <a:ext cx="1613" cy="875"/>
                <a:chOff x="1918" y="3460"/>
                <a:chExt cx="5118" cy="3166"/>
              </a:xfrm>
            </p:grpSpPr>
            <p:grpSp>
              <p:nvGrpSpPr>
                <p:cNvPr id="55" name="组合 54"/>
                <p:cNvGrpSpPr/>
                <p:nvPr/>
              </p:nvGrpSpPr>
              <p:grpSpPr>
                <a:xfrm>
                  <a:off x="1918" y="3460"/>
                  <a:ext cx="5118" cy="3166"/>
                  <a:chOff x="1918" y="3460"/>
                  <a:chExt cx="5118" cy="3166"/>
                </a:xfrm>
              </p:grpSpPr>
              <p:sp>
                <p:nvSpPr>
                  <p:cNvPr id="57" name="思想气泡: 云 4"/>
                  <p:cNvSpPr/>
                  <p:nvPr/>
                </p:nvSpPr>
                <p:spPr>
                  <a:xfrm>
                    <a:off x="1918" y="3460"/>
                    <a:ext cx="5119" cy="2581"/>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8" name="任意多边形: 形状 5"/>
                  <p:cNvSpPr/>
                  <p:nvPr/>
                </p:nvSpPr>
                <p:spPr>
                  <a:xfrm>
                    <a:off x="3088" y="5944"/>
                    <a:ext cx="950" cy="683"/>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9" name="椭圆 58"/>
                  <p:cNvSpPr/>
                  <p:nvPr/>
                </p:nvSpPr>
                <p:spPr>
                  <a:xfrm>
                    <a:off x="3346" y="5704"/>
                    <a:ext cx="448" cy="33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0" name="椭圆 59"/>
                  <p:cNvSpPr/>
                  <p:nvPr/>
                </p:nvSpPr>
                <p:spPr>
                  <a:xfrm>
                    <a:off x="3590" y="5307"/>
                    <a:ext cx="975" cy="68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sp>
              <p:nvSpPr>
                <p:cNvPr id="56" name="文本框 55"/>
                <p:cNvSpPr txBox="1"/>
                <p:nvPr/>
              </p:nvSpPr>
              <p:spPr>
                <a:xfrm>
                  <a:off x="1921" y="3861"/>
                  <a:ext cx="4710" cy="1837"/>
                </a:xfrm>
                <a:prstGeom prst="rect">
                  <a:avLst/>
                </a:prstGeom>
                <a:noFill/>
              </p:spPr>
              <p:txBody>
                <a:bodyPr wrap="square" rtlCol="0">
                  <a:spAutoFit/>
                </a:bodyPr>
                <a:lstStyle/>
                <a:p>
                  <a:pPr algn="ctr"/>
                  <a:r>
                    <a:rPr lang="en-US" altLang="zh-CN">
                      <a:solidFill>
                        <a:srgbClr val="2F528F"/>
                      </a:solidFill>
                      <a:latin typeface="Times New Roman" panose="02020603050405020304" pitchFamily="18" charset="0"/>
                      <a:cs typeface="Times New Roman" panose="02020603050405020304" pitchFamily="18" charset="0"/>
                    </a:rPr>
                    <a:t>bubble</a:t>
                  </a:r>
                </a:p>
              </p:txBody>
            </p:sp>
          </p:grpSp>
          <p:grpSp>
            <p:nvGrpSpPr>
              <p:cNvPr id="41" name="组合 40"/>
              <p:cNvGrpSpPr/>
              <p:nvPr/>
            </p:nvGrpSpPr>
            <p:grpSpPr>
              <a:xfrm>
                <a:off x="11199" y="6684"/>
                <a:ext cx="1613" cy="875"/>
                <a:chOff x="1918" y="3460"/>
                <a:chExt cx="5118" cy="3166"/>
              </a:xfrm>
            </p:grpSpPr>
            <p:grpSp>
              <p:nvGrpSpPr>
                <p:cNvPr id="49" name="组合 48"/>
                <p:cNvGrpSpPr/>
                <p:nvPr/>
              </p:nvGrpSpPr>
              <p:grpSpPr>
                <a:xfrm>
                  <a:off x="1918" y="3460"/>
                  <a:ext cx="5118" cy="3166"/>
                  <a:chOff x="1918" y="3460"/>
                  <a:chExt cx="5118" cy="3166"/>
                </a:xfrm>
              </p:grpSpPr>
              <p:sp>
                <p:nvSpPr>
                  <p:cNvPr id="51" name="思想气泡: 云 4"/>
                  <p:cNvSpPr/>
                  <p:nvPr/>
                </p:nvSpPr>
                <p:spPr>
                  <a:xfrm>
                    <a:off x="1918" y="3460"/>
                    <a:ext cx="5119" cy="2581"/>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2" name="任意多边形: 形状 5"/>
                  <p:cNvSpPr/>
                  <p:nvPr/>
                </p:nvSpPr>
                <p:spPr>
                  <a:xfrm>
                    <a:off x="3088" y="5944"/>
                    <a:ext cx="950" cy="683"/>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3" name="椭圆 52"/>
                  <p:cNvSpPr/>
                  <p:nvPr/>
                </p:nvSpPr>
                <p:spPr>
                  <a:xfrm>
                    <a:off x="3346" y="5704"/>
                    <a:ext cx="448" cy="33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4" name="椭圆 53"/>
                  <p:cNvSpPr/>
                  <p:nvPr/>
                </p:nvSpPr>
                <p:spPr>
                  <a:xfrm>
                    <a:off x="3590" y="5307"/>
                    <a:ext cx="975" cy="68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sp>
              <p:nvSpPr>
                <p:cNvPr id="50" name="文本框 49"/>
                <p:cNvSpPr txBox="1"/>
                <p:nvPr/>
              </p:nvSpPr>
              <p:spPr>
                <a:xfrm>
                  <a:off x="1921" y="3861"/>
                  <a:ext cx="4710" cy="1837"/>
                </a:xfrm>
                <a:prstGeom prst="rect">
                  <a:avLst/>
                </a:prstGeom>
                <a:noFill/>
              </p:spPr>
              <p:txBody>
                <a:bodyPr wrap="square" rtlCol="0">
                  <a:spAutoFit/>
                </a:bodyPr>
                <a:lstStyle/>
                <a:p>
                  <a:pPr algn="ctr"/>
                  <a:r>
                    <a:rPr lang="en-US" altLang="zh-CN">
                      <a:solidFill>
                        <a:srgbClr val="2F528F"/>
                      </a:solidFill>
                      <a:latin typeface="Times New Roman" panose="02020603050405020304" pitchFamily="18" charset="0"/>
                      <a:cs typeface="Times New Roman" panose="02020603050405020304" pitchFamily="18" charset="0"/>
                    </a:rPr>
                    <a:t>bubble</a:t>
                  </a:r>
                </a:p>
              </p:txBody>
            </p:sp>
          </p:grpSp>
          <p:grpSp>
            <p:nvGrpSpPr>
              <p:cNvPr id="42" name="组合 41"/>
              <p:cNvGrpSpPr/>
              <p:nvPr/>
            </p:nvGrpSpPr>
            <p:grpSpPr>
              <a:xfrm>
                <a:off x="12826" y="6684"/>
                <a:ext cx="1613" cy="875"/>
                <a:chOff x="1918" y="3460"/>
                <a:chExt cx="5118" cy="3166"/>
              </a:xfrm>
            </p:grpSpPr>
            <p:grpSp>
              <p:nvGrpSpPr>
                <p:cNvPr id="43" name="组合 42"/>
                <p:cNvGrpSpPr/>
                <p:nvPr/>
              </p:nvGrpSpPr>
              <p:grpSpPr>
                <a:xfrm>
                  <a:off x="1918" y="3460"/>
                  <a:ext cx="5118" cy="3166"/>
                  <a:chOff x="1918" y="3460"/>
                  <a:chExt cx="5118" cy="3166"/>
                </a:xfrm>
              </p:grpSpPr>
              <p:sp>
                <p:nvSpPr>
                  <p:cNvPr id="45" name="思想气泡: 云 4"/>
                  <p:cNvSpPr/>
                  <p:nvPr/>
                </p:nvSpPr>
                <p:spPr>
                  <a:xfrm>
                    <a:off x="1918" y="3460"/>
                    <a:ext cx="5119" cy="2581"/>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6" name="任意多边形: 形状 5"/>
                  <p:cNvSpPr/>
                  <p:nvPr/>
                </p:nvSpPr>
                <p:spPr>
                  <a:xfrm>
                    <a:off x="3088" y="5944"/>
                    <a:ext cx="950" cy="683"/>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7" name="椭圆 46"/>
                  <p:cNvSpPr/>
                  <p:nvPr/>
                </p:nvSpPr>
                <p:spPr>
                  <a:xfrm>
                    <a:off x="3346" y="5704"/>
                    <a:ext cx="448" cy="33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8" name="椭圆 47"/>
                  <p:cNvSpPr/>
                  <p:nvPr/>
                </p:nvSpPr>
                <p:spPr>
                  <a:xfrm>
                    <a:off x="3590" y="5307"/>
                    <a:ext cx="975" cy="68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sp>
              <p:nvSpPr>
                <p:cNvPr id="44" name="文本框 43"/>
                <p:cNvSpPr txBox="1"/>
                <p:nvPr/>
              </p:nvSpPr>
              <p:spPr>
                <a:xfrm>
                  <a:off x="1921" y="3861"/>
                  <a:ext cx="4710" cy="1837"/>
                </a:xfrm>
                <a:prstGeom prst="rect">
                  <a:avLst/>
                </a:prstGeom>
                <a:noFill/>
              </p:spPr>
              <p:txBody>
                <a:bodyPr wrap="square" rtlCol="0">
                  <a:spAutoFit/>
                </a:bodyPr>
                <a:lstStyle/>
                <a:p>
                  <a:pPr algn="ctr"/>
                  <a:r>
                    <a:rPr lang="en-US" altLang="zh-CN">
                      <a:solidFill>
                        <a:srgbClr val="2F528F"/>
                      </a:solidFill>
                      <a:latin typeface="Times New Roman" panose="02020603050405020304" pitchFamily="18" charset="0"/>
                      <a:cs typeface="Times New Roman" panose="02020603050405020304" pitchFamily="18" charset="0"/>
                    </a:rPr>
                    <a:t>bubble</a:t>
                  </a:r>
                </a:p>
              </p:txBody>
            </p:sp>
          </p:grpSp>
        </p:grpSp>
        <p:grpSp>
          <p:nvGrpSpPr>
            <p:cNvPr id="32" name="组合 31"/>
            <p:cNvGrpSpPr/>
            <p:nvPr/>
          </p:nvGrpSpPr>
          <p:grpSpPr>
            <a:xfrm>
              <a:off x="5133340" y="4839335"/>
              <a:ext cx="4478020" cy="387985"/>
              <a:chOff x="6557" y="7502"/>
              <a:chExt cx="7052" cy="611"/>
            </a:xfrm>
          </p:grpSpPr>
          <p:sp>
            <p:nvSpPr>
              <p:cNvPr id="33" name="矩形 32"/>
              <p:cNvSpPr/>
              <p:nvPr/>
            </p:nvSpPr>
            <p:spPr>
              <a:xfrm>
                <a:off x="6557" y="7503"/>
                <a:ext cx="1561" cy="61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instruction fetch</a:t>
                </a:r>
              </a:p>
            </p:txBody>
          </p:sp>
          <p:sp>
            <p:nvSpPr>
              <p:cNvPr id="34" name="矩形 33"/>
              <p:cNvSpPr/>
              <p:nvPr/>
            </p:nvSpPr>
            <p:spPr>
              <a:xfrm>
                <a:off x="8871" y="7503"/>
                <a:ext cx="808" cy="609"/>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Times New Roman" panose="02020603050405020304" pitchFamily="18" charset="0"/>
                    <a:cs typeface="Times New Roman" panose="02020603050405020304" pitchFamily="18" charset="0"/>
                  </a:rPr>
                  <a:t>Reg</a:t>
                </a:r>
              </a:p>
            </p:txBody>
          </p:sp>
          <p:sp>
            <p:nvSpPr>
              <p:cNvPr id="35" name="矩形 34"/>
              <p:cNvSpPr/>
              <p:nvPr/>
            </p:nvSpPr>
            <p:spPr>
              <a:xfrm>
                <a:off x="12801" y="7502"/>
                <a:ext cx="808" cy="609"/>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a:latin typeface="Times New Roman" panose="02020603050405020304" pitchFamily="18" charset="0"/>
                    <a:cs typeface="Times New Roman" panose="02020603050405020304" pitchFamily="18" charset="0"/>
                  </a:rPr>
                  <a:t>Reg</a:t>
                </a:r>
              </a:p>
            </p:txBody>
          </p:sp>
          <p:sp>
            <p:nvSpPr>
              <p:cNvPr id="36" name="矩形 35"/>
              <p:cNvSpPr/>
              <p:nvPr/>
            </p:nvSpPr>
            <p:spPr>
              <a:xfrm>
                <a:off x="9679" y="7502"/>
                <a:ext cx="1561" cy="61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a:latin typeface="Times New Roman" panose="02020603050405020304" pitchFamily="18" charset="0"/>
                    <a:cs typeface="Times New Roman" panose="02020603050405020304" pitchFamily="18" charset="0"/>
                  </a:rPr>
                  <a:t>ALU</a:t>
                </a:r>
              </a:p>
            </p:txBody>
          </p:sp>
          <p:sp>
            <p:nvSpPr>
              <p:cNvPr id="37" name="矩形 36"/>
              <p:cNvSpPr/>
              <p:nvPr/>
            </p:nvSpPr>
            <p:spPr>
              <a:xfrm>
                <a:off x="11240" y="7502"/>
                <a:ext cx="1561" cy="61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a:latin typeface="Times New Roman" panose="02020603050405020304" pitchFamily="18" charset="0"/>
                    <a:cs typeface="Times New Roman" panose="02020603050405020304" pitchFamily="18" charset="0"/>
                  </a:rPr>
                  <a:t>Data access</a:t>
                </a:r>
              </a:p>
            </p:txBody>
          </p:sp>
        </p:grpSp>
      </p:grpSp>
    </p:spTree>
    <p:extLst>
      <p:ext uri="{BB962C8B-B14F-4D97-AF65-F5344CB8AC3E}">
        <p14:creationId xmlns:p14="http://schemas.microsoft.com/office/powerpoint/2010/main" val="1315712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9092">
                                            <p:txEl>
                                              <p:pRg st="1" end="1"/>
                                            </p:txEl>
                                          </p:spTgt>
                                        </p:tgtEl>
                                        <p:attrNameLst>
                                          <p:attrName>style.visibility</p:attrName>
                                        </p:attrNameLst>
                                      </p:cBhvr>
                                      <p:to>
                                        <p:strVal val="visible"/>
                                      </p:to>
                                    </p:set>
                                    <p:animEffect transition="in" filter="fade">
                                      <p:cBhvr>
                                        <p:cTn id="7" dur="500"/>
                                        <p:tgtEl>
                                          <p:spTgt spid="8909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0" name="Rectangle 3"/>
          <p:cNvSpPr>
            <a:spLocks noGrp="1" noChangeArrowheads="1"/>
          </p:cNvSpPr>
          <p:nvPr>
            <p:ph idx="1"/>
          </p:nvPr>
        </p:nvSpPr>
        <p:spPr/>
        <p:txBody>
          <a:bodyPr>
            <a:normAutofit fontScale="92500"/>
          </a:bodyPr>
          <a:lstStyle/>
          <a:p>
            <a:pPr eaLnBrk="1" hangingPunct="1">
              <a:lnSpc>
                <a:spcPct val="150000"/>
              </a:lnSpc>
            </a:pPr>
            <a:r>
              <a:rPr lang="zh-CN" altLang="en-US" dirty="0"/>
              <a:t>对较长流水线而言，通常无法在第二阶段解决分支指令问题</a:t>
            </a:r>
            <a:endParaRPr lang="en-US" altLang="zh-CN" dirty="0"/>
          </a:p>
          <a:p>
            <a:pPr lvl="1">
              <a:lnSpc>
                <a:spcPct val="150000"/>
              </a:lnSpc>
            </a:pPr>
            <a:r>
              <a:rPr lang="zh-CN" altLang="en-US" dirty="0"/>
              <a:t>每个条件分支都停顿带来的代价太大，不可接受</a:t>
            </a:r>
            <a:endParaRPr lang="en-US" altLang="zh-CN" dirty="0"/>
          </a:p>
          <a:p>
            <a:pPr>
              <a:lnSpc>
                <a:spcPct val="150000"/>
              </a:lnSpc>
            </a:pPr>
            <a:r>
              <a:rPr lang="zh-CN" altLang="en-US" dirty="0"/>
              <a:t>采用</a:t>
            </a:r>
            <a:r>
              <a:rPr lang="zh-CN" altLang="en-US" b="1" dirty="0">
                <a:solidFill>
                  <a:srgbClr val="FF0000"/>
                </a:solidFill>
              </a:rPr>
              <a:t>预测</a:t>
            </a:r>
            <a:r>
              <a:rPr lang="zh-CN" altLang="en-US" dirty="0"/>
              <a:t>来处理条件分支</a:t>
            </a:r>
            <a:endParaRPr lang="en-US" altLang="zh-CN" dirty="0"/>
          </a:p>
          <a:p>
            <a:pPr lvl="1">
              <a:lnSpc>
                <a:spcPct val="150000"/>
              </a:lnSpc>
            </a:pPr>
            <a:r>
              <a:rPr lang="zh-CN" altLang="en-US" dirty="0"/>
              <a:t>只有预测错误时，才引发停顿</a:t>
            </a:r>
            <a:endParaRPr lang="en-US" altLang="zh-CN" dirty="0"/>
          </a:p>
          <a:p>
            <a:pPr>
              <a:lnSpc>
                <a:spcPct val="150000"/>
              </a:lnSpc>
            </a:pPr>
            <a:r>
              <a:rPr lang="zh-CN" altLang="en-US" dirty="0"/>
              <a:t>例如：总是预测分支指令不跳转</a:t>
            </a:r>
            <a:endParaRPr lang="en-US" altLang="zh-CN" dirty="0"/>
          </a:p>
          <a:p>
            <a:pPr lvl="1">
              <a:lnSpc>
                <a:spcPct val="150000"/>
              </a:lnSpc>
            </a:pPr>
            <a:r>
              <a:rPr lang="zh-CN" altLang="en-US" dirty="0"/>
              <a:t>在分支指令之后，立即取指，流水线全速前进</a:t>
            </a:r>
            <a:endParaRPr lang="en-US" altLang="zh-CN" dirty="0"/>
          </a:p>
          <a:p>
            <a:pPr lvl="1">
              <a:lnSpc>
                <a:spcPct val="150000"/>
              </a:lnSpc>
            </a:pPr>
            <a:r>
              <a:rPr lang="zh-CN" altLang="en-US" dirty="0"/>
              <a:t>分支指令发生跳转时，流水线才会停顿</a:t>
            </a:r>
            <a:endParaRPr lang="en-US" altLang="zh-CN" dirty="0"/>
          </a:p>
        </p:txBody>
      </p:sp>
      <p:sp>
        <p:nvSpPr>
          <p:cNvPr id="4" name="灯片编号占位符 3"/>
          <p:cNvSpPr>
            <a:spLocks noGrp="1"/>
          </p:cNvSpPr>
          <p:nvPr>
            <p:ph type="sldNum" sz="quarter" idx="12"/>
          </p:nvPr>
        </p:nvSpPr>
        <p:spPr/>
        <p:txBody>
          <a:bodyPr/>
          <a:lstStyle/>
          <a:p>
            <a:fld id="{8EE8E787-E6FE-45D8-9039-788B45E44EE7}" type="slidenum">
              <a:rPr lang="zh-CN" altLang="en-US" smtClean="0"/>
              <a:t>18</a:t>
            </a:fld>
            <a:endParaRPr lang="zh-CN" altLang="en-US" dirty="0"/>
          </a:p>
        </p:txBody>
      </p:sp>
      <p:sp>
        <p:nvSpPr>
          <p:cNvPr id="3" name="标题 2"/>
          <p:cNvSpPr>
            <a:spLocks noGrp="1"/>
          </p:cNvSpPr>
          <p:nvPr>
            <p:ph type="title"/>
          </p:nvPr>
        </p:nvSpPr>
        <p:spPr/>
        <p:txBody>
          <a:bodyPr/>
          <a:lstStyle/>
          <a:p>
            <a:r>
              <a:rPr lang="zh-CN" altLang="en-US" dirty="0"/>
              <a:t>方案二：分支预测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1140">
                                            <p:txEl>
                                              <p:pRg st="1" end="1"/>
                                            </p:txEl>
                                          </p:spTgt>
                                        </p:tgtEl>
                                        <p:attrNameLst>
                                          <p:attrName>style.visibility</p:attrName>
                                        </p:attrNameLst>
                                      </p:cBhvr>
                                      <p:to>
                                        <p:strVal val="visible"/>
                                      </p:to>
                                    </p:set>
                                    <p:animEffect transition="in" filter="fade">
                                      <p:cBhvr>
                                        <p:cTn id="7" dur="500"/>
                                        <p:tgtEl>
                                          <p:spTgt spid="9114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140">
                                            <p:txEl>
                                              <p:pRg st="2" end="2"/>
                                            </p:txEl>
                                          </p:spTgt>
                                        </p:tgtEl>
                                        <p:attrNameLst>
                                          <p:attrName>style.visibility</p:attrName>
                                        </p:attrNameLst>
                                      </p:cBhvr>
                                      <p:to>
                                        <p:strVal val="visible"/>
                                      </p:to>
                                    </p:set>
                                    <p:animEffect transition="in" filter="fade">
                                      <p:cBhvr>
                                        <p:cTn id="12" dur="500"/>
                                        <p:tgtEl>
                                          <p:spTgt spid="91140">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91140">
                                            <p:txEl>
                                              <p:pRg st="3" end="3"/>
                                            </p:txEl>
                                          </p:spTgt>
                                        </p:tgtEl>
                                        <p:attrNameLst>
                                          <p:attrName>style.visibility</p:attrName>
                                        </p:attrNameLst>
                                      </p:cBhvr>
                                      <p:to>
                                        <p:strVal val="visible"/>
                                      </p:to>
                                    </p:set>
                                    <p:animEffect transition="in" filter="fade">
                                      <p:cBhvr>
                                        <p:cTn id="15" dur="500"/>
                                        <p:tgtEl>
                                          <p:spTgt spid="91140">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1140">
                                            <p:txEl>
                                              <p:pRg st="4" end="4"/>
                                            </p:txEl>
                                          </p:spTgt>
                                        </p:tgtEl>
                                        <p:attrNameLst>
                                          <p:attrName>style.visibility</p:attrName>
                                        </p:attrNameLst>
                                      </p:cBhvr>
                                      <p:to>
                                        <p:strVal val="visible"/>
                                      </p:to>
                                    </p:set>
                                    <p:animEffect transition="in" filter="fade">
                                      <p:cBhvr>
                                        <p:cTn id="20" dur="500"/>
                                        <p:tgtEl>
                                          <p:spTgt spid="91140">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91140">
                                            <p:txEl>
                                              <p:pRg st="5" end="5"/>
                                            </p:txEl>
                                          </p:spTgt>
                                        </p:tgtEl>
                                        <p:attrNameLst>
                                          <p:attrName>style.visibility</p:attrName>
                                        </p:attrNameLst>
                                      </p:cBhvr>
                                      <p:to>
                                        <p:strVal val="visible"/>
                                      </p:to>
                                    </p:set>
                                    <p:animEffect transition="in" filter="fade">
                                      <p:cBhvr>
                                        <p:cTn id="23" dur="500"/>
                                        <p:tgtEl>
                                          <p:spTgt spid="91140">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91140">
                                            <p:txEl>
                                              <p:pRg st="6" end="6"/>
                                            </p:txEl>
                                          </p:spTgt>
                                        </p:tgtEl>
                                        <p:attrNameLst>
                                          <p:attrName>style.visibility</p:attrName>
                                        </p:attrNameLst>
                                      </p:cBhvr>
                                      <p:to>
                                        <p:strVal val="visible"/>
                                      </p:to>
                                    </p:set>
                                    <p:animEffect transition="in" filter="fade">
                                      <p:cBhvr>
                                        <p:cTn id="26" dur="500"/>
                                        <p:tgtEl>
                                          <p:spTgt spid="9114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方案二：总是预测条件分支不发生跳转</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19</a:t>
            </a:fld>
            <a:endParaRPr lang="zh-CN" altLang="en-US" dirty="0"/>
          </a:p>
        </p:txBody>
      </p:sp>
      <p:sp>
        <p:nvSpPr>
          <p:cNvPr id="87" name="文本框 86"/>
          <p:cNvSpPr txBox="1"/>
          <p:nvPr/>
        </p:nvSpPr>
        <p:spPr>
          <a:xfrm>
            <a:off x="122582" y="995202"/>
            <a:ext cx="2216325" cy="1015663"/>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Program execution</a:t>
            </a:r>
          </a:p>
          <a:p>
            <a:r>
              <a:rPr lang="en-US" altLang="zh-CN" sz="2000" dirty="0">
                <a:latin typeface="Times New Roman" panose="02020603050405020304" pitchFamily="18" charset="0"/>
                <a:cs typeface="Times New Roman" panose="02020603050405020304" pitchFamily="18" charset="0"/>
              </a:rPr>
              <a:t>order</a:t>
            </a:r>
          </a:p>
          <a:p>
            <a:r>
              <a:rPr lang="en-US" altLang="zh-CN" sz="2000" dirty="0">
                <a:latin typeface="Times New Roman" panose="02020603050405020304" pitchFamily="18" charset="0"/>
                <a:cs typeface="Times New Roman" panose="02020603050405020304" pitchFamily="18" charset="0"/>
              </a:rPr>
              <a:t>(in instruction)</a:t>
            </a:r>
            <a:endParaRPr lang="zh-CN" altLang="en-US" sz="2000" dirty="0">
              <a:latin typeface="Times New Roman" panose="02020603050405020304" pitchFamily="18" charset="0"/>
              <a:cs typeface="Times New Roman" panose="02020603050405020304" pitchFamily="18" charset="0"/>
            </a:endParaRPr>
          </a:p>
        </p:txBody>
      </p:sp>
      <p:grpSp>
        <p:nvGrpSpPr>
          <p:cNvPr id="236" name="组合 235"/>
          <p:cNvGrpSpPr/>
          <p:nvPr/>
        </p:nvGrpSpPr>
        <p:grpSpPr>
          <a:xfrm>
            <a:off x="1078915" y="1257291"/>
            <a:ext cx="10791780" cy="2118349"/>
            <a:chOff x="1078915" y="1257291"/>
            <a:chExt cx="10791780" cy="2118349"/>
          </a:xfrm>
        </p:grpSpPr>
        <p:sp>
          <p:nvSpPr>
            <p:cNvPr id="63" name="矩形 62"/>
            <p:cNvSpPr/>
            <p:nvPr/>
          </p:nvSpPr>
          <p:spPr>
            <a:xfrm>
              <a:off x="2715611" y="1986695"/>
              <a:ext cx="958065" cy="385561"/>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Instruction fetch</a:t>
              </a:r>
            </a:p>
          </p:txBody>
        </p:sp>
        <p:sp>
          <p:nvSpPr>
            <p:cNvPr id="64" name="矩形 63"/>
            <p:cNvSpPr/>
            <p:nvPr/>
          </p:nvSpPr>
          <p:spPr>
            <a:xfrm>
              <a:off x="3673676" y="2372256"/>
              <a:ext cx="958065" cy="385561"/>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Instruction fetch</a:t>
              </a:r>
            </a:p>
          </p:txBody>
        </p:sp>
        <p:sp>
          <p:nvSpPr>
            <p:cNvPr id="65" name="文本框 64"/>
            <p:cNvSpPr txBox="1"/>
            <p:nvPr/>
          </p:nvSpPr>
          <p:spPr>
            <a:xfrm>
              <a:off x="2037416" y="1403298"/>
              <a:ext cx="754914" cy="400110"/>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Time</a:t>
              </a:r>
            </a:p>
          </p:txBody>
        </p:sp>
        <p:sp>
          <p:nvSpPr>
            <p:cNvPr id="66" name="矩形 65"/>
            <p:cNvSpPr/>
            <p:nvPr/>
          </p:nvSpPr>
          <p:spPr>
            <a:xfrm>
              <a:off x="4135831" y="1986695"/>
              <a:ext cx="495911" cy="384929"/>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sp>
          <p:nvSpPr>
            <p:cNvPr id="67" name="矩形 66"/>
            <p:cNvSpPr/>
            <p:nvPr/>
          </p:nvSpPr>
          <p:spPr>
            <a:xfrm>
              <a:off x="5589807" y="1986695"/>
              <a:ext cx="958065" cy="385561"/>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Data access</a:t>
              </a:r>
            </a:p>
          </p:txBody>
        </p:sp>
        <p:sp>
          <p:nvSpPr>
            <p:cNvPr id="68" name="矩形 67"/>
            <p:cNvSpPr/>
            <p:nvPr/>
          </p:nvSpPr>
          <p:spPr>
            <a:xfrm>
              <a:off x="5093896" y="2372888"/>
              <a:ext cx="495911" cy="384929"/>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Reg</a:t>
              </a:r>
            </a:p>
          </p:txBody>
        </p:sp>
        <p:sp>
          <p:nvSpPr>
            <p:cNvPr id="69" name="矩形 68"/>
            <p:cNvSpPr/>
            <p:nvPr/>
          </p:nvSpPr>
          <p:spPr>
            <a:xfrm>
              <a:off x="4631742" y="1986695"/>
              <a:ext cx="958065" cy="385561"/>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ALU</a:t>
              </a:r>
            </a:p>
          </p:txBody>
        </p:sp>
        <p:sp>
          <p:nvSpPr>
            <p:cNvPr id="70" name="矩形 69"/>
            <p:cNvSpPr/>
            <p:nvPr/>
          </p:nvSpPr>
          <p:spPr>
            <a:xfrm>
              <a:off x="5589807" y="2371624"/>
              <a:ext cx="958065" cy="385561"/>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ALU</a:t>
              </a:r>
            </a:p>
          </p:txBody>
        </p:sp>
        <p:sp>
          <p:nvSpPr>
            <p:cNvPr id="71" name="矩形 70"/>
            <p:cNvSpPr/>
            <p:nvPr/>
          </p:nvSpPr>
          <p:spPr>
            <a:xfrm>
              <a:off x="6547872" y="1987959"/>
              <a:ext cx="495911" cy="384929"/>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sp>
          <p:nvSpPr>
            <p:cNvPr id="72" name="矩形 71"/>
            <p:cNvSpPr/>
            <p:nvPr/>
          </p:nvSpPr>
          <p:spPr>
            <a:xfrm>
              <a:off x="6547872" y="2371624"/>
              <a:ext cx="958065" cy="385561"/>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Data access</a:t>
              </a:r>
            </a:p>
          </p:txBody>
        </p:sp>
        <p:sp>
          <p:nvSpPr>
            <p:cNvPr id="73" name="矩形 72"/>
            <p:cNvSpPr/>
            <p:nvPr/>
          </p:nvSpPr>
          <p:spPr>
            <a:xfrm>
              <a:off x="7505938" y="2372888"/>
              <a:ext cx="495911" cy="384929"/>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Reg</a:t>
              </a:r>
            </a:p>
          </p:txBody>
        </p:sp>
        <p:grpSp>
          <p:nvGrpSpPr>
            <p:cNvPr id="74" name="时间轴与坐标"/>
            <p:cNvGrpSpPr/>
            <p:nvPr/>
          </p:nvGrpSpPr>
          <p:grpSpPr>
            <a:xfrm>
              <a:off x="2715611" y="1257291"/>
              <a:ext cx="8984088" cy="450664"/>
              <a:chOff x="2564456" y="2569836"/>
              <a:chExt cx="9204478" cy="387006"/>
            </a:xfrm>
          </p:grpSpPr>
          <p:grpSp>
            <p:nvGrpSpPr>
              <p:cNvPr id="133" name="时间轴"/>
              <p:cNvGrpSpPr/>
              <p:nvPr/>
            </p:nvGrpSpPr>
            <p:grpSpPr>
              <a:xfrm>
                <a:off x="2564456" y="2866955"/>
                <a:ext cx="9204478" cy="89887"/>
                <a:chOff x="2564456" y="2846523"/>
                <a:chExt cx="9204478" cy="89887"/>
              </a:xfrm>
            </p:grpSpPr>
            <p:cxnSp>
              <p:nvCxnSpPr>
                <p:cNvPr id="142" name="直接箭头连接符 141"/>
                <p:cNvCxnSpPr/>
                <p:nvPr/>
              </p:nvCxnSpPr>
              <p:spPr>
                <a:xfrm>
                  <a:off x="2564456" y="2846523"/>
                  <a:ext cx="9204478" cy="5972"/>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143" name="直接连接符 142"/>
                <p:cNvCxnSpPr/>
                <p:nvPr/>
              </p:nvCxnSpPr>
              <p:spPr>
                <a:xfrm>
                  <a:off x="3540324" y="2852589"/>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144" name="直接连接符 143"/>
                <p:cNvCxnSpPr/>
                <p:nvPr/>
              </p:nvCxnSpPr>
              <p:spPr>
                <a:xfrm>
                  <a:off x="7482361" y="2850417"/>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145" name="直接连接符 144"/>
                <p:cNvCxnSpPr/>
                <p:nvPr/>
              </p:nvCxnSpPr>
              <p:spPr>
                <a:xfrm>
                  <a:off x="8511018" y="2850416"/>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146" name="直接连接符 145"/>
                <p:cNvCxnSpPr/>
                <p:nvPr/>
              </p:nvCxnSpPr>
              <p:spPr>
                <a:xfrm>
                  <a:off x="9485248" y="2850415"/>
                  <a:ext cx="0" cy="83821"/>
                </a:xfrm>
                <a:prstGeom prst="line">
                  <a:avLst/>
                </a:prstGeom>
                <a:ln w="15875"/>
              </p:spPr>
              <p:style>
                <a:lnRef idx="1">
                  <a:schemeClr val="dk1"/>
                </a:lnRef>
                <a:fillRef idx="0">
                  <a:schemeClr val="dk1"/>
                </a:fillRef>
                <a:effectRef idx="0">
                  <a:schemeClr val="dk1"/>
                </a:effectRef>
                <a:fontRef idx="minor">
                  <a:schemeClr val="tx1"/>
                </a:fontRef>
              </p:style>
            </p:cxnSp>
          </p:grpSp>
          <p:sp>
            <p:nvSpPr>
              <p:cNvPr id="134" name="文本框 133"/>
              <p:cNvSpPr txBox="1"/>
              <p:nvPr/>
            </p:nvSpPr>
            <p:spPr>
              <a:xfrm>
                <a:off x="3243041" y="2574432"/>
                <a:ext cx="595084" cy="343593"/>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200</a:t>
                </a:r>
                <a:endParaRPr lang="zh-CN" altLang="en-US" sz="2000" dirty="0">
                  <a:latin typeface="Times New Roman" panose="02020603050405020304" pitchFamily="18" charset="0"/>
                  <a:cs typeface="Times New Roman" panose="02020603050405020304" pitchFamily="18" charset="0"/>
                </a:endParaRPr>
              </a:p>
            </p:txBody>
          </p:sp>
          <p:sp>
            <p:nvSpPr>
              <p:cNvPr id="135" name="文本框 134"/>
              <p:cNvSpPr txBox="1"/>
              <p:nvPr/>
            </p:nvSpPr>
            <p:spPr>
              <a:xfrm>
                <a:off x="5231517" y="2569836"/>
                <a:ext cx="595084" cy="343593"/>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600</a:t>
                </a:r>
                <a:endParaRPr lang="zh-CN" altLang="en-US" sz="2000" dirty="0">
                  <a:latin typeface="Times New Roman" panose="02020603050405020304" pitchFamily="18" charset="0"/>
                  <a:cs typeface="Times New Roman" panose="02020603050405020304" pitchFamily="18" charset="0"/>
                </a:endParaRPr>
              </a:p>
            </p:txBody>
          </p:sp>
          <p:sp>
            <p:nvSpPr>
              <p:cNvPr id="136" name="文本框 135"/>
              <p:cNvSpPr txBox="1"/>
              <p:nvPr/>
            </p:nvSpPr>
            <p:spPr>
              <a:xfrm>
                <a:off x="4249588" y="2570126"/>
                <a:ext cx="595084" cy="343593"/>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400</a:t>
                </a:r>
                <a:endParaRPr lang="zh-CN" altLang="en-US" sz="2000" dirty="0">
                  <a:latin typeface="Times New Roman" panose="02020603050405020304" pitchFamily="18" charset="0"/>
                  <a:cs typeface="Times New Roman" panose="02020603050405020304" pitchFamily="18" charset="0"/>
                </a:endParaRPr>
              </a:p>
            </p:txBody>
          </p:sp>
          <p:sp>
            <p:nvSpPr>
              <p:cNvPr id="137" name="文本框 136"/>
              <p:cNvSpPr txBox="1"/>
              <p:nvPr/>
            </p:nvSpPr>
            <p:spPr>
              <a:xfrm>
                <a:off x="6213087" y="2569991"/>
                <a:ext cx="595084" cy="343593"/>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800</a:t>
                </a:r>
                <a:endParaRPr lang="zh-CN" altLang="en-US" sz="2000" dirty="0">
                  <a:latin typeface="Times New Roman" panose="02020603050405020304" pitchFamily="18" charset="0"/>
                  <a:cs typeface="Times New Roman" panose="02020603050405020304" pitchFamily="18" charset="0"/>
                </a:endParaRPr>
              </a:p>
            </p:txBody>
          </p:sp>
          <p:sp>
            <p:nvSpPr>
              <p:cNvPr id="138" name="文本框 137"/>
              <p:cNvSpPr txBox="1"/>
              <p:nvPr/>
            </p:nvSpPr>
            <p:spPr>
              <a:xfrm>
                <a:off x="8183811" y="2584603"/>
                <a:ext cx="870799" cy="343593"/>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1200</a:t>
                </a:r>
                <a:endParaRPr lang="zh-CN" altLang="en-US" sz="2000" dirty="0">
                  <a:latin typeface="Times New Roman" panose="02020603050405020304" pitchFamily="18" charset="0"/>
                  <a:cs typeface="Times New Roman" panose="02020603050405020304" pitchFamily="18" charset="0"/>
                </a:endParaRPr>
              </a:p>
            </p:txBody>
          </p:sp>
          <p:sp>
            <p:nvSpPr>
              <p:cNvPr id="139" name="文本框 138"/>
              <p:cNvSpPr txBox="1"/>
              <p:nvPr/>
            </p:nvSpPr>
            <p:spPr>
              <a:xfrm>
                <a:off x="7152460" y="2579608"/>
                <a:ext cx="827911" cy="343593"/>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1000</a:t>
                </a:r>
                <a:endParaRPr lang="zh-CN" altLang="en-US" sz="2000" dirty="0">
                  <a:latin typeface="Times New Roman" panose="02020603050405020304" pitchFamily="18" charset="0"/>
                  <a:cs typeface="Times New Roman" panose="02020603050405020304" pitchFamily="18" charset="0"/>
                </a:endParaRPr>
              </a:p>
            </p:txBody>
          </p:sp>
          <p:sp>
            <p:nvSpPr>
              <p:cNvPr id="140" name="文本框 139"/>
              <p:cNvSpPr txBox="1"/>
              <p:nvPr/>
            </p:nvSpPr>
            <p:spPr>
              <a:xfrm>
                <a:off x="9135299" y="2584646"/>
                <a:ext cx="850862" cy="343593"/>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1400</a:t>
                </a:r>
                <a:endParaRPr lang="zh-CN" altLang="en-US" sz="2000" dirty="0">
                  <a:latin typeface="Times New Roman" panose="02020603050405020304" pitchFamily="18" charset="0"/>
                  <a:cs typeface="Times New Roman" panose="02020603050405020304" pitchFamily="18" charset="0"/>
                </a:endParaRPr>
              </a:p>
            </p:txBody>
          </p:sp>
          <p:sp>
            <p:nvSpPr>
              <p:cNvPr id="141" name="文本框 140"/>
              <p:cNvSpPr txBox="1"/>
              <p:nvPr/>
            </p:nvSpPr>
            <p:spPr>
              <a:xfrm>
                <a:off x="10134594" y="2584864"/>
                <a:ext cx="833136" cy="343593"/>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1600</a:t>
                </a:r>
                <a:endParaRPr lang="zh-CN" altLang="en-US" sz="2000" dirty="0">
                  <a:latin typeface="Times New Roman" panose="02020603050405020304" pitchFamily="18" charset="0"/>
                  <a:cs typeface="Times New Roman" panose="02020603050405020304" pitchFamily="18" charset="0"/>
                </a:endParaRPr>
              </a:p>
            </p:txBody>
          </p:sp>
        </p:grpSp>
        <p:sp>
          <p:nvSpPr>
            <p:cNvPr id="75" name="文本框 74"/>
            <p:cNvSpPr txBox="1"/>
            <p:nvPr/>
          </p:nvSpPr>
          <p:spPr>
            <a:xfrm>
              <a:off x="11140769" y="1267402"/>
              <a:ext cx="729926" cy="400110"/>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1800</a:t>
              </a:r>
              <a:endParaRPr lang="zh-CN" altLang="en-US" sz="2000" dirty="0">
                <a:latin typeface="Times New Roman" panose="02020603050405020304" pitchFamily="18" charset="0"/>
                <a:cs typeface="Times New Roman" panose="02020603050405020304" pitchFamily="18" charset="0"/>
              </a:endParaRPr>
            </a:p>
          </p:txBody>
        </p:sp>
        <p:cxnSp>
          <p:nvCxnSpPr>
            <p:cNvPr id="76" name="直接连接符 75"/>
            <p:cNvCxnSpPr/>
            <p:nvPr/>
          </p:nvCxnSpPr>
          <p:spPr>
            <a:xfrm>
              <a:off x="11381776" y="1609983"/>
              <a:ext cx="0" cy="96074"/>
            </a:xfrm>
            <a:prstGeom prst="line">
              <a:avLst/>
            </a:prstGeom>
            <a:ln w="15875"/>
          </p:spPr>
          <p:style>
            <a:lnRef idx="1">
              <a:schemeClr val="dk1"/>
            </a:lnRef>
            <a:fillRef idx="0">
              <a:schemeClr val="dk1"/>
            </a:fillRef>
            <a:effectRef idx="0">
              <a:schemeClr val="dk1"/>
            </a:effectRef>
            <a:fontRef idx="minor">
              <a:schemeClr val="tx1"/>
            </a:fontRef>
          </p:style>
        </p:cxnSp>
        <p:cxnSp>
          <p:nvCxnSpPr>
            <p:cNvPr id="77" name="直接连接符 76"/>
            <p:cNvCxnSpPr/>
            <p:nvPr/>
          </p:nvCxnSpPr>
          <p:spPr>
            <a:xfrm>
              <a:off x="10423710" y="1607455"/>
              <a:ext cx="0" cy="97338"/>
            </a:xfrm>
            <a:prstGeom prst="line">
              <a:avLst/>
            </a:prstGeom>
            <a:ln w="15875"/>
          </p:spPr>
          <p:style>
            <a:lnRef idx="1">
              <a:schemeClr val="dk1"/>
            </a:lnRef>
            <a:fillRef idx="0">
              <a:schemeClr val="dk1"/>
            </a:fillRef>
            <a:effectRef idx="0">
              <a:schemeClr val="dk1"/>
            </a:effectRef>
            <a:fontRef idx="minor">
              <a:schemeClr val="tx1"/>
            </a:fontRef>
          </p:style>
        </p:cxnSp>
        <p:cxnSp>
          <p:nvCxnSpPr>
            <p:cNvPr id="78" name="直接连接符 77"/>
            <p:cNvCxnSpPr/>
            <p:nvPr/>
          </p:nvCxnSpPr>
          <p:spPr>
            <a:xfrm>
              <a:off x="5608833" y="1597974"/>
              <a:ext cx="0" cy="97338"/>
            </a:xfrm>
            <a:prstGeom prst="line">
              <a:avLst/>
            </a:prstGeom>
            <a:ln w="15875"/>
          </p:spPr>
          <p:style>
            <a:lnRef idx="1">
              <a:schemeClr val="dk1"/>
            </a:lnRef>
            <a:fillRef idx="0">
              <a:schemeClr val="dk1"/>
            </a:fillRef>
            <a:effectRef idx="0">
              <a:schemeClr val="dk1"/>
            </a:effectRef>
            <a:fontRef idx="minor">
              <a:schemeClr val="tx1"/>
            </a:fontRef>
          </p:style>
        </p:cxnSp>
        <p:cxnSp>
          <p:nvCxnSpPr>
            <p:cNvPr id="79" name="直接连接符 78"/>
            <p:cNvCxnSpPr/>
            <p:nvPr/>
          </p:nvCxnSpPr>
          <p:spPr>
            <a:xfrm>
              <a:off x="4650768" y="1597974"/>
              <a:ext cx="0" cy="97338"/>
            </a:xfrm>
            <a:prstGeom prst="line">
              <a:avLst/>
            </a:prstGeom>
            <a:ln w="15875"/>
          </p:spPr>
          <p:style>
            <a:lnRef idx="1">
              <a:schemeClr val="dk1"/>
            </a:lnRef>
            <a:fillRef idx="0">
              <a:schemeClr val="dk1"/>
            </a:fillRef>
            <a:effectRef idx="0">
              <a:schemeClr val="dk1"/>
            </a:effectRef>
            <a:fontRef idx="minor">
              <a:schemeClr val="tx1"/>
            </a:fontRef>
          </p:style>
        </p:cxnSp>
        <p:cxnSp>
          <p:nvCxnSpPr>
            <p:cNvPr id="80" name="直接连接符 79"/>
            <p:cNvCxnSpPr/>
            <p:nvPr/>
          </p:nvCxnSpPr>
          <p:spPr>
            <a:xfrm>
              <a:off x="6566899" y="1604295"/>
              <a:ext cx="0" cy="97338"/>
            </a:xfrm>
            <a:prstGeom prst="line">
              <a:avLst/>
            </a:prstGeom>
            <a:ln w="15875"/>
          </p:spPr>
          <p:style>
            <a:lnRef idx="1">
              <a:schemeClr val="dk1"/>
            </a:lnRef>
            <a:fillRef idx="0">
              <a:schemeClr val="dk1"/>
            </a:fillRef>
            <a:effectRef idx="0">
              <a:schemeClr val="dk1"/>
            </a:effectRef>
            <a:fontRef idx="minor">
              <a:schemeClr val="tx1"/>
            </a:fontRef>
          </p:style>
        </p:cxnSp>
        <p:cxnSp>
          <p:nvCxnSpPr>
            <p:cNvPr id="81" name="直接箭头连接符 80"/>
            <p:cNvCxnSpPr/>
            <p:nvPr/>
          </p:nvCxnSpPr>
          <p:spPr>
            <a:xfrm>
              <a:off x="1078915" y="2189045"/>
              <a:ext cx="0" cy="1186595"/>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2" name="文本框 81"/>
            <p:cNvSpPr txBox="1"/>
            <p:nvPr/>
          </p:nvSpPr>
          <p:spPr>
            <a:xfrm>
              <a:off x="1216231" y="2013985"/>
              <a:ext cx="1506636"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add x4, x5, x6</a:t>
              </a:r>
            </a:p>
          </p:txBody>
        </p:sp>
        <p:sp>
          <p:nvSpPr>
            <p:cNvPr id="83" name="文本框 82"/>
            <p:cNvSpPr txBox="1"/>
            <p:nvPr/>
          </p:nvSpPr>
          <p:spPr>
            <a:xfrm>
              <a:off x="1248926" y="2477832"/>
              <a:ext cx="1612131" cy="369332"/>
            </a:xfrm>
            <a:prstGeom prst="rect">
              <a:avLst/>
            </a:prstGeom>
            <a:noFill/>
          </p:spPr>
          <p:txBody>
            <a:bodyPr wrap="square" rtlCol="0">
              <a:spAutoFit/>
            </a:bodyPr>
            <a:lstStyle/>
            <a:p>
              <a:r>
                <a:rPr lang="en-US" altLang="zh-CN" dirty="0">
                  <a:solidFill>
                    <a:srgbClr val="47669C"/>
                  </a:solidFill>
                  <a:latin typeface="Times New Roman" panose="02020603050405020304" pitchFamily="18" charset="0"/>
                  <a:cs typeface="Times New Roman" panose="02020603050405020304" pitchFamily="18" charset="0"/>
                </a:rPr>
                <a:t>beq x1,x0,label</a:t>
              </a:r>
            </a:p>
          </p:txBody>
        </p:sp>
        <p:sp>
          <p:nvSpPr>
            <p:cNvPr id="84" name="文本框 83"/>
            <p:cNvSpPr txBox="1"/>
            <p:nvPr/>
          </p:nvSpPr>
          <p:spPr>
            <a:xfrm>
              <a:off x="1256065" y="2897854"/>
              <a:ext cx="1466803" cy="369332"/>
            </a:xfrm>
            <a:prstGeom prst="rect">
              <a:avLst/>
            </a:prstGeom>
            <a:noFill/>
          </p:spPr>
          <p:txBody>
            <a:bodyPr wrap="square" rtlCol="0">
              <a:spAutoFit/>
            </a:bodyPr>
            <a:lstStyle/>
            <a:p>
              <a:r>
                <a:rPr lang="en-US" altLang="zh-CN" dirty="0">
                  <a:solidFill>
                    <a:srgbClr val="47669C"/>
                  </a:solidFill>
                  <a:latin typeface="Times New Roman" panose="02020603050405020304" pitchFamily="18" charset="0"/>
                  <a:cs typeface="Times New Roman" panose="02020603050405020304" pitchFamily="18" charset="0"/>
                </a:rPr>
                <a:t>ld x3,400(x0)</a:t>
              </a:r>
            </a:p>
          </p:txBody>
        </p:sp>
        <p:cxnSp>
          <p:nvCxnSpPr>
            <p:cNvPr id="85" name="直接箭头连接符 84"/>
            <p:cNvCxnSpPr/>
            <p:nvPr/>
          </p:nvCxnSpPr>
          <p:spPr>
            <a:xfrm flipV="1">
              <a:off x="2706134" y="2470986"/>
              <a:ext cx="943299" cy="6846"/>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86" name="文本框 85"/>
            <p:cNvSpPr txBox="1"/>
            <p:nvPr/>
          </p:nvSpPr>
          <p:spPr>
            <a:xfrm>
              <a:off x="2651781" y="2531537"/>
              <a:ext cx="1086339" cy="305288"/>
            </a:xfrm>
            <a:prstGeom prst="rect">
              <a:avLst/>
            </a:prstGeom>
            <a:noFill/>
          </p:spPr>
          <p:txBody>
            <a:bodyPr wrap="square" rtlCol="0">
              <a:spAutoFit/>
            </a:bodyPr>
            <a:lstStyle/>
            <a:p>
              <a:pPr algn="ctr"/>
              <a:r>
                <a:rPr lang="en-US" altLang="zh-CN" sz="1400">
                  <a:latin typeface="Times New Roman" panose="02020603050405020304" pitchFamily="18" charset="0"/>
                  <a:cs typeface="Times New Roman" panose="02020603050405020304" pitchFamily="18" charset="0"/>
                </a:rPr>
                <a:t>200ps</a:t>
              </a:r>
            </a:p>
          </p:txBody>
        </p:sp>
        <p:grpSp>
          <p:nvGrpSpPr>
            <p:cNvPr id="88" name="组合 87"/>
            <p:cNvGrpSpPr/>
            <p:nvPr/>
          </p:nvGrpSpPr>
          <p:grpSpPr>
            <a:xfrm>
              <a:off x="3680935" y="2986210"/>
              <a:ext cx="946825" cy="360278"/>
              <a:chOff x="5021" y="8290"/>
              <a:chExt cx="3028" cy="570"/>
            </a:xfrm>
          </p:grpSpPr>
          <p:cxnSp>
            <p:nvCxnSpPr>
              <p:cNvPr id="131" name="直接箭头连接符 130"/>
              <p:cNvCxnSpPr/>
              <p:nvPr/>
            </p:nvCxnSpPr>
            <p:spPr>
              <a:xfrm>
                <a:off x="5021" y="8290"/>
                <a:ext cx="3028" cy="0"/>
              </a:xfrm>
              <a:prstGeom prst="straightConnector1">
                <a:avLst/>
              </a:prstGeom>
              <a:ln>
                <a:solidFill>
                  <a:srgbClr val="47669C"/>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132" name="文本框 131"/>
              <p:cNvSpPr txBox="1"/>
              <p:nvPr/>
            </p:nvSpPr>
            <p:spPr>
              <a:xfrm>
                <a:off x="5346" y="8373"/>
                <a:ext cx="2047" cy="487"/>
              </a:xfrm>
              <a:prstGeom prst="rect">
                <a:avLst/>
              </a:prstGeom>
              <a:noFill/>
            </p:spPr>
            <p:txBody>
              <a:bodyPr wrap="square" rtlCol="0">
                <a:spAutoFit/>
              </a:bodyPr>
              <a:lstStyle/>
              <a:p>
                <a:pPr algn="ctr"/>
                <a:r>
                  <a:rPr lang="en-US" altLang="zh-CN" sz="1400" dirty="0">
                    <a:solidFill>
                      <a:srgbClr val="47669C"/>
                    </a:solidFill>
                    <a:latin typeface="Times New Roman" panose="02020603050405020304" pitchFamily="18" charset="0"/>
                    <a:cs typeface="Times New Roman" panose="02020603050405020304" pitchFamily="18" charset="0"/>
                  </a:rPr>
                  <a:t>200ps</a:t>
                </a:r>
              </a:p>
            </p:txBody>
          </p:sp>
        </p:grpSp>
        <p:grpSp>
          <p:nvGrpSpPr>
            <p:cNvPr id="90" name="组合 89"/>
            <p:cNvGrpSpPr/>
            <p:nvPr/>
          </p:nvGrpSpPr>
          <p:grpSpPr>
            <a:xfrm>
              <a:off x="4631740" y="2754657"/>
              <a:ext cx="4328173" cy="386193"/>
              <a:chOff x="6477" y="7502"/>
              <a:chExt cx="7052" cy="611"/>
            </a:xfrm>
          </p:grpSpPr>
          <p:sp>
            <p:nvSpPr>
              <p:cNvPr id="91" name="矩形 90"/>
              <p:cNvSpPr/>
              <p:nvPr/>
            </p:nvSpPr>
            <p:spPr>
              <a:xfrm>
                <a:off x="6477" y="7503"/>
                <a:ext cx="1561" cy="61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Instruction fetch</a:t>
                </a:r>
              </a:p>
            </p:txBody>
          </p:sp>
          <p:sp>
            <p:nvSpPr>
              <p:cNvPr id="92" name="矩形 91"/>
              <p:cNvSpPr/>
              <p:nvPr/>
            </p:nvSpPr>
            <p:spPr>
              <a:xfrm>
                <a:off x="8791" y="7504"/>
                <a:ext cx="808" cy="609"/>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sp>
            <p:nvSpPr>
              <p:cNvPr id="93" name="矩形 92"/>
              <p:cNvSpPr/>
              <p:nvPr/>
            </p:nvSpPr>
            <p:spPr>
              <a:xfrm>
                <a:off x="12721" y="7502"/>
                <a:ext cx="808" cy="609"/>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sp>
            <p:nvSpPr>
              <p:cNvPr id="94" name="矩形 93"/>
              <p:cNvSpPr/>
              <p:nvPr/>
            </p:nvSpPr>
            <p:spPr>
              <a:xfrm>
                <a:off x="9599" y="7502"/>
                <a:ext cx="1561" cy="61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ALU</a:t>
                </a:r>
              </a:p>
            </p:txBody>
          </p:sp>
          <p:sp>
            <p:nvSpPr>
              <p:cNvPr id="95" name="矩形 94"/>
              <p:cNvSpPr/>
              <p:nvPr/>
            </p:nvSpPr>
            <p:spPr>
              <a:xfrm>
                <a:off x="11160" y="7502"/>
                <a:ext cx="1561" cy="61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Data access</a:t>
                </a:r>
              </a:p>
            </p:txBody>
          </p:sp>
        </p:grpSp>
      </p:grpSp>
      <p:grpSp>
        <p:nvGrpSpPr>
          <p:cNvPr id="235" name="组合 234"/>
          <p:cNvGrpSpPr/>
          <p:nvPr/>
        </p:nvGrpSpPr>
        <p:grpSpPr>
          <a:xfrm>
            <a:off x="251891" y="3785936"/>
            <a:ext cx="11715543" cy="2994852"/>
            <a:chOff x="284754" y="3785936"/>
            <a:chExt cx="11289862" cy="2994852"/>
          </a:xfrm>
        </p:grpSpPr>
        <p:sp>
          <p:nvSpPr>
            <p:cNvPr id="148" name="矩形 147"/>
            <p:cNvSpPr/>
            <p:nvPr/>
          </p:nvSpPr>
          <p:spPr>
            <a:xfrm>
              <a:off x="2806217" y="4851089"/>
              <a:ext cx="923478" cy="385561"/>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Instruction fetch</a:t>
              </a:r>
            </a:p>
          </p:txBody>
        </p:sp>
        <p:sp>
          <p:nvSpPr>
            <p:cNvPr id="149" name="矩形 148"/>
            <p:cNvSpPr/>
            <p:nvPr/>
          </p:nvSpPr>
          <p:spPr>
            <a:xfrm>
              <a:off x="3729696" y="5236650"/>
              <a:ext cx="923478" cy="385561"/>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Instruction fetch</a:t>
              </a:r>
            </a:p>
          </p:txBody>
        </p:sp>
        <p:sp>
          <p:nvSpPr>
            <p:cNvPr id="150" name="文本框 149"/>
            <p:cNvSpPr txBox="1"/>
            <p:nvPr/>
          </p:nvSpPr>
          <p:spPr>
            <a:xfrm>
              <a:off x="2152506" y="4267692"/>
              <a:ext cx="727661" cy="400110"/>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Time</a:t>
              </a:r>
            </a:p>
          </p:txBody>
        </p:sp>
        <p:sp>
          <p:nvSpPr>
            <p:cNvPr id="151" name="矩形 150"/>
            <p:cNvSpPr/>
            <p:nvPr/>
          </p:nvSpPr>
          <p:spPr>
            <a:xfrm>
              <a:off x="4175166" y="4851089"/>
              <a:ext cx="478008" cy="384929"/>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sp>
          <p:nvSpPr>
            <p:cNvPr id="152" name="矩形 151"/>
            <p:cNvSpPr/>
            <p:nvPr/>
          </p:nvSpPr>
          <p:spPr>
            <a:xfrm>
              <a:off x="5576653" y="4851089"/>
              <a:ext cx="923478" cy="385561"/>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Data access</a:t>
              </a:r>
            </a:p>
          </p:txBody>
        </p:sp>
        <p:sp>
          <p:nvSpPr>
            <p:cNvPr id="153" name="矩形 152"/>
            <p:cNvSpPr/>
            <p:nvPr/>
          </p:nvSpPr>
          <p:spPr>
            <a:xfrm>
              <a:off x="5098645" y="5237282"/>
              <a:ext cx="478008" cy="384929"/>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sp>
          <p:nvSpPr>
            <p:cNvPr id="154" name="矩形 153"/>
            <p:cNvSpPr/>
            <p:nvPr/>
          </p:nvSpPr>
          <p:spPr>
            <a:xfrm>
              <a:off x="4653174" y="4851089"/>
              <a:ext cx="923478" cy="385561"/>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ALU</a:t>
              </a:r>
            </a:p>
          </p:txBody>
        </p:sp>
        <p:sp>
          <p:nvSpPr>
            <p:cNvPr id="155" name="矩形 154"/>
            <p:cNvSpPr/>
            <p:nvPr/>
          </p:nvSpPr>
          <p:spPr>
            <a:xfrm>
              <a:off x="5576653" y="5236018"/>
              <a:ext cx="923478" cy="385561"/>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ALU</a:t>
              </a:r>
            </a:p>
          </p:txBody>
        </p:sp>
        <p:sp>
          <p:nvSpPr>
            <p:cNvPr id="156" name="矩形 155"/>
            <p:cNvSpPr/>
            <p:nvPr/>
          </p:nvSpPr>
          <p:spPr>
            <a:xfrm>
              <a:off x="6500131" y="4852353"/>
              <a:ext cx="478008" cy="384929"/>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sp>
          <p:nvSpPr>
            <p:cNvPr id="157" name="矩形 156"/>
            <p:cNvSpPr/>
            <p:nvPr/>
          </p:nvSpPr>
          <p:spPr>
            <a:xfrm>
              <a:off x="6500131" y="5236018"/>
              <a:ext cx="923478" cy="385561"/>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Data access</a:t>
              </a:r>
            </a:p>
          </p:txBody>
        </p:sp>
        <p:sp>
          <p:nvSpPr>
            <p:cNvPr id="158" name="矩形 157"/>
            <p:cNvSpPr/>
            <p:nvPr/>
          </p:nvSpPr>
          <p:spPr>
            <a:xfrm>
              <a:off x="7423610" y="5237282"/>
              <a:ext cx="478008" cy="384929"/>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grpSp>
          <p:nvGrpSpPr>
            <p:cNvPr id="159" name="时间轴与坐标"/>
            <p:cNvGrpSpPr/>
            <p:nvPr/>
          </p:nvGrpSpPr>
          <p:grpSpPr>
            <a:xfrm>
              <a:off x="2806217" y="4121685"/>
              <a:ext cx="8659755" cy="450664"/>
              <a:chOff x="2564456" y="2569836"/>
              <a:chExt cx="9204478" cy="387006"/>
            </a:xfrm>
          </p:grpSpPr>
          <p:grpSp>
            <p:nvGrpSpPr>
              <p:cNvPr id="218" name="时间轴"/>
              <p:cNvGrpSpPr/>
              <p:nvPr/>
            </p:nvGrpSpPr>
            <p:grpSpPr>
              <a:xfrm>
                <a:off x="2564456" y="2866955"/>
                <a:ext cx="9204478" cy="89887"/>
                <a:chOff x="2564456" y="2846523"/>
                <a:chExt cx="9204478" cy="89887"/>
              </a:xfrm>
            </p:grpSpPr>
            <p:cxnSp>
              <p:nvCxnSpPr>
                <p:cNvPr id="227" name="直接箭头连接符 226"/>
                <p:cNvCxnSpPr/>
                <p:nvPr/>
              </p:nvCxnSpPr>
              <p:spPr>
                <a:xfrm>
                  <a:off x="2564456" y="2846523"/>
                  <a:ext cx="9204478" cy="5972"/>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228" name="直接连接符 227"/>
                <p:cNvCxnSpPr/>
                <p:nvPr/>
              </p:nvCxnSpPr>
              <p:spPr>
                <a:xfrm>
                  <a:off x="3540324" y="2852589"/>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229" name="直接连接符 228"/>
                <p:cNvCxnSpPr/>
                <p:nvPr/>
              </p:nvCxnSpPr>
              <p:spPr>
                <a:xfrm>
                  <a:off x="7482361" y="2850417"/>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230" name="直接连接符 229"/>
                <p:cNvCxnSpPr/>
                <p:nvPr/>
              </p:nvCxnSpPr>
              <p:spPr>
                <a:xfrm>
                  <a:off x="8511018" y="2850416"/>
                  <a:ext cx="0" cy="83821"/>
                </a:xfrm>
                <a:prstGeom prst="line">
                  <a:avLst/>
                </a:prstGeom>
                <a:ln w="15875"/>
              </p:spPr>
              <p:style>
                <a:lnRef idx="1">
                  <a:schemeClr val="dk1"/>
                </a:lnRef>
                <a:fillRef idx="0">
                  <a:schemeClr val="dk1"/>
                </a:fillRef>
                <a:effectRef idx="0">
                  <a:schemeClr val="dk1"/>
                </a:effectRef>
                <a:fontRef idx="minor">
                  <a:schemeClr val="tx1"/>
                </a:fontRef>
              </p:style>
            </p:cxnSp>
            <p:cxnSp>
              <p:nvCxnSpPr>
                <p:cNvPr id="231" name="直接连接符 230"/>
                <p:cNvCxnSpPr/>
                <p:nvPr/>
              </p:nvCxnSpPr>
              <p:spPr>
                <a:xfrm>
                  <a:off x="9485248" y="2850415"/>
                  <a:ext cx="0" cy="83821"/>
                </a:xfrm>
                <a:prstGeom prst="line">
                  <a:avLst/>
                </a:prstGeom>
                <a:ln w="15875"/>
              </p:spPr>
              <p:style>
                <a:lnRef idx="1">
                  <a:schemeClr val="dk1"/>
                </a:lnRef>
                <a:fillRef idx="0">
                  <a:schemeClr val="dk1"/>
                </a:fillRef>
                <a:effectRef idx="0">
                  <a:schemeClr val="dk1"/>
                </a:effectRef>
                <a:fontRef idx="minor">
                  <a:schemeClr val="tx1"/>
                </a:fontRef>
              </p:style>
            </p:cxnSp>
          </p:grpSp>
          <p:sp>
            <p:nvSpPr>
              <p:cNvPr id="219" name="文本框 218"/>
              <p:cNvSpPr txBox="1"/>
              <p:nvPr/>
            </p:nvSpPr>
            <p:spPr>
              <a:xfrm>
                <a:off x="3243041" y="2574432"/>
                <a:ext cx="595084" cy="343593"/>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200</a:t>
                </a:r>
                <a:endParaRPr lang="zh-CN" altLang="en-US" sz="2000" dirty="0">
                  <a:latin typeface="Times New Roman" panose="02020603050405020304" pitchFamily="18" charset="0"/>
                  <a:cs typeface="Times New Roman" panose="02020603050405020304" pitchFamily="18" charset="0"/>
                </a:endParaRPr>
              </a:p>
            </p:txBody>
          </p:sp>
          <p:sp>
            <p:nvSpPr>
              <p:cNvPr id="220" name="文本框 219"/>
              <p:cNvSpPr txBox="1"/>
              <p:nvPr/>
            </p:nvSpPr>
            <p:spPr>
              <a:xfrm>
                <a:off x="5231517" y="2569836"/>
                <a:ext cx="595084" cy="343593"/>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600</a:t>
                </a:r>
                <a:endParaRPr lang="zh-CN" altLang="en-US" sz="2000" dirty="0">
                  <a:latin typeface="Times New Roman" panose="02020603050405020304" pitchFamily="18" charset="0"/>
                  <a:cs typeface="Times New Roman" panose="02020603050405020304" pitchFamily="18" charset="0"/>
                </a:endParaRPr>
              </a:p>
            </p:txBody>
          </p:sp>
          <p:sp>
            <p:nvSpPr>
              <p:cNvPr id="221" name="文本框 220"/>
              <p:cNvSpPr txBox="1"/>
              <p:nvPr/>
            </p:nvSpPr>
            <p:spPr>
              <a:xfrm>
                <a:off x="4249588" y="2570126"/>
                <a:ext cx="595084" cy="343593"/>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400</a:t>
                </a:r>
                <a:endParaRPr lang="zh-CN" altLang="en-US" sz="2000" dirty="0">
                  <a:latin typeface="Times New Roman" panose="02020603050405020304" pitchFamily="18" charset="0"/>
                  <a:cs typeface="Times New Roman" panose="02020603050405020304" pitchFamily="18" charset="0"/>
                </a:endParaRPr>
              </a:p>
            </p:txBody>
          </p:sp>
          <p:sp>
            <p:nvSpPr>
              <p:cNvPr id="222" name="文本框 221"/>
              <p:cNvSpPr txBox="1"/>
              <p:nvPr/>
            </p:nvSpPr>
            <p:spPr>
              <a:xfrm>
                <a:off x="6213087" y="2569991"/>
                <a:ext cx="595084" cy="343593"/>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800</a:t>
                </a:r>
                <a:endParaRPr lang="zh-CN" altLang="en-US" sz="2000" dirty="0">
                  <a:latin typeface="Times New Roman" panose="02020603050405020304" pitchFamily="18" charset="0"/>
                  <a:cs typeface="Times New Roman" panose="02020603050405020304" pitchFamily="18" charset="0"/>
                </a:endParaRPr>
              </a:p>
            </p:txBody>
          </p:sp>
          <p:sp>
            <p:nvSpPr>
              <p:cNvPr id="223" name="文本框 222"/>
              <p:cNvSpPr txBox="1"/>
              <p:nvPr/>
            </p:nvSpPr>
            <p:spPr>
              <a:xfrm>
                <a:off x="8183812" y="2584603"/>
                <a:ext cx="778127" cy="343593"/>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1200</a:t>
                </a:r>
                <a:endParaRPr lang="zh-CN" altLang="en-US" sz="2000" dirty="0">
                  <a:latin typeface="Times New Roman" panose="02020603050405020304" pitchFamily="18" charset="0"/>
                  <a:cs typeface="Times New Roman" panose="02020603050405020304" pitchFamily="18" charset="0"/>
                </a:endParaRPr>
              </a:p>
            </p:txBody>
          </p:sp>
          <p:sp>
            <p:nvSpPr>
              <p:cNvPr id="224" name="文本框 223"/>
              <p:cNvSpPr txBox="1"/>
              <p:nvPr/>
            </p:nvSpPr>
            <p:spPr>
              <a:xfrm>
                <a:off x="7152458" y="2579608"/>
                <a:ext cx="952440" cy="343593"/>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1000</a:t>
                </a:r>
                <a:endParaRPr lang="zh-CN" altLang="en-US" sz="2000" dirty="0">
                  <a:latin typeface="Times New Roman" panose="02020603050405020304" pitchFamily="18" charset="0"/>
                  <a:cs typeface="Times New Roman" panose="02020603050405020304" pitchFamily="18" charset="0"/>
                </a:endParaRPr>
              </a:p>
            </p:txBody>
          </p:sp>
          <p:sp>
            <p:nvSpPr>
              <p:cNvPr id="225" name="文本框 224"/>
              <p:cNvSpPr txBox="1"/>
              <p:nvPr/>
            </p:nvSpPr>
            <p:spPr>
              <a:xfrm>
                <a:off x="9135299" y="2584646"/>
                <a:ext cx="833401" cy="343593"/>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1400</a:t>
                </a:r>
                <a:endParaRPr lang="zh-CN" altLang="en-US" sz="2000" dirty="0">
                  <a:latin typeface="Times New Roman" panose="02020603050405020304" pitchFamily="18" charset="0"/>
                  <a:cs typeface="Times New Roman" panose="02020603050405020304" pitchFamily="18" charset="0"/>
                </a:endParaRPr>
              </a:p>
            </p:txBody>
          </p:sp>
          <p:sp>
            <p:nvSpPr>
              <p:cNvPr id="226" name="文本框 225"/>
              <p:cNvSpPr txBox="1"/>
              <p:nvPr/>
            </p:nvSpPr>
            <p:spPr>
              <a:xfrm>
                <a:off x="10134593" y="2584864"/>
                <a:ext cx="773427" cy="343593"/>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1600</a:t>
                </a:r>
                <a:endParaRPr lang="zh-CN" altLang="en-US" sz="2000" dirty="0">
                  <a:latin typeface="Times New Roman" panose="02020603050405020304" pitchFamily="18" charset="0"/>
                  <a:cs typeface="Times New Roman" panose="02020603050405020304" pitchFamily="18" charset="0"/>
                </a:endParaRPr>
              </a:p>
            </p:txBody>
          </p:sp>
        </p:grpSp>
        <p:sp>
          <p:nvSpPr>
            <p:cNvPr id="160" name="文本框 159"/>
            <p:cNvSpPr txBox="1"/>
            <p:nvPr/>
          </p:nvSpPr>
          <p:spPr>
            <a:xfrm>
              <a:off x="10891534" y="4138750"/>
              <a:ext cx="683082" cy="400110"/>
            </a:xfrm>
            <a:prstGeom prst="rect">
              <a:avLst/>
            </a:prstGeom>
            <a:noFill/>
          </p:spPr>
          <p:txBody>
            <a:bodyPr wrap="square" rtlCol="0">
              <a:spAutoFit/>
            </a:bodyPr>
            <a:lstStyle/>
            <a:p>
              <a:pPr algn="ctr"/>
              <a:r>
                <a:rPr lang="en-US" altLang="zh-CN" sz="2000" dirty="0">
                  <a:latin typeface="Times New Roman" panose="02020603050405020304" pitchFamily="18" charset="0"/>
                  <a:cs typeface="Times New Roman" panose="02020603050405020304" pitchFamily="18" charset="0"/>
                </a:rPr>
                <a:t>1800</a:t>
              </a:r>
              <a:endParaRPr lang="zh-CN" altLang="en-US" sz="2000" dirty="0">
                <a:latin typeface="Times New Roman" panose="02020603050405020304" pitchFamily="18" charset="0"/>
                <a:cs typeface="Times New Roman" panose="02020603050405020304" pitchFamily="18" charset="0"/>
              </a:endParaRPr>
            </a:p>
          </p:txBody>
        </p:sp>
        <p:cxnSp>
          <p:nvCxnSpPr>
            <p:cNvPr id="161" name="直接连接符 160"/>
            <p:cNvCxnSpPr/>
            <p:nvPr/>
          </p:nvCxnSpPr>
          <p:spPr>
            <a:xfrm>
              <a:off x="11159527" y="4474377"/>
              <a:ext cx="0" cy="96074"/>
            </a:xfrm>
            <a:prstGeom prst="line">
              <a:avLst/>
            </a:prstGeom>
            <a:ln w="15875"/>
          </p:spPr>
          <p:style>
            <a:lnRef idx="1">
              <a:schemeClr val="dk1"/>
            </a:lnRef>
            <a:fillRef idx="0">
              <a:schemeClr val="dk1"/>
            </a:fillRef>
            <a:effectRef idx="0">
              <a:schemeClr val="dk1"/>
            </a:effectRef>
            <a:fontRef idx="minor">
              <a:schemeClr val="tx1"/>
            </a:fontRef>
          </p:style>
        </p:cxnSp>
        <p:cxnSp>
          <p:nvCxnSpPr>
            <p:cNvPr id="162" name="直接连接符 161"/>
            <p:cNvCxnSpPr/>
            <p:nvPr/>
          </p:nvCxnSpPr>
          <p:spPr>
            <a:xfrm>
              <a:off x="10236048" y="4471849"/>
              <a:ext cx="0" cy="97338"/>
            </a:xfrm>
            <a:prstGeom prst="line">
              <a:avLst/>
            </a:prstGeom>
            <a:ln w="15875"/>
          </p:spPr>
          <p:style>
            <a:lnRef idx="1">
              <a:schemeClr val="dk1"/>
            </a:lnRef>
            <a:fillRef idx="0">
              <a:schemeClr val="dk1"/>
            </a:fillRef>
            <a:effectRef idx="0">
              <a:schemeClr val="dk1"/>
            </a:effectRef>
            <a:fontRef idx="minor">
              <a:schemeClr val="tx1"/>
            </a:fontRef>
          </p:style>
        </p:cxnSp>
        <p:cxnSp>
          <p:nvCxnSpPr>
            <p:cNvPr id="163" name="直接连接符 162"/>
            <p:cNvCxnSpPr/>
            <p:nvPr/>
          </p:nvCxnSpPr>
          <p:spPr>
            <a:xfrm>
              <a:off x="5594992" y="4462368"/>
              <a:ext cx="0" cy="97338"/>
            </a:xfrm>
            <a:prstGeom prst="line">
              <a:avLst/>
            </a:prstGeom>
            <a:ln w="15875"/>
          </p:spPr>
          <p:style>
            <a:lnRef idx="1">
              <a:schemeClr val="dk1"/>
            </a:lnRef>
            <a:fillRef idx="0">
              <a:schemeClr val="dk1"/>
            </a:fillRef>
            <a:effectRef idx="0">
              <a:schemeClr val="dk1"/>
            </a:effectRef>
            <a:fontRef idx="minor">
              <a:schemeClr val="tx1"/>
            </a:fontRef>
          </p:style>
        </p:cxnSp>
        <p:cxnSp>
          <p:nvCxnSpPr>
            <p:cNvPr id="164" name="直接连接符 163"/>
            <p:cNvCxnSpPr/>
            <p:nvPr/>
          </p:nvCxnSpPr>
          <p:spPr>
            <a:xfrm>
              <a:off x="4671514" y="4462368"/>
              <a:ext cx="0" cy="97338"/>
            </a:xfrm>
            <a:prstGeom prst="line">
              <a:avLst/>
            </a:prstGeom>
            <a:ln w="15875"/>
          </p:spPr>
          <p:style>
            <a:lnRef idx="1">
              <a:schemeClr val="dk1"/>
            </a:lnRef>
            <a:fillRef idx="0">
              <a:schemeClr val="dk1"/>
            </a:fillRef>
            <a:effectRef idx="0">
              <a:schemeClr val="dk1"/>
            </a:effectRef>
            <a:fontRef idx="minor">
              <a:schemeClr val="tx1"/>
            </a:fontRef>
          </p:style>
        </p:cxnSp>
        <p:cxnSp>
          <p:nvCxnSpPr>
            <p:cNvPr id="165" name="直接连接符 164"/>
            <p:cNvCxnSpPr/>
            <p:nvPr/>
          </p:nvCxnSpPr>
          <p:spPr>
            <a:xfrm>
              <a:off x="6518471" y="4468689"/>
              <a:ext cx="0" cy="97338"/>
            </a:xfrm>
            <a:prstGeom prst="line">
              <a:avLst/>
            </a:prstGeom>
            <a:ln w="15875"/>
          </p:spPr>
          <p:style>
            <a:lnRef idx="1">
              <a:schemeClr val="dk1"/>
            </a:lnRef>
            <a:fillRef idx="0">
              <a:schemeClr val="dk1"/>
            </a:fillRef>
            <a:effectRef idx="0">
              <a:schemeClr val="dk1"/>
            </a:effectRef>
            <a:fontRef idx="minor">
              <a:schemeClr val="tx1"/>
            </a:fontRef>
          </p:style>
        </p:cxnSp>
        <p:cxnSp>
          <p:nvCxnSpPr>
            <p:cNvPr id="166" name="直接箭头连接符 165"/>
            <p:cNvCxnSpPr/>
            <p:nvPr/>
          </p:nvCxnSpPr>
          <p:spPr>
            <a:xfrm flipH="1">
              <a:off x="1081602" y="5107155"/>
              <a:ext cx="1" cy="1495571"/>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7" name="文本框 166"/>
            <p:cNvSpPr txBox="1"/>
            <p:nvPr/>
          </p:nvSpPr>
          <p:spPr>
            <a:xfrm>
              <a:off x="1228041" y="4907054"/>
              <a:ext cx="1504846"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add x4, x5, x6</a:t>
              </a:r>
            </a:p>
          </p:txBody>
        </p:sp>
        <p:sp>
          <p:nvSpPr>
            <p:cNvPr id="168" name="文本框 167"/>
            <p:cNvSpPr txBox="1"/>
            <p:nvPr/>
          </p:nvSpPr>
          <p:spPr>
            <a:xfrm>
              <a:off x="1252442" y="5355265"/>
              <a:ext cx="1615276" cy="369332"/>
            </a:xfrm>
            <a:prstGeom prst="rect">
              <a:avLst/>
            </a:prstGeom>
            <a:noFill/>
          </p:spPr>
          <p:txBody>
            <a:bodyPr wrap="square" rtlCol="0">
              <a:spAutoFit/>
            </a:bodyPr>
            <a:lstStyle/>
            <a:p>
              <a:r>
                <a:rPr lang="en-US" altLang="zh-CN" dirty="0">
                  <a:solidFill>
                    <a:srgbClr val="47669C"/>
                  </a:solidFill>
                  <a:latin typeface="Times New Roman" panose="02020603050405020304" pitchFamily="18" charset="0"/>
                  <a:cs typeface="Times New Roman" panose="02020603050405020304" pitchFamily="18" charset="0"/>
                </a:rPr>
                <a:t>beq x1,x0,label</a:t>
              </a:r>
            </a:p>
          </p:txBody>
        </p:sp>
        <p:sp>
          <p:nvSpPr>
            <p:cNvPr id="169" name="文本框 168"/>
            <p:cNvSpPr txBox="1"/>
            <p:nvPr/>
          </p:nvSpPr>
          <p:spPr>
            <a:xfrm>
              <a:off x="1994608" y="6279561"/>
              <a:ext cx="1351142" cy="369332"/>
            </a:xfrm>
            <a:prstGeom prst="rect">
              <a:avLst/>
            </a:prstGeom>
            <a:noFill/>
          </p:spPr>
          <p:txBody>
            <a:bodyPr wrap="square" rtlCol="0">
              <a:spAutoFit/>
            </a:bodyPr>
            <a:lstStyle/>
            <a:p>
              <a:r>
                <a:rPr lang="en-US" altLang="zh-CN" dirty="0">
                  <a:solidFill>
                    <a:srgbClr val="47669C"/>
                  </a:solidFill>
                  <a:latin typeface="Times New Roman" panose="02020603050405020304" pitchFamily="18" charset="0"/>
                  <a:cs typeface="Times New Roman" panose="02020603050405020304" pitchFamily="18" charset="0"/>
                </a:rPr>
                <a:t>or x7,x8,x9</a:t>
              </a:r>
            </a:p>
          </p:txBody>
        </p:sp>
        <p:cxnSp>
          <p:nvCxnSpPr>
            <p:cNvPr id="170" name="直接箭头连接符 169"/>
            <p:cNvCxnSpPr/>
            <p:nvPr/>
          </p:nvCxnSpPr>
          <p:spPr>
            <a:xfrm flipV="1">
              <a:off x="2799118" y="5343469"/>
              <a:ext cx="937677" cy="3160"/>
            </a:xfrm>
            <a:prstGeom prst="straightConnector1">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171" name="文本框 170"/>
            <p:cNvSpPr txBox="1"/>
            <p:nvPr/>
          </p:nvSpPr>
          <p:spPr>
            <a:xfrm>
              <a:off x="2744691" y="5395931"/>
              <a:ext cx="1047122" cy="305288"/>
            </a:xfrm>
            <a:prstGeom prst="rect">
              <a:avLst/>
            </a:prstGeom>
            <a:noFill/>
          </p:spPr>
          <p:txBody>
            <a:bodyPr wrap="square" rtlCol="0">
              <a:spAutoFit/>
            </a:bodyPr>
            <a:lstStyle/>
            <a:p>
              <a:pPr algn="ctr"/>
              <a:r>
                <a:rPr lang="en-US" altLang="zh-CN" sz="1400">
                  <a:latin typeface="Times New Roman" panose="02020603050405020304" pitchFamily="18" charset="0"/>
                  <a:cs typeface="Times New Roman" panose="02020603050405020304" pitchFamily="18" charset="0"/>
                </a:rPr>
                <a:t>200ps</a:t>
              </a:r>
            </a:p>
          </p:txBody>
        </p:sp>
        <p:sp>
          <p:nvSpPr>
            <p:cNvPr id="172" name="文本框 171"/>
            <p:cNvSpPr txBox="1"/>
            <p:nvPr/>
          </p:nvSpPr>
          <p:spPr>
            <a:xfrm>
              <a:off x="284754" y="3785936"/>
              <a:ext cx="2094564" cy="1015663"/>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Program execution</a:t>
              </a:r>
            </a:p>
            <a:p>
              <a:r>
                <a:rPr lang="en-US" altLang="zh-CN" sz="2000" dirty="0">
                  <a:latin typeface="Times New Roman" panose="02020603050405020304" pitchFamily="18" charset="0"/>
                  <a:cs typeface="Times New Roman" panose="02020603050405020304" pitchFamily="18" charset="0"/>
                </a:rPr>
                <a:t>order</a:t>
              </a:r>
            </a:p>
            <a:p>
              <a:r>
                <a:rPr lang="en-US" altLang="zh-CN" sz="2000" dirty="0">
                  <a:latin typeface="Times New Roman" panose="02020603050405020304" pitchFamily="18" charset="0"/>
                  <a:cs typeface="Times New Roman" panose="02020603050405020304" pitchFamily="18" charset="0"/>
                </a:rPr>
                <a:t>(in instruction)</a:t>
              </a:r>
              <a:endParaRPr lang="zh-CN" altLang="en-US" sz="2000" dirty="0">
                <a:latin typeface="Times New Roman" panose="02020603050405020304" pitchFamily="18" charset="0"/>
                <a:cs typeface="Times New Roman" panose="02020603050405020304" pitchFamily="18" charset="0"/>
              </a:endParaRPr>
            </a:p>
          </p:txBody>
        </p:sp>
        <p:grpSp>
          <p:nvGrpSpPr>
            <p:cNvPr id="173" name="组合 172"/>
            <p:cNvGrpSpPr/>
            <p:nvPr/>
          </p:nvGrpSpPr>
          <p:grpSpPr>
            <a:xfrm>
              <a:off x="3736794" y="6423038"/>
              <a:ext cx="1816194" cy="357750"/>
              <a:chOff x="4979" y="8290"/>
              <a:chExt cx="3070" cy="566"/>
            </a:xfrm>
            <a:solidFill>
              <a:schemeClr val="bg1"/>
            </a:solidFill>
          </p:grpSpPr>
          <p:cxnSp>
            <p:nvCxnSpPr>
              <p:cNvPr id="216" name="直接箭头连接符 215"/>
              <p:cNvCxnSpPr/>
              <p:nvPr/>
            </p:nvCxnSpPr>
            <p:spPr>
              <a:xfrm>
                <a:off x="4979" y="8290"/>
                <a:ext cx="3070" cy="0"/>
              </a:xfrm>
              <a:prstGeom prst="straightConnector1">
                <a:avLst/>
              </a:prstGeom>
              <a:grpFill/>
              <a:ln w="25400">
                <a:solidFill>
                  <a:srgbClr val="47669C"/>
                </a:solidFill>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17" name="文本框 216"/>
              <p:cNvSpPr txBox="1"/>
              <p:nvPr/>
            </p:nvSpPr>
            <p:spPr>
              <a:xfrm>
                <a:off x="5623" y="8373"/>
                <a:ext cx="1770" cy="483"/>
              </a:xfrm>
              <a:prstGeom prst="rect">
                <a:avLst/>
              </a:prstGeom>
              <a:grpFill/>
            </p:spPr>
            <p:txBody>
              <a:bodyPr wrap="square" rtlCol="0">
                <a:spAutoFit/>
              </a:bodyPr>
              <a:lstStyle/>
              <a:p>
                <a:pPr algn="ctr"/>
                <a:r>
                  <a:rPr lang="en-US" altLang="zh-CN" sz="1400" dirty="0">
                    <a:solidFill>
                      <a:srgbClr val="47669C"/>
                    </a:solidFill>
                    <a:latin typeface="Times New Roman" panose="02020603050405020304" pitchFamily="18" charset="0"/>
                    <a:cs typeface="Times New Roman" panose="02020603050405020304" pitchFamily="18" charset="0"/>
                  </a:rPr>
                  <a:t>400ps</a:t>
                </a:r>
              </a:p>
            </p:txBody>
          </p:sp>
        </p:grpSp>
        <p:grpSp>
          <p:nvGrpSpPr>
            <p:cNvPr id="174" name="组合 173"/>
            <p:cNvGrpSpPr/>
            <p:nvPr/>
          </p:nvGrpSpPr>
          <p:grpSpPr>
            <a:xfrm>
              <a:off x="4671514" y="5645597"/>
              <a:ext cx="4733937" cy="590982"/>
              <a:chOff x="6436" y="6684"/>
              <a:chExt cx="8002" cy="935"/>
            </a:xfrm>
          </p:grpSpPr>
          <p:grpSp>
            <p:nvGrpSpPr>
              <p:cNvPr id="181" name="组合 180"/>
              <p:cNvGrpSpPr/>
              <p:nvPr/>
            </p:nvGrpSpPr>
            <p:grpSpPr>
              <a:xfrm>
                <a:off x="6436" y="6745"/>
                <a:ext cx="1613" cy="875"/>
                <a:chOff x="1918" y="3460"/>
                <a:chExt cx="5118" cy="3166"/>
              </a:xfrm>
            </p:grpSpPr>
            <p:grpSp>
              <p:nvGrpSpPr>
                <p:cNvPr id="210" name="组合 209"/>
                <p:cNvGrpSpPr/>
                <p:nvPr/>
              </p:nvGrpSpPr>
              <p:grpSpPr>
                <a:xfrm>
                  <a:off x="1918" y="3460"/>
                  <a:ext cx="5118" cy="3166"/>
                  <a:chOff x="1918" y="3460"/>
                  <a:chExt cx="5118" cy="3166"/>
                </a:xfrm>
              </p:grpSpPr>
              <p:sp>
                <p:nvSpPr>
                  <p:cNvPr id="212" name="思想气泡: 云 4"/>
                  <p:cNvSpPr/>
                  <p:nvPr/>
                </p:nvSpPr>
                <p:spPr>
                  <a:xfrm>
                    <a:off x="1918" y="3460"/>
                    <a:ext cx="5119" cy="2581"/>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Times New Roman" panose="02020603050405020304" pitchFamily="18" charset="0"/>
                      <a:cs typeface="Times New Roman" panose="02020603050405020304" pitchFamily="18" charset="0"/>
                    </a:endParaRPr>
                  </a:p>
                </p:txBody>
              </p:sp>
              <p:sp>
                <p:nvSpPr>
                  <p:cNvPr id="213" name="任意多边形: 形状 5"/>
                  <p:cNvSpPr/>
                  <p:nvPr/>
                </p:nvSpPr>
                <p:spPr>
                  <a:xfrm>
                    <a:off x="3088" y="5944"/>
                    <a:ext cx="950" cy="683"/>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Times New Roman" panose="02020603050405020304" pitchFamily="18" charset="0"/>
                      <a:cs typeface="Times New Roman" panose="02020603050405020304" pitchFamily="18" charset="0"/>
                    </a:endParaRPr>
                  </a:p>
                </p:txBody>
              </p:sp>
              <p:sp>
                <p:nvSpPr>
                  <p:cNvPr id="214" name="椭圆 213"/>
                  <p:cNvSpPr/>
                  <p:nvPr/>
                </p:nvSpPr>
                <p:spPr>
                  <a:xfrm>
                    <a:off x="3346" y="5704"/>
                    <a:ext cx="448" cy="33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Times New Roman" panose="02020603050405020304" pitchFamily="18" charset="0"/>
                      <a:cs typeface="Times New Roman" panose="02020603050405020304" pitchFamily="18" charset="0"/>
                    </a:endParaRPr>
                  </a:p>
                </p:txBody>
              </p:sp>
              <p:sp>
                <p:nvSpPr>
                  <p:cNvPr id="215" name="椭圆 214"/>
                  <p:cNvSpPr/>
                  <p:nvPr/>
                </p:nvSpPr>
                <p:spPr>
                  <a:xfrm>
                    <a:off x="3590" y="5307"/>
                    <a:ext cx="975" cy="68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Times New Roman" panose="02020603050405020304" pitchFamily="18" charset="0"/>
                      <a:cs typeface="Times New Roman" panose="02020603050405020304" pitchFamily="18" charset="0"/>
                    </a:endParaRPr>
                  </a:p>
                </p:txBody>
              </p:sp>
            </p:grpSp>
            <p:sp>
              <p:nvSpPr>
                <p:cNvPr id="211" name="文本框 210"/>
                <p:cNvSpPr txBox="1"/>
                <p:nvPr/>
              </p:nvSpPr>
              <p:spPr>
                <a:xfrm>
                  <a:off x="1921" y="3861"/>
                  <a:ext cx="4710" cy="1754"/>
                </a:xfrm>
                <a:prstGeom prst="rect">
                  <a:avLst/>
                </a:prstGeom>
                <a:noFill/>
              </p:spPr>
              <p:txBody>
                <a:bodyPr wrap="square" rtlCol="0">
                  <a:spAutoFit/>
                </a:bodyPr>
                <a:lstStyle/>
                <a:p>
                  <a:pPr algn="ctr"/>
                  <a:r>
                    <a:rPr lang="en-US" altLang="zh-CN" sz="1400">
                      <a:solidFill>
                        <a:srgbClr val="2F528F"/>
                      </a:solidFill>
                      <a:latin typeface="Times New Roman" panose="02020603050405020304" pitchFamily="18" charset="0"/>
                      <a:cs typeface="Times New Roman" panose="02020603050405020304" pitchFamily="18" charset="0"/>
                    </a:rPr>
                    <a:t>bubble</a:t>
                  </a:r>
                </a:p>
              </p:txBody>
            </p:sp>
          </p:grpSp>
          <p:grpSp>
            <p:nvGrpSpPr>
              <p:cNvPr id="182" name="组合 181"/>
              <p:cNvGrpSpPr/>
              <p:nvPr/>
            </p:nvGrpSpPr>
            <p:grpSpPr>
              <a:xfrm>
                <a:off x="8004" y="6708"/>
                <a:ext cx="1613" cy="875"/>
                <a:chOff x="1918" y="3460"/>
                <a:chExt cx="5118" cy="3166"/>
              </a:xfrm>
            </p:grpSpPr>
            <p:grpSp>
              <p:nvGrpSpPr>
                <p:cNvPr id="204" name="组合 203"/>
                <p:cNvGrpSpPr/>
                <p:nvPr/>
              </p:nvGrpSpPr>
              <p:grpSpPr>
                <a:xfrm>
                  <a:off x="1918" y="3460"/>
                  <a:ext cx="5118" cy="3166"/>
                  <a:chOff x="1918" y="3460"/>
                  <a:chExt cx="5118" cy="3166"/>
                </a:xfrm>
              </p:grpSpPr>
              <p:sp>
                <p:nvSpPr>
                  <p:cNvPr id="206" name="思想气泡: 云 4"/>
                  <p:cNvSpPr/>
                  <p:nvPr/>
                </p:nvSpPr>
                <p:spPr>
                  <a:xfrm>
                    <a:off x="1918" y="3460"/>
                    <a:ext cx="5119" cy="2581"/>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Times New Roman" panose="02020603050405020304" pitchFamily="18" charset="0"/>
                      <a:cs typeface="Times New Roman" panose="02020603050405020304" pitchFamily="18" charset="0"/>
                    </a:endParaRPr>
                  </a:p>
                </p:txBody>
              </p:sp>
              <p:sp>
                <p:nvSpPr>
                  <p:cNvPr id="207" name="任意多边形: 形状 5"/>
                  <p:cNvSpPr/>
                  <p:nvPr/>
                </p:nvSpPr>
                <p:spPr>
                  <a:xfrm>
                    <a:off x="3088" y="5944"/>
                    <a:ext cx="950" cy="683"/>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Times New Roman" panose="02020603050405020304" pitchFamily="18" charset="0"/>
                      <a:cs typeface="Times New Roman" panose="02020603050405020304" pitchFamily="18" charset="0"/>
                    </a:endParaRPr>
                  </a:p>
                </p:txBody>
              </p:sp>
              <p:sp>
                <p:nvSpPr>
                  <p:cNvPr id="208" name="椭圆 207"/>
                  <p:cNvSpPr/>
                  <p:nvPr/>
                </p:nvSpPr>
                <p:spPr>
                  <a:xfrm>
                    <a:off x="3346" y="5704"/>
                    <a:ext cx="448" cy="33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Times New Roman" panose="02020603050405020304" pitchFamily="18" charset="0"/>
                      <a:cs typeface="Times New Roman" panose="02020603050405020304" pitchFamily="18" charset="0"/>
                    </a:endParaRPr>
                  </a:p>
                </p:txBody>
              </p:sp>
              <p:sp>
                <p:nvSpPr>
                  <p:cNvPr id="209" name="椭圆 208"/>
                  <p:cNvSpPr/>
                  <p:nvPr/>
                </p:nvSpPr>
                <p:spPr>
                  <a:xfrm>
                    <a:off x="3590" y="5307"/>
                    <a:ext cx="975" cy="68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Times New Roman" panose="02020603050405020304" pitchFamily="18" charset="0"/>
                      <a:cs typeface="Times New Roman" panose="02020603050405020304" pitchFamily="18" charset="0"/>
                    </a:endParaRPr>
                  </a:p>
                </p:txBody>
              </p:sp>
            </p:grpSp>
            <p:sp>
              <p:nvSpPr>
                <p:cNvPr id="205" name="文本框 204"/>
                <p:cNvSpPr txBox="1"/>
                <p:nvPr/>
              </p:nvSpPr>
              <p:spPr>
                <a:xfrm>
                  <a:off x="1921" y="3861"/>
                  <a:ext cx="4710" cy="1754"/>
                </a:xfrm>
                <a:prstGeom prst="rect">
                  <a:avLst/>
                </a:prstGeom>
                <a:noFill/>
              </p:spPr>
              <p:txBody>
                <a:bodyPr wrap="square" rtlCol="0">
                  <a:spAutoFit/>
                </a:bodyPr>
                <a:lstStyle/>
                <a:p>
                  <a:pPr algn="ctr"/>
                  <a:r>
                    <a:rPr lang="en-US" altLang="zh-CN" sz="1400">
                      <a:solidFill>
                        <a:srgbClr val="2F528F"/>
                      </a:solidFill>
                      <a:latin typeface="Times New Roman" panose="02020603050405020304" pitchFamily="18" charset="0"/>
                      <a:cs typeface="Times New Roman" panose="02020603050405020304" pitchFamily="18" charset="0"/>
                    </a:rPr>
                    <a:t>bubble</a:t>
                  </a:r>
                </a:p>
              </p:txBody>
            </p:sp>
          </p:grpSp>
          <p:grpSp>
            <p:nvGrpSpPr>
              <p:cNvPr id="183" name="组合 182"/>
              <p:cNvGrpSpPr/>
              <p:nvPr/>
            </p:nvGrpSpPr>
            <p:grpSpPr>
              <a:xfrm>
                <a:off x="9589" y="6707"/>
                <a:ext cx="1613" cy="875"/>
                <a:chOff x="1918" y="3460"/>
                <a:chExt cx="5118" cy="3166"/>
              </a:xfrm>
            </p:grpSpPr>
            <p:grpSp>
              <p:nvGrpSpPr>
                <p:cNvPr id="198" name="组合 197"/>
                <p:cNvGrpSpPr/>
                <p:nvPr/>
              </p:nvGrpSpPr>
              <p:grpSpPr>
                <a:xfrm>
                  <a:off x="1918" y="3460"/>
                  <a:ext cx="5118" cy="3166"/>
                  <a:chOff x="1918" y="3460"/>
                  <a:chExt cx="5118" cy="3166"/>
                </a:xfrm>
              </p:grpSpPr>
              <p:sp>
                <p:nvSpPr>
                  <p:cNvPr id="200" name="思想气泡: 云 4"/>
                  <p:cNvSpPr/>
                  <p:nvPr/>
                </p:nvSpPr>
                <p:spPr>
                  <a:xfrm>
                    <a:off x="1918" y="3460"/>
                    <a:ext cx="5119" cy="2581"/>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Times New Roman" panose="02020603050405020304" pitchFamily="18" charset="0"/>
                      <a:cs typeface="Times New Roman" panose="02020603050405020304" pitchFamily="18" charset="0"/>
                    </a:endParaRPr>
                  </a:p>
                </p:txBody>
              </p:sp>
              <p:sp>
                <p:nvSpPr>
                  <p:cNvPr id="201" name="任意多边形: 形状 5"/>
                  <p:cNvSpPr/>
                  <p:nvPr/>
                </p:nvSpPr>
                <p:spPr>
                  <a:xfrm>
                    <a:off x="3088" y="5944"/>
                    <a:ext cx="950" cy="683"/>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Times New Roman" panose="02020603050405020304" pitchFamily="18" charset="0"/>
                      <a:cs typeface="Times New Roman" panose="02020603050405020304" pitchFamily="18" charset="0"/>
                    </a:endParaRPr>
                  </a:p>
                </p:txBody>
              </p:sp>
              <p:sp>
                <p:nvSpPr>
                  <p:cNvPr id="202" name="椭圆 201"/>
                  <p:cNvSpPr/>
                  <p:nvPr/>
                </p:nvSpPr>
                <p:spPr>
                  <a:xfrm>
                    <a:off x="3346" y="5704"/>
                    <a:ext cx="448" cy="33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Times New Roman" panose="02020603050405020304" pitchFamily="18" charset="0"/>
                      <a:cs typeface="Times New Roman" panose="02020603050405020304" pitchFamily="18" charset="0"/>
                    </a:endParaRPr>
                  </a:p>
                </p:txBody>
              </p:sp>
              <p:sp>
                <p:nvSpPr>
                  <p:cNvPr id="203" name="椭圆 202"/>
                  <p:cNvSpPr/>
                  <p:nvPr/>
                </p:nvSpPr>
                <p:spPr>
                  <a:xfrm>
                    <a:off x="3590" y="5307"/>
                    <a:ext cx="975" cy="68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Times New Roman" panose="02020603050405020304" pitchFamily="18" charset="0"/>
                      <a:cs typeface="Times New Roman" panose="02020603050405020304" pitchFamily="18" charset="0"/>
                    </a:endParaRPr>
                  </a:p>
                </p:txBody>
              </p:sp>
            </p:grpSp>
            <p:sp>
              <p:nvSpPr>
                <p:cNvPr id="199" name="文本框 198"/>
                <p:cNvSpPr txBox="1"/>
                <p:nvPr/>
              </p:nvSpPr>
              <p:spPr>
                <a:xfrm>
                  <a:off x="1921" y="3861"/>
                  <a:ext cx="4710" cy="1754"/>
                </a:xfrm>
                <a:prstGeom prst="rect">
                  <a:avLst/>
                </a:prstGeom>
                <a:noFill/>
              </p:spPr>
              <p:txBody>
                <a:bodyPr wrap="square" rtlCol="0">
                  <a:spAutoFit/>
                </a:bodyPr>
                <a:lstStyle/>
                <a:p>
                  <a:pPr algn="ctr"/>
                  <a:r>
                    <a:rPr lang="en-US" altLang="zh-CN" sz="1400">
                      <a:solidFill>
                        <a:srgbClr val="2F528F"/>
                      </a:solidFill>
                      <a:latin typeface="Times New Roman" panose="02020603050405020304" pitchFamily="18" charset="0"/>
                      <a:cs typeface="Times New Roman" panose="02020603050405020304" pitchFamily="18" charset="0"/>
                    </a:rPr>
                    <a:t>bubble</a:t>
                  </a:r>
                </a:p>
              </p:txBody>
            </p:sp>
          </p:grpSp>
          <p:grpSp>
            <p:nvGrpSpPr>
              <p:cNvPr id="184" name="组合 183"/>
              <p:cNvGrpSpPr/>
              <p:nvPr/>
            </p:nvGrpSpPr>
            <p:grpSpPr>
              <a:xfrm>
                <a:off x="11199" y="6684"/>
                <a:ext cx="1613" cy="875"/>
                <a:chOff x="1918" y="3460"/>
                <a:chExt cx="5118" cy="3166"/>
              </a:xfrm>
            </p:grpSpPr>
            <p:grpSp>
              <p:nvGrpSpPr>
                <p:cNvPr id="192" name="组合 191"/>
                <p:cNvGrpSpPr/>
                <p:nvPr/>
              </p:nvGrpSpPr>
              <p:grpSpPr>
                <a:xfrm>
                  <a:off x="1918" y="3460"/>
                  <a:ext cx="5118" cy="3166"/>
                  <a:chOff x="1918" y="3460"/>
                  <a:chExt cx="5118" cy="3166"/>
                </a:xfrm>
              </p:grpSpPr>
              <p:sp>
                <p:nvSpPr>
                  <p:cNvPr id="194" name="思想气泡: 云 4"/>
                  <p:cNvSpPr/>
                  <p:nvPr/>
                </p:nvSpPr>
                <p:spPr>
                  <a:xfrm>
                    <a:off x="1918" y="3460"/>
                    <a:ext cx="5119" cy="2581"/>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Times New Roman" panose="02020603050405020304" pitchFamily="18" charset="0"/>
                      <a:cs typeface="Times New Roman" panose="02020603050405020304" pitchFamily="18" charset="0"/>
                    </a:endParaRPr>
                  </a:p>
                </p:txBody>
              </p:sp>
              <p:sp>
                <p:nvSpPr>
                  <p:cNvPr id="195" name="任意多边形: 形状 5"/>
                  <p:cNvSpPr/>
                  <p:nvPr/>
                </p:nvSpPr>
                <p:spPr>
                  <a:xfrm>
                    <a:off x="3088" y="5944"/>
                    <a:ext cx="950" cy="683"/>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Times New Roman" panose="02020603050405020304" pitchFamily="18" charset="0"/>
                      <a:cs typeface="Times New Roman" panose="02020603050405020304" pitchFamily="18" charset="0"/>
                    </a:endParaRPr>
                  </a:p>
                </p:txBody>
              </p:sp>
              <p:sp>
                <p:nvSpPr>
                  <p:cNvPr id="196" name="椭圆 195"/>
                  <p:cNvSpPr/>
                  <p:nvPr/>
                </p:nvSpPr>
                <p:spPr>
                  <a:xfrm>
                    <a:off x="3346" y="5704"/>
                    <a:ext cx="448" cy="33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Times New Roman" panose="02020603050405020304" pitchFamily="18" charset="0"/>
                      <a:cs typeface="Times New Roman" panose="02020603050405020304" pitchFamily="18" charset="0"/>
                    </a:endParaRPr>
                  </a:p>
                </p:txBody>
              </p:sp>
              <p:sp>
                <p:nvSpPr>
                  <p:cNvPr id="197" name="椭圆 196"/>
                  <p:cNvSpPr/>
                  <p:nvPr/>
                </p:nvSpPr>
                <p:spPr>
                  <a:xfrm>
                    <a:off x="3590" y="5307"/>
                    <a:ext cx="975" cy="68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Times New Roman" panose="02020603050405020304" pitchFamily="18" charset="0"/>
                      <a:cs typeface="Times New Roman" panose="02020603050405020304" pitchFamily="18" charset="0"/>
                    </a:endParaRPr>
                  </a:p>
                </p:txBody>
              </p:sp>
            </p:grpSp>
            <p:sp>
              <p:nvSpPr>
                <p:cNvPr id="193" name="文本框 192"/>
                <p:cNvSpPr txBox="1"/>
                <p:nvPr/>
              </p:nvSpPr>
              <p:spPr>
                <a:xfrm>
                  <a:off x="1921" y="3861"/>
                  <a:ext cx="4710" cy="1754"/>
                </a:xfrm>
                <a:prstGeom prst="rect">
                  <a:avLst/>
                </a:prstGeom>
                <a:noFill/>
              </p:spPr>
              <p:txBody>
                <a:bodyPr wrap="square" rtlCol="0">
                  <a:spAutoFit/>
                </a:bodyPr>
                <a:lstStyle/>
                <a:p>
                  <a:pPr algn="ctr"/>
                  <a:r>
                    <a:rPr lang="en-US" altLang="zh-CN" sz="1400">
                      <a:solidFill>
                        <a:srgbClr val="2F528F"/>
                      </a:solidFill>
                      <a:latin typeface="Times New Roman" panose="02020603050405020304" pitchFamily="18" charset="0"/>
                      <a:cs typeface="Times New Roman" panose="02020603050405020304" pitchFamily="18" charset="0"/>
                    </a:rPr>
                    <a:t>bubble</a:t>
                  </a:r>
                </a:p>
              </p:txBody>
            </p:sp>
          </p:grpSp>
          <p:grpSp>
            <p:nvGrpSpPr>
              <p:cNvPr id="185" name="组合 184"/>
              <p:cNvGrpSpPr/>
              <p:nvPr/>
            </p:nvGrpSpPr>
            <p:grpSpPr>
              <a:xfrm>
                <a:off x="12826" y="6684"/>
                <a:ext cx="1613" cy="875"/>
                <a:chOff x="1918" y="3460"/>
                <a:chExt cx="5118" cy="3166"/>
              </a:xfrm>
            </p:grpSpPr>
            <p:grpSp>
              <p:nvGrpSpPr>
                <p:cNvPr id="186" name="组合 185"/>
                <p:cNvGrpSpPr/>
                <p:nvPr/>
              </p:nvGrpSpPr>
              <p:grpSpPr>
                <a:xfrm>
                  <a:off x="1918" y="3460"/>
                  <a:ext cx="5118" cy="3166"/>
                  <a:chOff x="1918" y="3460"/>
                  <a:chExt cx="5118" cy="3166"/>
                </a:xfrm>
              </p:grpSpPr>
              <p:sp>
                <p:nvSpPr>
                  <p:cNvPr id="188" name="思想气泡: 云 4"/>
                  <p:cNvSpPr/>
                  <p:nvPr/>
                </p:nvSpPr>
                <p:spPr>
                  <a:xfrm>
                    <a:off x="1918" y="3460"/>
                    <a:ext cx="5119" cy="2581"/>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Times New Roman" panose="02020603050405020304" pitchFamily="18" charset="0"/>
                      <a:cs typeface="Times New Roman" panose="02020603050405020304" pitchFamily="18" charset="0"/>
                    </a:endParaRPr>
                  </a:p>
                </p:txBody>
              </p:sp>
              <p:sp>
                <p:nvSpPr>
                  <p:cNvPr id="189" name="任意多边形: 形状 5"/>
                  <p:cNvSpPr/>
                  <p:nvPr/>
                </p:nvSpPr>
                <p:spPr>
                  <a:xfrm>
                    <a:off x="3088" y="5944"/>
                    <a:ext cx="950" cy="683"/>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Times New Roman" panose="02020603050405020304" pitchFamily="18" charset="0"/>
                      <a:cs typeface="Times New Roman" panose="02020603050405020304" pitchFamily="18" charset="0"/>
                    </a:endParaRPr>
                  </a:p>
                </p:txBody>
              </p:sp>
              <p:sp>
                <p:nvSpPr>
                  <p:cNvPr id="190" name="椭圆 189"/>
                  <p:cNvSpPr/>
                  <p:nvPr/>
                </p:nvSpPr>
                <p:spPr>
                  <a:xfrm>
                    <a:off x="3346" y="5704"/>
                    <a:ext cx="448" cy="33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Times New Roman" panose="02020603050405020304" pitchFamily="18" charset="0"/>
                      <a:cs typeface="Times New Roman" panose="02020603050405020304" pitchFamily="18" charset="0"/>
                    </a:endParaRPr>
                  </a:p>
                </p:txBody>
              </p:sp>
              <p:sp>
                <p:nvSpPr>
                  <p:cNvPr id="191" name="椭圆 190"/>
                  <p:cNvSpPr/>
                  <p:nvPr/>
                </p:nvSpPr>
                <p:spPr>
                  <a:xfrm>
                    <a:off x="3590" y="5307"/>
                    <a:ext cx="975" cy="68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Times New Roman" panose="02020603050405020304" pitchFamily="18" charset="0"/>
                      <a:cs typeface="Times New Roman" panose="02020603050405020304" pitchFamily="18" charset="0"/>
                    </a:endParaRPr>
                  </a:p>
                </p:txBody>
              </p:sp>
            </p:grpSp>
            <p:sp>
              <p:nvSpPr>
                <p:cNvPr id="187" name="文本框 186"/>
                <p:cNvSpPr txBox="1"/>
                <p:nvPr/>
              </p:nvSpPr>
              <p:spPr>
                <a:xfrm>
                  <a:off x="1921" y="3861"/>
                  <a:ext cx="4710" cy="1754"/>
                </a:xfrm>
                <a:prstGeom prst="rect">
                  <a:avLst/>
                </a:prstGeom>
                <a:noFill/>
              </p:spPr>
              <p:txBody>
                <a:bodyPr wrap="square" rtlCol="0">
                  <a:spAutoFit/>
                </a:bodyPr>
                <a:lstStyle/>
                <a:p>
                  <a:pPr algn="ctr"/>
                  <a:r>
                    <a:rPr lang="en-US" altLang="zh-CN" sz="1400">
                      <a:solidFill>
                        <a:srgbClr val="2F528F"/>
                      </a:solidFill>
                      <a:latin typeface="Times New Roman" panose="02020603050405020304" pitchFamily="18" charset="0"/>
                      <a:cs typeface="Times New Roman" panose="02020603050405020304" pitchFamily="18" charset="0"/>
                    </a:rPr>
                    <a:t>bubble</a:t>
                  </a:r>
                </a:p>
              </p:txBody>
            </p:sp>
          </p:grpSp>
        </p:grpSp>
        <p:grpSp>
          <p:nvGrpSpPr>
            <p:cNvPr id="175" name="组合 174"/>
            <p:cNvGrpSpPr/>
            <p:nvPr/>
          </p:nvGrpSpPr>
          <p:grpSpPr>
            <a:xfrm>
              <a:off x="5556538" y="6199288"/>
              <a:ext cx="4171922" cy="386193"/>
              <a:chOff x="6477" y="7502"/>
              <a:chExt cx="7052" cy="611"/>
            </a:xfrm>
          </p:grpSpPr>
          <p:sp>
            <p:nvSpPr>
              <p:cNvPr id="176" name="矩形 175"/>
              <p:cNvSpPr/>
              <p:nvPr/>
            </p:nvSpPr>
            <p:spPr>
              <a:xfrm>
                <a:off x="6477" y="7503"/>
                <a:ext cx="1561" cy="61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dirty="0">
                    <a:latin typeface="Times New Roman" panose="02020603050405020304" pitchFamily="18" charset="0"/>
                    <a:cs typeface="Times New Roman" panose="02020603050405020304" pitchFamily="18" charset="0"/>
                  </a:rPr>
                  <a:t>Instruction fetch</a:t>
                </a:r>
              </a:p>
            </p:txBody>
          </p:sp>
          <p:sp>
            <p:nvSpPr>
              <p:cNvPr id="177" name="矩形 176"/>
              <p:cNvSpPr/>
              <p:nvPr/>
            </p:nvSpPr>
            <p:spPr>
              <a:xfrm>
                <a:off x="8791" y="7504"/>
                <a:ext cx="808" cy="609"/>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sp>
            <p:nvSpPr>
              <p:cNvPr id="178" name="矩形 177"/>
              <p:cNvSpPr/>
              <p:nvPr/>
            </p:nvSpPr>
            <p:spPr>
              <a:xfrm>
                <a:off x="12721" y="7502"/>
                <a:ext cx="808" cy="609"/>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Reg</a:t>
                </a:r>
              </a:p>
            </p:txBody>
          </p:sp>
          <p:sp>
            <p:nvSpPr>
              <p:cNvPr id="179" name="矩形 178"/>
              <p:cNvSpPr/>
              <p:nvPr/>
            </p:nvSpPr>
            <p:spPr>
              <a:xfrm>
                <a:off x="9599" y="7502"/>
                <a:ext cx="1561" cy="61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ALU</a:t>
                </a:r>
              </a:p>
            </p:txBody>
          </p:sp>
          <p:sp>
            <p:nvSpPr>
              <p:cNvPr id="180" name="矩形 179"/>
              <p:cNvSpPr/>
              <p:nvPr/>
            </p:nvSpPr>
            <p:spPr>
              <a:xfrm>
                <a:off x="11160" y="7502"/>
                <a:ext cx="1561" cy="61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400">
                    <a:latin typeface="Times New Roman" panose="02020603050405020304" pitchFamily="18" charset="0"/>
                    <a:cs typeface="Times New Roman" panose="02020603050405020304" pitchFamily="18" charset="0"/>
                  </a:rPr>
                  <a:t>Data access</a:t>
                </a:r>
              </a:p>
            </p:txBody>
          </p:sp>
        </p:grpSp>
      </p:grpSp>
      <p:cxnSp>
        <p:nvCxnSpPr>
          <p:cNvPr id="233" name="连接符: 肘形 232"/>
          <p:cNvCxnSpPr>
            <a:endCxn id="169" idx="1"/>
          </p:cNvCxnSpPr>
          <p:nvPr/>
        </p:nvCxnSpPr>
        <p:spPr>
          <a:xfrm rot="5400000">
            <a:off x="1899941" y="5771874"/>
            <a:ext cx="818628" cy="566079"/>
          </a:xfrm>
          <a:prstGeom prst="bentConnector4">
            <a:avLst>
              <a:gd name="adj1" fmla="val 38721"/>
              <a:gd name="adj2" fmla="val 14038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8307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235"/>
                                        </p:tgtEl>
                                        <p:attrNameLst>
                                          <p:attrName>style.visibility</p:attrName>
                                        </p:attrNameLst>
                                      </p:cBhvr>
                                      <p:to>
                                        <p:strVal val="visible"/>
                                      </p:to>
                                    </p:set>
                                    <p:animEffect transition="in" filter="fade">
                                      <p:cBhvr>
                                        <p:cTn id="10" dur="500"/>
                                        <p:tgtEl>
                                          <p:spTgt spid="235"/>
                                        </p:tgtEl>
                                      </p:cBhvr>
                                    </p:animEffect>
                                  </p:childTnLst>
                                </p:cTn>
                              </p:par>
                              <p:par>
                                <p:cTn id="11" presetID="10" presetClass="entr" presetSubtype="0" fill="hold" nodeType="withEffect">
                                  <p:stCondLst>
                                    <p:cond delay="0"/>
                                  </p:stCondLst>
                                  <p:childTnLst>
                                    <p:set>
                                      <p:cBhvr>
                                        <p:cTn id="12" dur="1" fill="hold">
                                          <p:stCondLst>
                                            <p:cond delay="0"/>
                                          </p:stCondLst>
                                        </p:cTn>
                                        <p:tgtEl>
                                          <p:spTgt spid="233"/>
                                        </p:tgtEl>
                                        <p:attrNameLst>
                                          <p:attrName>style.visibility</p:attrName>
                                        </p:attrNameLst>
                                      </p:cBhvr>
                                      <p:to>
                                        <p:strVal val="visible"/>
                                      </p:to>
                                    </p:set>
                                    <p:animEffect transition="in" filter="fade">
                                      <p:cBhvr>
                                        <p:cTn id="13" dur="500"/>
                                        <p:tgtEl>
                                          <p:spTgt spid="2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8" name="Rectangle 3"/>
          <p:cNvSpPr>
            <a:spLocks noGrp="1" noChangeArrowheads="1"/>
          </p:cNvSpPr>
          <p:nvPr>
            <p:ph idx="1"/>
          </p:nvPr>
        </p:nvSpPr>
        <p:spPr/>
        <p:txBody>
          <a:bodyPr>
            <a:normAutofit/>
          </a:bodyPr>
          <a:lstStyle/>
          <a:p>
            <a:pPr eaLnBrk="1" hangingPunct="1"/>
            <a:r>
              <a:rPr lang="zh-CN" altLang="en-US" dirty="0"/>
              <a:t>静态分支预测</a:t>
            </a:r>
            <a:endParaRPr lang="en-US" altLang="zh-CN" dirty="0"/>
          </a:p>
          <a:p>
            <a:pPr lvl="1"/>
            <a:r>
              <a:rPr lang="zh-CN" altLang="en-US" dirty="0"/>
              <a:t>根据典型的分支行为来决定是否跳转</a:t>
            </a:r>
            <a:endParaRPr lang="en-US" altLang="en-US" dirty="0"/>
          </a:p>
          <a:p>
            <a:pPr lvl="1" eaLnBrk="1" hangingPunct="1"/>
            <a:r>
              <a:rPr lang="zh-CN" altLang="en-US" dirty="0"/>
              <a:t>例如：</a:t>
            </a:r>
            <a:r>
              <a:rPr lang="zh-CN" altLang="en-US" dirty="0">
                <a:solidFill>
                  <a:srgbClr val="0000FF"/>
                </a:solidFill>
              </a:rPr>
              <a:t>循环</a:t>
            </a:r>
            <a:r>
              <a:rPr lang="en-US" altLang="zh-CN" dirty="0"/>
              <a:t>+</a:t>
            </a:r>
            <a:r>
              <a:rPr lang="zh-CN" altLang="en-US" dirty="0"/>
              <a:t>条件指令产生的分支</a:t>
            </a:r>
            <a:endParaRPr lang="en-US" altLang="en-US" dirty="0"/>
          </a:p>
          <a:p>
            <a:pPr lvl="2"/>
            <a:r>
              <a:rPr lang="zh-CN" altLang="en-US" dirty="0"/>
              <a:t>在计算机程序中，</a:t>
            </a:r>
            <a:r>
              <a:rPr lang="zh-CN" altLang="en-US" dirty="0">
                <a:solidFill>
                  <a:schemeClr val="accent4">
                    <a:lumMod val="50000"/>
                  </a:schemeClr>
                </a:solidFill>
              </a:rPr>
              <a:t>循环底部是条件分支指令</a:t>
            </a:r>
            <a:r>
              <a:rPr lang="zh-CN" altLang="en-US" dirty="0"/>
              <a:t>，并会跳转回循环顶部</a:t>
            </a:r>
            <a:endParaRPr lang="en-US" altLang="zh-CN" dirty="0"/>
          </a:p>
          <a:p>
            <a:pPr lvl="2"/>
            <a:r>
              <a:rPr lang="zh-CN" altLang="en-US" dirty="0"/>
              <a:t>很可能发生分支并向回跳转，所以可以预测发生分支并跳到靠前的地址处</a:t>
            </a:r>
            <a:endParaRPr lang="en-US" altLang="en-US" dirty="0"/>
          </a:p>
          <a:p>
            <a:pPr eaLnBrk="1" hangingPunct="1"/>
            <a:r>
              <a:rPr lang="zh-CN" altLang="en-US" dirty="0"/>
              <a:t>动态分支预测</a:t>
            </a:r>
            <a:endParaRPr lang="en-US" altLang="zh-CN" dirty="0"/>
          </a:p>
          <a:p>
            <a:pPr lvl="1"/>
            <a:r>
              <a:rPr lang="zh-CN" altLang="en-US" dirty="0"/>
              <a:t>根据每个分支指令的</a:t>
            </a:r>
            <a:r>
              <a:rPr lang="zh-CN" altLang="en-US" dirty="0">
                <a:solidFill>
                  <a:srgbClr val="0000FF"/>
                </a:solidFill>
              </a:rPr>
              <a:t>行为</a:t>
            </a:r>
            <a:r>
              <a:rPr lang="zh-CN" altLang="en-US" dirty="0"/>
              <a:t>进行预测</a:t>
            </a:r>
            <a:endParaRPr lang="en-US" altLang="zh-CN" dirty="0"/>
          </a:p>
          <a:p>
            <a:pPr lvl="2"/>
            <a:r>
              <a:rPr lang="zh-CN" altLang="en-US" dirty="0"/>
              <a:t>一种常用实现方式：</a:t>
            </a:r>
            <a:r>
              <a:rPr lang="zh-CN" altLang="en-US" dirty="0">
                <a:solidFill>
                  <a:srgbClr val="0000FF"/>
                </a:solidFill>
              </a:rPr>
              <a:t>保存</a:t>
            </a:r>
            <a:r>
              <a:rPr lang="zh-CN" altLang="en-US" dirty="0"/>
              <a:t>每个条件分支是否发生分支的历史</a:t>
            </a:r>
            <a:r>
              <a:rPr lang="zh-CN" altLang="en-US" dirty="0">
                <a:solidFill>
                  <a:srgbClr val="0000FF"/>
                </a:solidFill>
              </a:rPr>
              <a:t>纪录</a:t>
            </a:r>
            <a:endParaRPr lang="en-US" altLang="en-US" dirty="0">
              <a:solidFill>
                <a:srgbClr val="0000FF"/>
              </a:solidFill>
            </a:endParaRPr>
          </a:p>
          <a:p>
            <a:pPr lvl="1"/>
            <a:r>
              <a:rPr lang="zh-CN" altLang="en-US" dirty="0">
                <a:solidFill>
                  <a:srgbClr val="0000FF"/>
                </a:solidFill>
              </a:rPr>
              <a:t>假设未来的行为会延续这个趋势</a:t>
            </a:r>
            <a:endParaRPr lang="en-US" altLang="en-US" dirty="0">
              <a:solidFill>
                <a:srgbClr val="0000FF"/>
              </a:solidFill>
            </a:endParaRPr>
          </a:p>
          <a:p>
            <a:pPr lvl="2" eaLnBrk="1" hangingPunct="1"/>
            <a:r>
              <a:rPr lang="zh-CN" altLang="en-US" dirty="0"/>
              <a:t>当预测错误时，需要停顿、重新取指令，并更新历史记录</a:t>
            </a:r>
            <a:endParaRPr lang="en-AU" altLang="en-US" dirty="0"/>
          </a:p>
        </p:txBody>
      </p:sp>
      <p:sp>
        <p:nvSpPr>
          <p:cNvPr id="3" name="标题 2"/>
          <p:cNvSpPr>
            <a:spLocks noGrp="1"/>
          </p:cNvSpPr>
          <p:nvPr>
            <p:ph type="title"/>
          </p:nvPr>
        </p:nvSpPr>
        <p:spPr/>
        <p:txBody>
          <a:bodyPr/>
          <a:lstStyle/>
          <a:p>
            <a:r>
              <a:rPr lang="zh-CN" altLang="en-US" dirty="0"/>
              <a:t>两种更成熟的分支预测</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20</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3188">
                                            <p:txEl>
                                              <p:pRg st="1" end="1"/>
                                            </p:txEl>
                                          </p:spTgt>
                                        </p:tgtEl>
                                        <p:attrNameLst>
                                          <p:attrName>style.visibility</p:attrName>
                                        </p:attrNameLst>
                                      </p:cBhvr>
                                      <p:to>
                                        <p:strVal val="visible"/>
                                      </p:to>
                                    </p:set>
                                    <p:animEffect transition="in" filter="fade">
                                      <p:cBhvr>
                                        <p:cTn id="7" dur="500"/>
                                        <p:tgtEl>
                                          <p:spTgt spid="9318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3188">
                                            <p:txEl>
                                              <p:pRg st="2" end="2"/>
                                            </p:txEl>
                                          </p:spTgt>
                                        </p:tgtEl>
                                        <p:attrNameLst>
                                          <p:attrName>style.visibility</p:attrName>
                                        </p:attrNameLst>
                                      </p:cBhvr>
                                      <p:to>
                                        <p:strVal val="visible"/>
                                      </p:to>
                                    </p:set>
                                    <p:animEffect transition="in" filter="fade">
                                      <p:cBhvr>
                                        <p:cTn id="12" dur="500"/>
                                        <p:tgtEl>
                                          <p:spTgt spid="93188">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93188">
                                            <p:txEl>
                                              <p:pRg st="3" end="3"/>
                                            </p:txEl>
                                          </p:spTgt>
                                        </p:tgtEl>
                                        <p:attrNameLst>
                                          <p:attrName>style.visibility</p:attrName>
                                        </p:attrNameLst>
                                      </p:cBhvr>
                                      <p:to>
                                        <p:strVal val="visible"/>
                                      </p:to>
                                    </p:set>
                                    <p:animEffect transition="in" filter="fade">
                                      <p:cBhvr>
                                        <p:cTn id="15" dur="500"/>
                                        <p:tgtEl>
                                          <p:spTgt spid="93188">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3188">
                                            <p:txEl>
                                              <p:pRg st="4" end="4"/>
                                            </p:txEl>
                                          </p:spTgt>
                                        </p:tgtEl>
                                        <p:attrNameLst>
                                          <p:attrName>style.visibility</p:attrName>
                                        </p:attrNameLst>
                                      </p:cBhvr>
                                      <p:to>
                                        <p:strVal val="visible"/>
                                      </p:to>
                                    </p:set>
                                    <p:animEffect transition="in" filter="fade">
                                      <p:cBhvr>
                                        <p:cTn id="18" dur="500"/>
                                        <p:tgtEl>
                                          <p:spTgt spid="93188">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3188">
                                            <p:txEl>
                                              <p:pRg st="6" end="6"/>
                                            </p:txEl>
                                          </p:spTgt>
                                        </p:tgtEl>
                                        <p:attrNameLst>
                                          <p:attrName>style.visibility</p:attrName>
                                        </p:attrNameLst>
                                      </p:cBhvr>
                                      <p:to>
                                        <p:strVal val="visible"/>
                                      </p:to>
                                    </p:set>
                                    <p:animEffect transition="in" filter="fade">
                                      <p:cBhvr>
                                        <p:cTn id="23" dur="500"/>
                                        <p:tgtEl>
                                          <p:spTgt spid="93188">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93188">
                                            <p:txEl>
                                              <p:pRg st="7" end="7"/>
                                            </p:txEl>
                                          </p:spTgt>
                                        </p:tgtEl>
                                        <p:attrNameLst>
                                          <p:attrName>style.visibility</p:attrName>
                                        </p:attrNameLst>
                                      </p:cBhvr>
                                      <p:to>
                                        <p:strVal val="visible"/>
                                      </p:to>
                                    </p:set>
                                    <p:animEffect transition="in" filter="fade">
                                      <p:cBhvr>
                                        <p:cTn id="26" dur="500"/>
                                        <p:tgtEl>
                                          <p:spTgt spid="93188">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93188">
                                            <p:txEl>
                                              <p:pRg st="8" end="8"/>
                                            </p:txEl>
                                          </p:spTgt>
                                        </p:tgtEl>
                                        <p:attrNameLst>
                                          <p:attrName>style.visibility</p:attrName>
                                        </p:attrNameLst>
                                      </p:cBhvr>
                                      <p:to>
                                        <p:strVal val="visible"/>
                                      </p:to>
                                    </p:set>
                                    <p:animEffect transition="in" filter="fade">
                                      <p:cBhvr>
                                        <p:cTn id="31" dur="500"/>
                                        <p:tgtEl>
                                          <p:spTgt spid="93188">
                                            <p:txEl>
                                              <p:pRg st="8" end="8"/>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93188">
                                            <p:txEl>
                                              <p:pRg st="9" end="9"/>
                                            </p:txEl>
                                          </p:spTgt>
                                        </p:tgtEl>
                                        <p:attrNameLst>
                                          <p:attrName>style.visibility</p:attrName>
                                        </p:attrNameLst>
                                      </p:cBhvr>
                                      <p:to>
                                        <p:strVal val="visible"/>
                                      </p:to>
                                    </p:set>
                                    <p:animEffect transition="in" filter="fade">
                                      <p:cBhvr>
                                        <p:cTn id="34" dur="500"/>
                                        <p:tgtEl>
                                          <p:spTgt spid="9318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6" name="Rectangle 3"/>
          <p:cNvSpPr>
            <a:spLocks noGrp="1" noChangeArrowheads="1"/>
          </p:cNvSpPr>
          <p:nvPr>
            <p:ph idx="1"/>
          </p:nvPr>
        </p:nvSpPr>
        <p:spPr/>
        <p:txBody>
          <a:bodyPr>
            <a:normAutofit fontScale="90000" lnSpcReduction="10000"/>
          </a:bodyPr>
          <a:lstStyle/>
          <a:p>
            <a:pPr eaLnBrk="1" hangingPunct="1">
              <a:lnSpc>
                <a:spcPct val="150000"/>
              </a:lnSpc>
            </a:pPr>
            <a:r>
              <a:rPr lang="zh-CN" altLang="en-US" dirty="0"/>
              <a:t>流水线通过提高吞吐率来提升性能</a:t>
            </a:r>
            <a:endParaRPr lang="en-US" altLang="en-US" dirty="0"/>
          </a:p>
          <a:p>
            <a:pPr lvl="1" eaLnBrk="1" hangingPunct="1">
              <a:lnSpc>
                <a:spcPct val="150000"/>
              </a:lnSpc>
            </a:pPr>
            <a:r>
              <a:rPr lang="zh-CN" altLang="en-US" dirty="0"/>
              <a:t>并行执行多条指令</a:t>
            </a:r>
            <a:endParaRPr lang="en-US" altLang="en-US" dirty="0"/>
          </a:p>
          <a:p>
            <a:pPr lvl="1" eaLnBrk="1" hangingPunct="1">
              <a:lnSpc>
                <a:spcPct val="150000"/>
              </a:lnSpc>
            </a:pPr>
            <a:r>
              <a:rPr lang="zh-CN" altLang="en-US" dirty="0"/>
              <a:t>每条指令拥有相同的延迟</a:t>
            </a:r>
            <a:endParaRPr lang="en-US" altLang="zh-CN" dirty="0"/>
          </a:p>
          <a:p>
            <a:pPr lvl="2">
              <a:lnSpc>
                <a:spcPct val="150000"/>
              </a:lnSpc>
            </a:pPr>
            <a:r>
              <a:rPr lang="zh-CN" altLang="en-US" dirty="0"/>
              <a:t>延迟：执行单条指令的时间</a:t>
            </a:r>
            <a:endParaRPr lang="en-US" altLang="zh-CN" dirty="0"/>
          </a:p>
          <a:p>
            <a:pPr>
              <a:lnSpc>
                <a:spcPct val="150000"/>
              </a:lnSpc>
            </a:pPr>
            <a:r>
              <a:rPr lang="zh-CN" altLang="en-US" dirty="0"/>
              <a:t>会受到冒险的影响</a:t>
            </a:r>
            <a:endParaRPr lang="en-US" altLang="en-US" dirty="0"/>
          </a:p>
          <a:p>
            <a:pPr lvl="1" eaLnBrk="1" hangingPunct="1">
              <a:lnSpc>
                <a:spcPct val="150000"/>
              </a:lnSpc>
            </a:pPr>
            <a:r>
              <a:rPr lang="zh-CN" altLang="en-US" dirty="0"/>
              <a:t>结构、数据、控制</a:t>
            </a:r>
            <a:endParaRPr lang="en-US" altLang="zh-CN" dirty="0"/>
          </a:p>
          <a:p>
            <a:pPr>
              <a:lnSpc>
                <a:spcPct val="150000"/>
              </a:lnSpc>
            </a:pPr>
            <a:r>
              <a:rPr lang="zh-CN" altLang="en-US" dirty="0"/>
              <a:t>指令集的设计影响到流水线实现的复杂度：</a:t>
            </a:r>
            <a:r>
              <a:rPr lang="zh-CN" altLang="en-US" dirty="0">
                <a:sym typeface="+mn-ea"/>
              </a:rPr>
              <a:t>指令长度相同、指令格式整齐和存储操作只发生在</a:t>
            </a:r>
            <a:r>
              <a:rPr lang="en-US" altLang="zh-CN" dirty="0">
                <a:sym typeface="+mn-ea"/>
              </a:rPr>
              <a:t>load/store</a:t>
            </a:r>
            <a:r>
              <a:rPr lang="zh-CN" altLang="en-US" dirty="0">
                <a:sym typeface="+mn-ea"/>
              </a:rPr>
              <a:t>指令中（</a:t>
            </a:r>
            <a:r>
              <a:rPr lang="en-US" altLang="zh-CN" dirty="0">
                <a:sym typeface="+mn-ea"/>
              </a:rPr>
              <a:t>RISC-V</a:t>
            </a:r>
            <a:r>
              <a:rPr lang="zh-CN" altLang="en-US" dirty="0">
                <a:sym typeface="+mn-ea"/>
              </a:rPr>
              <a:t>）。</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21</a:t>
            </a:fld>
            <a:endParaRPr lang="zh-CN" altLang="en-US" dirty="0"/>
          </a:p>
        </p:txBody>
      </p:sp>
      <p:sp>
        <p:nvSpPr>
          <p:cNvPr id="3" name="标题 2"/>
          <p:cNvSpPr>
            <a:spLocks noGrp="1"/>
          </p:cNvSpPr>
          <p:nvPr>
            <p:ph type="title"/>
          </p:nvPr>
        </p:nvSpPr>
        <p:spPr/>
        <p:txBody>
          <a:bodyPr/>
          <a:lstStyle/>
          <a:p>
            <a:r>
              <a:rPr lang="zh-CN" altLang="en-US" dirty="0"/>
              <a:t>流水线总结</a:t>
            </a:r>
          </a:p>
        </p:txBody>
      </p:sp>
    </p:spTree>
    <p:extLst>
      <p:ext uri="{BB962C8B-B14F-4D97-AF65-F5344CB8AC3E}">
        <p14:creationId xmlns:p14="http://schemas.microsoft.com/office/powerpoint/2010/main" val="370720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5236">
                                            <p:txEl>
                                              <p:pRg st="0" end="0"/>
                                            </p:txEl>
                                          </p:spTgt>
                                        </p:tgtEl>
                                        <p:attrNameLst>
                                          <p:attrName>style.visibility</p:attrName>
                                        </p:attrNameLst>
                                      </p:cBhvr>
                                      <p:to>
                                        <p:strVal val="visible"/>
                                      </p:to>
                                    </p:set>
                                    <p:animEffect transition="in" filter="fade">
                                      <p:cBhvr>
                                        <p:cTn id="7" dur="500"/>
                                        <p:tgtEl>
                                          <p:spTgt spid="9523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5236">
                                            <p:txEl>
                                              <p:pRg st="1" end="1"/>
                                            </p:txEl>
                                          </p:spTgt>
                                        </p:tgtEl>
                                        <p:attrNameLst>
                                          <p:attrName>style.visibility</p:attrName>
                                        </p:attrNameLst>
                                      </p:cBhvr>
                                      <p:to>
                                        <p:strVal val="visible"/>
                                      </p:to>
                                    </p:set>
                                    <p:animEffect transition="in" filter="fade">
                                      <p:cBhvr>
                                        <p:cTn id="10" dur="500"/>
                                        <p:tgtEl>
                                          <p:spTgt spid="9523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5236">
                                            <p:txEl>
                                              <p:pRg st="2" end="2"/>
                                            </p:txEl>
                                          </p:spTgt>
                                        </p:tgtEl>
                                        <p:attrNameLst>
                                          <p:attrName>style.visibility</p:attrName>
                                        </p:attrNameLst>
                                      </p:cBhvr>
                                      <p:to>
                                        <p:strVal val="visible"/>
                                      </p:to>
                                    </p:set>
                                    <p:animEffect transition="in" filter="fade">
                                      <p:cBhvr>
                                        <p:cTn id="15" dur="500"/>
                                        <p:tgtEl>
                                          <p:spTgt spid="95236">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5236">
                                            <p:txEl>
                                              <p:pRg st="3" end="3"/>
                                            </p:txEl>
                                          </p:spTgt>
                                        </p:tgtEl>
                                        <p:attrNameLst>
                                          <p:attrName>style.visibility</p:attrName>
                                        </p:attrNameLst>
                                      </p:cBhvr>
                                      <p:to>
                                        <p:strVal val="visible"/>
                                      </p:to>
                                    </p:set>
                                    <p:animEffect transition="in" filter="fade">
                                      <p:cBhvr>
                                        <p:cTn id="18" dur="500"/>
                                        <p:tgtEl>
                                          <p:spTgt spid="95236">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5236">
                                            <p:txEl>
                                              <p:pRg st="4" end="4"/>
                                            </p:txEl>
                                          </p:spTgt>
                                        </p:tgtEl>
                                        <p:attrNameLst>
                                          <p:attrName>style.visibility</p:attrName>
                                        </p:attrNameLst>
                                      </p:cBhvr>
                                      <p:to>
                                        <p:strVal val="visible"/>
                                      </p:to>
                                    </p:set>
                                    <p:animEffect transition="in" filter="fade">
                                      <p:cBhvr>
                                        <p:cTn id="23" dur="500"/>
                                        <p:tgtEl>
                                          <p:spTgt spid="95236">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95236">
                                            <p:txEl>
                                              <p:pRg st="5" end="5"/>
                                            </p:txEl>
                                          </p:spTgt>
                                        </p:tgtEl>
                                        <p:attrNameLst>
                                          <p:attrName>style.visibility</p:attrName>
                                        </p:attrNameLst>
                                      </p:cBhvr>
                                      <p:to>
                                        <p:strVal val="visible"/>
                                      </p:to>
                                    </p:set>
                                    <p:animEffect transition="in" filter="fade">
                                      <p:cBhvr>
                                        <p:cTn id="26" dur="500"/>
                                        <p:tgtEl>
                                          <p:spTgt spid="95236">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95236">
                                            <p:txEl>
                                              <p:pRg st="6" end="6"/>
                                            </p:txEl>
                                          </p:spTgt>
                                        </p:tgtEl>
                                        <p:attrNameLst>
                                          <p:attrName>style.visibility</p:attrName>
                                        </p:attrNameLst>
                                      </p:cBhvr>
                                      <p:to>
                                        <p:strVal val="visible"/>
                                      </p:to>
                                    </p:set>
                                    <p:animEffect transition="in" filter="fade">
                                      <p:cBhvr>
                                        <p:cTn id="31" dur="500"/>
                                        <p:tgtEl>
                                          <p:spTgt spid="9523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38200" y="1672590"/>
            <a:ext cx="10515600" cy="4944110"/>
          </a:xfrm>
        </p:spPr>
        <p:txBody>
          <a:bodyPr>
            <a:normAutofit/>
          </a:bodyPr>
          <a:lstStyle/>
          <a:p>
            <a:pPr>
              <a:spcBef>
                <a:spcPct val="0"/>
              </a:spcBef>
            </a:pPr>
            <a:r>
              <a:rPr lang="zh-CN" altLang="en-US" dirty="0"/>
              <a:t>流水线概述</a:t>
            </a:r>
            <a:endParaRPr lang="en-US" altLang="zh-CN" dirty="0"/>
          </a:p>
          <a:p>
            <a:pPr>
              <a:spcBef>
                <a:spcPct val="0"/>
              </a:spcBef>
            </a:pPr>
            <a:r>
              <a:rPr lang="zh-CN" altLang="en-US" b="1" dirty="0"/>
              <a:t>流水线数据通路和控制</a:t>
            </a:r>
            <a:endParaRPr lang="en-US" altLang="zh-CN" b="1" dirty="0"/>
          </a:p>
          <a:p>
            <a:pPr>
              <a:spcBef>
                <a:spcPct val="0"/>
              </a:spcBef>
            </a:pPr>
            <a:r>
              <a:rPr lang="zh-CN" altLang="en-US" dirty="0"/>
              <a:t>数据冒险：前递与停顿</a:t>
            </a:r>
            <a:endParaRPr lang="en-US" altLang="zh-CN" dirty="0"/>
          </a:p>
          <a:p>
            <a:pPr>
              <a:spcBef>
                <a:spcPct val="0"/>
              </a:spcBef>
            </a:pPr>
            <a:r>
              <a:rPr lang="zh-CN" altLang="en-US" dirty="0"/>
              <a:t>控制冒险</a:t>
            </a:r>
            <a:endParaRPr lang="en-US" altLang="zh-CN" dirty="0"/>
          </a:p>
          <a:p>
            <a:pPr>
              <a:spcBef>
                <a:spcPct val="0"/>
              </a:spcBef>
            </a:pPr>
            <a:r>
              <a:rPr lang="zh-CN" altLang="en-US" dirty="0"/>
              <a:t>例外</a:t>
            </a:r>
            <a:endParaRPr lang="en-US" altLang="zh-CN" dirty="0"/>
          </a:p>
        </p:txBody>
      </p:sp>
      <p:sp>
        <p:nvSpPr>
          <p:cNvPr id="3" name="标题 2"/>
          <p:cNvSpPr>
            <a:spLocks noGrp="1"/>
          </p:cNvSpPr>
          <p:nvPr>
            <p:ph type="title"/>
          </p:nvPr>
        </p:nvSpPr>
        <p:spPr/>
        <p:txBody>
          <a:bodyPr/>
          <a:lstStyle/>
          <a:p>
            <a:r>
              <a:rPr lang="zh-CN" altLang="en-US" dirty="0"/>
              <a:t>第五章</a:t>
            </a:r>
          </a:p>
        </p:txBody>
      </p:sp>
      <p:sp>
        <p:nvSpPr>
          <p:cNvPr id="6" name="灯片编号占位符 5"/>
          <p:cNvSpPr>
            <a:spLocks noGrp="1"/>
          </p:cNvSpPr>
          <p:nvPr>
            <p:ph type="sldNum" sz="quarter" idx="12"/>
          </p:nvPr>
        </p:nvSpPr>
        <p:spPr/>
        <p:txBody>
          <a:bodyPr/>
          <a:lstStyle/>
          <a:p>
            <a:fld id="{8EE8E787-E6FE-45D8-9039-788B45E44EE7}" type="slidenum">
              <a:rPr lang="zh-CN" altLang="en-US" smtClean="0"/>
              <a:t>22</a:t>
            </a:fld>
            <a:endParaRPr lang="zh-CN" altLang="en-US" dirty="0"/>
          </a:p>
        </p:txBody>
      </p:sp>
    </p:spTree>
    <p:extLst>
      <p:ext uri="{BB962C8B-B14F-4D97-AF65-F5344CB8AC3E}">
        <p14:creationId xmlns:p14="http://schemas.microsoft.com/office/powerpoint/2010/main" val="5412582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latin typeface="Times New Roman" panose="02020603050405020304" pitchFamily="18" charset="0"/>
                <a:ea typeface="宋体" panose="02010600030101010101" pitchFamily="2" charset="-122"/>
              </a:rPr>
              <a:t>构建</a:t>
            </a:r>
            <a:r>
              <a:rPr lang="en-US" altLang="en-US" dirty="0">
                <a:latin typeface="Times New Roman" panose="02020603050405020304" pitchFamily="18" charset="0"/>
                <a:ea typeface="宋体" panose="02010600030101010101" pitchFamily="2" charset="-122"/>
              </a:rPr>
              <a:t>RISC-V</a:t>
            </a:r>
            <a:r>
              <a:rPr lang="zh-CN" altLang="en-US" dirty="0">
                <a:latin typeface="Times New Roman" panose="02020603050405020304" pitchFamily="18" charset="0"/>
                <a:ea typeface="宋体" panose="02010600030101010101" pitchFamily="2" charset="-122"/>
              </a:rPr>
              <a:t>流水线数据通路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8E787-E6FE-45D8-9039-788B45E44EE7}"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charset="-122"/>
              <a:ea typeface="等线" panose="02010600030101010101" charset="-122"/>
              <a:cs typeface="+mn-cs"/>
            </a:endParaRPr>
          </a:p>
        </p:txBody>
      </p:sp>
      <p:sp>
        <p:nvSpPr>
          <p:cNvPr id="5125" name="AutoShape 5"/>
          <p:cNvSpPr/>
          <p:nvPr/>
        </p:nvSpPr>
        <p:spPr bwMode="auto">
          <a:xfrm>
            <a:off x="2034544" y="4922347"/>
            <a:ext cx="1684337" cy="966520"/>
          </a:xfrm>
          <a:prstGeom prst="borderCallout1">
            <a:avLst>
              <a:gd name="adj1" fmla="val 48346"/>
              <a:gd name="adj2" fmla="val 103180"/>
              <a:gd name="adj3" fmla="val -14820"/>
              <a:gd name="adj4" fmla="val 143102"/>
            </a:avLst>
          </a:prstGeom>
          <a:solidFill>
            <a:schemeClr val="accent1">
              <a:lumMod val="20000"/>
              <a:lumOff val="80000"/>
            </a:schemeClr>
          </a:solidFill>
          <a:ln w="19050">
            <a:solidFill>
              <a:schemeClr val="accent1">
                <a:lumMod val="50000"/>
              </a:schemeClr>
            </a:solidFill>
            <a:miter lim="800000"/>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属于</a:t>
            </a: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WB</a:t>
            </a: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阶段</a:t>
            </a:r>
            <a:endParaRPr kumimoji="0" lang="en-AU"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sp>
        <p:nvSpPr>
          <p:cNvPr id="5126" name="AutoShape 6"/>
          <p:cNvSpPr/>
          <p:nvPr/>
        </p:nvSpPr>
        <p:spPr bwMode="auto">
          <a:xfrm>
            <a:off x="63534" y="4634606"/>
            <a:ext cx="1815422" cy="923329"/>
          </a:xfrm>
          <a:prstGeom prst="borderCallout1">
            <a:avLst>
              <a:gd name="adj1" fmla="val 1272"/>
              <a:gd name="adj2" fmla="val 49133"/>
              <a:gd name="adj3" fmla="val -51611"/>
              <a:gd name="adj4" fmla="val 61208"/>
            </a:avLst>
          </a:prstGeom>
          <a:solidFill>
            <a:schemeClr val="accent1">
              <a:lumMod val="20000"/>
              <a:lumOff val="80000"/>
            </a:schemeClr>
          </a:solidFill>
          <a:ln w="19050">
            <a:solidFill>
              <a:schemeClr val="accent1">
                <a:lumMod val="50000"/>
              </a:schemeClr>
            </a:solidFill>
            <a:miter lim="800000"/>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属于</a:t>
            </a:r>
            <a:r>
              <a:rPr kumimoji="0" lang="en-US"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MEM</a:t>
            </a:r>
            <a:r>
              <a:rPr kumimoji="0" lang="zh-CN"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阶段</a:t>
            </a:r>
            <a:endParaRPr kumimoji="0" lang="en-AU" altLang="en-US" sz="28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endParaRPr>
          </a:p>
        </p:txBody>
      </p:sp>
      <p:grpSp>
        <p:nvGrpSpPr>
          <p:cNvPr id="10" name="Instruction memory"/>
          <p:cNvGrpSpPr/>
          <p:nvPr/>
        </p:nvGrpSpPr>
        <p:grpSpPr>
          <a:xfrm>
            <a:off x="2188542" y="3325866"/>
            <a:ext cx="1403916" cy="1017764"/>
            <a:chOff x="2263385" y="3407372"/>
            <a:chExt cx="1470915" cy="1193839"/>
          </a:xfrm>
        </p:grpSpPr>
        <p:sp>
          <p:nvSpPr>
            <p:cNvPr id="134" name="矩形 133"/>
            <p:cNvSpPr/>
            <p:nvPr/>
          </p:nvSpPr>
          <p:spPr>
            <a:xfrm>
              <a:off x="2333823" y="3448051"/>
              <a:ext cx="1400477" cy="11531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5" name="文本框 134"/>
            <p:cNvSpPr txBox="1"/>
            <p:nvPr/>
          </p:nvSpPr>
          <p:spPr>
            <a:xfrm>
              <a:off x="2263385" y="3407372"/>
              <a:ext cx="1319245"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1" name="PC"/>
          <p:cNvGrpSpPr/>
          <p:nvPr/>
        </p:nvGrpSpPr>
        <p:grpSpPr>
          <a:xfrm>
            <a:off x="1601836" y="3099909"/>
            <a:ext cx="508932" cy="707888"/>
            <a:chOff x="775632" y="4730072"/>
            <a:chExt cx="1018662" cy="607761"/>
          </a:xfrm>
        </p:grpSpPr>
        <p:sp>
          <p:nvSpPr>
            <p:cNvPr id="132" name="矩形 131"/>
            <p:cNvSpPr/>
            <p:nvPr/>
          </p:nvSpPr>
          <p:spPr>
            <a:xfrm>
              <a:off x="887030" y="4800600"/>
              <a:ext cx="639939" cy="50292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3" name="文本框 132"/>
            <p:cNvSpPr txBox="1"/>
            <p:nvPr/>
          </p:nvSpPr>
          <p:spPr>
            <a:xfrm>
              <a:off x="775632" y="4730072"/>
              <a:ext cx="1018662" cy="607761"/>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PC</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2" name="Add"/>
          <p:cNvGrpSpPr/>
          <p:nvPr/>
        </p:nvGrpSpPr>
        <p:grpSpPr>
          <a:xfrm>
            <a:off x="2447120" y="2077324"/>
            <a:ext cx="655949" cy="822349"/>
            <a:chOff x="4656246" y="4140786"/>
            <a:chExt cx="743403" cy="964617"/>
          </a:xfrm>
        </p:grpSpPr>
        <p:sp>
          <p:nvSpPr>
            <p:cNvPr id="130" name="梯形 129"/>
            <p:cNvSpPr/>
            <p:nvPr/>
          </p:nvSpPr>
          <p:spPr>
            <a:xfrm rot="5400000">
              <a:off x="4538209" y="4329347"/>
              <a:ext cx="964617" cy="587495"/>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1" name="文本框 130"/>
            <p:cNvSpPr txBox="1"/>
            <p:nvPr/>
          </p:nvSpPr>
          <p:spPr>
            <a:xfrm>
              <a:off x="4656246" y="4371481"/>
              <a:ext cx="743403"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4" name="Registers"/>
          <p:cNvGrpSpPr/>
          <p:nvPr/>
        </p:nvGrpSpPr>
        <p:grpSpPr>
          <a:xfrm>
            <a:off x="4427875" y="2448031"/>
            <a:ext cx="1750336" cy="2507830"/>
            <a:chOff x="1920262" y="320244"/>
            <a:chExt cx="3149613" cy="3265188"/>
          </a:xfrm>
        </p:grpSpPr>
        <p:sp>
          <p:nvSpPr>
            <p:cNvPr id="120" name="矩形 119"/>
            <p:cNvSpPr/>
            <p:nvPr/>
          </p:nvSpPr>
          <p:spPr>
            <a:xfrm>
              <a:off x="2026387" y="320244"/>
              <a:ext cx="2772304" cy="3265188"/>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1" name="文本框 120"/>
            <p:cNvSpPr txBox="1"/>
            <p:nvPr/>
          </p:nvSpPr>
          <p:spPr>
            <a:xfrm>
              <a:off x="2278844" y="1515409"/>
              <a:ext cx="2149528" cy="52094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Registers</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2" name="文本框 121"/>
            <p:cNvSpPr txBox="1"/>
            <p:nvPr/>
          </p:nvSpPr>
          <p:spPr>
            <a:xfrm>
              <a:off x="1920791" y="350802"/>
              <a:ext cx="2328466"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3" name="文本框 122"/>
            <p:cNvSpPr txBox="1"/>
            <p:nvPr/>
          </p:nvSpPr>
          <p:spPr>
            <a:xfrm>
              <a:off x="1920262" y="839193"/>
              <a:ext cx="2838453"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4" name="文本框 123"/>
            <p:cNvSpPr txBox="1"/>
            <p:nvPr/>
          </p:nvSpPr>
          <p:spPr>
            <a:xfrm>
              <a:off x="1925707" y="2413446"/>
              <a:ext cx="2336094"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reg</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5" name="文本框 124"/>
            <p:cNvSpPr txBox="1"/>
            <p:nvPr/>
          </p:nvSpPr>
          <p:spPr>
            <a:xfrm>
              <a:off x="1938955" y="3033593"/>
              <a:ext cx="2243562" cy="52094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6" name="文本框 125"/>
            <p:cNvSpPr txBox="1"/>
            <p:nvPr/>
          </p:nvSpPr>
          <p:spPr>
            <a:xfrm>
              <a:off x="2627150" y="1213511"/>
              <a:ext cx="2442725"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7" name="文本框 126"/>
            <p:cNvSpPr txBox="1"/>
            <p:nvPr/>
          </p:nvSpPr>
          <p:spPr>
            <a:xfrm>
              <a:off x="2511237" y="1944841"/>
              <a:ext cx="2500113" cy="520942"/>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5" name="Imm Gen"/>
          <p:cNvGrpSpPr/>
          <p:nvPr/>
        </p:nvGrpSpPr>
        <p:grpSpPr>
          <a:xfrm>
            <a:off x="5225498" y="5123550"/>
            <a:ext cx="658096" cy="538474"/>
            <a:chOff x="4868693" y="6172575"/>
            <a:chExt cx="992994" cy="1215294"/>
          </a:xfrm>
        </p:grpSpPr>
        <p:sp>
          <p:nvSpPr>
            <p:cNvPr id="118" name="椭圆 117"/>
            <p:cNvSpPr/>
            <p:nvPr/>
          </p:nvSpPr>
          <p:spPr>
            <a:xfrm>
              <a:off x="4868693" y="6172575"/>
              <a:ext cx="984044" cy="1146747"/>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19" name="文本框 118"/>
            <p:cNvSpPr txBox="1"/>
            <p:nvPr/>
          </p:nvSpPr>
          <p:spPr>
            <a:xfrm>
              <a:off x="4895397" y="6339596"/>
              <a:ext cx="966290" cy="104827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Imm</a:t>
              </a: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Gen</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6" name="Add Sum"/>
          <p:cNvGrpSpPr/>
          <p:nvPr/>
        </p:nvGrpSpPr>
        <p:grpSpPr>
          <a:xfrm>
            <a:off x="7695720" y="2098268"/>
            <a:ext cx="970351" cy="768090"/>
            <a:chOff x="5618729" y="2276195"/>
            <a:chExt cx="974126" cy="1475010"/>
          </a:xfrm>
        </p:grpSpPr>
        <p:sp>
          <p:nvSpPr>
            <p:cNvPr id="116" name="梯形 115"/>
            <p:cNvSpPr/>
            <p:nvPr/>
          </p:nvSpPr>
          <p:spPr>
            <a:xfrm rot="5400000">
              <a:off x="5407527" y="2565877"/>
              <a:ext cx="1475010" cy="895646"/>
            </a:xfrm>
            <a:prstGeom prst="trapezoid">
              <a:avLst>
                <a:gd name="adj" fmla="val 32755"/>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17" name="文本框 116"/>
            <p:cNvSpPr txBox="1"/>
            <p:nvPr/>
          </p:nvSpPr>
          <p:spPr>
            <a:xfrm>
              <a:off x="5618729" y="2834873"/>
              <a:ext cx="658501" cy="569740"/>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p>
          </p:txBody>
        </p:sp>
      </p:grpSp>
      <p:grpSp>
        <p:nvGrpSpPr>
          <p:cNvPr id="17" name="ALU"/>
          <p:cNvGrpSpPr/>
          <p:nvPr/>
        </p:nvGrpSpPr>
        <p:grpSpPr>
          <a:xfrm>
            <a:off x="7644213" y="3022306"/>
            <a:ext cx="888114" cy="1655375"/>
            <a:chOff x="6023805" y="3373136"/>
            <a:chExt cx="1306109" cy="1939847"/>
          </a:xfrm>
        </p:grpSpPr>
        <p:sp>
          <p:nvSpPr>
            <p:cNvPr id="112" name="梯形 111"/>
            <p:cNvSpPr/>
            <p:nvPr/>
          </p:nvSpPr>
          <p:spPr>
            <a:xfrm rot="5400000">
              <a:off x="5687758" y="3783072"/>
              <a:ext cx="1939847" cy="1119975"/>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13" name="文本框 112"/>
            <p:cNvSpPr txBox="1"/>
            <p:nvPr/>
          </p:nvSpPr>
          <p:spPr>
            <a:xfrm>
              <a:off x="6023805" y="3779478"/>
              <a:ext cx="1070761"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ALU</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14" name="文本框 113"/>
            <p:cNvSpPr txBox="1"/>
            <p:nvPr/>
          </p:nvSpPr>
          <p:spPr>
            <a:xfrm>
              <a:off x="6192616" y="4473928"/>
              <a:ext cx="1106123"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result</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15" name="文本框 114"/>
            <p:cNvSpPr txBox="1"/>
            <p:nvPr/>
          </p:nvSpPr>
          <p:spPr>
            <a:xfrm>
              <a:off x="6346379" y="4069290"/>
              <a:ext cx="983535"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Zero</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8" name="shift left 1"/>
          <p:cNvGrpSpPr/>
          <p:nvPr/>
        </p:nvGrpSpPr>
        <p:grpSpPr>
          <a:xfrm>
            <a:off x="6558835" y="2348706"/>
            <a:ext cx="774571" cy="682474"/>
            <a:chOff x="5943580" y="4120445"/>
            <a:chExt cx="1189521" cy="1146746"/>
          </a:xfrm>
        </p:grpSpPr>
        <p:sp>
          <p:nvSpPr>
            <p:cNvPr id="110" name="椭圆 109"/>
            <p:cNvSpPr/>
            <p:nvPr/>
          </p:nvSpPr>
          <p:spPr>
            <a:xfrm>
              <a:off x="5956446" y="4120445"/>
              <a:ext cx="984043" cy="1146746"/>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11" name="文本框 110"/>
            <p:cNvSpPr txBox="1"/>
            <p:nvPr/>
          </p:nvSpPr>
          <p:spPr>
            <a:xfrm>
              <a:off x="5943580" y="4341202"/>
              <a:ext cx="1189521" cy="821732"/>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Shift </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left 1</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9" name="Mux 3"/>
          <p:cNvGrpSpPr/>
          <p:nvPr/>
        </p:nvGrpSpPr>
        <p:grpSpPr>
          <a:xfrm>
            <a:off x="11211341" y="4293796"/>
            <a:ext cx="596487" cy="1168007"/>
            <a:chOff x="3628473" y="5448300"/>
            <a:chExt cx="839027" cy="1230515"/>
          </a:xfrm>
        </p:grpSpPr>
        <p:sp>
          <p:nvSpPr>
            <p:cNvPr id="106" name="mux"/>
            <p:cNvSpPr/>
            <p:nvPr/>
          </p:nvSpPr>
          <p:spPr>
            <a:xfrm rot="5400000">
              <a:off x="3386121" y="5744398"/>
              <a:ext cx="1230515" cy="638319"/>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7" name="文本框 106"/>
            <p:cNvSpPr txBox="1"/>
            <p:nvPr/>
          </p:nvSpPr>
          <p:spPr>
            <a:xfrm>
              <a:off x="3628473" y="5492154"/>
              <a:ext cx="260679"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8" name="文本框 107"/>
            <p:cNvSpPr txBox="1"/>
            <p:nvPr/>
          </p:nvSpPr>
          <p:spPr>
            <a:xfrm>
              <a:off x="3641695" y="6293721"/>
              <a:ext cx="404061" cy="35667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9" name="文本框 108"/>
            <p:cNvSpPr txBox="1"/>
            <p:nvPr/>
          </p:nvSpPr>
          <p:spPr>
            <a:xfrm>
              <a:off x="3867270" y="5599309"/>
              <a:ext cx="600230" cy="107001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0" name="Data memory"/>
          <p:cNvGrpSpPr/>
          <p:nvPr/>
        </p:nvGrpSpPr>
        <p:grpSpPr>
          <a:xfrm>
            <a:off x="9234285" y="3389823"/>
            <a:ext cx="1410463" cy="1649596"/>
            <a:chOff x="14776596" y="4548051"/>
            <a:chExt cx="2996411" cy="3391601"/>
          </a:xfrm>
        </p:grpSpPr>
        <p:sp>
          <p:nvSpPr>
            <p:cNvPr id="101" name="矩形 100"/>
            <p:cNvSpPr/>
            <p:nvPr/>
          </p:nvSpPr>
          <p:spPr>
            <a:xfrm>
              <a:off x="14918425" y="4548051"/>
              <a:ext cx="2551865" cy="33625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2" name="文本框 101"/>
            <p:cNvSpPr txBox="1"/>
            <p:nvPr/>
          </p:nvSpPr>
          <p:spPr>
            <a:xfrm>
              <a:off x="14893548" y="4778415"/>
              <a:ext cx="2622003" cy="993224"/>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Data </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memory</a:t>
              </a:r>
            </a:p>
          </p:txBody>
        </p:sp>
        <p:sp>
          <p:nvSpPr>
            <p:cNvPr id="103" name="文本框 102"/>
            <p:cNvSpPr txBox="1"/>
            <p:nvPr/>
          </p:nvSpPr>
          <p:spPr>
            <a:xfrm>
              <a:off x="14776596" y="5875440"/>
              <a:ext cx="2176760" cy="822634"/>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4" name="文本框 103"/>
            <p:cNvSpPr txBox="1"/>
            <p:nvPr/>
          </p:nvSpPr>
          <p:spPr>
            <a:xfrm>
              <a:off x="14805469" y="7117018"/>
              <a:ext cx="2642491" cy="822634"/>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5" name="文本框 104"/>
            <p:cNvSpPr txBox="1"/>
            <p:nvPr/>
          </p:nvSpPr>
          <p:spPr>
            <a:xfrm>
              <a:off x="15097672" y="6420342"/>
              <a:ext cx="2675335" cy="822634"/>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25" name="直接连接符 24"/>
          <p:cNvCxnSpPr/>
          <p:nvPr/>
        </p:nvCxnSpPr>
        <p:spPr>
          <a:xfrm>
            <a:off x="1977210" y="3488622"/>
            <a:ext cx="25830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130" idx="0"/>
          </p:cNvCxnSpPr>
          <p:nvPr/>
        </p:nvCxnSpPr>
        <p:spPr>
          <a:xfrm flipV="1">
            <a:off x="3027732" y="2486611"/>
            <a:ext cx="82559" cy="18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835501" y="2738251"/>
            <a:ext cx="673848"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3604168" y="3858029"/>
            <a:ext cx="484823" cy="0"/>
          </a:xfrm>
          <a:prstGeom prst="line">
            <a:avLst/>
          </a:prstGeom>
          <a:ln w="2540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2065814" y="2997737"/>
            <a:ext cx="0" cy="478795"/>
          </a:xfrm>
          <a:prstGeom prst="line">
            <a:avLst/>
          </a:prstGeom>
          <a:ln w="25400">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3101413" y="1796692"/>
            <a:ext cx="0" cy="6899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812289" y="1796692"/>
            <a:ext cx="22980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812289" y="1796692"/>
            <a:ext cx="0" cy="13869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4106747" y="2675712"/>
            <a:ext cx="409392"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4093490" y="3057467"/>
            <a:ext cx="395373"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4084752" y="5377850"/>
            <a:ext cx="1143140"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7222680" y="2671326"/>
            <a:ext cx="53624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6027506" y="3299592"/>
            <a:ext cx="1676702" cy="16806"/>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3" name="Mux 3"/>
          <p:cNvGrpSpPr/>
          <p:nvPr/>
        </p:nvGrpSpPr>
        <p:grpSpPr>
          <a:xfrm>
            <a:off x="942463" y="2972194"/>
            <a:ext cx="573527" cy="1168007"/>
            <a:chOff x="3339670" y="5460516"/>
            <a:chExt cx="839535" cy="1230515"/>
          </a:xfrm>
        </p:grpSpPr>
        <p:sp>
          <p:nvSpPr>
            <p:cNvPr id="91" name="mux"/>
            <p:cNvSpPr/>
            <p:nvPr/>
          </p:nvSpPr>
          <p:spPr>
            <a:xfrm rot="5400000">
              <a:off x="3126834" y="5731027"/>
              <a:ext cx="1230515" cy="689494"/>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92" name="文本框 91"/>
            <p:cNvSpPr txBox="1"/>
            <p:nvPr/>
          </p:nvSpPr>
          <p:spPr>
            <a:xfrm>
              <a:off x="3365437" y="5514581"/>
              <a:ext cx="260684"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93" name="文本框 92"/>
            <p:cNvSpPr txBox="1"/>
            <p:nvPr/>
          </p:nvSpPr>
          <p:spPr>
            <a:xfrm>
              <a:off x="3339670" y="6240974"/>
              <a:ext cx="324021"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94" name="文本框 93"/>
            <p:cNvSpPr txBox="1"/>
            <p:nvPr/>
          </p:nvSpPr>
          <p:spPr>
            <a:xfrm>
              <a:off x="3554568" y="5533116"/>
              <a:ext cx="624637" cy="107001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44" name="直接连接符 43"/>
          <p:cNvCxnSpPr/>
          <p:nvPr/>
        </p:nvCxnSpPr>
        <p:spPr>
          <a:xfrm>
            <a:off x="8463043" y="4197238"/>
            <a:ext cx="826293" cy="939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连接符 46"/>
          <p:cNvCxnSpPr>
            <a:endCxn id="107" idx="1"/>
          </p:cNvCxnSpPr>
          <p:nvPr/>
        </p:nvCxnSpPr>
        <p:spPr>
          <a:xfrm>
            <a:off x="10513964" y="4502675"/>
            <a:ext cx="697378" cy="202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8" name="Mux 3"/>
          <p:cNvGrpSpPr/>
          <p:nvPr/>
        </p:nvGrpSpPr>
        <p:grpSpPr>
          <a:xfrm>
            <a:off x="7008739" y="3569668"/>
            <a:ext cx="482064" cy="1168006"/>
            <a:chOff x="3558568" y="5448300"/>
            <a:chExt cx="706348" cy="1230515"/>
          </a:xfrm>
        </p:grpSpPr>
        <p:sp>
          <p:nvSpPr>
            <p:cNvPr id="87" name="mux"/>
            <p:cNvSpPr/>
            <p:nvPr/>
          </p:nvSpPr>
          <p:spPr>
            <a:xfrm rot="5400000">
              <a:off x="3332723" y="5746622"/>
              <a:ext cx="1230515" cy="633871"/>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8" name="文本框 87"/>
            <p:cNvSpPr txBox="1"/>
            <p:nvPr/>
          </p:nvSpPr>
          <p:spPr>
            <a:xfrm>
              <a:off x="3571052" y="5580627"/>
              <a:ext cx="260682"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9" name="文本框 88"/>
            <p:cNvSpPr txBox="1"/>
            <p:nvPr/>
          </p:nvSpPr>
          <p:spPr>
            <a:xfrm>
              <a:off x="3558568" y="6264229"/>
              <a:ext cx="408928" cy="34293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90" name="文本框 89"/>
            <p:cNvSpPr txBox="1"/>
            <p:nvPr/>
          </p:nvSpPr>
          <p:spPr>
            <a:xfrm>
              <a:off x="3789869" y="5599309"/>
              <a:ext cx="462611" cy="1070019"/>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49" name="直接连接符 48"/>
          <p:cNvCxnSpPr/>
          <p:nvPr/>
        </p:nvCxnSpPr>
        <p:spPr>
          <a:xfrm flipV="1">
            <a:off x="1470564" y="3482229"/>
            <a:ext cx="178001" cy="5"/>
          </a:xfrm>
          <a:prstGeom prst="line">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2207288" y="2286715"/>
            <a:ext cx="29752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6894331" y="3023513"/>
            <a:ext cx="8288" cy="23680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5877662" y="5391606"/>
            <a:ext cx="102495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6027506" y="3858029"/>
            <a:ext cx="102526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6891984" y="4523994"/>
            <a:ext cx="182537" cy="853"/>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6466904" y="4786044"/>
            <a:ext cx="2841878"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6466908" y="3877045"/>
            <a:ext cx="10435" cy="902629"/>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8847745" y="4197238"/>
            <a:ext cx="0" cy="1068388"/>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59" name="直接连接符 58"/>
          <p:cNvCxnSpPr>
            <a:endCxn id="108" idx="1"/>
          </p:cNvCxnSpPr>
          <p:nvPr/>
        </p:nvCxnSpPr>
        <p:spPr>
          <a:xfrm>
            <a:off x="8842971" y="5261938"/>
            <a:ext cx="2377771" cy="361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7490804" y="4334067"/>
            <a:ext cx="21340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 name="文本框 61"/>
          <p:cNvSpPr txBox="1"/>
          <p:nvPr/>
        </p:nvSpPr>
        <p:spPr>
          <a:xfrm>
            <a:off x="2221609" y="3863306"/>
            <a:ext cx="1464123" cy="48904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 memory</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63" name="直接连接符 62"/>
          <p:cNvCxnSpPr>
            <a:endCxn id="109" idx="3"/>
          </p:cNvCxnSpPr>
          <p:nvPr/>
        </p:nvCxnSpPr>
        <p:spPr>
          <a:xfrm>
            <a:off x="11675141" y="4917191"/>
            <a:ext cx="132687" cy="27775"/>
          </a:xfrm>
          <a:prstGeom prst="line">
            <a:avLst/>
          </a:prstGeom>
          <a:ln w="25400">
            <a:no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11871408" y="4899101"/>
            <a:ext cx="14406" cy="996522"/>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4239447" y="4600766"/>
            <a:ext cx="0" cy="130861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a:off x="4236088" y="4600766"/>
            <a:ext cx="247455" cy="4814"/>
          </a:xfrm>
          <a:prstGeom prst="line">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641622" y="1550937"/>
            <a:ext cx="8989972"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641622" y="1559980"/>
            <a:ext cx="0" cy="233362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799871" y="3182041"/>
            <a:ext cx="165348" cy="65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632291" y="3889266"/>
            <a:ext cx="332520" cy="0"/>
          </a:xfrm>
          <a:prstGeom prst="line">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9625471" y="1550937"/>
            <a:ext cx="6122" cy="937561"/>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8692161" y="2479100"/>
            <a:ext cx="915554" cy="7511"/>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73" name="文本框 72"/>
          <p:cNvSpPr txBox="1"/>
          <p:nvPr/>
        </p:nvSpPr>
        <p:spPr>
          <a:xfrm>
            <a:off x="1921854" y="2134369"/>
            <a:ext cx="20135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4</a:t>
            </a:r>
            <a:endParaRPr kumimoji="0" lang="zh-CN" altLang="en-US"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cxnSp>
        <p:nvCxnSpPr>
          <p:cNvPr id="74" name="直接连接符 73"/>
          <p:cNvCxnSpPr/>
          <p:nvPr/>
        </p:nvCxnSpPr>
        <p:spPr>
          <a:xfrm>
            <a:off x="11723733" y="4899101"/>
            <a:ext cx="162080" cy="0"/>
          </a:xfrm>
          <a:prstGeom prst="line">
            <a:avLst/>
          </a:prstGeom>
          <a:ln w="25400">
            <a:solidFill>
              <a:srgbClr val="00B0F0"/>
            </a:solidFill>
            <a:tailEnd type="none"/>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4084752" y="2671326"/>
            <a:ext cx="8738" cy="27062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V="1">
            <a:off x="8463043" y="3782284"/>
            <a:ext cx="616264" cy="7955"/>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4093962" y="4334888"/>
            <a:ext cx="389581" cy="1331"/>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79" name="连接符: 肘形 78"/>
          <p:cNvCxnSpPr/>
          <p:nvPr/>
        </p:nvCxnSpPr>
        <p:spPr>
          <a:xfrm flipV="1">
            <a:off x="1835501" y="2285762"/>
            <a:ext cx="5919733" cy="720150"/>
          </a:xfrm>
          <a:prstGeom prst="bentConnector3">
            <a:avLst>
              <a:gd name="adj1" fmla="val 28405"/>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80" name="文本框 79"/>
          <p:cNvSpPr txBox="1"/>
          <p:nvPr/>
        </p:nvSpPr>
        <p:spPr>
          <a:xfrm rot="10800000">
            <a:off x="3695604" y="2078711"/>
            <a:ext cx="492443" cy="1436503"/>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1" name="文本框 80"/>
          <p:cNvSpPr txBox="1"/>
          <p:nvPr/>
        </p:nvSpPr>
        <p:spPr>
          <a:xfrm>
            <a:off x="4655239" y="5391606"/>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32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2" name="文本框 81"/>
          <p:cNvSpPr txBox="1"/>
          <p:nvPr/>
        </p:nvSpPr>
        <p:spPr>
          <a:xfrm>
            <a:off x="5881124" y="5363329"/>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64</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83" name="直接连接符 82"/>
          <p:cNvCxnSpPr/>
          <p:nvPr/>
        </p:nvCxnSpPr>
        <p:spPr>
          <a:xfrm>
            <a:off x="4781997" y="5305207"/>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6010579" y="5299730"/>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V="1">
            <a:off x="4225993" y="5895623"/>
            <a:ext cx="7659820" cy="13754"/>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a:xfrm>
            <a:off x="1835501" y="2730692"/>
            <a:ext cx="0" cy="27592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8179065" y="2317056"/>
            <a:ext cx="70498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sum</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4" name="矩形 3"/>
          <p:cNvSpPr/>
          <p:nvPr/>
        </p:nvSpPr>
        <p:spPr bwMode="auto">
          <a:xfrm>
            <a:off x="6432676" y="1945178"/>
            <a:ext cx="1033829" cy="1261337"/>
          </a:xfrm>
          <a:prstGeom prst="rect">
            <a:avLst/>
          </a:prstGeom>
          <a:noFill/>
          <a:ln w="38100">
            <a:solidFill>
              <a:srgbClr val="0000FF"/>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136525" rIns="0" bIns="136525"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000" b="1" i="0" u="none" strike="noStrike" kern="1200" cap="none" spc="0" normalizeH="0" baseline="0" noProof="0" dirty="0">
              <a:ln>
                <a:noFill/>
              </a:ln>
              <a:solidFill>
                <a:srgbClr val="00B0F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128" name="矩形 127"/>
          <p:cNvSpPr/>
          <p:nvPr/>
        </p:nvSpPr>
        <p:spPr bwMode="auto">
          <a:xfrm>
            <a:off x="7573355" y="1896237"/>
            <a:ext cx="1141279" cy="1048559"/>
          </a:xfrm>
          <a:prstGeom prst="rect">
            <a:avLst/>
          </a:prstGeom>
          <a:noFill/>
          <a:ln w="38100">
            <a:solidFill>
              <a:srgbClr val="0000FF"/>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136525" rIns="0" bIns="136525"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000" b="1" i="0" u="none" strike="noStrike" kern="1200" cap="none" spc="0" normalizeH="0" baseline="0" noProof="0" dirty="0">
              <a:ln>
                <a:noFill/>
              </a:ln>
              <a:solidFill>
                <a:srgbClr val="00B0F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129" name="矩形 128"/>
          <p:cNvSpPr/>
          <p:nvPr/>
        </p:nvSpPr>
        <p:spPr bwMode="auto">
          <a:xfrm>
            <a:off x="10891872" y="4226938"/>
            <a:ext cx="1084107" cy="1390960"/>
          </a:xfrm>
          <a:prstGeom prst="rect">
            <a:avLst/>
          </a:prstGeom>
          <a:noFill/>
          <a:ln w="38100">
            <a:solidFill>
              <a:srgbClr val="0000FF"/>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136525" rIns="0" bIns="136525"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000" b="1" i="0" u="none" strike="noStrike" kern="1200" cap="none" spc="0" normalizeH="0" baseline="0" noProof="0" dirty="0">
                <a:ln>
                  <a:noFill/>
                </a:ln>
                <a:solidFill>
                  <a:srgbClr val="00B0F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W</a:t>
            </a:r>
            <a:endParaRPr kumimoji="0" lang="zh-CN" altLang="en-US" sz="1000" b="1" i="0" u="none" strike="noStrike" kern="1200" cap="none" spc="0" normalizeH="0" baseline="0" noProof="0" dirty="0">
              <a:ln>
                <a:noFill/>
              </a:ln>
              <a:solidFill>
                <a:srgbClr val="00B0F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136" name="矩形 135"/>
          <p:cNvSpPr/>
          <p:nvPr/>
        </p:nvSpPr>
        <p:spPr bwMode="auto">
          <a:xfrm>
            <a:off x="4664368" y="5024223"/>
            <a:ext cx="1769665" cy="832439"/>
          </a:xfrm>
          <a:prstGeom prst="rect">
            <a:avLst/>
          </a:prstGeom>
          <a:noFill/>
          <a:ln w="38100">
            <a:solidFill>
              <a:srgbClr val="0000FF"/>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136525" rIns="0" bIns="136525"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0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endParaRPr>
          </a:p>
        </p:txBody>
      </p:sp>
      <p:cxnSp>
        <p:nvCxnSpPr>
          <p:cNvPr id="8" name="直接连接符 7"/>
          <p:cNvCxnSpPr/>
          <p:nvPr/>
        </p:nvCxnSpPr>
        <p:spPr>
          <a:xfrm>
            <a:off x="3776031" y="985766"/>
            <a:ext cx="0" cy="5522038"/>
          </a:xfrm>
          <a:prstGeom prst="line">
            <a:avLst/>
          </a:prstGeom>
          <a:ln w="25400">
            <a:solidFill>
              <a:schemeClr val="tx1"/>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a:off x="6325226" y="985766"/>
            <a:ext cx="0" cy="5609587"/>
          </a:xfrm>
          <a:prstGeom prst="line">
            <a:avLst/>
          </a:prstGeom>
          <a:ln w="25400">
            <a:solidFill>
              <a:schemeClr val="tx1"/>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a:off x="8973627" y="960752"/>
            <a:ext cx="0" cy="5634601"/>
          </a:xfrm>
          <a:prstGeom prst="line">
            <a:avLst/>
          </a:prstGeom>
          <a:ln w="25400">
            <a:solidFill>
              <a:schemeClr val="tx1"/>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10794592" y="910795"/>
            <a:ext cx="0" cy="5684558"/>
          </a:xfrm>
          <a:prstGeom prst="line">
            <a:avLst/>
          </a:prstGeom>
          <a:ln w="25400">
            <a:solidFill>
              <a:schemeClr val="tx1"/>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1345149" y="985766"/>
            <a:ext cx="2156634"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取指阶段</a:t>
            </a:r>
            <a:r>
              <a:rPr kumimoji="0" lang="en-US" altLang="zh-CN" sz="2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IF</a:t>
            </a:r>
            <a:endParaRPr kumimoji="0" lang="zh-CN" altLang="en-US" sz="2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140" name="文本框 139"/>
          <p:cNvSpPr txBox="1"/>
          <p:nvPr/>
        </p:nvSpPr>
        <p:spPr>
          <a:xfrm>
            <a:off x="3996852" y="981179"/>
            <a:ext cx="2156634"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译码阶段</a:t>
            </a:r>
            <a:r>
              <a:rPr kumimoji="0" lang="en-US" altLang="zh-CN" sz="2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ID</a:t>
            </a:r>
            <a:endParaRPr kumimoji="0" lang="zh-CN" altLang="en-US" sz="2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141" name="文本框 140"/>
          <p:cNvSpPr txBox="1"/>
          <p:nvPr/>
        </p:nvSpPr>
        <p:spPr>
          <a:xfrm>
            <a:off x="6535527" y="990937"/>
            <a:ext cx="2156634"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执行阶段</a:t>
            </a:r>
            <a:r>
              <a:rPr kumimoji="0" lang="en-US" altLang="zh-CN" sz="2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EX</a:t>
            </a:r>
            <a:endParaRPr kumimoji="0" lang="zh-CN" altLang="en-US" sz="2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142" name="文本框 141"/>
          <p:cNvSpPr txBox="1"/>
          <p:nvPr/>
        </p:nvSpPr>
        <p:spPr>
          <a:xfrm>
            <a:off x="8807055" y="971529"/>
            <a:ext cx="2156634"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访存阶段</a:t>
            </a:r>
            <a:r>
              <a:rPr kumimoji="0" lang="en-US" altLang="zh-CN" sz="2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MEM</a:t>
            </a:r>
            <a:endParaRPr kumimoji="0" lang="zh-CN" altLang="en-US" sz="2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143" name="文本框 142"/>
          <p:cNvSpPr txBox="1"/>
          <p:nvPr/>
        </p:nvSpPr>
        <p:spPr>
          <a:xfrm>
            <a:off x="10763169" y="1001193"/>
            <a:ext cx="1563962"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写回阶段</a:t>
            </a:r>
            <a:endParaRPr kumimoji="0" lang="en-US" altLang="zh-CN" sz="2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WB</a:t>
            </a:r>
            <a:endParaRPr kumimoji="0" lang="zh-CN" altLang="en-US" sz="2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pic>
        <p:nvPicPr>
          <p:cNvPr id="2" name="图片 1">
            <a:extLst>
              <a:ext uri="{FF2B5EF4-FFF2-40B4-BE49-F238E27FC236}">
                <a16:creationId xmlns:a16="http://schemas.microsoft.com/office/drawing/2014/main" id="{D9831316-F413-42F4-A91F-A44F2C8773B7}"/>
              </a:ext>
            </a:extLst>
          </p:cNvPr>
          <p:cNvPicPr>
            <a:picLocks noChangeAspect="1"/>
          </p:cNvPicPr>
          <p:nvPr/>
        </p:nvPicPr>
        <p:blipFill>
          <a:blip r:embed="rId3"/>
          <a:stretch>
            <a:fillRect/>
          </a:stretch>
        </p:blipFill>
        <p:spPr>
          <a:xfrm>
            <a:off x="5739959" y="5558313"/>
            <a:ext cx="6236020" cy="1251014"/>
          </a:xfrm>
          <a:prstGeom prst="rect">
            <a:avLst/>
          </a:prstGeom>
        </p:spPr>
      </p:pic>
    </p:spTree>
    <p:extLst>
      <p:ext uri="{BB962C8B-B14F-4D97-AF65-F5344CB8AC3E}">
        <p14:creationId xmlns:p14="http://schemas.microsoft.com/office/powerpoint/2010/main" val="2005656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6"/>
                                        </p:tgtEl>
                                        <p:attrNameLst>
                                          <p:attrName>style.visibility</p:attrName>
                                        </p:attrNameLst>
                                      </p:cBhvr>
                                      <p:to>
                                        <p:strVal val="visible"/>
                                      </p:to>
                                    </p:set>
                                    <p:anim calcmode="lin" valueType="num">
                                      <p:cBhvr additive="base">
                                        <p:cTn id="7" dur="500" fill="hold"/>
                                        <p:tgtEl>
                                          <p:spTgt spid="136"/>
                                        </p:tgtEl>
                                        <p:attrNameLst>
                                          <p:attrName>ppt_x</p:attrName>
                                        </p:attrNameLst>
                                      </p:cBhvr>
                                      <p:tavLst>
                                        <p:tav tm="0">
                                          <p:val>
                                            <p:strVal val="#ppt_x"/>
                                          </p:val>
                                        </p:tav>
                                        <p:tav tm="100000">
                                          <p:val>
                                            <p:strVal val="#ppt_x"/>
                                          </p:val>
                                        </p:tav>
                                      </p:tavLst>
                                    </p:anim>
                                    <p:anim calcmode="lin" valueType="num">
                                      <p:cBhvr additive="base">
                                        <p:cTn id="8" dur="500" fill="hold"/>
                                        <p:tgtEl>
                                          <p:spTgt spid="13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8"/>
                                        </p:tgtEl>
                                        <p:attrNameLst>
                                          <p:attrName>style.visibility</p:attrName>
                                        </p:attrNameLst>
                                      </p:cBhvr>
                                      <p:to>
                                        <p:strVal val="visible"/>
                                      </p:to>
                                    </p:set>
                                    <p:anim calcmode="lin" valueType="num">
                                      <p:cBhvr additive="base">
                                        <p:cTn id="13" dur="500" fill="hold"/>
                                        <p:tgtEl>
                                          <p:spTgt spid="128"/>
                                        </p:tgtEl>
                                        <p:attrNameLst>
                                          <p:attrName>ppt_x</p:attrName>
                                        </p:attrNameLst>
                                      </p:cBhvr>
                                      <p:tavLst>
                                        <p:tav tm="0">
                                          <p:val>
                                            <p:strVal val="#ppt_x"/>
                                          </p:val>
                                        </p:tav>
                                        <p:tav tm="100000">
                                          <p:val>
                                            <p:strVal val="#ppt_x"/>
                                          </p:val>
                                        </p:tav>
                                      </p:tavLst>
                                    </p:anim>
                                    <p:anim calcmode="lin" valueType="num">
                                      <p:cBhvr additive="base">
                                        <p:cTn id="14" dur="500" fill="hold"/>
                                        <p:tgtEl>
                                          <p:spTgt spid="128"/>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29"/>
                                        </p:tgtEl>
                                        <p:attrNameLst>
                                          <p:attrName>style.visibility</p:attrName>
                                        </p:attrNameLst>
                                      </p:cBhvr>
                                      <p:to>
                                        <p:strVal val="visible"/>
                                      </p:to>
                                    </p:set>
                                    <p:anim calcmode="lin" valueType="num">
                                      <p:cBhvr additive="base">
                                        <p:cTn id="27" dur="500" fill="hold"/>
                                        <p:tgtEl>
                                          <p:spTgt spid="129"/>
                                        </p:tgtEl>
                                        <p:attrNameLst>
                                          <p:attrName>ppt_x</p:attrName>
                                        </p:attrNameLst>
                                      </p:cBhvr>
                                      <p:tavLst>
                                        <p:tav tm="0">
                                          <p:val>
                                            <p:strVal val="#ppt_x"/>
                                          </p:val>
                                        </p:tav>
                                        <p:tav tm="100000">
                                          <p:val>
                                            <p:strVal val="#ppt_x"/>
                                          </p:val>
                                        </p:tav>
                                      </p:tavLst>
                                    </p:anim>
                                    <p:anim calcmode="lin" valueType="num">
                                      <p:cBhvr additive="base">
                                        <p:cTn id="28" dur="500" fill="hold"/>
                                        <p:tgtEl>
                                          <p:spTgt spid="129"/>
                                        </p:tgtEl>
                                        <p:attrNameLst>
                                          <p:attrName>ppt_y</p:attrName>
                                        </p:attrNameLst>
                                      </p:cBhvr>
                                      <p:tavLst>
                                        <p:tav tm="0">
                                          <p:val>
                                            <p:strVal val="1+#ppt_h/2"/>
                                          </p:val>
                                        </p:tav>
                                        <p:tav tm="100000">
                                          <p:val>
                                            <p:strVal val="#ppt_y"/>
                                          </p:val>
                                        </p:tav>
                                      </p:tavLst>
                                    </p:anim>
                                  </p:childTnLst>
                                </p:cTn>
                              </p:par>
                              <p:par>
                                <p:cTn id="29" presetID="10" presetClass="exit" presetSubtype="0" fill="hold" nodeType="withEffect">
                                  <p:stCondLst>
                                    <p:cond delay="0"/>
                                  </p:stCondLst>
                                  <p:childTnLst>
                                    <p:animEffect transition="out" filter="fade">
                                      <p:cBhvr>
                                        <p:cTn id="30" dur="500"/>
                                        <p:tgtEl>
                                          <p:spTgt spid="2"/>
                                        </p:tgtEl>
                                      </p:cBhvr>
                                    </p:animEffect>
                                    <p:set>
                                      <p:cBhvr>
                                        <p:cTn id="31" dur="1" fill="hold">
                                          <p:stCondLst>
                                            <p:cond delay="499"/>
                                          </p:stCondLst>
                                        </p:cTn>
                                        <p:tgtEl>
                                          <p:spTgt spid="2"/>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00"/>
                                        <p:tgtEl>
                                          <p:spTgt spid="8"/>
                                        </p:tgtEl>
                                      </p:cBhvr>
                                    </p:animEffect>
                                  </p:childTnLst>
                                </p:cTn>
                              </p:par>
                              <p:par>
                                <p:cTn id="37" presetID="22" presetClass="entr" presetSubtype="4" fill="hold" nodeType="withEffect">
                                  <p:stCondLst>
                                    <p:cond delay="0"/>
                                  </p:stCondLst>
                                  <p:childTnLst>
                                    <p:set>
                                      <p:cBhvr>
                                        <p:cTn id="38" dur="1" fill="hold">
                                          <p:stCondLst>
                                            <p:cond delay="0"/>
                                          </p:stCondLst>
                                        </p:cTn>
                                        <p:tgtEl>
                                          <p:spTgt spid="137"/>
                                        </p:tgtEl>
                                        <p:attrNameLst>
                                          <p:attrName>style.visibility</p:attrName>
                                        </p:attrNameLst>
                                      </p:cBhvr>
                                      <p:to>
                                        <p:strVal val="visible"/>
                                      </p:to>
                                    </p:set>
                                    <p:animEffect transition="in" filter="wipe(down)">
                                      <p:cBhvr>
                                        <p:cTn id="39" dur="500"/>
                                        <p:tgtEl>
                                          <p:spTgt spid="137"/>
                                        </p:tgtEl>
                                      </p:cBhvr>
                                    </p:animEffect>
                                  </p:childTnLst>
                                </p:cTn>
                              </p:par>
                              <p:par>
                                <p:cTn id="40" presetID="22" presetClass="entr" presetSubtype="4" fill="hold" nodeType="withEffect">
                                  <p:stCondLst>
                                    <p:cond delay="0"/>
                                  </p:stCondLst>
                                  <p:childTnLst>
                                    <p:set>
                                      <p:cBhvr>
                                        <p:cTn id="41" dur="1" fill="hold">
                                          <p:stCondLst>
                                            <p:cond delay="0"/>
                                          </p:stCondLst>
                                        </p:cTn>
                                        <p:tgtEl>
                                          <p:spTgt spid="138"/>
                                        </p:tgtEl>
                                        <p:attrNameLst>
                                          <p:attrName>style.visibility</p:attrName>
                                        </p:attrNameLst>
                                      </p:cBhvr>
                                      <p:to>
                                        <p:strVal val="visible"/>
                                      </p:to>
                                    </p:set>
                                    <p:animEffect transition="in" filter="wipe(down)">
                                      <p:cBhvr>
                                        <p:cTn id="42" dur="500"/>
                                        <p:tgtEl>
                                          <p:spTgt spid="138"/>
                                        </p:tgtEl>
                                      </p:cBhvr>
                                    </p:animEffect>
                                  </p:childTnLst>
                                </p:cTn>
                              </p:par>
                              <p:par>
                                <p:cTn id="43" presetID="22" presetClass="entr" presetSubtype="4" fill="hold" nodeType="withEffect">
                                  <p:stCondLst>
                                    <p:cond delay="0"/>
                                  </p:stCondLst>
                                  <p:childTnLst>
                                    <p:set>
                                      <p:cBhvr>
                                        <p:cTn id="44" dur="1" fill="hold">
                                          <p:stCondLst>
                                            <p:cond delay="0"/>
                                          </p:stCondLst>
                                        </p:cTn>
                                        <p:tgtEl>
                                          <p:spTgt spid="139"/>
                                        </p:tgtEl>
                                        <p:attrNameLst>
                                          <p:attrName>style.visibility</p:attrName>
                                        </p:attrNameLst>
                                      </p:cBhvr>
                                      <p:to>
                                        <p:strVal val="visible"/>
                                      </p:to>
                                    </p:set>
                                    <p:animEffect transition="in" filter="wipe(down)">
                                      <p:cBhvr>
                                        <p:cTn id="45" dur="500"/>
                                        <p:tgtEl>
                                          <p:spTgt spid="139"/>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46"/>
                                        </p:tgtEl>
                                        <p:attrNameLst>
                                          <p:attrName>style.visibility</p:attrName>
                                        </p:attrNameLst>
                                      </p:cBhvr>
                                      <p:to>
                                        <p:strVal val="visible"/>
                                      </p:to>
                                    </p:set>
                                    <p:animEffect transition="in" filter="wipe(down)">
                                      <p:cBhvr>
                                        <p:cTn id="48" dur="500"/>
                                        <p:tgtEl>
                                          <p:spTgt spid="46"/>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140"/>
                                        </p:tgtEl>
                                        <p:attrNameLst>
                                          <p:attrName>style.visibility</p:attrName>
                                        </p:attrNameLst>
                                      </p:cBhvr>
                                      <p:to>
                                        <p:strVal val="visible"/>
                                      </p:to>
                                    </p:set>
                                    <p:animEffect transition="in" filter="wipe(down)">
                                      <p:cBhvr>
                                        <p:cTn id="51" dur="500"/>
                                        <p:tgtEl>
                                          <p:spTgt spid="140"/>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141"/>
                                        </p:tgtEl>
                                        <p:attrNameLst>
                                          <p:attrName>style.visibility</p:attrName>
                                        </p:attrNameLst>
                                      </p:cBhvr>
                                      <p:to>
                                        <p:strVal val="visible"/>
                                      </p:to>
                                    </p:set>
                                    <p:animEffect transition="in" filter="wipe(down)">
                                      <p:cBhvr>
                                        <p:cTn id="54" dur="500"/>
                                        <p:tgtEl>
                                          <p:spTgt spid="141"/>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142"/>
                                        </p:tgtEl>
                                        <p:attrNameLst>
                                          <p:attrName>style.visibility</p:attrName>
                                        </p:attrNameLst>
                                      </p:cBhvr>
                                      <p:to>
                                        <p:strVal val="visible"/>
                                      </p:to>
                                    </p:set>
                                    <p:animEffect transition="in" filter="wipe(down)">
                                      <p:cBhvr>
                                        <p:cTn id="57" dur="500"/>
                                        <p:tgtEl>
                                          <p:spTgt spid="142"/>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143"/>
                                        </p:tgtEl>
                                        <p:attrNameLst>
                                          <p:attrName>style.visibility</p:attrName>
                                        </p:attrNameLst>
                                      </p:cBhvr>
                                      <p:to>
                                        <p:strVal val="visible"/>
                                      </p:to>
                                    </p:set>
                                    <p:animEffect transition="in" filter="wipe(down)">
                                      <p:cBhvr>
                                        <p:cTn id="60" dur="500"/>
                                        <p:tgtEl>
                                          <p:spTgt spid="143"/>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5126"/>
                                        </p:tgtEl>
                                        <p:attrNameLst>
                                          <p:attrName>style.visibility</p:attrName>
                                        </p:attrNameLst>
                                      </p:cBhvr>
                                      <p:to>
                                        <p:strVal val="visible"/>
                                      </p:to>
                                    </p:set>
                                    <p:animEffect transition="in" filter="fade">
                                      <p:cBhvr>
                                        <p:cTn id="65" dur="500"/>
                                        <p:tgtEl>
                                          <p:spTgt spid="5126"/>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5125"/>
                                        </p:tgtEl>
                                        <p:attrNameLst>
                                          <p:attrName>style.visibility</p:attrName>
                                        </p:attrNameLst>
                                      </p:cBhvr>
                                      <p:to>
                                        <p:strVal val="visible"/>
                                      </p:to>
                                    </p:set>
                                    <p:animEffect transition="in" filter="fade">
                                      <p:cBhvr>
                                        <p:cTn id="70" dur="500"/>
                                        <p:tgtEl>
                                          <p:spTgt spid="5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5" grpId="0" bldLvl="0" animBg="1"/>
      <p:bldP spid="5126" grpId="0" bldLvl="0" animBg="1"/>
      <p:bldP spid="4" grpId="0" bldLvl="0" animBg="1"/>
      <p:bldP spid="128" grpId="0" bldLvl="0" animBg="1"/>
      <p:bldP spid="129" grpId="0" bldLvl="0" animBg="1"/>
      <p:bldP spid="136" grpId="0" bldLvl="0" animBg="1"/>
      <p:bldP spid="46" grpId="0"/>
      <p:bldP spid="140" grpId="0"/>
      <p:bldP spid="141" grpId="0"/>
      <p:bldP spid="142" grpId="0"/>
      <p:bldP spid="14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latin typeface="Times New Roman" panose="02020603050405020304" pitchFamily="18" charset="0"/>
                <a:ea typeface="宋体" panose="02010600030101010101" pitchFamily="2" charset="-122"/>
              </a:rPr>
              <a:t>构建</a:t>
            </a:r>
            <a:r>
              <a:rPr lang="en-US" altLang="en-US" dirty="0">
                <a:latin typeface="Times New Roman" panose="02020603050405020304" pitchFamily="18" charset="0"/>
                <a:ea typeface="宋体" panose="02010600030101010101" pitchFamily="2" charset="-122"/>
              </a:rPr>
              <a:t>RISC-V</a:t>
            </a:r>
            <a:r>
              <a:rPr lang="zh-CN" altLang="en-US" dirty="0">
                <a:latin typeface="Times New Roman" panose="02020603050405020304" pitchFamily="18" charset="0"/>
                <a:ea typeface="宋体" panose="02010600030101010101" pitchFamily="2" charset="-122"/>
              </a:rPr>
              <a:t>流水线数据通路</a:t>
            </a:r>
          </a:p>
        </p:txBody>
      </p:sp>
      <p:sp>
        <p:nvSpPr>
          <p:cNvPr id="3" name="灯片编号占位符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EE8E787-E6FE-45D8-9039-788B45E44EE7}"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10600030101010101" charset="-122"/>
                <a:ea typeface="等线" panose="02010600030101010101" charset="-122"/>
                <a:cs typeface="+mn-cs"/>
              </a:rPr>
              <a:t>24</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10600030101010101" charset="-122"/>
              <a:ea typeface="等线" panose="02010600030101010101" charset="-122"/>
              <a:cs typeface="+mn-cs"/>
            </a:endParaRPr>
          </a:p>
        </p:txBody>
      </p:sp>
      <p:pic>
        <p:nvPicPr>
          <p:cNvPr id="2" name="图片 1"/>
          <p:cNvPicPr>
            <a:picLocks noChangeAspect="1"/>
          </p:cNvPicPr>
          <p:nvPr/>
        </p:nvPicPr>
        <p:blipFill>
          <a:blip r:embed="rId3"/>
          <a:stretch>
            <a:fillRect/>
          </a:stretch>
        </p:blipFill>
        <p:spPr>
          <a:xfrm>
            <a:off x="1005641" y="933734"/>
            <a:ext cx="8242060" cy="3114391"/>
          </a:xfrm>
          <a:prstGeom prst="rect">
            <a:avLst/>
          </a:prstGeom>
        </p:spPr>
      </p:pic>
      <p:sp>
        <p:nvSpPr>
          <p:cNvPr id="4" name="矩形 3"/>
          <p:cNvSpPr/>
          <p:nvPr/>
        </p:nvSpPr>
        <p:spPr>
          <a:xfrm>
            <a:off x="666750" y="4197539"/>
            <a:ext cx="8267699" cy="2015936"/>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just"/>
            <a:r>
              <a:rPr lang="zh-CN" altLang="en-US" sz="2500" dirty="0">
                <a:latin typeface="宋体" panose="02010600030101010101" pitchFamily="2" charset="-122"/>
                <a:ea typeface="宋体" panose="02010600030101010101" pitchFamily="2" charset="-122"/>
              </a:rPr>
              <a:t>洗衣过程不会逆向移动，但是在从左到右的指令流动过程中，存在两个特殊情况：</a:t>
            </a:r>
            <a:endParaRPr lang="en-US" altLang="zh-CN" sz="2500" dirty="0">
              <a:latin typeface="宋体" panose="02010600030101010101" pitchFamily="2" charset="-122"/>
              <a:ea typeface="宋体" panose="02010600030101010101" pitchFamily="2" charset="-122"/>
            </a:endParaRPr>
          </a:p>
          <a:p>
            <a:pPr marL="342900" indent="-342900" algn="just">
              <a:buFont typeface="Arial" panose="020B0604020202020204" pitchFamily="34" charset="0"/>
              <a:buChar char="•"/>
            </a:pPr>
            <a:r>
              <a:rPr lang="zh-CN" altLang="en-US" sz="2500" dirty="0">
                <a:solidFill>
                  <a:srgbClr val="0000FF"/>
                </a:solidFill>
                <a:latin typeface="宋体" panose="02010600030101010101" pitchFamily="2" charset="-122"/>
                <a:ea typeface="宋体" panose="02010600030101010101" pitchFamily="2" charset="-122"/>
              </a:rPr>
              <a:t>写回阶段</a:t>
            </a:r>
            <a:r>
              <a:rPr lang="zh-CN" altLang="en-US" sz="2500" dirty="0">
                <a:latin typeface="宋体" panose="02010600030101010101" pitchFamily="2" charset="-122"/>
                <a:ea typeface="宋体" panose="02010600030101010101" pitchFamily="2" charset="-122"/>
              </a:rPr>
              <a:t>：将结果写回位于数据通路中的寄存器堆；</a:t>
            </a:r>
            <a:endParaRPr lang="en-US" altLang="zh-CN" sz="2500" dirty="0">
              <a:latin typeface="宋体" panose="02010600030101010101" pitchFamily="2" charset="-122"/>
              <a:ea typeface="宋体" panose="02010600030101010101" pitchFamily="2" charset="-122"/>
            </a:endParaRPr>
          </a:p>
          <a:p>
            <a:pPr marL="342900" indent="-342900" algn="just">
              <a:buFont typeface="Arial" panose="020B0604020202020204" pitchFamily="34" charset="0"/>
              <a:buChar char="•"/>
            </a:pPr>
            <a:r>
              <a:rPr lang="zh-CN" altLang="en-US" sz="2500" dirty="0">
                <a:solidFill>
                  <a:srgbClr val="0000FF"/>
                </a:solidFill>
                <a:latin typeface="宋体" panose="02010600030101010101" pitchFamily="2" charset="-122"/>
                <a:ea typeface="宋体" panose="02010600030101010101" pitchFamily="2" charset="-122"/>
              </a:rPr>
              <a:t>下一条指令</a:t>
            </a:r>
            <a:r>
              <a:rPr lang="en-US" altLang="zh-CN" sz="2500" dirty="0">
                <a:solidFill>
                  <a:srgbClr val="0000FF"/>
                </a:solidFill>
                <a:latin typeface="宋体" panose="02010600030101010101" pitchFamily="2" charset="-122"/>
                <a:ea typeface="宋体" panose="02010600030101010101" pitchFamily="2" charset="-122"/>
              </a:rPr>
              <a:t>PC</a:t>
            </a:r>
            <a:r>
              <a:rPr lang="zh-CN" altLang="en-US" sz="2500" dirty="0">
                <a:solidFill>
                  <a:srgbClr val="0000FF"/>
                </a:solidFill>
                <a:latin typeface="宋体" panose="02010600030101010101" pitchFamily="2" charset="-122"/>
                <a:ea typeface="宋体" panose="02010600030101010101" pitchFamily="2" charset="-122"/>
              </a:rPr>
              <a:t>的选择</a:t>
            </a:r>
            <a:r>
              <a:rPr lang="zh-CN" altLang="en-US" sz="2500" dirty="0">
                <a:latin typeface="宋体" panose="02010600030101010101" pitchFamily="2" charset="-122"/>
                <a:ea typeface="宋体" panose="02010600030101010101" pitchFamily="2" charset="-122"/>
              </a:rPr>
              <a:t>：在自增</a:t>
            </a:r>
            <a:r>
              <a:rPr lang="en-US" altLang="zh-CN" sz="2500" dirty="0">
                <a:latin typeface="宋体" panose="02010600030101010101" pitchFamily="2" charset="-122"/>
                <a:ea typeface="宋体" panose="02010600030101010101" pitchFamily="2" charset="-122"/>
              </a:rPr>
              <a:t>PC</a:t>
            </a:r>
            <a:r>
              <a:rPr lang="zh-CN" altLang="en-US" sz="2500" dirty="0">
                <a:latin typeface="宋体" panose="02010600030101010101" pitchFamily="2" charset="-122"/>
                <a:ea typeface="宋体" panose="02010600030101010101" pitchFamily="2" charset="-122"/>
              </a:rPr>
              <a:t>值与</a:t>
            </a:r>
            <a:r>
              <a:rPr lang="en-US" altLang="zh-CN" sz="2500" dirty="0">
                <a:latin typeface="宋体" panose="02010600030101010101" pitchFamily="2" charset="-122"/>
                <a:ea typeface="宋体" panose="02010600030101010101" pitchFamily="2" charset="-122"/>
              </a:rPr>
              <a:t>MEM(</a:t>
            </a:r>
            <a:r>
              <a:rPr lang="zh-CN" altLang="en-US" sz="2500" dirty="0">
                <a:latin typeface="宋体" panose="02010600030101010101" pitchFamily="2" charset="-122"/>
                <a:ea typeface="宋体" panose="02010600030101010101" pitchFamily="2" charset="-122"/>
              </a:rPr>
              <a:t>数据存储器访问</a:t>
            </a:r>
            <a:r>
              <a:rPr lang="en-US" altLang="zh-CN" sz="2500" dirty="0">
                <a:latin typeface="宋体" panose="02010600030101010101" pitchFamily="2" charset="-122"/>
                <a:ea typeface="宋体" panose="02010600030101010101" pitchFamily="2" charset="-122"/>
              </a:rPr>
              <a:t>)</a:t>
            </a:r>
            <a:r>
              <a:rPr lang="zh-CN" altLang="en-US" sz="2500" dirty="0">
                <a:latin typeface="宋体" panose="02010600030101010101" pitchFamily="2" charset="-122"/>
                <a:ea typeface="宋体" panose="02010600030101010101" pitchFamily="2" charset="-122"/>
              </a:rPr>
              <a:t>阶段的分支地址之间进行选择。</a:t>
            </a:r>
            <a:endParaRPr lang="en-US" altLang="zh-CN" sz="2500" dirty="0">
              <a:latin typeface="宋体" panose="02010600030101010101" pitchFamily="2" charset="-122"/>
              <a:ea typeface="宋体" panose="02010600030101010101" pitchFamily="2" charset="-122"/>
            </a:endParaRPr>
          </a:p>
        </p:txBody>
      </p:sp>
      <p:grpSp>
        <p:nvGrpSpPr>
          <p:cNvPr id="23" name="组合 22"/>
          <p:cNvGrpSpPr/>
          <p:nvPr/>
        </p:nvGrpSpPr>
        <p:grpSpPr>
          <a:xfrm>
            <a:off x="8686800" y="4564947"/>
            <a:ext cx="2419350" cy="640560"/>
            <a:chOff x="8686800" y="4707822"/>
            <a:chExt cx="2419350" cy="640560"/>
          </a:xfrm>
        </p:grpSpPr>
        <p:sp>
          <p:nvSpPr>
            <p:cNvPr id="7" name="文本框 6"/>
            <p:cNvSpPr txBox="1"/>
            <p:nvPr/>
          </p:nvSpPr>
          <p:spPr>
            <a:xfrm>
              <a:off x="9629775" y="4707822"/>
              <a:ext cx="1476375" cy="477054"/>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zh-CN" altLang="en-US" sz="2500" dirty="0">
                  <a:latin typeface="黑体" panose="02010609060101010101" pitchFamily="49" charset="-122"/>
                  <a:ea typeface="黑体" panose="02010609060101010101" pitchFamily="49" charset="-122"/>
                </a:rPr>
                <a:t>数据冒险</a:t>
              </a:r>
            </a:p>
          </p:txBody>
        </p:sp>
        <p:cxnSp>
          <p:nvCxnSpPr>
            <p:cNvPr id="13" name="直接箭头连接符 12"/>
            <p:cNvCxnSpPr/>
            <p:nvPr/>
          </p:nvCxnSpPr>
          <p:spPr>
            <a:xfrm flipV="1">
              <a:off x="8686800" y="5019675"/>
              <a:ext cx="826524" cy="328707"/>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8868850" y="5432492"/>
            <a:ext cx="2294450" cy="477054"/>
            <a:chOff x="8868850" y="5575367"/>
            <a:chExt cx="2294450" cy="477054"/>
          </a:xfrm>
        </p:grpSpPr>
        <p:sp>
          <p:nvSpPr>
            <p:cNvPr id="128" name="文本框 127"/>
            <p:cNvSpPr txBox="1"/>
            <p:nvPr/>
          </p:nvSpPr>
          <p:spPr>
            <a:xfrm>
              <a:off x="9629775" y="5575367"/>
              <a:ext cx="1533525" cy="477054"/>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zh-CN" altLang="en-US" sz="2500" dirty="0">
                  <a:latin typeface="黑体" panose="02010609060101010101" pitchFamily="49" charset="-122"/>
                  <a:ea typeface="黑体" panose="02010609060101010101" pitchFamily="49" charset="-122"/>
                </a:rPr>
                <a:t>控制冒险</a:t>
              </a:r>
            </a:p>
          </p:txBody>
        </p:sp>
        <p:cxnSp>
          <p:nvCxnSpPr>
            <p:cNvPr id="22" name="直接箭头连接符 21"/>
            <p:cNvCxnSpPr/>
            <p:nvPr/>
          </p:nvCxnSpPr>
          <p:spPr>
            <a:xfrm flipV="1">
              <a:off x="8868850" y="5813894"/>
              <a:ext cx="644474" cy="48277"/>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sp>
        <p:nvSpPr>
          <p:cNvPr id="129" name="Text Box 7"/>
          <p:cNvSpPr txBox="1">
            <a:spLocks noChangeArrowheads="1"/>
          </p:cNvSpPr>
          <p:nvPr/>
        </p:nvSpPr>
        <p:spPr bwMode="auto">
          <a:xfrm>
            <a:off x="4097448" y="6155767"/>
            <a:ext cx="5610677" cy="523220"/>
          </a:xfrm>
          <a:prstGeom prst="rect">
            <a:avLst/>
          </a:prstGeom>
          <a:solidFill>
            <a:schemeClr val="accent1">
              <a:lumMod val="20000"/>
              <a:lumOff val="80000"/>
            </a:schemeClr>
          </a:solidFill>
          <a:ln w="9525">
            <a:solidFill>
              <a:schemeClr val="accent1">
                <a:lumMod val="20000"/>
                <a:lumOff val="80000"/>
              </a:schemeClr>
            </a:solidFill>
            <a:miter lim="800000"/>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None/>
            </a:pPr>
            <a:r>
              <a:rPr lang="zh-CN" altLang="en-US" sz="2800" dirty="0">
                <a:solidFill>
                  <a:prstClr val="black"/>
                </a:solidFill>
                <a:latin typeface="Times New Roman" panose="02020603050405020304" pitchFamily="18" charset="0"/>
                <a:ea typeface="宋体" panose="02010600030101010101" pitchFamily="2" charset="-122"/>
              </a:rPr>
              <a:t>从右到左的数据流向可能引发冒险</a:t>
            </a:r>
            <a:endParaRPr lang="en-AU" altLang="en-US" sz="2800" dirty="0">
              <a:solidFill>
                <a:prstClr val="black"/>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06966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9"/>
                                        </p:tgtEl>
                                        <p:attrNameLst>
                                          <p:attrName>style.visibility</p:attrName>
                                        </p:attrNameLst>
                                      </p:cBhvr>
                                      <p:to>
                                        <p:strVal val="visible"/>
                                      </p:to>
                                    </p:set>
                                    <p:animEffect transition="in" filter="fade">
                                      <p:cBhvr>
                                        <p:cTn id="7" dur="500"/>
                                        <p:tgtEl>
                                          <p:spTgt spid="1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3"/>
          <p:cNvSpPr>
            <a:spLocks noGrp="1" noChangeArrowheads="1"/>
          </p:cNvSpPr>
          <p:nvPr>
            <p:ph idx="1"/>
          </p:nvPr>
        </p:nvSpPr>
        <p:spPr>
          <a:xfrm>
            <a:off x="838200" y="1009015"/>
            <a:ext cx="5577552" cy="460375"/>
          </a:xfrm>
        </p:spPr>
        <p:style>
          <a:lnRef idx="1">
            <a:schemeClr val="accent6"/>
          </a:lnRef>
          <a:fillRef idx="2">
            <a:schemeClr val="accent6"/>
          </a:fillRef>
          <a:effectRef idx="1">
            <a:schemeClr val="accent6"/>
          </a:effectRef>
          <a:fontRef idx="minor">
            <a:schemeClr val="dk1"/>
          </a:fontRef>
        </p:style>
        <p:txBody>
          <a:bodyPr wrap="square" rtlCol="0">
            <a:spAutoFit/>
          </a:bodyPr>
          <a:lstStyle/>
          <a:p>
            <a:pPr marL="0"/>
            <a:r>
              <a:rPr lang="zh-CN" altLang="en-US" sz="2400" dirty="0">
                <a:solidFill>
                  <a:srgbClr val="0000FF"/>
                </a:solidFill>
                <a:latin typeface="Times New Roman" panose="02020603050405020304" pitchFamily="18" charset="0"/>
                <a:ea typeface="+mn-ea"/>
                <a:cs typeface="Times New Roman" panose="02020603050405020304" pitchFamily="18" charset="0"/>
              </a:rPr>
              <a:t>每一条指令都有一条独立的数据通路？</a:t>
            </a:r>
          </a:p>
        </p:txBody>
      </p:sp>
      <p:sp>
        <p:nvSpPr>
          <p:cNvPr id="2" name="灯片编号占位符 1"/>
          <p:cNvSpPr>
            <a:spLocks noGrp="1"/>
          </p:cNvSpPr>
          <p:nvPr>
            <p:ph type="sldNum" sz="quarter" idx="12"/>
          </p:nvPr>
        </p:nvSpPr>
        <p:spPr>
          <a:xfrm>
            <a:off x="8610600" y="6003925"/>
            <a:ext cx="2743200" cy="365125"/>
          </a:xfrm>
        </p:spPr>
        <p:txBody>
          <a:bodyPr/>
          <a:lstStyle/>
          <a:p>
            <a:fld id="{8EE8E787-E6FE-45D8-9039-788B45E44EE7}" type="slidenum">
              <a:rPr lang="zh-CN" altLang="en-US" smtClean="0"/>
              <a:t>25</a:t>
            </a:fld>
            <a:endParaRPr lang="zh-CN" altLang="en-US" dirty="0"/>
          </a:p>
        </p:txBody>
      </p:sp>
      <p:sp>
        <p:nvSpPr>
          <p:cNvPr id="5" name="标题 4"/>
          <p:cNvSpPr>
            <a:spLocks noGrp="1"/>
          </p:cNvSpPr>
          <p:nvPr>
            <p:ph type="title"/>
          </p:nvPr>
        </p:nvSpPr>
        <p:spPr/>
        <p:txBody>
          <a:bodyPr/>
          <a:lstStyle/>
          <a:p>
            <a:r>
              <a:rPr lang="zh-CN" altLang="en-US" dirty="0"/>
              <a:t>流水线通路如何执行？</a:t>
            </a:r>
            <a:endParaRPr lang="en-US" altLang="zh-CN" dirty="0"/>
          </a:p>
        </p:txBody>
      </p:sp>
      <p:grpSp>
        <p:nvGrpSpPr>
          <p:cNvPr id="9233" name="指令"/>
          <p:cNvGrpSpPr/>
          <p:nvPr/>
        </p:nvGrpSpPr>
        <p:grpSpPr>
          <a:xfrm>
            <a:off x="3630604" y="2196517"/>
            <a:ext cx="4200124" cy="721820"/>
            <a:chOff x="3708787" y="2978979"/>
            <a:chExt cx="4562188" cy="900183"/>
          </a:xfrm>
        </p:grpSpPr>
        <p:grpSp>
          <p:nvGrpSpPr>
            <p:cNvPr id="126" name="指令"/>
            <p:cNvGrpSpPr/>
            <p:nvPr/>
          </p:nvGrpSpPr>
          <p:grpSpPr>
            <a:xfrm>
              <a:off x="3751739" y="2978979"/>
              <a:ext cx="4403588" cy="900183"/>
              <a:chOff x="4036219" y="4404043"/>
              <a:chExt cx="2411301" cy="492919"/>
            </a:xfrm>
          </p:grpSpPr>
          <p:grpSp>
            <p:nvGrpSpPr>
              <p:cNvPr id="7" name="组合 6"/>
              <p:cNvGrpSpPr/>
              <p:nvPr/>
            </p:nvGrpSpPr>
            <p:grpSpPr>
              <a:xfrm>
                <a:off x="4036219" y="4536600"/>
                <a:ext cx="233362" cy="230981"/>
                <a:chOff x="3459957" y="3198019"/>
                <a:chExt cx="233362" cy="230981"/>
              </a:xfrm>
            </p:grpSpPr>
            <p:sp>
              <p:nvSpPr>
                <p:cNvPr id="4" name="矩形 3"/>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2" name="直接连接符 11"/>
              <p:cNvCxnSpPr/>
              <p:nvPr/>
            </p:nvCxnSpPr>
            <p:spPr>
              <a:xfrm>
                <a:off x="4269719" y="4649876"/>
                <a:ext cx="196396" cy="34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3" name="组合 42"/>
              <p:cNvGrpSpPr/>
              <p:nvPr/>
            </p:nvGrpSpPr>
            <p:grpSpPr>
              <a:xfrm>
                <a:off x="4583677" y="4531622"/>
                <a:ext cx="224066" cy="235402"/>
                <a:chOff x="3971697" y="3537291"/>
                <a:chExt cx="224066" cy="235402"/>
              </a:xfrm>
            </p:grpSpPr>
            <p:sp>
              <p:nvSpPr>
                <p:cNvPr id="41" name="矩形 40"/>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5" name="直接连接符 14"/>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2" name="直接连接符 41"/>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任意多边形: 形状 44"/>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9" name="组合 48"/>
              <p:cNvGrpSpPr/>
              <p:nvPr/>
            </p:nvGrpSpPr>
            <p:grpSpPr>
              <a:xfrm>
                <a:off x="5688014" y="4536601"/>
                <a:ext cx="233362" cy="230981"/>
                <a:chOff x="3459957" y="3198019"/>
                <a:chExt cx="233362" cy="230981"/>
              </a:xfrm>
            </p:grpSpPr>
            <p:sp>
              <p:nvSpPr>
                <p:cNvPr id="50" name="矩形 49"/>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矩形 50"/>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3" name="组合 52"/>
              <p:cNvGrpSpPr/>
              <p:nvPr/>
            </p:nvGrpSpPr>
            <p:grpSpPr>
              <a:xfrm rot="10800000">
                <a:off x="6224134" y="4529592"/>
                <a:ext cx="223386" cy="233308"/>
                <a:chOff x="3970449" y="3541712"/>
                <a:chExt cx="223386" cy="233308"/>
              </a:xfrm>
            </p:grpSpPr>
            <p:sp>
              <p:nvSpPr>
                <p:cNvPr id="54" name="矩形 53"/>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5" name="直接连接符 54"/>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0" name="直接连接符 89"/>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V="1">
                <a:off x="4803010" y="4560982"/>
                <a:ext cx="239452" cy="260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4803010" y="4718389"/>
                <a:ext cx="250405" cy="477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V="1">
                <a:off x="5437898" y="4657681"/>
                <a:ext cx="148430" cy="173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V="1">
                <a:off x="5921335" y="4652478"/>
                <a:ext cx="206594" cy="173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V="1">
                <a:off x="6014623" y="4652911"/>
                <a:ext cx="111417" cy="6851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231" name="文本框 9230"/>
            <p:cNvSpPr txBox="1"/>
            <p:nvPr/>
          </p:nvSpPr>
          <p:spPr>
            <a:xfrm>
              <a:off x="3708787" y="3188043"/>
              <a:ext cx="547653" cy="497319"/>
            </a:xfrm>
            <a:prstGeom prst="rect">
              <a:avLst/>
            </a:prstGeom>
            <a:noFill/>
          </p:spPr>
          <p:txBody>
            <a:bodyPr wrap="square" rtlCol="0">
              <a:spAutoFit/>
            </a:bodyPr>
            <a:lstStyle/>
            <a:p>
              <a:r>
                <a:rPr lang="en-US" altLang="zh-CN" sz="2000" dirty="0"/>
                <a:t>IM</a:t>
              </a:r>
              <a:endParaRPr lang="zh-CN" altLang="en-US" sz="2000" dirty="0"/>
            </a:p>
          </p:txBody>
        </p:sp>
        <p:sp>
          <p:nvSpPr>
            <p:cNvPr id="9232" name="文本框 9231"/>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145" name="文本框 144"/>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146" name="文本框 145"/>
            <p:cNvSpPr txBox="1"/>
            <p:nvPr/>
          </p:nvSpPr>
          <p:spPr>
            <a:xfrm>
              <a:off x="5751794" y="3204673"/>
              <a:ext cx="660770" cy="459307"/>
            </a:xfrm>
            <a:prstGeom prst="rect">
              <a:avLst/>
            </a:prstGeom>
            <a:noFill/>
          </p:spPr>
          <p:txBody>
            <a:bodyPr wrap="square" rtlCol="0">
              <a:spAutoFit/>
            </a:bodyPr>
            <a:lstStyle/>
            <a:p>
              <a:r>
                <a:rPr lang="en-US" altLang="zh-CN" dirty="0"/>
                <a:t>ALU</a:t>
              </a:r>
              <a:endParaRPr lang="zh-CN" altLang="en-US" dirty="0"/>
            </a:p>
          </p:txBody>
        </p:sp>
        <p:sp>
          <p:nvSpPr>
            <p:cNvPr id="147" name="文本框 146"/>
            <p:cNvSpPr txBox="1"/>
            <p:nvPr/>
          </p:nvSpPr>
          <p:spPr>
            <a:xfrm>
              <a:off x="6697502" y="3209907"/>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449" name="指令"/>
          <p:cNvGrpSpPr/>
          <p:nvPr/>
        </p:nvGrpSpPr>
        <p:grpSpPr>
          <a:xfrm>
            <a:off x="4564054" y="3079168"/>
            <a:ext cx="4200124" cy="721820"/>
            <a:chOff x="3708787" y="2975019"/>
            <a:chExt cx="4562188" cy="900183"/>
          </a:xfrm>
        </p:grpSpPr>
        <p:grpSp>
          <p:nvGrpSpPr>
            <p:cNvPr id="450" name="指令"/>
            <p:cNvGrpSpPr/>
            <p:nvPr/>
          </p:nvGrpSpPr>
          <p:grpSpPr>
            <a:xfrm>
              <a:off x="3751739" y="2975019"/>
              <a:ext cx="4403588" cy="900183"/>
              <a:chOff x="4036219" y="4401875"/>
              <a:chExt cx="2411301" cy="492919"/>
            </a:xfrm>
          </p:grpSpPr>
          <p:grpSp>
            <p:nvGrpSpPr>
              <p:cNvPr id="456" name="组合 455"/>
              <p:cNvGrpSpPr/>
              <p:nvPr/>
            </p:nvGrpSpPr>
            <p:grpSpPr>
              <a:xfrm>
                <a:off x="4036219" y="4536600"/>
                <a:ext cx="233362" cy="230981"/>
                <a:chOff x="3459957" y="3198019"/>
                <a:chExt cx="233362" cy="230981"/>
              </a:xfrm>
            </p:grpSpPr>
            <p:sp>
              <p:nvSpPr>
                <p:cNvPr id="497" name="矩形 496"/>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98" name="矩形 497"/>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458" name="直接连接符 457"/>
              <p:cNvCxnSpPr/>
              <p:nvPr/>
            </p:nvCxnSpPr>
            <p:spPr>
              <a:xfrm flipV="1">
                <a:off x="4269719" y="4654646"/>
                <a:ext cx="187332" cy="17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59" name="组合 458"/>
              <p:cNvGrpSpPr/>
              <p:nvPr/>
            </p:nvGrpSpPr>
            <p:grpSpPr>
              <a:xfrm>
                <a:off x="4583677" y="4531622"/>
                <a:ext cx="224066" cy="235402"/>
                <a:chOff x="3971697" y="3537291"/>
                <a:chExt cx="224066" cy="235402"/>
              </a:xfrm>
            </p:grpSpPr>
            <p:sp>
              <p:nvSpPr>
                <p:cNvPr id="490" name="矩形 489"/>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91" name="直接连接符 490"/>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92" name="直接连接符 491"/>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93" name="直接连接符 492"/>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94" name="直接连接符 493"/>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5" name="直接连接符 494"/>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6" name="直接连接符 495"/>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0" name="直接连接符 459"/>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61" name="任意多边形: 形状 460"/>
              <p:cNvSpPr/>
              <p:nvPr/>
            </p:nvSpPr>
            <p:spPr>
              <a:xfrm>
                <a:off x="5135563" y="4401875"/>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9" name="矩形 488"/>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66" name="组合 465"/>
              <p:cNvGrpSpPr/>
              <p:nvPr/>
            </p:nvGrpSpPr>
            <p:grpSpPr>
              <a:xfrm rot="10800000">
                <a:off x="6224134" y="4529592"/>
                <a:ext cx="223386" cy="233308"/>
                <a:chOff x="3970449" y="3541712"/>
                <a:chExt cx="223386" cy="233308"/>
              </a:xfrm>
            </p:grpSpPr>
            <p:sp>
              <p:nvSpPr>
                <p:cNvPr id="481" name="矩形 480"/>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82" name="直接连接符 481"/>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83" name="直接连接符 482"/>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84" name="直接连接符 483"/>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85" name="直接连接符 484"/>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6" name="直接连接符 485"/>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7" name="直接连接符 486"/>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7" name="直接连接符 466"/>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8" name="直接连接符 467"/>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9" name="直接连接符 468"/>
              <p:cNvCxnSpPr/>
              <p:nvPr/>
            </p:nvCxnSpPr>
            <p:spPr>
              <a:xfrm flipV="1">
                <a:off x="4803010" y="4558802"/>
                <a:ext cx="223967" cy="303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0" name="直接连接符 469"/>
              <p:cNvCxnSpPr/>
              <p:nvPr/>
            </p:nvCxnSpPr>
            <p:spPr>
              <a:xfrm>
                <a:off x="4803010" y="4714270"/>
                <a:ext cx="213014" cy="216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1" name="直接连接符 470"/>
              <p:cNvCxnSpPr/>
              <p:nvPr/>
            </p:nvCxnSpPr>
            <p:spPr>
              <a:xfrm>
                <a:off x="5009356" y="4559118"/>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2" name="直接连接符 471"/>
              <p:cNvCxnSpPr/>
              <p:nvPr/>
            </p:nvCxnSpPr>
            <p:spPr>
              <a:xfrm>
                <a:off x="5009356" y="4718160"/>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3" name="直接连接符 472"/>
              <p:cNvCxnSpPr/>
              <p:nvPr/>
            </p:nvCxnSpPr>
            <p:spPr>
              <a:xfrm flipV="1">
                <a:off x="5437898" y="4657248"/>
                <a:ext cx="145786" cy="216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4" name="直接连接符 473"/>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5" name="直接连接符 474"/>
              <p:cNvCxnSpPr>
                <a:stCxn id="489" idx="3"/>
              </p:cNvCxnSpPr>
              <p:nvPr/>
            </p:nvCxnSpPr>
            <p:spPr>
              <a:xfrm>
                <a:off x="5921335" y="4652044"/>
                <a:ext cx="221323" cy="43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6" name="直接连接符 475"/>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7" name="直接连接符 476"/>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8" name="直接连接符 477"/>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9" name="直接连接符 478"/>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0" name="直接连接符 479"/>
              <p:cNvCxnSpPr/>
              <p:nvPr/>
            </p:nvCxnSpPr>
            <p:spPr>
              <a:xfrm flipV="1">
                <a:off x="6014623" y="4657681"/>
                <a:ext cx="82713" cy="6374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51" name="文本框 450"/>
            <p:cNvSpPr txBox="1"/>
            <p:nvPr/>
          </p:nvSpPr>
          <p:spPr>
            <a:xfrm>
              <a:off x="3708787" y="3188043"/>
              <a:ext cx="585588" cy="497319"/>
            </a:xfrm>
            <a:prstGeom prst="rect">
              <a:avLst/>
            </a:prstGeom>
            <a:noFill/>
          </p:spPr>
          <p:txBody>
            <a:bodyPr wrap="square" rtlCol="0">
              <a:spAutoFit/>
            </a:bodyPr>
            <a:lstStyle/>
            <a:p>
              <a:r>
                <a:rPr lang="en-US" altLang="zh-CN" sz="2000" dirty="0"/>
                <a:t>IM</a:t>
              </a:r>
              <a:endParaRPr lang="zh-CN" altLang="en-US" sz="2000" dirty="0"/>
            </a:p>
          </p:txBody>
        </p:sp>
        <p:sp>
          <p:nvSpPr>
            <p:cNvPr id="452" name="文本框 451"/>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453" name="文本框 452"/>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454" name="文本框 453"/>
            <p:cNvSpPr txBox="1"/>
            <p:nvPr/>
          </p:nvSpPr>
          <p:spPr>
            <a:xfrm>
              <a:off x="5751794" y="3204673"/>
              <a:ext cx="658011" cy="459307"/>
            </a:xfrm>
            <a:prstGeom prst="rect">
              <a:avLst/>
            </a:prstGeom>
            <a:noFill/>
          </p:spPr>
          <p:txBody>
            <a:bodyPr wrap="square" rtlCol="0">
              <a:spAutoFit/>
            </a:bodyPr>
            <a:lstStyle/>
            <a:p>
              <a:r>
                <a:rPr lang="en-US" altLang="zh-CN" dirty="0"/>
                <a:t>ALU</a:t>
              </a:r>
              <a:endParaRPr lang="zh-CN" altLang="en-US" dirty="0"/>
            </a:p>
          </p:txBody>
        </p:sp>
        <p:sp>
          <p:nvSpPr>
            <p:cNvPr id="455" name="文本框 454"/>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499" name="指令"/>
          <p:cNvGrpSpPr/>
          <p:nvPr/>
        </p:nvGrpSpPr>
        <p:grpSpPr>
          <a:xfrm>
            <a:off x="5499428" y="3957647"/>
            <a:ext cx="4200124" cy="721820"/>
            <a:chOff x="3708787" y="2978979"/>
            <a:chExt cx="4562188" cy="900183"/>
          </a:xfrm>
        </p:grpSpPr>
        <p:grpSp>
          <p:nvGrpSpPr>
            <p:cNvPr id="500" name="指令"/>
            <p:cNvGrpSpPr/>
            <p:nvPr/>
          </p:nvGrpSpPr>
          <p:grpSpPr>
            <a:xfrm>
              <a:off x="3751739" y="2978979"/>
              <a:ext cx="4403588" cy="900183"/>
              <a:chOff x="4036219" y="4404043"/>
              <a:chExt cx="2411301" cy="492919"/>
            </a:xfrm>
          </p:grpSpPr>
          <p:grpSp>
            <p:nvGrpSpPr>
              <p:cNvPr id="506" name="组合 505"/>
              <p:cNvGrpSpPr/>
              <p:nvPr/>
            </p:nvGrpSpPr>
            <p:grpSpPr>
              <a:xfrm>
                <a:off x="4036219" y="4536600"/>
                <a:ext cx="233362" cy="230981"/>
                <a:chOff x="3459957" y="3198019"/>
                <a:chExt cx="233362" cy="230981"/>
              </a:xfrm>
            </p:grpSpPr>
            <p:sp>
              <p:nvSpPr>
                <p:cNvPr id="545" name="矩形 544"/>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6" name="矩形 545"/>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08" name="直接连接符 507"/>
              <p:cNvCxnSpPr/>
              <p:nvPr/>
            </p:nvCxnSpPr>
            <p:spPr>
              <a:xfrm>
                <a:off x="4269708" y="4654458"/>
                <a:ext cx="1986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09" name="组合 508"/>
              <p:cNvGrpSpPr/>
              <p:nvPr/>
            </p:nvGrpSpPr>
            <p:grpSpPr>
              <a:xfrm>
                <a:off x="4583677" y="4531622"/>
                <a:ext cx="224066" cy="235402"/>
                <a:chOff x="3971697" y="3537291"/>
                <a:chExt cx="224066" cy="235402"/>
              </a:xfrm>
            </p:grpSpPr>
            <p:sp>
              <p:nvSpPr>
                <p:cNvPr id="538" name="矩形 537"/>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39" name="直接连接符 538"/>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40" name="直接连接符 539"/>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41" name="直接连接符 540"/>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42" name="直接连接符 541"/>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3" name="直接连接符 542"/>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4" name="直接连接符 543"/>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10" name="直接连接符 509"/>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11" name="任意多边形: 形状 510"/>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4" name="矩形 513"/>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16" name="组合 515"/>
              <p:cNvGrpSpPr/>
              <p:nvPr/>
            </p:nvGrpSpPr>
            <p:grpSpPr>
              <a:xfrm rot="10800000">
                <a:off x="6224134" y="4529592"/>
                <a:ext cx="223386" cy="233308"/>
                <a:chOff x="3970449" y="3541712"/>
                <a:chExt cx="223386" cy="233308"/>
              </a:xfrm>
            </p:grpSpPr>
            <p:sp>
              <p:nvSpPr>
                <p:cNvPr id="531" name="矩形 530"/>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32" name="直接连接符 531"/>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33" name="直接连接符 532"/>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34" name="直接连接符 533"/>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35" name="直接连接符 534"/>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6" name="直接连接符 535"/>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7" name="直接连接符 536"/>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17" name="直接连接符 516"/>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8" name="直接连接符 517"/>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9" name="直接连接符 518"/>
              <p:cNvCxnSpPr/>
              <p:nvPr/>
            </p:nvCxnSpPr>
            <p:spPr>
              <a:xfrm flipV="1">
                <a:off x="4802999" y="4560360"/>
                <a:ext cx="219813" cy="86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0" name="直接连接符 519"/>
              <p:cNvCxnSpPr/>
              <p:nvPr/>
            </p:nvCxnSpPr>
            <p:spPr>
              <a:xfrm>
                <a:off x="4802999" y="4720370"/>
                <a:ext cx="219813" cy="390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1" name="直接连接符 520"/>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2" name="直接连接符 521"/>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3" name="直接连接符 522"/>
              <p:cNvCxnSpPr/>
              <p:nvPr/>
            </p:nvCxnSpPr>
            <p:spPr>
              <a:xfrm flipV="1">
                <a:off x="5437887" y="4658794"/>
                <a:ext cx="137477" cy="303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4" name="直接连接符 523"/>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5" name="直接连接符 524"/>
              <p:cNvCxnSpPr>
                <a:stCxn id="514" idx="3"/>
              </p:cNvCxnSpPr>
              <p:nvPr/>
            </p:nvCxnSpPr>
            <p:spPr>
              <a:xfrm>
                <a:off x="5921324" y="4652290"/>
                <a:ext cx="216036"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6" name="直接连接符 525"/>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7" name="直接连接符 526"/>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8" name="直接连接符 527"/>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9" name="直接连接符 528"/>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0" name="直接连接符 529"/>
              <p:cNvCxnSpPr/>
              <p:nvPr/>
            </p:nvCxnSpPr>
            <p:spPr>
              <a:xfrm flipV="1">
                <a:off x="6014989" y="4654458"/>
                <a:ext cx="94044" cy="672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01" name="文本框 500"/>
            <p:cNvSpPr txBox="1"/>
            <p:nvPr/>
          </p:nvSpPr>
          <p:spPr>
            <a:xfrm>
              <a:off x="3708787" y="3188043"/>
              <a:ext cx="531099" cy="497319"/>
            </a:xfrm>
            <a:prstGeom prst="rect">
              <a:avLst/>
            </a:prstGeom>
            <a:noFill/>
          </p:spPr>
          <p:txBody>
            <a:bodyPr wrap="square" rtlCol="0">
              <a:spAutoFit/>
            </a:bodyPr>
            <a:lstStyle/>
            <a:p>
              <a:r>
                <a:rPr lang="en-US" altLang="zh-CN" sz="2000" dirty="0"/>
                <a:t>IM</a:t>
              </a:r>
              <a:endParaRPr lang="zh-CN" altLang="en-US" sz="2000" dirty="0"/>
            </a:p>
          </p:txBody>
        </p:sp>
        <p:sp>
          <p:nvSpPr>
            <p:cNvPr id="502" name="文本框 501"/>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503" name="文本框 502"/>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504" name="文本框 503"/>
            <p:cNvSpPr txBox="1"/>
            <p:nvPr/>
          </p:nvSpPr>
          <p:spPr>
            <a:xfrm>
              <a:off x="5751794" y="3204673"/>
              <a:ext cx="653873" cy="459307"/>
            </a:xfrm>
            <a:prstGeom prst="rect">
              <a:avLst/>
            </a:prstGeom>
            <a:noFill/>
          </p:spPr>
          <p:txBody>
            <a:bodyPr wrap="square" rtlCol="0">
              <a:spAutoFit/>
            </a:bodyPr>
            <a:lstStyle/>
            <a:p>
              <a:r>
                <a:rPr lang="en-US" altLang="zh-CN" dirty="0"/>
                <a:t>ALU</a:t>
              </a:r>
              <a:endParaRPr lang="zh-CN" altLang="en-US" dirty="0"/>
            </a:p>
          </p:txBody>
        </p:sp>
        <p:sp>
          <p:nvSpPr>
            <p:cNvPr id="505" name="文本框 504"/>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547" name="指令"/>
          <p:cNvGrpSpPr/>
          <p:nvPr/>
        </p:nvGrpSpPr>
        <p:grpSpPr>
          <a:xfrm>
            <a:off x="6426442" y="4842491"/>
            <a:ext cx="4200124" cy="721820"/>
            <a:chOff x="3708787" y="2978979"/>
            <a:chExt cx="4562188" cy="900183"/>
          </a:xfrm>
        </p:grpSpPr>
        <p:grpSp>
          <p:nvGrpSpPr>
            <p:cNvPr id="548" name="指令"/>
            <p:cNvGrpSpPr/>
            <p:nvPr/>
          </p:nvGrpSpPr>
          <p:grpSpPr>
            <a:xfrm>
              <a:off x="3751739" y="2978979"/>
              <a:ext cx="4403588" cy="900183"/>
              <a:chOff x="4036219" y="4404043"/>
              <a:chExt cx="2411301" cy="492919"/>
            </a:xfrm>
          </p:grpSpPr>
          <p:grpSp>
            <p:nvGrpSpPr>
              <p:cNvPr id="554" name="组合 553"/>
              <p:cNvGrpSpPr/>
              <p:nvPr/>
            </p:nvGrpSpPr>
            <p:grpSpPr>
              <a:xfrm>
                <a:off x="4036219" y="4536600"/>
                <a:ext cx="233362" cy="230981"/>
                <a:chOff x="3459957" y="3198019"/>
                <a:chExt cx="233362" cy="230981"/>
              </a:xfrm>
            </p:grpSpPr>
            <p:sp>
              <p:nvSpPr>
                <p:cNvPr id="595" name="矩形 594"/>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6" name="矩形 595"/>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56" name="直接连接符 555"/>
              <p:cNvCxnSpPr/>
              <p:nvPr/>
            </p:nvCxnSpPr>
            <p:spPr>
              <a:xfrm flipV="1">
                <a:off x="4269759" y="4653610"/>
                <a:ext cx="191486" cy="173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57" name="组合 556"/>
              <p:cNvGrpSpPr/>
              <p:nvPr/>
            </p:nvGrpSpPr>
            <p:grpSpPr>
              <a:xfrm>
                <a:off x="4583677" y="4531622"/>
                <a:ext cx="224066" cy="235402"/>
                <a:chOff x="3971697" y="3537291"/>
                <a:chExt cx="224066" cy="235402"/>
              </a:xfrm>
            </p:grpSpPr>
            <p:sp>
              <p:nvSpPr>
                <p:cNvPr id="588" name="矩形 587"/>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89" name="直接连接符 588"/>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90" name="直接连接符 589"/>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91" name="直接连接符 590"/>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92" name="直接连接符 591"/>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3" name="直接连接符 592"/>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4" name="直接连接符 593"/>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58" name="直接连接符 557"/>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59" name="任意多边形: 形状 558"/>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62" name="组合 561"/>
              <p:cNvGrpSpPr/>
              <p:nvPr/>
            </p:nvGrpSpPr>
            <p:grpSpPr>
              <a:xfrm>
                <a:off x="5688014" y="4536601"/>
                <a:ext cx="233362" cy="230981"/>
                <a:chOff x="3459957" y="3198019"/>
                <a:chExt cx="233362" cy="230981"/>
              </a:xfrm>
            </p:grpSpPr>
            <p:sp>
              <p:nvSpPr>
                <p:cNvPr id="586" name="矩形 585"/>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7" name="矩形 586"/>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64" name="组合 563"/>
              <p:cNvGrpSpPr/>
              <p:nvPr/>
            </p:nvGrpSpPr>
            <p:grpSpPr>
              <a:xfrm rot="10800000">
                <a:off x="6224134" y="4529592"/>
                <a:ext cx="223386" cy="233308"/>
                <a:chOff x="3970449" y="3541712"/>
                <a:chExt cx="223386" cy="233308"/>
              </a:xfrm>
            </p:grpSpPr>
            <p:sp>
              <p:nvSpPr>
                <p:cNvPr id="579" name="矩形 578"/>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80" name="直接连接符 579"/>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81" name="直接连接符 580"/>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82" name="直接连接符 581"/>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83" name="直接连接符 582"/>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4" name="直接连接符 583"/>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5" name="直接连接符 584"/>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65" name="直接连接符 564"/>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6" name="直接连接符 565"/>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7" name="直接连接符 566"/>
              <p:cNvCxnSpPr/>
              <p:nvPr/>
            </p:nvCxnSpPr>
            <p:spPr>
              <a:xfrm>
                <a:off x="4803050" y="4556694"/>
                <a:ext cx="214903" cy="216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8" name="直接连接符 567"/>
              <p:cNvCxnSpPr/>
              <p:nvPr/>
            </p:nvCxnSpPr>
            <p:spPr>
              <a:xfrm flipV="1">
                <a:off x="4803050" y="4721473"/>
                <a:ext cx="221701" cy="434"/>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9" name="直接连接符 568"/>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0" name="直接连接符 569"/>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1" name="直接连接符 570"/>
              <p:cNvCxnSpPr/>
              <p:nvPr/>
            </p:nvCxnSpPr>
            <p:spPr>
              <a:xfrm flipV="1">
                <a:off x="5437938" y="4655128"/>
                <a:ext cx="165048" cy="216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2" name="直接连接符 571"/>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3" name="直接连接符 572"/>
              <p:cNvCxnSpPr>
                <a:stCxn id="587" idx="3"/>
              </p:cNvCxnSpPr>
              <p:nvPr/>
            </p:nvCxnSpPr>
            <p:spPr>
              <a:xfrm flipV="1">
                <a:off x="5921375" y="4648190"/>
                <a:ext cx="219057" cy="390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4" name="直接连接符 573"/>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5" name="直接连接符 574"/>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6" name="直接连接符 575"/>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7" name="直接连接符 576"/>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8" name="直接连接符 577"/>
              <p:cNvCxnSpPr/>
              <p:nvPr/>
            </p:nvCxnSpPr>
            <p:spPr>
              <a:xfrm flipV="1">
                <a:off x="6014663" y="4653394"/>
                <a:ext cx="119348" cy="6808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49" name="文本框 548"/>
            <p:cNvSpPr txBox="1"/>
            <p:nvPr/>
          </p:nvSpPr>
          <p:spPr>
            <a:xfrm>
              <a:off x="3708787" y="3188043"/>
              <a:ext cx="549722" cy="497319"/>
            </a:xfrm>
            <a:prstGeom prst="rect">
              <a:avLst/>
            </a:prstGeom>
            <a:noFill/>
          </p:spPr>
          <p:txBody>
            <a:bodyPr wrap="square" rtlCol="0">
              <a:spAutoFit/>
            </a:bodyPr>
            <a:lstStyle/>
            <a:p>
              <a:r>
                <a:rPr lang="en-US" altLang="zh-CN" sz="2000" dirty="0"/>
                <a:t>IM</a:t>
              </a:r>
              <a:endParaRPr lang="zh-CN" altLang="en-US" sz="2000" dirty="0"/>
            </a:p>
          </p:txBody>
        </p:sp>
        <p:sp>
          <p:nvSpPr>
            <p:cNvPr id="550" name="文本框 549"/>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551" name="文本框 550"/>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552" name="文本框 551"/>
            <p:cNvSpPr txBox="1"/>
            <p:nvPr/>
          </p:nvSpPr>
          <p:spPr>
            <a:xfrm>
              <a:off x="5751794" y="3204673"/>
              <a:ext cx="644216" cy="459307"/>
            </a:xfrm>
            <a:prstGeom prst="rect">
              <a:avLst/>
            </a:prstGeom>
            <a:noFill/>
          </p:spPr>
          <p:txBody>
            <a:bodyPr wrap="square" rtlCol="0">
              <a:spAutoFit/>
            </a:bodyPr>
            <a:lstStyle/>
            <a:p>
              <a:r>
                <a:rPr lang="en-US" altLang="zh-CN" dirty="0"/>
                <a:t>ALU</a:t>
              </a:r>
              <a:endParaRPr lang="zh-CN" altLang="en-US" dirty="0"/>
            </a:p>
          </p:txBody>
        </p:sp>
        <p:sp>
          <p:nvSpPr>
            <p:cNvPr id="553" name="文本框 552"/>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597" name="指令"/>
          <p:cNvGrpSpPr/>
          <p:nvPr/>
        </p:nvGrpSpPr>
        <p:grpSpPr>
          <a:xfrm>
            <a:off x="7363446" y="5720987"/>
            <a:ext cx="4200124" cy="721820"/>
            <a:chOff x="3708787" y="2978979"/>
            <a:chExt cx="4562188" cy="900183"/>
          </a:xfrm>
        </p:grpSpPr>
        <p:grpSp>
          <p:nvGrpSpPr>
            <p:cNvPr id="598" name="指令"/>
            <p:cNvGrpSpPr/>
            <p:nvPr/>
          </p:nvGrpSpPr>
          <p:grpSpPr>
            <a:xfrm>
              <a:off x="3751739" y="2978979"/>
              <a:ext cx="4403588" cy="900183"/>
              <a:chOff x="4036219" y="4404043"/>
              <a:chExt cx="2411301" cy="492919"/>
            </a:xfrm>
          </p:grpSpPr>
          <p:grpSp>
            <p:nvGrpSpPr>
              <p:cNvPr id="604" name="组合 603"/>
              <p:cNvGrpSpPr/>
              <p:nvPr/>
            </p:nvGrpSpPr>
            <p:grpSpPr>
              <a:xfrm>
                <a:off x="4036219" y="4536600"/>
                <a:ext cx="233362" cy="230981"/>
                <a:chOff x="3459957" y="3198019"/>
                <a:chExt cx="233362" cy="230981"/>
              </a:xfrm>
            </p:grpSpPr>
            <p:sp>
              <p:nvSpPr>
                <p:cNvPr id="643" name="矩形 642"/>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44" name="矩形 643"/>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606" name="直接连接符 605"/>
              <p:cNvCxnSpPr>
                <a:stCxn id="644" idx="3"/>
              </p:cNvCxnSpPr>
              <p:nvPr/>
            </p:nvCxnSpPr>
            <p:spPr>
              <a:xfrm>
                <a:off x="4269534" y="4652328"/>
                <a:ext cx="211126" cy="8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07" name="组合 606"/>
              <p:cNvGrpSpPr/>
              <p:nvPr/>
            </p:nvGrpSpPr>
            <p:grpSpPr>
              <a:xfrm>
                <a:off x="4583677" y="4531622"/>
                <a:ext cx="224066" cy="235402"/>
                <a:chOff x="3971697" y="3537291"/>
                <a:chExt cx="224066" cy="235402"/>
              </a:xfrm>
            </p:grpSpPr>
            <p:sp>
              <p:nvSpPr>
                <p:cNvPr id="636" name="矩形 635"/>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37" name="直接连接符 636"/>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38" name="直接连接符 637"/>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39" name="直接连接符 638"/>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40" name="直接连接符 639"/>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1" name="直接连接符 640"/>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2" name="直接连接符 641"/>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08" name="直接连接符 607"/>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09" name="任意多边形: 形状 608"/>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2" name="矩形 611"/>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14" name="组合 613"/>
              <p:cNvGrpSpPr/>
              <p:nvPr/>
            </p:nvGrpSpPr>
            <p:grpSpPr>
              <a:xfrm rot="10800000">
                <a:off x="6224134" y="4529592"/>
                <a:ext cx="223386" cy="233308"/>
                <a:chOff x="3970449" y="3541712"/>
                <a:chExt cx="223386" cy="233308"/>
              </a:xfrm>
            </p:grpSpPr>
            <p:sp>
              <p:nvSpPr>
                <p:cNvPr id="629" name="矩形 628"/>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30" name="直接连接符 629"/>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31" name="直接连接符 630"/>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32" name="直接连接符 631"/>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33" name="直接连接符 632"/>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4" name="直接连接符 633"/>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5" name="直接连接符 634"/>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15" name="直接连接符 614"/>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6" name="直接连接符 615"/>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7" name="直接连接符 616"/>
              <p:cNvCxnSpPr/>
              <p:nvPr/>
            </p:nvCxnSpPr>
            <p:spPr>
              <a:xfrm>
                <a:off x="4802824" y="4561265"/>
                <a:ext cx="217546"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8" name="直接连接符 617"/>
              <p:cNvCxnSpPr/>
              <p:nvPr/>
            </p:nvCxnSpPr>
            <p:spPr>
              <a:xfrm flipV="1">
                <a:off x="4802824" y="4721274"/>
                <a:ext cx="219435" cy="303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9" name="直接连接符 618"/>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0" name="直接连接符 619"/>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1" name="直接连接符 620"/>
              <p:cNvCxnSpPr/>
              <p:nvPr/>
            </p:nvCxnSpPr>
            <p:spPr>
              <a:xfrm flipV="1">
                <a:off x="5438090" y="4655363"/>
                <a:ext cx="153340" cy="2168"/>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2" name="直接连接符 621"/>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3" name="直接连接符 622"/>
              <p:cNvCxnSpPr>
                <a:stCxn id="612" idx="3"/>
              </p:cNvCxnSpPr>
              <p:nvPr/>
            </p:nvCxnSpPr>
            <p:spPr>
              <a:xfrm>
                <a:off x="5921527" y="4652328"/>
                <a:ext cx="206971" cy="86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4" name="直接连接符 623"/>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5" name="直接连接符 624"/>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6" name="直接连接符 625"/>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7" name="直接连接符 626"/>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8" name="直接连接符 627"/>
              <p:cNvCxnSpPr/>
              <p:nvPr/>
            </p:nvCxnSpPr>
            <p:spPr>
              <a:xfrm flipV="1">
                <a:off x="6014815" y="4657965"/>
                <a:ext cx="103108" cy="6374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99" name="文本框 598"/>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600" name="文本框 599"/>
            <p:cNvSpPr txBox="1"/>
            <p:nvPr/>
          </p:nvSpPr>
          <p:spPr>
            <a:xfrm>
              <a:off x="4655109" y="3188043"/>
              <a:ext cx="619386" cy="459307"/>
            </a:xfrm>
            <a:prstGeom prst="rect">
              <a:avLst/>
            </a:prstGeom>
            <a:noFill/>
          </p:spPr>
          <p:txBody>
            <a:bodyPr wrap="square" rtlCol="0">
              <a:spAutoFit/>
            </a:bodyPr>
            <a:lstStyle/>
            <a:p>
              <a:r>
                <a:rPr lang="en-US" altLang="zh-CN" dirty="0"/>
                <a:t>Reg</a:t>
              </a:r>
              <a:endParaRPr lang="zh-CN" altLang="en-US" dirty="0"/>
            </a:p>
          </p:txBody>
        </p:sp>
        <p:sp>
          <p:nvSpPr>
            <p:cNvPr id="601" name="文本框 600"/>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602" name="文本框 601"/>
            <p:cNvSpPr txBox="1"/>
            <p:nvPr/>
          </p:nvSpPr>
          <p:spPr>
            <a:xfrm>
              <a:off x="5751794" y="3204673"/>
              <a:ext cx="672496" cy="459307"/>
            </a:xfrm>
            <a:prstGeom prst="rect">
              <a:avLst/>
            </a:prstGeom>
            <a:noFill/>
          </p:spPr>
          <p:txBody>
            <a:bodyPr wrap="square" rtlCol="0">
              <a:spAutoFit/>
            </a:bodyPr>
            <a:lstStyle/>
            <a:p>
              <a:r>
                <a:rPr lang="en-US" altLang="zh-CN" dirty="0"/>
                <a:t>ALU</a:t>
              </a:r>
              <a:endParaRPr lang="zh-CN" altLang="en-US" dirty="0"/>
            </a:p>
          </p:txBody>
        </p:sp>
        <p:sp>
          <p:nvSpPr>
            <p:cNvPr id="603" name="文本框 602"/>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9236" name="时间轴"/>
          <p:cNvGrpSpPr/>
          <p:nvPr/>
        </p:nvGrpSpPr>
        <p:grpSpPr>
          <a:xfrm>
            <a:off x="1523277" y="1621035"/>
            <a:ext cx="10253256" cy="637393"/>
            <a:chOff x="1018781" y="1939249"/>
            <a:chExt cx="10253256" cy="637393"/>
          </a:xfrm>
        </p:grpSpPr>
        <p:cxnSp>
          <p:nvCxnSpPr>
            <p:cNvPr id="645" name="直接箭头连接符 644"/>
            <p:cNvCxnSpPr/>
            <p:nvPr/>
          </p:nvCxnSpPr>
          <p:spPr>
            <a:xfrm>
              <a:off x="3629769" y="2185186"/>
              <a:ext cx="7510315"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sp>
          <p:nvSpPr>
            <p:cNvPr id="9234" name="文本框 9233"/>
            <p:cNvSpPr txBox="1"/>
            <p:nvPr/>
          </p:nvSpPr>
          <p:spPr>
            <a:xfrm>
              <a:off x="3047727" y="2207282"/>
              <a:ext cx="714286" cy="369332"/>
            </a:xfrm>
            <a:prstGeom prst="rect">
              <a:avLst/>
            </a:prstGeom>
            <a:noFill/>
          </p:spPr>
          <p:txBody>
            <a:bodyPr wrap="square" rtlCol="0">
              <a:spAutoFit/>
            </a:bodyPr>
            <a:lstStyle/>
            <a:p>
              <a:r>
                <a:rPr lang="en-US" altLang="zh-CN" dirty="0"/>
                <a:t>CC 1</a:t>
              </a:r>
              <a:endParaRPr lang="zh-CN" altLang="en-US" dirty="0"/>
            </a:p>
          </p:txBody>
        </p:sp>
        <p:sp>
          <p:nvSpPr>
            <p:cNvPr id="647" name="文本框 646"/>
            <p:cNvSpPr txBox="1"/>
            <p:nvPr/>
          </p:nvSpPr>
          <p:spPr>
            <a:xfrm>
              <a:off x="3981073" y="2204602"/>
              <a:ext cx="714286" cy="369332"/>
            </a:xfrm>
            <a:prstGeom prst="rect">
              <a:avLst/>
            </a:prstGeom>
            <a:noFill/>
          </p:spPr>
          <p:txBody>
            <a:bodyPr wrap="square" rtlCol="0">
              <a:spAutoFit/>
            </a:bodyPr>
            <a:lstStyle/>
            <a:p>
              <a:r>
                <a:rPr lang="en-US" altLang="zh-CN" dirty="0"/>
                <a:t>CC 2</a:t>
              </a:r>
              <a:endParaRPr lang="zh-CN" altLang="en-US" dirty="0"/>
            </a:p>
          </p:txBody>
        </p:sp>
        <p:sp>
          <p:nvSpPr>
            <p:cNvPr id="648" name="文本框 647"/>
            <p:cNvSpPr txBox="1"/>
            <p:nvPr/>
          </p:nvSpPr>
          <p:spPr>
            <a:xfrm>
              <a:off x="6737190" y="2207196"/>
              <a:ext cx="714286" cy="369332"/>
            </a:xfrm>
            <a:prstGeom prst="rect">
              <a:avLst/>
            </a:prstGeom>
            <a:noFill/>
          </p:spPr>
          <p:txBody>
            <a:bodyPr wrap="square" rtlCol="0">
              <a:spAutoFit/>
            </a:bodyPr>
            <a:lstStyle/>
            <a:p>
              <a:r>
                <a:rPr lang="en-US" altLang="zh-CN" dirty="0"/>
                <a:t>CC 5</a:t>
              </a:r>
              <a:endParaRPr lang="zh-CN" altLang="en-US" dirty="0"/>
            </a:p>
          </p:txBody>
        </p:sp>
        <p:sp>
          <p:nvSpPr>
            <p:cNvPr id="649" name="文本框 648"/>
            <p:cNvSpPr txBox="1"/>
            <p:nvPr/>
          </p:nvSpPr>
          <p:spPr>
            <a:xfrm>
              <a:off x="4946527" y="2201889"/>
              <a:ext cx="714286" cy="369332"/>
            </a:xfrm>
            <a:prstGeom prst="rect">
              <a:avLst/>
            </a:prstGeom>
            <a:noFill/>
          </p:spPr>
          <p:txBody>
            <a:bodyPr wrap="square" rtlCol="0">
              <a:spAutoFit/>
            </a:bodyPr>
            <a:lstStyle/>
            <a:p>
              <a:r>
                <a:rPr lang="en-US" altLang="zh-CN" dirty="0"/>
                <a:t>CC 3</a:t>
              </a:r>
              <a:endParaRPr lang="zh-CN" altLang="en-US" dirty="0"/>
            </a:p>
          </p:txBody>
        </p:sp>
        <p:sp>
          <p:nvSpPr>
            <p:cNvPr id="650" name="文本框 649"/>
            <p:cNvSpPr txBox="1"/>
            <p:nvPr/>
          </p:nvSpPr>
          <p:spPr>
            <a:xfrm>
              <a:off x="7682194" y="2207310"/>
              <a:ext cx="714286" cy="369332"/>
            </a:xfrm>
            <a:prstGeom prst="rect">
              <a:avLst/>
            </a:prstGeom>
            <a:noFill/>
          </p:spPr>
          <p:txBody>
            <a:bodyPr wrap="square" rtlCol="0">
              <a:spAutoFit/>
            </a:bodyPr>
            <a:lstStyle/>
            <a:p>
              <a:r>
                <a:rPr lang="en-US" altLang="zh-CN" dirty="0"/>
                <a:t>CC 6</a:t>
              </a:r>
              <a:endParaRPr lang="zh-CN" altLang="en-US" dirty="0"/>
            </a:p>
          </p:txBody>
        </p:sp>
        <p:sp>
          <p:nvSpPr>
            <p:cNvPr id="651" name="文本框 650"/>
            <p:cNvSpPr txBox="1"/>
            <p:nvPr/>
          </p:nvSpPr>
          <p:spPr>
            <a:xfrm>
              <a:off x="5827526" y="2202034"/>
              <a:ext cx="714286" cy="369332"/>
            </a:xfrm>
            <a:prstGeom prst="rect">
              <a:avLst/>
            </a:prstGeom>
            <a:noFill/>
          </p:spPr>
          <p:txBody>
            <a:bodyPr wrap="square" rtlCol="0">
              <a:spAutoFit/>
            </a:bodyPr>
            <a:lstStyle/>
            <a:p>
              <a:r>
                <a:rPr lang="en-US" altLang="zh-CN" dirty="0"/>
                <a:t>CC 4</a:t>
              </a:r>
              <a:endParaRPr lang="zh-CN" altLang="en-US" dirty="0"/>
            </a:p>
          </p:txBody>
        </p:sp>
        <p:sp>
          <p:nvSpPr>
            <p:cNvPr id="652" name="文本框 651"/>
            <p:cNvSpPr txBox="1"/>
            <p:nvPr/>
          </p:nvSpPr>
          <p:spPr>
            <a:xfrm>
              <a:off x="9543787" y="2203075"/>
              <a:ext cx="714286" cy="369332"/>
            </a:xfrm>
            <a:prstGeom prst="rect">
              <a:avLst/>
            </a:prstGeom>
            <a:noFill/>
          </p:spPr>
          <p:txBody>
            <a:bodyPr wrap="square" rtlCol="0">
              <a:spAutoFit/>
            </a:bodyPr>
            <a:lstStyle/>
            <a:p>
              <a:r>
                <a:rPr lang="en-US" altLang="zh-CN" dirty="0"/>
                <a:t>CC 8</a:t>
              </a:r>
              <a:endParaRPr lang="zh-CN" altLang="en-US" dirty="0"/>
            </a:p>
          </p:txBody>
        </p:sp>
        <p:sp>
          <p:nvSpPr>
            <p:cNvPr id="653" name="文本框 652"/>
            <p:cNvSpPr txBox="1"/>
            <p:nvPr/>
          </p:nvSpPr>
          <p:spPr>
            <a:xfrm>
              <a:off x="8644891" y="2203075"/>
              <a:ext cx="714286" cy="369332"/>
            </a:xfrm>
            <a:prstGeom prst="rect">
              <a:avLst/>
            </a:prstGeom>
            <a:noFill/>
          </p:spPr>
          <p:txBody>
            <a:bodyPr wrap="square" rtlCol="0">
              <a:spAutoFit/>
            </a:bodyPr>
            <a:lstStyle/>
            <a:p>
              <a:r>
                <a:rPr lang="en-US" altLang="zh-CN" dirty="0"/>
                <a:t>CC 7</a:t>
              </a:r>
              <a:endParaRPr lang="zh-CN" altLang="en-US" dirty="0"/>
            </a:p>
          </p:txBody>
        </p:sp>
        <p:sp>
          <p:nvSpPr>
            <p:cNvPr id="655" name="文本框 654"/>
            <p:cNvSpPr txBox="1"/>
            <p:nvPr/>
          </p:nvSpPr>
          <p:spPr>
            <a:xfrm>
              <a:off x="10557751" y="2201889"/>
              <a:ext cx="714286" cy="369332"/>
            </a:xfrm>
            <a:prstGeom prst="rect">
              <a:avLst/>
            </a:prstGeom>
            <a:noFill/>
          </p:spPr>
          <p:txBody>
            <a:bodyPr wrap="square" rtlCol="0">
              <a:spAutoFit/>
            </a:bodyPr>
            <a:lstStyle/>
            <a:p>
              <a:r>
                <a:rPr lang="en-US" altLang="zh-CN" dirty="0"/>
                <a:t>CC 9</a:t>
              </a:r>
              <a:endParaRPr lang="zh-CN" altLang="en-US" dirty="0"/>
            </a:p>
          </p:txBody>
        </p:sp>
        <p:sp>
          <p:nvSpPr>
            <p:cNvPr id="9235" name="文本框 9234"/>
            <p:cNvSpPr txBox="1"/>
            <p:nvPr/>
          </p:nvSpPr>
          <p:spPr>
            <a:xfrm>
              <a:off x="1018781" y="1939249"/>
              <a:ext cx="2690023" cy="398780"/>
            </a:xfrm>
            <a:prstGeom prst="rect">
              <a:avLst/>
            </a:prstGeom>
            <a:noFill/>
          </p:spPr>
          <p:txBody>
            <a:bodyPr wrap="square" rtlCol="0">
              <a:spAutoFit/>
            </a:bodyPr>
            <a:lstStyle/>
            <a:p>
              <a:r>
                <a:rPr lang="zh-CN" altLang="en-US" sz="2000" dirty="0">
                  <a:latin typeface="Times New Roman" panose="02020603050405020304" pitchFamily="18" charset="0"/>
                  <a:cs typeface="Times New Roman" panose="02020603050405020304" pitchFamily="18" charset="0"/>
                </a:rPr>
                <a:t>时间</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以时钟周期计</a:t>
              </a:r>
              <a:r>
                <a:rPr lang="en-US" altLang="zh-CN" sz="2000" dirty="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p:grpSp>
      <p:grpSp>
        <p:nvGrpSpPr>
          <p:cNvPr id="9239" name="组合 9238"/>
          <p:cNvGrpSpPr/>
          <p:nvPr/>
        </p:nvGrpSpPr>
        <p:grpSpPr>
          <a:xfrm>
            <a:off x="151515" y="2408756"/>
            <a:ext cx="3601720" cy="3874770"/>
            <a:chOff x="-350312" y="2814440"/>
            <a:chExt cx="3601720" cy="3874770"/>
          </a:xfrm>
        </p:grpSpPr>
        <p:grpSp>
          <p:nvGrpSpPr>
            <p:cNvPr id="658" name="Program"/>
            <p:cNvGrpSpPr/>
            <p:nvPr/>
          </p:nvGrpSpPr>
          <p:grpSpPr>
            <a:xfrm>
              <a:off x="-350312" y="2814440"/>
              <a:ext cx="3519170" cy="3690235"/>
              <a:chOff x="-753273" y="3119259"/>
              <a:chExt cx="3519170" cy="3690235"/>
            </a:xfrm>
          </p:grpSpPr>
          <p:cxnSp>
            <p:nvCxnSpPr>
              <p:cNvPr id="659" name="直接箭头连接符 658"/>
              <p:cNvCxnSpPr/>
              <p:nvPr/>
            </p:nvCxnSpPr>
            <p:spPr>
              <a:xfrm>
                <a:off x="908204" y="3285024"/>
                <a:ext cx="0" cy="352447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660" name="文本框 659"/>
              <p:cNvSpPr txBox="1"/>
              <p:nvPr/>
            </p:nvSpPr>
            <p:spPr>
              <a:xfrm>
                <a:off x="-753273" y="3119259"/>
                <a:ext cx="2046532" cy="706755"/>
              </a:xfrm>
              <a:prstGeom prst="rect">
                <a:avLst/>
              </a:prstGeom>
              <a:noFill/>
            </p:spPr>
            <p:txBody>
              <a:bodyPr wrap="square" rtlCol="0">
                <a:spAutoFit/>
              </a:bodyPr>
              <a:lstStyle/>
              <a:p>
                <a:r>
                  <a:rPr lang="zh-CN" altLang="en-US" sz="2000" dirty="0">
                    <a:latin typeface="Times New Roman" panose="02020603050405020304" pitchFamily="18" charset="0"/>
                    <a:cs typeface="Times New Roman" panose="02020603050405020304" pitchFamily="18" charset="0"/>
                  </a:rPr>
                  <a:t>程序执行顺序</a:t>
                </a:r>
              </a:p>
              <a:p>
                <a:r>
                  <a:rPr lang="zh-CN" altLang="en-US" sz="2000" dirty="0">
                    <a:latin typeface="Times New Roman" panose="02020603050405020304" pitchFamily="18" charset="0"/>
                    <a:cs typeface="Times New Roman" panose="02020603050405020304" pitchFamily="18" charset="0"/>
                  </a:rPr>
                  <a:t>（以指令计）</a:t>
                </a:r>
              </a:p>
            </p:txBody>
          </p:sp>
          <p:sp>
            <p:nvSpPr>
              <p:cNvPr id="661" name="文本框 660"/>
              <p:cNvSpPr txBox="1"/>
              <p:nvPr/>
            </p:nvSpPr>
            <p:spPr>
              <a:xfrm>
                <a:off x="1087359" y="3142925"/>
                <a:ext cx="1560018" cy="368300"/>
              </a:xfrm>
              <a:prstGeom prst="rect">
                <a:avLst/>
              </a:prstGeom>
              <a:noFill/>
            </p:spPr>
            <p:txBody>
              <a:bodyPr wrap="square" rtlCol="0">
                <a:spAutoFit/>
              </a:bodyPr>
              <a:lstStyle/>
              <a:p>
                <a:r>
                  <a:rPr lang="en-US" altLang="zh-CN" dirty="0" err="1">
                    <a:latin typeface="Times New Roman" panose="02020603050405020304" pitchFamily="18" charset="0"/>
                    <a:cs typeface="Times New Roman" panose="02020603050405020304" pitchFamily="18" charset="0"/>
                  </a:rPr>
                  <a:t>ld</a:t>
                </a:r>
                <a:r>
                  <a:rPr lang="en-US" altLang="zh-CN" dirty="0">
                    <a:latin typeface="Times New Roman" panose="02020603050405020304" pitchFamily="18" charset="0"/>
                    <a:cs typeface="Times New Roman" panose="02020603050405020304" pitchFamily="18" charset="0"/>
                  </a:rPr>
                  <a:t> </a:t>
                </a:r>
                <a:r>
                  <a:rPr lang="en-US" altLang="zh-CN" b="1" dirty="0">
                    <a:solidFill>
                      <a:srgbClr val="0000FF"/>
                    </a:solidFill>
                    <a:latin typeface="Times New Roman" panose="02020603050405020304" pitchFamily="18" charset="0"/>
                    <a:cs typeface="Times New Roman" panose="02020603050405020304" pitchFamily="18" charset="0"/>
                  </a:rPr>
                  <a:t>x10</a:t>
                </a:r>
                <a:r>
                  <a:rPr lang="en-US" altLang="zh-CN" dirty="0">
                    <a:latin typeface="Times New Roman" panose="02020603050405020304" pitchFamily="18" charset="0"/>
                    <a:cs typeface="Times New Roman" panose="02020603050405020304" pitchFamily="18" charset="0"/>
                  </a:rPr>
                  <a:t>, 40(x1)</a:t>
                </a:r>
                <a:endParaRPr lang="zh-CN" altLang="en-US" dirty="0">
                  <a:latin typeface="Times New Roman" panose="02020603050405020304" pitchFamily="18" charset="0"/>
                  <a:cs typeface="Times New Roman" panose="02020603050405020304" pitchFamily="18" charset="0"/>
                </a:endParaRPr>
              </a:p>
            </p:txBody>
          </p:sp>
          <p:sp>
            <p:nvSpPr>
              <p:cNvPr id="662" name="文本框 661"/>
              <p:cNvSpPr txBox="1"/>
              <p:nvPr/>
            </p:nvSpPr>
            <p:spPr>
              <a:xfrm>
                <a:off x="1101562" y="3982224"/>
                <a:ext cx="1664335" cy="368300"/>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r>
                  <a:rPr lang="en-US" altLang="zh-CN" dirty="0"/>
                  <a:t>sub x11, x2, x3</a:t>
                </a:r>
                <a:endParaRPr lang="zh-CN" altLang="en-US" dirty="0"/>
              </a:p>
            </p:txBody>
          </p:sp>
        </p:grpSp>
        <p:sp>
          <p:nvSpPr>
            <p:cNvPr id="663" name="文本框 662"/>
            <p:cNvSpPr txBox="1"/>
            <p:nvPr/>
          </p:nvSpPr>
          <p:spPr>
            <a:xfrm>
              <a:off x="1505158" y="4507350"/>
              <a:ext cx="1745615" cy="368300"/>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r>
                <a:rPr lang="en-US" altLang="zh-CN" dirty="0"/>
                <a:t>add x12, x3, x4 </a:t>
              </a:r>
              <a:endParaRPr lang="zh-CN" altLang="en-US" dirty="0"/>
            </a:p>
          </p:txBody>
        </p:sp>
        <p:sp>
          <p:nvSpPr>
            <p:cNvPr id="664" name="文本框 663"/>
            <p:cNvSpPr txBox="1"/>
            <p:nvPr/>
          </p:nvSpPr>
          <p:spPr>
            <a:xfrm>
              <a:off x="1502454" y="5434669"/>
              <a:ext cx="1560018" cy="368300"/>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r>
                <a:rPr lang="en-US" altLang="zh-CN" dirty="0" err="1"/>
                <a:t>ld</a:t>
              </a:r>
              <a:r>
                <a:rPr lang="en-US" altLang="zh-CN" dirty="0"/>
                <a:t> </a:t>
              </a:r>
              <a:r>
                <a:rPr lang="en-US" altLang="zh-CN" b="1" dirty="0">
                  <a:solidFill>
                    <a:srgbClr val="0000FF"/>
                  </a:solidFill>
                </a:rPr>
                <a:t>x13</a:t>
              </a:r>
              <a:r>
                <a:rPr lang="en-US" altLang="zh-CN" dirty="0"/>
                <a:t>, 48(x1) </a:t>
              </a:r>
              <a:endParaRPr lang="zh-CN" altLang="en-US" dirty="0"/>
            </a:p>
          </p:txBody>
        </p:sp>
        <p:sp>
          <p:nvSpPr>
            <p:cNvPr id="665" name="文本框 664"/>
            <p:cNvSpPr txBox="1"/>
            <p:nvPr/>
          </p:nvSpPr>
          <p:spPr>
            <a:xfrm>
              <a:off x="1538813" y="6320910"/>
              <a:ext cx="1712595" cy="368300"/>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r>
                <a:rPr lang="en-US" altLang="zh-CN" dirty="0"/>
                <a:t>add x14, x5, x6</a:t>
              </a:r>
              <a:endParaRPr lang="zh-CN" altLang="en-US" dirty="0"/>
            </a:p>
          </p:txBody>
        </p:sp>
      </p:grpSp>
      <p:sp>
        <p:nvSpPr>
          <p:cNvPr id="9" name="云形标注 8"/>
          <p:cNvSpPr/>
          <p:nvPr/>
        </p:nvSpPr>
        <p:spPr>
          <a:xfrm>
            <a:off x="9448165" y="2671445"/>
            <a:ext cx="1731645" cy="1170940"/>
          </a:xfrm>
          <a:prstGeom prst="cloudCallout">
            <a:avLst/>
          </a:prstGeom>
          <a:solidFill>
            <a:srgbClr val="9CDCF9"/>
          </a:solid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136525" rIns="0" bIns="136525" numCol="1" rtlCol="0" anchor="ctr" anchorCtr="0" compatLnSpc="1"/>
          <a:lstStyle/>
          <a:p>
            <a:pPr algn="ctr" fontAlgn="base">
              <a:spcBef>
                <a:spcPct val="0"/>
              </a:spcBef>
              <a:spcAft>
                <a:spcPct val="0"/>
              </a:spcAft>
            </a:pPr>
            <a:r>
              <a:rPr lang="zh-CN" altLang="en-US" sz="3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共享？</a:t>
            </a:r>
          </a:p>
        </p:txBody>
      </p:sp>
      <p:sp>
        <p:nvSpPr>
          <p:cNvPr id="6" name="矩形 5"/>
          <p:cNvSpPr/>
          <p:nvPr/>
        </p:nvSpPr>
        <p:spPr>
          <a:xfrm>
            <a:off x="6846695" y="2081627"/>
            <a:ext cx="893193" cy="369332"/>
          </a:xfrm>
          <a:prstGeom prst="rect">
            <a:avLst/>
          </a:prstGeom>
        </p:spPr>
        <p:txBody>
          <a:bodyPr wrap="none">
            <a:spAutoFit/>
          </a:bodyPr>
          <a:lstStyle/>
          <a:p>
            <a:r>
              <a:rPr lang="en-US" altLang="zh-CN" b="1" dirty="0" err="1">
                <a:solidFill>
                  <a:srgbClr val="FF0000"/>
                </a:solidFill>
                <a:latin typeface="Times New Roman" panose="02020603050405020304" pitchFamily="18" charset="0"/>
                <a:cs typeface="Times New Roman" panose="02020603050405020304" pitchFamily="18" charset="0"/>
              </a:rPr>
              <a:t>rd</a:t>
            </a:r>
            <a:r>
              <a:rPr lang="en-US" altLang="zh-CN" b="1" dirty="0">
                <a:solidFill>
                  <a:srgbClr val="FF0000"/>
                </a:solidFill>
                <a:latin typeface="Times New Roman" panose="02020603050405020304" pitchFamily="18" charset="0"/>
                <a:cs typeface="Times New Roman" panose="02020603050405020304" pitchFamily="18" charset="0"/>
              </a:rPr>
              <a:t>=x10</a:t>
            </a:r>
            <a:endParaRPr lang="zh-CN" altLang="en-US" dirty="0">
              <a:solidFill>
                <a:srgbClr val="FF0000"/>
              </a:solidFill>
            </a:endParaRPr>
          </a:p>
        </p:txBody>
      </p:sp>
      <p:sp>
        <p:nvSpPr>
          <p:cNvPr id="252" name="矩形 251"/>
          <p:cNvSpPr/>
          <p:nvPr/>
        </p:nvSpPr>
        <p:spPr>
          <a:xfrm>
            <a:off x="6897746" y="4726954"/>
            <a:ext cx="893193" cy="369332"/>
          </a:xfrm>
          <a:prstGeom prst="rect">
            <a:avLst/>
          </a:prstGeom>
        </p:spPr>
        <p:txBody>
          <a:bodyPr wrap="none">
            <a:spAutoFit/>
          </a:bodyPr>
          <a:lstStyle/>
          <a:p>
            <a:r>
              <a:rPr lang="en-US" altLang="zh-CN" b="1" dirty="0" err="1">
                <a:solidFill>
                  <a:srgbClr val="FF0000"/>
                </a:solidFill>
                <a:latin typeface="Times New Roman" panose="02020603050405020304" pitchFamily="18" charset="0"/>
                <a:cs typeface="Times New Roman" panose="02020603050405020304" pitchFamily="18" charset="0"/>
              </a:rPr>
              <a:t>rd</a:t>
            </a:r>
            <a:r>
              <a:rPr lang="en-US" altLang="zh-CN" b="1" dirty="0">
                <a:solidFill>
                  <a:srgbClr val="FF0000"/>
                </a:solidFill>
                <a:latin typeface="Times New Roman" panose="02020603050405020304" pitchFamily="18" charset="0"/>
                <a:cs typeface="Times New Roman" panose="02020603050405020304" pitchFamily="18" charset="0"/>
              </a:rPr>
              <a:t>=x13</a:t>
            </a:r>
            <a:endParaRPr lang="zh-CN" altLang="en-US" dirty="0">
              <a:solidFill>
                <a:srgbClr val="FF0000"/>
              </a:solidFill>
            </a:endParaRPr>
          </a:p>
        </p:txBody>
      </p:sp>
      <p:pic>
        <p:nvPicPr>
          <p:cNvPr id="253" name="图片 252"/>
          <p:cNvPicPr>
            <a:picLocks noChangeAspect="1"/>
          </p:cNvPicPr>
          <p:nvPr/>
        </p:nvPicPr>
        <p:blipFill>
          <a:blip r:embed="rId3"/>
          <a:stretch>
            <a:fillRect/>
          </a:stretch>
        </p:blipFill>
        <p:spPr>
          <a:xfrm>
            <a:off x="101170" y="1056137"/>
            <a:ext cx="653673" cy="882936"/>
          </a:xfrm>
          <a:prstGeom prst="rect">
            <a:avLst/>
          </a:prstGeom>
        </p:spPr>
      </p:pic>
    </p:spTree>
    <p:extLst>
      <p:ext uri="{BB962C8B-B14F-4D97-AF65-F5344CB8AC3E}">
        <p14:creationId xmlns:p14="http://schemas.microsoft.com/office/powerpoint/2010/main" val="277872505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220">
                                            <p:bg/>
                                          </p:spTgt>
                                        </p:tgtEl>
                                        <p:attrNameLst>
                                          <p:attrName>style.visibility</p:attrName>
                                        </p:attrNameLst>
                                      </p:cBhvr>
                                      <p:to>
                                        <p:strVal val="visible"/>
                                      </p:to>
                                    </p:set>
                                    <p:animEffect transition="in" filter="fade">
                                      <p:cBhvr>
                                        <p:cTn id="7" dur="500"/>
                                        <p:tgtEl>
                                          <p:spTgt spid="9220">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220">
                                            <p:txEl>
                                              <p:pRg st="0" end="0"/>
                                            </p:txEl>
                                          </p:spTgt>
                                        </p:tgtEl>
                                        <p:attrNameLst>
                                          <p:attrName>style.visibility</p:attrName>
                                        </p:attrNameLst>
                                      </p:cBhvr>
                                      <p:to>
                                        <p:strVal val="visible"/>
                                      </p:to>
                                    </p:set>
                                    <p:animEffect transition="in" filter="fade">
                                      <p:cBhvr>
                                        <p:cTn id="10" dur="500"/>
                                        <p:tgtEl>
                                          <p:spTgt spid="9220">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53"/>
                                        </p:tgtEl>
                                        <p:attrNameLst>
                                          <p:attrName>style.visibility</p:attrName>
                                        </p:attrNameLst>
                                      </p:cBhvr>
                                      <p:to>
                                        <p:strVal val="visible"/>
                                      </p:to>
                                    </p:set>
                                    <p:animEffect transition="in" filter="fade">
                                      <p:cBhvr>
                                        <p:cTn id="13" dur="500"/>
                                        <p:tgtEl>
                                          <p:spTgt spid="25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52"/>
                                        </p:tgtEl>
                                        <p:attrNameLst>
                                          <p:attrName>style.visibility</p:attrName>
                                        </p:attrNameLst>
                                      </p:cBhvr>
                                      <p:to>
                                        <p:strVal val="visible"/>
                                      </p:to>
                                    </p:set>
                                    <p:animEffect transition="in" filter="fade">
                                      <p:cBhvr>
                                        <p:cTn id="29" dur="500"/>
                                        <p:tgtEl>
                                          <p:spTgt spid="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uiExpand="1" build="p" animBg="1"/>
      <p:bldP spid="9" grpId="0" animBg="1"/>
      <p:bldP spid="6" grpId="0"/>
      <p:bldP spid="25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5" name="标题 4"/>
          <p:cNvSpPr>
            <a:spLocks noGrp="1"/>
          </p:cNvSpPr>
          <p:nvPr>
            <p:ph type="title"/>
          </p:nvPr>
        </p:nvSpPr>
        <p:spPr/>
        <p:txBody>
          <a:bodyPr/>
          <a:lstStyle/>
          <a:p>
            <a:r>
              <a:rPr lang="zh-CN" altLang="en-US" dirty="0">
                <a:sym typeface="+mn-ea"/>
              </a:rPr>
              <a:t>在流水线数据通路中观察指令的流动</a:t>
            </a:r>
            <a:endParaRPr lang="zh-CN" altLang="en-US" dirty="0"/>
          </a:p>
        </p:txBody>
      </p:sp>
      <p:grpSp>
        <p:nvGrpSpPr>
          <p:cNvPr id="9236" name="时间轴"/>
          <p:cNvGrpSpPr/>
          <p:nvPr/>
        </p:nvGrpSpPr>
        <p:grpSpPr>
          <a:xfrm>
            <a:off x="1154977" y="1811535"/>
            <a:ext cx="10489603" cy="400110"/>
            <a:chOff x="650481" y="2066249"/>
            <a:chExt cx="10489603" cy="400110"/>
          </a:xfrm>
        </p:grpSpPr>
        <p:cxnSp>
          <p:nvCxnSpPr>
            <p:cNvPr id="645" name="直接箭头连接符 644"/>
            <p:cNvCxnSpPr/>
            <p:nvPr/>
          </p:nvCxnSpPr>
          <p:spPr>
            <a:xfrm>
              <a:off x="3629769" y="2185186"/>
              <a:ext cx="7510315"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sp>
          <p:nvSpPr>
            <p:cNvPr id="9235" name="文本框 9234"/>
            <p:cNvSpPr txBox="1"/>
            <p:nvPr/>
          </p:nvSpPr>
          <p:spPr>
            <a:xfrm>
              <a:off x="650481" y="2066249"/>
              <a:ext cx="269002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Time (in clock cycles)</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sp>
        <p:nvSpPr>
          <p:cNvPr id="663" name="文本框 662"/>
          <p:cNvSpPr txBox="1"/>
          <p:nvPr/>
        </p:nvSpPr>
        <p:spPr>
          <a:xfrm>
            <a:off x="2051685" y="4101465"/>
            <a:ext cx="1806575" cy="398780"/>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add x12,x3,x4 </a:t>
            </a:r>
          </a:p>
        </p:txBody>
      </p:sp>
      <p:sp>
        <p:nvSpPr>
          <p:cNvPr id="665" name="文本框 664"/>
          <p:cNvSpPr txBox="1"/>
          <p:nvPr/>
        </p:nvSpPr>
        <p:spPr>
          <a:xfrm>
            <a:off x="2085340" y="5915025"/>
            <a:ext cx="1772285" cy="398780"/>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add x14,x5,x6</a:t>
            </a:r>
          </a:p>
        </p:txBody>
      </p:sp>
      <p:sp>
        <p:nvSpPr>
          <p:cNvPr id="6" name="文本框 5"/>
          <p:cNvSpPr txBox="1"/>
          <p:nvPr/>
        </p:nvSpPr>
        <p:spPr>
          <a:xfrm>
            <a:off x="2051050" y="3258762"/>
            <a:ext cx="1619250" cy="398780"/>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sub x11,x2,x3</a:t>
            </a:r>
          </a:p>
        </p:txBody>
      </p:sp>
      <p:sp>
        <p:nvSpPr>
          <p:cNvPr id="9" name="文本框 8"/>
          <p:cNvSpPr txBox="1"/>
          <p:nvPr/>
        </p:nvSpPr>
        <p:spPr>
          <a:xfrm>
            <a:off x="2074947" y="2495719"/>
            <a:ext cx="1560018" cy="3987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ld</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x10,40(x1)</a:t>
            </a:r>
          </a:p>
        </p:txBody>
      </p:sp>
      <p:sp>
        <p:nvSpPr>
          <p:cNvPr id="10" name="文本框 9"/>
          <p:cNvSpPr txBox="1"/>
          <p:nvPr/>
        </p:nvSpPr>
        <p:spPr>
          <a:xfrm>
            <a:off x="79375" y="2535555"/>
            <a:ext cx="1929765" cy="7067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程序执行顺序</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(in instructions)</a:t>
            </a:r>
          </a:p>
        </p:txBody>
      </p:sp>
      <p:cxnSp>
        <p:nvCxnSpPr>
          <p:cNvPr id="11" name="直接箭头连接符 10"/>
          <p:cNvCxnSpPr/>
          <p:nvPr/>
        </p:nvCxnSpPr>
        <p:spPr>
          <a:xfrm>
            <a:off x="1984692" y="2701309"/>
            <a:ext cx="0" cy="3524231"/>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grpSp>
        <p:nvGrpSpPr>
          <p:cNvPr id="26" name="组合 25"/>
          <p:cNvGrpSpPr/>
          <p:nvPr/>
        </p:nvGrpSpPr>
        <p:grpSpPr>
          <a:xfrm>
            <a:off x="3893185" y="2283460"/>
            <a:ext cx="745490" cy="844550"/>
            <a:chOff x="11596" y="8909"/>
            <a:chExt cx="1174" cy="1330"/>
          </a:xfrm>
        </p:grpSpPr>
        <p:grpSp>
          <p:nvGrpSpPr>
            <p:cNvPr id="27" name="组合 26"/>
            <p:cNvGrpSpPr/>
            <p:nvPr/>
          </p:nvGrpSpPr>
          <p:grpSpPr>
            <a:xfrm>
              <a:off x="11658" y="9315"/>
              <a:ext cx="618" cy="533"/>
              <a:chOff x="3459957" y="3198019"/>
              <a:chExt cx="233362" cy="230981"/>
            </a:xfrm>
          </p:grpSpPr>
          <p:sp>
            <p:nvSpPr>
              <p:cNvPr id="28" name="矩形 27"/>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29" name="矩形 28"/>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grpSp>
        <p:sp>
          <p:nvSpPr>
            <p:cNvPr id="30" name="矩形 29"/>
            <p:cNvSpPr/>
            <p:nvPr/>
          </p:nvSpPr>
          <p:spPr>
            <a:xfrm>
              <a:off x="12576" y="8909"/>
              <a:ext cx="195" cy="1331"/>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cxnSp>
          <p:nvCxnSpPr>
            <p:cNvPr id="31" name="直接连接符 30"/>
            <p:cNvCxnSpPr>
              <a:stCxn id="29" idx="3"/>
            </p:cNvCxnSpPr>
            <p:nvPr/>
          </p:nvCxnSpPr>
          <p:spPr>
            <a:xfrm>
              <a:off x="12276" y="9582"/>
              <a:ext cx="2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11596" y="9273"/>
              <a:ext cx="918" cy="5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IM</a:t>
              </a:r>
              <a:endPar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33" name="组合 32"/>
          <p:cNvGrpSpPr/>
          <p:nvPr/>
        </p:nvGrpSpPr>
        <p:grpSpPr>
          <a:xfrm>
            <a:off x="4639945" y="2286635"/>
            <a:ext cx="927735" cy="844550"/>
            <a:chOff x="12772" y="8914"/>
            <a:chExt cx="1461" cy="1330"/>
          </a:xfrm>
        </p:grpSpPr>
        <p:grpSp>
          <p:nvGrpSpPr>
            <p:cNvPr id="34" name="组合 33"/>
            <p:cNvGrpSpPr/>
            <p:nvPr/>
          </p:nvGrpSpPr>
          <p:grpSpPr>
            <a:xfrm>
              <a:off x="13107" y="9304"/>
              <a:ext cx="593" cy="543"/>
              <a:chOff x="3971697" y="3537291"/>
              <a:chExt cx="224066" cy="235402"/>
            </a:xfrm>
          </p:grpSpPr>
          <p:sp>
            <p:nvSpPr>
              <p:cNvPr id="35" name="矩形 34"/>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36" name="直接连接符 35"/>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 name="直接连接符 45"/>
            <p:cNvCxnSpPr/>
            <p:nvPr/>
          </p:nvCxnSpPr>
          <p:spPr>
            <a:xfrm>
              <a:off x="12772" y="9585"/>
              <a:ext cx="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矩形 60"/>
            <p:cNvSpPr/>
            <p:nvPr/>
          </p:nvSpPr>
          <p:spPr>
            <a:xfrm>
              <a:off x="14039" y="8914"/>
              <a:ext cx="195" cy="1331"/>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cxnSp>
          <p:nvCxnSpPr>
            <p:cNvPr id="62" name="直接连接符 61"/>
            <p:cNvCxnSpPr/>
            <p:nvPr/>
          </p:nvCxnSpPr>
          <p:spPr>
            <a:xfrm>
              <a:off x="13039" y="9517"/>
              <a:ext cx="0" cy="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13039" y="9521"/>
              <a:ext cx="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13688" y="9372"/>
              <a:ext cx="35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13688" y="9733"/>
              <a:ext cx="35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文本框 65"/>
            <p:cNvSpPr txBox="1"/>
            <p:nvPr/>
          </p:nvSpPr>
          <p:spPr>
            <a:xfrm>
              <a:off x="12968" y="9273"/>
              <a:ext cx="984" cy="5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Reg</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67" name="组合 66"/>
          <p:cNvGrpSpPr/>
          <p:nvPr/>
        </p:nvGrpSpPr>
        <p:grpSpPr>
          <a:xfrm>
            <a:off x="7434580" y="2515235"/>
            <a:ext cx="657860" cy="357505"/>
            <a:chOff x="17173" y="9274"/>
            <a:chExt cx="1036" cy="563"/>
          </a:xfrm>
        </p:grpSpPr>
        <p:grpSp>
          <p:nvGrpSpPr>
            <p:cNvPr id="68" name="组合 67"/>
            <p:cNvGrpSpPr/>
            <p:nvPr/>
          </p:nvGrpSpPr>
          <p:grpSpPr>
            <a:xfrm rot="10800000">
              <a:off x="17451" y="9299"/>
              <a:ext cx="591" cy="538"/>
              <a:chOff x="3970449" y="3541712"/>
              <a:chExt cx="223386" cy="233308"/>
            </a:xfrm>
          </p:grpSpPr>
          <p:sp>
            <p:nvSpPr>
              <p:cNvPr id="69" name="矩形 68"/>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70" name="直接连接符 69"/>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6" name="直接连接符 75"/>
            <p:cNvCxnSpPr/>
            <p:nvPr/>
          </p:nvCxnSpPr>
          <p:spPr>
            <a:xfrm>
              <a:off x="17173" y="9582"/>
              <a:ext cx="278" cy="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文本框 76"/>
            <p:cNvSpPr txBox="1"/>
            <p:nvPr/>
          </p:nvSpPr>
          <p:spPr>
            <a:xfrm>
              <a:off x="17307" y="9274"/>
              <a:ext cx="903" cy="5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Reg</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78" name="组合 77"/>
          <p:cNvGrpSpPr/>
          <p:nvPr/>
        </p:nvGrpSpPr>
        <p:grpSpPr>
          <a:xfrm>
            <a:off x="5568315" y="2286000"/>
            <a:ext cx="935990" cy="844550"/>
            <a:chOff x="14234" y="8913"/>
            <a:chExt cx="1474" cy="1330"/>
          </a:xfrm>
        </p:grpSpPr>
        <p:sp>
          <p:nvSpPr>
            <p:cNvPr id="79" name="任意多边形: 形状 608"/>
            <p:cNvSpPr/>
            <p:nvPr/>
          </p:nvSpPr>
          <p:spPr>
            <a:xfrm>
              <a:off x="14569" y="9010"/>
              <a:ext cx="801" cy="1137"/>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80" name="矩形 79"/>
            <p:cNvSpPr/>
            <p:nvPr/>
          </p:nvSpPr>
          <p:spPr>
            <a:xfrm>
              <a:off x="15514" y="8913"/>
              <a:ext cx="195" cy="1331"/>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81" name="直接连接符 80"/>
            <p:cNvCxnSpPr/>
            <p:nvPr/>
          </p:nvCxnSpPr>
          <p:spPr>
            <a:xfrm>
              <a:off x="14234" y="9372"/>
              <a:ext cx="334"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14234" y="9744"/>
              <a:ext cx="35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15369" y="9594"/>
              <a:ext cx="1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文本框 83"/>
            <p:cNvSpPr txBox="1"/>
            <p:nvPr/>
          </p:nvSpPr>
          <p:spPr>
            <a:xfrm>
              <a:off x="14558" y="9294"/>
              <a:ext cx="929" cy="5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ALU</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98" name="组合 97"/>
          <p:cNvGrpSpPr/>
          <p:nvPr/>
        </p:nvGrpSpPr>
        <p:grpSpPr>
          <a:xfrm>
            <a:off x="4832985" y="3159760"/>
            <a:ext cx="745490" cy="844550"/>
            <a:chOff x="11596" y="8909"/>
            <a:chExt cx="1174" cy="1330"/>
          </a:xfrm>
        </p:grpSpPr>
        <p:grpSp>
          <p:nvGrpSpPr>
            <p:cNvPr id="100" name="组合 99"/>
            <p:cNvGrpSpPr/>
            <p:nvPr/>
          </p:nvGrpSpPr>
          <p:grpSpPr>
            <a:xfrm>
              <a:off x="11658" y="9315"/>
              <a:ext cx="618" cy="533"/>
              <a:chOff x="3459957" y="3198019"/>
              <a:chExt cx="233362" cy="230981"/>
            </a:xfrm>
          </p:grpSpPr>
          <p:sp>
            <p:nvSpPr>
              <p:cNvPr id="101" name="矩形 100"/>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06" name="矩形 105"/>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grpSp>
        <p:sp>
          <p:nvSpPr>
            <p:cNvPr id="107" name="矩形 106"/>
            <p:cNvSpPr/>
            <p:nvPr/>
          </p:nvSpPr>
          <p:spPr>
            <a:xfrm>
              <a:off x="12576" y="8909"/>
              <a:ext cx="195" cy="1331"/>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cxnSp>
          <p:nvCxnSpPr>
            <p:cNvPr id="108" name="直接连接符 107"/>
            <p:cNvCxnSpPr>
              <a:stCxn id="106" idx="3"/>
            </p:cNvCxnSpPr>
            <p:nvPr/>
          </p:nvCxnSpPr>
          <p:spPr>
            <a:xfrm>
              <a:off x="12276" y="9582"/>
              <a:ext cx="2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文本框 108"/>
            <p:cNvSpPr txBox="1"/>
            <p:nvPr/>
          </p:nvSpPr>
          <p:spPr>
            <a:xfrm>
              <a:off x="11596" y="9273"/>
              <a:ext cx="918" cy="5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IM</a:t>
              </a:r>
              <a:endPar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113" name="组合 112"/>
          <p:cNvGrpSpPr/>
          <p:nvPr/>
        </p:nvGrpSpPr>
        <p:grpSpPr>
          <a:xfrm>
            <a:off x="5579745" y="3162935"/>
            <a:ext cx="927735" cy="844550"/>
            <a:chOff x="12772" y="8914"/>
            <a:chExt cx="1461" cy="1330"/>
          </a:xfrm>
        </p:grpSpPr>
        <p:grpSp>
          <p:nvGrpSpPr>
            <p:cNvPr id="115" name="组合 114"/>
            <p:cNvGrpSpPr/>
            <p:nvPr/>
          </p:nvGrpSpPr>
          <p:grpSpPr>
            <a:xfrm>
              <a:off x="13107" y="9304"/>
              <a:ext cx="593" cy="543"/>
              <a:chOff x="3971697" y="3537291"/>
              <a:chExt cx="224066" cy="235402"/>
            </a:xfrm>
          </p:grpSpPr>
          <p:sp>
            <p:nvSpPr>
              <p:cNvPr id="117" name="矩形 116"/>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118" name="直接连接符 117"/>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7" name="直接连接符 126"/>
            <p:cNvCxnSpPr/>
            <p:nvPr/>
          </p:nvCxnSpPr>
          <p:spPr>
            <a:xfrm>
              <a:off x="12772" y="9585"/>
              <a:ext cx="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矩形 127"/>
            <p:cNvSpPr/>
            <p:nvPr/>
          </p:nvSpPr>
          <p:spPr>
            <a:xfrm>
              <a:off x="14039" y="8914"/>
              <a:ext cx="195" cy="1331"/>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cxnSp>
          <p:nvCxnSpPr>
            <p:cNvPr id="129" name="直接连接符 128"/>
            <p:cNvCxnSpPr/>
            <p:nvPr/>
          </p:nvCxnSpPr>
          <p:spPr>
            <a:xfrm>
              <a:off x="13039" y="9517"/>
              <a:ext cx="0" cy="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a:off x="13039" y="9521"/>
              <a:ext cx="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a:off x="13688" y="9372"/>
              <a:ext cx="35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a:off x="13688" y="9733"/>
              <a:ext cx="35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33" name="文本框 132"/>
            <p:cNvSpPr txBox="1"/>
            <p:nvPr/>
          </p:nvSpPr>
          <p:spPr>
            <a:xfrm>
              <a:off x="12968" y="9273"/>
              <a:ext cx="984" cy="5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Reg</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134" name="组合 133"/>
          <p:cNvGrpSpPr/>
          <p:nvPr/>
        </p:nvGrpSpPr>
        <p:grpSpPr>
          <a:xfrm>
            <a:off x="8374380" y="3391535"/>
            <a:ext cx="657860" cy="357505"/>
            <a:chOff x="17173" y="9274"/>
            <a:chExt cx="1036" cy="563"/>
          </a:xfrm>
        </p:grpSpPr>
        <p:grpSp>
          <p:nvGrpSpPr>
            <p:cNvPr id="135" name="组合 134"/>
            <p:cNvGrpSpPr/>
            <p:nvPr/>
          </p:nvGrpSpPr>
          <p:grpSpPr>
            <a:xfrm rot="10800000">
              <a:off x="17451" y="9299"/>
              <a:ext cx="591" cy="538"/>
              <a:chOff x="3970449" y="3541712"/>
              <a:chExt cx="223386" cy="233308"/>
            </a:xfrm>
          </p:grpSpPr>
          <p:sp>
            <p:nvSpPr>
              <p:cNvPr id="136" name="矩形 135"/>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137" name="直接连接符 136"/>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3" name="直接连接符 142"/>
            <p:cNvCxnSpPr/>
            <p:nvPr/>
          </p:nvCxnSpPr>
          <p:spPr>
            <a:xfrm>
              <a:off x="17173" y="9582"/>
              <a:ext cx="278" cy="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44" name="文本框 143"/>
            <p:cNvSpPr txBox="1"/>
            <p:nvPr/>
          </p:nvSpPr>
          <p:spPr>
            <a:xfrm>
              <a:off x="17307" y="9274"/>
              <a:ext cx="903" cy="5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Reg</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148" name="组合 147"/>
          <p:cNvGrpSpPr/>
          <p:nvPr/>
        </p:nvGrpSpPr>
        <p:grpSpPr>
          <a:xfrm>
            <a:off x="6508115" y="3162300"/>
            <a:ext cx="935990" cy="844550"/>
            <a:chOff x="14234" y="8913"/>
            <a:chExt cx="1474" cy="1330"/>
          </a:xfrm>
        </p:grpSpPr>
        <p:sp>
          <p:nvSpPr>
            <p:cNvPr id="149" name="任意多边形: 形状 608"/>
            <p:cNvSpPr/>
            <p:nvPr/>
          </p:nvSpPr>
          <p:spPr>
            <a:xfrm>
              <a:off x="14569" y="9010"/>
              <a:ext cx="801" cy="1137"/>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50" name="矩形 149"/>
            <p:cNvSpPr/>
            <p:nvPr/>
          </p:nvSpPr>
          <p:spPr>
            <a:xfrm>
              <a:off x="15514" y="8913"/>
              <a:ext cx="195" cy="1331"/>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151" name="直接连接符 150"/>
            <p:cNvCxnSpPr/>
            <p:nvPr/>
          </p:nvCxnSpPr>
          <p:spPr>
            <a:xfrm>
              <a:off x="14234" y="9372"/>
              <a:ext cx="334"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a:off x="14234" y="9744"/>
              <a:ext cx="35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a:off x="15369" y="9594"/>
              <a:ext cx="1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54" name="文本框 153"/>
            <p:cNvSpPr txBox="1"/>
            <p:nvPr/>
          </p:nvSpPr>
          <p:spPr>
            <a:xfrm>
              <a:off x="14558" y="9294"/>
              <a:ext cx="929" cy="5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ALU</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155" name="组合 154"/>
          <p:cNvGrpSpPr/>
          <p:nvPr/>
        </p:nvGrpSpPr>
        <p:grpSpPr>
          <a:xfrm>
            <a:off x="7445375" y="3162935"/>
            <a:ext cx="928370" cy="844550"/>
            <a:chOff x="15710" y="8914"/>
            <a:chExt cx="1462" cy="1330"/>
          </a:xfrm>
        </p:grpSpPr>
        <p:sp>
          <p:nvSpPr>
            <p:cNvPr id="156" name="矩形 155"/>
            <p:cNvSpPr/>
            <p:nvPr/>
          </p:nvSpPr>
          <p:spPr>
            <a:xfrm>
              <a:off x="16031" y="9315"/>
              <a:ext cx="618" cy="5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157" name="矩形 156"/>
            <p:cNvSpPr/>
            <p:nvPr/>
          </p:nvSpPr>
          <p:spPr>
            <a:xfrm>
              <a:off x="16978" y="8914"/>
              <a:ext cx="195" cy="1331"/>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cxnSp>
          <p:nvCxnSpPr>
            <p:cNvPr id="158" name="直接连接符 157"/>
            <p:cNvCxnSpPr/>
            <p:nvPr/>
          </p:nvCxnSpPr>
          <p:spPr>
            <a:xfrm>
              <a:off x="15710" y="9595"/>
              <a:ext cx="32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a:stCxn id="156" idx="3"/>
              <a:endCxn id="157" idx="1"/>
            </p:cNvCxnSpPr>
            <p:nvPr/>
          </p:nvCxnSpPr>
          <p:spPr>
            <a:xfrm flipV="1">
              <a:off x="16649" y="9580"/>
              <a:ext cx="329" cy="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直接连接符 159"/>
            <p:cNvCxnSpPr/>
            <p:nvPr/>
          </p:nvCxnSpPr>
          <p:spPr>
            <a:xfrm>
              <a:off x="15895" y="9600"/>
              <a:ext cx="0" cy="3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1" name="直接连接符 160"/>
            <p:cNvCxnSpPr/>
            <p:nvPr/>
          </p:nvCxnSpPr>
          <p:spPr>
            <a:xfrm>
              <a:off x="15893" y="9955"/>
              <a:ext cx="100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直接连接符 161"/>
            <p:cNvCxnSpPr/>
            <p:nvPr/>
          </p:nvCxnSpPr>
          <p:spPr>
            <a:xfrm>
              <a:off x="16900" y="9738"/>
              <a:ext cx="0" cy="22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直接连接符 162"/>
            <p:cNvCxnSpPr/>
            <p:nvPr/>
          </p:nvCxnSpPr>
          <p:spPr>
            <a:xfrm>
              <a:off x="16896" y="9742"/>
              <a:ext cx="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4" name="文本框 163"/>
            <p:cNvSpPr txBox="1"/>
            <p:nvPr/>
          </p:nvSpPr>
          <p:spPr>
            <a:xfrm>
              <a:off x="15929" y="9301"/>
              <a:ext cx="873" cy="46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DM</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sp>
        <p:nvSpPr>
          <p:cNvPr id="165" name="文本框 164"/>
          <p:cNvSpPr txBox="1"/>
          <p:nvPr/>
        </p:nvSpPr>
        <p:spPr>
          <a:xfrm>
            <a:off x="2048510" y="5029200"/>
            <a:ext cx="1560195" cy="398780"/>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ld</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x13,48(x1) </a:t>
            </a:r>
          </a:p>
        </p:txBody>
      </p:sp>
      <p:grpSp>
        <p:nvGrpSpPr>
          <p:cNvPr id="166" name="组合 165"/>
          <p:cNvGrpSpPr/>
          <p:nvPr/>
        </p:nvGrpSpPr>
        <p:grpSpPr>
          <a:xfrm>
            <a:off x="5760085" y="4036060"/>
            <a:ext cx="745490" cy="844550"/>
            <a:chOff x="11596" y="8909"/>
            <a:chExt cx="1174" cy="1330"/>
          </a:xfrm>
        </p:grpSpPr>
        <p:grpSp>
          <p:nvGrpSpPr>
            <p:cNvPr id="167" name="组合 166"/>
            <p:cNvGrpSpPr/>
            <p:nvPr/>
          </p:nvGrpSpPr>
          <p:grpSpPr>
            <a:xfrm>
              <a:off x="11658" y="9315"/>
              <a:ext cx="618" cy="533"/>
              <a:chOff x="3459957" y="3198019"/>
              <a:chExt cx="233362" cy="230981"/>
            </a:xfrm>
          </p:grpSpPr>
          <p:sp>
            <p:nvSpPr>
              <p:cNvPr id="168" name="矩形 167"/>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69" name="矩形 168"/>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grpSp>
        <p:sp>
          <p:nvSpPr>
            <p:cNvPr id="170" name="矩形 169"/>
            <p:cNvSpPr/>
            <p:nvPr/>
          </p:nvSpPr>
          <p:spPr>
            <a:xfrm>
              <a:off x="12576" y="8909"/>
              <a:ext cx="195" cy="1331"/>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cxnSp>
          <p:nvCxnSpPr>
            <p:cNvPr id="171" name="直接连接符 170"/>
            <p:cNvCxnSpPr>
              <a:stCxn id="169" idx="3"/>
            </p:cNvCxnSpPr>
            <p:nvPr/>
          </p:nvCxnSpPr>
          <p:spPr>
            <a:xfrm>
              <a:off x="12276" y="9582"/>
              <a:ext cx="2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2" name="文本框 171"/>
            <p:cNvSpPr txBox="1"/>
            <p:nvPr/>
          </p:nvSpPr>
          <p:spPr>
            <a:xfrm>
              <a:off x="11596" y="9273"/>
              <a:ext cx="918" cy="5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IM</a:t>
              </a:r>
              <a:endPar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173" name="组合 172"/>
          <p:cNvGrpSpPr/>
          <p:nvPr/>
        </p:nvGrpSpPr>
        <p:grpSpPr>
          <a:xfrm>
            <a:off x="6506845" y="4039235"/>
            <a:ext cx="927735" cy="844550"/>
            <a:chOff x="12772" y="8914"/>
            <a:chExt cx="1461" cy="1330"/>
          </a:xfrm>
        </p:grpSpPr>
        <p:grpSp>
          <p:nvGrpSpPr>
            <p:cNvPr id="174" name="组合 173"/>
            <p:cNvGrpSpPr/>
            <p:nvPr/>
          </p:nvGrpSpPr>
          <p:grpSpPr>
            <a:xfrm>
              <a:off x="13107" y="9304"/>
              <a:ext cx="593" cy="543"/>
              <a:chOff x="3971697" y="3537291"/>
              <a:chExt cx="224066" cy="235402"/>
            </a:xfrm>
          </p:grpSpPr>
          <p:sp>
            <p:nvSpPr>
              <p:cNvPr id="175" name="矩形 174"/>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176" name="直接连接符 175"/>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直接连接符 179"/>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82" name="直接连接符 181"/>
            <p:cNvCxnSpPr/>
            <p:nvPr/>
          </p:nvCxnSpPr>
          <p:spPr>
            <a:xfrm>
              <a:off x="12772" y="9585"/>
              <a:ext cx="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3" name="矩形 182"/>
            <p:cNvSpPr/>
            <p:nvPr/>
          </p:nvSpPr>
          <p:spPr>
            <a:xfrm>
              <a:off x="14039" y="8914"/>
              <a:ext cx="195" cy="1331"/>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cxnSp>
          <p:nvCxnSpPr>
            <p:cNvPr id="184" name="直接连接符 183"/>
            <p:cNvCxnSpPr/>
            <p:nvPr/>
          </p:nvCxnSpPr>
          <p:spPr>
            <a:xfrm>
              <a:off x="13039" y="9517"/>
              <a:ext cx="0" cy="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直接连接符 184"/>
            <p:cNvCxnSpPr/>
            <p:nvPr/>
          </p:nvCxnSpPr>
          <p:spPr>
            <a:xfrm>
              <a:off x="13039" y="9521"/>
              <a:ext cx="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p:nvPr/>
          </p:nvCxnSpPr>
          <p:spPr>
            <a:xfrm>
              <a:off x="13688" y="9372"/>
              <a:ext cx="35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 name="直接连接符 186"/>
            <p:cNvCxnSpPr/>
            <p:nvPr/>
          </p:nvCxnSpPr>
          <p:spPr>
            <a:xfrm>
              <a:off x="13688" y="9733"/>
              <a:ext cx="35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88" name="文本框 187"/>
            <p:cNvSpPr txBox="1"/>
            <p:nvPr/>
          </p:nvSpPr>
          <p:spPr>
            <a:xfrm>
              <a:off x="12968" y="9273"/>
              <a:ext cx="984" cy="5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Reg</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189" name="组合 188"/>
          <p:cNvGrpSpPr/>
          <p:nvPr/>
        </p:nvGrpSpPr>
        <p:grpSpPr>
          <a:xfrm>
            <a:off x="9301480" y="4267835"/>
            <a:ext cx="657860" cy="357505"/>
            <a:chOff x="17173" y="9274"/>
            <a:chExt cx="1036" cy="563"/>
          </a:xfrm>
        </p:grpSpPr>
        <p:grpSp>
          <p:nvGrpSpPr>
            <p:cNvPr id="190" name="组合 189"/>
            <p:cNvGrpSpPr/>
            <p:nvPr/>
          </p:nvGrpSpPr>
          <p:grpSpPr>
            <a:xfrm rot="10800000">
              <a:off x="17451" y="9299"/>
              <a:ext cx="591" cy="538"/>
              <a:chOff x="3970449" y="3541712"/>
              <a:chExt cx="223386" cy="233308"/>
            </a:xfrm>
          </p:grpSpPr>
          <p:sp>
            <p:nvSpPr>
              <p:cNvPr id="191" name="矩形 190"/>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192" name="直接连接符 191"/>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3" name="直接连接符 192"/>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4" name="直接连接符 193"/>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5" name="直接连接符 194"/>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直接连接符 195"/>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直接连接符 196"/>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8" name="直接连接符 197"/>
            <p:cNvCxnSpPr/>
            <p:nvPr/>
          </p:nvCxnSpPr>
          <p:spPr>
            <a:xfrm>
              <a:off x="17173" y="9582"/>
              <a:ext cx="278" cy="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99" name="文本框 198"/>
            <p:cNvSpPr txBox="1"/>
            <p:nvPr/>
          </p:nvSpPr>
          <p:spPr>
            <a:xfrm>
              <a:off x="17307" y="9274"/>
              <a:ext cx="903" cy="5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Reg</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200" name="组合 199"/>
          <p:cNvGrpSpPr/>
          <p:nvPr/>
        </p:nvGrpSpPr>
        <p:grpSpPr>
          <a:xfrm>
            <a:off x="7435215" y="4038600"/>
            <a:ext cx="935990" cy="844550"/>
            <a:chOff x="14234" y="8913"/>
            <a:chExt cx="1474" cy="1330"/>
          </a:xfrm>
        </p:grpSpPr>
        <p:sp>
          <p:nvSpPr>
            <p:cNvPr id="201" name="任意多边形: 形状 608"/>
            <p:cNvSpPr/>
            <p:nvPr/>
          </p:nvSpPr>
          <p:spPr>
            <a:xfrm>
              <a:off x="14569" y="9010"/>
              <a:ext cx="801" cy="1137"/>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02" name="矩形 201"/>
            <p:cNvSpPr/>
            <p:nvPr/>
          </p:nvSpPr>
          <p:spPr>
            <a:xfrm>
              <a:off x="15514" y="8913"/>
              <a:ext cx="195" cy="1331"/>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203" name="直接连接符 202"/>
            <p:cNvCxnSpPr/>
            <p:nvPr/>
          </p:nvCxnSpPr>
          <p:spPr>
            <a:xfrm>
              <a:off x="14234" y="9372"/>
              <a:ext cx="334"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 name="直接连接符 203"/>
            <p:cNvCxnSpPr/>
            <p:nvPr/>
          </p:nvCxnSpPr>
          <p:spPr>
            <a:xfrm>
              <a:off x="14234" y="9744"/>
              <a:ext cx="35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15369" y="9594"/>
              <a:ext cx="1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06" name="文本框 205"/>
            <p:cNvSpPr txBox="1"/>
            <p:nvPr/>
          </p:nvSpPr>
          <p:spPr>
            <a:xfrm>
              <a:off x="14558" y="9294"/>
              <a:ext cx="929" cy="5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ALU</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207" name="组合 206"/>
          <p:cNvGrpSpPr/>
          <p:nvPr/>
        </p:nvGrpSpPr>
        <p:grpSpPr>
          <a:xfrm>
            <a:off x="8372475" y="4039235"/>
            <a:ext cx="928370" cy="844550"/>
            <a:chOff x="15710" y="8914"/>
            <a:chExt cx="1462" cy="1330"/>
          </a:xfrm>
        </p:grpSpPr>
        <p:sp>
          <p:nvSpPr>
            <p:cNvPr id="208" name="矩形 207"/>
            <p:cNvSpPr/>
            <p:nvPr/>
          </p:nvSpPr>
          <p:spPr>
            <a:xfrm>
              <a:off x="16031" y="9315"/>
              <a:ext cx="618" cy="5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09" name="矩形 208"/>
            <p:cNvSpPr/>
            <p:nvPr/>
          </p:nvSpPr>
          <p:spPr>
            <a:xfrm>
              <a:off x="16978" y="8914"/>
              <a:ext cx="195" cy="1331"/>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cxnSp>
          <p:nvCxnSpPr>
            <p:cNvPr id="210" name="直接连接符 209"/>
            <p:cNvCxnSpPr/>
            <p:nvPr/>
          </p:nvCxnSpPr>
          <p:spPr>
            <a:xfrm>
              <a:off x="15710" y="9595"/>
              <a:ext cx="32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1" name="直接连接符 210"/>
            <p:cNvCxnSpPr>
              <a:stCxn id="208" idx="3"/>
              <a:endCxn id="209" idx="1"/>
            </p:cNvCxnSpPr>
            <p:nvPr/>
          </p:nvCxnSpPr>
          <p:spPr>
            <a:xfrm flipV="1">
              <a:off x="16649" y="9580"/>
              <a:ext cx="329" cy="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a:off x="15895" y="9600"/>
              <a:ext cx="0" cy="3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直接连接符 212"/>
            <p:cNvCxnSpPr/>
            <p:nvPr/>
          </p:nvCxnSpPr>
          <p:spPr>
            <a:xfrm>
              <a:off x="15893" y="9955"/>
              <a:ext cx="100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a:off x="16900" y="9738"/>
              <a:ext cx="0" cy="22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 name="直接连接符 214"/>
            <p:cNvCxnSpPr/>
            <p:nvPr/>
          </p:nvCxnSpPr>
          <p:spPr>
            <a:xfrm>
              <a:off x="16896" y="9742"/>
              <a:ext cx="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6" name="文本框 215"/>
            <p:cNvSpPr txBox="1"/>
            <p:nvPr/>
          </p:nvSpPr>
          <p:spPr>
            <a:xfrm>
              <a:off x="15929" y="9301"/>
              <a:ext cx="873" cy="46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DM</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217" name="组合 216"/>
          <p:cNvGrpSpPr/>
          <p:nvPr/>
        </p:nvGrpSpPr>
        <p:grpSpPr>
          <a:xfrm>
            <a:off x="6699885" y="4912360"/>
            <a:ext cx="745490" cy="844550"/>
            <a:chOff x="11596" y="8909"/>
            <a:chExt cx="1174" cy="1330"/>
          </a:xfrm>
        </p:grpSpPr>
        <p:grpSp>
          <p:nvGrpSpPr>
            <p:cNvPr id="218" name="组合 217"/>
            <p:cNvGrpSpPr/>
            <p:nvPr/>
          </p:nvGrpSpPr>
          <p:grpSpPr>
            <a:xfrm>
              <a:off x="11658" y="9315"/>
              <a:ext cx="618" cy="533"/>
              <a:chOff x="3459957" y="3198019"/>
              <a:chExt cx="233362" cy="230981"/>
            </a:xfrm>
          </p:grpSpPr>
          <p:sp>
            <p:nvSpPr>
              <p:cNvPr id="219" name="矩形 218"/>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220" name="矩形 219"/>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grpSp>
        <p:sp>
          <p:nvSpPr>
            <p:cNvPr id="221" name="矩形 220"/>
            <p:cNvSpPr/>
            <p:nvPr/>
          </p:nvSpPr>
          <p:spPr>
            <a:xfrm>
              <a:off x="12576" y="8909"/>
              <a:ext cx="195" cy="1331"/>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cxnSp>
          <p:nvCxnSpPr>
            <p:cNvPr id="222" name="直接连接符 221"/>
            <p:cNvCxnSpPr>
              <a:stCxn id="220" idx="3"/>
            </p:cNvCxnSpPr>
            <p:nvPr/>
          </p:nvCxnSpPr>
          <p:spPr>
            <a:xfrm>
              <a:off x="12276" y="9582"/>
              <a:ext cx="2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3" name="文本框 222"/>
            <p:cNvSpPr txBox="1"/>
            <p:nvPr/>
          </p:nvSpPr>
          <p:spPr>
            <a:xfrm>
              <a:off x="11596" y="9273"/>
              <a:ext cx="918" cy="5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IM</a:t>
              </a:r>
              <a:endPar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224" name="组合 223"/>
          <p:cNvGrpSpPr/>
          <p:nvPr/>
        </p:nvGrpSpPr>
        <p:grpSpPr>
          <a:xfrm>
            <a:off x="7446645" y="4915535"/>
            <a:ext cx="927735" cy="844550"/>
            <a:chOff x="12772" y="8914"/>
            <a:chExt cx="1461" cy="1330"/>
          </a:xfrm>
        </p:grpSpPr>
        <p:grpSp>
          <p:nvGrpSpPr>
            <p:cNvPr id="225" name="组合 224"/>
            <p:cNvGrpSpPr/>
            <p:nvPr/>
          </p:nvGrpSpPr>
          <p:grpSpPr>
            <a:xfrm>
              <a:off x="13107" y="9304"/>
              <a:ext cx="593" cy="543"/>
              <a:chOff x="3971697" y="3537291"/>
              <a:chExt cx="224066" cy="235402"/>
            </a:xfrm>
          </p:grpSpPr>
          <p:sp>
            <p:nvSpPr>
              <p:cNvPr id="226" name="矩形 225"/>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227" name="直接连接符 226"/>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28" name="直接连接符 227"/>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29" name="直接连接符 228"/>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30" name="直接连接符 229"/>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直接连接符 231"/>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33" name="直接连接符 232"/>
            <p:cNvCxnSpPr/>
            <p:nvPr/>
          </p:nvCxnSpPr>
          <p:spPr>
            <a:xfrm>
              <a:off x="12772" y="9585"/>
              <a:ext cx="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34" name="矩形 233"/>
            <p:cNvSpPr/>
            <p:nvPr/>
          </p:nvSpPr>
          <p:spPr>
            <a:xfrm>
              <a:off x="14039" y="8914"/>
              <a:ext cx="195" cy="1331"/>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cxnSp>
          <p:nvCxnSpPr>
            <p:cNvPr id="235" name="直接连接符 234"/>
            <p:cNvCxnSpPr/>
            <p:nvPr/>
          </p:nvCxnSpPr>
          <p:spPr>
            <a:xfrm>
              <a:off x="13039" y="9517"/>
              <a:ext cx="0" cy="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6" name="直接连接符 235"/>
            <p:cNvCxnSpPr/>
            <p:nvPr/>
          </p:nvCxnSpPr>
          <p:spPr>
            <a:xfrm>
              <a:off x="13039" y="9521"/>
              <a:ext cx="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a:off x="13688" y="9372"/>
              <a:ext cx="35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直接连接符 237"/>
            <p:cNvCxnSpPr/>
            <p:nvPr/>
          </p:nvCxnSpPr>
          <p:spPr>
            <a:xfrm>
              <a:off x="13688" y="9733"/>
              <a:ext cx="35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39" name="文本框 238"/>
            <p:cNvSpPr txBox="1"/>
            <p:nvPr/>
          </p:nvSpPr>
          <p:spPr>
            <a:xfrm>
              <a:off x="12968" y="9273"/>
              <a:ext cx="984" cy="5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Reg</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240" name="组合 239"/>
          <p:cNvGrpSpPr/>
          <p:nvPr/>
        </p:nvGrpSpPr>
        <p:grpSpPr>
          <a:xfrm>
            <a:off x="10241280" y="5144135"/>
            <a:ext cx="657860" cy="357505"/>
            <a:chOff x="17173" y="9274"/>
            <a:chExt cx="1036" cy="563"/>
          </a:xfrm>
        </p:grpSpPr>
        <p:grpSp>
          <p:nvGrpSpPr>
            <p:cNvPr id="241" name="组合 240"/>
            <p:cNvGrpSpPr/>
            <p:nvPr/>
          </p:nvGrpSpPr>
          <p:grpSpPr>
            <a:xfrm rot="10800000">
              <a:off x="17451" y="9299"/>
              <a:ext cx="591" cy="538"/>
              <a:chOff x="3970449" y="3541712"/>
              <a:chExt cx="223386" cy="233308"/>
            </a:xfrm>
          </p:grpSpPr>
          <p:sp>
            <p:nvSpPr>
              <p:cNvPr id="242" name="矩形 241"/>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243" name="直接连接符 242"/>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44" name="直接连接符 243"/>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45" name="直接连接符 244"/>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46" name="直接连接符 245"/>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7" name="直接连接符 246"/>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8" name="直接连接符 247"/>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9" name="直接连接符 248"/>
            <p:cNvCxnSpPr/>
            <p:nvPr/>
          </p:nvCxnSpPr>
          <p:spPr>
            <a:xfrm>
              <a:off x="17173" y="9582"/>
              <a:ext cx="278" cy="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50" name="文本框 249"/>
            <p:cNvSpPr txBox="1"/>
            <p:nvPr/>
          </p:nvSpPr>
          <p:spPr>
            <a:xfrm>
              <a:off x="17307" y="9274"/>
              <a:ext cx="903" cy="5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Reg</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251" name="组合 250"/>
          <p:cNvGrpSpPr/>
          <p:nvPr/>
        </p:nvGrpSpPr>
        <p:grpSpPr>
          <a:xfrm>
            <a:off x="8375015" y="4914900"/>
            <a:ext cx="935990" cy="844550"/>
            <a:chOff x="14234" y="8913"/>
            <a:chExt cx="1474" cy="1330"/>
          </a:xfrm>
        </p:grpSpPr>
        <p:sp>
          <p:nvSpPr>
            <p:cNvPr id="252" name="任意多边形: 形状 608"/>
            <p:cNvSpPr/>
            <p:nvPr/>
          </p:nvSpPr>
          <p:spPr>
            <a:xfrm>
              <a:off x="14569" y="9010"/>
              <a:ext cx="801" cy="1137"/>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53" name="矩形 252"/>
            <p:cNvSpPr/>
            <p:nvPr/>
          </p:nvSpPr>
          <p:spPr>
            <a:xfrm>
              <a:off x="15514" y="8913"/>
              <a:ext cx="195" cy="1331"/>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254" name="直接连接符 253"/>
            <p:cNvCxnSpPr/>
            <p:nvPr/>
          </p:nvCxnSpPr>
          <p:spPr>
            <a:xfrm>
              <a:off x="14234" y="9372"/>
              <a:ext cx="334"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a:off x="14234" y="9744"/>
              <a:ext cx="35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6" name="直接连接符 255"/>
            <p:cNvCxnSpPr/>
            <p:nvPr/>
          </p:nvCxnSpPr>
          <p:spPr>
            <a:xfrm>
              <a:off x="15369" y="9594"/>
              <a:ext cx="1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57" name="文本框 256"/>
            <p:cNvSpPr txBox="1"/>
            <p:nvPr/>
          </p:nvSpPr>
          <p:spPr>
            <a:xfrm>
              <a:off x="14558" y="9294"/>
              <a:ext cx="929" cy="5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ALU</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268" name="组合 267"/>
          <p:cNvGrpSpPr/>
          <p:nvPr/>
        </p:nvGrpSpPr>
        <p:grpSpPr>
          <a:xfrm>
            <a:off x="7639685" y="5814060"/>
            <a:ext cx="745490" cy="844550"/>
            <a:chOff x="11596" y="8909"/>
            <a:chExt cx="1174" cy="1330"/>
          </a:xfrm>
        </p:grpSpPr>
        <p:grpSp>
          <p:nvGrpSpPr>
            <p:cNvPr id="269" name="组合 268"/>
            <p:cNvGrpSpPr/>
            <p:nvPr/>
          </p:nvGrpSpPr>
          <p:grpSpPr>
            <a:xfrm>
              <a:off x="11658" y="9315"/>
              <a:ext cx="618" cy="533"/>
              <a:chOff x="3459957" y="3198019"/>
              <a:chExt cx="233362" cy="230981"/>
            </a:xfrm>
          </p:grpSpPr>
          <p:sp>
            <p:nvSpPr>
              <p:cNvPr id="270" name="矩形 269"/>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271" name="矩形 270"/>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grpSp>
        <p:sp>
          <p:nvSpPr>
            <p:cNvPr id="272" name="矩形 271"/>
            <p:cNvSpPr/>
            <p:nvPr/>
          </p:nvSpPr>
          <p:spPr>
            <a:xfrm>
              <a:off x="12576" y="8909"/>
              <a:ext cx="195" cy="1331"/>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cxnSp>
          <p:nvCxnSpPr>
            <p:cNvPr id="273" name="直接连接符 272"/>
            <p:cNvCxnSpPr>
              <a:stCxn id="271" idx="3"/>
            </p:cNvCxnSpPr>
            <p:nvPr/>
          </p:nvCxnSpPr>
          <p:spPr>
            <a:xfrm>
              <a:off x="12276" y="9582"/>
              <a:ext cx="2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74" name="文本框 273"/>
            <p:cNvSpPr txBox="1"/>
            <p:nvPr/>
          </p:nvSpPr>
          <p:spPr>
            <a:xfrm>
              <a:off x="11596" y="9273"/>
              <a:ext cx="918" cy="5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IM</a:t>
              </a:r>
              <a:endPar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275" name="组合 274"/>
          <p:cNvGrpSpPr/>
          <p:nvPr/>
        </p:nvGrpSpPr>
        <p:grpSpPr>
          <a:xfrm>
            <a:off x="8386445" y="5817235"/>
            <a:ext cx="927735" cy="844550"/>
            <a:chOff x="12772" y="8914"/>
            <a:chExt cx="1461" cy="1330"/>
          </a:xfrm>
        </p:grpSpPr>
        <p:grpSp>
          <p:nvGrpSpPr>
            <p:cNvPr id="276" name="组合 275"/>
            <p:cNvGrpSpPr/>
            <p:nvPr/>
          </p:nvGrpSpPr>
          <p:grpSpPr>
            <a:xfrm>
              <a:off x="13107" y="9304"/>
              <a:ext cx="593" cy="543"/>
              <a:chOff x="3971697" y="3537291"/>
              <a:chExt cx="224066" cy="235402"/>
            </a:xfrm>
          </p:grpSpPr>
          <p:sp>
            <p:nvSpPr>
              <p:cNvPr id="277" name="矩形 276"/>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278" name="直接连接符 277"/>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79" name="直接连接符 278"/>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80" name="直接连接符 279"/>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81" name="直接连接符 280"/>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2" name="直接连接符 281"/>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3" name="直接连接符 282"/>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84" name="直接连接符 283"/>
            <p:cNvCxnSpPr/>
            <p:nvPr/>
          </p:nvCxnSpPr>
          <p:spPr>
            <a:xfrm>
              <a:off x="12772" y="9585"/>
              <a:ext cx="33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5" name="矩形 284"/>
            <p:cNvSpPr/>
            <p:nvPr/>
          </p:nvSpPr>
          <p:spPr>
            <a:xfrm>
              <a:off x="14039" y="8914"/>
              <a:ext cx="195" cy="1331"/>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cxnSp>
          <p:nvCxnSpPr>
            <p:cNvPr id="286" name="直接连接符 285"/>
            <p:cNvCxnSpPr/>
            <p:nvPr/>
          </p:nvCxnSpPr>
          <p:spPr>
            <a:xfrm>
              <a:off x="13039" y="9517"/>
              <a:ext cx="0" cy="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7" name="直接连接符 286"/>
            <p:cNvCxnSpPr/>
            <p:nvPr/>
          </p:nvCxnSpPr>
          <p:spPr>
            <a:xfrm>
              <a:off x="13039" y="9521"/>
              <a:ext cx="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8" name="直接连接符 287"/>
            <p:cNvCxnSpPr/>
            <p:nvPr/>
          </p:nvCxnSpPr>
          <p:spPr>
            <a:xfrm>
              <a:off x="13688" y="9372"/>
              <a:ext cx="35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9" name="直接连接符 288"/>
            <p:cNvCxnSpPr/>
            <p:nvPr/>
          </p:nvCxnSpPr>
          <p:spPr>
            <a:xfrm>
              <a:off x="13688" y="9733"/>
              <a:ext cx="35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90" name="文本框 289"/>
            <p:cNvSpPr txBox="1"/>
            <p:nvPr/>
          </p:nvSpPr>
          <p:spPr>
            <a:xfrm>
              <a:off x="12968" y="9273"/>
              <a:ext cx="984" cy="5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Reg</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291" name="组合 290"/>
          <p:cNvGrpSpPr/>
          <p:nvPr/>
        </p:nvGrpSpPr>
        <p:grpSpPr>
          <a:xfrm>
            <a:off x="11181080" y="6045835"/>
            <a:ext cx="657860" cy="357505"/>
            <a:chOff x="17173" y="9274"/>
            <a:chExt cx="1036" cy="563"/>
          </a:xfrm>
        </p:grpSpPr>
        <p:grpSp>
          <p:nvGrpSpPr>
            <p:cNvPr id="292" name="组合 291"/>
            <p:cNvGrpSpPr/>
            <p:nvPr/>
          </p:nvGrpSpPr>
          <p:grpSpPr>
            <a:xfrm rot="10800000">
              <a:off x="17451" y="9299"/>
              <a:ext cx="591" cy="538"/>
              <a:chOff x="3970449" y="3541712"/>
              <a:chExt cx="223386" cy="233308"/>
            </a:xfrm>
          </p:grpSpPr>
          <p:sp>
            <p:nvSpPr>
              <p:cNvPr id="293" name="矩形 292"/>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294" name="直接连接符 293"/>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95" name="直接连接符 294"/>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96" name="直接连接符 295"/>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97" name="直接连接符 296"/>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8" name="直接连接符 297"/>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9" name="直接连接符 298"/>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00" name="直接连接符 299"/>
            <p:cNvCxnSpPr/>
            <p:nvPr/>
          </p:nvCxnSpPr>
          <p:spPr>
            <a:xfrm>
              <a:off x="17173" y="9582"/>
              <a:ext cx="278" cy="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01" name="文本框 300"/>
            <p:cNvSpPr txBox="1"/>
            <p:nvPr/>
          </p:nvSpPr>
          <p:spPr>
            <a:xfrm>
              <a:off x="17307" y="9274"/>
              <a:ext cx="903" cy="5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Reg</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302" name="组合 301"/>
          <p:cNvGrpSpPr/>
          <p:nvPr/>
        </p:nvGrpSpPr>
        <p:grpSpPr>
          <a:xfrm>
            <a:off x="9314815" y="5816600"/>
            <a:ext cx="935990" cy="844550"/>
            <a:chOff x="14234" y="8913"/>
            <a:chExt cx="1474" cy="1330"/>
          </a:xfrm>
        </p:grpSpPr>
        <p:sp>
          <p:nvSpPr>
            <p:cNvPr id="303" name="任意多边形: 形状 608"/>
            <p:cNvSpPr/>
            <p:nvPr/>
          </p:nvSpPr>
          <p:spPr>
            <a:xfrm>
              <a:off x="14569" y="9010"/>
              <a:ext cx="801" cy="1137"/>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304" name="矩形 303"/>
            <p:cNvSpPr/>
            <p:nvPr/>
          </p:nvSpPr>
          <p:spPr>
            <a:xfrm>
              <a:off x="15514" y="8913"/>
              <a:ext cx="195" cy="1331"/>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305" name="直接连接符 304"/>
            <p:cNvCxnSpPr/>
            <p:nvPr/>
          </p:nvCxnSpPr>
          <p:spPr>
            <a:xfrm>
              <a:off x="14234" y="9372"/>
              <a:ext cx="334"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6" name="直接连接符 305"/>
            <p:cNvCxnSpPr/>
            <p:nvPr/>
          </p:nvCxnSpPr>
          <p:spPr>
            <a:xfrm>
              <a:off x="14234" y="9744"/>
              <a:ext cx="35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7" name="直接连接符 306"/>
            <p:cNvCxnSpPr/>
            <p:nvPr/>
          </p:nvCxnSpPr>
          <p:spPr>
            <a:xfrm>
              <a:off x="15369" y="9594"/>
              <a:ext cx="1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08" name="文本框 307"/>
            <p:cNvSpPr txBox="1"/>
            <p:nvPr/>
          </p:nvSpPr>
          <p:spPr>
            <a:xfrm>
              <a:off x="14558" y="9294"/>
              <a:ext cx="929" cy="5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ALU</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309" name="组合 308"/>
          <p:cNvGrpSpPr/>
          <p:nvPr/>
        </p:nvGrpSpPr>
        <p:grpSpPr>
          <a:xfrm>
            <a:off x="10252075" y="5817235"/>
            <a:ext cx="928370" cy="844550"/>
            <a:chOff x="15710" y="8914"/>
            <a:chExt cx="1462" cy="1330"/>
          </a:xfrm>
        </p:grpSpPr>
        <p:sp>
          <p:nvSpPr>
            <p:cNvPr id="310" name="矩形 309"/>
            <p:cNvSpPr/>
            <p:nvPr/>
          </p:nvSpPr>
          <p:spPr>
            <a:xfrm>
              <a:off x="16031" y="9315"/>
              <a:ext cx="618" cy="5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311" name="矩形 310"/>
            <p:cNvSpPr/>
            <p:nvPr/>
          </p:nvSpPr>
          <p:spPr>
            <a:xfrm>
              <a:off x="16978" y="8914"/>
              <a:ext cx="195" cy="1331"/>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cxnSp>
          <p:nvCxnSpPr>
            <p:cNvPr id="312" name="直接连接符 311"/>
            <p:cNvCxnSpPr/>
            <p:nvPr/>
          </p:nvCxnSpPr>
          <p:spPr>
            <a:xfrm>
              <a:off x="15710" y="9595"/>
              <a:ext cx="32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3" name="直接连接符 312"/>
            <p:cNvCxnSpPr>
              <a:stCxn id="310" idx="3"/>
              <a:endCxn id="311" idx="1"/>
            </p:cNvCxnSpPr>
            <p:nvPr/>
          </p:nvCxnSpPr>
          <p:spPr>
            <a:xfrm flipV="1">
              <a:off x="16649" y="9580"/>
              <a:ext cx="329" cy="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4" name="直接连接符 313"/>
            <p:cNvCxnSpPr/>
            <p:nvPr/>
          </p:nvCxnSpPr>
          <p:spPr>
            <a:xfrm>
              <a:off x="15895" y="9600"/>
              <a:ext cx="0" cy="3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 name="直接连接符 314"/>
            <p:cNvCxnSpPr/>
            <p:nvPr/>
          </p:nvCxnSpPr>
          <p:spPr>
            <a:xfrm>
              <a:off x="15893" y="9955"/>
              <a:ext cx="100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 name="直接连接符 315"/>
            <p:cNvCxnSpPr/>
            <p:nvPr/>
          </p:nvCxnSpPr>
          <p:spPr>
            <a:xfrm>
              <a:off x="16900" y="9738"/>
              <a:ext cx="0" cy="22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 name="直接连接符 316"/>
            <p:cNvCxnSpPr/>
            <p:nvPr/>
          </p:nvCxnSpPr>
          <p:spPr>
            <a:xfrm>
              <a:off x="16896" y="9742"/>
              <a:ext cx="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18" name="文本框 317"/>
            <p:cNvSpPr txBox="1"/>
            <p:nvPr/>
          </p:nvSpPr>
          <p:spPr>
            <a:xfrm>
              <a:off x="15929" y="9301"/>
              <a:ext cx="873" cy="46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DM</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sp>
        <p:nvSpPr>
          <p:cNvPr id="319" name="文本框 318"/>
          <p:cNvSpPr txBox="1"/>
          <p:nvPr/>
        </p:nvSpPr>
        <p:spPr>
          <a:xfrm>
            <a:off x="3691923" y="1927168"/>
            <a:ext cx="714286"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 1</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320" name="文本框 319"/>
          <p:cNvSpPr txBox="1"/>
          <p:nvPr/>
        </p:nvSpPr>
        <p:spPr>
          <a:xfrm>
            <a:off x="4574469" y="1924488"/>
            <a:ext cx="714286"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 2</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321" name="文本框 320"/>
          <p:cNvSpPr txBox="1"/>
          <p:nvPr/>
        </p:nvSpPr>
        <p:spPr>
          <a:xfrm>
            <a:off x="7330586" y="1927082"/>
            <a:ext cx="714286"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 5</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322" name="文本框 321"/>
          <p:cNvSpPr txBox="1"/>
          <p:nvPr/>
        </p:nvSpPr>
        <p:spPr>
          <a:xfrm>
            <a:off x="5539923" y="1921775"/>
            <a:ext cx="714286"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 3</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323" name="文本框 322"/>
          <p:cNvSpPr txBox="1"/>
          <p:nvPr/>
        </p:nvSpPr>
        <p:spPr>
          <a:xfrm>
            <a:off x="8275590" y="1927196"/>
            <a:ext cx="714286"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 6</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324" name="文本框 323"/>
          <p:cNvSpPr txBox="1"/>
          <p:nvPr/>
        </p:nvSpPr>
        <p:spPr>
          <a:xfrm>
            <a:off x="6420922" y="1921920"/>
            <a:ext cx="714286"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 4</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325" name="文本框 324"/>
          <p:cNvSpPr txBox="1"/>
          <p:nvPr/>
        </p:nvSpPr>
        <p:spPr>
          <a:xfrm>
            <a:off x="10137183" y="1922961"/>
            <a:ext cx="714286"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 8</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326" name="文本框 325"/>
          <p:cNvSpPr txBox="1"/>
          <p:nvPr/>
        </p:nvSpPr>
        <p:spPr>
          <a:xfrm>
            <a:off x="9238287" y="1922961"/>
            <a:ext cx="714286"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 7</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327" name="文本框 326"/>
          <p:cNvSpPr txBox="1"/>
          <p:nvPr/>
        </p:nvSpPr>
        <p:spPr>
          <a:xfrm>
            <a:off x="11151147" y="1934475"/>
            <a:ext cx="714286"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 9</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328" name="内容占位符 327"/>
          <p:cNvSpPr>
            <a:spLocks noGrp="1"/>
          </p:cNvSpPr>
          <p:nvPr>
            <p:ph idx="1"/>
          </p:nvPr>
        </p:nvSpPr>
        <p:spPr/>
        <p:txBody>
          <a:bodyPr/>
          <a:lstStyle/>
          <a:p>
            <a:pPr marL="0" indent="0" fontAlgn="auto">
              <a:lnSpc>
                <a:spcPct val="100000"/>
              </a:lnSpc>
              <a:buNone/>
            </a:pPr>
            <a:r>
              <a:rPr lang="en-US" altLang="zh-CN" sz="2800" dirty="0" err="1">
                <a:latin typeface="Times New Roman" panose="02020603050405020304" pitchFamily="18" charset="0"/>
                <a:cs typeface="Times New Roman" panose="02020603050405020304" pitchFamily="18" charset="0"/>
                <a:sym typeface="+mn-ea"/>
              </a:rPr>
              <a:t>Ripes</a:t>
            </a:r>
            <a:r>
              <a:rPr lang="zh-CN" altLang="en-US" sz="2400" dirty="0">
                <a:latin typeface="Times New Roman" panose="02020603050405020304" pitchFamily="18" charset="0"/>
                <a:cs typeface="Times New Roman" panose="02020603050405020304" pitchFamily="18" charset="0"/>
                <a:sym typeface="+mn-ea"/>
              </a:rPr>
              <a:t>：a graphical </a:t>
            </a:r>
            <a:r>
              <a:rPr lang="zh-CN" altLang="en-US" sz="2400" b="1" dirty="0">
                <a:solidFill>
                  <a:srgbClr val="FF0000"/>
                </a:solidFill>
                <a:latin typeface="Times New Roman" panose="02020603050405020304" pitchFamily="18" charset="0"/>
                <a:cs typeface="Times New Roman" panose="02020603050405020304" pitchFamily="18" charset="0"/>
                <a:sym typeface="+mn-ea"/>
              </a:rPr>
              <a:t>processor simulator</a:t>
            </a:r>
            <a:r>
              <a:rPr lang="zh-CN" altLang="en-US" sz="2400" dirty="0">
                <a:latin typeface="Times New Roman" panose="02020603050405020304" pitchFamily="18" charset="0"/>
                <a:cs typeface="Times New Roman" panose="02020603050405020304" pitchFamily="18" charset="0"/>
                <a:sym typeface="+mn-ea"/>
              </a:rPr>
              <a:t> and </a:t>
            </a:r>
            <a:r>
              <a:rPr lang="zh-CN" altLang="en-US" sz="2400" b="1" dirty="0">
                <a:solidFill>
                  <a:srgbClr val="0000FF"/>
                </a:solidFill>
                <a:latin typeface="Times New Roman" panose="02020603050405020304" pitchFamily="18" charset="0"/>
                <a:cs typeface="Times New Roman" panose="02020603050405020304" pitchFamily="18" charset="0"/>
                <a:sym typeface="+mn-ea"/>
              </a:rPr>
              <a:t>assembly code editor</a:t>
            </a:r>
            <a:r>
              <a:rPr lang="zh-CN" altLang="en-US" sz="2400" dirty="0">
                <a:latin typeface="Times New Roman" panose="02020603050405020304" pitchFamily="18" charset="0"/>
                <a:cs typeface="Times New Roman" panose="02020603050405020304" pitchFamily="18" charset="0"/>
                <a:sym typeface="+mn-ea"/>
              </a:rPr>
              <a:t> built for the RISC-V instruction set architecture  （https://gitee.com/shzhou_admin/Ripes）</a:t>
            </a:r>
          </a:p>
        </p:txBody>
      </p:sp>
      <p:grpSp>
        <p:nvGrpSpPr>
          <p:cNvPr id="12" name="组合 11">
            <a:extLst>
              <a:ext uri="{FF2B5EF4-FFF2-40B4-BE49-F238E27FC236}">
                <a16:creationId xmlns:a16="http://schemas.microsoft.com/office/drawing/2014/main" id="{ACF91C74-C218-5958-C538-CD52BB4EEDB9}"/>
              </a:ext>
            </a:extLst>
          </p:cNvPr>
          <p:cNvGrpSpPr/>
          <p:nvPr/>
        </p:nvGrpSpPr>
        <p:grpSpPr>
          <a:xfrm>
            <a:off x="6505575" y="2286635"/>
            <a:ext cx="928370" cy="844550"/>
            <a:chOff x="6505575" y="2286635"/>
            <a:chExt cx="928370" cy="844550"/>
          </a:xfrm>
        </p:grpSpPr>
        <p:sp>
          <p:nvSpPr>
            <p:cNvPr id="3" name="矩形 2">
              <a:extLst>
                <a:ext uri="{FF2B5EF4-FFF2-40B4-BE49-F238E27FC236}">
                  <a16:creationId xmlns:a16="http://schemas.microsoft.com/office/drawing/2014/main" id="{4C998020-ED14-DD83-067C-847236D7C0AA}"/>
                </a:ext>
              </a:extLst>
            </p:cNvPr>
            <p:cNvSpPr/>
            <p:nvPr/>
          </p:nvSpPr>
          <p:spPr>
            <a:xfrm>
              <a:off x="6897476" y="2539431"/>
              <a:ext cx="204184" cy="338244"/>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85" name="组合 84"/>
            <p:cNvGrpSpPr/>
            <p:nvPr/>
          </p:nvGrpSpPr>
          <p:grpSpPr>
            <a:xfrm>
              <a:off x="6505575" y="2286635"/>
              <a:ext cx="928370" cy="844550"/>
              <a:chOff x="15710" y="8914"/>
              <a:chExt cx="1462" cy="1330"/>
            </a:xfrm>
          </p:grpSpPr>
          <p:sp>
            <p:nvSpPr>
              <p:cNvPr id="86" name="矩形 85"/>
              <p:cNvSpPr/>
              <p:nvPr/>
            </p:nvSpPr>
            <p:spPr>
              <a:xfrm>
                <a:off x="16031" y="9315"/>
                <a:ext cx="618" cy="5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87" name="矩形 86"/>
              <p:cNvSpPr/>
              <p:nvPr/>
            </p:nvSpPr>
            <p:spPr>
              <a:xfrm>
                <a:off x="16978" y="8914"/>
                <a:ext cx="195" cy="1331"/>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cxnSp>
            <p:nvCxnSpPr>
              <p:cNvPr id="88" name="直接连接符 87"/>
              <p:cNvCxnSpPr/>
              <p:nvPr/>
            </p:nvCxnSpPr>
            <p:spPr>
              <a:xfrm>
                <a:off x="15710" y="9595"/>
                <a:ext cx="32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a:stCxn id="86" idx="3"/>
                <a:endCxn id="87" idx="1"/>
              </p:cNvCxnSpPr>
              <p:nvPr/>
            </p:nvCxnSpPr>
            <p:spPr>
              <a:xfrm flipV="1">
                <a:off x="16649" y="9580"/>
                <a:ext cx="329" cy="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15895" y="9600"/>
                <a:ext cx="0" cy="3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a:off x="15893" y="9955"/>
                <a:ext cx="100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a:off x="16900" y="9738"/>
                <a:ext cx="0" cy="22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a:off x="16896" y="9742"/>
                <a:ext cx="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a:xfrm>
                <a:off x="15929" y="9301"/>
                <a:ext cx="873" cy="46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DM</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grpSp>
        <p:nvGrpSpPr>
          <p:cNvPr id="13" name="组合 12">
            <a:extLst>
              <a:ext uri="{FF2B5EF4-FFF2-40B4-BE49-F238E27FC236}">
                <a16:creationId xmlns:a16="http://schemas.microsoft.com/office/drawing/2014/main" id="{F800ABCF-4B4D-9A8F-326B-2565C01E0FCE}"/>
              </a:ext>
            </a:extLst>
          </p:cNvPr>
          <p:cNvGrpSpPr/>
          <p:nvPr/>
        </p:nvGrpSpPr>
        <p:grpSpPr>
          <a:xfrm>
            <a:off x="9312275" y="4915535"/>
            <a:ext cx="928370" cy="844550"/>
            <a:chOff x="9312275" y="4915535"/>
            <a:chExt cx="928370" cy="844550"/>
          </a:xfrm>
        </p:grpSpPr>
        <p:sp>
          <p:nvSpPr>
            <p:cNvPr id="4" name="矩形 3">
              <a:extLst>
                <a:ext uri="{FF2B5EF4-FFF2-40B4-BE49-F238E27FC236}">
                  <a16:creationId xmlns:a16="http://schemas.microsoft.com/office/drawing/2014/main" id="{90DE0E05-EDBC-5D61-DA8D-6EC9B6480C2B}"/>
                </a:ext>
              </a:extLst>
            </p:cNvPr>
            <p:cNvSpPr/>
            <p:nvPr/>
          </p:nvSpPr>
          <p:spPr>
            <a:xfrm>
              <a:off x="9695392" y="5168337"/>
              <a:ext cx="204184" cy="338244"/>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58" name="组合 257"/>
            <p:cNvGrpSpPr/>
            <p:nvPr/>
          </p:nvGrpSpPr>
          <p:grpSpPr>
            <a:xfrm>
              <a:off x="9312275" y="4915535"/>
              <a:ext cx="928370" cy="844550"/>
              <a:chOff x="15710" y="8914"/>
              <a:chExt cx="1462" cy="1330"/>
            </a:xfrm>
          </p:grpSpPr>
          <p:sp>
            <p:nvSpPr>
              <p:cNvPr id="259" name="矩形 258"/>
              <p:cNvSpPr/>
              <p:nvPr/>
            </p:nvSpPr>
            <p:spPr>
              <a:xfrm>
                <a:off x="16031" y="9315"/>
                <a:ext cx="618" cy="5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260" name="矩形 259"/>
              <p:cNvSpPr/>
              <p:nvPr/>
            </p:nvSpPr>
            <p:spPr>
              <a:xfrm>
                <a:off x="16978" y="8914"/>
                <a:ext cx="195" cy="1331"/>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cxnSp>
            <p:nvCxnSpPr>
              <p:cNvPr id="261" name="直接连接符 260"/>
              <p:cNvCxnSpPr/>
              <p:nvPr/>
            </p:nvCxnSpPr>
            <p:spPr>
              <a:xfrm>
                <a:off x="15710" y="9595"/>
                <a:ext cx="322"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2" name="直接连接符 261"/>
              <p:cNvCxnSpPr>
                <a:stCxn id="259" idx="3"/>
                <a:endCxn id="260" idx="1"/>
              </p:cNvCxnSpPr>
              <p:nvPr/>
            </p:nvCxnSpPr>
            <p:spPr>
              <a:xfrm flipV="1">
                <a:off x="16649" y="9580"/>
                <a:ext cx="329" cy="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3" name="直接连接符 262"/>
              <p:cNvCxnSpPr/>
              <p:nvPr/>
            </p:nvCxnSpPr>
            <p:spPr>
              <a:xfrm>
                <a:off x="15895" y="9600"/>
                <a:ext cx="0" cy="3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4" name="直接连接符 263"/>
              <p:cNvCxnSpPr/>
              <p:nvPr/>
            </p:nvCxnSpPr>
            <p:spPr>
              <a:xfrm>
                <a:off x="15893" y="9955"/>
                <a:ext cx="100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5" name="直接连接符 264"/>
              <p:cNvCxnSpPr/>
              <p:nvPr/>
            </p:nvCxnSpPr>
            <p:spPr>
              <a:xfrm>
                <a:off x="16900" y="9738"/>
                <a:ext cx="0" cy="22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6" name="直接连接符 265"/>
              <p:cNvCxnSpPr/>
              <p:nvPr/>
            </p:nvCxnSpPr>
            <p:spPr>
              <a:xfrm>
                <a:off x="16896" y="9742"/>
                <a:ext cx="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67" name="文本框 266"/>
              <p:cNvSpPr txBox="1"/>
              <p:nvPr/>
            </p:nvSpPr>
            <p:spPr>
              <a:xfrm>
                <a:off x="15929" y="9301"/>
                <a:ext cx="873" cy="46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DM</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spTree>
    <p:extLst>
      <p:ext uri="{BB962C8B-B14F-4D97-AF65-F5344CB8AC3E}">
        <p14:creationId xmlns:p14="http://schemas.microsoft.com/office/powerpoint/2010/main" val="127728433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6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1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4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7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6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26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2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00"/>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7"/>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5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23"/>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34"/>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207"/>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251"/>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27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26"/>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89"/>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3"/>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302"/>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325"/>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240"/>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309"/>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327"/>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291"/>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2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3" grpId="0"/>
      <p:bldP spid="665" grpId="0"/>
      <p:bldP spid="6" grpId="0"/>
      <p:bldP spid="9" grpId="0"/>
      <p:bldP spid="165" grpId="0"/>
      <p:bldP spid="319" grpId="0"/>
      <p:bldP spid="320" grpId="0"/>
      <p:bldP spid="321" grpId="0"/>
      <p:bldP spid="322" grpId="0"/>
      <p:bldP spid="323" grpId="0"/>
      <p:bldP spid="324" grpId="0"/>
      <p:bldP spid="325" grpId="0"/>
      <p:bldP spid="326" grpId="0"/>
      <p:bldP spid="327" grpId="0"/>
      <p:bldP spid="328"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3"/>
          <p:cNvSpPr>
            <a:spLocks noGrp="1" noChangeArrowheads="1"/>
          </p:cNvSpPr>
          <p:nvPr>
            <p:ph idx="1"/>
          </p:nvPr>
        </p:nvSpPr>
        <p:spPr>
          <a:xfrm>
            <a:off x="838200" y="1009015"/>
            <a:ext cx="10515600" cy="369332"/>
          </a:xfrm>
          <a:noFill/>
        </p:spPr>
        <p:txBody>
          <a:bodyPr wrap="square" rtlCol="0">
            <a:spAutoFit/>
          </a:bodyPr>
          <a:lstStyle/>
          <a:p>
            <a:pPr marL="0"/>
            <a:r>
              <a:rPr lang="zh-CN" altLang="en-US" sz="1800" dirty="0">
                <a:latin typeface="Times New Roman" panose="02020603050405020304" pitchFamily="18" charset="0"/>
                <a:ea typeface="+mn-ea"/>
                <a:cs typeface="Times New Roman" panose="02020603050405020304" pitchFamily="18" charset="0"/>
              </a:rPr>
              <a:t>加入</a:t>
            </a:r>
            <a:r>
              <a:rPr lang="zh-CN" altLang="en-US" sz="1800" dirty="0">
                <a:solidFill>
                  <a:srgbClr val="0000FF"/>
                </a:solidFill>
                <a:latin typeface="Times New Roman" panose="02020603050405020304" pitchFamily="18" charset="0"/>
                <a:ea typeface="+mn-ea"/>
                <a:cs typeface="Times New Roman" panose="02020603050405020304" pitchFamily="18" charset="0"/>
              </a:rPr>
              <a:t>流水线寄存器</a:t>
            </a:r>
            <a:r>
              <a:rPr lang="en-US" altLang="zh-CN" sz="1800" dirty="0">
                <a:latin typeface="Times New Roman" panose="02020603050405020304" pitchFamily="18" charset="0"/>
                <a:ea typeface="+mn-ea"/>
                <a:cs typeface="Times New Roman" panose="02020603050405020304" pitchFamily="18" charset="0"/>
              </a:rPr>
              <a:t>——</a:t>
            </a:r>
            <a:r>
              <a:rPr lang="zh-CN" altLang="en-US" sz="1800" dirty="0">
                <a:latin typeface="Times New Roman" panose="02020603050405020304" pitchFamily="18" charset="0"/>
                <a:ea typeface="+mn-ea"/>
                <a:cs typeface="Times New Roman" panose="02020603050405020304" pitchFamily="18" charset="0"/>
              </a:rPr>
              <a:t>在流水线数据通路中，观察指令在不同周期的流动</a:t>
            </a:r>
            <a:endParaRPr lang="en-US" altLang="zh-CN" sz="1800" dirty="0">
              <a:latin typeface="Times New Roman" panose="02020603050405020304" pitchFamily="18" charset="0"/>
              <a:ea typeface="+mn-ea"/>
              <a:cs typeface="Times New Roman" panose="02020603050405020304" pitchFamily="18" charset="0"/>
            </a:endParaRPr>
          </a:p>
        </p:txBody>
      </p:sp>
      <p:sp>
        <p:nvSpPr>
          <p:cNvPr id="2" name="灯片编号占位符 1"/>
          <p:cNvSpPr>
            <a:spLocks noGrp="1"/>
          </p:cNvSpPr>
          <p:nvPr>
            <p:ph type="sldNum" sz="quarter" idx="12"/>
          </p:nvPr>
        </p:nvSpPr>
        <p:spPr>
          <a:xfrm>
            <a:off x="8610600" y="5851525"/>
            <a:ext cx="2743200" cy="365125"/>
          </a:xfrm>
        </p:spPr>
        <p:txBody>
          <a:bodyPr/>
          <a:lstStyle/>
          <a:p>
            <a:fld id="{8EE8E787-E6FE-45D8-9039-788B45E44EE7}" type="slidenum">
              <a:rPr lang="zh-CN" altLang="en-US" smtClean="0"/>
              <a:t>27</a:t>
            </a:fld>
            <a:endParaRPr lang="zh-CN" altLang="en-US" dirty="0"/>
          </a:p>
        </p:txBody>
      </p:sp>
      <p:sp>
        <p:nvSpPr>
          <p:cNvPr id="5" name="标题 4"/>
          <p:cNvSpPr>
            <a:spLocks noGrp="1"/>
          </p:cNvSpPr>
          <p:nvPr>
            <p:ph type="title"/>
          </p:nvPr>
        </p:nvSpPr>
        <p:spPr/>
        <p:txBody>
          <a:bodyPr/>
          <a:lstStyle/>
          <a:p>
            <a:r>
              <a:rPr lang="zh-CN" altLang="en-US" dirty="0"/>
              <a:t>观察采用</a:t>
            </a:r>
            <a:r>
              <a:rPr lang="zh-CN" altLang="en-US" dirty="0">
                <a:solidFill>
                  <a:srgbClr val="0000FF"/>
                </a:solidFill>
              </a:rPr>
              <a:t>流水线寄存器</a:t>
            </a:r>
            <a:r>
              <a:rPr lang="zh-CN" altLang="en-US" dirty="0"/>
              <a:t>的流水线操作</a:t>
            </a:r>
          </a:p>
        </p:txBody>
      </p:sp>
      <p:grpSp>
        <p:nvGrpSpPr>
          <p:cNvPr id="9233" name="指令"/>
          <p:cNvGrpSpPr/>
          <p:nvPr/>
        </p:nvGrpSpPr>
        <p:grpSpPr>
          <a:xfrm>
            <a:off x="3630604" y="1980187"/>
            <a:ext cx="4200124" cy="848518"/>
            <a:chOff x="3708787" y="2899251"/>
            <a:chExt cx="4562188" cy="1058188"/>
          </a:xfrm>
        </p:grpSpPr>
        <p:grpSp>
          <p:nvGrpSpPr>
            <p:cNvPr id="126" name="指令"/>
            <p:cNvGrpSpPr/>
            <p:nvPr/>
          </p:nvGrpSpPr>
          <p:grpSpPr>
            <a:xfrm>
              <a:off x="3751739" y="2899251"/>
              <a:ext cx="4403588" cy="1058188"/>
              <a:chOff x="4036219" y="4360386"/>
              <a:chExt cx="2411301" cy="579439"/>
            </a:xfrm>
          </p:grpSpPr>
          <p:grpSp>
            <p:nvGrpSpPr>
              <p:cNvPr id="7" name="组合 6"/>
              <p:cNvGrpSpPr/>
              <p:nvPr/>
            </p:nvGrpSpPr>
            <p:grpSpPr>
              <a:xfrm>
                <a:off x="4036219" y="4536600"/>
                <a:ext cx="233362" cy="230981"/>
                <a:chOff x="3459957" y="3198019"/>
                <a:chExt cx="233362" cy="230981"/>
              </a:xfrm>
            </p:grpSpPr>
            <p:sp>
              <p:nvSpPr>
                <p:cNvPr id="4" name="矩形 3"/>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矩形 7"/>
              <p:cNvSpPr/>
              <p:nvPr/>
            </p:nvSpPr>
            <p:spPr>
              <a:xfrm>
                <a:off x="4383088" y="4360386"/>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a:stCxn id="3"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3" name="组合 42"/>
              <p:cNvGrpSpPr/>
              <p:nvPr/>
            </p:nvGrpSpPr>
            <p:grpSpPr>
              <a:xfrm>
                <a:off x="4583677" y="4531622"/>
                <a:ext cx="224066" cy="235402"/>
                <a:chOff x="3971697" y="3537291"/>
                <a:chExt cx="224066" cy="235402"/>
              </a:xfrm>
            </p:grpSpPr>
            <p:sp>
              <p:nvSpPr>
                <p:cNvPr id="41" name="矩形 40"/>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5" name="直接连接符 14"/>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2" name="直接连接符 41"/>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任意多边形: 形状 44"/>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4935538" y="4362769"/>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5492751" y="4361974"/>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9" name="组合 48"/>
              <p:cNvGrpSpPr/>
              <p:nvPr/>
            </p:nvGrpSpPr>
            <p:grpSpPr>
              <a:xfrm>
                <a:off x="5688014" y="4536601"/>
                <a:ext cx="233362" cy="230981"/>
                <a:chOff x="3459957" y="3198019"/>
                <a:chExt cx="233362" cy="230981"/>
              </a:xfrm>
            </p:grpSpPr>
            <p:sp>
              <p:nvSpPr>
                <p:cNvPr id="50" name="矩形 49"/>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矩形 50"/>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2" name="矩形 51"/>
              <p:cNvSpPr/>
              <p:nvPr/>
            </p:nvSpPr>
            <p:spPr>
              <a:xfrm>
                <a:off x="6045593" y="4362768"/>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3" name="组合 52"/>
              <p:cNvGrpSpPr/>
              <p:nvPr/>
            </p:nvGrpSpPr>
            <p:grpSpPr>
              <a:xfrm rot="10800000">
                <a:off x="6224134" y="4529592"/>
                <a:ext cx="223386" cy="233308"/>
                <a:chOff x="3970449" y="3541712"/>
                <a:chExt cx="223386" cy="233308"/>
              </a:xfrm>
            </p:grpSpPr>
            <p:sp>
              <p:nvSpPr>
                <p:cNvPr id="54" name="矩形 53"/>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5" name="直接连接符 54"/>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0" name="直接连接符 89"/>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a:stCxn id="51" idx="3"/>
                <a:endCxn id="52"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231" name="文本框 9230"/>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9232" name="文本框 9231"/>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145" name="文本框 144"/>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146" name="文本框 145"/>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147" name="文本框 146"/>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449" name="指令"/>
          <p:cNvGrpSpPr/>
          <p:nvPr/>
        </p:nvGrpSpPr>
        <p:grpSpPr>
          <a:xfrm>
            <a:off x="4564054" y="2866012"/>
            <a:ext cx="4200124" cy="848518"/>
            <a:chOff x="3708787" y="2899251"/>
            <a:chExt cx="4562188" cy="1058188"/>
          </a:xfrm>
        </p:grpSpPr>
        <p:grpSp>
          <p:nvGrpSpPr>
            <p:cNvPr id="450" name="指令"/>
            <p:cNvGrpSpPr/>
            <p:nvPr/>
          </p:nvGrpSpPr>
          <p:grpSpPr>
            <a:xfrm>
              <a:off x="3751739" y="2899251"/>
              <a:ext cx="4403588" cy="1058188"/>
              <a:chOff x="4036219" y="4360386"/>
              <a:chExt cx="2411301" cy="579439"/>
            </a:xfrm>
          </p:grpSpPr>
          <p:grpSp>
            <p:nvGrpSpPr>
              <p:cNvPr id="456" name="组合 455"/>
              <p:cNvGrpSpPr/>
              <p:nvPr/>
            </p:nvGrpSpPr>
            <p:grpSpPr>
              <a:xfrm>
                <a:off x="4036219" y="4536600"/>
                <a:ext cx="233362" cy="230981"/>
                <a:chOff x="3459957" y="3198019"/>
                <a:chExt cx="233362" cy="230981"/>
              </a:xfrm>
            </p:grpSpPr>
            <p:sp>
              <p:nvSpPr>
                <p:cNvPr id="497" name="矩形 496"/>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98" name="矩形 497"/>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7" name="矩形 456"/>
              <p:cNvSpPr/>
              <p:nvPr/>
            </p:nvSpPr>
            <p:spPr>
              <a:xfrm>
                <a:off x="4383088" y="4360386"/>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8" name="直接连接符 457"/>
              <p:cNvCxnSpPr>
                <a:stCxn id="498"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59" name="组合 458"/>
              <p:cNvGrpSpPr/>
              <p:nvPr/>
            </p:nvGrpSpPr>
            <p:grpSpPr>
              <a:xfrm>
                <a:off x="4583677" y="4531622"/>
                <a:ext cx="224066" cy="235402"/>
                <a:chOff x="3971697" y="3537291"/>
                <a:chExt cx="224066" cy="235402"/>
              </a:xfrm>
            </p:grpSpPr>
            <p:sp>
              <p:nvSpPr>
                <p:cNvPr id="490" name="矩形 489"/>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91" name="直接连接符 490"/>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92" name="直接连接符 491"/>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93" name="直接连接符 492"/>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94" name="直接连接符 493"/>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5" name="直接连接符 494"/>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6" name="直接连接符 495"/>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0" name="直接连接符 459"/>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61" name="任意多边形: 形状 460"/>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2" name="矩形 461"/>
              <p:cNvSpPr/>
              <p:nvPr/>
            </p:nvSpPr>
            <p:spPr>
              <a:xfrm>
                <a:off x="4935538" y="4362769"/>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3" name="矩形 462"/>
              <p:cNvSpPr/>
              <p:nvPr/>
            </p:nvSpPr>
            <p:spPr>
              <a:xfrm>
                <a:off x="5492751" y="4361974"/>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9" name="矩形 488"/>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5" name="矩形 464"/>
              <p:cNvSpPr/>
              <p:nvPr/>
            </p:nvSpPr>
            <p:spPr>
              <a:xfrm>
                <a:off x="6045593" y="4362768"/>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66" name="组合 465"/>
              <p:cNvGrpSpPr/>
              <p:nvPr/>
            </p:nvGrpSpPr>
            <p:grpSpPr>
              <a:xfrm rot="10800000">
                <a:off x="6224134" y="4529592"/>
                <a:ext cx="223386" cy="233308"/>
                <a:chOff x="3970449" y="3541712"/>
                <a:chExt cx="223386" cy="233308"/>
              </a:xfrm>
            </p:grpSpPr>
            <p:sp>
              <p:nvSpPr>
                <p:cNvPr id="481" name="矩形 480"/>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82" name="直接连接符 481"/>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83" name="直接连接符 482"/>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84" name="直接连接符 483"/>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85" name="直接连接符 484"/>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6" name="直接连接符 485"/>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7" name="直接连接符 486"/>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7" name="直接连接符 466"/>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8" name="直接连接符 467"/>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9" name="直接连接符 468"/>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0" name="直接连接符 469"/>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1" name="直接连接符 470"/>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2" name="直接连接符 471"/>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3" name="直接连接符 472"/>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4" name="直接连接符 473"/>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5" name="直接连接符 474"/>
              <p:cNvCxnSpPr>
                <a:stCxn id="489" idx="3"/>
                <a:endCxn id="465"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6" name="直接连接符 475"/>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7" name="直接连接符 476"/>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8" name="直接连接符 477"/>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9" name="直接连接符 478"/>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0" name="直接连接符 479"/>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51" name="文本框 450"/>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452" name="文本框 451"/>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453" name="文本框 452"/>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454" name="文本框 453"/>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455" name="文本框 454"/>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499" name="指令"/>
          <p:cNvGrpSpPr/>
          <p:nvPr/>
        </p:nvGrpSpPr>
        <p:grpSpPr>
          <a:xfrm>
            <a:off x="5499428" y="3741317"/>
            <a:ext cx="4200124" cy="848518"/>
            <a:chOff x="3708787" y="2899251"/>
            <a:chExt cx="4562188" cy="1058188"/>
          </a:xfrm>
        </p:grpSpPr>
        <p:grpSp>
          <p:nvGrpSpPr>
            <p:cNvPr id="500" name="指令"/>
            <p:cNvGrpSpPr/>
            <p:nvPr/>
          </p:nvGrpSpPr>
          <p:grpSpPr>
            <a:xfrm>
              <a:off x="3751739" y="2899251"/>
              <a:ext cx="4403588" cy="1058188"/>
              <a:chOff x="4036219" y="4360386"/>
              <a:chExt cx="2411301" cy="579439"/>
            </a:xfrm>
          </p:grpSpPr>
          <p:grpSp>
            <p:nvGrpSpPr>
              <p:cNvPr id="506" name="组合 505"/>
              <p:cNvGrpSpPr/>
              <p:nvPr/>
            </p:nvGrpSpPr>
            <p:grpSpPr>
              <a:xfrm>
                <a:off x="4036219" y="4536600"/>
                <a:ext cx="233362" cy="230981"/>
                <a:chOff x="3459957" y="3198019"/>
                <a:chExt cx="233362" cy="230981"/>
              </a:xfrm>
            </p:grpSpPr>
            <p:sp>
              <p:nvSpPr>
                <p:cNvPr id="545" name="矩形 544"/>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6" name="矩形 545"/>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7" name="矩形 506"/>
              <p:cNvSpPr/>
              <p:nvPr/>
            </p:nvSpPr>
            <p:spPr>
              <a:xfrm>
                <a:off x="4383088" y="4360386"/>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08" name="直接连接符 507"/>
              <p:cNvCxnSpPr>
                <a:stCxn id="546"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09" name="组合 508"/>
              <p:cNvGrpSpPr/>
              <p:nvPr/>
            </p:nvGrpSpPr>
            <p:grpSpPr>
              <a:xfrm>
                <a:off x="4583677" y="4531622"/>
                <a:ext cx="224066" cy="235402"/>
                <a:chOff x="3971697" y="3537291"/>
                <a:chExt cx="224066" cy="235402"/>
              </a:xfrm>
            </p:grpSpPr>
            <p:sp>
              <p:nvSpPr>
                <p:cNvPr id="538" name="矩形 537"/>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39" name="直接连接符 538"/>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40" name="直接连接符 539"/>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41" name="直接连接符 540"/>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42" name="直接连接符 541"/>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3" name="直接连接符 542"/>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4" name="直接连接符 543"/>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10" name="直接连接符 509"/>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11" name="任意多边形: 形状 510"/>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2" name="矩形 511"/>
              <p:cNvSpPr/>
              <p:nvPr/>
            </p:nvSpPr>
            <p:spPr>
              <a:xfrm>
                <a:off x="4935538" y="4362769"/>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3" name="矩形 512"/>
              <p:cNvSpPr/>
              <p:nvPr/>
            </p:nvSpPr>
            <p:spPr>
              <a:xfrm>
                <a:off x="5492751" y="4361974"/>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4" name="矩形 513"/>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5" name="矩形 514"/>
              <p:cNvSpPr/>
              <p:nvPr/>
            </p:nvSpPr>
            <p:spPr>
              <a:xfrm>
                <a:off x="6045593" y="4362768"/>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16" name="组合 515"/>
              <p:cNvGrpSpPr/>
              <p:nvPr/>
            </p:nvGrpSpPr>
            <p:grpSpPr>
              <a:xfrm rot="10800000">
                <a:off x="6224134" y="4529592"/>
                <a:ext cx="223386" cy="233308"/>
                <a:chOff x="3970449" y="3541712"/>
                <a:chExt cx="223386" cy="233308"/>
              </a:xfrm>
            </p:grpSpPr>
            <p:sp>
              <p:nvSpPr>
                <p:cNvPr id="531" name="矩形 530"/>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32" name="直接连接符 531"/>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33" name="直接连接符 532"/>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34" name="直接连接符 533"/>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35" name="直接连接符 534"/>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6" name="直接连接符 535"/>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7" name="直接连接符 536"/>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17" name="直接连接符 516"/>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8" name="直接连接符 517"/>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9" name="直接连接符 518"/>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0" name="直接连接符 519"/>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1" name="直接连接符 520"/>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2" name="直接连接符 521"/>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3" name="直接连接符 522"/>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4" name="直接连接符 523"/>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5" name="直接连接符 524"/>
              <p:cNvCxnSpPr>
                <a:stCxn id="514" idx="3"/>
                <a:endCxn id="515"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6" name="直接连接符 525"/>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7" name="直接连接符 526"/>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8" name="直接连接符 527"/>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9" name="直接连接符 528"/>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0" name="直接连接符 529"/>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01" name="文本框 500"/>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502" name="文本框 501"/>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503" name="文本框 502"/>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504" name="文本框 503"/>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505" name="文本框 504"/>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547" name="指令"/>
          <p:cNvGrpSpPr/>
          <p:nvPr/>
        </p:nvGrpSpPr>
        <p:grpSpPr>
          <a:xfrm>
            <a:off x="6430252" y="4618541"/>
            <a:ext cx="4200124" cy="848518"/>
            <a:chOff x="3708787" y="2899251"/>
            <a:chExt cx="4562188" cy="1058188"/>
          </a:xfrm>
        </p:grpSpPr>
        <p:grpSp>
          <p:nvGrpSpPr>
            <p:cNvPr id="548" name="指令"/>
            <p:cNvGrpSpPr/>
            <p:nvPr/>
          </p:nvGrpSpPr>
          <p:grpSpPr>
            <a:xfrm>
              <a:off x="3751739" y="2899251"/>
              <a:ext cx="4403588" cy="1058188"/>
              <a:chOff x="4036219" y="4360386"/>
              <a:chExt cx="2411301" cy="579439"/>
            </a:xfrm>
          </p:grpSpPr>
          <p:grpSp>
            <p:nvGrpSpPr>
              <p:cNvPr id="554" name="组合 553"/>
              <p:cNvGrpSpPr/>
              <p:nvPr/>
            </p:nvGrpSpPr>
            <p:grpSpPr>
              <a:xfrm>
                <a:off x="4036219" y="4536600"/>
                <a:ext cx="233362" cy="230981"/>
                <a:chOff x="3459957" y="3198019"/>
                <a:chExt cx="233362" cy="230981"/>
              </a:xfrm>
            </p:grpSpPr>
            <p:sp>
              <p:nvSpPr>
                <p:cNvPr id="595" name="矩形 594"/>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6" name="矩形 595"/>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55" name="矩形 554"/>
              <p:cNvSpPr/>
              <p:nvPr/>
            </p:nvSpPr>
            <p:spPr>
              <a:xfrm>
                <a:off x="4383088" y="4360386"/>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56" name="直接连接符 555"/>
              <p:cNvCxnSpPr>
                <a:stCxn id="596"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57" name="组合 556"/>
              <p:cNvGrpSpPr/>
              <p:nvPr/>
            </p:nvGrpSpPr>
            <p:grpSpPr>
              <a:xfrm>
                <a:off x="4583677" y="4531622"/>
                <a:ext cx="224066" cy="235402"/>
                <a:chOff x="3971697" y="3537291"/>
                <a:chExt cx="224066" cy="235402"/>
              </a:xfrm>
            </p:grpSpPr>
            <p:sp>
              <p:nvSpPr>
                <p:cNvPr id="588" name="矩形 587"/>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89" name="直接连接符 588"/>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90" name="直接连接符 589"/>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91" name="直接连接符 590"/>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92" name="直接连接符 591"/>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3" name="直接连接符 592"/>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4" name="直接连接符 593"/>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58" name="直接连接符 557"/>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59" name="任意多边形: 形状 558"/>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0" name="矩形 559"/>
              <p:cNvSpPr/>
              <p:nvPr/>
            </p:nvSpPr>
            <p:spPr>
              <a:xfrm>
                <a:off x="4935538" y="4362769"/>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1" name="矩形 560"/>
              <p:cNvSpPr/>
              <p:nvPr/>
            </p:nvSpPr>
            <p:spPr>
              <a:xfrm>
                <a:off x="5492751" y="4361974"/>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62" name="组合 561"/>
              <p:cNvGrpSpPr/>
              <p:nvPr/>
            </p:nvGrpSpPr>
            <p:grpSpPr>
              <a:xfrm>
                <a:off x="5688014" y="4536601"/>
                <a:ext cx="233362" cy="230981"/>
                <a:chOff x="3459957" y="3198019"/>
                <a:chExt cx="233362" cy="230981"/>
              </a:xfrm>
            </p:grpSpPr>
            <p:sp>
              <p:nvSpPr>
                <p:cNvPr id="586" name="矩形 585"/>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7" name="矩形 586"/>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63" name="矩形 562"/>
              <p:cNvSpPr/>
              <p:nvPr/>
            </p:nvSpPr>
            <p:spPr>
              <a:xfrm>
                <a:off x="6045593" y="4362768"/>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64" name="组合 563"/>
              <p:cNvGrpSpPr/>
              <p:nvPr/>
            </p:nvGrpSpPr>
            <p:grpSpPr>
              <a:xfrm rot="10800000">
                <a:off x="6224134" y="4529592"/>
                <a:ext cx="223386" cy="233308"/>
                <a:chOff x="3970449" y="3541712"/>
                <a:chExt cx="223386" cy="233308"/>
              </a:xfrm>
            </p:grpSpPr>
            <p:sp>
              <p:nvSpPr>
                <p:cNvPr id="579" name="矩形 578"/>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80" name="直接连接符 579"/>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81" name="直接连接符 580"/>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82" name="直接连接符 581"/>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83" name="直接连接符 582"/>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4" name="直接连接符 583"/>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5" name="直接连接符 584"/>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65" name="直接连接符 564"/>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6" name="直接连接符 565"/>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7" name="直接连接符 566"/>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8" name="直接连接符 567"/>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9" name="直接连接符 568"/>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0" name="直接连接符 569"/>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1" name="直接连接符 570"/>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2" name="直接连接符 571"/>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3" name="直接连接符 572"/>
              <p:cNvCxnSpPr>
                <a:stCxn id="587" idx="3"/>
                <a:endCxn id="563"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4" name="直接连接符 573"/>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5" name="直接连接符 574"/>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6" name="直接连接符 575"/>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7" name="直接连接符 576"/>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8" name="直接连接符 577"/>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49" name="文本框 548"/>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550" name="文本框 549"/>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551" name="文本框 550"/>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552" name="文本框 551"/>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553" name="文本框 552"/>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597" name="指令"/>
          <p:cNvGrpSpPr/>
          <p:nvPr/>
        </p:nvGrpSpPr>
        <p:grpSpPr>
          <a:xfrm>
            <a:off x="7363446" y="5504657"/>
            <a:ext cx="4200124" cy="848518"/>
            <a:chOff x="3708787" y="2899251"/>
            <a:chExt cx="4562188" cy="1058188"/>
          </a:xfrm>
        </p:grpSpPr>
        <p:grpSp>
          <p:nvGrpSpPr>
            <p:cNvPr id="598" name="指令"/>
            <p:cNvGrpSpPr/>
            <p:nvPr/>
          </p:nvGrpSpPr>
          <p:grpSpPr>
            <a:xfrm>
              <a:off x="3751739" y="2899251"/>
              <a:ext cx="4403588" cy="1058188"/>
              <a:chOff x="4036219" y="4360386"/>
              <a:chExt cx="2411301" cy="579439"/>
            </a:xfrm>
          </p:grpSpPr>
          <p:grpSp>
            <p:nvGrpSpPr>
              <p:cNvPr id="604" name="组合 603"/>
              <p:cNvGrpSpPr/>
              <p:nvPr/>
            </p:nvGrpSpPr>
            <p:grpSpPr>
              <a:xfrm>
                <a:off x="4036219" y="4536600"/>
                <a:ext cx="233362" cy="230981"/>
                <a:chOff x="3459957" y="3198019"/>
                <a:chExt cx="233362" cy="230981"/>
              </a:xfrm>
            </p:grpSpPr>
            <p:sp>
              <p:nvSpPr>
                <p:cNvPr id="643" name="矩形 642"/>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44" name="矩形 643"/>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05" name="矩形 604"/>
              <p:cNvSpPr/>
              <p:nvPr/>
            </p:nvSpPr>
            <p:spPr>
              <a:xfrm>
                <a:off x="4383088" y="4360386"/>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06" name="直接连接符 605"/>
              <p:cNvCxnSpPr>
                <a:stCxn id="644"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07" name="组合 606"/>
              <p:cNvGrpSpPr/>
              <p:nvPr/>
            </p:nvGrpSpPr>
            <p:grpSpPr>
              <a:xfrm>
                <a:off x="4583677" y="4531622"/>
                <a:ext cx="224066" cy="235402"/>
                <a:chOff x="3971697" y="3537291"/>
                <a:chExt cx="224066" cy="235402"/>
              </a:xfrm>
            </p:grpSpPr>
            <p:sp>
              <p:nvSpPr>
                <p:cNvPr id="636" name="矩形 635"/>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37" name="直接连接符 636"/>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38" name="直接连接符 637"/>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39" name="直接连接符 638"/>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40" name="直接连接符 639"/>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1" name="直接连接符 640"/>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2" name="直接连接符 641"/>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08" name="直接连接符 607"/>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09" name="任意多边形: 形状 608"/>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0" name="矩形 609"/>
              <p:cNvSpPr/>
              <p:nvPr/>
            </p:nvSpPr>
            <p:spPr>
              <a:xfrm>
                <a:off x="4935538" y="4362769"/>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1" name="矩形 610"/>
              <p:cNvSpPr/>
              <p:nvPr/>
            </p:nvSpPr>
            <p:spPr>
              <a:xfrm>
                <a:off x="5492751" y="4361974"/>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2" name="矩形 611"/>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3" name="矩形 612"/>
              <p:cNvSpPr/>
              <p:nvPr/>
            </p:nvSpPr>
            <p:spPr>
              <a:xfrm>
                <a:off x="6045593" y="4362768"/>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14" name="组合 613"/>
              <p:cNvGrpSpPr/>
              <p:nvPr/>
            </p:nvGrpSpPr>
            <p:grpSpPr>
              <a:xfrm rot="10800000">
                <a:off x="6224134" y="4529592"/>
                <a:ext cx="223386" cy="233308"/>
                <a:chOff x="3970449" y="3541712"/>
                <a:chExt cx="223386" cy="233308"/>
              </a:xfrm>
            </p:grpSpPr>
            <p:sp>
              <p:nvSpPr>
                <p:cNvPr id="629" name="矩形 628"/>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30" name="直接连接符 629"/>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31" name="直接连接符 630"/>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32" name="直接连接符 631"/>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33" name="直接连接符 632"/>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4" name="直接连接符 633"/>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5" name="直接连接符 634"/>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15" name="直接连接符 614"/>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6" name="直接连接符 615"/>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7" name="直接连接符 616"/>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8" name="直接连接符 617"/>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9" name="直接连接符 618"/>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0" name="直接连接符 619"/>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1" name="直接连接符 620"/>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2" name="直接连接符 621"/>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3" name="直接连接符 622"/>
              <p:cNvCxnSpPr>
                <a:stCxn id="612" idx="3"/>
                <a:endCxn id="613"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4" name="直接连接符 623"/>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5" name="直接连接符 624"/>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6" name="直接连接符 625"/>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7" name="直接连接符 626"/>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8" name="直接连接符 627"/>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99" name="文本框 598"/>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600" name="文本框 599"/>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601" name="文本框 600"/>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602" name="文本框 601"/>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603" name="文本框 602"/>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9236" name="时间轴"/>
          <p:cNvGrpSpPr/>
          <p:nvPr/>
        </p:nvGrpSpPr>
        <p:grpSpPr>
          <a:xfrm>
            <a:off x="1523277" y="1468635"/>
            <a:ext cx="10253256" cy="637393"/>
            <a:chOff x="1018781" y="1939249"/>
            <a:chExt cx="10253256" cy="637393"/>
          </a:xfrm>
        </p:grpSpPr>
        <p:cxnSp>
          <p:nvCxnSpPr>
            <p:cNvPr id="645" name="直接箭头连接符 644"/>
            <p:cNvCxnSpPr/>
            <p:nvPr/>
          </p:nvCxnSpPr>
          <p:spPr>
            <a:xfrm>
              <a:off x="3629769" y="2185186"/>
              <a:ext cx="7510315"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sp>
          <p:nvSpPr>
            <p:cNvPr id="9234" name="文本框 9233"/>
            <p:cNvSpPr txBox="1"/>
            <p:nvPr/>
          </p:nvSpPr>
          <p:spPr>
            <a:xfrm>
              <a:off x="3047727" y="2207282"/>
              <a:ext cx="714286" cy="369332"/>
            </a:xfrm>
            <a:prstGeom prst="rect">
              <a:avLst/>
            </a:prstGeom>
            <a:noFill/>
          </p:spPr>
          <p:txBody>
            <a:bodyPr wrap="square" rtlCol="0">
              <a:spAutoFit/>
            </a:bodyPr>
            <a:lstStyle/>
            <a:p>
              <a:r>
                <a:rPr lang="en-US" altLang="zh-CN" dirty="0"/>
                <a:t>CC 1</a:t>
              </a:r>
              <a:endParaRPr lang="zh-CN" altLang="en-US" dirty="0"/>
            </a:p>
          </p:txBody>
        </p:sp>
        <p:sp>
          <p:nvSpPr>
            <p:cNvPr id="647" name="文本框 646"/>
            <p:cNvSpPr txBox="1"/>
            <p:nvPr/>
          </p:nvSpPr>
          <p:spPr>
            <a:xfrm>
              <a:off x="3981073" y="2204602"/>
              <a:ext cx="714286" cy="369332"/>
            </a:xfrm>
            <a:prstGeom prst="rect">
              <a:avLst/>
            </a:prstGeom>
            <a:noFill/>
          </p:spPr>
          <p:txBody>
            <a:bodyPr wrap="square" rtlCol="0">
              <a:spAutoFit/>
            </a:bodyPr>
            <a:lstStyle/>
            <a:p>
              <a:r>
                <a:rPr lang="en-US" altLang="zh-CN" dirty="0"/>
                <a:t>CC 2</a:t>
              </a:r>
              <a:endParaRPr lang="zh-CN" altLang="en-US" dirty="0"/>
            </a:p>
          </p:txBody>
        </p:sp>
        <p:sp>
          <p:nvSpPr>
            <p:cNvPr id="648" name="文本框 647"/>
            <p:cNvSpPr txBox="1"/>
            <p:nvPr/>
          </p:nvSpPr>
          <p:spPr>
            <a:xfrm>
              <a:off x="6737190" y="2207196"/>
              <a:ext cx="714286" cy="369332"/>
            </a:xfrm>
            <a:prstGeom prst="rect">
              <a:avLst/>
            </a:prstGeom>
            <a:noFill/>
          </p:spPr>
          <p:txBody>
            <a:bodyPr wrap="square" rtlCol="0">
              <a:spAutoFit/>
            </a:bodyPr>
            <a:lstStyle/>
            <a:p>
              <a:r>
                <a:rPr lang="en-US" altLang="zh-CN" dirty="0"/>
                <a:t>CC 5</a:t>
              </a:r>
              <a:endParaRPr lang="zh-CN" altLang="en-US" dirty="0"/>
            </a:p>
          </p:txBody>
        </p:sp>
        <p:sp>
          <p:nvSpPr>
            <p:cNvPr id="649" name="文本框 648"/>
            <p:cNvSpPr txBox="1"/>
            <p:nvPr/>
          </p:nvSpPr>
          <p:spPr>
            <a:xfrm>
              <a:off x="4946527" y="2201889"/>
              <a:ext cx="714286" cy="369332"/>
            </a:xfrm>
            <a:prstGeom prst="rect">
              <a:avLst/>
            </a:prstGeom>
            <a:noFill/>
          </p:spPr>
          <p:txBody>
            <a:bodyPr wrap="square" rtlCol="0">
              <a:spAutoFit/>
            </a:bodyPr>
            <a:lstStyle/>
            <a:p>
              <a:r>
                <a:rPr lang="en-US" altLang="zh-CN" dirty="0"/>
                <a:t>CC 3</a:t>
              </a:r>
              <a:endParaRPr lang="zh-CN" altLang="en-US" dirty="0"/>
            </a:p>
          </p:txBody>
        </p:sp>
        <p:sp>
          <p:nvSpPr>
            <p:cNvPr id="650" name="文本框 649"/>
            <p:cNvSpPr txBox="1"/>
            <p:nvPr/>
          </p:nvSpPr>
          <p:spPr>
            <a:xfrm>
              <a:off x="7682194" y="2207310"/>
              <a:ext cx="714286" cy="369332"/>
            </a:xfrm>
            <a:prstGeom prst="rect">
              <a:avLst/>
            </a:prstGeom>
            <a:noFill/>
          </p:spPr>
          <p:txBody>
            <a:bodyPr wrap="square" rtlCol="0">
              <a:spAutoFit/>
            </a:bodyPr>
            <a:lstStyle/>
            <a:p>
              <a:r>
                <a:rPr lang="en-US" altLang="zh-CN" dirty="0"/>
                <a:t>CC 6</a:t>
              </a:r>
              <a:endParaRPr lang="zh-CN" altLang="en-US" dirty="0"/>
            </a:p>
          </p:txBody>
        </p:sp>
        <p:sp>
          <p:nvSpPr>
            <p:cNvPr id="651" name="文本框 650"/>
            <p:cNvSpPr txBox="1"/>
            <p:nvPr/>
          </p:nvSpPr>
          <p:spPr>
            <a:xfrm>
              <a:off x="5827526" y="2202034"/>
              <a:ext cx="714286" cy="369332"/>
            </a:xfrm>
            <a:prstGeom prst="rect">
              <a:avLst/>
            </a:prstGeom>
            <a:noFill/>
          </p:spPr>
          <p:txBody>
            <a:bodyPr wrap="square" rtlCol="0">
              <a:spAutoFit/>
            </a:bodyPr>
            <a:lstStyle/>
            <a:p>
              <a:r>
                <a:rPr lang="en-US" altLang="zh-CN" dirty="0"/>
                <a:t>CC 4</a:t>
              </a:r>
              <a:endParaRPr lang="zh-CN" altLang="en-US" dirty="0"/>
            </a:p>
          </p:txBody>
        </p:sp>
        <p:sp>
          <p:nvSpPr>
            <p:cNvPr id="652" name="文本框 651"/>
            <p:cNvSpPr txBox="1"/>
            <p:nvPr/>
          </p:nvSpPr>
          <p:spPr>
            <a:xfrm>
              <a:off x="9543787" y="2203075"/>
              <a:ext cx="714286" cy="369332"/>
            </a:xfrm>
            <a:prstGeom prst="rect">
              <a:avLst/>
            </a:prstGeom>
            <a:noFill/>
          </p:spPr>
          <p:txBody>
            <a:bodyPr wrap="square" rtlCol="0">
              <a:spAutoFit/>
            </a:bodyPr>
            <a:lstStyle/>
            <a:p>
              <a:r>
                <a:rPr lang="en-US" altLang="zh-CN" dirty="0"/>
                <a:t>CC 8</a:t>
              </a:r>
              <a:endParaRPr lang="zh-CN" altLang="en-US" dirty="0"/>
            </a:p>
          </p:txBody>
        </p:sp>
        <p:sp>
          <p:nvSpPr>
            <p:cNvPr id="653" name="文本框 652"/>
            <p:cNvSpPr txBox="1"/>
            <p:nvPr/>
          </p:nvSpPr>
          <p:spPr>
            <a:xfrm>
              <a:off x="8644891" y="2203075"/>
              <a:ext cx="714286" cy="369332"/>
            </a:xfrm>
            <a:prstGeom prst="rect">
              <a:avLst/>
            </a:prstGeom>
            <a:noFill/>
          </p:spPr>
          <p:txBody>
            <a:bodyPr wrap="square" rtlCol="0">
              <a:spAutoFit/>
            </a:bodyPr>
            <a:lstStyle/>
            <a:p>
              <a:r>
                <a:rPr lang="en-US" altLang="zh-CN" dirty="0"/>
                <a:t>CC 7</a:t>
              </a:r>
              <a:endParaRPr lang="zh-CN" altLang="en-US" dirty="0"/>
            </a:p>
          </p:txBody>
        </p:sp>
        <p:sp>
          <p:nvSpPr>
            <p:cNvPr id="655" name="文本框 654"/>
            <p:cNvSpPr txBox="1"/>
            <p:nvPr/>
          </p:nvSpPr>
          <p:spPr>
            <a:xfrm>
              <a:off x="10557751" y="2201889"/>
              <a:ext cx="714286" cy="369332"/>
            </a:xfrm>
            <a:prstGeom prst="rect">
              <a:avLst/>
            </a:prstGeom>
            <a:noFill/>
          </p:spPr>
          <p:txBody>
            <a:bodyPr wrap="square" rtlCol="0">
              <a:spAutoFit/>
            </a:bodyPr>
            <a:lstStyle/>
            <a:p>
              <a:r>
                <a:rPr lang="en-US" altLang="zh-CN" dirty="0"/>
                <a:t>CC 9</a:t>
              </a:r>
              <a:endParaRPr lang="zh-CN" altLang="en-US" dirty="0"/>
            </a:p>
          </p:txBody>
        </p:sp>
        <p:sp>
          <p:nvSpPr>
            <p:cNvPr id="9235" name="文本框 9234"/>
            <p:cNvSpPr txBox="1"/>
            <p:nvPr/>
          </p:nvSpPr>
          <p:spPr>
            <a:xfrm>
              <a:off x="1018781" y="1939249"/>
              <a:ext cx="2690023" cy="400110"/>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Time (in clock cycles)</a:t>
              </a:r>
              <a:endParaRPr lang="zh-CN" altLang="en-US" sz="2000" dirty="0">
                <a:latin typeface="Times New Roman" panose="02020603050405020304" pitchFamily="18" charset="0"/>
                <a:cs typeface="Times New Roman" panose="02020603050405020304" pitchFamily="18" charset="0"/>
              </a:endParaRPr>
            </a:p>
          </p:txBody>
        </p:sp>
      </p:grpSp>
      <p:grpSp>
        <p:nvGrpSpPr>
          <p:cNvPr id="9239" name="组合 9238"/>
          <p:cNvGrpSpPr/>
          <p:nvPr/>
        </p:nvGrpSpPr>
        <p:grpSpPr>
          <a:xfrm>
            <a:off x="168025" y="2256356"/>
            <a:ext cx="3235797" cy="3875677"/>
            <a:chOff x="-136952" y="2814440"/>
            <a:chExt cx="3235797" cy="3875677"/>
          </a:xfrm>
        </p:grpSpPr>
        <p:grpSp>
          <p:nvGrpSpPr>
            <p:cNvPr id="658" name="Program"/>
            <p:cNvGrpSpPr/>
            <p:nvPr/>
          </p:nvGrpSpPr>
          <p:grpSpPr>
            <a:xfrm>
              <a:off x="-136952" y="2814440"/>
              <a:ext cx="3201509" cy="3690235"/>
              <a:chOff x="-539913" y="3119259"/>
              <a:chExt cx="3201509" cy="3690235"/>
            </a:xfrm>
          </p:grpSpPr>
          <p:cxnSp>
            <p:nvCxnSpPr>
              <p:cNvPr id="659" name="直接箭头连接符 658"/>
              <p:cNvCxnSpPr/>
              <p:nvPr/>
            </p:nvCxnSpPr>
            <p:spPr>
              <a:xfrm>
                <a:off x="908204" y="3285024"/>
                <a:ext cx="0" cy="352447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660" name="文本框 659"/>
              <p:cNvSpPr txBox="1"/>
              <p:nvPr/>
            </p:nvSpPr>
            <p:spPr>
              <a:xfrm>
                <a:off x="-539913" y="3119259"/>
                <a:ext cx="2046532" cy="1323439"/>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Program execution </a:t>
                </a:r>
              </a:p>
              <a:p>
                <a:r>
                  <a:rPr lang="en-US" altLang="zh-CN" sz="2000" dirty="0">
                    <a:latin typeface="Times New Roman" panose="02020603050405020304" pitchFamily="18" charset="0"/>
                    <a:cs typeface="Times New Roman" panose="02020603050405020304" pitchFamily="18" charset="0"/>
                  </a:rPr>
                  <a:t>order  (in </a:t>
                </a:r>
              </a:p>
              <a:p>
                <a:r>
                  <a:rPr lang="en-US" altLang="zh-CN" sz="2000" dirty="0">
                    <a:latin typeface="Times New Roman" panose="02020603050405020304" pitchFamily="18" charset="0"/>
                    <a:cs typeface="Times New Roman" panose="02020603050405020304" pitchFamily="18" charset="0"/>
                  </a:rPr>
                  <a:t>instructions)</a:t>
                </a:r>
                <a:endParaRPr lang="zh-CN" altLang="en-US" sz="2000" dirty="0">
                  <a:latin typeface="Times New Roman" panose="02020603050405020304" pitchFamily="18" charset="0"/>
                  <a:cs typeface="Times New Roman" panose="02020603050405020304" pitchFamily="18" charset="0"/>
                </a:endParaRPr>
              </a:p>
            </p:txBody>
          </p:sp>
          <p:sp>
            <p:nvSpPr>
              <p:cNvPr id="661" name="文本框 660"/>
              <p:cNvSpPr txBox="1"/>
              <p:nvPr/>
            </p:nvSpPr>
            <p:spPr>
              <a:xfrm>
                <a:off x="1087359" y="3142925"/>
                <a:ext cx="1560018" cy="369332"/>
              </a:xfrm>
              <a:prstGeom prst="rect">
                <a:avLst/>
              </a:prstGeom>
              <a:noFill/>
            </p:spPr>
            <p:txBody>
              <a:bodyPr wrap="square" rtlCol="0">
                <a:spAutoFit/>
              </a:bodyPr>
              <a:lstStyle/>
              <a:p>
                <a:r>
                  <a:rPr lang="en-US" altLang="zh-CN" dirty="0" err="1">
                    <a:latin typeface="Times New Roman" panose="02020603050405020304" pitchFamily="18" charset="0"/>
                    <a:cs typeface="Times New Roman" panose="02020603050405020304" pitchFamily="18" charset="0"/>
                  </a:rPr>
                  <a:t>ld</a:t>
                </a:r>
                <a:r>
                  <a:rPr lang="en-US" altLang="zh-CN" dirty="0">
                    <a:latin typeface="Times New Roman" panose="02020603050405020304" pitchFamily="18" charset="0"/>
                    <a:cs typeface="Times New Roman" panose="02020603050405020304" pitchFamily="18" charset="0"/>
                  </a:rPr>
                  <a:t> </a:t>
                </a:r>
                <a:r>
                  <a:rPr lang="en-US" altLang="zh-CN" dirty="0">
                    <a:solidFill>
                      <a:srgbClr val="0000FF"/>
                    </a:solidFill>
                    <a:latin typeface="Times New Roman" panose="02020603050405020304" pitchFamily="18" charset="0"/>
                    <a:cs typeface="Times New Roman" panose="02020603050405020304" pitchFamily="18" charset="0"/>
                  </a:rPr>
                  <a:t>x10</a:t>
                </a:r>
                <a:r>
                  <a:rPr lang="en-US" altLang="zh-CN" dirty="0">
                    <a:latin typeface="Times New Roman" panose="02020603050405020304" pitchFamily="18" charset="0"/>
                    <a:cs typeface="Times New Roman" panose="02020603050405020304" pitchFamily="18" charset="0"/>
                  </a:rPr>
                  <a:t>,40(x1)</a:t>
                </a:r>
                <a:endParaRPr lang="zh-CN" altLang="en-US" dirty="0">
                  <a:latin typeface="Times New Roman" panose="02020603050405020304" pitchFamily="18" charset="0"/>
                  <a:cs typeface="Times New Roman" panose="02020603050405020304" pitchFamily="18" charset="0"/>
                </a:endParaRPr>
              </a:p>
            </p:txBody>
          </p:sp>
          <p:sp>
            <p:nvSpPr>
              <p:cNvPr id="662" name="文本框 661"/>
              <p:cNvSpPr txBox="1"/>
              <p:nvPr/>
            </p:nvSpPr>
            <p:spPr>
              <a:xfrm>
                <a:off x="1101578" y="3981943"/>
                <a:ext cx="1560018" cy="369332"/>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r>
                  <a:rPr lang="en-US" altLang="zh-CN" dirty="0"/>
                  <a:t>sub x11,x2,x3</a:t>
                </a:r>
                <a:endParaRPr lang="zh-CN" altLang="en-US" dirty="0"/>
              </a:p>
            </p:txBody>
          </p:sp>
        </p:grpSp>
        <p:sp>
          <p:nvSpPr>
            <p:cNvPr id="663" name="文本框 662"/>
            <p:cNvSpPr txBox="1"/>
            <p:nvPr/>
          </p:nvSpPr>
          <p:spPr>
            <a:xfrm>
              <a:off x="1504958" y="4507365"/>
              <a:ext cx="1560018" cy="369332"/>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r>
                <a:rPr lang="en-US" altLang="zh-CN" dirty="0"/>
                <a:t>add x12,x3,x4 </a:t>
              </a:r>
              <a:endParaRPr lang="zh-CN" altLang="en-US" dirty="0"/>
            </a:p>
          </p:txBody>
        </p:sp>
        <p:sp>
          <p:nvSpPr>
            <p:cNvPr id="664" name="文本框 663"/>
            <p:cNvSpPr txBox="1"/>
            <p:nvPr/>
          </p:nvSpPr>
          <p:spPr>
            <a:xfrm>
              <a:off x="1502454" y="5434669"/>
              <a:ext cx="1560018" cy="369332"/>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r>
                <a:rPr lang="en-US" altLang="zh-CN" dirty="0" err="1"/>
                <a:t>ld</a:t>
              </a:r>
              <a:r>
                <a:rPr lang="en-US" altLang="zh-CN" dirty="0"/>
                <a:t> </a:t>
              </a:r>
              <a:r>
                <a:rPr lang="en-US" altLang="zh-CN" dirty="0">
                  <a:solidFill>
                    <a:srgbClr val="0000FF"/>
                  </a:solidFill>
                </a:rPr>
                <a:t>x13</a:t>
              </a:r>
              <a:r>
                <a:rPr lang="en-US" altLang="zh-CN" dirty="0"/>
                <a:t>,48(x1) </a:t>
              </a:r>
              <a:endParaRPr lang="zh-CN" altLang="en-US" dirty="0"/>
            </a:p>
          </p:txBody>
        </p:sp>
        <p:sp>
          <p:nvSpPr>
            <p:cNvPr id="665" name="文本框 664"/>
            <p:cNvSpPr txBox="1"/>
            <p:nvPr/>
          </p:nvSpPr>
          <p:spPr>
            <a:xfrm>
              <a:off x="1538827" y="6320785"/>
              <a:ext cx="1560018" cy="369332"/>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r>
                <a:rPr lang="en-US" altLang="zh-CN" dirty="0"/>
                <a:t>add x14,x5,x6</a:t>
              </a:r>
              <a:endParaRPr lang="zh-CN" altLang="en-US" dirty="0"/>
            </a:p>
          </p:txBody>
        </p:sp>
      </p:grpSp>
      <p:sp>
        <p:nvSpPr>
          <p:cNvPr id="270" name="灯片编号占位符 2"/>
          <p:cNvSpPr txBox="1">
            <a:spLocks/>
          </p:cNvSpPr>
          <p:nvPr/>
        </p:nvSpPr>
        <p:spPr>
          <a:xfrm>
            <a:off x="10729588" y="6356350"/>
            <a:ext cx="624212"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EE8E787-E6FE-45D8-9039-788B45E44EE7}" type="slidenum">
              <a:rPr lang="zh-CN" altLang="en-US" smtClean="0">
                <a:solidFill>
                  <a:prstClr val="black">
                    <a:tint val="75000"/>
                  </a:prstClr>
                </a:solidFill>
                <a:latin typeface="等线" panose="02010600030101010101" charset="-122"/>
                <a:ea typeface="等线" panose="02010600030101010101" charset="-122"/>
              </a:rPr>
              <a:pPr>
                <a:defRPr/>
              </a:pPr>
              <a:t>27</a:t>
            </a:fld>
            <a:endParaRPr lang="zh-CN" altLang="en-US" dirty="0">
              <a:solidFill>
                <a:prstClr val="black">
                  <a:tint val="75000"/>
                </a:prstClr>
              </a:solidFill>
              <a:latin typeface="等线" panose="02010600030101010101" charset="-122"/>
              <a:ea typeface="等线" panose="02010600030101010101" charset="-122"/>
            </a:endParaRPr>
          </a:p>
        </p:txBody>
      </p:sp>
      <p:cxnSp>
        <p:nvCxnSpPr>
          <p:cNvPr id="9" name="直接箭头连接符 8"/>
          <p:cNvCxnSpPr/>
          <p:nvPr/>
        </p:nvCxnSpPr>
        <p:spPr>
          <a:xfrm flipH="1" flipV="1">
            <a:off x="2943225" y="1343025"/>
            <a:ext cx="1434221" cy="637162"/>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nvGrpSpPr>
          <p:cNvPr id="284" name="组合 283">
            <a:extLst>
              <a:ext uri="{FF2B5EF4-FFF2-40B4-BE49-F238E27FC236}">
                <a16:creationId xmlns:a16="http://schemas.microsoft.com/office/drawing/2014/main" id="{D9C89321-CD37-4693-B1FC-0C5C0F43E129}"/>
              </a:ext>
            </a:extLst>
          </p:cNvPr>
          <p:cNvGrpSpPr/>
          <p:nvPr/>
        </p:nvGrpSpPr>
        <p:grpSpPr>
          <a:xfrm>
            <a:off x="4108074" y="2723812"/>
            <a:ext cx="635647" cy="606462"/>
            <a:chOff x="7319483" y="6149946"/>
            <a:chExt cx="635647" cy="606462"/>
          </a:xfrm>
        </p:grpSpPr>
        <p:sp>
          <p:nvSpPr>
            <p:cNvPr id="285" name="等腰三角形 284">
              <a:extLst>
                <a:ext uri="{FF2B5EF4-FFF2-40B4-BE49-F238E27FC236}">
                  <a16:creationId xmlns:a16="http://schemas.microsoft.com/office/drawing/2014/main" id="{AEC3C03C-5403-4686-A7F4-F78F8883F0C2}"/>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86" name="直接连接符 285">
              <a:extLst>
                <a:ext uri="{FF2B5EF4-FFF2-40B4-BE49-F238E27FC236}">
                  <a16:creationId xmlns:a16="http://schemas.microsoft.com/office/drawing/2014/main" id="{53BEEF10-1B99-4BB8-A557-6A8A977C7302}"/>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287" name="文本框 286">
              <a:extLst>
                <a:ext uri="{FF2B5EF4-FFF2-40B4-BE49-F238E27FC236}">
                  <a16:creationId xmlns:a16="http://schemas.microsoft.com/office/drawing/2014/main" id="{D331A441-C6E1-4B14-BDF8-9EBFABC9F50D}"/>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21" name="组合 20"/>
          <p:cNvGrpSpPr/>
          <p:nvPr/>
        </p:nvGrpSpPr>
        <p:grpSpPr>
          <a:xfrm>
            <a:off x="3193559" y="2593816"/>
            <a:ext cx="1019741" cy="467160"/>
            <a:chOff x="3193559" y="2593816"/>
            <a:chExt cx="1019741" cy="467160"/>
          </a:xfrm>
        </p:grpSpPr>
        <p:sp>
          <p:nvSpPr>
            <p:cNvPr id="290" name="文本框 289"/>
            <p:cNvSpPr txBox="1"/>
            <p:nvPr/>
          </p:nvSpPr>
          <p:spPr>
            <a:xfrm>
              <a:off x="3193559" y="2691644"/>
              <a:ext cx="633310"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altLang="zh-CN" dirty="0"/>
                <a:t>1</a:t>
              </a:r>
              <a:r>
                <a:rPr lang="zh-CN" altLang="en-US" dirty="0"/>
                <a:t>号</a:t>
              </a:r>
            </a:p>
          </p:txBody>
        </p:sp>
        <p:cxnSp>
          <p:nvCxnSpPr>
            <p:cNvPr id="13" name="直接箭头连接符 12"/>
            <p:cNvCxnSpPr>
              <a:endCxn id="290" idx="3"/>
            </p:cNvCxnSpPr>
            <p:nvPr/>
          </p:nvCxnSpPr>
          <p:spPr>
            <a:xfrm flipH="1">
              <a:off x="3826869" y="2593816"/>
              <a:ext cx="386431" cy="282494"/>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6355446" y="5163795"/>
            <a:ext cx="635759" cy="469288"/>
            <a:chOff x="6355446" y="5163795"/>
            <a:chExt cx="635759" cy="469288"/>
          </a:xfrm>
        </p:grpSpPr>
        <p:sp>
          <p:nvSpPr>
            <p:cNvPr id="289" name="文本框 288"/>
            <p:cNvSpPr txBox="1"/>
            <p:nvPr/>
          </p:nvSpPr>
          <p:spPr>
            <a:xfrm>
              <a:off x="6355446" y="5263751"/>
              <a:ext cx="633310"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altLang="zh-CN" dirty="0"/>
                <a:t>1</a:t>
              </a:r>
              <a:r>
                <a:rPr lang="zh-CN" altLang="en-US" dirty="0"/>
                <a:t>号</a:t>
              </a:r>
            </a:p>
          </p:txBody>
        </p:sp>
        <p:cxnSp>
          <p:nvCxnSpPr>
            <p:cNvPr id="16" name="直接箭头连接符 15"/>
            <p:cNvCxnSpPr/>
            <p:nvPr/>
          </p:nvCxnSpPr>
          <p:spPr>
            <a:xfrm flipH="1">
              <a:off x="6882215" y="5163795"/>
              <a:ext cx="108990" cy="99956"/>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7249669" y="2102659"/>
            <a:ext cx="1322160" cy="393897"/>
            <a:chOff x="7249669" y="2102659"/>
            <a:chExt cx="1322160" cy="393897"/>
          </a:xfrm>
        </p:grpSpPr>
        <p:sp>
          <p:nvSpPr>
            <p:cNvPr id="10" name="文本框 9"/>
            <p:cNvSpPr txBox="1"/>
            <p:nvPr/>
          </p:nvSpPr>
          <p:spPr>
            <a:xfrm>
              <a:off x="7938519" y="2127224"/>
              <a:ext cx="633310"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altLang="zh-CN" dirty="0"/>
                <a:t>4</a:t>
              </a:r>
              <a:r>
                <a:rPr lang="zh-CN" altLang="en-US" dirty="0"/>
                <a:t>号</a:t>
              </a:r>
            </a:p>
          </p:txBody>
        </p:sp>
        <p:cxnSp>
          <p:nvCxnSpPr>
            <p:cNvPr id="20" name="直接箭头连接符 19"/>
            <p:cNvCxnSpPr/>
            <p:nvPr/>
          </p:nvCxnSpPr>
          <p:spPr>
            <a:xfrm>
              <a:off x="7249669" y="2102659"/>
              <a:ext cx="646079" cy="71608"/>
            </a:xfrm>
            <a:prstGeom prst="straightConnector1">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sp>
        <p:nvSpPr>
          <p:cNvPr id="300" name="矩形 299"/>
          <p:cNvSpPr/>
          <p:nvPr/>
        </p:nvSpPr>
        <p:spPr>
          <a:xfrm>
            <a:off x="8551512" y="2108598"/>
            <a:ext cx="893193" cy="369332"/>
          </a:xfrm>
          <a:prstGeom prst="rect">
            <a:avLst/>
          </a:prstGeom>
        </p:spPr>
        <p:txBody>
          <a:bodyPr wrap="none">
            <a:spAutoFit/>
          </a:bodyPr>
          <a:lstStyle/>
          <a:p>
            <a:r>
              <a:rPr lang="en-US" altLang="zh-CN" b="1" dirty="0" err="1">
                <a:solidFill>
                  <a:srgbClr val="FF0000"/>
                </a:solidFill>
                <a:latin typeface="Times New Roman" panose="02020603050405020304" pitchFamily="18" charset="0"/>
                <a:cs typeface="Times New Roman" panose="02020603050405020304" pitchFamily="18" charset="0"/>
              </a:rPr>
              <a:t>rd</a:t>
            </a:r>
            <a:r>
              <a:rPr lang="en-US" altLang="zh-CN" b="1" dirty="0">
                <a:solidFill>
                  <a:srgbClr val="FF0000"/>
                </a:solidFill>
                <a:latin typeface="Times New Roman" panose="02020603050405020304" pitchFamily="18" charset="0"/>
                <a:cs typeface="Times New Roman" panose="02020603050405020304" pitchFamily="18" charset="0"/>
              </a:rPr>
              <a:t>=x10</a:t>
            </a:r>
            <a:endParaRPr lang="zh-CN" altLang="en-US" dirty="0">
              <a:solidFill>
                <a:srgbClr val="FF0000"/>
              </a:solidFill>
            </a:endParaRPr>
          </a:p>
        </p:txBody>
      </p:sp>
      <p:sp>
        <p:nvSpPr>
          <p:cNvPr id="301" name="矩形 300"/>
          <p:cNvSpPr/>
          <p:nvPr/>
        </p:nvSpPr>
        <p:spPr>
          <a:xfrm>
            <a:off x="5477189" y="5301594"/>
            <a:ext cx="893193" cy="369332"/>
          </a:xfrm>
          <a:prstGeom prst="rect">
            <a:avLst/>
          </a:prstGeom>
        </p:spPr>
        <p:txBody>
          <a:bodyPr wrap="none">
            <a:spAutoFit/>
          </a:bodyPr>
          <a:lstStyle/>
          <a:p>
            <a:r>
              <a:rPr lang="en-US" altLang="zh-CN" b="1" dirty="0" err="1">
                <a:solidFill>
                  <a:srgbClr val="FF0000"/>
                </a:solidFill>
                <a:latin typeface="Times New Roman" panose="02020603050405020304" pitchFamily="18" charset="0"/>
                <a:cs typeface="Times New Roman" panose="02020603050405020304" pitchFamily="18" charset="0"/>
              </a:rPr>
              <a:t>rd</a:t>
            </a:r>
            <a:r>
              <a:rPr lang="en-US" altLang="zh-CN" b="1" dirty="0">
                <a:solidFill>
                  <a:srgbClr val="FF0000"/>
                </a:solidFill>
                <a:latin typeface="Times New Roman" panose="02020603050405020304" pitchFamily="18" charset="0"/>
                <a:cs typeface="Times New Roman" panose="02020603050405020304" pitchFamily="18" charset="0"/>
              </a:rPr>
              <a:t>=x13</a:t>
            </a:r>
            <a:endParaRPr lang="zh-CN" altLang="en-US"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4"/>
                                        </p:tgtEl>
                                        <p:attrNameLst>
                                          <p:attrName>style.visibility</p:attrName>
                                        </p:attrNameLst>
                                      </p:cBhvr>
                                      <p:to>
                                        <p:strVal val="visible"/>
                                      </p:to>
                                    </p:set>
                                    <p:animEffect transition="in" filter="fade">
                                      <p:cBhvr>
                                        <p:cTn id="12" dur="500"/>
                                        <p:tgtEl>
                                          <p:spTgt spid="28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00"/>
                                        </p:tgtEl>
                                        <p:attrNameLst>
                                          <p:attrName>style.visibility</p:attrName>
                                        </p:attrNameLst>
                                      </p:cBhvr>
                                      <p:to>
                                        <p:strVal val="visible"/>
                                      </p:to>
                                    </p:set>
                                    <p:animEffect transition="in" filter="fade">
                                      <p:cBhvr>
                                        <p:cTn id="20" dur="500"/>
                                        <p:tgtEl>
                                          <p:spTgt spid="30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500"/>
                                        <p:tgtEl>
                                          <p:spTgt spid="2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01"/>
                                        </p:tgtEl>
                                        <p:attrNameLst>
                                          <p:attrName>style.visibility</p:attrName>
                                        </p:attrNameLst>
                                      </p:cBhvr>
                                      <p:to>
                                        <p:strVal val="visible"/>
                                      </p:to>
                                    </p:set>
                                    <p:animEffect transition="in" filter="fade">
                                      <p:cBhvr>
                                        <p:cTn id="33" dur="500"/>
                                        <p:tgtEl>
                                          <p:spTgt spid="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 grpId="0"/>
      <p:bldP spid="30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3"/>
          <p:cNvSpPr>
            <a:spLocks noGrp="1" noChangeArrowheads="1"/>
          </p:cNvSpPr>
          <p:nvPr>
            <p:ph idx="1"/>
          </p:nvPr>
        </p:nvSpPr>
        <p:spPr>
          <a:xfrm>
            <a:off x="293451" y="956083"/>
            <a:ext cx="10515600" cy="5263515"/>
          </a:xfrm>
        </p:spPr>
        <p:txBody>
          <a:bodyPr>
            <a:normAutofit/>
          </a:bodyPr>
          <a:lstStyle/>
          <a:p>
            <a:pPr eaLnBrk="1" hangingPunct="1">
              <a:lnSpc>
                <a:spcPct val="150000"/>
              </a:lnSpc>
            </a:pPr>
            <a:r>
              <a:rPr lang="zh-CN" altLang="en-US" dirty="0"/>
              <a:t>在流水线数据通路中，观察指令在不同周期的流动</a:t>
            </a:r>
            <a:endParaRPr lang="en-US" altLang="zh-CN" dirty="0"/>
          </a:p>
          <a:p>
            <a:pPr lvl="1" eaLnBrk="1" hangingPunct="1">
              <a:lnSpc>
                <a:spcPct val="150000"/>
              </a:lnSpc>
            </a:pPr>
            <a:r>
              <a:rPr lang="zh-CN" altLang="en-US" dirty="0"/>
              <a:t>单时钟周期流水线图（一个时钟周期的</a:t>
            </a:r>
            <a:r>
              <a:rPr lang="zh-CN" altLang="en-US" dirty="0">
                <a:solidFill>
                  <a:srgbClr val="0000FF"/>
                </a:solidFill>
              </a:rPr>
              <a:t>垂直切片</a:t>
            </a:r>
            <a:r>
              <a:rPr lang="zh-CN" altLang="en-US" dirty="0"/>
              <a:t>）</a:t>
            </a:r>
            <a:endParaRPr lang="en-US" altLang="zh-CN" dirty="0"/>
          </a:p>
          <a:p>
            <a:pPr lvl="2">
              <a:lnSpc>
                <a:spcPct val="150000"/>
              </a:lnSpc>
            </a:pPr>
            <a:r>
              <a:rPr lang="zh-CN" altLang="en-US" dirty="0"/>
              <a:t>展现流水线在指定时钟周期上每条指令对数据通路的使用情况</a:t>
            </a:r>
            <a:endParaRPr lang="en-US" altLang="zh-CN" dirty="0"/>
          </a:p>
          <a:p>
            <a:pPr lvl="2">
              <a:lnSpc>
                <a:spcPct val="150000"/>
              </a:lnSpc>
            </a:pPr>
            <a:r>
              <a:rPr lang="zh-CN" altLang="en-US" dirty="0">
                <a:solidFill>
                  <a:srgbClr val="0000FF"/>
                </a:solidFill>
              </a:rPr>
              <a:t>高亮表示使用到的硬件资源</a:t>
            </a:r>
            <a:endParaRPr lang="en-US" altLang="zh-CN" dirty="0">
              <a:solidFill>
                <a:srgbClr val="0000FF"/>
              </a:solidFill>
            </a:endParaRPr>
          </a:p>
          <a:p>
            <a:pPr lvl="1">
              <a:lnSpc>
                <a:spcPct val="150000"/>
              </a:lnSpc>
            </a:pPr>
            <a:r>
              <a:rPr lang="zh-CN" altLang="en-US" dirty="0"/>
              <a:t>多时钟周期流水线图</a:t>
            </a:r>
            <a:endParaRPr lang="en-US" altLang="zh-CN" dirty="0"/>
          </a:p>
          <a:p>
            <a:pPr lvl="2">
              <a:lnSpc>
                <a:spcPct val="150000"/>
              </a:lnSpc>
            </a:pPr>
            <a:r>
              <a:rPr lang="zh-CN" altLang="en-US" dirty="0"/>
              <a:t>展现一段时间的情况</a:t>
            </a:r>
            <a:endParaRPr lang="en-US" altLang="en-US" dirty="0"/>
          </a:p>
        </p:txBody>
      </p:sp>
      <p:sp>
        <p:nvSpPr>
          <p:cNvPr id="2" name="灯片编号占位符 1"/>
          <p:cNvSpPr>
            <a:spLocks noGrp="1"/>
          </p:cNvSpPr>
          <p:nvPr>
            <p:ph type="sldNum" sz="quarter" idx="12"/>
          </p:nvPr>
        </p:nvSpPr>
        <p:spPr>
          <a:xfrm>
            <a:off x="9256644" y="6418126"/>
            <a:ext cx="2743200" cy="365125"/>
          </a:xfrm>
        </p:spPr>
        <p:txBody>
          <a:bodyPr/>
          <a:lstStyle/>
          <a:p>
            <a:fld id="{8EE8E787-E6FE-45D8-9039-788B45E44EE7}" type="slidenum">
              <a:rPr lang="zh-CN" altLang="en-US" smtClean="0"/>
              <a:t>28</a:t>
            </a:fld>
            <a:endParaRPr lang="zh-CN" altLang="en-US" dirty="0"/>
          </a:p>
        </p:txBody>
      </p:sp>
      <p:sp>
        <p:nvSpPr>
          <p:cNvPr id="5" name="标题 4"/>
          <p:cNvSpPr>
            <a:spLocks noGrp="1"/>
          </p:cNvSpPr>
          <p:nvPr>
            <p:ph type="title"/>
          </p:nvPr>
        </p:nvSpPr>
        <p:spPr/>
        <p:txBody>
          <a:bodyPr/>
          <a:lstStyle/>
          <a:p>
            <a:r>
              <a:rPr lang="zh-CN" altLang="en-US" dirty="0"/>
              <a:t>观察流水线操作</a:t>
            </a:r>
          </a:p>
        </p:txBody>
      </p:sp>
      <p:pic>
        <p:nvPicPr>
          <p:cNvPr id="3" name="图片 2"/>
          <p:cNvPicPr>
            <a:picLocks noChangeAspect="1"/>
          </p:cNvPicPr>
          <p:nvPr/>
        </p:nvPicPr>
        <p:blipFill>
          <a:blip r:embed="rId3"/>
          <a:stretch>
            <a:fillRect/>
          </a:stretch>
        </p:blipFill>
        <p:spPr>
          <a:xfrm>
            <a:off x="4456673" y="3625099"/>
            <a:ext cx="7165243" cy="3044058"/>
          </a:xfrm>
          <a:prstGeom prst="rect">
            <a:avLst/>
          </a:prstGeom>
          <a:ln w="28575"/>
        </p:spPr>
        <p:style>
          <a:lnRef idx="2">
            <a:schemeClr val="accent5"/>
          </a:lnRef>
          <a:fillRef idx="1">
            <a:schemeClr val="lt1"/>
          </a:fillRef>
          <a:effectRef idx="0">
            <a:schemeClr val="accent5"/>
          </a:effectRef>
          <a:fontRef idx="minor">
            <a:schemeClr val="dk1"/>
          </a:fontRef>
        </p:style>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20">
                                            <p:txEl>
                                              <p:pRg st="1" end="1"/>
                                            </p:txEl>
                                          </p:spTgt>
                                        </p:tgtEl>
                                        <p:attrNameLst>
                                          <p:attrName>style.visibility</p:attrName>
                                        </p:attrNameLst>
                                      </p:cBhvr>
                                      <p:to>
                                        <p:strVal val="visible"/>
                                      </p:to>
                                    </p:set>
                                    <p:animEffect transition="in" filter="fade">
                                      <p:cBhvr>
                                        <p:cTn id="7" dur="500"/>
                                        <p:tgtEl>
                                          <p:spTgt spid="9220">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220">
                                            <p:txEl>
                                              <p:pRg st="2" end="2"/>
                                            </p:txEl>
                                          </p:spTgt>
                                        </p:tgtEl>
                                        <p:attrNameLst>
                                          <p:attrName>style.visibility</p:attrName>
                                        </p:attrNameLst>
                                      </p:cBhvr>
                                      <p:to>
                                        <p:strVal val="visible"/>
                                      </p:to>
                                    </p:set>
                                    <p:animEffect transition="in" filter="fade">
                                      <p:cBhvr>
                                        <p:cTn id="10" dur="500"/>
                                        <p:tgtEl>
                                          <p:spTgt spid="9220">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220">
                                            <p:txEl>
                                              <p:pRg st="3" end="3"/>
                                            </p:txEl>
                                          </p:spTgt>
                                        </p:tgtEl>
                                        <p:attrNameLst>
                                          <p:attrName>style.visibility</p:attrName>
                                        </p:attrNameLst>
                                      </p:cBhvr>
                                      <p:to>
                                        <p:strVal val="visible"/>
                                      </p:to>
                                    </p:set>
                                    <p:animEffect transition="in" filter="fade">
                                      <p:cBhvr>
                                        <p:cTn id="13" dur="500"/>
                                        <p:tgtEl>
                                          <p:spTgt spid="9220">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9220">
                                            <p:txEl>
                                              <p:pRg st="4" end="4"/>
                                            </p:txEl>
                                          </p:spTgt>
                                        </p:tgtEl>
                                        <p:attrNameLst>
                                          <p:attrName>style.visibility</p:attrName>
                                        </p:attrNameLst>
                                      </p:cBhvr>
                                      <p:to>
                                        <p:strVal val="visible"/>
                                      </p:to>
                                    </p:set>
                                    <p:animEffect transition="in" filter="fade">
                                      <p:cBhvr>
                                        <p:cTn id="18" dur="500"/>
                                        <p:tgtEl>
                                          <p:spTgt spid="9220">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9220">
                                            <p:txEl>
                                              <p:pRg st="5" end="5"/>
                                            </p:txEl>
                                          </p:spTgt>
                                        </p:tgtEl>
                                        <p:attrNameLst>
                                          <p:attrName>style.visibility</p:attrName>
                                        </p:attrNameLst>
                                      </p:cBhvr>
                                      <p:to>
                                        <p:strVal val="visible"/>
                                      </p:to>
                                    </p:set>
                                    <p:animEffect transition="in" filter="fade">
                                      <p:cBhvr>
                                        <p:cTn id="21" dur="500"/>
                                        <p:tgtEl>
                                          <p:spTgt spid="922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r>
              <a:rPr lang="zh-CN" altLang="en-US" dirty="0">
                <a:solidFill>
                  <a:srgbClr val="0000FF"/>
                </a:solidFill>
              </a:rPr>
              <a:t>流水线寄存器：</a:t>
            </a:r>
            <a:r>
              <a:rPr kumimoji="0" lang="zh-CN" altLang="en-US"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保存前一个阶段产生的信息</a:t>
            </a:r>
            <a:endParaRPr kumimoji="0" lang="en-US" altLang="zh-CN" sz="28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a:p>
            <a:pPr marL="628650" indent="-266700"/>
            <a:r>
              <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rPr>
              <a:t>数据写入受时钟控制</a:t>
            </a:r>
            <a:endParaRPr kumimoji="0" lang="en-US" altLang="zh-CN"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a:p>
            <a:pPr lvl="1"/>
            <a:endPar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a:p>
            <a:endParaRPr lang="zh-CN" altLang="en-US" dirty="0"/>
          </a:p>
        </p:txBody>
      </p:sp>
      <p:grpSp>
        <p:nvGrpSpPr>
          <p:cNvPr id="5" name="组合 4"/>
          <p:cNvGrpSpPr/>
          <p:nvPr/>
        </p:nvGrpSpPr>
        <p:grpSpPr>
          <a:xfrm>
            <a:off x="570968" y="2165550"/>
            <a:ext cx="11253523" cy="4358440"/>
            <a:chOff x="634468" y="2363436"/>
            <a:chExt cx="11253523" cy="4358440"/>
          </a:xfrm>
        </p:grpSpPr>
        <p:grpSp>
          <p:nvGrpSpPr>
            <p:cNvPr id="18" name="Instruction memory"/>
            <p:cNvGrpSpPr/>
            <p:nvPr/>
          </p:nvGrpSpPr>
          <p:grpSpPr>
            <a:xfrm>
              <a:off x="2190719" y="4138365"/>
              <a:ext cx="1142439" cy="1017764"/>
              <a:chOff x="2263385" y="3407372"/>
              <a:chExt cx="1470915" cy="1193839"/>
            </a:xfrm>
          </p:grpSpPr>
          <p:sp>
            <p:nvSpPr>
              <p:cNvPr id="8" name="矩形 7"/>
              <p:cNvSpPr/>
              <p:nvPr/>
            </p:nvSpPr>
            <p:spPr>
              <a:xfrm>
                <a:off x="2333823" y="3448051"/>
                <a:ext cx="1400477" cy="11531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 name="文本框 11"/>
              <p:cNvSpPr txBox="1"/>
              <p:nvPr/>
            </p:nvSpPr>
            <p:spPr>
              <a:xfrm>
                <a:off x="2263385" y="3407372"/>
                <a:ext cx="1319245"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15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0" name="PC"/>
            <p:cNvGrpSpPr/>
            <p:nvPr/>
          </p:nvGrpSpPr>
          <p:grpSpPr>
            <a:xfrm>
              <a:off x="1612553" y="3940651"/>
              <a:ext cx="508932" cy="707887"/>
              <a:chOff x="792726" y="4754327"/>
              <a:chExt cx="1018662" cy="607761"/>
            </a:xfrm>
          </p:grpSpPr>
          <p:sp>
            <p:nvSpPr>
              <p:cNvPr id="15" name="矩形 14"/>
              <p:cNvSpPr/>
              <p:nvPr/>
            </p:nvSpPr>
            <p:spPr>
              <a:xfrm>
                <a:off x="887030" y="4800600"/>
                <a:ext cx="639939" cy="50292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9" name="文本框 18"/>
              <p:cNvSpPr txBox="1"/>
              <p:nvPr/>
            </p:nvSpPr>
            <p:spPr>
              <a:xfrm>
                <a:off x="792726" y="4754327"/>
                <a:ext cx="1018662" cy="607761"/>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PC</a:t>
                </a:r>
                <a:endParaRPr kumimoji="0" lang="zh-CN" alt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4" name="Add"/>
            <p:cNvGrpSpPr/>
            <p:nvPr/>
          </p:nvGrpSpPr>
          <p:grpSpPr>
            <a:xfrm>
              <a:off x="2449297" y="2889823"/>
              <a:ext cx="655949" cy="822349"/>
              <a:chOff x="4656246" y="4140786"/>
              <a:chExt cx="743403" cy="964617"/>
            </a:xfrm>
          </p:grpSpPr>
          <p:sp>
            <p:nvSpPr>
              <p:cNvPr id="22" name="梯形 21"/>
              <p:cNvSpPr/>
              <p:nvPr/>
            </p:nvSpPr>
            <p:spPr>
              <a:xfrm rot="5400000">
                <a:off x="4538209" y="4329347"/>
                <a:ext cx="964617" cy="587495"/>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3" name="文本框 22"/>
              <p:cNvSpPr txBox="1"/>
              <p:nvPr/>
            </p:nvSpPr>
            <p:spPr>
              <a:xfrm>
                <a:off x="4656246" y="4371481"/>
                <a:ext cx="743403"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36" name="IF/ID"/>
            <p:cNvGrpSpPr/>
            <p:nvPr/>
          </p:nvGrpSpPr>
          <p:grpSpPr>
            <a:xfrm>
              <a:off x="3269920" y="2439254"/>
              <a:ext cx="797013" cy="4114272"/>
              <a:chOff x="80200" y="450828"/>
              <a:chExt cx="955165" cy="5944486"/>
            </a:xfrm>
          </p:grpSpPr>
          <p:sp>
            <p:nvSpPr>
              <p:cNvPr id="34" name="矩形 33"/>
              <p:cNvSpPr/>
              <p:nvPr/>
            </p:nvSpPr>
            <p:spPr>
              <a:xfrm>
                <a:off x="358141" y="937259"/>
                <a:ext cx="358140" cy="5458055"/>
              </a:xfrm>
              <a:prstGeom prst="rect">
                <a:avLst/>
              </a:prstGeom>
              <a:solidFill>
                <a:srgbClr val="9CDCF9"/>
              </a:solidFill>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5" name="文本框 34"/>
              <p:cNvSpPr txBox="1"/>
              <p:nvPr/>
            </p:nvSpPr>
            <p:spPr>
              <a:xfrm>
                <a:off x="80200" y="450828"/>
                <a:ext cx="955165" cy="578097"/>
              </a:xfrm>
              <a:prstGeom prst="rect">
                <a:avLst/>
              </a:prstGeom>
              <a:ln w="25400">
                <a:noFill/>
              </a:ln>
            </p:spPr>
            <p:style>
              <a:lnRef idx="1">
                <a:schemeClr val="accent1"/>
              </a:lnRef>
              <a:fillRef idx="0">
                <a:schemeClr val="accent1"/>
              </a:fillRef>
              <a:effectRef idx="0">
                <a:schemeClr val="accent1"/>
              </a:effectRef>
              <a:fontRef idx="minor">
                <a:schemeClr val="tx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IF/ID</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45" name="Registers"/>
            <p:cNvGrpSpPr/>
            <p:nvPr/>
          </p:nvGrpSpPr>
          <p:grpSpPr>
            <a:xfrm>
              <a:off x="4430052" y="3199918"/>
              <a:ext cx="1726163" cy="2568442"/>
              <a:chOff x="1920262" y="241327"/>
              <a:chExt cx="3106114" cy="3344105"/>
            </a:xfrm>
          </p:grpSpPr>
          <p:sp>
            <p:nvSpPr>
              <p:cNvPr id="37" name="矩形 36"/>
              <p:cNvSpPr/>
              <p:nvPr/>
            </p:nvSpPr>
            <p:spPr>
              <a:xfrm>
                <a:off x="2026387" y="320244"/>
                <a:ext cx="2772304" cy="3265188"/>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 name="文本框 37"/>
              <p:cNvSpPr txBox="1"/>
              <p:nvPr/>
            </p:nvSpPr>
            <p:spPr>
              <a:xfrm>
                <a:off x="2121631" y="1515410"/>
                <a:ext cx="2149527" cy="52094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Registers</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 name="文本框 38"/>
              <p:cNvSpPr txBox="1"/>
              <p:nvPr/>
            </p:nvSpPr>
            <p:spPr>
              <a:xfrm>
                <a:off x="1920789" y="241327"/>
                <a:ext cx="2611979"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0" name="文本框 39"/>
              <p:cNvSpPr txBox="1"/>
              <p:nvPr/>
            </p:nvSpPr>
            <p:spPr>
              <a:xfrm>
                <a:off x="1920262" y="740405"/>
                <a:ext cx="2450645"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1" name="文本框 40"/>
              <p:cNvSpPr txBox="1"/>
              <p:nvPr/>
            </p:nvSpPr>
            <p:spPr>
              <a:xfrm>
                <a:off x="1925707" y="2479303"/>
                <a:ext cx="2199198"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reg</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2" name="文本框 41"/>
              <p:cNvSpPr txBox="1"/>
              <p:nvPr/>
            </p:nvSpPr>
            <p:spPr>
              <a:xfrm>
                <a:off x="1938951" y="2943791"/>
                <a:ext cx="2364242"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3" name="文本框 42"/>
              <p:cNvSpPr txBox="1"/>
              <p:nvPr/>
            </p:nvSpPr>
            <p:spPr>
              <a:xfrm>
                <a:off x="2467221" y="1159239"/>
                <a:ext cx="2524881"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4" name="文本框 43"/>
              <p:cNvSpPr txBox="1"/>
              <p:nvPr/>
            </p:nvSpPr>
            <p:spPr>
              <a:xfrm>
                <a:off x="2431051" y="1920895"/>
                <a:ext cx="2595325" cy="520942"/>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48" name="Imm Gen"/>
            <p:cNvGrpSpPr/>
            <p:nvPr/>
          </p:nvGrpSpPr>
          <p:grpSpPr>
            <a:xfrm>
              <a:off x="5227674" y="5936049"/>
              <a:ext cx="658095" cy="538474"/>
              <a:chOff x="4868693" y="6172575"/>
              <a:chExt cx="992993" cy="1215294"/>
            </a:xfrm>
          </p:grpSpPr>
          <p:sp>
            <p:nvSpPr>
              <p:cNvPr id="46" name="椭圆 45"/>
              <p:cNvSpPr/>
              <p:nvPr/>
            </p:nvSpPr>
            <p:spPr>
              <a:xfrm>
                <a:off x="4868693" y="6172575"/>
                <a:ext cx="984044" cy="1146747"/>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7" name="文本框 46"/>
              <p:cNvSpPr txBox="1"/>
              <p:nvPr/>
            </p:nvSpPr>
            <p:spPr>
              <a:xfrm>
                <a:off x="4895397" y="6339596"/>
                <a:ext cx="966289" cy="104827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Imm</a:t>
                </a: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Gen</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55" name="Add Sum"/>
            <p:cNvGrpSpPr/>
            <p:nvPr/>
          </p:nvGrpSpPr>
          <p:grpSpPr>
            <a:xfrm>
              <a:off x="7719467" y="3017293"/>
              <a:ext cx="655949" cy="768090"/>
              <a:chOff x="5634620" y="2480764"/>
              <a:chExt cx="1081993" cy="1475010"/>
            </a:xfrm>
          </p:grpSpPr>
          <p:sp>
            <p:nvSpPr>
              <p:cNvPr id="52" name="梯形 51"/>
              <p:cNvSpPr/>
              <p:nvPr/>
            </p:nvSpPr>
            <p:spPr>
              <a:xfrm rot="5400000">
                <a:off x="5424366" y="2770445"/>
                <a:ext cx="1475010" cy="895647"/>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4" name="文本框 53"/>
              <p:cNvSpPr txBox="1"/>
              <p:nvPr/>
            </p:nvSpPr>
            <p:spPr>
              <a:xfrm>
                <a:off x="5634620" y="2851177"/>
                <a:ext cx="1081993" cy="93914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Sum</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61" name="ALU"/>
            <p:cNvGrpSpPr/>
            <p:nvPr/>
          </p:nvGrpSpPr>
          <p:grpSpPr>
            <a:xfrm>
              <a:off x="7646391" y="4044546"/>
              <a:ext cx="880667" cy="1454509"/>
              <a:chOff x="6023805" y="3618922"/>
              <a:chExt cx="1295157" cy="1704463"/>
            </a:xfrm>
          </p:grpSpPr>
          <p:sp>
            <p:nvSpPr>
              <p:cNvPr id="57" name="梯形 56"/>
              <p:cNvSpPr/>
              <p:nvPr/>
            </p:nvSpPr>
            <p:spPr>
              <a:xfrm rot="5400000">
                <a:off x="5805450" y="3911167"/>
                <a:ext cx="1704463" cy="1119974"/>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8" name="文本框 57"/>
              <p:cNvSpPr txBox="1"/>
              <p:nvPr/>
            </p:nvSpPr>
            <p:spPr>
              <a:xfrm>
                <a:off x="6023805" y="3779478"/>
                <a:ext cx="1070760"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ALU</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9" name="文本框 58"/>
              <p:cNvSpPr txBox="1"/>
              <p:nvPr/>
            </p:nvSpPr>
            <p:spPr>
              <a:xfrm>
                <a:off x="6212840" y="4596488"/>
                <a:ext cx="1106122" cy="347668"/>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result</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65" name="shift left 1"/>
            <p:cNvGrpSpPr/>
            <p:nvPr/>
          </p:nvGrpSpPr>
          <p:grpSpPr>
            <a:xfrm>
              <a:off x="6680715" y="3169261"/>
              <a:ext cx="774571" cy="682474"/>
              <a:chOff x="6127422" y="4133981"/>
              <a:chExt cx="1189523" cy="1146746"/>
            </a:xfrm>
          </p:grpSpPr>
          <p:sp>
            <p:nvSpPr>
              <p:cNvPr id="63" name="椭圆 62"/>
              <p:cNvSpPr/>
              <p:nvPr/>
            </p:nvSpPr>
            <p:spPr>
              <a:xfrm>
                <a:off x="6161868" y="4133981"/>
                <a:ext cx="984043" cy="1146746"/>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64" name="文本框 63"/>
              <p:cNvSpPr txBox="1"/>
              <p:nvPr/>
            </p:nvSpPr>
            <p:spPr>
              <a:xfrm>
                <a:off x="6127422" y="4347259"/>
                <a:ext cx="1189523" cy="821732"/>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Shift </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left 1</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72" name="Mux 3"/>
            <p:cNvGrpSpPr/>
            <p:nvPr/>
          </p:nvGrpSpPr>
          <p:grpSpPr>
            <a:xfrm>
              <a:off x="11213520" y="5106295"/>
              <a:ext cx="596486" cy="1168007"/>
              <a:chOff x="3628473" y="5448300"/>
              <a:chExt cx="839025" cy="1230515"/>
            </a:xfrm>
          </p:grpSpPr>
          <p:sp>
            <p:nvSpPr>
              <p:cNvPr id="73" name="mux"/>
              <p:cNvSpPr/>
              <p:nvPr/>
            </p:nvSpPr>
            <p:spPr>
              <a:xfrm rot="5400000">
                <a:off x="3386121" y="5744398"/>
                <a:ext cx="1230515" cy="638319"/>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4" name="文本框 73"/>
              <p:cNvSpPr txBox="1"/>
              <p:nvPr/>
            </p:nvSpPr>
            <p:spPr>
              <a:xfrm>
                <a:off x="3628473" y="5492154"/>
                <a:ext cx="260679"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5" name="文本框 74"/>
              <p:cNvSpPr txBox="1"/>
              <p:nvPr/>
            </p:nvSpPr>
            <p:spPr>
              <a:xfrm>
                <a:off x="3641695" y="6293721"/>
                <a:ext cx="404061" cy="35667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6" name="文本框 75"/>
              <p:cNvSpPr txBox="1"/>
              <p:nvPr/>
            </p:nvSpPr>
            <p:spPr>
              <a:xfrm>
                <a:off x="3867268" y="5599309"/>
                <a:ext cx="600230" cy="1070017"/>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90" name="Data memory"/>
            <p:cNvGrpSpPr/>
            <p:nvPr/>
          </p:nvGrpSpPr>
          <p:grpSpPr>
            <a:xfrm>
              <a:off x="9233814" y="4289030"/>
              <a:ext cx="1417516" cy="1635472"/>
              <a:chOff x="14770965" y="4726326"/>
              <a:chExt cx="3011394" cy="3362560"/>
            </a:xfrm>
          </p:grpSpPr>
          <p:sp>
            <p:nvSpPr>
              <p:cNvPr id="82" name="矩形 81"/>
              <p:cNvSpPr/>
              <p:nvPr/>
            </p:nvSpPr>
            <p:spPr>
              <a:xfrm>
                <a:off x="14919092" y="4726326"/>
                <a:ext cx="2551866" cy="33625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3" name="文本框 82"/>
              <p:cNvSpPr txBox="1"/>
              <p:nvPr/>
            </p:nvSpPr>
            <p:spPr>
              <a:xfrm>
                <a:off x="14893548" y="4778415"/>
                <a:ext cx="2622003" cy="100548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Data </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memory</a:t>
                </a:r>
              </a:p>
            </p:txBody>
          </p:sp>
          <p:sp>
            <p:nvSpPr>
              <p:cNvPr id="84" name="文本框 83"/>
              <p:cNvSpPr txBox="1"/>
              <p:nvPr/>
            </p:nvSpPr>
            <p:spPr>
              <a:xfrm>
                <a:off x="14776597" y="5875439"/>
                <a:ext cx="2291814"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7" name="文本框 86"/>
              <p:cNvSpPr txBox="1"/>
              <p:nvPr/>
            </p:nvSpPr>
            <p:spPr>
              <a:xfrm>
                <a:off x="14770965" y="7263927"/>
                <a:ext cx="2654424"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8" name="文本框 87"/>
              <p:cNvSpPr txBox="1"/>
              <p:nvPr/>
            </p:nvSpPr>
            <p:spPr>
              <a:xfrm>
                <a:off x="15110098" y="6521639"/>
                <a:ext cx="2672261"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09" name="ID/EX"/>
            <p:cNvGrpSpPr/>
            <p:nvPr/>
          </p:nvGrpSpPr>
          <p:grpSpPr>
            <a:xfrm>
              <a:off x="6044404" y="2444255"/>
              <a:ext cx="898003" cy="4108731"/>
              <a:chOff x="12533820" y="4612709"/>
              <a:chExt cx="1017727" cy="5981082"/>
            </a:xfrm>
          </p:grpSpPr>
          <p:sp>
            <p:nvSpPr>
              <p:cNvPr id="101" name="矩形 100"/>
              <p:cNvSpPr/>
              <p:nvPr/>
            </p:nvSpPr>
            <p:spPr>
              <a:xfrm>
                <a:off x="12863277" y="5106649"/>
                <a:ext cx="358140" cy="5487142"/>
              </a:xfrm>
              <a:prstGeom prst="rect">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2" name="文本框 101"/>
              <p:cNvSpPr txBox="1"/>
              <p:nvPr/>
            </p:nvSpPr>
            <p:spPr>
              <a:xfrm>
                <a:off x="12533820" y="4612709"/>
                <a:ext cx="1017727" cy="58244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ID/EX</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19" name="EX/MEM"/>
            <p:cNvGrpSpPr/>
            <p:nvPr/>
          </p:nvGrpSpPr>
          <p:grpSpPr>
            <a:xfrm>
              <a:off x="8230017" y="2391629"/>
              <a:ext cx="1268296" cy="4151030"/>
              <a:chOff x="12098594" y="1174755"/>
              <a:chExt cx="1559878" cy="5729096"/>
            </a:xfrm>
          </p:grpSpPr>
          <p:sp>
            <p:nvSpPr>
              <p:cNvPr id="111" name="矩形 110"/>
              <p:cNvSpPr/>
              <p:nvPr/>
            </p:nvSpPr>
            <p:spPr>
              <a:xfrm>
                <a:off x="12692428" y="1722251"/>
                <a:ext cx="358140" cy="5181600"/>
              </a:xfrm>
              <a:prstGeom prst="rect">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12" name="文本框 111"/>
              <p:cNvSpPr txBox="1"/>
              <p:nvPr/>
            </p:nvSpPr>
            <p:spPr>
              <a:xfrm>
                <a:off x="12098594" y="1174755"/>
                <a:ext cx="1559878" cy="552217"/>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EX/MEM</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27" name="MEM/WB"/>
            <p:cNvGrpSpPr/>
            <p:nvPr/>
          </p:nvGrpSpPr>
          <p:grpSpPr>
            <a:xfrm>
              <a:off x="10208057" y="2405575"/>
              <a:ext cx="1338828" cy="4137084"/>
              <a:chOff x="13669613" y="1234706"/>
              <a:chExt cx="1593632" cy="6014928"/>
            </a:xfrm>
          </p:grpSpPr>
          <p:sp>
            <p:nvSpPr>
              <p:cNvPr id="121" name="矩形 120"/>
              <p:cNvSpPr/>
              <p:nvPr/>
            </p:nvSpPr>
            <p:spPr>
              <a:xfrm>
                <a:off x="14272656" y="1771647"/>
                <a:ext cx="358140" cy="5477987"/>
              </a:xfrm>
              <a:prstGeom prst="rect">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2" name="文本框 121"/>
              <p:cNvSpPr txBox="1"/>
              <p:nvPr/>
            </p:nvSpPr>
            <p:spPr>
              <a:xfrm>
                <a:off x="13669613" y="1234706"/>
                <a:ext cx="1593632" cy="58172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MEM/WB</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60" name="直接连接符 159"/>
            <p:cNvCxnSpPr/>
            <p:nvPr/>
          </p:nvCxnSpPr>
          <p:spPr>
            <a:xfrm flipV="1">
              <a:off x="3800682" y="3099097"/>
              <a:ext cx="2534421" cy="109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直接连接符 160"/>
            <p:cNvCxnSpPr/>
            <p:nvPr/>
          </p:nvCxnSpPr>
          <p:spPr>
            <a:xfrm>
              <a:off x="1979387" y="4301121"/>
              <a:ext cx="25830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直接连接符 161"/>
            <p:cNvCxnSpPr>
              <a:stCxn id="8" idx="3"/>
              <a:endCxn id="34" idx="1"/>
            </p:cNvCxnSpPr>
            <p:nvPr/>
          </p:nvCxnSpPr>
          <p:spPr>
            <a:xfrm>
              <a:off x="3333158" y="4664587"/>
              <a:ext cx="168684" cy="1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直接连接符 162"/>
            <p:cNvCxnSpPr>
              <a:stCxn id="22" idx="0"/>
            </p:cNvCxnSpPr>
            <p:nvPr/>
          </p:nvCxnSpPr>
          <p:spPr>
            <a:xfrm flipV="1">
              <a:off x="3029909" y="3299110"/>
              <a:ext cx="82559" cy="18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a:off x="2067991" y="3026005"/>
              <a:ext cx="43729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flipH="1">
              <a:off x="2067991" y="3017293"/>
              <a:ext cx="3782" cy="1271738"/>
            </a:xfrm>
            <a:prstGeom prst="line">
              <a:avLst/>
            </a:prstGeom>
            <a:ln w="25400">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3103590" y="2609191"/>
              <a:ext cx="0" cy="6899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a:stCxn id="52" idx="0"/>
            </p:cNvCxnSpPr>
            <p:nvPr/>
          </p:nvCxnSpPr>
          <p:spPr>
            <a:xfrm flipV="1">
              <a:off x="8310605" y="3401338"/>
              <a:ext cx="404306"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直接连接符 187"/>
            <p:cNvCxnSpPr/>
            <p:nvPr/>
          </p:nvCxnSpPr>
          <p:spPr>
            <a:xfrm>
              <a:off x="814466" y="2609191"/>
              <a:ext cx="22980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a:off x="814466" y="2609191"/>
              <a:ext cx="0" cy="13869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a:off x="4108924" y="3431061"/>
              <a:ext cx="409392"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4095667" y="3783912"/>
              <a:ext cx="395373"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a:off x="6034275" y="4239432"/>
              <a:ext cx="30542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a:xfrm>
              <a:off x="6034276" y="4680814"/>
              <a:ext cx="29581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6" name="直接连接符 215"/>
            <p:cNvCxnSpPr/>
            <p:nvPr/>
          </p:nvCxnSpPr>
          <p:spPr>
            <a:xfrm>
              <a:off x="4086929" y="6190349"/>
              <a:ext cx="1143140"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18" name="直接连接符 217"/>
            <p:cNvCxnSpPr/>
            <p:nvPr/>
          </p:nvCxnSpPr>
          <p:spPr>
            <a:xfrm flipV="1">
              <a:off x="5882233" y="6173833"/>
              <a:ext cx="457463" cy="719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1" name="直接连接符 260"/>
            <p:cNvCxnSpPr/>
            <p:nvPr/>
          </p:nvCxnSpPr>
          <p:spPr>
            <a:xfrm>
              <a:off x="7373377" y="3523831"/>
              <a:ext cx="36100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3" name="直接连接符 262"/>
            <p:cNvCxnSpPr/>
            <p:nvPr/>
          </p:nvCxnSpPr>
          <p:spPr>
            <a:xfrm>
              <a:off x="6659620" y="4264963"/>
              <a:ext cx="103718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2" name="Mux 3"/>
            <p:cNvGrpSpPr/>
            <p:nvPr/>
          </p:nvGrpSpPr>
          <p:grpSpPr>
            <a:xfrm>
              <a:off x="944642" y="3784693"/>
              <a:ext cx="615567" cy="1168007"/>
              <a:chOff x="3339670" y="5460516"/>
              <a:chExt cx="901073" cy="1230515"/>
            </a:xfrm>
          </p:grpSpPr>
          <p:sp>
            <p:nvSpPr>
              <p:cNvPr id="133" name="mux"/>
              <p:cNvSpPr/>
              <p:nvPr/>
            </p:nvSpPr>
            <p:spPr>
              <a:xfrm rot="5400000">
                <a:off x="3126834" y="5731027"/>
                <a:ext cx="1230515" cy="689494"/>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4" name="文本框 133"/>
              <p:cNvSpPr txBox="1"/>
              <p:nvPr/>
            </p:nvSpPr>
            <p:spPr>
              <a:xfrm>
                <a:off x="3365437" y="5514581"/>
                <a:ext cx="260684"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5" name="文本框 134"/>
              <p:cNvSpPr txBox="1"/>
              <p:nvPr/>
            </p:nvSpPr>
            <p:spPr>
              <a:xfrm>
                <a:off x="3339670" y="6240974"/>
                <a:ext cx="324022"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6" name="文本框 135"/>
              <p:cNvSpPr txBox="1"/>
              <p:nvPr/>
            </p:nvSpPr>
            <p:spPr>
              <a:xfrm>
                <a:off x="3616106" y="5588478"/>
                <a:ext cx="624637" cy="107001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52" name="直接连接符 151"/>
            <p:cNvCxnSpPr/>
            <p:nvPr/>
          </p:nvCxnSpPr>
          <p:spPr>
            <a:xfrm>
              <a:off x="8465220" y="5003334"/>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a:off x="9015906" y="5013299"/>
              <a:ext cx="28232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a:off x="8995735" y="5628356"/>
              <a:ext cx="3068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10513961" y="5308140"/>
              <a:ext cx="20911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56" name="Mux 3"/>
            <p:cNvGrpSpPr/>
            <p:nvPr/>
          </p:nvGrpSpPr>
          <p:grpSpPr>
            <a:xfrm>
              <a:off x="7010916" y="4382167"/>
              <a:ext cx="482064" cy="1168006"/>
              <a:chOff x="3558568" y="5448300"/>
              <a:chExt cx="706348" cy="1230515"/>
            </a:xfrm>
          </p:grpSpPr>
          <p:sp>
            <p:nvSpPr>
              <p:cNvPr id="157" name="mux"/>
              <p:cNvSpPr/>
              <p:nvPr/>
            </p:nvSpPr>
            <p:spPr>
              <a:xfrm rot="5400000">
                <a:off x="3332723" y="5746622"/>
                <a:ext cx="1230515" cy="633871"/>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8" name="文本框 157"/>
              <p:cNvSpPr txBox="1"/>
              <p:nvPr/>
            </p:nvSpPr>
            <p:spPr>
              <a:xfrm>
                <a:off x="3571052" y="5580627"/>
                <a:ext cx="260683"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9" name="文本框 158"/>
              <p:cNvSpPr txBox="1"/>
              <p:nvPr/>
            </p:nvSpPr>
            <p:spPr>
              <a:xfrm>
                <a:off x="3558568" y="6264229"/>
                <a:ext cx="408929" cy="34293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68" name="直接连接符 167"/>
            <p:cNvCxnSpPr/>
            <p:nvPr/>
          </p:nvCxnSpPr>
          <p:spPr>
            <a:xfrm flipV="1">
              <a:off x="1472741" y="4294728"/>
              <a:ext cx="178001" cy="5"/>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a:xfrm>
              <a:off x="2310755" y="3488211"/>
              <a:ext cx="18646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a:off x="6659620" y="3093825"/>
              <a:ext cx="1083649" cy="7422"/>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flipH="1">
              <a:off x="6882298" y="3836012"/>
              <a:ext cx="22498" cy="19552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a:off x="6659620" y="5791262"/>
              <a:ext cx="24517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a:off x="6659620" y="4680814"/>
              <a:ext cx="40077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a:off x="6894161" y="5336493"/>
              <a:ext cx="182537" cy="853"/>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a:off x="6781324" y="5628354"/>
              <a:ext cx="1931532"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a:off x="6781324" y="4680814"/>
              <a:ext cx="1766" cy="947540"/>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a:off x="9116257" y="5009737"/>
              <a:ext cx="0" cy="1068388"/>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flipV="1">
              <a:off x="9116257" y="6072326"/>
              <a:ext cx="1599091" cy="572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1" name="直接连接符 270"/>
            <p:cNvCxnSpPr/>
            <p:nvPr/>
          </p:nvCxnSpPr>
          <p:spPr>
            <a:xfrm>
              <a:off x="11006223" y="6061861"/>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3" name="直接连接符 272"/>
            <p:cNvCxnSpPr/>
            <p:nvPr/>
          </p:nvCxnSpPr>
          <p:spPr>
            <a:xfrm>
              <a:off x="7492981" y="5146566"/>
              <a:ext cx="21340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5" name="文本框 284"/>
            <p:cNvSpPr txBox="1"/>
            <p:nvPr/>
          </p:nvSpPr>
          <p:spPr>
            <a:xfrm>
              <a:off x="2047898" y="4689966"/>
              <a:ext cx="1500650" cy="48904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 memory</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361" name="直接连接符 360"/>
            <p:cNvCxnSpPr>
              <a:endCxn id="76" idx="3"/>
            </p:cNvCxnSpPr>
            <p:nvPr/>
          </p:nvCxnSpPr>
          <p:spPr>
            <a:xfrm>
              <a:off x="11677318" y="5729690"/>
              <a:ext cx="132688" cy="27775"/>
            </a:xfrm>
            <a:prstGeom prst="line">
              <a:avLst/>
            </a:prstGeom>
            <a:ln w="25400">
              <a:noFill/>
            </a:ln>
          </p:spPr>
          <p:style>
            <a:lnRef idx="1">
              <a:schemeClr val="accent1"/>
            </a:lnRef>
            <a:fillRef idx="0">
              <a:schemeClr val="accent1"/>
            </a:fillRef>
            <a:effectRef idx="0">
              <a:schemeClr val="accent1"/>
            </a:effectRef>
            <a:fontRef idx="minor">
              <a:schemeClr val="tx1"/>
            </a:fontRef>
          </p:style>
        </p:cxnSp>
        <p:cxnSp>
          <p:nvCxnSpPr>
            <p:cNvPr id="362" name="直接连接符 361"/>
            <p:cNvCxnSpPr/>
            <p:nvPr/>
          </p:nvCxnSpPr>
          <p:spPr>
            <a:xfrm flipH="1">
              <a:off x="11873585" y="5711600"/>
              <a:ext cx="14406" cy="9965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8" name="直接连接符 367"/>
            <p:cNvCxnSpPr/>
            <p:nvPr/>
          </p:nvCxnSpPr>
          <p:spPr>
            <a:xfrm>
              <a:off x="4241624" y="5413265"/>
              <a:ext cx="0" cy="13086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2" name="直接连接符 371"/>
            <p:cNvCxnSpPr/>
            <p:nvPr/>
          </p:nvCxnSpPr>
          <p:spPr>
            <a:xfrm>
              <a:off x="4238265" y="5413265"/>
              <a:ext cx="247455" cy="48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7" name="直接连接符 376"/>
            <p:cNvCxnSpPr/>
            <p:nvPr/>
          </p:nvCxnSpPr>
          <p:spPr>
            <a:xfrm>
              <a:off x="643799" y="2363436"/>
              <a:ext cx="89899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8" name="直接连接符 387"/>
            <p:cNvCxnSpPr/>
            <p:nvPr/>
          </p:nvCxnSpPr>
          <p:spPr>
            <a:xfrm>
              <a:off x="643799" y="2372479"/>
              <a:ext cx="0" cy="23336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5" name="直接连接符 394"/>
            <p:cNvCxnSpPr/>
            <p:nvPr/>
          </p:nvCxnSpPr>
          <p:spPr>
            <a:xfrm>
              <a:off x="802048" y="3994540"/>
              <a:ext cx="165348" cy="65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7" name="直接连接符 396"/>
            <p:cNvCxnSpPr/>
            <p:nvPr/>
          </p:nvCxnSpPr>
          <p:spPr>
            <a:xfrm>
              <a:off x="634468" y="4701765"/>
              <a:ext cx="332520"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4" name="直接连接符 403"/>
            <p:cNvCxnSpPr/>
            <p:nvPr/>
          </p:nvCxnSpPr>
          <p:spPr>
            <a:xfrm>
              <a:off x="9633770" y="2363436"/>
              <a:ext cx="0" cy="10197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7" name="直接连接符 406"/>
            <p:cNvCxnSpPr/>
            <p:nvPr/>
          </p:nvCxnSpPr>
          <p:spPr>
            <a:xfrm flipV="1">
              <a:off x="9007326" y="3391179"/>
              <a:ext cx="641869" cy="51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7" name="直接连接符 246"/>
            <p:cNvCxnSpPr/>
            <p:nvPr/>
          </p:nvCxnSpPr>
          <p:spPr>
            <a:xfrm>
              <a:off x="11725910" y="5711600"/>
              <a:ext cx="16208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a:xfrm>
              <a:off x="4086929" y="3429000"/>
              <a:ext cx="0" cy="27611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a:off x="8465220" y="4602738"/>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a:off x="9006397" y="4612507"/>
              <a:ext cx="18594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直接连接符 216"/>
            <p:cNvCxnSpPr/>
            <p:nvPr/>
          </p:nvCxnSpPr>
          <p:spPr>
            <a:xfrm>
              <a:off x="4096139" y="5071188"/>
              <a:ext cx="389581" cy="1331"/>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99" name="连接符: 肘形 98"/>
            <p:cNvCxnSpPr/>
            <p:nvPr/>
          </p:nvCxnSpPr>
          <p:spPr>
            <a:xfrm flipV="1">
              <a:off x="2081957" y="3110011"/>
              <a:ext cx="1431289" cy="730238"/>
            </a:xfrm>
            <a:prstGeom prst="bentConnector3">
              <a:avLst>
                <a:gd name="adj1" fmla="val 82595"/>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238" name="文本框 237"/>
            <p:cNvSpPr txBox="1"/>
            <p:nvPr/>
          </p:nvSpPr>
          <p:spPr>
            <a:xfrm rot="10800000">
              <a:off x="3728559" y="2891210"/>
              <a:ext cx="430887" cy="1436503"/>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245" name="直接连接符 244"/>
            <p:cNvCxnSpPr/>
            <p:nvPr/>
          </p:nvCxnSpPr>
          <p:spPr>
            <a:xfrm>
              <a:off x="4784174" y="6117706"/>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7" name="直接连接符 266"/>
            <p:cNvCxnSpPr/>
            <p:nvPr/>
          </p:nvCxnSpPr>
          <p:spPr>
            <a:xfrm>
              <a:off x="6012756" y="6112229"/>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V="1">
              <a:off x="4228170" y="6708122"/>
              <a:ext cx="7659820" cy="137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a:off x="11015554" y="5314205"/>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a:off x="3800682" y="4672713"/>
              <a:ext cx="286247" cy="8101"/>
            </a:xfrm>
            <a:prstGeom prst="line">
              <a:avLst/>
            </a:prstGeom>
            <a:ln w="25400">
              <a:solidFill>
                <a:schemeClr val="tx1"/>
              </a:solidFill>
              <a:tailEnd type="oval"/>
            </a:ln>
          </p:spPr>
          <p:style>
            <a:lnRef idx="1">
              <a:schemeClr val="accent1"/>
            </a:lnRef>
            <a:fillRef idx="0">
              <a:schemeClr val="accent1"/>
            </a:fillRef>
            <a:effectRef idx="0">
              <a:schemeClr val="accent1"/>
            </a:effectRef>
            <a:fontRef idx="minor">
              <a:schemeClr val="tx1"/>
            </a:fontRef>
          </p:style>
        </p:cxnSp>
      </p:grpSp>
      <p:sp>
        <p:nvSpPr>
          <p:cNvPr id="3" name="标题 2"/>
          <p:cNvSpPr>
            <a:spLocks noGrp="1"/>
          </p:cNvSpPr>
          <p:nvPr>
            <p:ph type="title"/>
          </p:nvPr>
        </p:nvSpPr>
        <p:spPr/>
        <p:txBody>
          <a:bodyPr/>
          <a:lstStyle/>
          <a:p>
            <a:r>
              <a:rPr kumimoji="0" lang="zh-CN" altLang="en-US" sz="4400" b="0" i="0" u="none" strike="noStrike" kern="1200" cap="none" spc="0" normalizeH="0" baseline="0" noProof="0" dirty="0">
                <a:ln>
                  <a:noFill/>
                </a:ln>
                <a:effectLst/>
                <a:uLnTx/>
                <a:uFillTx/>
                <a:latin typeface="宋体" panose="02010600030101010101" pitchFamily="2" charset="-122"/>
                <a:ea typeface="宋体" panose="02010600030101010101" pitchFamily="2" charset="-122"/>
              </a:rPr>
              <a:t>加入流水线寄存器</a:t>
            </a:r>
            <a:endParaRPr lang="zh-CN" altLang="en-US" dirty="0"/>
          </a:p>
        </p:txBody>
      </p:sp>
      <p:grpSp>
        <p:nvGrpSpPr>
          <p:cNvPr id="139" name="ALU"/>
          <p:cNvGrpSpPr/>
          <p:nvPr/>
        </p:nvGrpSpPr>
        <p:grpSpPr>
          <a:xfrm>
            <a:off x="7582891" y="3846660"/>
            <a:ext cx="880667" cy="1454509"/>
            <a:chOff x="6023805" y="3618922"/>
            <a:chExt cx="1295157" cy="1704463"/>
          </a:xfrm>
        </p:grpSpPr>
        <p:sp>
          <p:nvSpPr>
            <p:cNvPr id="140" name="梯形 139"/>
            <p:cNvSpPr/>
            <p:nvPr/>
          </p:nvSpPr>
          <p:spPr>
            <a:xfrm rot="5400000">
              <a:off x="5805450" y="3911167"/>
              <a:ext cx="1704463" cy="1119974"/>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1" name="文本框 140"/>
            <p:cNvSpPr txBox="1"/>
            <p:nvPr/>
          </p:nvSpPr>
          <p:spPr>
            <a:xfrm>
              <a:off x="6023805" y="3779478"/>
              <a:ext cx="1070760"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ALU</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2" name="文本框 141"/>
            <p:cNvSpPr txBox="1"/>
            <p:nvPr/>
          </p:nvSpPr>
          <p:spPr>
            <a:xfrm>
              <a:off x="6212840" y="4596488"/>
              <a:ext cx="1106122" cy="347668"/>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result</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3" name="文本框 142"/>
            <p:cNvSpPr txBox="1"/>
            <p:nvPr/>
          </p:nvSpPr>
          <p:spPr>
            <a:xfrm>
              <a:off x="6276821" y="4080452"/>
              <a:ext cx="983534"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Zero</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144" name="文本框 143"/>
          <p:cNvSpPr txBox="1"/>
          <p:nvPr/>
        </p:nvSpPr>
        <p:spPr>
          <a:xfrm>
            <a:off x="1966631" y="3099879"/>
            <a:ext cx="20135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4</a:t>
            </a:r>
            <a:endParaRPr kumimoji="0" lang="zh-CN" altLang="en-US"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
        <p:nvSpPr>
          <p:cNvPr id="145" name="文本框 144"/>
          <p:cNvSpPr txBox="1"/>
          <p:nvPr/>
        </p:nvSpPr>
        <p:spPr>
          <a:xfrm>
            <a:off x="4593916" y="6006219"/>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32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6" name="文本框 145"/>
          <p:cNvSpPr txBox="1"/>
          <p:nvPr/>
        </p:nvSpPr>
        <p:spPr>
          <a:xfrm>
            <a:off x="5819801" y="5977942"/>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64</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7" name="文本框 146"/>
          <p:cNvSpPr txBox="1"/>
          <p:nvPr/>
        </p:nvSpPr>
        <p:spPr>
          <a:xfrm>
            <a:off x="7076698" y="4308569"/>
            <a:ext cx="315720" cy="1015663"/>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8" name="灯片编号占位符 1"/>
          <p:cNvSpPr>
            <a:spLocks noGrp="1"/>
          </p:cNvSpPr>
          <p:nvPr>
            <p:ph type="sldNum" sz="quarter" idx="12"/>
          </p:nvPr>
        </p:nvSpPr>
        <p:spPr>
          <a:xfrm>
            <a:off x="8940542" y="648279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nvGrpSpPr>
          <p:cNvPr id="13" name="组合 12">
            <a:extLst>
              <a:ext uri="{FF2B5EF4-FFF2-40B4-BE49-F238E27FC236}">
                <a16:creationId xmlns:a16="http://schemas.microsoft.com/office/drawing/2014/main" id="{E6AB2018-E7DE-4538-9346-7D991924FF77}"/>
              </a:ext>
            </a:extLst>
          </p:cNvPr>
          <p:cNvGrpSpPr/>
          <p:nvPr/>
        </p:nvGrpSpPr>
        <p:grpSpPr>
          <a:xfrm>
            <a:off x="3382887" y="6249997"/>
            <a:ext cx="635647" cy="606462"/>
            <a:chOff x="3382887" y="6249997"/>
            <a:chExt cx="635647" cy="606462"/>
          </a:xfrm>
        </p:grpSpPr>
        <p:sp>
          <p:nvSpPr>
            <p:cNvPr id="149" name="等腰三角形 148">
              <a:extLst>
                <a:ext uri="{FF2B5EF4-FFF2-40B4-BE49-F238E27FC236}">
                  <a16:creationId xmlns:a16="http://schemas.microsoft.com/office/drawing/2014/main" id="{73EE9536-7967-4BAD-9831-1B21C3CC7134}"/>
                </a:ext>
              </a:extLst>
            </p:cNvPr>
            <p:cNvSpPr/>
            <p:nvPr/>
          </p:nvSpPr>
          <p:spPr>
            <a:xfrm>
              <a:off x="3540471" y="6249997"/>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50" name="直接连接符 149">
              <a:extLst>
                <a:ext uri="{FF2B5EF4-FFF2-40B4-BE49-F238E27FC236}">
                  <a16:creationId xmlns:a16="http://schemas.microsoft.com/office/drawing/2014/main" id="{D277AE63-31BC-4433-B194-E0B5B884E7B5}"/>
                </a:ext>
              </a:extLst>
            </p:cNvPr>
            <p:cNvCxnSpPr>
              <a:cxnSpLocks/>
            </p:cNvCxnSpPr>
            <p:nvPr/>
          </p:nvCxnSpPr>
          <p:spPr>
            <a:xfrm>
              <a:off x="3579663" y="6350760"/>
              <a:ext cx="0" cy="132031"/>
            </a:xfrm>
            <a:prstGeom prst="line">
              <a:avLst/>
            </a:prstGeom>
          </p:spPr>
          <p:style>
            <a:lnRef idx="3">
              <a:schemeClr val="dk1"/>
            </a:lnRef>
            <a:fillRef idx="0">
              <a:schemeClr val="dk1"/>
            </a:fillRef>
            <a:effectRef idx="2">
              <a:schemeClr val="dk1"/>
            </a:effectRef>
            <a:fontRef idx="minor">
              <a:schemeClr val="tx1"/>
            </a:fontRef>
          </p:style>
        </p:cxnSp>
        <p:sp>
          <p:nvSpPr>
            <p:cNvPr id="151" name="文本框 150">
              <a:extLst>
                <a:ext uri="{FF2B5EF4-FFF2-40B4-BE49-F238E27FC236}">
                  <a16:creationId xmlns:a16="http://schemas.microsoft.com/office/drawing/2014/main" id="{A529BA02-DD53-4D6B-9EB6-1F5CE7AE707B}"/>
                </a:ext>
              </a:extLst>
            </p:cNvPr>
            <p:cNvSpPr txBox="1"/>
            <p:nvPr/>
          </p:nvSpPr>
          <p:spPr>
            <a:xfrm>
              <a:off x="3382887" y="6394794"/>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65" name="组合 164">
            <a:extLst>
              <a:ext uri="{FF2B5EF4-FFF2-40B4-BE49-F238E27FC236}">
                <a16:creationId xmlns:a16="http://schemas.microsoft.com/office/drawing/2014/main" id="{D007D089-3ADB-4346-82CE-2095EF83D80A}"/>
              </a:ext>
            </a:extLst>
          </p:cNvPr>
          <p:cNvGrpSpPr/>
          <p:nvPr/>
        </p:nvGrpSpPr>
        <p:grpSpPr>
          <a:xfrm>
            <a:off x="6234783" y="6259756"/>
            <a:ext cx="635647" cy="606462"/>
            <a:chOff x="3382887" y="6249997"/>
            <a:chExt cx="635647" cy="606462"/>
          </a:xfrm>
        </p:grpSpPr>
        <p:sp>
          <p:nvSpPr>
            <p:cNvPr id="166" name="等腰三角形 165">
              <a:extLst>
                <a:ext uri="{FF2B5EF4-FFF2-40B4-BE49-F238E27FC236}">
                  <a16:creationId xmlns:a16="http://schemas.microsoft.com/office/drawing/2014/main" id="{CA0419B6-0CE5-4CBD-916B-664FF046D480}"/>
                </a:ext>
              </a:extLst>
            </p:cNvPr>
            <p:cNvSpPr/>
            <p:nvPr/>
          </p:nvSpPr>
          <p:spPr>
            <a:xfrm>
              <a:off x="3540471" y="6249997"/>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69" name="直接连接符 168">
              <a:extLst>
                <a:ext uri="{FF2B5EF4-FFF2-40B4-BE49-F238E27FC236}">
                  <a16:creationId xmlns:a16="http://schemas.microsoft.com/office/drawing/2014/main" id="{3B6DE83D-5D68-4E1C-9A12-381E2D150674}"/>
                </a:ext>
              </a:extLst>
            </p:cNvPr>
            <p:cNvCxnSpPr>
              <a:cxnSpLocks/>
            </p:cNvCxnSpPr>
            <p:nvPr/>
          </p:nvCxnSpPr>
          <p:spPr>
            <a:xfrm>
              <a:off x="3579663" y="6350760"/>
              <a:ext cx="0" cy="132031"/>
            </a:xfrm>
            <a:prstGeom prst="line">
              <a:avLst/>
            </a:prstGeom>
          </p:spPr>
          <p:style>
            <a:lnRef idx="3">
              <a:schemeClr val="dk1"/>
            </a:lnRef>
            <a:fillRef idx="0">
              <a:schemeClr val="dk1"/>
            </a:fillRef>
            <a:effectRef idx="2">
              <a:schemeClr val="dk1"/>
            </a:effectRef>
            <a:fontRef idx="minor">
              <a:schemeClr val="tx1"/>
            </a:fontRef>
          </p:style>
        </p:cxnSp>
        <p:sp>
          <p:nvSpPr>
            <p:cNvPr id="170" name="文本框 169">
              <a:extLst>
                <a:ext uri="{FF2B5EF4-FFF2-40B4-BE49-F238E27FC236}">
                  <a16:creationId xmlns:a16="http://schemas.microsoft.com/office/drawing/2014/main" id="{C66BEA6F-2B91-40D6-B048-8E98019F23EC}"/>
                </a:ext>
              </a:extLst>
            </p:cNvPr>
            <p:cNvSpPr txBox="1"/>
            <p:nvPr/>
          </p:nvSpPr>
          <p:spPr>
            <a:xfrm>
              <a:off x="3382887" y="6394794"/>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4" name="组合 13">
            <a:extLst>
              <a:ext uri="{FF2B5EF4-FFF2-40B4-BE49-F238E27FC236}">
                <a16:creationId xmlns:a16="http://schemas.microsoft.com/office/drawing/2014/main" id="{D9AEB01A-6EDD-4437-BC8C-94276B9B9F5E}"/>
              </a:ext>
            </a:extLst>
          </p:cNvPr>
          <p:cNvGrpSpPr/>
          <p:nvPr/>
        </p:nvGrpSpPr>
        <p:grpSpPr>
          <a:xfrm>
            <a:off x="8599875" y="6241938"/>
            <a:ext cx="635647" cy="606462"/>
            <a:chOff x="7319483" y="6149946"/>
            <a:chExt cx="635647" cy="606462"/>
          </a:xfrm>
        </p:grpSpPr>
        <p:sp>
          <p:nvSpPr>
            <p:cNvPr id="172" name="等腰三角形 171">
              <a:extLst>
                <a:ext uri="{FF2B5EF4-FFF2-40B4-BE49-F238E27FC236}">
                  <a16:creationId xmlns:a16="http://schemas.microsoft.com/office/drawing/2014/main" id="{8DFAA60F-7E00-4519-999C-EDBE4867C320}"/>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3" name="直接连接符 172">
              <a:extLst>
                <a:ext uri="{FF2B5EF4-FFF2-40B4-BE49-F238E27FC236}">
                  <a16:creationId xmlns:a16="http://schemas.microsoft.com/office/drawing/2014/main" id="{64A94B54-3528-4B73-8E83-9375010B5CAB}"/>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75" name="文本框 174">
              <a:extLst>
                <a:ext uri="{FF2B5EF4-FFF2-40B4-BE49-F238E27FC236}">
                  <a16:creationId xmlns:a16="http://schemas.microsoft.com/office/drawing/2014/main" id="{AD429360-ADC4-4641-9732-050777ADBA60}"/>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6" name="组合 175">
            <a:extLst>
              <a:ext uri="{FF2B5EF4-FFF2-40B4-BE49-F238E27FC236}">
                <a16:creationId xmlns:a16="http://schemas.microsoft.com/office/drawing/2014/main" id="{01967CEF-78EA-4AA2-BD58-C32B51F4BF7A}"/>
              </a:ext>
            </a:extLst>
          </p:cNvPr>
          <p:cNvGrpSpPr/>
          <p:nvPr/>
        </p:nvGrpSpPr>
        <p:grpSpPr>
          <a:xfrm>
            <a:off x="10604003" y="6241549"/>
            <a:ext cx="635647" cy="606462"/>
            <a:chOff x="7319483" y="6149946"/>
            <a:chExt cx="635647" cy="606462"/>
          </a:xfrm>
        </p:grpSpPr>
        <p:sp>
          <p:nvSpPr>
            <p:cNvPr id="178" name="等腰三角形 177">
              <a:extLst>
                <a:ext uri="{FF2B5EF4-FFF2-40B4-BE49-F238E27FC236}">
                  <a16:creationId xmlns:a16="http://schemas.microsoft.com/office/drawing/2014/main" id="{2C877A77-EC56-4126-9DF3-38B8DCDA64AE}"/>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9" name="直接连接符 178">
              <a:extLst>
                <a:ext uri="{FF2B5EF4-FFF2-40B4-BE49-F238E27FC236}">
                  <a16:creationId xmlns:a16="http://schemas.microsoft.com/office/drawing/2014/main" id="{22B04655-453F-470F-B850-FA2BE152E778}"/>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80" name="文本框 179">
              <a:extLst>
                <a:ext uri="{FF2B5EF4-FFF2-40B4-BE49-F238E27FC236}">
                  <a16:creationId xmlns:a16="http://schemas.microsoft.com/office/drawing/2014/main" id="{02469A80-8A4A-4633-890E-744249B1CE99}"/>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2" name="文本框 1"/>
          <p:cNvSpPr txBox="1"/>
          <p:nvPr/>
        </p:nvSpPr>
        <p:spPr>
          <a:xfrm>
            <a:off x="3027845" y="2600405"/>
            <a:ext cx="469167" cy="369332"/>
          </a:xfrm>
          <a:prstGeom prst="rect">
            <a:avLst/>
          </a:prstGeom>
          <a:noFill/>
        </p:spPr>
        <p:txBody>
          <a:bodyPr wrap="square" rtlCol="0">
            <a:spAutoFit/>
          </a:bodyPr>
          <a:lstStyle/>
          <a:p>
            <a:r>
              <a:rPr lang="en-US" altLang="zh-CN" dirty="0">
                <a:solidFill>
                  <a:srgbClr val="0000FF"/>
                </a:solidFill>
              </a:rPr>
              <a:t>PC</a:t>
            </a:r>
            <a:endParaRPr lang="zh-CN" altLang="en-US" dirty="0">
              <a:solidFill>
                <a:srgbClr val="0000FF"/>
              </a:solidFill>
            </a:endParaRPr>
          </a:p>
        </p:txBody>
      </p:sp>
      <p:sp>
        <p:nvSpPr>
          <p:cNvPr id="171" name="文本框 170"/>
          <p:cNvSpPr txBox="1"/>
          <p:nvPr/>
        </p:nvSpPr>
        <p:spPr>
          <a:xfrm>
            <a:off x="5772002" y="2593234"/>
            <a:ext cx="469167" cy="369332"/>
          </a:xfrm>
          <a:prstGeom prst="rect">
            <a:avLst/>
          </a:prstGeom>
          <a:noFill/>
        </p:spPr>
        <p:txBody>
          <a:bodyPr wrap="square" rtlCol="0">
            <a:spAutoFit/>
          </a:bodyPr>
          <a:lstStyle/>
          <a:p>
            <a:r>
              <a:rPr lang="en-US" altLang="zh-CN" dirty="0">
                <a:solidFill>
                  <a:srgbClr val="0000FF"/>
                </a:solidFill>
              </a:rPr>
              <a:t>PC</a:t>
            </a:r>
            <a:endParaRPr lang="zh-CN" altLang="en-US" dirty="0">
              <a:solidFill>
                <a:srgbClr val="0000FF"/>
              </a:solidFill>
            </a:endParaRPr>
          </a:p>
        </p:txBody>
      </p:sp>
      <p:sp>
        <p:nvSpPr>
          <p:cNvPr id="181" name="文本框 180"/>
          <p:cNvSpPr txBox="1"/>
          <p:nvPr/>
        </p:nvSpPr>
        <p:spPr>
          <a:xfrm>
            <a:off x="7181134" y="2607799"/>
            <a:ext cx="469167" cy="369332"/>
          </a:xfrm>
          <a:prstGeom prst="rect">
            <a:avLst/>
          </a:prstGeom>
          <a:noFill/>
        </p:spPr>
        <p:txBody>
          <a:bodyPr wrap="square" rtlCol="0">
            <a:spAutoFit/>
          </a:bodyPr>
          <a:lstStyle/>
          <a:p>
            <a:r>
              <a:rPr lang="en-US" altLang="zh-CN" dirty="0">
                <a:solidFill>
                  <a:srgbClr val="0000FF"/>
                </a:solidFill>
              </a:rPr>
              <a:t>PC</a:t>
            </a:r>
            <a:endParaRPr lang="zh-CN" altLang="en-US" dirty="0">
              <a:solidFill>
                <a:srgbClr val="0000FF"/>
              </a:solidFill>
            </a:endParaRPr>
          </a:p>
        </p:txBody>
      </p:sp>
      <p:grpSp>
        <p:nvGrpSpPr>
          <p:cNvPr id="29" name="组合 28"/>
          <p:cNvGrpSpPr/>
          <p:nvPr/>
        </p:nvGrpSpPr>
        <p:grpSpPr>
          <a:xfrm>
            <a:off x="3417073" y="2682473"/>
            <a:ext cx="381073" cy="2808760"/>
            <a:chOff x="3417073" y="2682473"/>
            <a:chExt cx="381073" cy="2808760"/>
          </a:xfrm>
        </p:grpSpPr>
        <p:sp>
          <p:nvSpPr>
            <p:cNvPr id="184" name="文本框 183"/>
            <p:cNvSpPr txBox="1"/>
            <p:nvPr/>
          </p:nvSpPr>
          <p:spPr>
            <a:xfrm rot="5400000">
              <a:off x="3048600" y="3050946"/>
              <a:ext cx="1106278" cy="369332"/>
            </a:xfrm>
            <a:prstGeom prst="rect">
              <a:avLst/>
            </a:prstGeom>
            <a:noFill/>
          </p:spPr>
          <p:txBody>
            <a:bodyPr wrap="square" rtlCol="0">
              <a:spAutoFit/>
            </a:bodyPr>
            <a:lstStyle/>
            <a:p>
              <a:r>
                <a:rPr lang="en-US" altLang="zh-CN" b="1" dirty="0">
                  <a:solidFill>
                    <a:srgbClr val="FF0000"/>
                  </a:solidFill>
                </a:rPr>
                <a:t>PC[63:0]</a:t>
              </a:r>
              <a:endParaRPr lang="zh-CN" altLang="en-US" b="1" dirty="0">
                <a:solidFill>
                  <a:srgbClr val="FF0000"/>
                </a:solidFill>
              </a:endParaRPr>
            </a:p>
          </p:txBody>
        </p:sp>
        <p:sp>
          <p:nvSpPr>
            <p:cNvPr id="185" name="文本框 184"/>
            <p:cNvSpPr txBox="1"/>
            <p:nvPr/>
          </p:nvSpPr>
          <p:spPr>
            <a:xfrm rot="5400000">
              <a:off x="2982348" y="4675436"/>
              <a:ext cx="1262263" cy="369332"/>
            </a:xfrm>
            <a:prstGeom prst="rect">
              <a:avLst/>
            </a:prstGeom>
            <a:noFill/>
          </p:spPr>
          <p:txBody>
            <a:bodyPr wrap="square" rtlCol="0">
              <a:spAutoFit/>
            </a:bodyPr>
            <a:lstStyle/>
            <a:p>
              <a:r>
                <a:rPr lang="en-US" altLang="zh-CN" b="1" dirty="0" err="1">
                  <a:solidFill>
                    <a:srgbClr val="FF0000"/>
                  </a:solidFill>
                </a:rPr>
                <a:t>inst</a:t>
              </a:r>
              <a:r>
                <a:rPr lang="en-US" altLang="zh-CN" b="1" dirty="0">
                  <a:solidFill>
                    <a:srgbClr val="FF0000"/>
                  </a:solidFill>
                </a:rPr>
                <a:t>[31:0]</a:t>
              </a:r>
              <a:endParaRPr lang="zh-CN" altLang="en-US" b="1" dirty="0">
                <a:solidFill>
                  <a:srgbClr val="FF0000"/>
                </a:solidFill>
              </a:endParaRPr>
            </a:p>
          </p:txBody>
        </p:sp>
      </p:grpSp>
      <p:sp>
        <p:nvSpPr>
          <p:cNvPr id="191" name="文本框 190"/>
          <p:cNvSpPr txBox="1"/>
          <p:nvPr/>
        </p:nvSpPr>
        <p:spPr>
          <a:xfrm>
            <a:off x="8908324" y="3127946"/>
            <a:ext cx="1141211" cy="369332"/>
          </a:xfrm>
          <a:prstGeom prst="rect">
            <a:avLst/>
          </a:prstGeom>
          <a:noFill/>
        </p:spPr>
        <p:txBody>
          <a:bodyPr wrap="square" rtlCol="0">
            <a:spAutoFit/>
          </a:bodyPr>
          <a:lstStyle/>
          <a:p>
            <a:r>
              <a:rPr lang="en-US" altLang="zh-CN" dirty="0" err="1">
                <a:solidFill>
                  <a:srgbClr val="0000FF"/>
                </a:solidFill>
              </a:rPr>
              <a:t>PC+imm</a:t>
            </a:r>
            <a:endParaRPr lang="zh-CN" altLang="en-US" dirty="0">
              <a:solidFill>
                <a:srgbClr val="0000FF"/>
              </a:solidFill>
            </a:endParaRPr>
          </a:p>
        </p:txBody>
      </p:sp>
      <p:grpSp>
        <p:nvGrpSpPr>
          <p:cNvPr id="30" name="组合 29"/>
          <p:cNvGrpSpPr/>
          <p:nvPr/>
        </p:nvGrpSpPr>
        <p:grpSpPr>
          <a:xfrm>
            <a:off x="6266381" y="2530415"/>
            <a:ext cx="377566" cy="3711134"/>
            <a:chOff x="6266381" y="2530415"/>
            <a:chExt cx="377566" cy="3711134"/>
          </a:xfrm>
        </p:grpSpPr>
        <p:sp>
          <p:nvSpPr>
            <p:cNvPr id="187" name="文本框 186"/>
            <p:cNvSpPr txBox="1"/>
            <p:nvPr/>
          </p:nvSpPr>
          <p:spPr>
            <a:xfrm rot="5400000">
              <a:off x="5905739" y="2898888"/>
              <a:ext cx="1106278" cy="369332"/>
            </a:xfrm>
            <a:prstGeom prst="rect">
              <a:avLst/>
            </a:prstGeom>
            <a:noFill/>
          </p:spPr>
          <p:txBody>
            <a:bodyPr wrap="square" rtlCol="0">
              <a:spAutoFit/>
            </a:bodyPr>
            <a:lstStyle/>
            <a:p>
              <a:r>
                <a:rPr lang="en-US" altLang="zh-CN" b="1" dirty="0">
                  <a:solidFill>
                    <a:srgbClr val="FF0000"/>
                  </a:solidFill>
                </a:rPr>
                <a:t>PC[63:0]</a:t>
              </a:r>
              <a:endParaRPr lang="zh-CN" altLang="en-US" b="1" dirty="0">
                <a:solidFill>
                  <a:srgbClr val="FF0000"/>
                </a:solidFill>
              </a:endParaRPr>
            </a:p>
          </p:txBody>
        </p:sp>
        <p:sp>
          <p:nvSpPr>
            <p:cNvPr id="189" name="文本框 188"/>
            <p:cNvSpPr txBox="1"/>
            <p:nvPr/>
          </p:nvSpPr>
          <p:spPr>
            <a:xfrm rot="5400000">
              <a:off x="6117723" y="5723560"/>
              <a:ext cx="666647" cy="369332"/>
            </a:xfrm>
            <a:prstGeom prst="rect">
              <a:avLst/>
            </a:prstGeom>
            <a:noFill/>
          </p:spPr>
          <p:txBody>
            <a:bodyPr wrap="square" rtlCol="0">
              <a:spAutoFit/>
            </a:bodyPr>
            <a:lstStyle/>
            <a:p>
              <a:r>
                <a:rPr lang="en-US" altLang="zh-CN" b="1" dirty="0" err="1">
                  <a:solidFill>
                    <a:srgbClr val="FF0000"/>
                  </a:solidFill>
                </a:rPr>
                <a:t>imm</a:t>
              </a:r>
              <a:endParaRPr lang="zh-CN" altLang="en-US" b="1" dirty="0">
                <a:solidFill>
                  <a:srgbClr val="FF0000"/>
                </a:solidFill>
              </a:endParaRPr>
            </a:p>
          </p:txBody>
        </p:sp>
        <p:sp>
          <p:nvSpPr>
            <p:cNvPr id="192" name="文本框 191"/>
            <p:cNvSpPr txBox="1"/>
            <p:nvPr/>
          </p:nvSpPr>
          <p:spPr>
            <a:xfrm rot="5400000">
              <a:off x="5892157" y="3914384"/>
              <a:ext cx="1134248" cy="369332"/>
            </a:xfrm>
            <a:prstGeom prst="rect">
              <a:avLst/>
            </a:prstGeom>
            <a:noFill/>
          </p:spPr>
          <p:txBody>
            <a:bodyPr wrap="square" rtlCol="0">
              <a:spAutoFit/>
            </a:bodyPr>
            <a:lstStyle/>
            <a:p>
              <a:r>
                <a:rPr lang="en-US" altLang="zh-CN" b="1" dirty="0" err="1">
                  <a:solidFill>
                    <a:srgbClr val="FF0000"/>
                  </a:solidFill>
                </a:rPr>
                <a:t>Reg</a:t>
              </a:r>
              <a:r>
                <a:rPr lang="en-US" altLang="zh-CN" b="1" dirty="0">
                  <a:solidFill>
                    <a:srgbClr val="FF0000"/>
                  </a:solidFill>
                </a:rPr>
                <a:t>[rs1]</a:t>
              </a:r>
              <a:endParaRPr lang="zh-CN" altLang="en-US" b="1" dirty="0">
                <a:solidFill>
                  <a:srgbClr val="FF0000"/>
                </a:solidFill>
              </a:endParaRPr>
            </a:p>
          </p:txBody>
        </p:sp>
        <p:sp>
          <p:nvSpPr>
            <p:cNvPr id="193" name="文本框 192"/>
            <p:cNvSpPr txBox="1"/>
            <p:nvPr/>
          </p:nvSpPr>
          <p:spPr>
            <a:xfrm rot="5400000">
              <a:off x="5922094" y="4872698"/>
              <a:ext cx="1064318" cy="369332"/>
            </a:xfrm>
            <a:prstGeom prst="rect">
              <a:avLst/>
            </a:prstGeom>
            <a:noFill/>
          </p:spPr>
          <p:txBody>
            <a:bodyPr wrap="square" rtlCol="0">
              <a:spAutoFit/>
            </a:bodyPr>
            <a:lstStyle/>
            <a:p>
              <a:r>
                <a:rPr lang="en-US" altLang="zh-CN" b="1" dirty="0" err="1">
                  <a:solidFill>
                    <a:srgbClr val="FF0000"/>
                  </a:solidFill>
                </a:rPr>
                <a:t>Reg</a:t>
              </a:r>
              <a:r>
                <a:rPr lang="en-US" altLang="zh-CN" b="1" dirty="0">
                  <a:solidFill>
                    <a:srgbClr val="FF0000"/>
                  </a:solidFill>
                </a:rPr>
                <a:t>[rs2]</a:t>
              </a:r>
              <a:endParaRPr lang="zh-CN" altLang="en-US" b="1" dirty="0">
                <a:solidFill>
                  <a:srgbClr val="FF0000"/>
                </a:solidFill>
              </a:endParaRPr>
            </a:p>
          </p:txBody>
        </p:sp>
      </p:grpSp>
      <p:sp>
        <p:nvSpPr>
          <p:cNvPr id="195" name="文本框 194"/>
          <p:cNvSpPr txBox="1"/>
          <p:nvPr/>
        </p:nvSpPr>
        <p:spPr>
          <a:xfrm>
            <a:off x="7585029" y="5452473"/>
            <a:ext cx="1064318" cy="369332"/>
          </a:xfrm>
          <a:prstGeom prst="rect">
            <a:avLst/>
          </a:prstGeom>
          <a:noFill/>
        </p:spPr>
        <p:txBody>
          <a:bodyPr wrap="square" rtlCol="0">
            <a:spAutoFit/>
          </a:bodyPr>
          <a:lstStyle/>
          <a:p>
            <a:r>
              <a:rPr lang="en-US" altLang="zh-CN" dirty="0" err="1">
                <a:solidFill>
                  <a:srgbClr val="0000FF"/>
                </a:solidFill>
              </a:rPr>
              <a:t>Reg</a:t>
            </a:r>
            <a:r>
              <a:rPr lang="en-US" altLang="zh-CN" dirty="0">
                <a:solidFill>
                  <a:srgbClr val="0000FF"/>
                </a:solidFill>
              </a:rPr>
              <a:t>[rs2]</a:t>
            </a:r>
            <a:endParaRPr lang="zh-CN" altLang="en-US" dirty="0">
              <a:solidFill>
                <a:srgbClr val="0000FF"/>
              </a:solidFill>
            </a:endParaRPr>
          </a:p>
        </p:txBody>
      </p:sp>
      <p:grpSp>
        <p:nvGrpSpPr>
          <p:cNvPr id="31" name="组合 30"/>
          <p:cNvGrpSpPr/>
          <p:nvPr/>
        </p:nvGrpSpPr>
        <p:grpSpPr>
          <a:xfrm>
            <a:off x="8624614" y="2549263"/>
            <a:ext cx="384613" cy="3757934"/>
            <a:chOff x="8624614" y="2549263"/>
            <a:chExt cx="384613" cy="3757934"/>
          </a:xfrm>
        </p:grpSpPr>
        <p:sp>
          <p:nvSpPr>
            <p:cNvPr id="182" name="文本框 181"/>
            <p:cNvSpPr txBox="1"/>
            <p:nvPr/>
          </p:nvSpPr>
          <p:spPr>
            <a:xfrm rot="5400000">
              <a:off x="7963657" y="3210220"/>
              <a:ext cx="1691245" cy="369332"/>
            </a:xfrm>
            <a:prstGeom prst="rect">
              <a:avLst/>
            </a:prstGeom>
            <a:noFill/>
          </p:spPr>
          <p:txBody>
            <a:bodyPr wrap="square" rtlCol="0">
              <a:spAutoFit/>
            </a:bodyPr>
            <a:lstStyle/>
            <a:p>
              <a:r>
                <a:rPr lang="en-US" altLang="zh-CN" b="1" dirty="0" err="1">
                  <a:solidFill>
                    <a:srgbClr val="FF0000"/>
                  </a:solidFill>
                </a:rPr>
                <a:t>PC+imm</a:t>
              </a:r>
              <a:endParaRPr lang="zh-CN" altLang="en-US" b="1" dirty="0">
                <a:solidFill>
                  <a:srgbClr val="FF0000"/>
                </a:solidFill>
              </a:endParaRPr>
            </a:p>
          </p:txBody>
        </p:sp>
        <p:sp>
          <p:nvSpPr>
            <p:cNvPr id="194" name="文本框 193"/>
            <p:cNvSpPr txBox="1"/>
            <p:nvPr/>
          </p:nvSpPr>
          <p:spPr>
            <a:xfrm rot="5400000">
              <a:off x="8292402" y="5590372"/>
              <a:ext cx="1064318" cy="369332"/>
            </a:xfrm>
            <a:prstGeom prst="rect">
              <a:avLst/>
            </a:prstGeom>
            <a:noFill/>
          </p:spPr>
          <p:txBody>
            <a:bodyPr wrap="square" rtlCol="0">
              <a:spAutoFit/>
            </a:bodyPr>
            <a:lstStyle/>
            <a:p>
              <a:r>
                <a:rPr lang="en-US" altLang="zh-CN" b="1" dirty="0" err="1">
                  <a:solidFill>
                    <a:srgbClr val="FF0000"/>
                  </a:solidFill>
                </a:rPr>
                <a:t>Reg</a:t>
              </a:r>
              <a:r>
                <a:rPr lang="en-US" altLang="zh-CN" b="1" dirty="0">
                  <a:solidFill>
                    <a:srgbClr val="FF0000"/>
                  </a:solidFill>
                </a:rPr>
                <a:t>[rs2]</a:t>
              </a:r>
              <a:endParaRPr lang="zh-CN" altLang="en-US" b="1" dirty="0">
                <a:solidFill>
                  <a:srgbClr val="FF0000"/>
                </a:solidFill>
              </a:endParaRPr>
            </a:p>
          </p:txBody>
        </p:sp>
        <p:sp>
          <p:nvSpPr>
            <p:cNvPr id="196" name="文本框 195"/>
            <p:cNvSpPr txBox="1"/>
            <p:nvPr/>
          </p:nvSpPr>
          <p:spPr>
            <a:xfrm rot="5400000">
              <a:off x="8402388" y="4678692"/>
              <a:ext cx="828717" cy="369332"/>
            </a:xfrm>
            <a:prstGeom prst="rect">
              <a:avLst/>
            </a:prstGeom>
            <a:noFill/>
          </p:spPr>
          <p:txBody>
            <a:bodyPr wrap="square" rtlCol="0">
              <a:spAutoFit/>
            </a:bodyPr>
            <a:lstStyle/>
            <a:p>
              <a:r>
                <a:rPr lang="en-US" altLang="zh-CN" b="1" dirty="0">
                  <a:solidFill>
                    <a:srgbClr val="0000FF"/>
                  </a:solidFill>
                </a:rPr>
                <a:t>result</a:t>
              </a:r>
              <a:endParaRPr lang="zh-CN" altLang="en-US" b="1" dirty="0">
                <a:solidFill>
                  <a:srgbClr val="0000FF"/>
                </a:solidFill>
              </a:endParaRPr>
            </a:p>
          </p:txBody>
        </p:sp>
        <p:sp>
          <p:nvSpPr>
            <p:cNvPr id="197" name="文本框 196"/>
            <p:cNvSpPr txBox="1"/>
            <p:nvPr/>
          </p:nvSpPr>
          <p:spPr>
            <a:xfrm rot="5400000">
              <a:off x="8405417" y="4085189"/>
              <a:ext cx="828717" cy="369332"/>
            </a:xfrm>
            <a:prstGeom prst="rect">
              <a:avLst/>
            </a:prstGeom>
            <a:noFill/>
          </p:spPr>
          <p:txBody>
            <a:bodyPr wrap="square" rtlCol="0">
              <a:spAutoFit/>
            </a:bodyPr>
            <a:lstStyle/>
            <a:p>
              <a:r>
                <a:rPr lang="en-US" altLang="zh-CN" b="1" dirty="0">
                  <a:solidFill>
                    <a:srgbClr val="0000FF"/>
                  </a:solidFill>
                </a:rPr>
                <a:t>zero</a:t>
              </a:r>
              <a:endParaRPr lang="zh-CN" altLang="en-US" b="1" dirty="0">
                <a:solidFill>
                  <a:srgbClr val="0000FF"/>
                </a:solidFill>
              </a:endParaRPr>
            </a:p>
          </p:txBody>
        </p:sp>
      </p:grpSp>
      <p:sp>
        <p:nvSpPr>
          <p:cNvPr id="198" name="文本框 197"/>
          <p:cNvSpPr txBox="1"/>
          <p:nvPr/>
        </p:nvSpPr>
        <p:spPr>
          <a:xfrm>
            <a:off x="9891148" y="5847770"/>
            <a:ext cx="828717" cy="369332"/>
          </a:xfrm>
          <a:prstGeom prst="rect">
            <a:avLst/>
          </a:prstGeom>
          <a:noFill/>
        </p:spPr>
        <p:txBody>
          <a:bodyPr wrap="square" rtlCol="0">
            <a:spAutoFit/>
          </a:bodyPr>
          <a:lstStyle/>
          <a:p>
            <a:r>
              <a:rPr lang="en-US" altLang="zh-CN" b="1" dirty="0">
                <a:solidFill>
                  <a:srgbClr val="0000FF"/>
                </a:solidFill>
              </a:rPr>
              <a:t>result</a:t>
            </a:r>
            <a:endParaRPr lang="zh-CN" altLang="en-US" b="1" dirty="0">
              <a:solidFill>
                <a:srgbClr val="0000FF"/>
              </a:solidFill>
            </a:endParaRPr>
          </a:p>
        </p:txBody>
      </p:sp>
      <p:grpSp>
        <p:nvGrpSpPr>
          <p:cNvPr id="32" name="组合 31"/>
          <p:cNvGrpSpPr/>
          <p:nvPr/>
        </p:nvGrpSpPr>
        <p:grpSpPr>
          <a:xfrm>
            <a:off x="10630244" y="3766521"/>
            <a:ext cx="385717" cy="2552515"/>
            <a:chOff x="10630244" y="3766521"/>
            <a:chExt cx="385717" cy="2552515"/>
          </a:xfrm>
        </p:grpSpPr>
        <p:sp>
          <p:nvSpPr>
            <p:cNvPr id="199" name="文本框 198"/>
            <p:cNvSpPr txBox="1"/>
            <p:nvPr/>
          </p:nvSpPr>
          <p:spPr>
            <a:xfrm rot="5400000">
              <a:off x="10416936" y="5720012"/>
              <a:ext cx="828717" cy="369332"/>
            </a:xfrm>
            <a:prstGeom prst="rect">
              <a:avLst/>
            </a:prstGeom>
            <a:noFill/>
          </p:spPr>
          <p:txBody>
            <a:bodyPr wrap="square" rtlCol="0">
              <a:spAutoFit/>
            </a:bodyPr>
            <a:lstStyle/>
            <a:p>
              <a:r>
                <a:rPr lang="en-US" altLang="zh-CN" b="1" dirty="0">
                  <a:solidFill>
                    <a:srgbClr val="C00000"/>
                  </a:solidFill>
                </a:rPr>
                <a:t>result</a:t>
              </a:r>
              <a:endParaRPr lang="zh-CN" altLang="en-US" b="1" dirty="0">
                <a:solidFill>
                  <a:srgbClr val="C00000"/>
                </a:solidFill>
              </a:endParaRPr>
            </a:p>
          </p:txBody>
        </p:sp>
        <p:sp>
          <p:nvSpPr>
            <p:cNvPr id="200" name="文本框 199"/>
            <p:cNvSpPr txBox="1"/>
            <p:nvPr/>
          </p:nvSpPr>
          <p:spPr>
            <a:xfrm rot="5400000">
              <a:off x="10198996" y="4197769"/>
              <a:ext cx="1231828" cy="369332"/>
            </a:xfrm>
            <a:prstGeom prst="rect">
              <a:avLst/>
            </a:prstGeom>
            <a:noFill/>
          </p:spPr>
          <p:txBody>
            <a:bodyPr wrap="square" rtlCol="0">
              <a:spAutoFit/>
            </a:bodyPr>
            <a:lstStyle/>
            <a:p>
              <a:r>
                <a:rPr lang="en-US" altLang="zh-CN" b="1" dirty="0">
                  <a:solidFill>
                    <a:srgbClr val="C00000"/>
                  </a:solidFill>
                </a:rPr>
                <a:t>Read data</a:t>
              </a:r>
              <a:endParaRPr lang="zh-CN" altLang="en-US" b="1" dirty="0">
                <a:solidFill>
                  <a:srgbClr val="C00000"/>
                </a:solidFill>
              </a:endParaRPr>
            </a:p>
          </p:txBody>
        </p:sp>
      </p:grpSp>
      <p:grpSp>
        <p:nvGrpSpPr>
          <p:cNvPr id="26" name="组合 25"/>
          <p:cNvGrpSpPr/>
          <p:nvPr/>
        </p:nvGrpSpPr>
        <p:grpSpPr>
          <a:xfrm>
            <a:off x="3382887" y="1537220"/>
            <a:ext cx="5011796" cy="1174835"/>
            <a:chOff x="3382887" y="1537220"/>
            <a:chExt cx="5011796" cy="1174835"/>
          </a:xfrm>
        </p:grpSpPr>
        <p:sp>
          <p:nvSpPr>
            <p:cNvPr id="6" name="文本框 5"/>
            <p:cNvSpPr txBox="1"/>
            <p:nvPr/>
          </p:nvSpPr>
          <p:spPr>
            <a:xfrm>
              <a:off x="6947417" y="1537220"/>
              <a:ext cx="1447266" cy="477054"/>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altLang="zh-CN" sz="2500" dirty="0"/>
                <a:t>PC</a:t>
              </a:r>
              <a:r>
                <a:rPr lang="zh-CN" altLang="en-US" sz="2500" dirty="0"/>
                <a:t>一样？</a:t>
              </a:r>
            </a:p>
          </p:txBody>
        </p:sp>
        <p:cxnSp>
          <p:nvCxnSpPr>
            <p:cNvPr id="9" name="直接箭头连接符 8"/>
            <p:cNvCxnSpPr/>
            <p:nvPr/>
          </p:nvCxnSpPr>
          <p:spPr>
            <a:xfrm flipV="1">
              <a:off x="3382887" y="1790086"/>
              <a:ext cx="3399388" cy="921969"/>
            </a:xfrm>
            <a:prstGeom prst="straightConnector1">
              <a:avLst/>
            </a:prstGeom>
            <a:ln w="28575">
              <a:headEnd type="none"/>
              <a:tailEnd type="triangle"/>
            </a:ln>
          </p:spPr>
          <p:style>
            <a:lnRef idx="1">
              <a:schemeClr val="accent4"/>
            </a:lnRef>
            <a:fillRef idx="0">
              <a:schemeClr val="accent4"/>
            </a:fillRef>
            <a:effectRef idx="0">
              <a:schemeClr val="accent4"/>
            </a:effectRef>
            <a:fontRef idx="minor">
              <a:schemeClr val="tx1"/>
            </a:fontRef>
          </p:style>
        </p:cxnSp>
        <p:cxnSp>
          <p:nvCxnSpPr>
            <p:cNvPr id="16" name="直接箭头连接符 15"/>
            <p:cNvCxnSpPr>
              <a:stCxn id="171" idx="0"/>
            </p:cNvCxnSpPr>
            <p:nvPr/>
          </p:nvCxnSpPr>
          <p:spPr>
            <a:xfrm flipV="1">
              <a:off x="6006586" y="1831693"/>
              <a:ext cx="863844" cy="761541"/>
            </a:xfrm>
            <a:prstGeom prst="straightConnector1">
              <a:avLst/>
            </a:prstGeom>
            <a:ln w="28575">
              <a:headEnd type="none"/>
              <a:tailEnd type="triangle"/>
            </a:ln>
          </p:spPr>
          <p:style>
            <a:lnRef idx="1">
              <a:schemeClr val="accent4"/>
            </a:lnRef>
            <a:fillRef idx="0">
              <a:schemeClr val="accent4"/>
            </a:fillRef>
            <a:effectRef idx="0">
              <a:schemeClr val="accent4"/>
            </a:effectRef>
            <a:fontRef idx="minor">
              <a:schemeClr val="tx1"/>
            </a:fontRef>
          </p:style>
        </p:cxnSp>
        <p:cxnSp>
          <p:nvCxnSpPr>
            <p:cNvPr id="25" name="直接箭头连接符 24"/>
            <p:cNvCxnSpPr/>
            <p:nvPr/>
          </p:nvCxnSpPr>
          <p:spPr>
            <a:xfrm flipV="1">
              <a:off x="7453194" y="2014274"/>
              <a:ext cx="18881" cy="572800"/>
            </a:xfrm>
            <a:prstGeom prst="straightConnector1">
              <a:avLst/>
            </a:prstGeom>
            <a:ln w="28575">
              <a:headEnd type="none"/>
              <a:tailEnd type="triangle"/>
            </a:ln>
          </p:spPr>
          <p:style>
            <a:lnRef idx="1">
              <a:schemeClr val="accent4"/>
            </a:lnRef>
            <a:fillRef idx="0">
              <a:schemeClr val="accent4"/>
            </a:fillRef>
            <a:effectRef idx="0">
              <a:schemeClr val="accent4"/>
            </a:effectRef>
            <a:fontRef idx="minor">
              <a:schemeClr val="tx1"/>
            </a:fontRef>
          </p:style>
        </p:cxnSp>
      </p:grpSp>
      <p:sp>
        <p:nvSpPr>
          <p:cNvPr id="28" name="文本框 27"/>
          <p:cNvSpPr txBox="1"/>
          <p:nvPr/>
        </p:nvSpPr>
        <p:spPr>
          <a:xfrm>
            <a:off x="309059" y="5129307"/>
            <a:ext cx="2841054" cy="646331"/>
          </a:xfrm>
          <a:prstGeom prst="rect">
            <a:avLst/>
          </a:prstGeom>
        </p:spPr>
        <p:style>
          <a:lnRef idx="1">
            <a:schemeClr val="accent3"/>
          </a:lnRef>
          <a:fillRef idx="3">
            <a:schemeClr val="accent3"/>
          </a:fillRef>
          <a:effectRef idx="2">
            <a:schemeClr val="accent3"/>
          </a:effectRef>
          <a:fontRef idx="minor">
            <a:schemeClr val="lt1"/>
          </a:fontRef>
        </p:style>
        <p:txBody>
          <a:bodyPr wrap="square" rtlCol="0">
            <a:spAutoFit/>
          </a:bodyPr>
          <a:lstStyle/>
          <a:p>
            <a:pPr marL="285750" indent="-285750">
              <a:buFont typeface="Arial" panose="020B0604020202020204" pitchFamily="34" charset="0"/>
              <a:buChar char="•"/>
            </a:pPr>
            <a:r>
              <a:rPr lang="zh-CN" altLang="en-US" dirty="0">
                <a:solidFill>
                  <a:srgbClr val="0000FF"/>
                </a:solidFill>
              </a:rPr>
              <a:t>流水线寄存器的命名</a:t>
            </a:r>
            <a:endParaRPr lang="en-US" altLang="zh-CN" dirty="0">
              <a:solidFill>
                <a:srgbClr val="0000FF"/>
              </a:solidFill>
            </a:endParaRPr>
          </a:p>
          <a:p>
            <a:pPr marL="285750" indent="-285750">
              <a:buFont typeface="Arial" panose="020B0604020202020204" pitchFamily="34" charset="0"/>
              <a:buChar char="•"/>
            </a:pPr>
            <a:r>
              <a:rPr lang="zh-CN" altLang="en-US" dirty="0">
                <a:solidFill>
                  <a:srgbClr val="0000FF"/>
                </a:solidFill>
              </a:rPr>
              <a:t>流水线寄存器中的数据</a:t>
            </a:r>
          </a:p>
        </p:txBody>
      </p:sp>
    </p:spTree>
    <p:extLst>
      <p:ext uri="{BB962C8B-B14F-4D97-AF65-F5344CB8AC3E}">
        <p14:creationId xmlns:p14="http://schemas.microsoft.com/office/powerpoint/2010/main" val="4066596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pPr lvl="1"/>
            <a:endPar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a:p>
            <a:endParaRPr lang="zh-CN" altLang="en-US" dirty="0"/>
          </a:p>
        </p:txBody>
      </p:sp>
      <p:grpSp>
        <p:nvGrpSpPr>
          <p:cNvPr id="20" name="PC"/>
          <p:cNvGrpSpPr/>
          <p:nvPr/>
        </p:nvGrpSpPr>
        <p:grpSpPr>
          <a:xfrm>
            <a:off x="1633200" y="3742765"/>
            <a:ext cx="508932" cy="707887"/>
            <a:chOff x="792726" y="4754327"/>
            <a:chExt cx="1018662" cy="607761"/>
          </a:xfrm>
        </p:grpSpPr>
        <p:sp>
          <p:nvSpPr>
            <p:cNvPr id="15" name="矩形 14"/>
            <p:cNvSpPr/>
            <p:nvPr/>
          </p:nvSpPr>
          <p:spPr>
            <a:xfrm>
              <a:off x="887030" y="4800600"/>
              <a:ext cx="639939" cy="502920"/>
            </a:xfrm>
            <a:prstGeom prst="rect">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9" name="文本框 18"/>
            <p:cNvSpPr txBox="1"/>
            <p:nvPr/>
          </p:nvSpPr>
          <p:spPr>
            <a:xfrm>
              <a:off x="792726" y="4754327"/>
              <a:ext cx="1018662" cy="607761"/>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PC</a:t>
              </a:r>
              <a:endParaRPr kumimoji="0" lang="zh-CN" alt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4" name="Add"/>
          <p:cNvGrpSpPr/>
          <p:nvPr/>
        </p:nvGrpSpPr>
        <p:grpSpPr>
          <a:xfrm>
            <a:off x="2469944" y="2691937"/>
            <a:ext cx="655949" cy="822349"/>
            <a:chOff x="4656246" y="4140786"/>
            <a:chExt cx="743403" cy="964617"/>
          </a:xfrm>
        </p:grpSpPr>
        <p:sp>
          <p:nvSpPr>
            <p:cNvPr id="22" name="梯形 21"/>
            <p:cNvSpPr/>
            <p:nvPr/>
          </p:nvSpPr>
          <p:spPr>
            <a:xfrm rot="5400000">
              <a:off x="4538209" y="4329347"/>
              <a:ext cx="964617" cy="587495"/>
            </a:xfrm>
            <a:prstGeom prst="trapezoid">
              <a:avLst>
                <a:gd name="adj" fmla="val 43158"/>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3" name="文本框 22"/>
            <p:cNvSpPr txBox="1"/>
            <p:nvPr/>
          </p:nvSpPr>
          <p:spPr>
            <a:xfrm>
              <a:off x="4656246" y="4371481"/>
              <a:ext cx="743403"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36" name="IF/ID"/>
          <p:cNvGrpSpPr/>
          <p:nvPr/>
        </p:nvGrpSpPr>
        <p:grpSpPr>
          <a:xfrm>
            <a:off x="3320547" y="2241368"/>
            <a:ext cx="797013" cy="4114272"/>
            <a:chOff x="116128" y="450828"/>
            <a:chExt cx="955165" cy="5944486"/>
          </a:xfrm>
        </p:grpSpPr>
        <p:sp>
          <p:nvSpPr>
            <p:cNvPr id="34" name="矩形 33"/>
            <p:cNvSpPr/>
            <p:nvPr/>
          </p:nvSpPr>
          <p:spPr>
            <a:xfrm>
              <a:off x="358141" y="937259"/>
              <a:ext cx="358140" cy="5458055"/>
            </a:xfrm>
            <a:prstGeom prst="rect">
              <a:avLst/>
            </a:prstGeom>
            <a:noFill/>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5" name="文本框 34"/>
            <p:cNvSpPr txBox="1"/>
            <p:nvPr/>
          </p:nvSpPr>
          <p:spPr>
            <a:xfrm>
              <a:off x="116128" y="450828"/>
              <a:ext cx="955165" cy="578097"/>
            </a:xfrm>
            <a:prstGeom prst="rect">
              <a:avLst/>
            </a:prstGeom>
            <a:ln w="25400">
              <a:noFill/>
            </a:ln>
          </p:spPr>
          <p:style>
            <a:lnRef idx="1">
              <a:schemeClr val="accent1"/>
            </a:lnRef>
            <a:fillRef idx="0">
              <a:schemeClr val="accent1"/>
            </a:fillRef>
            <a:effectRef idx="0">
              <a:schemeClr val="accent1"/>
            </a:effectRef>
            <a:fontRef idx="minor">
              <a:schemeClr val="tx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IF/ID</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45" name="Registers"/>
          <p:cNvGrpSpPr/>
          <p:nvPr/>
        </p:nvGrpSpPr>
        <p:grpSpPr>
          <a:xfrm>
            <a:off x="4450699" y="3002032"/>
            <a:ext cx="1726163" cy="2568442"/>
            <a:chOff x="1920262" y="241327"/>
            <a:chExt cx="3106114" cy="3344105"/>
          </a:xfrm>
        </p:grpSpPr>
        <p:sp>
          <p:nvSpPr>
            <p:cNvPr id="37" name="矩形 36"/>
            <p:cNvSpPr/>
            <p:nvPr/>
          </p:nvSpPr>
          <p:spPr>
            <a:xfrm>
              <a:off x="2026387" y="320244"/>
              <a:ext cx="2772304" cy="3265188"/>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 name="文本框 37"/>
            <p:cNvSpPr txBox="1"/>
            <p:nvPr/>
          </p:nvSpPr>
          <p:spPr>
            <a:xfrm>
              <a:off x="2121631" y="1515410"/>
              <a:ext cx="2149527" cy="52094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Registers</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 name="文本框 38"/>
            <p:cNvSpPr txBox="1"/>
            <p:nvPr/>
          </p:nvSpPr>
          <p:spPr>
            <a:xfrm>
              <a:off x="1920789" y="241327"/>
              <a:ext cx="2611979"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0" name="文本框 39"/>
            <p:cNvSpPr txBox="1"/>
            <p:nvPr/>
          </p:nvSpPr>
          <p:spPr>
            <a:xfrm>
              <a:off x="1920262" y="740405"/>
              <a:ext cx="2450645"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1" name="文本框 40"/>
            <p:cNvSpPr txBox="1"/>
            <p:nvPr/>
          </p:nvSpPr>
          <p:spPr>
            <a:xfrm>
              <a:off x="1925707" y="2479303"/>
              <a:ext cx="2199198"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reg</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2" name="文本框 41"/>
            <p:cNvSpPr txBox="1"/>
            <p:nvPr/>
          </p:nvSpPr>
          <p:spPr>
            <a:xfrm>
              <a:off x="1938951" y="2943791"/>
              <a:ext cx="2364242"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3" name="文本框 42"/>
            <p:cNvSpPr txBox="1"/>
            <p:nvPr/>
          </p:nvSpPr>
          <p:spPr>
            <a:xfrm>
              <a:off x="2467221" y="1159239"/>
              <a:ext cx="2524881"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4" name="文本框 43"/>
            <p:cNvSpPr txBox="1"/>
            <p:nvPr/>
          </p:nvSpPr>
          <p:spPr>
            <a:xfrm>
              <a:off x="2431051" y="1920895"/>
              <a:ext cx="2595325" cy="520942"/>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48" name="Imm Gen"/>
          <p:cNvGrpSpPr/>
          <p:nvPr/>
        </p:nvGrpSpPr>
        <p:grpSpPr>
          <a:xfrm>
            <a:off x="5248321" y="5738163"/>
            <a:ext cx="658095" cy="538474"/>
            <a:chOff x="4868693" y="6172575"/>
            <a:chExt cx="992993" cy="1215294"/>
          </a:xfrm>
        </p:grpSpPr>
        <p:sp>
          <p:nvSpPr>
            <p:cNvPr id="46" name="椭圆 45"/>
            <p:cNvSpPr/>
            <p:nvPr/>
          </p:nvSpPr>
          <p:spPr>
            <a:xfrm>
              <a:off x="4868693" y="6172575"/>
              <a:ext cx="984044" cy="1146747"/>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7" name="文本框 46"/>
            <p:cNvSpPr txBox="1"/>
            <p:nvPr/>
          </p:nvSpPr>
          <p:spPr>
            <a:xfrm>
              <a:off x="4895397" y="6339596"/>
              <a:ext cx="966289" cy="104827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Imm</a:t>
              </a: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Gen</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55" name="Add Sum"/>
          <p:cNvGrpSpPr/>
          <p:nvPr/>
        </p:nvGrpSpPr>
        <p:grpSpPr>
          <a:xfrm>
            <a:off x="7740114" y="2819407"/>
            <a:ext cx="655949" cy="768090"/>
            <a:chOff x="5634620" y="2480764"/>
            <a:chExt cx="1081993" cy="1475010"/>
          </a:xfrm>
        </p:grpSpPr>
        <p:sp>
          <p:nvSpPr>
            <p:cNvPr id="52" name="梯形 51"/>
            <p:cNvSpPr/>
            <p:nvPr/>
          </p:nvSpPr>
          <p:spPr>
            <a:xfrm rot="5400000">
              <a:off x="5424366" y="2770445"/>
              <a:ext cx="1475010" cy="895647"/>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4" name="文本框 53"/>
            <p:cNvSpPr txBox="1"/>
            <p:nvPr/>
          </p:nvSpPr>
          <p:spPr>
            <a:xfrm>
              <a:off x="5634620" y="2851177"/>
              <a:ext cx="1081993" cy="93914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Sum</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61" name="ALU"/>
          <p:cNvGrpSpPr/>
          <p:nvPr/>
        </p:nvGrpSpPr>
        <p:grpSpPr>
          <a:xfrm>
            <a:off x="7667038" y="3846660"/>
            <a:ext cx="880667" cy="1454509"/>
            <a:chOff x="6023805" y="3618922"/>
            <a:chExt cx="1295157" cy="1704463"/>
          </a:xfrm>
        </p:grpSpPr>
        <p:sp>
          <p:nvSpPr>
            <p:cNvPr id="57" name="梯形 56"/>
            <p:cNvSpPr/>
            <p:nvPr/>
          </p:nvSpPr>
          <p:spPr>
            <a:xfrm rot="5400000">
              <a:off x="5805450" y="3911167"/>
              <a:ext cx="1704463" cy="1119974"/>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8" name="文本框 57"/>
            <p:cNvSpPr txBox="1"/>
            <p:nvPr/>
          </p:nvSpPr>
          <p:spPr>
            <a:xfrm>
              <a:off x="6023805" y="3779478"/>
              <a:ext cx="1070760"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ALU</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9" name="文本框 58"/>
            <p:cNvSpPr txBox="1"/>
            <p:nvPr/>
          </p:nvSpPr>
          <p:spPr>
            <a:xfrm>
              <a:off x="6212840" y="4596488"/>
              <a:ext cx="1106122" cy="347668"/>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result</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60" name="文本框 59"/>
            <p:cNvSpPr txBox="1"/>
            <p:nvPr/>
          </p:nvSpPr>
          <p:spPr>
            <a:xfrm>
              <a:off x="6276821" y="4080452"/>
              <a:ext cx="983534"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Zero</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65" name="shift left 1"/>
          <p:cNvGrpSpPr/>
          <p:nvPr/>
        </p:nvGrpSpPr>
        <p:grpSpPr>
          <a:xfrm>
            <a:off x="6688335" y="2971375"/>
            <a:ext cx="774571" cy="682474"/>
            <a:chOff x="6107415" y="4133981"/>
            <a:chExt cx="1189523" cy="1146746"/>
          </a:xfrm>
        </p:grpSpPr>
        <p:sp>
          <p:nvSpPr>
            <p:cNvPr id="63" name="椭圆 62"/>
            <p:cNvSpPr/>
            <p:nvPr/>
          </p:nvSpPr>
          <p:spPr>
            <a:xfrm>
              <a:off x="6161866" y="4133981"/>
              <a:ext cx="984043" cy="1146746"/>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64" name="文本框 63"/>
            <p:cNvSpPr txBox="1"/>
            <p:nvPr/>
          </p:nvSpPr>
          <p:spPr>
            <a:xfrm>
              <a:off x="6107415" y="4371720"/>
              <a:ext cx="1189523" cy="821732"/>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Shift </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left 1</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72" name="Mux 3"/>
          <p:cNvGrpSpPr/>
          <p:nvPr/>
        </p:nvGrpSpPr>
        <p:grpSpPr>
          <a:xfrm>
            <a:off x="11234167" y="4908409"/>
            <a:ext cx="596486" cy="1168007"/>
            <a:chOff x="3628473" y="5448300"/>
            <a:chExt cx="839025" cy="1230515"/>
          </a:xfrm>
        </p:grpSpPr>
        <p:sp>
          <p:nvSpPr>
            <p:cNvPr id="73" name="mux"/>
            <p:cNvSpPr/>
            <p:nvPr/>
          </p:nvSpPr>
          <p:spPr>
            <a:xfrm rot="5400000">
              <a:off x="3386121" y="5744398"/>
              <a:ext cx="1230515" cy="638319"/>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4" name="文本框 73"/>
            <p:cNvSpPr txBox="1"/>
            <p:nvPr/>
          </p:nvSpPr>
          <p:spPr>
            <a:xfrm>
              <a:off x="3628473" y="5492154"/>
              <a:ext cx="260679"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5" name="文本框 74"/>
            <p:cNvSpPr txBox="1"/>
            <p:nvPr/>
          </p:nvSpPr>
          <p:spPr>
            <a:xfrm>
              <a:off x="3641695" y="6293721"/>
              <a:ext cx="404061" cy="35667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6" name="文本框 75"/>
            <p:cNvSpPr txBox="1"/>
            <p:nvPr/>
          </p:nvSpPr>
          <p:spPr>
            <a:xfrm>
              <a:off x="3867268" y="5599309"/>
              <a:ext cx="600230" cy="1070017"/>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90" name="Data memory"/>
          <p:cNvGrpSpPr/>
          <p:nvPr/>
        </p:nvGrpSpPr>
        <p:grpSpPr>
          <a:xfrm>
            <a:off x="9254461" y="4091144"/>
            <a:ext cx="1417516" cy="1635472"/>
            <a:chOff x="14770965" y="4726326"/>
            <a:chExt cx="3011394" cy="3362560"/>
          </a:xfrm>
        </p:grpSpPr>
        <p:sp>
          <p:nvSpPr>
            <p:cNvPr id="82" name="矩形 81"/>
            <p:cNvSpPr/>
            <p:nvPr/>
          </p:nvSpPr>
          <p:spPr>
            <a:xfrm>
              <a:off x="14919092" y="4726326"/>
              <a:ext cx="2551866" cy="33625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3" name="文本框 82"/>
            <p:cNvSpPr txBox="1"/>
            <p:nvPr/>
          </p:nvSpPr>
          <p:spPr>
            <a:xfrm>
              <a:off x="14893548" y="4778415"/>
              <a:ext cx="2622003" cy="100548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Data </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memory</a:t>
              </a:r>
            </a:p>
          </p:txBody>
        </p:sp>
        <p:sp>
          <p:nvSpPr>
            <p:cNvPr id="84" name="文本框 83"/>
            <p:cNvSpPr txBox="1"/>
            <p:nvPr/>
          </p:nvSpPr>
          <p:spPr>
            <a:xfrm>
              <a:off x="14776597" y="5875439"/>
              <a:ext cx="2291814"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7" name="文本框 86"/>
            <p:cNvSpPr txBox="1"/>
            <p:nvPr/>
          </p:nvSpPr>
          <p:spPr>
            <a:xfrm>
              <a:off x="14770965" y="7263927"/>
              <a:ext cx="2654424"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8" name="文本框 87"/>
            <p:cNvSpPr txBox="1"/>
            <p:nvPr/>
          </p:nvSpPr>
          <p:spPr>
            <a:xfrm>
              <a:off x="15110098" y="6521639"/>
              <a:ext cx="2672261"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101" name="矩形 100"/>
          <p:cNvSpPr/>
          <p:nvPr/>
        </p:nvSpPr>
        <p:spPr>
          <a:xfrm>
            <a:off x="6355751" y="2585683"/>
            <a:ext cx="316009" cy="3769417"/>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11" name="矩形 110"/>
          <p:cNvSpPr/>
          <p:nvPr/>
        </p:nvSpPr>
        <p:spPr>
          <a:xfrm>
            <a:off x="8733496" y="2590433"/>
            <a:ext cx="291194" cy="3754340"/>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1" name="矩形 120"/>
          <p:cNvSpPr/>
          <p:nvPr/>
        </p:nvSpPr>
        <p:spPr>
          <a:xfrm>
            <a:off x="10735327" y="2576998"/>
            <a:ext cx="300877" cy="3767775"/>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160" name="直接连接符 159"/>
          <p:cNvCxnSpPr/>
          <p:nvPr/>
        </p:nvCxnSpPr>
        <p:spPr>
          <a:xfrm flipV="1">
            <a:off x="3821329" y="2901211"/>
            <a:ext cx="2534421" cy="109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直接连接符 162"/>
          <p:cNvCxnSpPr>
            <a:stCxn id="22" idx="0"/>
          </p:cNvCxnSpPr>
          <p:nvPr/>
        </p:nvCxnSpPr>
        <p:spPr>
          <a:xfrm flipV="1">
            <a:off x="3050556" y="3101224"/>
            <a:ext cx="82559" cy="18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a:off x="2088638" y="2828119"/>
            <a:ext cx="43729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flipH="1">
            <a:off x="2088638" y="2819407"/>
            <a:ext cx="3782" cy="1271738"/>
          </a:xfrm>
          <a:prstGeom prst="line">
            <a:avLst/>
          </a:prstGeom>
          <a:ln w="25400">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3124237" y="2411305"/>
            <a:ext cx="0" cy="6899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a:stCxn id="52" idx="0"/>
          </p:cNvCxnSpPr>
          <p:nvPr/>
        </p:nvCxnSpPr>
        <p:spPr>
          <a:xfrm flipV="1">
            <a:off x="8331252" y="3203452"/>
            <a:ext cx="404306"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直接连接符 187"/>
          <p:cNvCxnSpPr/>
          <p:nvPr/>
        </p:nvCxnSpPr>
        <p:spPr>
          <a:xfrm>
            <a:off x="835113" y="2411305"/>
            <a:ext cx="22980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a:off x="835113" y="2411305"/>
            <a:ext cx="0" cy="13869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a:off x="4129571" y="3233175"/>
            <a:ext cx="409392"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4116314" y="3586026"/>
            <a:ext cx="395373"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a:off x="6054922" y="4041546"/>
            <a:ext cx="30542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a:xfrm>
            <a:off x="6054923" y="4482928"/>
            <a:ext cx="29581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6" name="直接连接符 215"/>
          <p:cNvCxnSpPr/>
          <p:nvPr/>
        </p:nvCxnSpPr>
        <p:spPr>
          <a:xfrm>
            <a:off x="4107576" y="5992463"/>
            <a:ext cx="1143140"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18" name="直接连接符 217"/>
          <p:cNvCxnSpPr/>
          <p:nvPr/>
        </p:nvCxnSpPr>
        <p:spPr>
          <a:xfrm flipV="1">
            <a:off x="5902880" y="5975947"/>
            <a:ext cx="457463" cy="719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1" name="直接连接符 260"/>
          <p:cNvCxnSpPr/>
          <p:nvPr/>
        </p:nvCxnSpPr>
        <p:spPr>
          <a:xfrm>
            <a:off x="7394024" y="3325945"/>
            <a:ext cx="36100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3" name="直接连接符 262"/>
          <p:cNvCxnSpPr/>
          <p:nvPr/>
        </p:nvCxnSpPr>
        <p:spPr>
          <a:xfrm>
            <a:off x="6680267" y="4067077"/>
            <a:ext cx="103718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2" name="Mux 3"/>
          <p:cNvGrpSpPr/>
          <p:nvPr/>
        </p:nvGrpSpPr>
        <p:grpSpPr>
          <a:xfrm>
            <a:off x="965289" y="3586807"/>
            <a:ext cx="615567" cy="1168007"/>
            <a:chOff x="3339670" y="5460516"/>
            <a:chExt cx="901073" cy="1230515"/>
          </a:xfrm>
        </p:grpSpPr>
        <p:sp>
          <p:nvSpPr>
            <p:cNvPr id="133" name="mux"/>
            <p:cNvSpPr/>
            <p:nvPr/>
          </p:nvSpPr>
          <p:spPr>
            <a:xfrm rot="5400000">
              <a:off x="3140776" y="5731027"/>
              <a:ext cx="1230515" cy="689494"/>
            </a:xfrm>
            <a:prstGeom prst="flowChartTerminator">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4" name="文本框 133"/>
            <p:cNvSpPr txBox="1"/>
            <p:nvPr/>
          </p:nvSpPr>
          <p:spPr>
            <a:xfrm>
              <a:off x="3365437" y="5514581"/>
              <a:ext cx="260684"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5" name="文本框 134"/>
            <p:cNvSpPr txBox="1"/>
            <p:nvPr/>
          </p:nvSpPr>
          <p:spPr>
            <a:xfrm>
              <a:off x="3339670" y="6240974"/>
              <a:ext cx="324022"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6" name="文本框 135"/>
            <p:cNvSpPr txBox="1"/>
            <p:nvPr/>
          </p:nvSpPr>
          <p:spPr>
            <a:xfrm>
              <a:off x="3616106" y="5588478"/>
              <a:ext cx="624637" cy="107001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52" name="直接连接符 151"/>
          <p:cNvCxnSpPr/>
          <p:nvPr/>
        </p:nvCxnSpPr>
        <p:spPr>
          <a:xfrm>
            <a:off x="8485867" y="4805448"/>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a:off x="9036553" y="4815413"/>
            <a:ext cx="28232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a:off x="9016382" y="5430470"/>
            <a:ext cx="3068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10534608" y="5110254"/>
            <a:ext cx="20911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56" name="Mux 3"/>
          <p:cNvGrpSpPr/>
          <p:nvPr/>
        </p:nvGrpSpPr>
        <p:grpSpPr>
          <a:xfrm>
            <a:off x="7031563" y="4184281"/>
            <a:ext cx="482064" cy="1168006"/>
            <a:chOff x="3558568" y="5448300"/>
            <a:chExt cx="706348" cy="1230515"/>
          </a:xfrm>
        </p:grpSpPr>
        <p:sp>
          <p:nvSpPr>
            <p:cNvPr id="157" name="mux"/>
            <p:cNvSpPr/>
            <p:nvPr/>
          </p:nvSpPr>
          <p:spPr>
            <a:xfrm rot="5400000">
              <a:off x="3332723" y="5746622"/>
              <a:ext cx="1230515" cy="633871"/>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8" name="文本框 157"/>
            <p:cNvSpPr txBox="1"/>
            <p:nvPr/>
          </p:nvSpPr>
          <p:spPr>
            <a:xfrm>
              <a:off x="3571052" y="5580627"/>
              <a:ext cx="260683"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9" name="文本框 158"/>
            <p:cNvSpPr txBox="1"/>
            <p:nvPr/>
          </p:nvSpPr>
          <p:spPr>
            <a:xfrm>
              <a:off x="3558568" y="6264229"/>
              <a:ext cx="408929" cy="34293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6" name="文本框 165"/>
            <p:cNvSpPr txBox="1"/>
            <p:nvPr/>
          </p:nvSpPr>
          <p:spPr>
            <a:xfrm>
              <a:off x="3747999" y="5579240"/>
              <a:ext cx="462611" cy="1070019"/>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68" name="直接连接符 167"/>
          <p:cNvCxnSpPr/>
          <p:nvPr/>
        </p:nvCxnSpPr>
        <p:spPr>
          <a:xfrm flipV="1">
            <a:off x="1493388" y="4096842"/>
            <a:ext cx="178001" cy="5"/>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a:xfrm>
            <a:off x="2331402" y="3290325"/>
            <a:ext cx="18646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a:off x="6680267" y="2895939"/>
            <a:ext cx="1083649" cy="7422"/>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flipH="1">
            <a:off x="6902945" y="3638126"/>
            <a:ext cx="22498" cy="19552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a:off x="6680267" y="5593376"/>
            <a:ext cx="24517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a:off x="6680267" y="4482928"/>
            <a:ext cx="40077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a:off x="6914808" y="5138607"/>
            <a:ext cx="182537" cy="853"/>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a:off x="6801971" y="5430468"/>
            <a:ext cx="1931532"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a:off x="6801971" y="4482928"/>
            <a:ext cx="1766" cy="947540"/>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a:off x="9136904" y="4811851"/>
            <a:ext cx="0" cy="1068388"/>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flipV="1">
            <a:off x="9136904" y="5874440"/>
            <a:ext cx="1599091" cy="572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1" name="直接连接符 270"/>
          <p:cNvCxnSpPr/>
          <p:nvPr/>
        </p:nvCxnSpPr>
        <p:spPr>
          <a:xfrm>
            <a:off x="11026870" y="5863975"/>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3" name="直接连接符 272"/>
          <p:cNvCxnSpPr/>
          <p:nvPr/>
        </p:nvCxnSpPr>
        <p:spPr>
          <a:xfrm>
            <a:off x="7513628" y="4948680"/>
            <a:ext cx="21340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1" name="直接连接符 360"/>
          <p:cNvCxnSpPr>
            <a:endCxn id="76" idx="3"/>
          </p:cNvCxnSpPr>
          <p:nvPr/>
        </p:nvCxnSpPr>
        <p:spPr>
          <a:xfrm>
            <a:off x="11697965" y="5531804"/>
            <a:ext cx="132688" cy="27775"/>
          </a:xfrm>
          <a:prstGeom prst="line">
            <a:avLst/>
          </a:prstGeom>
          <a:ln w="25400">
            <a:noFill/>
          </a:ln>
        </p:spPr>
        <p:style>
          <a:lnRef idx="1">
            <a:schemeClr val="accent1"/>
          </a:lnRef>
          <a:fillRef idx="0">
            <a:schemeClr val="accent1"/>
          </a:fillRef>
          <a:effectRef idx="0">
            <a:schemeClr val="accent1"/>
          </a:effectRef>
          <a:fontRef idx="minor">
            <a:schemeClr val="tx1"/>
          </a:fontRef>
        </p:style>
      </p:cxnSp>
      <p:cxnSp>
        <p:nvCxnSpPr>
          <p:cNvPr id="362" name="直接连接符 361"/>
          <p:cNvCxnSpPr/>
          <p:nvPr/>
        </p:nvCxnSpPr>
        <p:spPr>
          <a:xfrm flipH="1">
            <a:off x="11894232" y="5513714"/>
            <a:ext cx="14406" cy="9965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8" name="直接连接符 367"/>
          <p:cNvCxnSpPr/>
          <p:nvPr/>
        </p:nvCxnSpPr>
        <p:spPr>
          <a:xfrm>
            <a:off x="4262271" y="5215379"/>
            <a:ext cx="0" cy="13086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2" name="直接连接符 371"/>
          <p:cNvCxnSpPr/>
          <p:nvPr/>
        </p:nvCxnSpPr>
        <p:spPr>
          <a:xfrm>
            <a:off x="4258912" y="5215379"/>
            <a:ext cx="247455" cy="48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7" name="直接连接符 376"/>
          <p:cNvCxnSpPr/>
          <p:nvPr/>
        </p:nvCxnSpPr>
        <p:spPr>
          <a:xfrm>
            <a:off x="664446" y="2165550"/>
            <a:ext cx="89899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8" name="直接连接符 387"/>
          <p:cNvCxnSpPr/>
          <p:nvPr/>
        </p:nvCxnSpPr>
        <p:spPr>
          <a:xfrm>
            <a:off x="664446" y="2174593"/>
            <a:ext cx="0" cy="23336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5" name="直接连接符 394"/>
          <p:cNvCxnSpPr/>
          <p:nvPr/>
        </p:nvCxnSpPr>
        <p:spPr>
          <a:xfrm>
            <a:off x="822695" y="3796654"/>
            <a:ext cx="165348" cy="65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7" name="直接连接符 396"/>
          <p:cNvCxnSpPr/>
          <p:nvPr/>
        </p:nvCxnSpPr>
        <p:spPr>
          <a:xfrm>
            <a:off x="655115" y="4503879"/>
            <a:ext cx="332520"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4" name="直接连接符 403"/>
          <p:cNvCxnSpPr/>
          <p:nvPr/>
        </p:nvCxnSpPr>
        <p:spPr>
          <a:xfrm>
            <a:off x="9654417" y="2165550"/>
            <a:ext cx="0" cy="10197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7" name="直接连接符 406"/>
          <p:cNvCxnSpPr/>
          <p:nvPr/>
        </p:nvCxnSpPr>
        <p:spPr>
          <a:xfrm flipV="1">
            <a:off x="9027973" y="3193293"/>
            <a:ext cx="641869" cy="51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2050778" y="3099879"/>
            <a:ext cx="20135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4</a:t>
            </a:r>
            <a:endParaRPr kumimoji="0" lang="zh-CN" altLang="en-US"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cxnSp>
        <p:nvCxnSpPr>
          <p:cNvPr id="247" name="直接连接符 246"/>
          <p:cNvCxnSpPr/>
          <p:nvPr/>
        </p:nvCxnSpPr>
        <p:spPr>
          <a:xfrm>
            <a:off x="11746557" y="5513714"/>
            <a:ext cx="16208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a:xfrm>
            <a:off x="4107576" y="3231114"/>
            <a:ext cx="0" cy="27611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a:off x="8485867" y="4404852"/>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a:off x="9027044" y="4404893"/>
            <a:ext cx="18594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直接连接符 216"/>
          <p:cNvCxnSpPr/>
          <p:nvPr/>
        </p:nvCxnSpPr>
        <p:spPr>
          <a:xfrm>
            <a:off x="4116786" y="4873302"/>
            <a:ext cx="389581" cy="1331"/>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99" name="连接符: 肘形 98"/>
          <p:cNvCxnSpPr/>
          <p:nvPr/>
        </p:nvCxnSpPr>
        <p:spPr>
          <a:xfrm flipV="1">
            <a:off x="2102604" y="2912125"/>
            <a:ext cx="1431289" cy="730238"/>
          </a:xfrm>
          <a:prstGeom prst="bentConnector3">
            <a:avLst>
              <a:gd name="adj1" fmla="val 82595"/>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238" name="文本框 237"/>
          <p:cNvSpPr txBox="1"/>
          <p:nvPr/>
        </p:nvSpPr>
        <p:spPr>
          <a:xfrm rot="10800000">
            <a:off x="3749206" y="2693324"/>
            <a:ext cx="430887" cy="1436503"/>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40" name="文本框 239"/>
          <p:cNvSpPr txBox="1"/>
          <p:nvPr/>
        </p:nvSpPr>
        <p:spPr>
          <a:xfrm>
            <a:off x="4678063" y="6006219"/>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32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64" name="文本框 263"/>
          <p:cNvSpPr txBox="1"/>
          <p:nvPr/>
        </p:nvSpPr>
        <p:spPr>
          <a:xfrm>
            <a:off x="5903948" y="5977942"/>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64</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245" name="直接连接符 244"/>
          <p:cNvCxnSpPr/>
          <p:nvPr/>
        </p:nvCxnSpPr>
        <p:spPr>
          <a:xfrm>
            <a:off x="4804821" y="5919820"/>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7" name="直接连接符 266"/>
          <p:cNvCxnSpPr/>
          <p:nvPr/>
        </p:nvCxnSpPr>
        <p:spPr>
          <a:xfrm>
            <a:off x="6033403" y="5914343"/>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V="1">
            <a:off x="4248817" y="6510236"/>
            <a:ext cx="7659820" cy="137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a:off x="11036201" y="5116319"/>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a:off x="3821329" y="4474827"/>
            <a:ext cx="286247" cy="8101"/>
          </a:xfrm>
          <a:prstGeom prst="line">
            <a:avLst/>
          </a:prstGeom>
          <a:ln w="2540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IF for Load, Store, …</a:t>
            </a:r>
            <a:endParaRPr lang="zh-CN" altLang="en-US" dirty="0"/>
          </a:p>
        </p:txBody>
      </p:sp>
      <p:grpSp>
        <p:nvGrpSpPr>
          <p:cNvPr id="147" name="组合 146"/>
          <p:cNvGrpSpPr/>
          <p:nvPr/>
        </p:nvGrpSpPr>
        <p:grpSpPr>
          <a:xfrm>
            <a:off x="1633824" y="1312086"/>
            <a:ext cx="2034915" cy="695935"/>
            <a:chOff x="1613177" y="1509972"/>
            <a:chExt cx="2034915" cy="695935"/>
          </a:xfrm>
        </p:grpSpPr>
        <p:cxnSp>
          <p:nvCxnSpPr>
            <p:cNvPr id="148" name="直接连接符 147"/>
            <p:cNvCxnSpPr/>
            <p:nvPr/>
          </p:nvCxnSpPr>
          <p:spPr>
            <a:xfrm>
              <a:off x="1659668"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a:off x="3648092"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p:nvCxnSpPr>
          <p:spPr>
            <a:xfrm>
              <a:off x="1659668" y="1838984"/>
              <a:ext cx="19856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1" name="文本框 150"/>
            <p:cNvSpPr txBox="1"/>
            <p:nvPr/>
          </p:nvSpPr>
          <p:spPr>
            <a:xfrm>
              <a:off x="2127256" y="1509972"/>
              <a:ext cx="1050521"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ld</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65" name="文本框 164"/>
            <p:cNvSpPr txBox="1"/>
            <p:nvPr/>
          </p:nvSpPr>
          <p:spPr>
            <a:xfrm>
              <a:off x="1613177" y="1805797"/>
              <a:ext cx="203218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rPr>
                <a:t>Instruction fetch</a:t>
              </a:r>
              <a:endPar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sp>
        <p:nvSpPr>
          <p:cNvPr id="175" name="矩形 174"/>
          <p:cNvSpPr/>
          <p:nvPr/>
        </p:nvSpPr>
        <p:spPr>
          <a:xfrm>
            <a:off x="3532843" y="2597269"/>
            <a:ext cx="147600" cy="3744000"/>
          </a:xfrm>
          <a:prstGeom prst="rect">
            <a:avLst/>
          </a:prstGeom>
          <a:solidFill>
            <a:srgbClr val="9CDCF9"/>
          </a:soli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nvGrpSpPr>
          <p:cNvPr id="9" name="组合 8"/>
          <p:cNvGrpSpPr/>
          <p:nvPr/>
        </p:nvGrpSpPr>
        <p:grpSpPr>
          <a:xfrm>
            <a:off x="2000034" y="3940479"/>
            <a:ext cx="1569161" cy="1040224"/>
            <a:chOff x="1979387" y="4138365"/>
            <a:chExt cx="1569161" cy="1040224"/>
          </a:xfrm>
        </p:grpSpPr>
        <p:sp>
          <p:nvSpPr>
            <p:cNvPr id="8" name="矩形 7"/>
            <p:cNvSpPr/>
            <p:nvPr/>
          </p:nvSpPr>
          <p:spPr>
            <a:xfrm>
              <a:off x="2245427" y="4173044"/>
              <a:ext cx="1087731" cy="983085"/>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76" name="矩形 175"/>
            <p:cNvSpPr/>
            <p:nvPr/>
          </p:nvSpPr>
          <p:spPr>
            <a:xfrm>
              <a:off x="2780500" y="4188771"/>
              <a:ext cx="540000" cy="961200"/>
            </a:xfrm>
            <a:prstGeom prst="rect">
              <a:avLst/>
            </a:prstGeom>
            <a:solidFill>
              <a:srgbClr val="9CDCF9"/>
            </a:solidFill>
            <a:ln w="25400">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 name="文本框 11"/>
            <p:cNvSpPr txBox="1"/>
            <p:nvPr/>
          </p:nvSpPr>
          <p:spPr>
            <a:xfrm>
              <a:off x="2190719" y="4138365"/>
              <a:ext cx="1024639"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15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161" name="直接连接符 160"/>
            <p:cNvCxnSpPr/>
            <p:nvPr/>
          </p:nvCxnSpPr>
          <p:spPr>
            <a:xfrm>
              <a:off x="1979387" y="4301121"/>
              <a:ext cx="25830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直接连接符 161"/>
            <p:cNvCxnSpPr>
              <a:stCxn id="8" idx="3"/>
              <a:endCxn id="175" idx="1"/>
            </p:cNvCxnSpPr>
            <p:nvPr/>
          </p:nvCxnSpPr>
          <p:spPr>
            <a:xfrm>
              <a:off x="3333158" y="4664587"/>
              <a:ext cx="179038" cy="256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5" name="文本框 284"/>
            <p:cNvSpPr txBox="1"/>
            <p:nvPr/>
          </p:nvSpPr>
          <p:spPr>
            <a:xfrm>
              <a:off x="2047898" y="4689544"/>
              <a:ext cx="1500650" cy="48904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 memory</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139" name="文本框 138"/>
          <p:cNvSpPr txBox="1"/>
          <p:nvPr/>
        </p:nvSpPr>
        <p:spPr>
          <a:xfrm>
            <a:off x="6065051" y="2246369"/>
            <a:ext cx="898003"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ID/EX</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0" name="文本框 139"/>
          <p:cNvSpPr txBox="1"/>
          <p:nvPr/>
        </p:nvSpPr>
        <p:spPr>
          <a:xfrm>
            <a:off x="8250664" y="2193743"/>
            <a:ext cx="1268296"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EX/MEM</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1" name="文本框 140"/>
          <p:cNvSpPr txBox="1"/>
          <p:nvPr/>
        </p:nvSpPr>
        <p:spPr>
          <a:xfrm>
            <a:off x="10228704" y="2207689"/>
            <a:ext cx="1338828"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MEM/WB</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 name="矩形 1"/>
          <p:cNvSpPr/>
          <p:nvPr/>
        </p:nvSpPr>
        <p:spPr>
          <a:xfrm>
            <a:off x="822695" y="741608"/>
            <a:ext cx="5020926" cy="784830"/>
          </a:xfrm>
          <a:prstGeom prst="rect">
            <a:avLst/>
          </a:prstGeom>
        </p:spPr>
        <p:txBody>
          <a:bodyPr wrap="non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0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观察</a:t>
            </a:r>
            <a:r>
              <a:rPr kumimoji="0" lang="en-US" altLang="zh-CN" sz="30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load</a:t>
            </a:r>
            <a:r>
              <a:rPr kumimoji="0" lang="zh-CN" altLang="en-US" sz="30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和</a:t>
            </a:r>
            <a:r>
              <a:rPr kumimoji="0" lang="en-US" altLang="zh-CN" sz="30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store</a:t>
            </a:r>
            <a:r>
              <a:rPr kumimoji="0" lang="zh-CN" altLang="en-US" sz="30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指令的操作</a:t>
            </a:r>
            <a:endParaRPr kumimoji="0" lang="en-US" altLang="en-US" sz="30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142" name="灯片编号占位符 1"/>
          <p:cNvSpPr>
            <a:spLocks noGrp="1"/>
          </p:cNvSpPr>
          <p:nvPr>
            <p:ph type="sldNum" sz="quarter" idx="12"/>
          </p:nvPr>
        </p:nvSpPr>
        <p:spPr>
          <a:xfrm>
            <a:off x="8940542" y="648279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3" name="文本框 2"/>
          <p:cNvSpPr txBox="1"/>
          <p:nvPr/>
        </p:nvSpPr>
        <p:spPr>
          <a:xfrm>
            <a:off x="6302688" y="1145806"/>
            <a:ext cx="5085752" cy="769441"/>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mn-cs"/>
              </a:rPr>
              <a:t>右半部分高亮：</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寄存器或存储器被读取</a:t>
            </a:r>
            <a:endParaRPr kumimoji="0" lang="en-US" altLang="zh-CN"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200" b="1" i="0" u="none" strike="noStrike" kern="1200" cap="none" spc="0" normalizeH="0" baseline="0" noProof="0" dirty="0">
                <a:ln>
                  <a:noFill/>
                </a:ln>
                <a:solidFill>
                  <a:srgbClr val="0000FF"/>
                </a:solidFill>
                <a:effectLst/>
                <a:uLnTx/>
                <a:uFillTx/>
                <a:latin typeface="宋体" panose="02010600030101010101" pitchFamily="2" charset="-122"/>
                <a:ea typeface="宋体" panose="02010600030101010101" pitchFamily="2" charset="-122"/>
                <a:cs typeface="+mn-cs"/>
              </a:rPr>
              <a:t>左半部分高亮：</a:t>
            </a:r>
            <a:r>
              <a:rPr kumimoji="0" lang="zh-CN" altLang="en-US" sz="22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寄存器或存储器被写入</a:t>
            </a:r>
          </a:p>
        </p:txBody>
      </p:sp>
      <p:grpSp>
        <p:nvGrpSpPr>
          <p:cNvPr id="143" name="组合 142">
            <a:extLst>
              <a:ext uri="{FF2B5EF4-FFF2-40B4-BE49-F238E27FC236}">
                <a16:creationId xmlns:a16="http://schemas.microsoft.com/office/drawing/2014/main" id="{B46754CF-F306-40C9-8AED-61577A56D55B}"/>
              </a:ext>
            </a:extLst>
          </p:cNvPr>
          <p:cNvGrpSpPr/>
          <p:nvPr/>
        </p:nvGrpSpPr>
        <p:grpSpPr>
          <a:xfrm>
            <a:off x="3475019" y="6251538"/>
            <a:ext cx="635647" cy="606462"/>
            <a:chOff x="7319483" y="6149946"/>
            <a:chExt cx="635647" cy="606462"/>
          </a:xfrm>
        </p:grpSpPr>
        <p:sp>
          <p:nvSpPr>
            <p:cNvPr id="144" name="等腰三角形 143">
              <a:extLst>
                <a:ext uri="{FF2B5EF4-FFF2-40B4-BE49-F238E27FC236}">
                  <a16:creationId xmlns:a16="http://schemas.microsoft.com/office/drawing/2014/main" id="{0683C142-DAE6-44FE-8231-62E29FF82AB6}"/>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45" name="直接连接符 144">
              <a:extLst>
                <a:ext uri="{FF2B5EF4-FFF2-40B4-BE49-F238E27FC236}">
                  <a16:creationId xmlns:a16="http://schemas.microsoft.com/office/drawing/2014/main" id="{D3464B48-3A5D-42D2-8A61-33E1796A709B}"/>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46" name="文本框 145">
              <a:extLst>
                <a:ext uri="{FF2B5EF4-FFF2-40B4-BE49-F238E27FC236}">
                  <a16:creationId xmlns:a16="http://schemas.microsoft.com/office/drawing/2014/main" id="{F502A983-84B1-4AA8-941F-A1BFE1D8693E}"/>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69" name="组合 168">
            <a:extLst>
              <a:ext uri="{FF2B5EF4-FFF2-40B4-BE49-F238E27FC236}">
                <a16:creationId xmlns:a16="http://schemas.microsoft.com/office/drawing/2014/main" id="{E0FCD33B-5921-4717-82A6-43E357336F82}"/>
              </a:ext>
            </a:extLst>
          </p:cNvPr>
          <p:cNvGrpSpPr/>
          <p:nvPr/>
        </p:nvGrpSpPr>
        <p:grpSpPr>
          <a:xfrm>
            <a:off x="6322941" y="6247926"/>
            <a:ext cx="635647" cy="606462"/>
            <a:chOff x="7319483" y="6149946"/>
            <a:chExt cx="635647" cy="606462"/>
          </a:xfrm>
        </p:grpSpPr>
        <p:sp>
          <p:nvSpPr>
            <p:cNvPr id="170" name="等腰三角形 169">
              <a:extLst>
                <a:ext uri="{FF2B5EF4-FFF2-40B4-BE49-F238E27FC236}">
                  <a16:creationId xmlns:a16="http://schemas.microsoft.com/office/drawing/2014/main" id="{7E6AA599-3F2F-4B57-A743-27D6C7031322}"/>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1" name="直接连接符 170">
              <a:extLst>
                <a:ext uri="{FF2B5EF4-FFF2-40B4-BE49-F238E27FC236}">
                  <a16:creationId xmlns:a16="http://schemas.microsoft.com/office/drawing/2014/main" id="{2B2E709E-0C3D-49E5-8C4A-9FA1F9AE577F}"/>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72" name="文本框 171">
              <a:extLst>
                <a:ext uri="{FF2B5EF4-FFF2-40B4-BE49-F238E27FC236}">
                  <a16:creationId xmlns:a16="http://schemas.microsoft.com/office/drawing/2014/main" id="{A0257C89-CEFA-4BD9-9014-97263C86F67B}"/>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3" name="组合 172">
            <a:extLst>
              <a:ext uri="{FF2B5EF4-FFF2-40B4-BE49-F238E27FC236}">
                <a16:creationId xmlns:a16="http://schemas.microsoft.com/office/drawing/2014/main" id="{69C6132A-E771-491F-AC31-01E6B8BECDD7}"/>
              </a:ext>
            </a:extLst>
          </p:cNvPr>
          <p:cNvGrpSpPr/>
          <p:nvPr/>
        </p:nvGrpSpPr>
        <p:grpSpPr>
          <a:xfrm>
            <a:off x="8683230" y="6246802"/>
            <a:ext cx="635647" cy="606462"/>
            <a:chOff x="7319483" y="6149946"/>
            <a:chExt cx="635647" cy="606462"/>
          </a:xfrm>
        </p:grpSpPr>
        <p:sp>
          <p:nvSpPr>
            <p:cNvPr id="178" name="等腰三角形 177">
              <a:extLst>
                <a:ext uri="{FF2B5EF4-FFF2-40B4-BE49-F238E27FC236}">
                  <a16:creationId xmlns:a16="http://schemas.microsoft.com/office/drawing/2014/main" id="{7860A46A-19CA-4670-84CD-2154718C0AFF}"/>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9" name="直接连接符 178">
              <a:extLst>
                <a:ext uri="{FF2B5EF4-FFF2-40B4-BE49-F238E27FC236}">
                  <a16:creationId xmlns:a16="http://schemas.microsoft.com/office/drawing/2014/main" id="{808A46E4-D4EA-4302-ACE3-100312FF29FD}"/>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80" name="文本框 179">
              <a:extLst>
                <a:ext uri="{FF2B5EF4-FFF2-40B4-BE49-F238E27FC236}">
                  <a16:creationId xmlns:a16="http://schemas.microsoft.com/office/drawing/2014/main" id="{60966186-5741-49A5-87F1-6DC24BA5967D}"/>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81" name="组合 180">
            <a:extLst>
              <a:ext uri="{FF2B5EF4-FFF2-40B4-BE49-F238E27FC236}">
                <a16:creationId xmlns:a16="http://schemas.microsoft.com/office/drawing/2014/main" id="{131E34F3-189F-4AF1-97A2-3E9C925953E9}"/>
              </a:ext>
            </a:extLst>
          </p:cNvPr>
          <p:cNvGrpSpPr/>
          <p:nvPr/>
        </p:nvGrpSpPr>
        <p:grpSpPr>
          <a:xfrm>
            <a:off x="10689695" y="6237727"/>
            <a:ext cx="635647" cy="606462"/>
            <a:chOff x="7319483" y="6149946"/>
            <a:chExt cx="635647" cy="606462"/>
          </a:xfrm>
        </p:grpSpPr>
        <p:sp>
          <p:nvSpPr>
            <p:cNvPr id="182" name="等腰三角形 181">
              <a:extLst>
                <a:ext uri="{FF2B5EF4-FFF2-40B4-BE49-F238E27FC236}">
                  <a16:creationId xmlns:a16="http://schemas.microsoft.com/office/drawing/2014/main" id="{1579E4C5-926E-42B1-A8B1-146604469AAC}"/>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3" name="直接连接符 182">
              <a:extLst>
                <a:ext uri="{FF2B5EF4-FFF2-40B4-BE49-F238E27FC236}">
                  <a16:creationId xmlns:a16="http://schemas.microsoft.com/office/drawing/2014/main" id="{093614A7-0EF9-4311-9C2B-1F9AAD5F84E7}"/>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84" name="文本框 183">
              <a:extLst>
                <a:ext uri="{FF2B5EF4-FFF2-40B4-BE49-F238E27FC236}">
                  <a16:creationId xmlns:a16="http://schemas.microsoft.com/office/drawing/2014/main" id="{B4F98F5E-7AB6-4C1B-8437-CD61861568DF}"/>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85" name="文本框 184"/>
          <p:cNvSpPr txBox="1"/>
          <p:nvPr/>
        </p:nvSpPr>
        <p:spPr>
          <a:xfrm>
            <a:off x="3119189" y="2608109"/>
            <a:ext cx="469167" cy="369332"/>
          </a:xfrm>
          <a:prstGeom prst="rect">
            <a:avLst/>
          </a:prstGeom>
          <a:noFill/>
        </p:spPr>
        <p:txBody>
          <a:bodyPr wrap="square" rtlCol="0">
            <a:spAutoFit/>
          </a:bodyPr>
          <a:lstStyle/>
          <a:p>
            <a:r>
              <a:rPr lang="en-US" altLang="zh-CN" dirty="0">
                <a:solidFill>
                  <a:srgbClr val="0000FF"/>
                </a:solidFill>
              </a:rPr>
              <a:t>PC</a:t>
            </a:r>
            <a:endParaRPr lang="zh-CN" altLang="en-US" dirty="0">
              <a:solidFill>
                <a:srgbClr val="0000FF"/>
              </a:solidFill>
            </a:endParaRPr>
          </a:p>
        </p:txBody>
      </p:sp>
      <p:sp>
        <p:nvSpPr>
          <p:cNvPr id="187" name="文本框 186"/>
          <p:cNvSpPr txBox="1"/>
          <p:nvPr/>
        </p:nvSpPr>
        <p:spPr>
          <a:xfrm rot="5400000">
            <a:off x="3260954" y="2873031"/>
            <a:ext cx="719669" cy="338554"/>
          </a:xfrm>
          <a:prstGeom prst="rect">
            <a:avLst/>
          </a:prstGeom>
          <a:noFill/>
        </p:spPr>
        <p:txBody>
          <a:bodyPr wrap="square" rtlCol="0">
            <a:spAutoFit/>
          </a:bodyPr>
          <a:lstStyle/>
          <a:p>
            <a:r>
              <a:rPr lang="en-US" altLang="zh-CN" sz="1600" b="1" dirty="0" err="1">
                <a:solidFill>
                  <a:srgbClr val="FF0000"/>
                </a:solidFill>
              </a:rPr>
              <a:t>IF.pc</a:t>
            </a:r>
            <a:endParaRPr lang="zh-CN" altLang="en-US" sz="1600" b="1" dirty="0">
              <a:solidFill>
                <a:srgbClr val="FF0000"/>
              </a:solidFill>
            </a:endParaRPr>
          </a:p>
        </p:txBody>
      </p:sp>
      <p:sp>
        <p:nvSpPr>
          <p:cNvPr id="189" name="文本框 188"/>
          <p:cNvSpPr txBox="1"/>
          <p:nvPr/>
        </p:nvSpPr>
        <p:spPr>
          <a:xfrm rot="5400000">
            <a:off x="2976487" y="4670257"/>
            <a:ext cx="1276475" cy="338554"/>
          </a:xfrm>
          <a:prstGeom prst="rect">
            <a:avLst/>
          </a:prstGeom>
          <a:noFill/>
        </p:spPr>
        <p:txBody>
          <a:bodyPr wrap="square" rtlCol="0">
            <a:spAutoFit/>
          </a:bodyPr>
          <a:lstStyle/>
          <a:p>
            <a:r>
              <a:rPr lang="en-US" altLang="zh-CN" sz="1600" b="1" dirty="0" err="1">
                <a:solidFill>
                  <a:srgbClr val="FF0000"/>
                </a:solidFill>
              </a:rPr>
              <a:t>IF.inst</a:t>
            </a:r>
            <a:r>
              <a:rPr lang="en-US" altLang="zh-CN" sz="1600" b="1" dirty="0">
                <a:solidFill>
                  <a:srgbClr val="FF0000"/>
                </a:solidFill>
              </a:rPr>
              <a:t>[31:0]</a:t>
            </a:r>
            <a:endParaRPr lang="zh-CN" altLang="en-US" sz="1600" b="1" dirty="0">
              <a:solidFill>
                <a:srgbClr val="FF0000"/>
              </a:solidFill>
            </a:endParaRPr>
          </a:p>
        </p:txBody>
      </p:sp>
    </p:spTree>
    <p:extLst>
      <p:ext uri="{BB962C8B-B14F-4D97-AF65-F5344CB8AC3E}">
        <p14:creationId xmlns:p14="http://schemas.microsoft.com/office/powerpoint/2010/main" val="1140044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pPr lvl="1"/>
            <a:endPar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a:p>
            <a:endParaRPr lang="zh-CN" altLang="en-US" dirty="0"/>
          </a:p>
        </p:txBody>
      </p:sp>
      <p:grpSp>
        <p:nvGrpSpPr>
          <p:cNvPr id="18" name="Instruction memory"/>
          <p:cNvGrpSpPr/>
          <p:nvPr/>
        </p:nvGrpSpPr>
        <p:grpSpPr>
          <a:xfrm>
            <a:off x="2226871" y="3689019"/>
            <a:ext cx="1142439" cy="1017764"/>
            <a:chOff x="2263385" y="3407372"/>
            <a:chExt cx="1470915" cy="1193839"/>
          </a:xfrm>
        </p:grpSpPr>
        <p:sp>
          <p:nvSpPr>
            <p:cNvPr id="8" name="矩形 7"/>
            <p:cNvSpPr/>
            <p:nvPr/>
          </p:nvSpPr>
          <p:spPr>
            <a:xfrm>
              <a:off x="2333823" y="3448051"/>
              <a:ext cx="1400477" cy="11531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 name="文本框 11"/>
            <p:cNvSpPr txBox="1"/>
            <p:nvPr/>
          </p:nvSpPr>
          <p:spPr>
            <a:xfrm>
              <a:off x="2263385" y="3407372"/>
              <a:ext cx="1319245"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15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0" name="PC"/>
          <p:cNvGrpSpPr/>
          <p:nvPr/>
        </p:nvGrpSpPr>
        <p:grpSpPr>
          <a:xfrm>
            <a:off x="1648705" y="3491305"/>
            <a:ext cx="508932" cy="707887"/>
            <a:chOff x="792726" y="4754327"/>
            <a:chExt cx="1018662" cy="607761"/>
          </a:xfrm>
        </p:grpSpPr>
        <p:sp>
          <p:nvSpPr>
            <p:cNvPr id="15" name="矩形 14"/>
            <p:cNvSpPr/>
            <p:nvPr/>
          </p:nvSpPr>
          <p:spPr>
            <a:xfrm>
              <a:off x="887030" y="4800600"/>
              <a:ext cx="639939" cy="50292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9" name="文本框 18"/>
            <p:cNvSpPr txBox="1"/>
            <p:nvPr/>
          </p:nvSpPr>
          <p:spPr>
            <a:xfrm>
              <a:off x="792726" y="4754327"/>
              <a:ext cx="1018662" cy="607761"/>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PC</a:t>
              </a:r>
              <a:endParaRPr kumimoji="0" lang="zh-CN" alt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4" name="Add"/>
          <p:cNvGrpSpPr/>
          <p:nvPr/>
        </p:nvGrpSpPr>
        <p:grpSpPr>
          <a:xfrm>
            <a:off x="2485449" y="2440477"/>
            <a:ext cx="655949" cy="822349"/>
            <a:chOff x="4656246" y="4140786"/>
            <a:chExt cx="743403" cy="964617"/>
          </a:xfrm>
        </p:grpSpPr>
        <p:sp>
          <p:nvSpPr>
            <p:cNvPr id="22" name="梯形 21"/>
            <p:cNvSpPr/>
            <p:nvPr/>
          </p:nvSpPr>
          <p:spPr>
            <a:xfrm rot="5400000">
              <a:off x="4538209" y="4329347"/>
              <a:ext cx="964617" cy="587495"/>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3" name="文本框 22"/>
            <p:cNvSpPr txBox="1"/>
            <p:nvPr/>
          </p:nvSpPr>
          <p:spPr>
            <a:xfrm>
              <a:off x="4656246" y="4371481"/>
              <a:ext cx="743403"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36" name="IF/ID"/>
          <p:cNvGrpSpPr/>
          <p:nvPr/>
        </p:nvGrpSpPr>
        <p:grpSpPr>
          <a:xfrm>
            <a:off x="3336052" y="1989908"/>
            <a:ext cx="797013" cy="4114272"/>
            <a:chOff x="116128" y="450828"/>
            <a:chExt cx="955165" cy="5944486"/>
          </a:xfrm>
        </p:grpSpPr>
        <p:sp>
          <p:nvSpPr>
            <p:cNvPr id="34" name="矩形 33"/>
            <p:cNvSpPr/>
            <p:nvPr/>
          </p:nvSpPr>
          <p:spPr>
            <a:xfrm>
              <a:off x="358141" y="937259"/>
              <a:ext cx="358140" cy="5458055"/>
            </a:xfrm>
            <a:prstGeom prst="rect">
              <a:avLst/>
            </a:prstGeom>
            <a:noFill/>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5" name="文本框 34"/>
            <p:cNvSpPr txBox="1"/>
            <p:nvPr/>
          </p:nvSpPr>
          <p:spPr>
            <a:xfrm>
              <a:off x="116128" y="450828"/>
              <a:ext cx="955165" cy="578097"/>
            </a:xfrm>
            <a:prstGeom prst="rect">
              <a:avLst/>
            </a:prstGeom>
            <a:ln w="25400">
              <a:noFill/>
            </a:ln>
          </p:spPr>
          <p:style>
            <a:lnRef idx="1">
              <a:schemeClr val="accent1"/>
            </a:lnRef>
            <a:fillRef idx="0">
              <a:schemeClr val="accent1"/>
            </a:fillRef>
            <a:effectRef idx="0">
              <a:schemeClr val="accent1"/>
            </a:effectRef>
            <a:fontRef idx="minor">
              <a:schemeClr val="tx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IF/ID</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3" name="组合 2"/>
          <p:cNvGrpSpPr/>
          <p:nvPr/>
        </p:nvGrpSpPr>
        <p:grpSpPr>
          <a:xfrm>
            <a:off x="4466204" y="2750572"/>
            <a:ext cx="1726163" cy="2568442"/>
            <a:chOff x="4430052" y="3199918"/>
            <a:chExt cx="1726163" cy="2568442"/>
          </a:xfrm>
        </p:grpSpPr>
        <p:sp>
          <p:nvSpPr>
            <p:cNvPr id="37" name="矩形 36"/>
            <p:cNvSpPr/>
            <p:nvPr/>
          </p:nvSpPr>
          <p:spPr>
            <a:xfrm>
              <a:off x="4489029" y="3260530"/>
              <a:ext cx="1540655" cy="250783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6" name="矩形 145"/>
            <p:cNvSpPr/>
            <p:nvPr/>
          </p:nvSpPr>
          <p:spPr>
            <a:xfrm>
              <a:off x="5253679" y="3270910"/>
              <a:ext cx="770400" cy="2491200"/>
            </a:xfrm>
            <a:prstGeom prst="rect">
              <a:avLst/>
            </a:prstGeom>
            <a:solidFill>
              <a:srgbClr val="9CDCF9"/>
            </a:solidFill>
            <a:ln w="25400">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 name="文本框 37"/>
            <p:cNvSpPr txBox="1"/>
            <p:nvPr/>
          </p:nvSpPr>
          <p:spPr>
            <a:xfrm>
              <a:off x="4541959" y="4178478"/>
              <a:ext cx="1194558"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Registers</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0" name="文本框 39"/>
            <p:cNvSpPr txBox="1"/>
            <p:nvPr/>
          </p:nvSpPr>
          <p:spPr>
            <a:xfrm>
              <a:off x="4430052" y="3583235"/>
              <a:ext cx="1361899" cy="400110"/>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1" name="文本框 40"/>
            <p:cNvSpPr txBox="1"/>
            <p:nvPr/>
          </p:nvSpPr>
          <p:spPr>
            <a:xfrm>
              <a:off x="4433078" y="4918797"/>
              <a:ext cx="1222162" cy="400110"/>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reg</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2" name="文本框 41"/>
            <p:cNvSpPr txBox="1"/>
            <p:nvPr/>
          </p:nvSpPr>
          <p:spPr>
            <a:xfrm>
              <a:off x="4440438" y="5275547"/>
              <a:ext cx="1313882" cy="400110"/>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3" name="文本框 42"/>
            <p:cNvSpPr txBox="1"/>
            <p:nvPr/>
          </p:nvSpPr>
          <p:spPr>
            <a:xfrm>
              <a:off x="4734014" y="3904921"/>
              <a:ext cx="1403154" cy="400110"/>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4" name="文本框 43"/>
            <p:cNvSpPr txBox="1"/>
            <p:nvPr/>
          </p:nvSpPr>
          <p:spPr>
            <a:xfrm>
              <a:off x="4713913" y="4489911"/>
              <a:ext cx="1442302" cy="400110"/>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 name="文本框 38"/>
            <p:cNvSpPr txBox="1"/>
            <p:nvPr/>
          </p:nvSpPr>
          <p:spPr>
            <a:xfrm>
              <a:off x="4430345" y="3199918"/>
              <a:ext cx="1451557" cy="400110"/>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48" name="Imm Gen"/>
          <p:cNvGrpSpPr/>
          <p:nvPr/>
        </p:nvGrpSpPr>
        <p:grpSpPr>
          <a:xfrm>
            <a:off x="5263826" y="5486703"/>
            <a:ext cx="658095" cy="538474"/>
            <a:chOff x="4868693" y="6172575"/>
            <a:chExt cx="992993" cy="1215294"/>
          </a:xfrm>
        </p:grpSpPr>
        <p:sp>
          <p:nvSpPr>
            <p:cNvPr id="46" name="椭圆 45"/>
            <p:cNvSpPr/>
            <p:nvPr/>
          </p:nvSpPr>
          <p:spPr>
            <a:xfrm>
              <a:off x="4868693" y="6172575"/>
              <a:ext cx="984044" cy="1146747"/>
            </a:xfrm>
            <a:prstGeom prst="ellipse">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7" name="文本框 46"/>
            <p:cNvSpPr txBox="1"/>
            <p:nvPr/>
          </p:nvSpPr>
          <p:spPr>
            <a:xfrm>
              <a:off x="4895397" y="6339596"/>
              <a:ext cx="966289" cy="104827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Imm</a:t>
              </a: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Gen</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55" name="Add Sum"/>
          <p:cNvGrpSpPr/>
          <p:nvPr/>
        </p:nvGrpSpPr>
        <p:grpSpPr>
          <a:xfrm>
            <a:off x="7755619" y="2567947"/>
            <a:ext cx="655949" cy="768090"/>
            <a:chOff x="5634620" y="2480764"/>
            <a:chExt cx="1081993" cy="1475010"/>
          </a:xfrm>
        </p:grpSpPr>
        <p:sp>
          <p:nvSpPr>
            <p:cNvPr id="52" name="梯形 51"/>
            <p:cNvSpPr/>
            <p:nvPr/>
          </p:nvSpPr>
          <p:spPr>
            <a:xfrm rot="5400000">
              <a:off x="5424366" y="2770445"/>
              <a:ext cx="1475010" cy="895647"/>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4" name="文本框 53"/>
            <p:cNvSpPr txBox="1"/>
            <p:nvPr/>
          </p:nvSpPr>
          <p:spPr>
            <a:xfrm>
              <a:off x="5634620" y="2851177"/>
              <a:ext cx="1081993" cy="93914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Sum</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61" name="ALU"/>
          <p:cNvGrpSpPr/>
          <p:nvPr/>
        </p:nvGrpSpPr>
        <p:grpSpPr>
          <a:xfrm>
            <a:off x="7682543" y="3595200"/>
            <a:ext cx="880667" cy="1454509"/>
            <a:chOff x="6023805" y="3618922"/>
            <a:chExt cx="1295157" cy="1704463"/>
          </a:xfrm>
        </p:grpSpPr>
        <p:sp>
          <p:nvSpPr>
            <p:cNvPr id="57" name="梯形 56"/>
            <p:cNvSpPr/>
            <p:nvPr/>
          </p:nvSpPr>
          <p:spPr>
            <a:xfrm rot="5400000">
              <a:off x="5805450" y="3911167"/>
              <a:ext cx="1704463" cy="1119974"/>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8" name="文本框 57"/>
            <p:cNvSpPr txBox="1"/>
            <p:nvPr/>
          </p:nvSpPr>
          <p:spPr>
            <a:xfrm>
              <a:off x="6023805" y="3779478"/>
              <a:ext cx="1070760"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ALU</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9" name="文本框 58"/>
            <p:cNvSpPr txBox="1"/>
            <p:nvPr/>
          </p:nvSpPr>
          <p:spPr>
            <a:xfrm>
              <a:off x="6212840" y="4596488"/>
              <a:ext cx="1106122" cy="347668"/>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result</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60" name="文本框 59"/>
            <p:cNvSpPr txBox="1"/>
            <p:nvPr/>
          </p:nvSpPr>
          <p:spPr>
            <a:xfrm>
              <a:off x="6276821" y="4080452"/>
              <a:ext cx="983534"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Zero</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65" name="shift left 1"/>
          <p:cNvGrpSpPr/>
          <p:nvPr/>
        </p:nvGrpSpPr>
        <p:grpSpPr>
          <a:xfrm>
            <a:off x="6703840" y="2719915"/>
            <a:ext cx="774571" cy="682474"/>
            <a:chOff x="6107415" y="4133981"/>
            <a:chExt cx="1189523" cy="1146746"/>
          </a:xfrm>
        </p:grpSpPr>
        <p:sp>
          <p:nvSpPr>
            <p:cNvPr id="63" name="椭圆 62"/>
            <p:cNvSpPr/>
            <p:nvPr/>
          </p:nvSpPr>
          <p:spPr>
            <a:xfrm>
              <a:off x="6161866" y="4133981"/>
              <a:ext cx="984043" cy="1146746"/>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64" name="文本框 63"/>
            <p:cNvSpPr txBox="1"/>
            <p:nvPr/>
          </p:nvSpPr>
          <p:spPr>
            <a:xfrm>
              <a:off x="6107415" y="4371720"/>
              <a:ext cx="1189523" cy="821732"/>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Shift </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left 1</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72" name="Mux 3"/>
          <p:cNvGrpSpPr/>
          <p:nvPr/>
        </p:nvGrpSpPr>
        <p:grpSpPr>
          <a:xfrm>
            <a:off x="11249672" y="4656949"/>
            <a:ext cx="596486" cy="1168007"/>
            <a:chOff x="3628473" y="5448300"/>
            <a:chExt cx="839025" cy="1230515"/>
          </a:xfrm>
        </p:grpSpPr>
        <p:sp>
          <p:nvSpPr>
            <p:cNvPr id="73" name="mux"/>
            <p:cNvSpPr/>
            <p:nvPr/>
          </p:nvSpPr>
          <p:spPr>
            <a:xfrm rot="5400000">
              <a:off x="3386121" y="5744398"/>
              <a:ext cx="1230515" cy="638319"/>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4" name="文本框 73"/>
            <p:cNvSpPr txBox="1"/>
            <p:nvPr/>
          </p:nvSpPr>
          <p:spPr>
            <a:xfrm>
              <a:off x="3628473" y="5492154"/>
              <a:ext cx="260679"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5" name="文本框 74"/>
            <p:cNvSpPr txBox="1"/>
            <p:nvPr/>
          </p:nvSpPr>
          <p:spPr>
            <a:xfrm>
              <a:off x="3641695" y="6293721"/>
              <a:ext cx="404061" cy="35667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6" name="文本框 75"/>
            <p:cNvSpPr txBox="1"/>
            <p:nvPr/>
          </p:nvSpPr>
          <p:spPr>
            <a:xfrm>
              <a:off x="3867268" y="5599309"/>
              <a:ext cx="600230" cy="1070017"/>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90" name="Data memory"/>
          <p:cNvGrpSpPr/>
          <p:nvPr/>
        </p:nvGrpSpPr>
        <p:grpSpPr>
          <a:xfrm>
            <a:off x="9269966" y="3839684"/>
            <a:ext cx="1417516" cy="1635472"/>
            <a:chOff x="14770965" y="4726326"/>
            <a:chExt cx="3011394" cy="3362560"/>
          </a:xfrm>
        </p:grpSpPr>
        <p:sp>
          <p:nvSpPr>
            <p:cNvPr id="82" name="矩形 81"/>
            <p:cNvSpPr/>
            <p:nvPr/>
          </p:nvSpPr>
          <p:spPr>
            <a:xfrm>
              <a:off x="14919092" y="4726326"/>
              <a:ext cx="2551866" cy="33625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3" name="文本框 82"/>
            <p:cNvSpPr txBox="1"/>
            <p:nvPr/>
          </p:nvSpPr>
          <p:spPr>
            <a:xfrm>
              <a:off x="14893548" y="4778415"/>
              <a:ext cx="2622003" cy="100548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Data </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memory</a:t>
              </a:r>
            </a:p>
          </p:txBody>
        </p:sp>
        <p:sp>
          <p:nvSpPr>
            <p:cNvPr id="84" name="文本框 83"/>
            <p:cNvSpPr txBox="1"/>
            <p:nvPr/>
          </p:nvSpPr>
          <p:spPr>
            <a:xfrm>
              <a:off x="14776597" y="5875439"/>
              <a:ext cx="2291814"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7" name="文本框 86"/>
            <p:cNvSpPr txBox="1"/>
            <p:nvPr/>
          </p:nvSpPr>
          <p:spPr>
            <a:xfrm>
              <a:off x="14770965" y="7263927"/>
              <a:ext cx="2654424"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8" name="文本框 87"/>
            <p:cNvSpPr txBox="1"/>
            <p:nvPr/>
          </p:nvSpPr>
          <p:spPr>
            <a:xfrm>
              <a:off x="15110098" y="6521639"/>
              <a:ext cx="2672261"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101" name="矩形 100"/>
          <p:cNvSpPr/>
          <p:nvPr/>
        </p:nvSpPr>
        <p:spPr>
          <a:xfrm>
            <a:off x="6371256" y="2334223"/>
            <a:ext cx="316009" cy="3769417"/>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11" name="矩形 110"/>
          <p:cNvSpPr/>
          <p:nvPr/>
        </p:nvSpPr>
        <p:spPr>
          <a:xfrm>
            <a:off x="8749001" y="2338973"/>
            <a:ext cx="291194" cy="3754340"/>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1" name="矩形 120"/>
          <p:cNvSpPr/>
          <p:nvPr/>
        </p:nvSpPr>
        <p:spPr>
          <a:xfrm>
            <a:off x="10750832" y="2325538"/>
            <a:ext cx="300877" cy="3767775"/>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160" name="直接连接符 159"/>
          <p:cNvCxnSpPr/>
          <p:nvPr/>
        </p:nvCxnSpPr>
        <p:spPr>
          <a:xfrm flipV="1">
            <a:off x="3836834" y="2649751"/>
            <a:ext cx="2534421" cy="109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直接连接符 160"/>
          <p:cNvCxnSpPr/>
          <p:nvPr/>
        </p:nvCxnSpPr>
        <p:spPr>
          <a:xfrm>
            <a:off x="2015539" y="3851775"/>
            <a:ext cx="25830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直接连接符 161"/>
          <p:cNvCxnSpPr>
            <a:stCxn id="8" idx="3"/>
            <a:endCxn id="34" idx="1"/>
          </p:cNvCxnSpPr>
          <p:nvPr/>
        </p:nvCxnSpPr>
        <p:spPr>
          <a:xfrm>
            <a:off x="3369310" y="4215241"/>
            <a:ext cx="168684" cy="1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直接连接符 162"/>
          <p:cNvCxnSpPr>
            <a:stCxn id="22" idx="0"/>
          </p:cNvCxnSpPr>
          <p:nvPr/>
        </p:nvCxnSpPr>
        <p:spPr>
          <a:xfrm flipV="1">
            <a:off x="3066061" y="2849764"/>
            <a:ext cx="82559" cy="18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a:off x="2104143" y="2576659"/>
            <a:ext cx="43729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flipH="1">
            <a:off x="2104143" y="2567947"/>
            <a:ext cx="3782" cy="1271738"/>
          </a:xfrm>
          <a:prstGeom prst="line">
            <a:avLst/>
          </a:prstGeom>
          <a:ln w="25400">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3139742" y="2159845"/>
            <a:ext cx="0" cy="6899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a:stCxn id="52" idx="0"/>
          </p:cNvCxnSpPr>
          <p:nvPr/>
        </p:nvCxnSpPr>
        <p:spPr>
          <a:xfrm flipV="1">
            <a:off x="8346757" y="2951992"/>
            <a:ext cx="404306"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直接连接符 187"/>
          <p:cNvCxnSpPr/>
          <p:nvPr/>
        </p:nvCxnSpPr>
        <p:spPr>
          <a:xfrm>
            <a:off x="850618" y="2159845"/>
            <a:ext cx="22980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a:off x="850618" y="2159845"/>
            <a:ext cx="0" cy="13869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a:off x="4145076" y="2981715"/>
            <a:ext cx="409392"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4131819" y="3334566"/>
            <a:ext cx="395373"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a:off x="6070427" y="3790086"/>
            <a:ext cx="30542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a:xfrm>
            <a:off x="6070428" y="4231468"/>
            <a:ext cx="29581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6" name="直接连接符 215"/>
          <p:cNvCxnSpPr/>
          <p:nvPr/>
        </p:nvCxnSpPr>
        <p:spPr>
          <a:xfrm>
            <a:off x="4123081" y="5741003"/>
            <a:ext cx="1143140"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18" name="直接连接符 217"/>
          <p:cNvCxnSpPr/>
          <p:nvPr/>
        </p:nvCxnSpPr>
        <p:spPr>
          <a:xfrm flipV="1">
            <a:off x="5918385" y="5724487"/>
            <a:ext cx="457463" cy="719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1" name="直接连接符 260"/>
          <p:cNvCxnSpPr/>
          <p:nvPr/>
        </p:nvCxnSpPr>
        <p:spPr>
          <a:xfrm>
            <a:off x="7409529" y="3074485"/>
            <a:ext cx="36100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3" name="直接连接符 262"/>
          <p:cNvCxnSpPr/>
          <p:nvPr/>
        </p:nvCxnSpPr>
        <p:spPr>
          <a:xfrm>
            <a:off x="6695772" y="3815617"/>
            <a:ext cx="103718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2" name="Mux 3"/>
          <p:cNvGrpSpPr/>
          <p:nvPr/>
        </p:nvGrpSpPr>
        <p:grpSpPr>
          <a:xfrm>
            <a:off x="980794" y="3335347"/>
            <a:ext cx="615567" cy="1168007"/>
            <a:chOff x="3339670" y="5460516"/>
            <a:chExt cx="901073" cy="1230515"/>
          </a:xfrm>
        </p:grpSpPr>
        <p:sp>
          <p:nvSpPr>
            <p:cNvPr id="133" name="mux"/>
            <p:cNvSpPr/>
            <p:nvPr/>
          </p:nvSpPr>
          <p:spPr>
            <a:xfrm rot="5400000">
              <a:off x="3140776" y="5731027"/>
              <a:ext cx="1230515" cy="689494"/>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4" name="文本框 133"/>
            <p:cNvSpPr txBox="1"/>
            <p:nvPr/>
          </p:nvSpPr>
          <p:spPr>
            <a:xfrm>
              <a:off x="3365437" y="5514581"/>
              <a:ext cx="260684"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5" name="文本框 134"/>
            <p:cNvSpPr txBox="1"/>
            <p:nvPr/>
          </p:nvSpPr>
          <p:spPr>
            <a:xfrm>
              <a:off x="3339670" y="6240974"/>
              <a:ext cx="324022"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6" name="文本框 135"/>
            <p:cNvSpPr txBox="1"/>
            <p:nvPr/>
          </p:nvSpPr>
          <p:spPr>
            <a:xfrm>
              <a:off x="3616106" y="5588478"/>
              <a:ext cx="624637" cy="107001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52" name="直接连接符 151"/>
          <p:cNvCxnSpPr/>
          <p:nvPr/>
        </p:nvCxnSpPr>
        <p:spPr>
          <a:xfrm>
            <a:off x="8501372" y="4553988"/>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a:off x="9052058" y="4563953"/>
            <a:ext cx="28232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a:off x="9031887" y="5179010"/>
            <a:ext cx="3068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10550113" y="4858794"/>
            <a:ext cx="20911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56" name="Mux 3"/>
          <p:cNvGrpSpPr/>
          <p:nvPr/>
        </p:nvGrpSpPr>
        <p:grpSpPr>
          <a:xfrm>
            <a:off x="7047068" y="3932821"/>
            <a:ext cx="482064" cy="1168006"/>
            <a:chOff x="3558568" y="5448300"/>
            <a:chExt cx="706348" cy="1230515"/>
          </a:xfrm>
        </p:grpSpPr>
        <p:sp>
          <p:nvSpPr>
            <p:cNvPr id="157" name="mux"/>
            <p:cNvSpPr/>
            <p:nvPr/>
          </p:nvSpPr>
          <p:spPr>
            <a:xfrm rot="5400000">
              <a:off x="3332723" y="5746622"/>
              <a:ext cx="1230515" cy="633871"/>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8" name="文本框 157"/>
            <p:cNvSpPr txBox="1"/>
            <p:nvPr/>
          </p:nvSpPr>
          <p:spPr>
            <a:xfrm>
              <a:off x="3571052" y="5580627"/>
              <a:ext cx="260683"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9" name="文本框 158"/>
            <p:cNvSpPr txBox="1"/>
            <p:nvPr/>
          </p:nvSpPr>
          <p:spPr>
            <a:xfrm>
              <a:off x="3558568" y="6264229"/>
              <a:ext cx="408929" cy="34293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6" name="文本框 165"/>
            <p:cNvSpPr txBox="1"/>
            <p:nvPr/>
          </p:nvSpPr>
          <p:spPr>
            <a:xfrm>
              <a:off x="3747999" y="5579240"/>
              <a:ext cx="462611" cy="1070019"/>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68" name="直接连接符 167"/>
          <p:cNvCxnSpPr/>
          <p:nvPr/>
        </p:nvCxnSpPr>
        <p:spPr>
          <a:xfrm flipV="1">
            <a:off x="1508893" y="3845382"/>
            <a:ext cx="178001" cy="5"/>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a:xfrm>
            <a:off x="2346907" y="3038865"/>
            <a:ext cx="18646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a:off x="6695772" y="2644479"/>
            <a:ext cx="1083649" cy="7422"/>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flipH="1">
            <a:off x="6918450" y="3386666"/>
            <a:ext cx="22498" cy="19552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a:off x="6695772" y="5341916"/>
            <a:ext cx="24517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a:off x="6695772" y="4231468"/>
            <a:ext cx="40077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a:off x="6930313" y="4887147"/>
            <a:ext cx="182537" cy="853"/>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a:off x="6817476" y="5179008"/>
            <a:ext cx="1931532"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a:off x="6817476" y="4231468"/>
            <a:ext cx="1766" cy="947540"/>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a:off x="9152409" y="4560391"/>
            <a:ext cx="0" cy="1068388"/>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flipV="1">
            <a:off x="9152409" y="5622980"/>
            <a:ext cx="1599091" cy="572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1" name="直接连接符 270"/>
          <p:cNvCxnSpPr/>
          <p:nvPr/>
        </p:nvCxnSpPr>
        <p:spPr>
          <a:xfrm>
            <a:off x="11042375" y="5612515"/>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3" name="直接连接符 272"/>
          <p:cNvCxnSpPr/>
          <p:nvPr/>
        </p:nvCxnSpPr>
        <p:spPr>
          <a:xfrm>
            <a:off x="7529133" y="4697220"/>
            <a:ext cx="21340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5" name="文本框 284"/>
          <p:cNvSpPr txBox="1"/>
          <p:nvPr/>
        </p:nvSpPr>
        <p:spPr>
          <a:xfrm>
            <a:off x="2084050" y="4240198"/>
            <a:ext cx="1500650" cy="48904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 memory</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361" name="直接连接符 360"/>
          <p:cNvCxnSpPr>
            <a:endCxn id="76" idx="3"/>
          </p:cNvCxnSpPr>
          <p:nvPr/>
        </p:nvCxnSpPr>
        <p:spPr>
          <a:xfrm>
            <a:off x="11713470" y="5280344"/>
            <a:ext cx="132688" cy="27775"/>
          </a:xfrm>
          <a:prstGeom prst="line">
            <a:avLst/>
          </a:prstGeom>
          <a:ln w="25400">
            <a:noFill/>
          </a:ln>
        </p:spPr>
        <p:style>
          <a:lnRef idx="1">
            <a:schemeClr val="accent1"/>
          </a:lnRef>
          <a:fillRef idx="0">
            <a:schemeClr val="accent1"/>
          </a:fillRef>
          <a:effectRef idx="0">
            <a:schemeClr val="accent1"/>
          </a:effectRef>
          <a:fontRef idx="minor">
            <a:schemeClr val="tx1"/>
          </a:fontRef>
        </p:style>
      </p:cxnSp>
      <p:cxnSp>
        <p:nvCxnSpPr>
          <p:cNvPr id="362" name="直接连接符 361"/>
          <p:cNvCxnSpPr/>
          <p:nvPr/>
        </p:nvCxnSpPr>
        <p:spPr>
          <a:xfrm flipH="1">
            <a:off x="11909737" y="5262254"/>
            <a:ext cx="14406" cy="9965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8" name="直接连接符 367"/>
          <p:cNvCxnSpPr/>
          <p:nvPr/>
        </p:nvCxnSpPr>
        <p:spPr>
          <a:xfrm>
            <a:off x="4277776" y="4963919"/>
            <a:ext cx="0" cy="13086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2" name="直接连接符 371"/>
          <p:cNvCxnSpPr/>
          <p:nvPr/>
        </p:nvCxnSpPr>
        <p:spPr>
          <a:xfrm>
            <a:off x="4274417" y="4963919"/>
            <a:ext cx="247455" cy="48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7" name="直接连接符 376"/>
          <p:cNvCxnSpPr/>
          <p:nvPr/>
        </p:nvCxnSpPr>
        <p:spPr>
          <a:xfrm>
            <a:off x="679951" y="1914090"/>
            <a:ext cx="89899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8" name="直接连接符 387"/>
          <p:cNvCxnSpPr/>
          <p:nvPr/>
        </p:nvCxnSpPr>
        <p:spPr>
          <a:xfrm>
            <a:off x="679951" y="1923133"/>
            <a:ext cx="0" cy="23336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5" name="直接连接符 394"/>
          <p:cNvCxnSpPr/>
          <p:nvPr/>
        </p:nvCxnSpPr>
        <p:spPr>
          <a:xfrm>
            <a:off x="838200" y="3545194"/>
            <a:ext cx="165348" cy="65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7" name="直接连接符 396"/>
          <p:cNvCxnSpPr/>
          <p:nvPr/>
        </p:nvCxnSpPr>
        <p:spPr>
          <a:xfrm>
            <a:off x="670620" y="4252419"/>
            <a:ext cx="332520"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4" name="直接连接符 403"/>
          <p:cNvCxnSpPr/>
          <p:nvPr/>
        </p:nvCxnSpPr>
        <p:spPr>
          <a:xfrm>
            <a:off x="9669922" y="1914090"/>
            <a:ext cx="0" cy="10197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7" name="直接连接符 406"/>
          <p:cNvCxnSpPr/>
          <p:nvPr/>
        </p:nvCxnSpPr>
        <p:spPr>
          <a:xfrm flipV="1">
            <a:off x="9043478" y="2941833"/>
            <a:ext cx="641869" cy="51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2066283" y="2848419"/>
            <a:ext cx="20135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4</a:t>
            </a:r>
            <a:endParaRPr kumimoji="0" lang="zh-CN" altLang="en-US"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cxnSp>
        <p:nvCxnSpPr>
          <p:cNvPr id="247" name="直接连接符 246"/>
          <p:cNvCxnSpPr/>
          <p:nvPr/>
        </p:nvCxnSpPr>
        <p:spPr>
          <a:xfrm>
            <a:off x="11762062" y="5262254"/>
            <a:ext cx="16208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a:xfrm>
            <a:off x="4123081" y="2979654"/>
            <a:ext cx="0" cy="27611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a:off x="8501372" y="4153392"/>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a:off x="9042549" y="4161539"/>
            <a:ext cx="18594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直接连接符 216"/>
          <p:cNvCxnSpPr/>
          <p:nvPr/>
        </p:nvCxnSpPr>
        <p:spPr>
          <a:xfrm>
            <a:off x="4132291" y="4621842"/>
            <a:ext cx="389581" cy="1331"/>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99" name="连接符: 肘形 98"/>
          <p:cNvCxnSpPr/>
          <p:nvPr/>
        </p:nvCxnSpPr>
        <p:spPr>
          <a:xfrm flipV="1">
            <a:off x="2118109" y="2660665"/>
            <a:ext cx="1431289" cy="730238"/>
          </a:xfrm>
          <a:prstGeom prst="bentConnector3">
            <a:avLst>
              <a:gd name="adj1" fmla="val 82595"/>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238" name="文本框 237"/>
          <p:cNvSpPr txBox="1"/>
          <p:nvPr/>
        </p:nvSpPr>
        <p:spPr>
          <a:xfrm rot="10800000">
            <a:off x="3764711" y="2441864"/>
            <a:ext cx="430887" cy="1436503"/>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40" name="文本框 239"/>
          <p:cNvSpPr txBox="1"/>
          <p:nvPr/>
        </p:nvSpPr>
        <p:spPr>
          <a:xfrm>
            <a:off x="4693568" y="5754759"/>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32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64" name="文本框 263"/>
          <p:cNvSpPr txBox="1"/>
          <p:nvPr/>
        </p:nvSpPr>
        <p:spPr>
          <a:xfrm>
            <a:off x="5919453" y="5726482"/>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64</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245" name="直接连接符 244"/>
          <p:cNvCxnSpPr/>
          <p:nvPr/>
        </p:nvCxnSpPr>
        <p:spPr>
          <a:xfrm>
            <a:off x="4820326" y="5668360"/>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7" name="直接连接符 266"/>
          <p:cNvCxnSpPr/>
          <p:nvPr/>
        </p:nvCxnSpPr>
        <p:spPr>
          <a:xfrm>
            <a:off x="6048908" y="5662883"/>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V="1">
            <a:off x="4264322" y="6258776"/>
            <a:ext cx="7659820" cy="137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a:off x="11051706" y="4864859"/>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a:off x="3836834" y="4223367"/>
            <a:ext cx="286247" cy="8101"/>
          </a:xfrm>
          <a:prstGeom prst="line">
            <a:avLst/>
          </a:prstGeom>
          <a:ln w="2540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ID for Load, Store, …</a:t>
            </a:r>
            <a:endParaRPr lang="zh-CN" altLang="en-US" dirty="0"/>
          </a:p>
        </p:txBody>
      </p:sp>
      <p:grpSp>
        <p:nvGrpSpPr>
          <p:cNvPr id="130" name="组合 129"/>
          <p:cNvGrpSpPr/>
          <p:nvPr/>
        </p:nvGrpSpPr>
        <p:grpSpPr>
          <a:xfrm>
            <a:off x="3764710" y="1060626"/>
            <a:ext cx="2616099" cy="695935"/>
            <a:chOff x="1613177" y="1509972"/>
            <a:chExt cx="2034915" cy="695935"/>
          </a:xfrm>
        </p:grpSpPr>
        <p:cxnSp>
          <p:nvCxnSpPr>
            <p:cNvPr id="139" name="直接连接符 138"/>
            <p:cNvCxnSpPr/>
            <p:nvPr/>
          </p:nvCxnSpPr>
          <p:spPr>
            <a:xfrm>
              <a:off x="1659668"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a:off x="3648092"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p:nvCxnSpPr>
          <p:spPr>
            <a:xfrm>
              <a:off x="1659668" y="1838984"/>
              <a:ext cx="19856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2" name="文本框 141"/>
            <p:cNvSpPr txBox="1"/>
            <p:nvPr/>
          </p:nvSpPr>
          <p:spPr>
            <a:xfrm>
              <a:off x="2127256" y="1509972"/>
              <a:ext cx="1050521"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ld</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43" name="文本框 142"/>
            <p:cNvSpPr txBox="1"/>
            <p:nvPr/>
          </p:nvSpPr>
          <p:spPr>
            <a:xfrm>
              <a:off x="1613177" y="1805797"/>
              <a:ext cx="203218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rPr>
                <a:t>Instruction decode</a:t>
              </a:r>
              <a:endPar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sp>
        <p:nvSpPr>
          <p:cNvPr id="144" name="矩形 143"/>
          <p:cNvSpPr/>
          <p:nvPr/>
        </p:nvSpPr>
        <p:spPr>
          <a:xfrm>
            <a:off x="3681055" y="2337941"/>
            <a:ext cx="147600" cy="3751200"/>
          </a:xfrm>
          <a:prstGeom prst="rect">
            <a:avLst/>
          </a:prstGeom>
          <a:solidFill>
            <a:srgbClr val="9CDCF9"/>
          </a:soli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5" name="矩形 144"/>
          <p:cNvSpPr/>
          <p:nvPr/>
        </p:nvSpPr>
        <p:spPr>
          <a:xfrm>
            <a:off x="6380813" y="2339602"/>
            <a:ext cx="147600" cy="3751200"/>
          </a:xfrm>
          <a:prstGeom prst="rect">
            <a:avLst/>
          </a:prstGeom>
          <a:solidFill>
            <a:srgbClr val="9CDCF9"/>
          </a:soli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7" name="文本框 146"/>
          <p:cNvSpPr txBox="1"/>
          <p:nvPr/>
        </p:nvSpPr>
        <p:spPr>
          <a:xfrm>
            <a:off x="6080556" y="1994909"/>
            <a:ext cx="898003"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ID/EX</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8" name="文本框 147"/>
          <p:cNvSpPr txBox="1"/>
          <p:nvPr/>
        </p:nvSpPr>
        <p:spPr>
          <a:xfrm>
            <a:off x="8266169" y="1942283"/>
            <a:ext cx="1268296"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EX/MEM</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9" name="文本框 148"/>
          <p:cNvSpPr txBox="1"/>
          <p:nvPr/>
        </p:nvSpPr>
        <p:spPr>
          <a:xfrm>
            <a:off x="10244209" y="1956229"/>
            <a:ext cx="1338828"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MEM/WB</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0" name="灯片编号占位符 1"/>
          <p:cNvSpPr>
            <a:spLocks noGrp="1"/>
          </p:cNvSpPr>
          <p:nvPr>
            <p:ph type="sldNum" sz="quarter" idx="12"/>
          </p:nvPr>
        </p:nvSpPr>
        <p:spPr>
          <a:xfrm>
            <a:off x="8940542" y="648279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nvGrpSpPr>
          <p:cNvPr id="151" name="组合 150">
            <a:extLst>
              <a:ext uri="{FF2B5EF4-FFF2-40B4-BE49-F238E27FC236}">
                <a16:creationId xmlns:a16="http://schemas.microsoft.com/office/drawing/2014/main" id="{D9C89321-CD37-4693-B1FC-0C5C0F43E129}"/>
              </a:ext>
            </a:extLst>
          </p:cNvPr>
          <p:cNvGrpSpPr/>
          <p:nvPr/>
        </p:nvGrpSpPr>
        <p:grpSpPr>
          <a:xfrm>
            <a:off x="3481221" y="6004848"/>
            <a:ext cx="635647" cy="606462"/>
            <a:chOff x="7319483" y="6149946"/>
            <a:chExt cx="635647" cy="606462"/>
          </a:xfrm>
        </p:grpSpPr>
        <p:sp>
          <p:nvSpPr>
            <p:cNvPr id="165" name="等腰三角形 164">
              <a:extLst>
                <a:ext uri="{FF2B5EF4-FFF2-40B4-BE49-F238E27FC236}">
                  <a16:creationId xmlns:a16="http://schemas.microsoft.com/office/drawing/2014/main" id="{AEC3C03C-5403-4686-A7F4-F78F8883F0C2}"/>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69" name="直接连接符 168">
              <a:extLst>
                <a:ext uri="{FF2B5EF4-FFF2-40B4-BE49-F238E27FC236}">
                  <a16:creationId xmlns:a16="http://schemas.microsoft.com/office/drawing/2014/main" id="{53BEEF10-1B99-4BB8-A557-6A8A977C7302}"/>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70" name="文本框 169">
              <a:extLst>
                <a:ext uri="{FF2B5EF4-FFF2-40B4-BE49-F238E27FC236}">
                  <a16:creationId xmlns:a16="http://schemas.microsoft.com/office/drawing/2014/main" id="{D331A441-C6E1-4B14-BDF8-9EBFABC9F50D}"/>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1" name="组合 170">
            <a:extLst>
              <a:ext uri="{FF2B5EF4-FFF2-40B4-BE49-F238E27FC236}">
                <a16:creationId xmlns:a16="http://schemas.microsoft.com/office/drawing/2014/main" id="{65B4D579-5E9C-4C7C-B81F-296D7182D91E}"/>
              </a:ext>
            </a:extLst>
          </p:cNvPr>
          <p:cNvGrpSpPr/>
          <p:nvPr/>
        </p:nvGrpSpPr>
        <p:grpSpPr>
          <a:xfrm>
            <a:off x="6319616" y="6002098"/>
            <a:ext cx="635647" cy="606462"/>
            <a:chOff x="7319483" y="6149946"/>
            <a:chExt cx="635647" cy="606462"/>
          </a:xfrm>
        </p:grpSpPr>
        <p:sp>
          <p:nvSpPr>
            <p:cNvPr id="172" name="等腰三角形 171">
              <a:extLst>
                <a:ext uri="{FF2B5EF4-FFF2-40B4-BE49-F238E27FC236}">
                  <a16:creationId xmlns:a16="http://schemas.microsoft.com/office/drawing/2014/main" id="{E1A428F3-0E1C-4B13-BF5C-A2576323FE13}"/>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3" name="直接连接符 172">
              <a:extLst>
                <a:ext uri="{FF2B5EF4-FFF2-40B4-BE49-F238E27FC236}">
                  <a16:creationId xmlns:a16="http://schemas.microsoft.com/office/drawing/2014/main" id="{503C1286-2239-4885-9312-0442B6C40E74}"/>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75" name="文本框 174">
              <a:extLst>
                <a:ext uri="{FF2B5EF4-FFF2-40B4-BE49-F238E27FC236}">
                  <a16:creationId xmlns:a16="http://schemas.microsoft.com/office/drawing/2014/main" id="{258BD57B-1306-4725-9DEA-1D9D1F1D4C2A}"/>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6" name="组合 175">
            <a:extLst>
              <a:ext uri="{FF2B5EF4-FFF2-40B4-BE49-F238E27FC236}">
                <a16:creationId xmlns:a16="http://schemas.microsoft.com/office/drawing/2014/main" id="{37B6D8EA-299E-4888-B977-14B6B8D1EBE5}"/>
              </a:ext>
            </a:extLst>
          </p:cNvPr>
          <p:cNvGrpSpPr/>
          <p:nvPr/>
        </p:nvGrpSpPr>
        <p:grpSpPr>
          <a:xfrm>
            <a:off x="8703205" y="5986239"/>
            <a:ext cx="635647" cy="606462"/>
            <a:chOff x="7319483" y="6149946"/>
            <a:chExt cx="635647" cy="606462"/>
          </a:xfrm>
        </p:grpSpPr>
        <p:sp>
          <p:nvSpPr>
            <p:cNvPr id="178" name="等腰三角形 177">
              <a:extLst>
                <a:ext uri="{FF2B5EF4-FFF2-40B4-BE49-F238E27FC236}">
                  <a16:creationId xmlns:a16="http://schemas.microsoft.com/office/drawing/2014/main" id="{B79B6F3F-8640-456E-A874-967E3116680C}"/>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9" name="直接连接符 178">
              <a:extLst>
                <a:ext uri="{FF2B5EF4-FFF2-40B4-BE49-F238E27FC236}">
                  <a16:creationId xmlns:a16="http://schemas.microsoft.com/office/drawing/2014/main" id="{A199EDD0-F00A-4A4C-BCC3-12EE6A07F9AB}"/>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80" name="文本框 179">
              <a:extLst>
                <a:ext uri="{FF2B5EF4-FFF2-40B4-BE49-F238E27FC236}">
                  <a16:creationId xmlns:a16="http://schemas.microsoft.com/office/drawing/2014/main" id="{8150193A-141C-4729-A483-5CD769FC3D8D}"/>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81" name="组合 180">
            <a:extLst>
              <a:ext uri="{FF2B5EF4-FFF2-40B4-BE49-F238E27FC236}">
                <a16:creationId xmlns:a16="http://schemas.microsoft.com/office/drawing/2014/main" id="{AF658145-C767-4FCF-82EA-DD04B6554C2F}"/>
              </a:ext>
            </a:extLst>
          </p:cNvPr>
          <p:cNvGrpSpPr/>
          <p:nvPr/>
        </p:nvGrpSpPr>
        <p:grpSpPr>
          <a:xfrm>
            <a:off x="10715193" y="5988866"/>
            <a:ext cx="635647" cy="606462"/>
            <a:chOff x="7319483" y="6149946"/>
            <a:chExt cx="635647" cy="606462"/>
          </a:xfrm>
        </p:grpSpPr>
        <p:sp>
          <p:nvSpPr>
            <p:cNvPr id="182" name="等腰三角形 181">
              <a:extLst>
                <a:ext uri="{FF2B5EF4-FFF2-40B4-BE49-F238E27FC236}">
                  <a16:creationId xmlns:a16="http://schemas.microsoft.com/office/drawing/2014/main" id="{D4F83BF3-3478-4517-AF7F-F7074B132934}"/>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3" name="直接连接符 182">
              <a:extLst>
                <a:ext uri="{FF2B5EF4-FFF2-40B4-BE49-F238E27FC236}">
                  <a16:creationId xmlns:a16="http://schemas.microsoft.com/office/drawing/2014/main" id="{72E3098C-A126-4D42-A8DA-31C7252CFAC8}"/>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84" name="文本框 183">
              <a:extLst>
                <a:ext uri="{FF2B5EF4-FFF2-40B4-BE49-F238E27FC236}">
                  <a16:creationId xmlns:a16="http://schemas.microsoft.com/office/drawing/2014/main" id="{ECF19CC3-DD8E-4319-BD29-FCD66C69BF64}"/>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85" name="文本框 184"/>
          <p:cNvSpPr txBox="1"/>
          <p:nvPr/>
        </p:nvSpPr>
        <p:spPr>
          <a:xfrm rot="5400000">
            <a:off x="3289290" y="2756973"/>
            <a:ext cx="920830" cy="338554"/>
          </a:xfrm>
          <a:prstGeom prst="rect">
            <a:avLst/>
          </a:prstGeom>
          <a:noFill/>
        </p:spPr>
        <p:txBody>
          <a:bodyPr wrap="square" rtlCol="0">
            <a:spAutoFit/>
          </a:bodyPr>
          <a:lstStyle/>
          <a:p>
            <a:r>
              <a:rPr lang="en-US" altLang="zh-CN" sz="1600" b="1" dirty="0">
                <a:solidFill>
                  <a:srgbClr val="FF0000"/>
                </a:solidFill>
              </a:rPr>
              <a:t>IF/</a:t>
            </a:r>
            <a:r>
              <a:rPr lang="en-US" altLang="zh-CN" sz="1600" b="1" dirty="0" err="1">
                <a:solidFill>
                  <a:srgbClr val="FF0000"/>
                </a:solidFill>
              </a:rPr>
              <a:t>ID.pc</a:t>
            </a:r>
            <a:endParaRPr lang="zh-CN" altLang="en-US" sz="1600" b="1" dirty="0">
              <a:solidFill>
                <a:srgbClr val="FF0000"/>
              </a:solidFill>
            </a:endParaRPr>
          </a:p>
        </p:txBody>
      </p:sp>
      <p:sp>
        <p:nvSpPr>
          <p:cNvPr id="187" name="文本框 186"/>
          <p:cNvSpPr txBox="1"/>
          <p:nvPr/>
        </p:nvSpPr>
        <p:spPr>
          <a:xfrm rot="5400000">
            <a:off x="3006258" y="4552764"/>
            <a:ext cx="1474765" cy="338554"/>
          </a:xfrm>
          <a:prstGeom prst="rect">
            <a:avLst/>
          </a:prstGeom>
          <a:noFill/>
        </p:spPr>
        <p:txBody>
          <a:bodyPr wrap="square" rtlCol="0">
            <a:spAutoFit/>
          </a:bodyPr>
          <a:lstStyle/>
          <a:p>
            <a:r>
              <a:rPr lang="en-US" altLang="zh-CN" sz="1600" b="1" dirty="0">
                <a:solidFill>
                  <a:srgbClr val="FF0000"/>
                </a:solidFill>
              </a:rPr>
              <a:t>IF/</a:t>
            </a:r>
            <a:r>
              <a:rPr lang="en-US" altLang="zh-CN" sz="1600" b="1" dirty="0" err="1">
                <a:solidFill>
                  <a:srgbClr val="FF0000"/>
                </a:solidFill>
              </a:rPr>
              <a:t>ID.inst</a:t>
            </a:r>
            <a:r>
              <a:rPr lang="en-US" altLang="zh-CN" sz="1600" b="1" dirty="0">
                <a:solidFill>
                  <a:srgbClr val="FF0000"/>
                </a:solidFill>
              </a:rPr>
              <a:t>[31:0]</a:t>
            </a:r>
            <a:endParaRPr lang="zh-CN" altLang="en-US" sz="1600" b="1" dirty="0">
              <a:solidFill>
                <a:srgbClr val="FF0000"/>
              </a:solidFill>
            </a:endParaRPr>
          </a:p>
        </p:txBody>
      </p:sp>
      <p:sp>
        <p:nvSpPr>
          <p:cNvPr id="189" name="文本框 188"/>
          <p:cNvSpPr txBox="1"/>
          <p:nvPr/>
        </p:nvSpPr>
        <p:spPr>
          <a:xfrm rot="5400000">
            <a:off x="5992293" y="2565056"/>
            <a:ext cx="954902" cy="338554"/>
          </a:xfrm>
          <a:prstGeom prst="rect">
            <a:avLst/>
          </a:prstGeom>
          <a:noFill/>
        </p:spPr>
        <p:txBody>
          <a:bodyPr wrap="square" rtlCol="0">
            <a:spAutoFit/>
          </a:bodyPr>
          <a:lstStyle/>
          <a:p>
            <a:r>
              <a:rPr lang="en-US" altLang="zh-CN" sz="1600" b="1" dirty="0">
                <a:solidFill>
                  <a:srgbClr val="FF0000"/>
                </a:solidFill>
              </a:rPr>
              <a:t>IF/</a:t>
            </a:r>
            <a:r>
              <a:rPr lang="en-US" altLang="zh-CN" sz="1600" b="1" dirty="0" err="1">
                <a:solidFill>
                  <a:srgbClr val="FF0000"/>
                </a:solidFill>
              </a:rPr>
              <a:t>ID.pc</a:t>
            </a:r>
            <a:endParaRPr lang="zh-CN" altLang="en-US" sz="1600" b="1" dirty="0">
              <a:solidFill>
                <a:srgbClr val="FF0000"/>
              </a:solidFill>
            </a:endParaRPr>
          </a:p>
        </p:txBody>
      </p:sp>
      <p:sp>
        <p:nvSpPr>
          <p:cNvPr id="191" name="文本框 190"/>
          <p:cNvSpPr txBox="1"/>
          <p:nvPr/>
        </p:nvSpPr>
        <p:spPr>
          <a:xfrm rot="5400000">
            <a:off x="6027643" y="5547629"/>
            <a:ext cx="873123" cy="338554"/>
          </a:xfrm>
          <a:prstGeom prst="rect">
            <a:avLst/>
          </a:prstGeom>
          <a:noFill/>
        </p:spPr>
        <p:txBody>
          <a:bodyPr wrap="square" rtlCol="0">
            <a:spAutoFit/>
          </a:bodyPr>
          <a:lstStyle/>
          <a:p>
            <a:r>
              <a:rPr lang="en-US" altLang="zh-CN" sz="1600" b="1" dirty="0" err="1">
                <a:solidFill>
                  <a:srgbClr val="0000FF"/>
                </a:solidFill>
              </a:rPr>
              <a:t>ID.imm</a:t>
            </a:r>
            <a:endParaRPr lang="zh-CN" altLang="en-US" sz="1600" b="1" dirty="0">
              <a:solidFill>
                <a:srgbClr val="0000FF"/>
              </a:solidFill>
            </a:endParaRPr>
          </a:p>
        </p:txBody>
      </p:sp>
      <p:sp>
        <p:nvSpPr>
          <p:cNvPr id="192" name="文本框 191"/>
          <p:cNvSpPr txBox="1"/>
          <p:nvPr/>
        </p:nvSpPr>
        <p:spPr>
          <a:xfrm>
            <a:off x="3085215" y="2294826"/>
            <a:ext cx="604501" cy="369332"/>
          </a:xfrm>
          <a:prstGeom prst="rect">
            <a:avLst/>
          </a:prstGeom>
          <a:noFill/>
        </p:spPr>
        <p:txBody>
          <a:bodyPr wrap="square" rtlCol="0">
            <a:spAutoFit/>
          </a:bodyPr>
          <a:lstStyle/>
          <a:p>
            <a:r>
              <a:rPr lang="en-US" altLang="zh-CN" dirty="0">
                <a:solidFill>
                  <a:srgbClr val="0000FF"/>
                </a:solidFill>
              </a:rPr>
              <a:t>PC</a:t>
            </a:r>
            <a:endParaRPr lang="zh-CN" altLang="en-US" baseline="-25000" dirty="0">
              <a:solidFill>
                <a:srgbClr val="0000FF"/>
              </a:solidFill>
            </a:endParaRPr>
          </a:p>
        </p:txBody>
      </p:sp>
      <p:sp>
        <p:nvSpPr>
          <p:cNvPr id="193" name="文本框 192"/>
          <p:cNvSpPr txBox="1"/>
          <p:nvPr/>
        </p:nvSpPr>
        <p:spPr>
          <a:xfrm>
            <a:off x="5263826" y="2334223"/>
            <a:ext cx="1030218" cy="369332"/>
          </a:xfrm>
          <a:prstGeom prst="rect">
            <a:avLst/>
          </a:prstGeom>
          <a:noFill/>
        </p:spPr>
        <p:txBody>
          <a:bodyPr wrap="square" rtlCol="0">
            <a:spAutoFit/>
          </a:bodyPr>
          <a:lstStyle/>
          <a:p>
            <a:r>
              <a:rPr lang="en-US" altLang="zh-CN" dirty="0">
                <a:solidFill>
                  <a:srgbClr val="0000FF"/>
                </a:solidFill>
              </a:rPr>
              <a:t>IF/</a:t>
            </a:r>
            <a:r>
              <a:rPr lang="en-US" altLang="zh-CN" dirty="0" err="1">
                <a:solidFill>
                  <a:srgbClr val="0000FF"/>
                </a:solidFill>
              </a:rPr>
              <a:t>ID.pc</a:t>
            </a:r>
            <a:endParaRPr lang="zh-CN" altLang="en-US" dirty="0">
              <a:solidFill>
                <a:srgbClr val="0000FF"/>
              </a:solidFill>
            </a:endParaRPr>
          </a:p>
        </p:txBody>
      </p:sp>
      <p:sp>
        <p:nvSpPr>
          <p:cNvPr id="195" name="文本框 194"/>
          <p:cNvSpPr txBox="1"/>
          <p:nvPr/>
        </p:nvSpPr>
        <p:spPr>
          <a:xfrm rot="5400000">
            <a:off x="5834553" y="3540811"/>
            <a:ext cx="1263490" cy="338554"/>
          </a:xfrm>
          <a:prstGeom prst="rect">
            <a:avLst/>
          </a:prstGeom>
          <a:noFill/>
        </p:spPr>
        <p:txBody>
          <a:bodyPr wrap="square" rtlCol="0">
            <a:spAutoFit/>
          </a:bodyPr>
          <a:lstStyle/>
          <a:p>
            <a:r>
              <a:rPr lang="en-US" altLang="zh-CN" sz="1600" b="1" dirty="0" err="1">
                <a:solidFill>
                  <a:srgbClr val="0000FF"/>
                </a:solidFill>
              </a:rPr>
              <a:t>ID.Reg</a:t>
            </a:r>
            <a:r>
              <a:rPr lang="en-US" altLang="zh-CN" sz="1600" b="1" dirty="0">
                <a:solidFill>
                  <a:srgbClr val="0000FF"/>
                </a:solidFill>
              </a:rPr>
              <a:t>[rs1]</a:t>
            </a:r>
            <a:endParaRPr lang="zh-CN" altLang="en-US" sz="1600" b="1" dirty="0">
              <a:solidFill>
                <a:srgbClr val="0000FF"/>
              </a:solidFill>
            </a:endParaRPr>
          </a:p>
        </p:txBody>
      </p:sp>
      <p:sp>
        <p:nvSpPr>
          <p:cNvPr id="196" name="文本框 195"/>
          <p:cNvSpPr txBox="1"/>
          <p:nvPr/>
        </p:nvSpPr>
        <p:spPr>
          <a:xfrm rot="5400000">
            <a:off x="5881360" y="4610929"/>
            <a:ext cx="1172349" cy="338554"/>
          </a:xfrm>
          <a:prstGeom prst="rect">
            <a:avLst/>
          </a:prstGeom>
          <a:noFill/>
        </p:spPr>
        <p:txBody>
          <a:bodyPr wrap="square" rtlCol="0">
            <a:spAutoFit/>
          </a:bodyPr>
          <a:lstStyle/>
          <a:p>
            <a:r>
              <a:rPr lang="en-US" altLang="zh-CN" sz="1600" b="1" dirty="0" err="1">
                <a:solidFill>
                  <a:srgbClr val="C00000"/>
                </a:solidFill>
              </a:rPr>
              <a:t>ID.Reg</a:t>
            </a:r>
            <a:r>
              <a:rPr lang="en-US" altLang="zh-CN" sz="1600" b="1" dirty="0">
                <a:solidFill>
                  <a:srgbClr val="C00000"/>
                </a:solidFill>
              </a:rPr>
              <a:t>[rs2]</a:t>
            </a:r>
            <a:endParaRPr lang="zh-CN" altLang="en-US" sz="1600" b="1" dirty="0">
              <a:solidFill>
                <a:srgbClr val="C00000"/>
              </a:solidFill>
            </a:endParaRPr>
          </a:p>
        </p:txBody>
      </p:sp>
    </p:spTree>
    <p:extLst>
      <p:ext uri="{BB962C8B-B14F-4D97-AF65-F5344CB8AC3E}">
        <p14:creationId xmlns:p14="http://schemas.microsoft.com/office/powerpoint/2010/main" val="4927983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pPr lvl="1"/>
            <a:endPar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a:p>
            <a:endParaRPr lang="zh-CN" altLang="en-US" dirty="0"/>
          </a:p>
        </p:txBody>
      </p:sp>
      <p:grpSp>
        <p:nvGrpSpPr>
          <p:cNvPr id="18" name="Instruction memory"/>
          <p:cNvGrpSpPr/>
          <p:nvPr/>
        </p:nvGrpSpPr>
        <p:grpSpPr>
          <a:xfrm>
            <a:off x="2226871" y="3689019"/>
            <a:ext cx="1142439" cy="1017764"/>
            <a:chOff x="2263385" y="3407372"/>
            <a:chExt cx="1470915" cy="1193839"/>
          </a:xfrm>
        </p:grpSpPr>
        <p:sp>
          <p:nvSpPr>
            <p:cNvPr id="8" name="矩形 7"/>
            <p:cNvSpPr/>
            <p:nvPr/>
          </p:nvSpPr>
          <p:spPr>
            <a:xfrm>
              <a:off x="2333823" y="3448051"/>
              <a:ext cx="1400477" cy="11531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 name="文本框 11"/>
            <p:cNvSpPr txBox="1"/>
            <p:nvPr/>
          </p:nvSpPr>
          <p:spPr>
            <a:xfrm>
              <a:off x="2263385" y="3407372"/>
              <a:ext cx="1319245"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15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0" name="PC"/>
          <p:cNvGrpSpPr/>
          <p:nvPr/>
        </p:nvGrpSpPr>
        <p:grpSpPr>
          <a:xfrm>
            <a:off x="1648705" y="3491305"/>
            <a:ext cx="508932" cy="707887"/>
            <a:chOff x="792726" y="4754327"/>
            <a:chExt cx="1018662" cy="607761"/>
          </a:xfrm>
        </p:grpSpPr>
        <p:sp>
          <p:nvSpPr>
            <p:cNvPr id="15" name="矩形 14"/>
            <p:cNvSpPr/>
            <p:nvPr/>
          </p:nvSpPr>
          <p:spPr>
            <a:xfrm>
              <a:off x="887030" y="4800600"/>
              <a:ext cx="639939" cy="50292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9" name="文本框 18"/>
            <p:cNvSpPr txBox="1"/>
            <p:nvPr/>
          </p:nvSpPr>
          <p:spPr>
            <a:xfrm>
              <a:off x="792726" y="4754327"/>
              <a:ext cx="1018662" cy="607761"/>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PC</a:t>
              </a:r>
              <a:endParaRPr kumimoji="0" lang="zh-CN" alt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4" name="Add"/>
          <p:cNvGrpSpPr/>
          <p:nvPr/>
        </p:nvGrpSpPr>
        <p:grpSpPr>
          <a:xfrm>
            <a:off x="2485449" y="2440477"/>
            <a:ext cx="655949" cy="822349"/>
            <a:chOff x="4656246" y="4140786"/>
            <a:chExt cx="743403" cy="964617"/>
          </a:xfrm>
        </p:grpSpPr>
        <p:sp>
          <p:nvSpPr>
            <p:cNvPr id="22" name="梯形 21"/>
            <p:cNvSpPr/>
            <p:nvPr/>
          </p:nvSpPr>
          <p:spPr>
            <a:xfrm rot="5400000">
              <a:off x="4538209" y="4329347"/>
              <a:ext cx="964617" cy="587495"/>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3" name="文本框 22"/>
            <p:cNvSpPr txBox="1"/>
            <p:nvPr/>
          </p:nvSpPr>
          <p:spPr>
            <a:xfrm>
              <a:off x="4656246" y="4371481"/>
              <a:ext cx="743403"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36" name="IF/ID"/>
          <p:cNvGrpSpPr/>
          <p:nvPr/>
        </p:nvGrpSpPr>
        <p:grpSpPr>
          <a:xfrm>
            <a:off x="3336052" y="1989908"/>
            <a:ext cx="797013" cy="4114272"/>
            <a:chOff x="116128" y="450828"/>
            <a:chExt cx="955165" cy="5944486"/>
          </a:xfrm>
        </p:grpSpPr>
        <p:sp>
          <p:nvSpPr>
            <p:cNvPr id="34" name="矩形 33"/>
            <p:cNvSpPr/>
            <p:nvPr/>
          </p:nvSpPr>
          <p:spPr>
            <a:xfrm>
              <a:off x="358141" y="937259"/>
              <a:ext cx="358140" cy="5458055"/>
            </a:xfrm>
            <a:prstGeom prst="rect">
              <a:avLst/>
            </a:prstGeom>
            <a:noFill/>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5" name="文本框 34"/>
            <p:cNvSpPr txBox="1"/>
            <p:nvPr/>
          </p:nvSpPr>
          <p:spPr>
            <a:xfrm>
              <a:off x="116128" y="450828"/>
              <a:ext cx="955165" cy="578097"/>
            </a:xfrm>
            <a:prstGeom prst="rect">
              <a:avLst/>
            </a:prstGeom>
            <a:ln w="25400">
              <a:noFill/>
            </a:ln>
          </p:spPr>
          <p:style>
            <a:lnRef idx="1">
              <a:schemeClr val="accent1"/>
            </a:lnRef>
            <a:fillRef idx="0">
              <a:schemeClr val="accent1"/>
            </a:fillRef>
            <a:effectRef idx="0">
              <a:schemeClr val="accent1"/>
            </a:effectRef>
            <a:fontRef idx="minor">
              <a:schemeClr val="tx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IF/ID</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45" name="Registers"/>
          <p:cNvGrpSpPr/>
          <p:nvPr/>
        </p:nvGrpSpPr>
        <p:grpSpPr>
          <a:xfrm>
            <a:off x="4466204" y="2750572"/>
            <a:ext cx="1726163" cy="2568442"/>
            <a:chOff x="1920262" y="241327"/>
            <a:chExt cx="3106114" cy="3344105"/>
          </a:xfrm>
        </p:grpSpPr>
        <p:sp>
          <p:nvSpPr>
            <p:cNvPr id="37" name="矩形 36"/>
            <p:cNvSpPr/>
            <p:nvPr/>
          </p:nvSpPr>
          <p:spPr>
            <a:xfrm>
              <a:off x="2026387" y="320244"/>
              <a:ext cx="2772304" cy="3265188"/>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 name="文本框 37"/>
            <p:cNvSpPr txBox="1"/>
            <p:nvPr/>
          </p:nvSpPr>
          <p:spPr>
            <a:xfrm>
              <a:off x="2121631" y="1515410"/>
              <a:ext cx="2149527" cy="52094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Registers</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 name="文本框 38"/>
            <p:cNvSpPr txBox="1"/>
            <p:nvPr/>
          </p:nvSpPr>
          <p:spPr>
            <a:xfrm>
              <a:off x="1920789" y="241327"/>
              <a:ext cx="2611979"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0" name="文本框 39"/>
            <p:cNvSpPr txBox="1"/>
            <p:nvPr/>
          </p:nvSpPr>
          <p:spPr>
            <a:xfrm>
              <a:off x="1920262" y="740405"/>
              <a:ext cx="2450645"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1" name="文本框 40"/>
            <p:cNvSpPr txBox="1"/>
            <p:nvPr/>
          </p:nvSpPr>
          <p:spPr>
            <a:xfrm>
              <a:off x="1925707" y="2479303"/>
              <a:ext cx="2199198"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reg</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2" name="文本框 41"/>
            <p:cNvSpPr txBox="1"/>
            <p:nvPr/>
          </p:nvSpPr>
          <p:spPr>
            <a:xfrm>
              <a:off x="1938951" y="2943791"/>
              <a:ext cx="2364242"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3" name="文本框 42"/>
            <p:cNvSpPr txBox="1"/>
            <p:nvPr/>
          </p:nvSpPr>
          <p:spPr>
            <a:xfrm>
              <a:off x="2467221" y="1159239"/>
              <a:ext cx="2524881"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4" name="文本框 43"/>
            <p:cNvSpPr txBox="1"/>
            <p:nvPr/>
          </p:nvSpPr>
          <p:spPr>
            <a:xfrm>
              <a:off x="2431051" y="1920895"/>
              <a:ext cx="2595325" cy="520942"/>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48" name="Imm Gen"/>
          <p:cNvGrpSpPr/>
          <p:nvPr/>
        </p:nvGrpSpPr>
        <p:grpSpPr>
          <a:xfrm>
            <a:off x="5263826" y="5486703"/>
            <a:ext cx="658095" cy="538474"/>
            <a:chOff x="4868693" y="6172575"/>
            <a:chExt cx="992993" cy="1215294"/>
          </a:xfrm>
        </p:grpSpPr>
        <p:sp>
          <p:nvSpPr>
            <p:cNvPr id="46" name="椭圆 45"/>
            <p:cNvSpPr/>
            <p:nvPr/>
          </p:nvSpPr>
          <p:spPr>
            <a:xfrm>
              <a:off x="4868693" y="6172575"/>
              <a:ext cx="984044" cy="1146747"/>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7" name="文本框 46"/>
            <p:cNvSpPr txBox="1"/>
            <p:nvPr/>
          </p:nvSpPr>
          <p:spPr>
            <a:xfrm>
              <a:off x="4895397" y="6339596"/>
              <a:ext cx="966289" cy="104827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Imm</a:t>
              </a: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Gen</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55" name="Add Sum"/>
          <p:cNvGrpSpPr/>
          <p:nvPr/>
        </p:nvGrpSpPr>
        <p:grpSpPr>
          <a:xfrm>
            <a:off x="7755619" y="2567947"/>
            <a:ext cx="655949" cy="768090"/>
            <a:chOff x="5634620" y="2480764"/>
            <a:chExt cx="1081993" cy="1475010"/>
          </a:xfrm>
        </p:grpSpPr>
        <p:sp>
          <p:nvSpPr>
            <p:cNvPr id="52" name="梯形 51"/>
            <p:cNvSpPr/>
            <p:nvPr/>
          </p:nvSpPr>
          <p:spPr>
            <a:xfrm rot="5400000">
              <a:off x="5424366" y="2770445"/>
              <a:ext cx="1475010" cy="895647"/>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4" name="文本框 53"/>
            <p:cNvSpPr txBox="1"/>
            <p:nvPr/>
          </p:nvSpPr>
          <p:spPr>
            <a:xfrm>
              <a:off x="5634620" y="2851177"/>
              <a:ext cx="1081993" cy="93914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Sum</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61" name="ALU"/>
          <p:cNvGrpSpPr/>
          <p:nvPr/>
        </p:nvGrpSpPr>
        <p:grpSpPr>
          <a:xfrm>
            <a:off x="7682543" y="3595200"/>
            <a:ext cx="880667" cy="1454509"/>
            <a:chOff x="6023805" y="3618922"/>
            <a:chExt cx="1295157" cy="1704463"/>
          </a:xfrm>
        </p:grpSpPr>
        <p:sp>
          <p:nvSpPr>
            <p:cNvPr id="57" name="梯形 56"/>
            <p:cNvSpPr/>
            <p:nvPr/>
          </p:nvSpPr>
          <p:spPr>
            <a:xfrm rot="5400000">
              <a:off x="5805450" y="3911167"/>
              <a:ext cx="1704463" cy="1119974"/>
            </a:xfrm>
            <a:prstGeom prst="trapezoid">
              <a:avLst>
                <a:gd name="adj" fmla="val 43158"/>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8" name="文本框 57"/>
            <p:cNvSpPr txBox="1"/>
            <p:nvPr/>
          </p:nvSpPr>
          <p:spPr>
            <a:xfrm>
              <a:off x="6023805" y="3779478"/>
              <a:ext cx="1070760"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ALU</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9" name="文本框 58"/>
            <p:cNvSpPr txBox="1"/>
            <p:nvPr/>
          </p:nvSpPr>
          <p:spPr>
            <a:xfrm>
              <a:off x="6212840" y="4596488"/>
              <a:ext cx="1106122" cy="347668"/>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result</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60" name="文本框 59"/>
            <p:cNvSpPr txBox="1"/>
            <p:nvPr/>
          </p:nvSpPr>
          <p:spPr>
            <a:xfrm>
              <a:off x="6276821" y="4080452"/>
              <a:ext cx="983534"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Zero</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65" name="shift left 1"/>
          <p:cNvGrpSpPr/>
          <p:nvPr/>
        </p:nvGrpSpPr>
        <p:grpSpPr>
          <a:xfrm>
            <a:off x="6703840" y="2719915"/>
            <a:ext cx="774571" cy="682474"/>
            <a:chOff x="6107415" y="4133981"/>
            <a:chExt cx="1189523" cy="1146746"/>
          </a:xfrm>
        </p:grpSpPr>
        <p:sp>
          <p:nvSpPr>
            <p:cNvPr id="63" name="椭圆 62"/>
            <p:cNvSpPr/>
            <p:nvPr/>
          </p:nvSpPr>
          <p:spPr>
            <a:xfrm>
              <a:off x="6161866" y="4133981"/>
              <a:ext cx="984043" cy="1146746"/>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64" name="文本框 63"/>
            <p:cNvSpPr txBox="1"/>
            <p:nvPr/>
          </p:nvSpPr>
          <p:spPr>
            <a:xfrm>
              <a:off x="6107415" y="4371720"/>
              <a:ext cx="1189523" cy="821732"/>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Shift </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left 1</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72" name="Mux 3"/>
          <p:cNvGrpSpPr/>
          <p:nvPr/>
        </p:nvGrpSpPr>
        <p:grpSpPr>
          <a:xfrm>
            <a:off x="11249672" y="4656949"/>
            <a:ext cx="596486" cy="1168007"/>
            <a:chOff x="3628473" y="5448300"/>
            <a:chExt cx="839025" cy="1230515"/>
          </a:xfrm>
        </p:grpSpPr>
        <p:sp>
          <p:nvSpPr>
            <p:cNvPr id="73" name="mux"/>
            <p:cNvSpPr/>
            <p:nvPr/>
          </p:nvSpPr>
          <p:spPr>
            <a:xfrm rot="5400000">
              <a:off x="3386121" y="5744398"/>
              <a:ext cx="1230515" cy="638319"/>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4" name="文本框 73"/>
            <p:cNvSpPr txBox="1"/>
            <p:nvPr/>
          </p:nvSpPr>
          <p:spPr>
            <a:xfrm>
              <a:off x="3628473" y="5492154"/>
              <a:ext cx="260679"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5" name="文本框 74"/>
            <p:cNvSpPr txBox="1"/>
            <p:nvPr/>
          </p:nvSpPr>
          <p:spPr>
            <a:xfrm>
              <a:off x="3641695" y="6293721"/>
              <a:ext cx="404061" cy="35667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6" name="文本框 75"/>
            <p:cNvSpPr txBox="1"/>
            <p:nvPr/>
          </p:nvSpPr>
          <p:spPr>
            <a:xfrm>
              <a:off x="3867268" y="5599309"/>
              <a:ext cx="600230" cy="1070017"/>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90" name="Data memory"/>
          <p:cNvGrpSpPr/>
          <p:nvPr/>
        </p:nvGrpSpPr>
        <p:grpSpPr>
          <a:xfrm>
            <a:off x="9269966" y="3839684"/>
            <a:ext cx="1417516" cy="1635472"/>
            <a:chOff x="14770965" y="4726326"/>
            <a:chExt cx="3011394" cy="3362560"/>
          </a:xfrm>
        </p:grpSpPr>
        <p:sp>
          <p:nvSpPr>
            <p:cNvPr id="82" name="矩形 81"/>
            <p:cNvSpPr/>
            <p:nvPr/>
          </p:nvSpPr>
          <p:spPr>
            <a:xfrm>
              <a:off x="14919092" y="4726326"/>
              <a:ext cx="2551866" cy="33625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3" name="文本框 82"/>
            <p:cNvSpPr txBox="1"/>
            <p:nvPr/>
          </p:nvSpPr>
          <p:spPr>
            <a:xfrm>
              <a:off x="14893548" y="4778415"/>
              <a:ext cx="2622003" cy="100548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Data </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memory</a:t>
              </a:r>
            </a:p>
          </p:txBody>
        </p:sp>
        <p:sp>
          <p:nvSpPr>
            <p:cNvPr id="84" name="文本框 83"/>
            <p:cNvSpPr txBox="1"/>
            <p:nvPr/>
          </p:nvSpPr>
          <p:spPr>
            <a:xfrm>
              <a:off x="14776597" y="5875439"/>
              <a:ext cx="2291814"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7" name="文本框 86"/>
            <p:cNvSpPr txBox="1"/>
            <p:nvPr/>
          </p:nvSpPr>
          <p:spPr>
            <a:xfrm>
              <a:off x="14770965" y="7263927"/>
              <a:ext cx="2654424"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8" name="文本框 87"/>
            <p:cNvSpPr txBox="1"/>
            <p:nvPr/>
          </p:nvSpPr>
          <p:spPr>
            <a:xfrm>
              <a:off x="15110098" y="6521639"/>
              <a:ext cx="2672261"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101" name="矩形 100"/>
          <p:cNvSpPr/>
          <p:nvPr/>
        </p:nvSpPr>
        <p:spPr>
          <a:xfrm>
            <a:off x="6371256" y="2334223"/>
            <a:ext cx="316009" cy="3769417"/>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11" name="矩形 110"/>
          <p:cNvSpPr/>
          <p:nvPr/>
        </p:nvSpPr>
        <p:spPr>
          <a:xfrm>
            <a:off x="8749001" y="2338973"/>
            <a:ext cx="291194" cy="3754340"/>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1" name="矩形 120"/>
          <p:cNvSpPr/>
          <p:nvPr/>
        </p:nvSpPr>
        <p:spPr>
          <a:xfrm>
            <a:off x="10750832" y="2325538"/>
            <a:ext cx="300877" cy="3767775"/>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160" name="直接连接符 159"/>
          <p:cNvCxnSpPr/>
          <p:nvPr/>
        </p:nvCxnSpPr>
        <p:spPr>
          <a:xfrm flipV="1">
            <a:off x="3836834" y="2649751"/>
            <a:ext cx="2534421" cy="109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直接连接符 160"/>
          <p:cNvCxnSpPr/>
          <p:nvPr/>
        </p:nvCxnSpPr>
        <p:spPr>
          <a:xfrm>
            <a:off x="2015539" y="3851775"/>
            <a:ext cx="25830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直接连接符 161"/>
          <p:cNvCxnSpPr>
            <a:stCxn id="8" idx="3"/>
            <a:endCxn id="34" idx="1"/>
          </p:cNvCxnSpPr>
          <p:nvPr/>
        </p:nvCxnSpPr>
        <p:spPr>
          <a:xfrm>
            <a:off x="3369310" y="4215241"/>
            <a:ext cx="168684" cy="1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直接连接符 162"/>
          <p:cNvCxnSpPr>
            <a:stCxn id="22" idx="0"/>
          </p:cNvCxnSpPr>
          <p:nvPr/>
        </p:nvCxnSpPr>
        <p:spPr>
          <a:xfrm flipV="1">
            <a:off x="3066061" y="2849764"/>
            <a:ext cx="82559" cy="18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a:off x="2104143" y="2576659"/>
            <a:ext cx="43729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flipH="1">
            <a:off x="2104143" y="2567947"/>
            <a:ext cx="3782" cy="1271738"/>
          </a:xfrm>
          <a:prstGeom prst="line">
            <a:avLst/>
          </a:prstGeom>
          <a:ln w="25400">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3139742" y="2159845"/>
            <a:ext cx="0" cy="6899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a:stCxn id="52" idx="0"/>
          </p:cNvCxnSpPr>
          <p:nvPr/>
        </p:nvCxnSpPr>
        <p:spPr>
          <a:xfrm flipV="1">
            <a:off x="8346757" y="2951992"/>
            <a:ext cx="404306"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直接连接符 187"/>
          <p:cNvCxnSpPr/>
          <p:nvPr/>
        </p:nvCxnSpPr>
        <p:spPr>
          <a:xfrm>
            <a:off x="850618" y="2159845"/>
            <a:ext cx="22980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a:off x="850618" y="2159845"/>
            <a:ext cx="0" cy="13869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a:off x="4145076" y="2981715"/>
            <a:ext cx="409392"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4131819" y="3334566"/>
            <a:ext cx="395373"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a:off x="6070427" y="3790086"/>
            <a:ext cx="30542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a:xfrm>
            <a:off x="6070428" y="4231468"/>
            <a:ext cx="29581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6" name="直接连接符 215"/>
          <p:cNvCxnSpPr/>
          <p:nvPr/>
        </p:nvCxnSpPr>
        <p:spPr>
          <a:xfrm>
            <a:off x="4123081" y="5741003"/>
            <a:ext cx="1143140"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18" name="直接连接符 217"/>
          <p:cNvCxnSpPr/>
          <p:nvPr/>
        </p:nvCxnSpPr>
        <p:spPr>
          <a:xfrm flipV="1">
            <a:off x="5918385" y="5724487"/>
            <a:ext cx="457463" cy="719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1" name="直接连接符 260"/>
          <p:cNvCxnSpPr/>
          <p:nvPr/>
        </p:nvCxnSpPr>
        <p:spPr>
          <a:xfrm>
            <a:off x="7409529" y="3074485"/>
            <a:ext cx="36100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3" name="直接连接符 262"/>
          <p:cNvCxnSpPr/>
          <p:nvPr/>
        </p:nvCxnSpPr>
        <p:spPr>
          <a:xfrm>
            <a:off x="6695772" y="3815617"/>
            <a:ext cx="103718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2" name="Mux 3"/>
          <p:cNvGrpSpPr/>
          <p:nvPr/>
        </p:nvGrpSpPr>
        <p:grpSpPr>
          <a:xfrm>
            <a:off x="980794" y="3335347"/>
            <a:ext cx="615567" cy="1168007"/>
            <a:chOff x="3339670" y="5460516"/>
            <a:chExt cx="901073" cy="1230515"/>
          </a:xfrm>
        </p:grpSpPr>
        <p:sp>
          <p:nvSpPr>
            <p:cNvPr id="133" name="mux"/>
            <p:cNvSpPr/>
            <p:nvPr/>
          </p:nvSpPr>
          <p:spPr>
            <a:xfrm rot="5400000">
              <a:off x="3140776" y="5731027"/>
              <a:ext cx="1230515" cy="689494"/>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4" name="文本框 133"/>
            <p:cNvSpPr txBox="1"/>
            <p:nvPr/>
          </p:nvSpPr>
          <p:spPr>
            <a:xfrm>
              <a:off x="3365437" y="5514581"/>
              <a:ext cx="260684"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5" name="文本框 134"/>
            <p:cNvSpPr txBox="1"/>
            <p:nvPr/>
          </p:nvSpPr>
          <p:spPr>
            <a:xfrm>
              <a:off x="3339670" y="6240974"/>
              <a:ext cx="324022"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6" name="文本框 135"/>
            <p:cNvSpPr txBox="1"/>
            <p:nvPr/>
          </p:nvSpPr>
          <p:spPr>
            <a:xfrm>
              <a:off x="3616106" y="5588478"/>
              <a:ext cx="624637" cy="107001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52" name="直接连接符 151"/>
          <p:cNvCxnSpPr/>
          <p:nvPr/>
        </p:nvCxnSpPr>
        <p:spPr>
          <a:xfrm>
            <a:off x="8501372" y="4553988"/>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a:off x="9052058" y="4563953"/>
            <a:ext cx="28232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a:off x="9031887" y="5179010"/>
            <a:ext cx="3068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10550113" y="4858794"/>
            <a:ext cx="20911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56" name="Mux 3"/>
          <p:cNvGrpSpPr/>
          <p:nvPr/>
        </p:nvGrpSpPr>
        <p:grpSpPr>
          <a:xfrm>
            <a:off x="7047068" y="3932821"/>
            <a:ext cx="482064" cy="1168006"/>
            <a:chOff x="3558568" y="5448300"/>
            <a:chExt cx="706348" cy="1230515"/>
          </a:xfrm>
        </p:grpSpPr>
        <p:sp>
          <p:nvSpPr>
            <p:cNvPr id="157" name="mux"/>
            <p:cNvSpPr/>
            <p:nvPr/>
          </p:nvSpPr>
          <p:spPr>
            <a:xfrm rot="5400000">
              <a:off x="3332723" y="5746622"/>
              <a:ext cx="1230515" cy="633871"/>
            </a:xfrm>
            <a:prstGeom prst="flowChartTerminator">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8" name="文本框 157"/>
            <p:cNvSpPr txBox="1"/>
            <p:nvPr/>
          </p:nvSpPr>
          <p:spPr>
            <a:xfrm>
              <a:off x="3571052" y="5580627"/>
              <a:ext cx="260683"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9" name="文本框 158"/>
            <p:cNvSpPr txBox="1"/>
            <p:nvPr/>
          </p:nvSpPr>
          <p:spPr>
            <a:xfrm>
              <a:off x="3558568" y="6264229"/>
              <a:ext cx="408929" cy="34293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6" name="文本框 165"/>
            <p:cNvSpPr txBox="1"/>
            <p:nvPr/>
          </p:nvSpPr>
          <p:spPr>
            <a:xfrm>
              <a:off x="3747999" y="5579240"/>
              <a:ext cx="462611" cy="1070019"/>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68" name="直接连接符 167"/>
          <p:cNvCxnSpPr/>
          <p:nvPr/>
        </p:nvCxnSpPr>
        <p:spPr>
          <a:xfrm flipV="1">
            <a:off x="1508893" y="3845382"/>
            <a:ext cx="178001" cy="5"/>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a:xfrm>
            <a:off x="2346907" y="3038865"/>
            <a:ext cx="18646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a:off x="6695772" y="2644479"/>
            <a:ext cx="1083649" cy="7422"/>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flipH="1">
            <a:off x="6918450" y="3386666"/>
            <a:ext cx="22498" cy="19552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a:off x="6695772" y="5341916"/>
            <a:ext cx="24517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a:off x="6695772" y="4231468"/>
            <a:ext cx="40077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a:off x="6930313" y="4887147"/>
            <a:ext cx="182537" cy="853"/>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a:off x="6817476" y="5179008"/>
            <a:ext cx="1931532"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a:off x="6817476" y="4231468"/>
            <a:ext cx="1766" cy="947540"/>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a:off x="9152409" y="4560391"/>
            <a:ext cx="0" cy="1068388"/>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flipV="1">
            <a:off x="9152409" y="5622980"/>
            <a:ext cx="1599091" cy="572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1" name="直接连接符 270"/>
          <p:cNvCxnSpPr/>
          <p:nvPr/>
        </p:nvCxnSpPr>
        <p:spPr>
          <a:xfrm>
            <a:off x="11042375" y="5612515"/>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3" name="直接连接符 272"/>
          <p:cNvCxnSpPr/>
          <p:nvPr/>
        </p:nvCxnSpPr>
        <p:spPr>
          <a:xfrm>
            <a:off x="7529133" y="4697220"/>
            <a:ext cx="21340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5" name="文本框 284"/>
          <p:cNvSpPr txBox="1"/>
          <p:nvPr/>
        </p:nvSpPr>
        <p:spPr>
          <a:xfrm>
            <a:off x="2084050" y="4240198"/>
            <a:ext cx="1500650" cy="48904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 memory</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361" name="直接连接符 360"/>
          <p:cNvCxnSpPr>
            <a:endCxn id="76" idx="3"/>
          </p:cNvCxnSpPr>
          <p:nvPr/>
        </p:nvCxnSpPr>
        <p:spPr>
          <a:xfrm>
            <a:off x="11713470" y="5280344"/>
            <a:ext cx="132688" cy="27775"/>
          </a:xfrm>
          <a:prstGeom prst="line">
            <a:avLst/>
          </a:prstGeom>
          <a:ln w="25400">
            <a:noFill/>
          </a:ln>
        </p:spPr>
        <p:style>
          <a:lnRef idx="1">
            <a:schemeClr val="accent1"/>
          </a:lnRef>
          <a:fillRef idx="0">
            <a:schemeClr val="accent1"/>
          </a:fillRef>
          <a:effectRef idx="0">
            <a:schemeClr val="accent1"/>
          </a:effectRef>
          <a:fontRef idx="minor">
            <a:schemeClr val="tx1"/>
          </a:fontRef>
        </p:style>
      </p:cxnSp>
      <p:cxnSp>
        <p:nvCxnSpPr>
          <p:cNvPr id="362" name="直接连接符 361"/>
          <p:cNvCxnSpPr/>
          <p:nvPr/>
        </p:nvCxnSpPr>
        <p:spPr>
          <a:xfrm flipH="1">
            <a:off x="11909737" y="5262254"/>
            <a:ext cx="14406" cy="9965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8" name="直接连接符 367"/>
          <p:cNvCxnSpPr/>
          <p:nvPr/>
        </p:nvCxnSpPr>
        <p:spPr>
          <a:xfrm>
            <a:off x="4277776" y="4963919"/>
            <a:ext cx="0" cy="13086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2" name="直接连接符 371"/>
          <p:cNvCxnSpPr/>
          <p:nvPr/>
        </p:nvCxnSpPr>
        <p:spPr>
          <a:xfrm>
            <a:off x="4274417" y="4963919"/>
            <a:ext cx="247455" cy="48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7" name="直接连接符 376"/>
          <p:cNvCxnSpPr/>
          <p:nvPr/>
        </p:nvCxnSpPr>
        <p:spPr>
          <a:xfrm>
            <a:off x="679951" y="1914090"/>
            <a:ext cx="89899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8" name="直接连接符 387"/>
          <p:cNvCxnSpPr/>
          <p:nvPr/>
        </p:nvCxnSpPr>
        <p:spPr>
          <a:xfrm>
            <a:off x="679951" y="1923133"/>
            <a:ext cx="0" cy="23336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5" name="直接连接符 394"/>
          <p:cNvCxnSpPr/>
          <p:nvPr/>
        </p:nvCxnSpPr>
        <p:spPr>
          <a:xfrm>
            <a:off x="838200" y="3545194"/>
            <a:ext cx="165348" cy="65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7" name="直接连接符 396"/>
          <p:cNvCxnSpPr/>
          <p:nvPr/>
        </p:nvCxnSpPr>
        <p:spPr>
          <a:xfrm>
            <a:off x="670620" y="4252419"/>
            <a:ext cx="332520"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4" name="直接连接符 403"/>
          <p:cNvCxnSpPr/>
          <p:nvPr/>
        </p:nvCxnSpPr>
        <p:spPr>
          <a:xfrm>
            <a:off x="9669922" y="1914090"/>
            <a:ext cx="0" cy="10197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7" name="直接连接符 406"/>
          <p:cNvCxnSpPr/>
          <p:nvPr/>
        </p:nvCxnSpPr>
        <p:spPr>
          <a:xfrm flipV="1">
            <a:off x="9043478" y="2941833"/>
            <a:ext cx="641869" cy="51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2066283" y="2848419"/>
            <a:ext cx="20135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4</a:t>
            </a:r>
            <a:endParaRPr kumimoji="0" lang="zh-CN" altLang="en-US"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cxnSp>
        <p:nvCxnSpPr>
          <p:cNvPr id="247" name="直接连接符 246"/>
          <p:cNvCxnSpPr/>
          <p:nvPr/>
        </p:nvCxnSpPr>
        <p:spPr>
          <a:xfrm>
            <a:off x="11762062" y="5262254"/>
            <a:ext cx="16208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a:xfrm>
            <a:off x="4123081" y="2979654"/>
            <a:ext cx="0" cy="27611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a:off x="8501372" y="4153392"/>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a:off x="9042549" y="4155189"/>
            <a:ext cx="18594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直接连接符 216"/>
          <p:cNvCxnSpPr/>
          <p:nvPr/>
        </p:nvCxnSpPr>
        <p:spPr>
          <a:xfrm>
            <a:off x="4132291" y="4621842"/>
            <a:ext cx="389581" cy="1331"/>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99" name="连接符: 肘形 98"/>
          <p:cNvCxnSpPr/>
          <p:nvPr/>
        </p:nvCxnSpPr>
        <p:spPr>
          <a:xfrm flipV="1">
            <a:off x="2118109" y="2660665"/>
            <a:ext cx="1431289" cy="730238"/>
          </a:xfrm>
          <a:prstGeom prst="bentConnector3">
            <a:avLst>
              <a:gd name="adj1" fmla="val 82595"/>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238" name="文本框 237"/>
          <p:cNvSpPr txBox="1"/>
          <p:nvPr/>
        </p:nvSpPr>
        <p:spPr>
          <a:xfrm rot="10800000">
            <a:off x="3764711" y="2441864"/>
            <a:ext cx="430887" cy="1436503"/>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40" name="文本框 239"/>
          <p:cNvSpPr txBox="1"/>
          <p:nvPr/>
        </p:nvSpPr>
        <p:spPr>
          <a:xfrm>
            <a:off x="4693568" y="5754759"/>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32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64" name="文本框 263"/>
          <p:cNvSpPr txBox="1"/>
          <p:nvPr/>
        </p:nvSpPr>
        <p:spPr>
          <a:xfrm>
            <a:off x="5919453" y="5726482"/>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64</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245" name="直接连接符 244"/>
          <p:cNvCxnSpPr/>
          <p:nvPr/>
        </p:nvCxnSpPr>
        <p:spPr>
          <a:xfrm>
            <a:off x="4820326" y="5668360"/>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7" name="直接连接符 266"/>
          <p:cNvCxnSpPr/>
          <p:nvPr/>
        </p:nvCxnSpPr>
        <p:spPr>
          <a:xfrm>
            <a:off x="6048908" y="5662883"/>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V="1">
            <a:off x="4264322" y="6258776"/>
            <a:ext cx="7659820" cy="137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a:off x="11051706" y="4864859"/>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a:off x="3836834" y="4223367"/>
            <a:ext cx="286247" cy="8101"/>
          </a:xfrm>
          <a:prstGeom prst="line">
            <a:avLst/>
          </a:prstGeom>
          <a:ln w="2540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EX for Load</a:t>
            </a:r>
            <a:endParaRPr lang="zh-CN" altLang="en-US" dirty="0"/>
          </a:p>
        </p:txBody>
      </p:sp>
      <p:grpSp>
        <p:nvGrpSpPr>
          <p:cNvPr id="130" name="组合 129"/>
          <p:cNvGrpSpPr/>
          <p:nvPr/>
        </p:nvGrpSpPr>
        <p:grpSpPr>
          <a:xfrm>
            <a:off x="6531739" y="1024620"/>
            <a:ext cx="2375983" cy="695935"/>
            <a:chOff x="1613177" y="1509972"/>
            <a:chExt cx="2034915" cy="695935"/>
          </a:xfrm>
        </p:grpSpPr>
        <p:cxnSp>
          <p:nvCxnSpPr>
            <p:cNvPr id="139" name="直接连接符 138"/>
            <p:cNvCxnSpPr/>
            <p:nvPr/>
          </p:nvCxnSpPr>
          <p:spPr>
            <a:xfrm>
              <a:off x="1659668"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a:off x="3648092"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p:nvCxnSpPr>
          <p:spPr>
            <a:xfrm>
              <a:off x="1659668" y="1838984"/>
              <a:ext cx="19856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2" name="文本框 141"/>
            <p:cNvSpPr txBox="1"/>
            <p:nvPr/>
          </p:nvSpPr>
          <p:spPr>
            <a:xfrm>
              <a:off x="2127256" y="1509972"/>
              <a:ext cx="1050521"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ld</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43" name="文本框 142"/>
            <p:cNvSpPr txBox="1"/>
            <p:nvPr/>
          </p:nvSpPr>
          <p:spPr>
            <a:xfrm>
              <a:off x="1613177" y="1805797"/>
              <a:ext cx="203218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rPr>
                <a:t>Execution</a:t>
              </a:r>
              <a:endPar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sp>
        <p:nvSpPr>
          <p:cNvPr id="144" name="矩形 143"/>
          <p:cNvSpPr/>
          <p:nvPr/>
        </p:nvSpPr>
        <p:spPr>
          <a:xfrm>
            <a:off x="6531739" y="2339602"/>
            <a:ext cx="147600" cy="3751200"/>
          </a:xfrm>
          <a:prstGeom prst="rect">
            <a:avLst/>
          </a:prstGeom>
          <a:solidFill>
            <a:srgbClr val="9CDCF9"/>
          </a:soli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5" name="矩形 144"/>
          <p:cNvSpPr/>
          <p:nvPr/>
        </p:nvSpPr>
        <p:spPr>
          <a:xfrm>
            <a:off x="8760122" y="2347369"/>
            <a:ext cx="147600" cy="3736800"/>
          </a:xfrm>
          <a:prstGeom prst="rect">
            <a:avLst/>
          </a:prstGeom>
          <a:solidFill>
            <a:srgbClr val="9CDCF9"/>
          </a:soli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6" name="文本框 145"/>
          <p:cNvSpPr txBox="1"/>
          <p:nvPr/>
        </p:nvSpPr>
        <p:spPr>
          <a:xfrm>
            <a:off x="6080556" y="1994909"/>
            <a:ext cx="898003"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ID/EX</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7" name="文本框 146"/>
          <p:cNvSpPr txBox="1"/>
          <p:nvPr/>
        </p:nvSpPr>
        <p:spPr>
          <a:xfrm>
            <a:off x="8266169" y="1942283"/>
            <a:ext cx="1268296"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EX/MEM</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8" name="文本框 147"/>
          <p:cNvSpPr txBox="1"/>
          <p:nvPr/>
        </p:nvSpPr>
        <p:spPr>
          <a:xfrm>
            <a:off x="10244209" y="1956229"/>
            <a:ext cx="1338828"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MEM/WB</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9" name="灯片编号占位符 1"/>
          <p:cNvSpPr>
            <a:spLocks noGrp="1"/>
          </p:cNvSpPr>
          <p:nvPr>
            <p:ph type="sldNum" sz="quarter" idx="12"/>
          </p:nvPr>
        </p:nvSpPr>
        <p:spPr>
          <a:xfrm>
            <a:off x="8940542" y="648279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nvGrpSpPr>
          <p:cNvPr id="150" name="组合 149">
            <a:extLst>
              <a:ext uri="{FF2B5EF4-FFF2-40B4-BE49-F238E27FC236}">
                <a16:creationId xmlns:a16="http://schemas.microsoft.com/office/drawing/2014/main" id="{B66F3FEB-2F6A-42DD-BB7B-C28C9DDFD064}"/>
              </a:ext>
            </a:extLst>
          </p:cNvPr>
          <p:cNvGrpSpPr/>
          <p:nvPr/>
        </p:nvGrpSpPr>
        <p:grpSpPr>
          <a:xfrm>
            <a:off x="3484821" y="6003018"/>
            <a:ext cx="635647" cy="606462"/>
            <a:chOff x="7319483" y="6149946"/>
            <a:chExt cx="635647" cy="606462"/>
          </a:xfrm>
        </p:grpSpPr>
        <p:sp>
          <p:nvSpPr>
            <p:cNvPr id="151" name="等腰三角形 150">
              <a:extLst>
                <a:ext uri="{FF2B5EF4-FFF2-40B4-BE49-F238E27FC236}">
                  <a16:creationId xmlns:a16="http://schemas.microsoft.com/office/drawing/2014/main" id="{6F376164-0134-48C5-B88B-C0B887381033}"/>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65" name="直接连接符 164">
              <a:extLst>
                <a:ext uri="{FF2B5EF4-FFF2-40B4-BE49-F238E27FC236}">
                  <a16:creationId xmlns:a16="http://schemas.microsoft.com/office/drawing/2014/main" id="{1A207061-439A-40D1-82CD-42862DED4588}"/>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69" name="文本框 168">
              <a:extLst>
                <a:ext uri="{FF2B5EF4-FFF2-40B4-BE49-F238E27FC236}">
                  <a16:creationId xmlns:a16="http://schemas.microsoft.com/office/drawing/2014/main" id="{E05B9901-B19D-450A-91B7-A9F8CD38EB58}"/>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0" name="组合 169">
            <a:extLst>
              <a:ext uri="{FF2B5EF4-FFF2-40B4-BE49-F238E27FC236}">
                <a16:creationId xmlns:a16="http://schemas.microsoft.com/office/drawing/2014/main" id="{F718E28A-2718-42BB-AC17-B513193DCD03}"/>
              </a:ext>
            </a:extLst>
          </p:cNvPr>
          <p:cNvGrpSpPr/>
          <p:nvPr/>
        </p:nvGrpSpPr>
        <p:grpSpPr>
          <a:xfrm>
            <a:off x="6333100" y="6001462"/>
            <a:ext cx="635647" cy="606462"/>
            <a:chOff x="7319483" y="6149946"/>
            <a:chExt cx="635647" cy="606462"/>
          </a:xfrm>
        </p:grpSpPr>
        <p:sp>
          <p:nvSpPr>
            <p:cNvPr id="171" name="等腰三角形 170">
              <a:extLst>
                <a:ext uri="{FF2B5EF4-FFF2-40B4-BE49-F238E27FC236}">
                  <a16:creationId xmlns:a16="http://schemas.microsoft.com/office/drawing/2014/main" id="{81CC990C-0551-40DD-8C8C-86BFAB80D2FC}"/>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2" name="直接连接符 171">
              <a:extLst>
                <a:ext uri="{FF2B5EF4-FFF2-40B4-BE49-F238E27FC236}">
                  <a16:creationId xmlns:a16="http://schemas.microsoft.com/office/drawing/2014/main" id="{6C252EFB-B75B-4CFA-BD78-CDEB35582ED0}"/>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73" name="文本框 172">
              <a:extLst>
                <a:ext uri="{FF2B5EF4-FFF2-40B4-BE49-F238E27FC236}">
                  <a16:creationId xmlns:a16="http://schemas.microsoft.com/office/drawing/2014/main" id="{3B1C27A8-A953-4FE0-9A3C-8C2082FF44CB}"/>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5" name="组合 174">
            <a:extLst>
              <a:ext uri="{FF2B5EF4-FFF2-40B4-BE49-F238E27FC236}">
                <a16:creationId xmlns:a16="http://schemas.microsoft.com/office/drawing/2014/main" id="{E3F2FAED-DCF3-4748-9989-FC57D4525881}"/>
              </a:ext>
            </a:extLst>
          </p:cNvPr>
          <p:cNvGrpSpPr/>
          <p:nvPr/>
        </p:nvGrpSpPr>
        <p:grpSpPr>
          <a:xfrm>
            <a:off x="8707201" y="5988926"/>
            <a:ext cx="635647" cy="606462"/>
            <a:chOff x="7319483" y="6149946"/>
            <a:chExt cx="635647" cy="606462"/>
          </a:xfrm>
        </p:grpSpPr>
        <p:sp>
          <p:nvSpPr>
            <p:cNvPr id="176" name="等腰三角形 175">
              <a:extLst>
                <a:ext uri="{FF2B5EF4-FFF2-40B4-BE49-F238E27FC236}">
                  <a16:creationId xmlns:a16="http://schemas.microsoft.com/office/drawing/2014/main" id="{BEFE4F68-D6EB-444F-A90D-5E11220B4716}"/>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8" name="直接连接符 177">
              <a:extLst>
                <a:ext uri="{FF2B5EF4-FFF2-40B4-BE49-F238E27FC236}">
                  <a16:creationId xmlns:a16="http://schemas.microsoft.com/office/drawing/2014/main" id="{7EF09AC5-9333-41F3-9970-06FD39E63034}"/>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79" name="文本框 178">
              <a:extLst>
                <a:ext uri="{FF2B5EF4-FFF2-40B4-BE49-F238E27FC236}">
                  <a16:creationId xmlns:a16="http://schemas.microsoft.com/office/drawing/2014/main" id="{F7DEE66A-CC7F-4BD4-9272-81E2803D561D}"/>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80" name="组合 179">
            <a:extLst>
              <a:ext uri="{FF2B5EF4-FFF2-40B4-BE49-F238E27FC236}">
                <a16:creationId xmlns:a16="http://schemas.microsoft.com/office/drawing/2014/main" id="{1E61E8D6-B5BE-4355-9FC8-4FEFEA14C28B}"/>
              </a:ext>
            </a:extLst>
          </p:cNvPr>
          <p:cNvGrpSpPr/>
          <p:nvPr/>
        </p:nvGrpSpPr>
        <p:grpSpPr>
          <a:xfrm>
            <a:off x="10702410" y="5990488"/>
            <a:ext cx="635647" cy="606462"/>
            <a:chOff x="7319483" y="6149946"/>
            <a:chExt cx="635647" cy="606462"/>
          </a:xfrm>
        </p:grpSpPr>
        <p:sp>
          <p:nvSpPr>
            <p:cNvPr id="181" name="等腰三角形 180">
              <a:extLst>
                <a:ext uri="{FF2B5EF4-FFF2-40B4-BE49-F238E27FC236}">
                  <a16:creationId xmlns:a16="http://schemas.microsoft.com/office/drawing/2014/main" id="{7E453125-C6B3-4606-817D-FDF34EFC797A}"/>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2" name="直接连接符 181">
              <a:extLst>
                <a:ext uri="{FF2B5EF4-FFF2-40B4-BE49-F238E27FC236}">
                  <a16:creationId xmlns:a16="http://schemas.microsoft.com/office/drawing/2014/main" id="{6D8F9620-C50C-4402-8094-CFC3F76BD211}"/>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83" name="文本框 182">
              <a:extLst>
                <a:ext uri="{FF2B5EF4-FFF2-40B4-BE49-F238E27FC236}">
                  <a16:creationId xmlns:a16="http://schemas.microsoft.com/office/drawing/2014/main" id="{3588D2FA-D18A-4213-AB52-D24431FA249B}"/>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87" name="文本框 186"/>
          <p:cNvSpPr txBox="1"/>
          <p:nvPr/>
        </p:nvSpPr>
        <p:spPr>
          <a:xfrm rot="5400000">
            <a:off x="6114179" y="2582200"/>
            <a:ext cx="954902" cy="307777"/>
          </a:xfrm>
          <a:prstGeom prst="rect">
            <a:avLst/>
          </a:prstGeom>
          <a:noFill/>
        </p:spPr>
        <p:txBody>
          <a:bodyPr wrap="square" rtlCol="0">
            <a:spAutoFit/>
          </a:bodyPr>
          <a:lstStyle/>
          <a:p>
            <a:r>
              <a:rPr lang="en-US" altLang="zh-CN" sz="1400" b="1" dirty="0">
                <a:solidFill>
                  <a:srgbClr val="FF0000"/>
                </a:solidFill>
              </a:rPr>
              <a:t>ID/</a:t>
            </a:r>
            <a:r>
              <a:rPr lang="en-US" altLang="zh-CN" sz="1400" b="1" dirty="0" err="1">
                <a:solidFill>
                  <a:srgbClr val="FF0000"/>
                </a:solidFill>
              </a:rPr>
              <a:t>EX.pc</a:t>
            </a:r>
            <a:endParaRPr lang="zh-CN" altLang="en-US" sz="1400" b="1" dirty="0">
              <a:solidFill>
                <a:srgbClr val="FF0000"/>
              </a:solidFill>
            </a:endParaRPr>
          </a:p>
        </p:txBody>
      </p:sp>
      <p:sp>
        <p:nvSpPr>
          <p:cNvPr id="189" name="文本框 188"/>
          <p:cNvSpPr txBox="1"/>
          <p:nvPr/>
        </p:nvSpPr>
        <p:spPr>
          <a:xfrm rot="5400000">
            <a:off x="6158700" y="5680576"/>
            <a:ext cx="873123" cy="246221"/>
          </a:xfrm>
          <a:prstGeom prst="rect">
            <a:avLst/>
          </a:prstGeom>
          <a:noFill/>
        </p:spPr>
        <p:txBody>
          <a:bodyPr wrap="square" rtlCol="0">
            <a:spAutoFit/>
          </a:bodyPr>
          <a:lstStyle/>
          <a:p>
            <a:r>
              <a:rPr lang="en-US" altLang="zh-CN" sz="1000" b="1" dirty="0">
                <a:solidFill>
                  <a:srgbClr val="0000FF"/>
                </a:solidFill>
              </a:rPr>
              <a:t>ID/</a:t>
            </a:r>
            <a:r>
              <a:rPr lang="en-US" altLang="zh-CN" sz="1000" b="1" dirty="0" err="1">
                <a:solidFill>
                  <a:srgbClr val="0000FF"/>
                </a:solidFill>
              </a:rPr>
              <a:t>EX.imm</a:t>
            </a:r>
            <a:endParaRPr lang="zh-CN" altLang="en-US" sz="1000" b="1" dirty="0">
              <a:solidFill>
                <a:srgbClr val="0000FF"/>
              </a:solidFill>
            </a:endParaRPr>
          </a:p>
        </p:txBody>
      </p:sp>
      <p:sp>
        <p:nvSpPr>
          <p:cNvPr id="191" name="文本框 190"/>
          <p:cNvSpPr txBox="1"/>
          <p:nvPr/>
        </p:nvSpPr>
        <p:spPr>
          <a:xfrm rot="5400000">
            <a:off x="5799758" y="3571760"/>
            <a:ext cx="1576851" cy="307777"/>
          </a:xfrm>
          <a:prstGeom prst="rect">
            <a:avLst/>
          </a:prstGeom>
          <a:noFill/>
        </p:spPr>
        <p:txBody>
          <a:bodyPr wrap="square" rtlCol="0">
            <a:spAutoFit/>
          </a:bodyPr>
          <a:lstStyle/>
          <a:p>
            <a:r>
              <a:rPr lang="en-US" altLang="zh-CN" sz="1400" b="1" dirty="0">
                <a:solidFill>
                  <a:srgbClr val="0000FF"/>
                </a:solidFill>
              </a:rPr>
              <a:t>ID/</a:t>
            </a:r>
            <a:r>
              <a:rPr lang="en-US" altLang="zh-CN" sz="1400" b="1" dirty="0" err="1">
                <a:solidFill>
                  <a:srgbClr val="0000FF"/>
                </a:solidFill>
              </a:rPr>
              <a:t>EX.Reg</a:t>
            </a:r>
            <a:r>
              <a:rPr lang="en-US" altLang="zh-CN" sz="1400" b="1" dirty="0">
                <a:solidFill>
                  <a:srgbClr val="0000FF"/>
                </a:solidFill>
              </a:rPr>
              <a:t>[rs1]</a:t>
            </a:r>
            <a:endParaRPr lang="zh-CN" altLang="en-US" sz="1400" b="1" dirty="0">
              <a:solidFill>
                <a:srgbClr val="0000FF"/>
              </a:solidFill>
            </a:endParaRPr>
          </a:p>
        </p:txBody>
      </p:sp>
      <p:sp>
        <p:nvSpPr>
          <p:cNvPr id="192" name="文本框 191"/>
          <p:cNvSpPr txBox="1"/>
          <p:nvPr/>
        </p:nvSpPr>
        <p:spPr>
          <a:xfrm rot="5400000">
            <a:off x="5906222" y="4657814"/>
            <a:ext cx="1364921" cy="307777"/>
          </a:xfrm>
          <a:prstGeom prst="rect">
            <a:avLst/>
          </a:prstGeom>
          <a:noFill/>
        </p:spPr>
        <p:txBody>
          <a:bodyPr wrap="square" rtlCol="0">
            <a:spAutoFit/>
          </a:bodyPr>
          <a:lstStyle/>
          <a:p>
            <a:r>
              <a:rPr lang="en-US" altLang="zh-CN" sz="1400" b="1" dirty="0">
                <a:solidFill>
                  <a:srgbClr val="C00000"/>
                </a:solidFill>
              </a:rPr>
              <a:t>ID/</a:t>
            </a:r>
            <a:r>
              <a:rPr lang="en-US" altLang="zh-CN" sz="1400" b="1" dirty="0" err="1">
                <a:solidFill>
                  <a:srgbClr val="C00000"/>
                </a:solidFill>
              </a:rPr>
              <a:t>EX.Reg</a:t>
            </a:r>
            <a:r>
              <a:rPr lang="en-US" altLang="zh-CN" sz="1400" b="1" dirty="0">
                <a:solidFill>
                  <a:srgbClr val="C00000"/>
                </a:solidFill>
              </a:rPr>
              <a:t>[rs2]</a:t>
            </a:r>
            <a:endParaRPr lang="zh-CN" altLang="en-US" sz="1400" b="1" dirty="0">
              <a:solidFill>
                <a:srgbClr val="C00000"/>
              </a:solidFill>
            </a:endParaRPr>
          </a:p>
        </p:txBody>
      </p:sp>
      <p:sp>
        <p:nvSpPr>
          <p:cNvPr id="196" name="文本框 195"/>
          <p:cNvSpPr txBox="1"/>
          <p:nvPr/>
        </p:nvSpPr>
        <p:spPr>
          <a:xfrm rot="5400000">
            <a:off x="8222594" y="2736022"/>
            <a:ext cx="1247442" cy="307777"/>
          </a:xfrm>
          <a:prstGeom prst="rect">
            <a:avLst/>
          </a:prstGeom>
          <a:noFill/>
        </p:spPr>
        <p:txBody>
          <a:bodyPr wrap="square" rtlCol="0">
            <a:spAutoFit/>
          </a:bodyPr>
          <a:lstStyle/>
          <a:p>
            <a:r>
              <a:rPr lang="en-US" altLang="zh-CN" sz="1400" b="1" dirty="0" err="1">
                <a:solidFill>
                  <a:srgbClr val="FF0000"/>
                </a:solidFill>
              </a:rPr>
              <a:t>EX.pc+imm</a:t>
            </a:r>
            <a:endParaRPr lang="zh-CN" altLang="en-US" sz="1400" b="1" dirty="0">
              <a:solidFill>
                <a:srgbClr val="FF0000"/>
              </a:solidFill>
            </a:endParaRPr>
          </a:p>
        </p:txBody>
      </p:sp>
      <p:sp>
        <p:nvSpPr>
          <p:cNvPr id="198" name="文本框 197"/>
          <p:cNvSpPr txBox="1"/>
          <p:nvPr/>
        </p:nvSpPr>
        <p:spPr>
          <a:xfrm rot="5400000">
            <a:off x="8320679" y="3635663"/>
            <a:ext cx="1034800" cy="307777"/>
          </a:xfrm>
          <a:prstGeom prst="rect">
            <a:avLst/>
          </a:prstGeom>
          <a:noFill/>
        </p:spPr>
        <p:txBody>
          <a:bodyPr wrap="square" rtlCol="0">
            <a:spAutoFit/>
          </a:bodyPr>
          <a:lstStyle/>
          <a:p>
            <a:r>
              <a:rPr lang="en-US" altLang="zh-CN" sz="1400" b="1" dirty="0" err="1">
                <a:solidFill>
                  <a:srgbClr val="0000FF"/>
                </a:solidFill>
              </a:rPr>
              <a:t>EX.Zero</a:t>
            </a:r>
            <a:endParaRPr lang="zh-CN" altLang="en-US" sz="1400" b="1" dirty="0">
              <a:solidFill>
                <a:srgbClr val="0000FF"/>
              </a:solidFill>
            </a:endParaRPr>
          </a:p>
        </p:txBody>
      </p:sp>
      <p:sp>
        <p:nvSpPr>
          <p:cNvPr id="199" name="文本框 198"/>
          <p:cNvSpPr txBox="1"/>
          <p:nvPr/>
        </p:nvSpPr>
        <p:spPr>
          <a:xfrm rot="5400000">
            <a:off x="8171552" y="5333207"/>
            <a:ext cx="1342920" cy="307777"/>
          </a:xfrm>
          <a:prstGeom prst="rect">
            <a:avLst/>
          </a:prstGeom>
          <a:noFill/>
        </p:spPr>
        <p:txBody>
          <a:bodyPr wrap="square" rtlCol="0">
            <a:spAutoFit/>
          </a:bodyPr>
          <a:lstStyle/>
          <a:p>
            <a:r>
              <a:rPr lang="en-US" altLang="zh-CN" sz="1400" b="1" dirty="0">
                <a:solidFill>
                  <a:srgbClr val="0000FF"/>
                </a:solidFill>
              </a:rPr>
              <a:t>ID/</a:t>
            </a:r>
            <a:r>
              <a:rPr lang="en-US" altLang="zh-CN" sz="1400" b="1" dirty="0" err="1">
                <a:solidFill>
                  <a:srgbClr val="0000FF"/>
                </a:solidFill>
              </a:rPr>
              <a:t>EX.Reg</a:t>
            </a:r>
            <a:r>
              <a:rPr lang="en-US" altLang="zh-CN" sz="1400" b="1" dirty="0">
                <a:solidFill>
                  <a:srgbClr val="0000FF"/>
                </a:solidFill>
              </a:rPr>
              <a:t>[rs2]</a:t>
            </a:r>
            <a:endParaRPr lang="zh-CN" altLang="en-US" sz="1400" b="1" dirty="0">
              <a:solidFill>
                <a:srgbClr val="0000FF"/>
              </a:solidFill>
            </a:endParaRPr>
          </a:p>
        </p:txBody>
      </p:sp>
      <p:sp>
        <p:nvSpPr>
          <p:cNvPr id="200" name="文本框 199"/>
          <p:cNvSpPr txBox="1"/>
          <p:nvPr/>
        </p:nvSpPr>
        <p:spPr>
          <a:xfrm rot="5400000">
            <a:off x="8319681" y="4440163"/>
            <a:ext cx="1034800" cy="307777"/>
          </a:xfrm>
          <a:prstGeom prst="rect">
            <a:avLst/>
          </a:prstGeom>
          <a:noFill/>
        </p:spPr>
        <p:txBody>
          <a:bodyPr wrap="square" rtlCol="0">
            <a:spAutoFit/>
          </a:bodyPr>
          <a:lstStyle/>
          <a:p>
            <a:r>
              <a:rPr lang="en-US" altLang="zh-CN" sz="1400" b="1" dirty="0" err="1">
                <a:solidFill>
                  <a:srgbClr val="C00000"/>
                </a:solidFill>
              </a:rPr>
              <a:t>EX.result</a:t>
            </a:r>
            <a:endParaRPr lang="zh-CN" altLang="en-US" sz="1400" b="1" dirty="0">
              <a:solidFill>
                <a:srgbClr val="C00000"/>
              </a:solidFill>
            </a:endParaRPr>
          </a:p>
        </p:txBody>
      </p:sp>
      <p:sp>
        <p:nvSpPr>
          <p:cNvPr id="201" name="文本框 200"/>
          <p:cNvSpPr txBox="1"/>
          <p:nvPr/>
        </p:nvSpPr>
        <p:spPr>
          <a:xfrm>
            <a:off x="9077651" y="2593853"/>
            <a:ext cx="1371090" cy="369332"/>
          </a:xfrm>
          <a:prstGeom prst="rect">
            <a:avLst/>
          </a:prstGeom>
          <a:noFill/>
        </p:spPr>
        <p:txBody>
          <a:bodyPr wrap="square" rtlCol="0">
            <a:spAutoFit/>
          </a:bodyPr>
          <a:lstStyle/>
          <a:p>
            <a:r>
              <a:rPr lang="en-US" altLang="zh-CN" dirty="0" err="1">
                <a:solidFill>
                  <a:srgbClr val="0000FF"/>
                </a:solidFill>
              </a:rPr>
              <a:t>EX.PC+imm</a:t>
            </a:r>
            <a:endParaRPr lang="zh-CN" altLang="en-US" dirty="0">
              <a:solidFill>
                <a:srgbClr val="0000FF"/>
              </a:solidFill>
            </a:endParaRPr>
          </a:p>
        </p:txBody>
      </p:sp>
      <p:sp>
        <p:nvSpPr>
          <p:cNvPr id="202" name="文本框 201"/>
          <p:cNvSpPr txBox="1"/>
          <p:nvPr/>
        </p:nvSpPr>
        <p:spPr>
          <a:xfrm>
            <a:off x="3094943" y="2285098"/>
            <a:ext cx="604501" cy="369332"/>
          </a:xfrm>
          <a:prstGeom prst="rect">
            <a:avLst/>
          </a:prstGeom>
          <a:noFill/>
        </p:spPr>
        <p:txBody>
          <a:bodyPr wrap="square" rtlCol="0">
            <a:spAutoFit/>
          </a:bodyPr>
          <a:lstStyle/>
          <a:p>
            <a:r>
              <a:rPr lang="en-US" altLang="zh-CN" dirty="0">
                <a:solidFill>
                  <a:srgbClr val="0000FF"/>
                </a:solidFill>
              </a:rPr>
              <a:t>PC</a:t>
            </a:r>
            <a:endParaRPr lang="zh-CN" altLang="en-US" baseline="-25000" dirty="0">
              <a:solidFill>
                <a:srgbClr val="0000FF"/>
              </a:solidFill>
            </a:endParaRPr>
          </a:p>
        </p:txBody>
      </p:sp>
      <p:sp>
        <p:nvSpPr>
          <p:cNvPr id="204" name="文本框 203"/>
          <p:cNvSpPr txBox="1"/>
          <p:nvPr/>
        </p:nvSpPr>
        <p:spPr>
          <a:xfrm>
            <a:off x="5290347" y="2324495"/>
            <a:ext cx="1013425" cy="369332"/>
          </a:xfrm>
          <a:prstGeom prst="rect">
            <a:avLst/>
          </a:prstGeom>
          <a:noFill/>
        </p:spPr>
        <p:txBody>
          <a:bodyPr wrap="square" rtlCol="0">
            <a:spAutoFit/>
          </a:bodyPr>
          <a:lstStyle/>
          <a:p>
            <a:r>
              <a:rPr lang="en-US" altLang="zh-CN" dirty="0">
                <a:solidFill>
                  <a:srgbClr val="0000FF"/>
                </a:solidFill>
              </a:rPr>
              <a:t>IF/</a:t>
            </a:r>
            <a:r>
              <a:rPr lang="en-US" altLang="zh-CN" dirty="0" err="1">
                <a:solidFill>
                  <a:srgbClr val="0000FF"/>
                </a:solidFill>
              </a:rPr>
              <a:t>ID.pc</a:t>
            </a:r>
            <a:endParaRPr lang="zh-CN" altLang="en-US" dirty="0">
              <a:solidFill>
                <a:srgbClr val="0000FF"/>
              </a:solidFill>
            </a:endParaRPr>
          </a:p>
        </p:txBody>
      </p:sp>
      <p:sp>
        <p:nvSpPr>
          <p:cNvPr id="207" name="文本框 206"/>
          <p:cNvSpPr txBox="1"/>
          <p:nvPr/>
        </p:nvSpPr>
        <p:spPr>
          <a:xfrm>
            <a:off x="6732591" y="2324087"/>
            <a:ext cx="1226286" cy="369332"/>
          </a:xfrm>
          <a:prstGeom prst="rect">
            <a:avLst/>
          </a:prstGeom>
          <a:noFill/>
        </p:spPr>
        <p:txBody>
          <a:bodyPr wrap="square" rtlCol="0">
            <a:spAutoFit/>
          </a:bodyPr>
          <a:lstStyle/>
          <a:p>
            <a:r>
              <a:rPr lang="en-US" altLang="zh-CN" dirty="0">
                <a:solidFill>
                  <a:srgbClr val="0000FF"/>
                </a:solidFill>
              </a:rPr>
              <a:t>ID/</a:t>
            </a:r>
            <a:r>
              <a:rPr lang="en-US" altLang="zh-CN" dirty="0" err="1">
                <a:solidFill>
                  <a:srgbClr val="0000FF"/>
                </a:solidFill>
              </a:rPr>
              <a:t>EX.pc</a:t>
            </a:r>
            <a:endParaRPr lang="zh-CN" altLang="en-US" dirty="0">
              <a:solidFill>
                <a:srgbClr val="0000FF"/>
              </a:solidFill>
            </a:endParaRPr>
          </a:p>
        </p:txBody>
      </p:sp>
    </p:spTree>
    <p:extLst>
      <p:ext uri="{BB962C8B-B14F-4D97-AF65-F5344CB8AC3E}">
        <p14:creationId xmlns:p14="http://schemas.microsoft.com/office/powerpoint/2010/main" val="4623890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pPr lvl="1"/>
            <a:endPar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a:p>
            <a:endParaRPr lang="zh-CN" altLang="en-US" dirty="0"/>
          </a:p>
        </p:txBody>
      </p:sp>
      <p:grpSp>
        <p:nvGrpSpPr>
          <p:cNvPr id="18" name="Instruction memory"/>
          <p:cNvGrpSpPr/>
          <p:nvPr/>
        </p:nvGrpSpPr>
        <p:grpSpPr>
          <a:xfrm>
            <a:off x="2226871" y="3584437"/>
            <a:ext cx="1142439" cy="1017764"/>
            <a:chOff x="2263385" y="3407372"/>
            <a:chExt cx="1470915" cy="1193839"/>
          </a:xfrm>
        </p:grpSpPr>
        <p:sp>
          <p:nvSpPr>
            <p:cNvPr id="8" name="矩形 7"/>
            <p:cNvSpPr/>
            <p:nvPr/>
          </p:nvSpPr>
          <p:spPr>
            <a:xfrm>
              <a:off x="2333823" y="3448051"/>
              <a:ext cx="1400477" cy="11531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 name="文本框 11"/>
            <p:cNvSpPr txBox="1"/>
            <p:nvPr/>
          </p:nvSpPr>
          <p:spPr>
            <a:xfrm>
              <a:off x="2263385" y="3407372"/>
              <a:ext cx="1319245"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15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0" name="PC"/>
          <p:cNvGrpSpPr/>
          <p:nvPr/>
        </p:nvGrpSpPr>
        <p:grpSpPr>
          <a:xfrm>
            <a:off x="1648705" y="3386723"/>
            <a:ext cx="508932" cy="707887"/>
            <a:chOff x="792726" y="4754327"/>
            <a:chExt cx="1018662" cy="607761"/>
          </a:xfrm>
        </p:grpSpPr>
        <p:sp>
          <p:nvSpPr>
            <p:cNvPr id="15" name="矩形 14"/>
            <p:cNvSpPr/>
            <p:nvPr/>
          </p:nvSpPr>
          <p:spPr>
            <a:xfrm>
              <a:off x="887030" y="4800600"/>
              <a:ext cx="639939" cy="50292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9" name="文本框 18"/>
            <p:cNvSpPr txBox="1"/>
            <p:nvPr/>
          </p:nvSpPr>
          <p:spPr>
            <a:xfrm>
              <a:off x="792726" y="4754327"/>
              <a:ext cx="1018662" cy="607761"/>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PC</a:t>
              </a:r>
              <a:endParaRPr kumimoji="0" lang="zh-CN" alt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4" name="Add"/>
          <p:cNvGrpSpPr/>
          <p:nvPr/>
        </p:nvGrpSpPr>
        <p:grpSpPr>
          <a:xfrm>
            <a:off x="2485449" y="2335895"/>
            <a:ext cx="655949" cy="822349"/>
            <a:chOff x="4656246" y="4140786"/>
            <a:chExt cx="743403" cy="964617"/>
          </a:xfrm>
        </p:grpSpPr>
        <p:sp>
          <p:nvSpPr>
            <p:cNvPr id="22" name="梯形 21"/>
            <p:cNvSpPr/>
            <p:nvPr/>
          </p:nvSpPr>
          <p:spPr>
            <a:xfrm rot="5400000">
              <a:off x="4538209" y="4329347"/>
              <a:ext cx="964617" cy="587495"/>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3" name="文本框 22"/>
            <p:cNvSpPr txBox="1"/>
            <p:nvPr/>
          </p:nvSpPr>
          <p:spPr>
            <a:xfrm>
              <a:off x="4656246" y="4371481"/>
              <a:ext cx="743403"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36" name="IF/ID"/>
          <p:cNvGrpSpPr/>
          <p:nvPr/>
        </p:nvGrpSpPr>
        <p:grpSpPr>
          <a:xfrm>
            <a:off x="3336052" y="1885326"/>
            <a:ext cx="797013" cy="4114272"/>
            <a:chOff x="116128" y="450828"/>
            <a:chExt cx="955165" cy="5944486"/>
          </a:xfrm>
        </p:grpSpPr>
        <p:sp>
          <p:nvSpPr>
            <p:cNvPr id="34" name="矩形 33"/>
            <p:cNvSpPr/>
            <p:nvPr/>
          </p:nvSpPr>
          <p:spPr>
            <a:xfrm>
              <a:off x="358141" y="937259"/>
              <a:ext cx="358140" cy="5458055"/>
            </a:xfrm>
            <a:prstGeom prst="rect">
              <a:avLst/>
            </a:prstGeom>
            <a:noFill/>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5" name="文本框 34"/>
            <p:cNvSpPr txBox="1"/>
            <p:nvPr/>
          </p:nvSpPr>
          <p:spPr>
            <a:xfrm>
              <a:off x="116128" y="450828"/>
              <a:ext cx="955165" cy="578097"/>
            </a:xfrm>
            <a:prstGeom prst="rect">
              <a:avLst/>
            </a:prstGeom>
            <a:ln w="25400">
              <a:noFill/>
            </a:ln>
          </p:spPr>
          <p:style>
            <a:lnRef idx="1">
              <a:schemeClr val="accent1"/>
            </a:lnRef>
            <a:fillRef idx="0">
              <a:schemeClr val="accent1"/>
            </a:fillRef>
            <a:effectRef idx="0">
              <a:schemeClr val="accent1"/>
            </a:effectRef>
            <a:fontRef idx="minor">
              <a:schemeClr val="tx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IF/ID</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45" name="Registers"/>
          <p:cNvGrpSpPr/>
          <p:nvPr/>
        </p:nvGrpSpPr>
        <p:grpSpPr>
          <a:xfrm>
            <a:off x="4466204" y="2645990"/>
            <a:ext cx="1726163" cy="2568442"/>
            <a:chOff x="1920262" y="241327"/>
            <a:chExt cx="3106114" cy="3344105"/>
          </a:xfrm>
        </p:grpSpPr>
        <p:sp>
          <p:nvSpPr>
            <p:cNvPr id="37" name="矩形 36"/>
            <p:cNvSpPr/>
            <p:nvPr/>
          </p:nvSpPr>
          <p:spPr>
            <a:xfrm>
              <a:off x="2026387" y="320244"/>
              <a:ext cx="2772304" cy="3265188"/>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 name="文本框 37"/>
            <p:cNvSpPr txBox="1"/>
            <p:nvPr/>
          </p:nvSpPr>
          <p:spPr>
            <a:xfrm>
              <a:off x="2121631" y="1515410"/>
              <a:ext cx="2149527" cy="52094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Registers</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 name="文本框 38"/>
            <p:cNvSpPr txBox="1"/>
            <p:nvPr/>
          </p:nvSpPr>
          <p:spPr>
            <a:xfrm>
              <a:off x="1920789" y="241327"/>
              <a:ext cx="2611979"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0" name="文本框 39"/>
            <p:cNvSpPr txBox="1"/>
            <p:nvPr/>
          </p:nvSpPr>
          <p:spPr>
            <a:xfrm>
              <a:off x="1920262" y="740405"/>
              <a:ext cx="2450645"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1" name="文本框 40"/>
            <p:cNvSpPr txBox="1"/>
            <p:nvPr/>
          </p:nvSpPr>
          <p:spPr>
            <a:xfrm>
              <a:off x="1925707" y="2479303"/>
              <a:ext cx="2199198"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reg</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2" name="文本框 41"/>
            <p:cNvSpPr txBox="1"/>
            <p:nvPr/>
          </p:nvSpPr>
          <p:spPr>
            <a:xfrm>
              <a:off x="1938951" y="2943791"/>
              <a:ext cx="2364242"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3" name="文本框 42"/>
            <p:cNvSpPr txBox="1"/>
            <p:nvPr/>
          </p:nvSpPr>
          <p:spPr>
            <a:xfrm>
              <a:off x="2467221" y="1159239"/>
              <a:ext cx="2524881"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4" name="文本框 43"/>
            <p:cNvSpPr txBox="1"/>
            <p:nvPr/>
          </p:nvSpPr>
          <p:spPr>
            <a:xfrm>
              <a:off x="2431051" y="1920895"/>
              <a:ext cx="2595325" cy="520942"/>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48" name="Imm Gen"/>
          <p:cNvGrpSpPr/>
          <p:nvPr/>
        </p:nvGrpSpPr>
        <p:grpSpPr>
          <a:xfrm>
            <a:off x="5263826" y="5382121"/>
            <a:ext cx="658095" cy="538474"/>
            <a:chOff x="4868693" y="6172575"/>
            <a:chExt cx="992993" cy="1215294"/>
          </a:xfrm>
        </p:grpSpPr>
        <p:sp>
          <p:nvSpPr>
            <p:cNvPr id="46" name="椭圆 45"/>
            <p:cNvSpPr/>
            <p:nvPr/>
          </p:nvSpPr>
          <p:spPr>
            <a:xfrm>
              <a:off x="4868693" y="6172575"/>
              <a:ext cx="984044" cy="1146747"/>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7" name="文本框 46"/>
            <p:cNvSpPr txBox="1"/>
            <p:nvPr/>
          </p:nvSpPr>
          <p:spPr>
            <a:xfrm>
              <a:off x="4895397" y="6339596"/>
              <a:ext cx="966289" cy="104827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Imm</a:t>
              </a: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Gen</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55" name="Add Sum"/>
          <p:cNvGrpSpPr/>
          <p:nvPr/>
        </p:nvGrpSpPr>
        <p:grpSpPr>
          <a:xfrm>
            <a:off x="7755619" y="2463365"/>
            <a:ext cx="655949" cy="768090"/>
            <a:chOff x="5634620" y="2480764"/>
            <a:chExt cx="1081993" cy="1475010"/>
          </a:xfrm>
        </p:grpSpPr>
        <p:sp>
          <p:nvSpPr>
            <p:cNvPr id="52" name="梯形 51"/>
            <p:cNvSpPr/>
            <p:nvPr/>
          </p:nvSpPr>
          <p:spPr>
            <a:xfrm rot="5400000">
              <a:off x="5424366" y="2770445"/>
              <a:ext cx="1475010" cy="895647"/>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4" name="文本框 53"/>
            <p:cNvSpPr txBox="1"/>
            <p:nvPr/>
          </p:nvSpPr>
          <p:spPr>
            <a:xfrm>
              <a:off x="5634620" y="2851177"/>
              <a:ext cx="1081993" cy="93914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Sum</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61" name="ALU"/>
          <p:cNvGrpSpPr/>
          <p:nvPr/>
        </p:nvGrpSpPr>
        <p:grpSpPr>
          <a:xfrm>
            <a:off x="7682543" y="3490618"/>
            <a:ext cx="880667" cy="1454509"/>
            <a:chOff x="6023805" y="3618922"/>
            <a:chExt cx="1295157" cy="1704463"/>
          </a:xfrm>
        </p:grpSpPr>
        <p:sp>
          <p:nvSpPr>
            <p:cNvPr id="57" name="梯形 56"/>
            <p:cNvSpPr/>
            <p:nvPr/>
          </p:nvSpPr>
          <p:spPr>
            <a:xfrm rot="5400000">
              <a:off x="5805450" y="3911167"/>
              <a:ext cx="1704463" cy="1119974"/>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8" name="文本框 57"/>
            <p:cNvSpPr txBox="1"/>
            <p:nvPr/>
          </p:nvSpPr>
          <p:spPr>
            <a:xfrm>
              <a:off x="6023805" y="3779478"/>
              <a:ext cx="1070760"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ALU</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9" name="文本框 58"/>
            <p:cNvSpPr txBox="1"/>
            <p:nvPr/>
          </p:nvSpPr>
          <p:spPr>
            <a:xfrm>
              <a:off x="6212840" y="4596488"/>
              <a:ext cx="1106122" cy="347668"/>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result</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60" name="文本框 59"/>
            <p:cNvSpPr txBox="1"/>
            <p:nvPr/>
          </p:nvSpPr>
          <p:spPr>
            <a:xfrm>
              <a:off x="6276821" y="4080452"/>
              <a:ext cx="983534"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Zero</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65" name="shift left 1"/>
          <p:cNvGrpSpPr/>
          <p:nvPr/>
        </p:nvGrpSpPr>
        <p:grpSpPr>
          <a:xfrm>
            <a:off x="6703840" y="2615333"/>
            <a:ext cx="774571" cy="682474"/>
            <a:chOff x="6107415" y="4133981"/>
            <a:chExt cx="1189523" cy="1146746"/>
          </a:xfrm>
        </p:grpSpPr>
        <p:sp>
          <p:nvSpPr>
            <p:cNvPr id="63" name="椭圆 62"/>
            <p:cNvSpPr/>
            <p:nvPr/>
          </p:nvSpPr>
          <p:spPr>
            <a:xfrm>
              <a:off x="6161866" y="4133981"/>
              <a:ext cx="984043" cy="1146746"/>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64" name="文本框 63"/>
            <p:cNvSpPr txBox="1"/>
            <p:nvPr/>
          </p:nvSpPr>
          <p:spPr>
            <a:xfrm>
              <a:off x="6107415" y="4371720"/>
              <a:ext cx="1189523" cy="821732"/>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Shift </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left 1</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72" name="Mux 3"/>
          <p:cNvGrpSpPr/>
          <p:nvPr/>
        </p:nvGrpSpPr>
        <p:grpSpPr>
          <a:xfrm>
            <a:off x="11249672" y="4552367"/>
            <a:ext cx="596486" cy="1168007"/>
            <a:chOff x="3628473" y="5448300"/>
            <a:chExt cx="839025" cy="1230515"/>
          </a:xfrm>
        </p:grpSpPr>
        <p:sp>
          <p:nvSpPr>
            <p:cNvPr id="73" name="mux"/>
            <p:cNvSpPr/>
            <p:nvPr/>
          </p:nvSpPr>
          <p:spPr>
            <a:xfrm rot="5400000">
              <a:off x="3386121" y="5744398"/>
              <a:ext cx="1230515" cy="638319"/>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4" name="文本框 73"/>
            <p:cNvSpPr txBox="1"/>
            <p:nvPr/>
          </p:nvSpPr>
          <p:spPr>
            <a:xfrm>
              <a:off x="3628473" y="5492154"/>
              <a:ext cx="260679"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5" name="文本框 74"/>
            <p:cNvSpPr txBox="1"/>
            <p:nvPr/>
          </p:nvSpPr>
          <p:spPr>
            <a:xfrm>
              <a:off x="3641695" y="6293721"/>
              <a:ext cx="404061" cy="35667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6" name="文本框 75"/>
            <p:cNvSpPr txBox="1"/>
            <p:nvPr/>
          </p:nvSpPr>
          <p:spPr>
            <a:xfrm>
              <a:off x="3867268" y="5599309"/>
              <a:ext cx="600230" cy="1070017"/>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88" name="文本框 87"/>
          <p:cNvSpPr txBox="1"/>
          <p:nvPr/>
        </p:nvSpPr>
        <p:spPr>
          <a:xfrm>
            <a:off x="9429602" y="4608301"/>
            <a:ext cx="1257880" cy="400110"/>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1" name="矩形 100"/>
          <p:cNvSpPr/>
          <p:nvPr/>
        </p:nvSpPr>
        <p:spPr>
          <a:xfrm>
            <a:off x="6371256" y="2229641"/>
            <a:ext cx="316009" cy="3769417"/>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11" name="矩形 110"/>
          <p:cNvSpPr/>
          <p:nvPr/>
        </p:nvSpPr>
        <p:spPr>
          <a:xfrm>
            <a:off x="8749001" y="2234391"/>
            <a:ext cx="291194" cy="3754340"/>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1" name="矩形 120"/>
          <p:cNvSpPr/>
          <p:nvPr/>
        </p:nvSpPr>
        <p:spPr>
          <a:xfrm>
            <a:off x="10750832" y="2220956"/>
            <a:ext cx="300877" cy="3767775"/>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160" name="直接连接符 159"/>
          <p:cNvCxnSpPr/>
          <p:nvPr/>
        </p:nvCxnSpPr>
        <p:spPr>
          <a:xfrm flipV="1">
            <a:off x="3836834" y="2545169"/>
            <a:ext cx="2534421" cy="109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直接连接符 160"/>
          <p:cNvCxnSpPr/>
          <p:nvPr/>
        </p:nvCxnSpPr>
        <p:spPr>
          <a:xfrm>
            <a:off x="2015539" y="3747193"/>
            <a:ext cx="25830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直接连接符 161"/>
          <p:cNvCxnSpPr>
            <a:stCxn id="8" idx="3"/>
            <a:endCxn id="34" idx="1"/>
          </p:cNvCxnSpPr>
          <p:nvPr/>
        </p:nvCxnSpPr>
        <p:spPr>
          <a:xfrm>
            <a:off x="3369310" y="4110659"/>
            <a:ext cx="168684" cy="1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直接连接符 162"/>
          <p:cNvCxnSpPr>
            <a:stCxn id="22" idx="0"/>
          </p:cNvCxnSpPr>
          <p:nvPr/>
        </p:nvCxnSpPr>
        <p:spPr>
          <a:xfrm flipV="1">
            <a:off x="3066061" y="2745182"/>
            <a:ext cx="82559" cy="18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a:off x="2104143" y="2472077"/>
            <a:ext cx="43729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flipH="1">
            <a:off x="2104143" y="2463365"/>
            <a:ext cx="3782" cy="1271738"/>
          </a:xfrm>
          <a:prstGeom prst="line">
            <a:avLst/>
          </a:prstGeom>
          <a:ln w="25400">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3139742" y="2055263"/>
            <a:ext cx="0" cy="6899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a:stCxn id="52" idx="0"/>
          </p:cNvCxnSpPr>
          <p:nvPr/>
        </p:nvCxnSpPr>
        <p:spPr>
          <a:xfrm flipV="1">
            <a:off x="8346757" y="2847410"/>
            <a:ext cx="404306"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直接连接符 187"/>
          <p:cNvCxnSpPr/>
          <p:nvPr/>
        </p:nvCxnSpPr>
        <p:spPr>
          <a:xfrm>
            <a:off x="850618" y="2055263"/>
            <a:ext cx="22980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a:off x="850618" y="2055263"/>
            <a:ext cx="0" cy="13869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a:off x="4145076" y="2877133"/>
            <a:ext cx="409392"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4131819" y="3229984"/>
            <a:ext cx="395373"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a:off x="6070427" y="3685504"/>
            <a:ext cx="30542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a:xfrm>
            <a:off x="6070428" y="4126886"/>
            <a:ext cx="29581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6" name="直接连接符 215"/>
          <p:cNvCxnSpPr/>
          <p:nvPr/>
        </p:nvCxnSpPr>
        <p:spPr>
          <a:xfrm>
            <a:off x="4123081" y="5636421"/>
            <a:ext cx="1143140"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18" name="直接连接符 217"/>
          <p:cNvCxnSpPr/>
          <p:nvPr/>
        </p:nvCxnSpPr>
        <p:spPr>
          <a:xfrm flipV="1">
            <a:off x="5918385" y="5619905"/>
            <a:ext cx="457463" cy="719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1" name="直接连接符 260"/>
          <p:cNvCxnSpPr/>
          <p:nvPr/>
        </p:nvCxnSpPr>
        <p:spPr>
          <a:xfrm>
            <a:off x="7409529" y="2969903"/>
            <a:ext cx="36100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3" name="直接连接符 262"/>
          <p:cNvCxnSpPr/>
          <p:nvPr/>
        </p:nvCxnSpPr>
        <p:spPr>
          <a:xfrm>
            <a:off x="6695772" y="3711035"/>
            <a:ext cx="103718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2" name="Mux 3"/>
          <p:cNvGrpSpPr/>
          <p:nvPr/>
        </p:nvGrpSpPr>
        <p:grpSpPr>
          <a:xfrm>
            <a:off x="980794" y="3230765"/>
            <a:ext cx="615567" cy="1168007"/>
            <a:chOff x="3339670" y="5460516"/>
            <a:chExt cx="901073" cy="1230515"/>
          </a:xfrm>
        </p:grpSpPr>
        <p:sp>
          <p:nvSpPr>
            <p:cNvPr id="133" name="mux"/>
            <p:cNvSpPr/>
            <p:nvPr/>
          </p:nvSpPr>
          <p:spPr>
            <a:xfrm rot="5400000">
              <a:off x="3140776" y="5731027"/>
              <a:ext cx="1230515" cy="689494"/>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4" name="文本框 133"/>
            <p:cNvSpPr txBox="1"/>
            <p:nvPr/>
          </p:nvSpPr>
          <p:spPr>
            <a:xfrm>
              <a:off x="3365437" y="5514581"/>
              <a:ext cx="260684"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5" name="文本框 134"/>
            <p:cNvSpPr txBox="1"/>
            <p:nvPr/>
          </p:nvSpPr>
          <p:spPr>
            <a:xfrm>
              <a:off x="3339670" y="6240974"/>
              <a:ext cx="324022"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6" name="文本框 135"/>
            <p:cNvSpPr txBox="1"/>
            <p:nvPr/>
          </p:nvSpPr>
          <p:spPr>
            <a:xfrm>
              <a:off x="3616106" y="5588478"/>
              <a:ext cx="624637" cy="107001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52" name="直接连接符 151"/>
          <p:cNvCxnSpPr/>
          <p:nvPr/>
        </p:nvCxnSpPr>
        <p:spPr>
          <a:xfrm>
            <a:off x="8501372" y="4449406"/>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a:off x="9052058" y="4459371"/>
            <a:ext cx="28232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a:off x="9031887" y="5074428"/>
            <a:ext cx="3068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10550113" y="4754212"/>
            <a:ext cx="20911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56" name="Mux 3"/>
          <p:cNvGrpSpPr/>
          <p:nvPr/>
        </p:nvGrpSpPr>
        <p:grpSpPr>
          <a:xfrm>
            <a:off x="7047068" y="3828239"/>
            <a:ext cx="482064" cy="1168006"/>
            <a:chOff x="3558568" y="5448300"/>
            <a:chExt cx="706348" cy="1230515"/>
          </a:xfrm>
        </p:grpSpPr>
        <p:sp>
          <p:nvSpPr>
            <p:cNvPr id="157" name="mux"/>
            <p:cNvSpPr/>
            <p:nvPr/>
          </p:nvSpPr>
          <p:spPr>
            <a:xfrm rot="5400000">
              <a:off x="3332723" y="5746622"/>
              <a:ext cx="1230515" cy="633871"/>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8" name="文本框 157"/>
            <p:cNvSpPr txBox="1"/>
            <p:nvPr/>
          </p:nvSpPr>
          <p:spPr>
            <a:xfrm>
              <a:off x="3571052" y="5580627"/>
              <a:ext cx="260683"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9" name="文本框 158"/>
            <p:cNvSpPr txBox="1"/>
            <p:nvPr/>
          </p:nvSpPr>
          <p:spPr>
            <a:xfrm>
              <a:off x="3558568" y="6264229"/>
              <a:ext cx="408929" cy="34293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6" name="文本框 165"/>
            <p:cNvSpPr txBox="1"/>
            <p:nvPr/>
          </p:nvSpPr>
          <p:spPr>
            <a:xfrm>
              <a:off x="3747999" y="5579240"/>
              <a:ext cx="462611" cy="1070019"/>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68" name="直接连接符 167"/>
          <p:cNvCxnSpPr/>
          <p:nvPr/>
        </p:nvCxnSpPr>
        <p:spPr>
          <a:xfrm flipV="1">
            <a:off x="1508893" y="3740800"/>
            <a:ext cx="178001" cy="5"/>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a:xfrm>
            <a:off x="2346907" y="2934283"/>
            <a:ext cx="18646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a:off x="6695772" y="2539897"/>
            <a:ext cx="1083649" cy="7422"/>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flipH="1">
            <a:off x="6918450" y="3282084"/>
            <a:ext cx="22498" cy="19552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a:off x="6695772" y="5237334"/>
            <a:ext cx="24517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a:off x="6695772" y="4126886"/>
            <a:ext cx="40077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a:off x="6930313" y="4782565"/>
            <a:ext cx="182537" cy="853"/>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a:off x="6817476" y="5074426"/>
            <a:ext cx="1931532"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a:off x="6817476" y="4126886"/>
            <a:ext cx="1766" cy="947540"/>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a:off x="9152409" y="4455809"/>
            <a:ext cx="0" cy="1068388"/>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flipV="1">
            <a:off x="9152409" y="5518398"/>
            <a:ext cx="1599091" cy="572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1" name="直接连接符 270"/>
          <p:cNvCxnSpPr/>
          <p:nvPr/>
        </p:nvCxnSpPr>
        <p:spPr>
          <a:xfrm>
            <a:off x="11042375" y="5507933"/>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3" name="直接连接符 272"/>
          <p:cNvCxnSpPr/>
          <p:nvPr/>
        </p:nvCxnSpPr>
        <p:spPr>
          <a:xfrm>
            <a:off x="7529133" y="4592638"/>
            <a:ext cx="21340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5" name="文本框 284"/>
          <p:cNvSpPr txBox="1"/>
          <p:nvPr/>
        </p:nvSpPr>
        <p:spPr>
          <a:xfrm>
            <a:off x="2084050" y="4135616"/>
            <a:ext cx="1500650" cy="48904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 memory</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361" name="直接连接符 360"/>
          <p:cNvCxnSpPr>
            <a:endCxn id="76" idx="3"/>
          </p:cNvCxnSpPr>
          <p:nvPr/>
        </p:nvCxnSpPr>
        <p:spPr>
          <a:xfrm>
            <a:off x="11713470" y="5175762"/>
            <a:ext cx="132688" cy="27775"/>
          </a:xfrm>
          <a:prstGeom prst="line">
            <a:avLst/>
          </a:prstGeom>
          <a:ln w="25400">
            <a:noFill/>
          </a:ln>
        </p:spPr>
        <p:style>
          <a:lnRef idx="1">
            <a:schemeClr val="accent1"/>
          </a:lnRef>
          <a:fillRef idx="0">
            <a:schemeClr val="accent1"/>
          </a:fillRef>
          <a:effectRef idx="0">
            <a:schemeClr val="accent1"/>
          </a:effectRef>
          <a:fontRef idx="minor">
            <a:schemeClr val="tx1"/>
          </a:fontRef>
        </p:style>
      </p:cxnSp>
      <p:cxnSp>
        <p:nvCxnSpPr>
          <p:cNvPr id="362" name="直接连接符 361"/>
          <p:cNvCxnSpPr/>
          <p:nvPr/>
        </p:nvCxnSpPr>
        <p:spPr>
          <a:xfrm flipH="1">
            <a:off x="11909737" y="5157672"/>
            <a:ext cx="14406" cy="9965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8" name="直接连接符 367"/>
          <p:cNvCxnSpPr/>
          <p:nvPr/>
        </p:nvCxnSpPr>
        <p:spPr>
          <a:xfrm>
            <a:off x="4277776" y="4859337"/>
            <a:ext cx="0" cy="13086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2" name="直接连接符 371"/>
          <p:cNvCxnSpPr/>
          <p:nvPr/>
        </p:nvCxnSpPr>
        <p:spPr>
          <a:xfrm>
            <a:off x="4274417" y="4859337"/>
            <a:ext cx="247455" cy="48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7" name="直接连接符 376"/>
          <p:cNvCxnSpPr/>
          <p:nvPr/>
        </p:nvCxnSpPr>
        <p:spPr>
          <a:xfrm>
            <a:off x="679951" y="1809508"/>
            <a:ext cx="89899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8" name="直接连接符 387"/>
          <p:cNvCxnSpPr/>
          <p:nvPr/>
        </p:nvCxnSpPr>
        <p:spPr>
          <a:xfrm>
            <a:off x="679951" y="1818551"/>
            <a:ext cx="0" cy="23336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5" name="直接连接符 394"/>
          <p:cNvCxnSpPr/>
          <p:nvPr/>
        </p:nvCxnSpPr>
        <p:spPr>
          <a:xfrm>
            <a:off x="838200" y="3440612"/>
            <a:ext cx="165348" cy="65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7" name="直接连接符 396"/>
          <p:cNvCxnSpPr/>
          <p:nvPr/>
        </p:nvCxnSpPr>
        <p:spPr>
          <a:xfrm>
            <a:off x="670620" y="4147837"/>
            <a:ext cx="332520"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4" name="直接连接符 403"/>
          <p:cNvCxnSpPr/>
          <p:nvPr/>
        </p:nvCxnSpPr>
        <p:spPr>
          <a:xfrm>
            <a:off x="9669922" y="1809508"/>
            <a:ext cx="0" cy="10197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7" name="直接连接符 406"/>
          <p:cNvCxnSpPr/>
          <p:nvPr/>
        </p:nvCxnSpPr>
        <p:spPr>
          <a:xfrm flipV="1">
            <a:off x="9043478" y="2837251"/>
            <a:ext cx="641869" cy="51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2066283" y="2743837"/>
            <a:ext cx="20135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4</a:t>
            </a:r>
            <a:endParaRPr kumimoji="0" lang="zh-CN" altLang="en-US"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cxnSp>
        <p:nvCxnSpPr>
          <p:cNvPr id="247" name="直接连接符 246"/>
          <p:cNvCxnSpPr/>
          <p:nvPr/>
        </p:nvCxnSpPr>
        <p:spPr>
          <a:xfrm>
            <a:off x="11762062" y="5157672"/>
            <a:ext cx="16208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a:xfrm>
            <a:off x="4123081" y="2875072"/>
            <a:ext cx="0" cy="27611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a:off x="8501372" y="4048810"/>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a:off x="9042549" y="4058581"/>
            <a:ext cx="18594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直接连接符 216"/>
          <p:cNvCxnSpPr/>
          <p:nvPr/>
        </p:nvCxnSpPr>
        <p:spPr>
          <a:xfrm>
            <a:off x="4132291" y="4517260"/>
            <a:ext cx="389581" cy="1331"/>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99" name="连接符: 肘形 98"/>
          <p:cNvCxnSpPr/>
          <p:nvPr/>
        </p:nvCxnSpPr>
        <p:spPr>
          <a:xfrm flipV="1">
            <a:off x="2118109" y="2556083"/>
            <a:ext cx="1431289" cy="730238"/>
          </a:xfrm>
          <a:prstGeom prst="bentConnector3">
            <a:avLst>
              <a:gd name="adj1" fmla="val 82595"/>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238" name="文本框 237"/>
          <p:cNvSpPr txBox="1"/>
          <p:nvPr/>
        </p:nvSpPr>
        <p:spPr>
          <a:xfrm rot="10800000">
            <a:off x="3764711" y="2337282"/>
            <a:ext cx="430887" cy="1436503"/>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40" name="文本框 239"/>
          <p:cNvSpPr txBox="1"/>
          <p:nvPr/>
        </p:nvSpPr>
        <p:spPr>
          <a:xfrm>
            <a:off x="4693568" y="5650177"/>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32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64" name="文本框 263"/>
          <p:cNvSpPr txBox="1"/>
          <p:nvPr/>
        </p:nvSpPr>
        <p:spPr>
          <a:xfrm>
            <a:off x="5919453" y="5621900"/>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64</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245" name="直接连接符 244"/>
          <p:cNvCxnSpPr/>
          <p:nvPr/>
        </p:nvCxnSpPr>
        <p:spPr>
          <a:xfrm>
            <a:off x="4820326" y="5563778"/>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7" name="直接连接符 266"/>
          <p:cNvCxnSpPr/>
          <p:nvPr/>
        </p:nvCxnSpPr>
        <p:spPr>
          <a:xfrm>
            <a:off x="6048908" y="5558301"/>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V="1">
            <a:off x="4264322" y="6154194"/>
            <a:ext cx="7659820" cy="137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a:off x="11051706" y="4760277"/>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a:off x="3836834" y="4118785"/>
            <a:ext cx="286247" cy="8101"/>
          </a:xfrm>
          <a:prstGeom prst="line">
            <a:avLst/>
          </a:prstGeom>
          <a:ln w="2540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MEM for Load</a:t>
            </a:r>
            <a:endParaRPr lang="zh-CN" altLang="en-US" dirty="0"/>
          </a:p>
        </p:txBody>
      </p:sp>
      <p:grpSp>
        <p:nvGrpSpPr>
          <p:cNvPr id="130" name="组合 129"/>
          <p:cNvGrpSpPr/>
          <p:nvPr/>
        </p:nvGrpSpPr>
        <p:grpSpPr>
          <a:xfrm>
            <a:off x="8816172" y="1009015"/>
            <a:ext cx="2157268" cy="695935"/>
            <a:chOff x="1613177" y="1509972"/>
            <a:chExt cx="2034915" cy="695935"/>
          </a:xfrm>
        </p:grpSpPr>
        <p:cxnSp>
          <p:nvCxnSpPr>
            <p:cNvPr id="139" name="直接连接符 138"/>
            <p:cNvCxnSpPr/>
            <p:nvPr/>
          </p:nvCxnSpPr>
          <p:spPr>
            <a:xfrm>
              <a:off x="1659668"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a:off x="3648092"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p:nvCxnSpPr>
          <p:spPr>
            <a:xfrm>
              <a:off x="1659668" y="1838984"/>
              <a:ext cx="19856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2" name="文本框 141"/>
            <p:cNvSpPr txBox="1"/>
            <p:nvPr/>
          </p:nvSpPr>
          <p:spPr>
            <a:xfrm>
              <a:off x="2127256" y="1509972"/>
              <a:ext cx="1050521"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ld</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143" name="文本框 142"/>
            <p:cNvSpPr txBox="1"/>
            <p:nvPr/>
          </p:nvSpPr>
          <p:spPr>
            <a:xfrm>
              <a:off x="1613177" y="1805797"/>
              <a:ext cx="203218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rPr>
                <a:t>Memory</a:t>
              </a:r>
              <a:endPar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sp>
        <p:nvSpPr>
          <p:cNvPr id="144" name="矩形 143"/>
          <p:cNvSpPr/>
          <p:nvPr/>
        </p:nvSpPr>
        <p:spPr>
          <a:xfrm>
            <a:off x="8884414" y="2242787"/>
            <a:ext cx="147600" cy="3736800"/>
          </a:xfrm>
          <a:prstGeom prst="rect">
            <a:avLst/>
          </a:prstGeom>
          <a:solidFill>
            <a:srgbClr val="9CDCF9"/>
          </a:soli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5" name="矩形 144"/>
          <p:cNvSpPr/>
          <p:nvPr/>
        </p:nvSpPr>
        <p:spPr>
          <a:xfrm>
            <a:off x="10757867" y="2229837"/>
            <a:ext cx="147600" cy="3744000"/>
          </a:xfrm>
          <a:prstGeom prst="rect">
            <a:avLst/>
          </a:prstGeom>
          <a:solidFill>
            <a:srgbClr val="9CDCF9"/>
          </a:soli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nvGrpSpPr>
          <p:cNvPr id="2" name="组合 1"/>
          <p:cNvGrpSpPr/>
          <p:nvPr/>
        </p:nvGrpSpPr>
        <p:grpSpPr>
          <a:xfrm>
            <a:off x="9269966" y="3735102"/>
            <a:ext cx="1291925" cy="1635472"/>
            <a:chOff x="9233814" y="4289030"/>
            <a:chExt cx="1291925" cy="1635472"/>
          </a:xfrm>
        </p:grpSpPr>
        <p:sp>
          <p:nvSpPr>
            <p:cNvPr id="82" name="矩形 81"/>
            <p:cNvSpPr/>
            <p:nvPr/>
          </p:nvSpPr>
          <p:spPr>
            <a:xfrm>
              <a:off x="9303540" y="4289030"/>
              <a:ext cx="1201208" cy="1635472"/>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6" name="矩形 145"/>
            <p:cNvSpPr/>
            <p:nvPr/>
          </p:nvSpPr>
          <p:spPr>
            <a:xfrm>
              <a:off x="9888682" y="4298051"/>
              <a:ext cx="601200" cy="1616400"/>
            </a:xfrm>
            <a:prstGeom prst="rect">
              <a:avLst/>
            </a:prstGeom>
            <a:solidFill>
              <a:srgbClr val="9CDCF9"/>
            </a:solidFill>
            <a:ln w="25400">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3" name="文本框 82"/>
            <p:cNvSpPr txBox="1"/>
            <p:nvPr/>
          </p:nvSpPr>
          <p:spPr>
            <a:xfrm>
              <a:off x="9291516" y="4314365"/>
              <a:ext cx="1234223" cy="48904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Data </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memory</a:t>
              </a:r>
            </a:p>
          </p:txBody>
        </p:sp>
        <p:sp>
          <p:nvSpPr>
            <p:cNvPr id="84" name="文本框 83"/>
            <p:cNvSpPr txBox="1"/>
            <p:nvPr/>
          </p:nvSpPr>
          <p:spPr>
            <a:xfrm>
              <a:off x="9236465" y="4847932"/>
              <a:ext cx="1078797" cy="400110"/>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7" name="文本框 86"/>
            <p:cNvSpPr txBox="1"/>
            <p:nvPr/>
          </p:nvSpPr>
          <p:spPr>
            <a:xfrm>
              <a:off x="9233814" y="5523261"/>
              <a:ext cx="1249484" cy="400110"/>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147" name="文本框 146"/>
          <p:cNvSpPr txBox="1"/>
          <p:nvPr/>
        </p:nvSpPr>
        <p:spPr>
          <a:xfrm>
            <a:off x="6080556" y="1890327"/>
            <a:ext cx="898003"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ID/EX</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8" name="文本框 147"/>
          <p:cNvSpPr txBox="1"/>
          <p:nvPr/>
        </p:nvSpPr>
        <p:spPr>
          <a:xfrm>
            <a:off x="8266169" y="1837701"/>
            <a:ext cx="1268296"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EX/MEM</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9" name="文本框 148"/>
          <p:cNvSpPr txBox="1"/>
          <p:nvPr/>
        </p:nvSpPr>
        <p:spPr>
          <a:xfrm>
            <a:off x="10244209" y="1851647"/>
            <a:ext cx="1338828"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MEM/WB</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0" name="灯片编号占位符 1"/>
          <p:cNvSpPr>
            <a:spLocks noGrp="1"/>
          </p:cNvSpPr>
          <p:nvPr>
            <p:ph type="sldNum" sz="quarter" idx="12"/>
          </p:nvPr>
        </p:nvSpPr>
        <p:spPr>
          <a:xfrm>
            <a:off x="8940542" y="648279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nvGrpSpPr>
          <p:cNvPr id="151" name="组合 150">
            <a:extLst>
              <a:ext uri="{FF2B5EF4-FFF2-40B4-BE49-F238E27FC236}">
                <a16:creationId xmlns:a16="http://schemas.microsoft.com/office/drawing/2014/main" id="{A06DE52E-6837-45F9-9003-071F0361B6BF}"/>
              </a:ext>
            </a:extLst>
          </p:cNvPr>
          <p:cNvGrpSpPr/>
          <p:nvPr/>
        </p:nvGrpSpPr>
        <p:grpSpPr>
          <a:xfrm>
            <a:off x="3487558" y="5896651"/>
            <a:ext cx="635647" cy="606462"/>
            <a:chOff x="7319483" y="6149946"/>
            <a:chExt cx="635647" cy="606462"/>
          </a:xfrm>
        </p:grpSpPr>
        <p:sp>
          <p:nvSpPr>
            <p:cNvPr id="165" name="等腰三角形 164">
              <a:extLst>
                <a:ext uri="{FF2B5EF4-FFF2-40B4-BE49-F238E27FC236}">
                  <a16:creationId xmlns:a16="http://schemas.microsoft.com/office/drawing/2014/main" id="{8E0E95AC-6E62-4498-86AF-8C26C4615448}"/>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69" name="直接连接符 168">
              <a:extLst>
                <a:ext uri="{FF2B5EF4-FFF2-40B4-BE49-F238E27FC236}">
                  <a16:creationId xmlns:a16="http://schemas.microsoft.com/office/drawing/2014/main" id="{21E28D88-50CA-4EFE-938B-8C162A5A6F21}"/>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70" name="文本框 169">
              <a:extLst>
                <a:ext uri="{FF2B5EF4-FFF2-40B4-BE49-F238E27FC236}">
                  <a16:creationId xmlns:a16="http://schemas.microsoft.com/office/drawing/2014/main" id="{389DC20F-031F-4620-8540-4B83D9EB866F}"/>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1" name="组合 170">
            <a:extLst>
              <a:ext uri="{FF2B5EF4-FFF2-40B4-BE49-F238E27FC236}">
                <a16:creationId xmlns:a16="http://schemas.microsoft.com/office/drawing/2014/main" id="{8E6A1E65-B4F6-40DC-90F4-81068D10982B}"/>
              </a:ext>
            </a:extLst>
          </p:cNvPr>
          <p:cNvGrpSpPr/>
          <p:nvPr/>
        </p:nvGrpSpPr>
        <p:grpSpPr>
          <a:xfrm>
            <a:off x="6331483" y="5896651"/>
            <a:ext cx="635647" cy="606462"/>
            <a:chOff x="7319483" y="6149946"/>
            <a:chExt cx="635647" cy="606462"/>
          </a:xfrm>
        </p:grpSpPr>
        <p:sp>
          <p:nvSpPr>
            <p:cNvPr id="172" name="等腰三角形 171">
              <a:extLst>
                <a:ext uri="{FF2B5EF4-FFF2-40B4-BE49-F238E27FC236}">
                  <a16:creationId xmlns:a16="http://schemas.microsoft.com/office/drawing/2014/main" id="{466AC4B5-B652-4AFE-B191-F8DB1F769AB4}"/>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3" name="直接连接符 172">
              <a:extLst>
                <a:ext uri="{FF2B5EF4-FFF2-40B4-BE49-F238E27FC236}">
                  <a16:creationId xmlns:a16="http://schemas.microsoft.com/office/drawing/2014/main" id="{7E8C7A68-779E-41B5-A33F-CD06F46782E1}"/>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75" name="文本框 174">
              <a:extLst>
                <a:ext uri="{FF2B5EF4-FFF2-40B4-BE49-F238E27FC236}">
                  <a16:creationId xmlns:a16="http://schemas.microsoft.com/office/drawing/2014/main" id="{4C475B10-0A63-4C9B-A71E-1FDF2619DDB8}"/>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6" name="组合 175">
            <a:extLst>
              <a:ext uri="{FF2B5EF4-FFF2-40B4-BE49-F238E27FC236}">
                <a16:creationId xmlns:a16="http://schemas.microsoft.com/office/drawing/2014/main" id="{C030F12A-AC05-45DC-A93E-45A8CBD55C25}"/>
              </a:ext>
            </a:extLst>
          </p:cNvPr>
          <p:cNvGrpSpPr/>
          <p:nvPr/>
        </p:nvGrpSpPr>
        <p:grpSpPr>
          <a:xfrm>
            <a:off x="8685670" y="5881469"/>
            <a:ext cx="635647" cy="606462"/>
            <a:chOff x="7319483" y="6149946"/>
            <a:chExt cx="635647" cy="606462"/>
          </a:xfrm>
        </p:grpSpPr>
        <p:sp>
          <p:nvSpPr>
            <p:cNvPr id="178" name="等腰三角形 177">
              <a:extLst>
                <a:ext uri="{FF2B5EF4-FFF2-40B4-BE49-F238E27FC236}">
                  <a16:creationId xmlns:a16="http://schemas.microsoft.com/office/drawing/2014/main" id="{E3310937-7154-4D55-A598-A463CD096965}"/>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9" name="直接连接符 178">
              <a:extLst>
                <a:ext uri="{FF2B5EF4-FFF2-40B4-BE49-F238E27FC236}">
                  <a16:creationId xmlns:a16="http://schemas.microsoft.com/office/drawing/2014/main" id="{D47C9D1E-EFF0-454F-B27A-F42A3B220663}"/>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80" name="文本框 179">
              <a:extLst>
                <a:ext uri="{FF2B5EF4-FFF2-40B4-BE49-F238E27FC236}">
                  <a16:creationId xmlns:a16="http://schemas.microsoft.com/office/drawing/2014/main" id="{BE261F02-DD68-45ED-B1C4-EDA5C8F3D68E}"/>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81" name="组合 180">
            <a:extLst>
              <a:ext uri="{FF2B5EF4-FFF2-40B4-BE49-F238E27FC236}">
                <a16:creationId xmlns:a16="http://schemas.microsoft.com/office/drawing/2014/main" id="{E1493DDD-D22D-4B98-BFCA-84FFF58A226F}"/>
              </a:ext>
            </a:extLst>
          </p:cNvPr>
          <p:cNvGrpSpPr/>
          <p:nvPr/>
        </p:nvGrpSpPr>
        <p:grpSpPr>
          <a:xfrm>
            <a:off x="10705930" y="5881469"/>
            <a:ext cx="635647" cy="606462"/>
            <a:chOff x="7319483" y="6149946"/>
            <a:chExt cx="635647" cy="606462"/>
          </a:xfrm>
        </p:grpSpPr>
        <p:sp>
          <p:nvSpPr>
            <p:cNvPr id="182" name="等腰三角形 181">
              <a:extLst>
                <a:ext uri="{FF2B5EF4-FFF2-40B4-BE49-F238E27FC236}">
                  <a16:creationId xmlns:a16="http://schemas.microsoft.com/office/drawing/2014/main" id="{D551B952-3A36-455C-8539-0409237BEE87}"/>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3" name="直接连接符 182">
              <a:extLst>
                <a:ext uri="{FF2B5EF4-FFF2-40B4-BE49-F238E27FC236}">
                  <a16:creationId xmlns:a16="http://schemas.microsoft.com/office/drawing/2014/main" id="{31558575-68CB-4011-B1D1-B2727EC8648F}"/>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84" name="文本框 183">
              <a:extLst>
                <a:ext uri="{FF2B5EF4-FFF2-40B4-BE49-F238E27FC236}">
                  <a16:creationId xmlns:a16="http://schemas.microsoft.com/office/drawing/2014/main" id="{CE298A52-E814-4D57-96E2-F926C36C9F92}"/>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89" name="文本框 188"/>
          <p:cNvSpPr txBox="1"/>
          <p:nvPr/>
        </p:nvSpPr>
        <p:spPr>
          <a:xfrm>
            <a:off x="3111360" y="2232982"/>
            <a:ext cx="469167" cy="369332"/>
          </a:xfrm>
          <a:prstGeom prst="rect">
            <a:avLst/>
          </a:prstGeom>
          <a:noFill/>
        </p:spPr>
        <p:txBody>
          <a:bodyPr wrap="square" rtlCol="0">
            <a:spAutoFit/>
          </a:bodyPr>
          <a:lstStyle/>
          <a:p>
            <a:r>
              <a:rPr lang="en-US" altLang="zh-CN" dirty="0">
                <a:solidFill>
                  <a:srgbClr val="0000FF"/>
                </a:solidFill>
              </a:rPr>
              <a:t>PC</a:t>
            </a:r>
            <a:endParaRPr lang="zh-CN" altLang="en-US" dirty="0">
              <a:solidFill>
                <a:srgbClr val="0000FF"/>
              </a:solidFill>
            </a:endParaRPr>
          </a:p>
        </p:txBody>
      </p:sp>
      <p:sp>
        <p:nvSpPr>
          <p:cNvPr id="191" name="文本框 190"/>
          <p:cNvSpPr txBox="1"/>
          <p:nvPr/>
        </p:nvSpPr>
        <p:spPr>
          <a:xfrm>
            <a:off x="9060680" y="2892211"/>
            <a:ext cx="1593483" cy="307777"/>
          </a:xfrm>
          <a:prstGeom prst="rect">
            <a:avLst/>
          </a:prstGeom>
          <a:noFill/>
        </p:spPr>
        <p:txBody>
          <a:bodyPr wrap="square" rtlCol="0">
            <a:spAutoFit/>
          </a:bodyPr>
          <a:lstStyle/>
          <a:p>
            <a:r>
              <a:rPr lang="en-US" altLang="zh-CN" sz="1400" dirty="0">
                <a:solidFill>
                  <a:srgbClr val="0000FF"/>
                </a:solidFill>
              </a:rPr>
              <a:t>EX/</a:t>
            </a:r>
            <a:r>
              <a:rPr lang="en-US" altLang="zh-CN" sz="1400" dirty="0" err="1">
                <a:solidFill>
                  <a:srgbClr val="0000FF"/>
                </a:solidFill>
              </a:rPr>
              <a:t>MEM.PC+imm</a:t>
            </a:r>
            <a:endParaRPr lang="zh-CN" altLang="en-US" sz="1400" dirty="0">
              <a:solidFill>
                <a:srgbClr val="0000FF"/>
              </a:solidFill>
            </a:endParaRPr>
          </a:p>
        </p:txBody>
      </p:sp>
      <p:sp>
        <p:nvSpPr>
          <p:cNvPr id="192" name="文本框 191"/>
          <p:cNvSpPr txBox="1"/>
          <p:nvPr/>
        </p:nvSpPr>
        <p:spPr>
          <a:xfrm rot="5400000">
            <a:off x="8359763" y="2684929"/>
            <a:ext cx="1247442" cy="276999"/>
          </a:xfrm>
          <a:prstGeom prst="rect">
            <a:avLst/>
          </a:prstGeom>
          <a:noFill/>
        </p:spPr>
        <p:txBody>
          <a:bodyPr wrap="square" rtlCol="0">
            <a:spAutoFit/>
          </a:bodyPr>
          <a:lstStyle/>
          <a:p>
            <a:r>
              <a:rPr lang="en-US" altLang="zh-CN" sz="1200" b="1" dirty="0">
                <a:solidFill>
                  <a:srgbClr val="FF0000"/>
                </a:solidFill>
              </a:rPr>
              <a:t>E/</a:t>
            </a:r>
            <a:r>
              <a:rPr lang="en-US" altLang="zh-CN" sz="1200" b="1" dirty="0" err="1">
                <a:solidFill>
                  <a:srgbClr val="FF0000"/>
                </a:solidFill>
              </a:rPr>
              <a:t>M.pc+imm</a:t>
            </a:r>
            <a:endParaRPr lang="zh-CN" altLang="en-US" sz="1200" b="1" dirty="0">
              <a:solidFill>
                <a:srgbClr val="FF0000"/>
              </a:solidFill>
            </a:endParaRPr>
          </a:p>
        </p:txBody>
      </p:sp>
      <p:sp>
        <p:nvSpPr>
          <p:cNvPr id="193" name="文本框 192"/>
          <p:cNvSpPr txBox="1"/>
          <p:nvPr/>
        </p:nvSpPr>
        <p:spPr>
          <a:xfrm rot="5400000">
            <a:off x="8457848" y="3584570"/>
            <a:ext cx="1034800" cy="276999"/>
          </a:xfrm>
          <a:prstGeom prst="rect">
            <a:avLst/>
          </a:prstGeom>
          <a:noFill/>
        </p:spPr>
        <p:txBody>
          <a:bodyPr wrap="square" rtlCol="0">
            <a:spAutoFit/>
          </a:bodyPr>
          <a:lstStyle/>
          <a:p>
            <a:r>
              <a:rPr lang="en-US" altLang="zh-CN" sz="1200" b="1" dirty="0">
                <a:solidFill>
                  <a:srgbClr val="0000FF"/>
                </a:solidFill>
              </a:rPr>
              <a:t>E/</a:t>
            </a:r>
            <a:r>
              <a:rPr lang="en-US" altLang="zh-CN" sz="1200" b="1" dirty="0" err="1">
                <a:solidFill>
                  <a:srgbClr val="0000FF"/>
                </a:solidFill>
              </a:rPr>
              <a:t>M.Zero</a:t>
            </a:r>
            <a:endParaRPr lang="zh-CN" altLang="en-US" sz="1200" b="1" dirty="0">
              <a:solidFill>
                <a:srgbClr val="0000FF"/>
              </a:solidFill>
            </a:endParaRPr>
          </a:p>
        </p:txBody>
      </p:sp>
      <p:sp>
        <p:nvSpPr>
          <p:cNvPr id="194" name="文本框 193"/>
          <p:cNvSpPr txBox="1"/>
          <p:nvPr/>
        </p:nvSpPr>
        <p:spPr>
          <a:xfrm rot="5400000">
            <a:off x="8308721" y="5396414"/>
            <a:ext cx="1342920" cy="276999"/>
          </a:xfrm>
          <a:prstGeom prst="rect">
            <a:avLst/>
          </a:prstGeom>
          <a:noFill/>
        </p:spPr>
        <p:txBody>
          <a:bodyPr wrap="square" rtlCol="0">
            <a:spAutoFit/>
          </a:bodyPr>
          <a:lstStyle/>
          <a:p>
            <a:r>
              <a:rPr lang="en-US" altLang="zh-CN" sz="1200" b="1" dirty="0">
                <a:solidFill>
                  <a:srgbClr val="0000FF"/>
                </a:solidFill>
              </a:rPr>
              <a:t>E/</a:t>
            </a:r>
            <a:r>
              <a:rPr lang="en-US" altLang="zh-CN" sz="1200" b="1" dirty="0" err="1">
                <a:solidFill>
                  <a:srgbClr val="0000FF"/>
                </a:solidFill>
              </a:rPr>
              <a:t>M.Reg</a:t>
            </a:r>
            <a:r>
              <a:rPr lang="en-US" altLang="zh-CN" sz="1200" b="1" dirty="0">
                <a:solidFill>
                  <a:srgbClr val="0000FF"/>
                </a:solidFill>
              </a:rPr>
              <a:t>[rs2]</a:t>
            </a:r>
            <a:endParaRPr lang="zh-CN" altLang="en-US" sz="1200" b="1" dirty="0">
              <a:solidFill>
                <a:srgbClr val="0000FF"/>
              </a:solidFill>
            </a:endParaRPr>
          </a:p>
        </p:txBody>
      </p:sp>
      <p:sp>
        <p:nvSpPr>
          <p:cNvPr id="195" name="文本框 194"/>
          <p:cNvSpPr txBox="1"/>
          <p:nvPr/>
        </p:nvSpPr>
        <p:spPr>
          <a:xfrm rot="5400000">
            <a:off x="8456850" y="4389070"/>
            <a:ext cx="1034800" cy="276999"/>
          </a:xfrm>
          <a:prstGeom prst="rect">
            <a:avLst/>
          </a:prstGeom>
          <a:noFill/>
        </p:spPr>
        <p:txBody>
          <a:bodyPr wrap="square" rtlCol="0">
            <a:spAutoFit/>
          </a:bodyPr>
          <a:lstStyle/>
          <a:p>
            <a:r>
              <a:rPr lang="en-US" altLang="zh-CN" sz="1200" b="1" dirty="0">
                <a:solidFill>
                  <a:srgbClr val="C00000"/>
                </a:solidFill>
              </a:rPr>
              <a:t>E/</a:t>
            </a:r>
            <a:r>
              <a:rPr lang="en-US" altLang="zh-CN" sz="1200" b="1" dirty="0" err="1">
                <a:solidFill>
                  <a:srgbClr val="C00000"/>
                </a:solidFill>
              </a:rPr>
              <a:t>M.result</a:t>
            </a:r>
            <a:endParaRPr lang="zh-CN" altLang="en-US" sz="1200" b="1" dirty="0">
              <a:solidFill>
                <a:srgbClr val="C00000"/>
              </a:solidFill>
            </a:endParaRPr>
          </a:p>
        </p:txBody>
      </p:sp>
      <p:sp>
        <p:nvSpPr>
          <p:cNvPr id="200" name="文本框 199"/>
          <p:cNvSpPr txBox="1"/>
          <p:nvPr/>
        </p:nvSpPr>
        <p:spPr>
          <a:xfrm rot="5400000">
            <a:off x="10128981" y="5182646"/>
            <a:ext cx="1425060" cy="307777"/>
          </a:xfrm>
          <a:prstGeom prst="rect">
            <a:avLst/>
          </a:prstGeom>
          <a:noFill/>
        </p:spPr>
        <p:txBody>
          <a:bodyPr wrap="square" rtlCol="0">
            <a:spAutoFit/>
          </a:bodyPr>
          <a:lstStyle/>
          <a:p>
            <a:r>
              <a:rPr lang="en-US" altLang="zh-CN" sz="1400" b="1" dirty="0">
                <a:solidFill>
                  <a:srgbClr val="C00000"/>
                </a:solidFill>
              </a:rPr>
              <a:t>EX/</a:t>
            </a:r>
            <a:r>
              <a:rPr lang="en-US" altLang="zh-CN" sz="1400" b="1" dirty="0" err="1">
                <a:solidFill>
                  <a:srgbClr val="C00000"/>
                </a:solidFill>
              </a:rPr>
              <a:t>MEM.result</a:t>
            </a:r>
            <a:endParaRPr lang="zh-CN" altLang="en-US" sz="1400" b="1" dirty="0">
              <a:solidFill>
                <a:srgbClr val="C00000"/>
              </a:solidFill>
            </a:endParaRPr>
          </a:p>
        </p:txBody>
      </p:sp>
      <p:sp>
        <p:nvSpPr>
          <p:cNvPr id="201" name="文本框 200"/>
          <p:cNvSpPr txBox="1"/>
          <p:nvPr/>
        </p:nvSpPr>
        <p:spPr>
          <a:xfrm rot="5400000">
            <a:off x="10135717" y="3847863"/>
            <a:ext cx="1425060" cy="307777"/>
          </a:xfrm>
          <a:prstGeom prst="rect">
            <a:avLst/>
          </a:prstGeom>
          <a:noFill/>
        </p:spPr>
        <p:txBody>
          <a:bodyPr wrap="square" rtlCol="0">
            <a:spAutoFit/>
          </a:bodyPr>
          <a:lstStyle/>
          <a:p>
            <a:r>
              <a:rPr lang="en-US" altLang="zh-CN" sz="1400" b="1" dirty="0" err="1">
                <a:solidFill>
                  <a:srgbClr val="0000FF"/>
                </a:solidFill>
              </a:rPr>
              <a:t>MEM.data</a:t>
            </a:r>
            <a:endParaRPr lang="zh-CN" altLang="en-US" sz="1400" b="1" dirty="0">
              <a:solidFill>
                <a:srgbClr val="0000FF"/>
              </a:solidFill>
            </a:endParaRPr>
          </a:p>
        </p:txBody>
      </p:sp>
      <p:sp>
        <p:nvSpPr>
          <p:cNvPr id="202" name="文本框 201"/>
          <p:cNvSpPr txBox="1"/>
          <p:nvPr/>
        </p:nvSpPr>
        <p:spPr>
          <a:xfrm>
            <a:off x="9392878" y="4584416"/>
            <a:ext cx="1257880" cy="400110"/>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96" name="文本框 195"/>
          <p:cNvSpPr txBox="1"/>
          <p:nvPr/>
        </p:nvSpPr>
        <p:spPr>
          <a:xfrm>
            <a:off x="5362915" y="2188407"/>
            <a:ext cx="940116" cy="369332"/>
          </a:xfrm>
          <a:prstGeom prst="rect">
            <a:avLst/>
          </a:prstGeom>
          <a:noFill/>
        </p:spPr>
        <p:txBody>
          <a:bodyPr wrap="square" rtlCol="0">
            <a:spAutoFit/>
          </a:bodyPr>
          <a:lstStyle/>
          <a:p>
            <a:r>
              <a:rPr lang="en-US" altLang="zh-CN" dirty="0">
                <a:solidFill>
                  <a:srgbClr val="0000FF"/>
                </a:solidFill>
              </a:rPr>
              <a:t>IF/</a:t>
            </a:r>
            <a:r>
              <a:rPr lang="en-US" altLang="zh-CN" dirty="0" err="1">
                <a:solidFill>
                  <a:srgbClr val="0000FF"/>
                </a:solidFill>
              </a:rPr>
              <a:t>ID.pc</a:t>
            </a:r>
            <a:endParaRPr lang="zh-CN" altLang="en-US" dirty="0">
              <a:solidFill>
                <a:srgbClr val="0000FF"/>
              </a:solidFill>
            </a:endParaRPr>
          </a:p>
        </p:txBody>
      </p:sp>
      <p:sp>
        <p:nvSpPr>
          <p:cNvPr id="197" name="文本框 196"/>
          <p:cNvSpPr txBox="1"/>
          <p:nvPr/>
        </p:nvSpPr>
        <p:spPr>
          <a:xfrm>
            <a:off x="6731850" y="2187999"/>
            <a:ext cx="1233362" cy="369332"/>
          </a:xfrm>
          <a:prstGeom prst="rect">
            <a:avLst/>
          </a:prstGeom>
          <a:noFill/>
        </p:spPr>
        <p:txBody>
          <a:bodyPr wrap="square" rtlCol="0">
            <a:spAutoFit/>
          </a:bodyPr>
          <a:lstStyle/>
          <a:p>
            <a:r>
              <a:rPr lang="en-US" altLang="zh-CN" dirty="0">
                <a:solidFill>
                  <a:srgbClr val="0000FF"/>
                </a:solidFill>
              </a:rPr>
              <a:t>ID/</a:t>
            </a:r>
            <a:r>
              <a:rPr lang="en-US" altLang="zh-CN" dirty="0" err="1">
                <a:solidFill>
                  <a:srgbClr val="0000FF"/>
                </a:solidFill>
              </a:rPr>
              <a:t>EX.pc</a:t>
            </a:r>
            <a:endParaRPr lang="zh-CN" altLang="en-US" dirty="0">
              <a:solidFill>
                <a:srgbClr val="0000FF"/>
              </a:solidFill>
            </a:endParaRPr>
          </a:p>
        </p:txBody>
      </p:sp>
    </p:spTree>
    <p:extLst>
      <p:ext uri="{BB962C8B-B14F-4D97-AF65-F5344CB8AC3E}">
        <p14:creationId xmlns:p14="http://schemas.microsoft.com/office/powerpoint/2010/main" val="9038590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323048" y="2684914"/>
            <a:ext cx="1726163" cy="2509040"/>
            <a:chOff x="4430052" y="3259320"/>
            <a:chExt cx="1726163" cy="2509040"/>
          </a:xfrm>
        </p:grpSpPr>
        <p:sp>
          <p:nvSpPr>
            <p:cNvPr id="37" name="矩形 36"/>
            <p:cNvSpPr/>
            <p:nvPr/>
          </p:nvSpPr>
          <p:spPr>
            <a:xfrm>
              <a:off x="4489029" y="3260530"/>
              <a:ext cx="1540655" cy="250783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5" name="矩形 144"/>
            <p:cNvSpPr/>
            <p:nvPr/>
          </p:nvSpPr>
          <p:spPr>
            <a:xfrm>
              <a:off x="4497505" y="3259320"/>
              <a:ext cx="770400" cy="2491200"/>
            </a:xfrm>
            <a:prstGeom prst="rect">
              <a:avLst/>
            </a:prstGeom>
            <a:solidFill>
              <a:srgbClr val="9CDCF9"/>
            </a:solidFill>
            <a:ln w="25400">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 name="文本框 37"/>
            <p:cNvSpPr txBox="1"/>
            <p:nvPr/>
          </p:nvSpPr>
          <p:spPr>
            <a:xfrm>
              <a:off x="4541959" y="4178478"/>
              <a:ext cx="1194558"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Registers</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0" name="文本框 39"/>
            <p:cNvSpPr txBox="1"/>
            <p:nvPr/>
          </p:nvSpPr>
          <p:spPr>
            <a:xfrm>
              <a:off x="4430052" y="3583235"/>
              <a:ext cx="1361899" cy="400110"/>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1" name="文本框 40"/>
            <p:cNvSpPr txBox="1"/>
            <p:nvPr/>
          </p:nvSpPr>
          <p:spPr>
            <a:xfrm>
              <a:off x="4433078" y="4918797"/>
              <a:ext cx="1222162" cy="400110"/>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reg</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2" name="文本框 41"/>
            <p:cNvSpPr txBox="1"/>
            <p:nvPr/>
          </p:nvSpPr>
          <p:spPr>
            <a:xfrm>
              <a:off x="4440438" y="5275547"/>
              <a:ext cx="1313882" cy="400110"/>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3" name="文本框 42"/>
            <p:cNvSpPr txBox="1"/>
            <p:nvPr/>
          </p:nvSpPr>
          <p:spPr>
            <a:xfrm>
              <a:off x="4734014" y="3904921"/>
              <a:ext cx="1403154" cy="400110"/>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4" name="文本框 43"/>
            <p:cNvSpPr txBox="1"/>
            <p:nvPr/>
          </p:nvSpPr>
          <p:spPr>
            <a:xfrm>
              <a:off x="4713913" y="4489911"/>
              <a:ext cx="1442302" cy="400110"/>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4" name="内容占位符 3"/>
          <p:cNvSpPr>
            <a:spLocks noGrp="1"/>
          </p:cNvSpPr>
          <p:nvPr>
            <p:ph idx="1"/>
          </p:nvPr>
        </p:nvSpPr>
        <p:spPr/>
        <p:txBody>
          <a:bodyPr/>
          <a:lstStyle/>
          <a:p>
            <a:pPr lvl="1"/>
            <a:endPar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a:p>
            <a:endParaRPr lang="zh-CN" altLang="en-US" dirty="0"/>
          </a:p>
        </p:txBody>
      </p:sp>
      <p:grpSp>
        <p:nvGrpSpPr>
          <p:cNvPr id="18" name="Instruction memory"/>
          <p:cNvGrpSpPr/>
          <p:nvPr/>
        </p:nvGrpSpPr>
        <p:grpSpPr>
          <a:xfrm>
            <a:off x="2083715" y="3563959"/>
            <a:ext cx="1142439" cy="1017764"/>
            <a:chOff x="2263385" y="3407372"/>
            <a:chExt cx="1470915" cy="1193839"/>
          </a:xfrm>
        </p:grpSpPr>
        <p:sp>
          <p:nvSpPr>
            <p:cNvPr id="8" name="矩形 7"/>
            <p:cNvSpPr/>
            <p:nvPr/>
          </p:nvSpPr>
          <p:spPr>
            <a:xfrm>
              <a:off x="2333823" y="3448051"/>
              <a:ext cx="1400477" cy="11531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 name="文本框 11"/>
            <p:cNvSpPr txBox="1"/>
            <p:nvPr/>
          </p:nvSpPr>
          <p:spPr>
            <a:xfrm>
              <a:off x="2263385" y="3407372"/>
              <a:ext cx="1319245"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15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0" name="PC"/>
          <p:cNvGrpSpPr/>
          <p:nvPr/>
        </p:nvGrpSpPr>
        <p:grpSpPr>
          <a:xfrm>
            <a:off x="1505549" y="3366245"/>
            <a:ext cx="508932" cy="707887"/>
            <a:chOff x="792726" y="4754327"/>
            <a:chExt cx="1018662" cy="607761"/>
          </a:xfrm>
        </p:grpSpPr>
        <p:sp>
          <p:nvSpPr>
            <p:cNvPr id="15" name="矩形 14"/>
            <p:cNvSpPr/>
            <p:nvPr/>
          </p:nvSpPr>
          <p:spPr>
            <a:xfrm>
              <a:off x="887030" y="4800600"/>
              <a:ext cx="639939" cy="50292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9" name="文本框 18"/>
            <p:cNvSpPr txBox="1"/>
            <p:nvPr/>
          </p:nvSpPr>
          <p:spPr>
            <a:xfrm>
              <a:off x="792726" y="4754327"/>
              <a:ext cx="1018662" cy="607761"/>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PC</a:t>
              </a:r>
              <a:endParaRPr kumimoji="0" lang="zh-CN" alt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4" name="Add"/>
          <p:cNvGrpSpPr/>
          <p:nvPr/>
        </p:nvGrpSpPr>
        <p:grpSpPr>
          <a:xfrm>
            <a:off x="2342293" y="2315417"/>
            <a:ext cx="655949" cy="822349"/>
            <a:chOff x="4656246" y="4140786"/>
            <a:chExt cx="743403" cy="964617"/>
          </a:xfrm>
        </p:grpSpPr>
        <p:sp>
          <p:nvSpPr>
            <p:cNvPr id="22" name="梯形 21"/>
            <p:cNvSpPr/>
            <p:nvPr/>
          </p:nvSpPr>
          <p:spPr>
            <a:xfrm rot="5400000">
              <a:off x="4538209" y="4329347"/>
              <a:ext cx="964617" cy="587495"/>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3" name="文本框 22"/>
            <p:cNvSpPr txBox="1"/>
            <p:nvPr/>
          </p:nvSpPr>
          <p:spPr>
            <a:xfrm>
              <a:off x="4656246" y="4371481"/>
              <a:ext cx="743403"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36" name="IF/ID"/>
          <p:cNvGrpSpPr/>
          <p:nvPr/>
        </p:nvGrpSpPr>
        <p:grpSpPr>
          <a:xfrm>
            <a:off x="3192896" y="1864848"/>
            <a:ext cx="797013" cy="4114272"/>
            <a:chOff x="116128" y="450828"/>
            <a:chExt cx="955165" cy="5944486"/>
          </a:xfrm>
        </p:grpSpPr>
        <p:sp>
          <p:nvSpPr>
            <p:cNvPr id="34" name="矩形 33"/>
            <p:cNvSpPr/>
            <p:nvPr/>
          </p:nvSpPr>
          <p:spPr>
            <a:xfrm>
              <a:off x="358141" y="937259"/>
              <a:ext cx="358140" cy="5458055"/>
            </a:xfrm>
            <a:prstGeom prst="rect">
              <a:avLst/>
            </a:prstGeom>
            <a:noFill/>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5" name="文本框 34"/>
            <p:cNvSpPr txBox="1"/>
            <p:nvPr/>
          </p:nvSpPr>
          <p:spPr>
            <a:xfrm>
              <a:off x="116128" y="450828"/>
              <a:ext cx="955165" cy="578097"/>
            </a:xfrm>
            <a:prstGeom prst="rect">
              <a:avLst/>
            </a:prstGeom>
            <a:ln w="25400">
              <a:noFill/>
            </a:ln>
          </p:spPr>
          <p:style>
            <a:lnRef idx="1">
              <a:schemeClr val="accent1"/>
            </a:lnRef>
            <a:fillRef idx="0">
              <a:schemeClr val="accent1"/>
            </a:fillRef>
            <a:effectRef idx="0">
              <a:schemeClr val="accent1"/>
            </a:effectRef>
            <a:fontRef idx="minor">
              <a:schemeClr val="tx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IF/ID</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39" name="文本框 38"/>
          <p:cNvSpPr txBox="1"/>
          <p:nvPr/>
        </p:nvSpPr>
        <p:spPr>
          <a:xfrm>
            <a:off x="4323341" y="2625512"/>
            <a:ext cx="1451557" cy="400110"/>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nvGrpSpPr>
          <p:cNvPr id="48" name="Imm Gen"/>
          <p:cNvGrpSpPr/>
          <p:nvPr/>
        </p:nvGrpSpPr>
        <p:grpSpPr>
          <a:xfrm>
            <a:off x="5120670" y="5361643"/>
            <a:ext cx="658095" cy="538474"/>
            <a:chOff x="4868693" y="6172575"/>
            <a:chExt cx="992993" cy="1215294"/>
          </a:xfrm>
        </p:grpSpPr>
        <p:sp>
          <p:nvSpPr>
            <p:cNvPr id="46" name="椭圆 45"/>
            <p:cNvSpPr/>
            <p:nvPr/>
          </p:nvSpPr>
          <p:spPr>
            <a:xfrm>
              <a:off x="4868693" y="6172575"/>
              <a:ext cx="984044" cy="1146747"/>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7" name="文本框 46"/>
            <p:cNvSpPr txBox="1"/>
            <p:nvPr/>
          </p:nvSpPr>
          <p:spPr>
            <a:xfrm>
              <a:off x="4895397" y="6339596"/>
              <a:ext cx="966289" cy="104827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Imm</a:t>
              </a: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Gen</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55" name="Add Sum"/>
          <p:cNvGrpSpPr/>
          <p:nvPr/>
        </p:nvGrpSpPr>
        <p:grpSpPr>
          <a:xfrm>
            <a:off x="7612463" y="2442887"/>
            <a:ext cx="655949" cy="768090"/>
            <a:chOff x="5634620" y="2480764"/>
            <a:chExt cx="1081993" cy="1475010"/>
          </a:xfrm>
        </p:grpSpPr>
        <p:sp>
          <p:nvSpPr>
            <p:cNvPr id="52" name="梯形 51"/>
            <p:cNvSpPr/>
            <p:nvPr/>
          </p:nvSpPr>
          <p:spPr>
            <a:xfrm rot="5400000">
              <a:off x="5424366" y="2770445"/>
              <a:ext cx="1475010" cy="895647"/>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4" name="文本框 53"/>
            <p:cNvSpPr txBox="1"/>
            <p:nvPr/>
          </p:nvSpPr>
          <p:spPr>
            <a:xfrm>
              <a:off x="5634620" y="2851177"/>
              <a:ext cx="1081993" cy="93914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Sum</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61" name="ALU"/>
          <p:cNvGrpSpPr/>
          <p:nvPr/>
        </p:nvGrpSpPr>
        <p:grpSpPr>
          <a:xfrm>
            <a:off x="7539387" y="3470140"/>
            <a:ext cx="880667" cy="1454509"/>
            <a:chOff x="6023805" y="3618922"/>
            <a:chExt cx="1295157" cy="1704463"/>
          </a:xfrm>
        </p:grpSpPr>
        <p:sp>
          <p:nvSpPr>
            <p:cNvPr id="57" name="梯形 56"/>
            <p:cNvSpPr/>
            <p:nvPr/>
          </p:nvSpPr>
          <p:spPr>
            <a:xfrm rot="5400000">
              <a:off x="5805450" y="3911167"/>
              <a:ext cx="1704463" cy="1119974"/>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8" name="文本框 57"/>
            <p:cNvSpPr txBox="1"/>
            <p:nvPr/>
          </p:nvSpPr>
          <p:spPr>
            <a:xfrm>
              <a:off x="6023805" y="3779478"/>
              <a:ext cx="1070760"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ALU</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9" name="文本框 58"/>
            <p:cNvSpPr txBox="1"/>
            <p:nvPr/>
          </p:nvSpPr>
          <p:spPr>
            <a:xfrm>
              <a:off x="6212840" y="4596488"/>
              <a:ext cx="1106122" cy="347668"/>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result</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60" name="文本框 59"/>
            <p:cNvSpPr txBox="1"/>
            <p:nvPr/>
          </p:nvSpPr>
          <p:spPr>
            <a:xfrm>
              <a:off x="6276821" y="4080452"/>
              <a:ext cx="983534"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Zero</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65" name="shift left 1"/>
          <p:cNvGrpSpPr/>
          <p:nvPr/>
        </p:nvGrpSpPr>
        <p:grpSpPr>
          <a:xfrm>
            <a:off x="6560684" y="2594855"/>
            <a:ext cx="774571" cy="682474"/>
            <a:chOff x="6107415" y="4133981"/>
            <a:chExt cx="1189523" cy="1146746"/>
          </a:xfrm>
        </p:grpSpPr>
        <p:sp>
          <p:nvSpPr>
            <p:cNvPr id="63" name="椭圆 62"/>
            <p:cNvSpPr/>
            <p:nvPr/>
          </p:nvSpPr>
          <p:spPr>
            <a:xfrm>
              <a:off x="6161866" y="4133981"/>
              <a:ext cx="984043" cy="1146746"/>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64" name="文本框 63"/>
            <p:cNvSpPr txBox="1"/>
            <p:nvPr/>
          </p:nvSpPr>
          <p:spPr>
            <a:xfrm>
              <a:off x="6107415" y="4371720"/>
              <a:ext cx="1189523" cy="821732"/>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Shift </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left 1</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72" name="Mux 3"/>
          <p:cNvGrpSpPr/>
          <p:nvPr/>
        </p:nvGrpSpPr>
        <p:grpSpPr>
          <a:xfrm>
            <a:off x="11106516" y="4378295"/>
            <a:ext cx="596486" cy="1321602"/>
            <a:chOff x="3628473" y="5448300"/>
            <a:chExt cx="839025" cy="1230515"/>
          </a:xfrm>
        </p:grpSpPr>
        <p:sp>
          <p:nvSpPr>
            <p:cNvPr id="73" name="mux"/>
            <p:cNvSpPr/>
            <p:nvPr/>
          </p:nvSpPr>
          <p:spPr>
            <a:xfrm rot="5400000">
              <a:off x="3386121" y="5744398"/>
              <a:ext cx="1230515" cy="638319"/>
            </a:xfrm>
            <a:prstGeom prst="flowChartTerminator">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4" name="文本框 73"/>
            <p:cNvSpPr txBox="1"/>
            <p:nvPr/>
          </p:nvSpPr>
          <p:spPr>
            <a:xfrm>
              <a:off x="3628473" y="5492154"/>
              <a:ext cx="260679"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5" name="文本框 74"/>
            <p:cNvSpPr txBox="1"/>
            <p:nvPr/>
          </p:nvSpPr>
          <p:spPr>
            <a:xfrm>
              <a:off x="3641695" y="6293721"/>
              <a:ext cx="404061" cy="35667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6" name="文本框 75"/>
            <p:cNvSpPr txBox="1"/>
            <p:nvPr/>
          </p:nvSpPr>
          <p:spPr>
            <a:xfrm>
              <a:off x="3867268" y="5599309"/>
              <a:ext cx="600230" cy="1070017"/>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90" name="Data memory"/>
          <p:cNvGrpSpPr/>
          <p:nvPr/>
        </p:nvGrpSpPr>
        <p:grpSpPr>
          <a:xfrm>
            <a:off x="9126810" y="3714624"/>
            <a:ext cx="1417516" cy="1635472"/>
            <a:chOff x="14770965" y="4726326"/>
            <a:chExt cx="3011394" cy="3362560"/>
          </a:xfrm>
        </p:grpSpPr>
        <p:sp>
          <p:nvSpPr>
            <p:cNvPr id="82" name="矩形 81"/>
            <p:cNvSpPr/>
            <p:nvPr/>
          </p:nvSpPr>
          <p:spPr>
            <a:xfrm>
              <a:off x="14919092" y="4726326"/>
              <a:ext cx="2551866" cy="33625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3" name="文本框 82"/>
            <p:cNvSpPr txBox="1"/>
            <p:nvPr/>
          </p:nvSpPr>
          <p:spPr>
            <a:xfrm>
              <a:off x="14893548" y="4778415"/>
              <a:ext cx="2622003" cy="100548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Data </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memory</a:t>
              </a:r>
            </a:p>
          </p:txBody>
        </p:sp>
        <p:sp>
          <p:nvSpPr>
            <p:cNvPr id="84" name="文本框 83"/>
            <p:cNvSpPr txBox="1"/>
            <p:nvPr/>
          </p:nvSpPr>
          <p:spPr>
            <a:xfrm>
              <a:off x="14776597" y="5875439"/>
              <a:ext cx="2291814"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7" name="文本框 86"/>
            <p:cNvSpPr txBox="1"/>
            <p:nvPr/>
          </p:nvSpPr>
          <p:spPr>
            <a:xfrm>
              <a:off x="14770965" y="7263927"/>
              <a:ext cx="2654424"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8" name="文本框 87"/>
            <p:cNvSpPr txBox="1"/>
            <p:nvPr/>
          </p:nvSpPr>
          <p:spPr>
            <a:xfrm>
              <a:off x="15110098" y="6521639"/>
              <a:ext cx="2672261"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101" name="矩形 100"/>
          <p:cNvSpPr/>
          <p:nvPr/>
        </p:nvSpPr>
        <p:spPr>
          <a:xfrm>
            <a:off x="6228100" y="2209163"/>
            <a:ext cx="316009" cy="3769417"/>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11" name="矩形 110"/>
          <p:cNvSpPr/>
          <p:nvPr/>
        </p:nvSpPr>
        <p:spPr>
          <a:xfrm>
            <a:off x="8605845" y="2213913"/>
            <a:ext cx="291194" cy="3754340"/>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1" name="矩形 120"/>
          <p:cNvSpPr/>
          <p:nvPr/>
        </p:nvSpPr>
        <p:spPr>
          <a:xfrm>
            <a:off x="10607676" y="2200478"/>
            <a:ext cx="300877" cy="3767775"/>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160" name="直接连接符 159"/>
          <p:cNvCxnSpPr/>
          <p:nvPr/>
        </p:nvCxnSpPr>
        <p:spPr>
          <a:xfrm flipV="1">
            <a:off x="3693678" y="2524691"/>
            <a:ext cx="2534421" cy="109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直接连接符 160"/>
          <p:cNvCxnSpPr/>
          <p:nvPr/>
        </p:nvCxnSpPr>
        <p:spPr>
          <a:xfrm>
            <a:off x="1872383" y="3726715"/>
            <a:ext cx="25830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直接连接符 161"/>
          <p:cNvCxnSpPr>
            <a:stCxn id="8" idx="3"/>
            <a:endCxn id="34" idx="1"/>
          </p:cNvCxnSpPr>
          <p:nvPr/>
        </p:nvCxnSpPr>
        <p:spPr>
          <a:xfrm>
            <a:off x="3226154" y="4090181"/>
            <a:ext cx="168684" cy="1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直接连接符 162"/>
          <p:cNvCxnSpPr>
            <a:stCxn id="22" idx="0"/>
          </p:cNvCxnSpPr>
          <p:nvPr/>
        </p:nvCxnSpPr>
        <p:spPr>
          <a:xfrm flipV="1">
            <a:off x="2922905" y="2724704"/>
            <a:ext cx="82559" cy="18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a:off x="1960987" y="2451599"/>
            <a:ext cx="43729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flipH="1">
            <a:off x="1960987" y="2442887"/>
            <a:ext cx="3782" cy="1271738"/>
          </a:xfrm>
          <a:prstGeom prst="line">
            <a:avLst/>
          </a:prstGeom>
          <a:ln w="25400">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2996586" y="2034785"/>
            <a:ext cx="0" cy="6899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a:stCxn id="52" idx="0"/>
          </p:cNvCxnSpPr>
          <p:nvPr/>
        </p:nvCxnSpPr>
        <p:spPr>
          <a:xfrm flipV="1">
            <a:off x="8203601" y="2826932"/>
            <a:ext cx="404306"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直接连接符 187"/>
          <p:cNvCxnSpPr/>
          <p:nvPr/>
        </p:nvCxnSpPr>
        <p:spPr>
          <a:xfrm>
            <a:off x="707462" y="2034785"/>
            <a:ext cx="22980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a:off x="707462" y="2034785"/>
            <a:ext cx="0" cy="13869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a:off x="4001920" y="2856655"/>
            <a:ext cx="409392"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3988663" y="3209506"/>
            <a:ext cx="395373"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a:off x="5927271" y="3665026"/>
            <a:ext cx="30542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a:xfrm>
            <a:off x="5927272" y="4106408"/>
            <a:ext cx="29581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6" name="直接连接符 215"/>
          <p:cNvCxnSpPr/>
          <p:nvPr/>
        </p:nvCxnSpPr>
        <p:spPr>
          <a:xfrm>
            <a:off x="3979925" y="5615943"/>
            <a:ext cx="1143140"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18" name="直接连接符 217"/>
          <p:cNvCxnSpPr/>
          <p:nvPr/>
        </p:nvCxnSpPr>
        <p:spPr>
          <a:xfrm flipV="1">
            <a:off x="5775229" y="5599427"/>
            <a:ext cx="457463" cy="719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1" name="直接连接符 260"/>
          <p:cNvCxnSpPr/>
          <p:nvPr/>
        </p:nvCxnSpPr>
        <p:spPr>
          <a:xfrm>
            <a:off x="7266373" y="2949425"/>
            <a:ext cx="36100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3" name="直接连接符 262"/>
          <p:cNvCxnSpPr/>
          <p:nvPr/>
        </p:nvCxnSpPr>
        <p:spPr>
          <a:xfrm>
            <a:off x="6552616" y="3690557"/>
            <a:ext cx="103718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2" name="Mux 3"/>
          <p:cNvGrpSpPr/>
          <p:nvPr/>
        </p:nvGrpSpPr>
        <p:grpSpPr>
          <a:xfrm>
            <a:off x="837638" y="3210287"/>
            <a:ext cx="615567" cy="1168007"/>
            <a:chOff x="3339670" y="5460516"/>
            <a:chExt cx="901073" cy="1230515"/>
          </a:xfrm>
        </p:grpSpPr>
        <p:sp>
          <p:nvSpPr>
            <p:cNvPr id="133" name="mux"/>
            <p:cNvSpPr/>
            <p:nvPr/>
          </p:nvSpPr>
          <p:spPr>
            <a:xfrm rot="5400000">
              <a:off x="3140776" y="5731027"/>
              <a:ext cx="1230515" cy="689494"/>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4" name="文本框 133"/>
            <p:cNvSpPr txBox="1"/>
            <p:nvPr/>
          </p:nvSpPr>
          <p:spPr>
            <a:xfrm>
              <a:off x="3365437" y="5514581"/>
              <a:ext cx="260684"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5" name="文本框 134"/>
            <p:cNvSpPr txBox="1"/>
            <p:nvPr/>
          </p:nvSpPr>
          <p:spPr>
            <a:xfrm>
              <a:off x="3339670" y="6240974"/>
              <a:ext cx="324022"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6" name="文本框 135"/>
            <p:cNvSpPr txBox="1"/>
            <p:nvPr/>
          </p:nvSpPr>
          <p:spPr>
            <a:xfrm>
              <a:off x="3616106" y="5588478"/>
              <a:ext cx="624637" cy="107001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52" name="直接连接符 151"/>
          <p:cNvCxnSpPr/>
          <p:nvPr/>
        </p:nvCxnSpPr>
        <p:spPr>
          <a:xfrm>
            <a:off x="8358216" y="4428928"/>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a:off x="8908902" y="4438893"/>
            <a:ext cx="28232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a:off x="8888731" y="5053950"/>
            <a:ext cx="3068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10406491" y="4668322"/>
            <a:ext cx="20911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56" name="Mux 3"/>
          <p:cNvGrpSpPr/>
          <p:nvPr/>
        </p:nvGrpSpPr>
        <p:grpSpPr>
          <a:xfrm>
            <a:off x="6903912" y="3807761"/>
            <a:ext cx="482064" cy="1168006"/>
            <a:chOff x="3558568" y="5448300"/>
            <a:chExt cx="706348" cy="1230515"/>
          </a:xfrm>
        </p:grpSpPr>
        <p:sp>
          <p:nvSpPr>
            <p:cNvPr id="157" name="mux"/>
            <p:cNvSpPr/>
            <p:nvPr/>
          </p:nvSpPr>
          <p:spPr>
            <a:xfrm rot="5400000">
              <a:off x="3332723" y="5746622"/>
              <a:ext cx="1230515" cy="633871"/>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8" name="文本框 157"/>
            <p:cNvSpPr txBox="1"/>
            <p:nvPr/>
          </p:nvSpPr>
          <p:spPr>
            <a:xfrm>
              <a:off x="3571052" y="5580627"/>
              <a:ext cx="260683"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9" name="文本框 158"/>
            <p:cNvSpPr txBox="1"/>
            <p:nvPr/>
          </p:nvSpPr>
          <p:spPr>
            <a:xfrm>
              <a:off x="3558568" y="6264229"/>
              <a:ext cx="408929" cy="34293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6" name="文本框 165"/>
            <p:cNvSpPr txBox="1"/>
            <p:nvPr/>
          </p:nvSpPr>
          <p:spPr>
            <a:xfrm>
              <a:off x="3747999" y="5579240"/>
              <a:ext cx="462611" cy="1070019"/>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68" name="直接连接符 167"/>
          <p:cNvCxnSpPr/>
          <p:nvPr/>
        </p:nvCxnSpPr>
        <p:spPr>
          <a:xfrm flipV="1">
            <a:off x="1365737" y="3720322"/>
            <a:ext cx="178001" cy="5"/>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a:xfrm>
            <a:off x="2203751" y="2913805"/>
            <a:ext cx="18646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a:off x="6552616" y="2519419"/>
            <a:ext cx="1083649" cy="7422"/>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flipH="1">
            <a:off x="6775294" y="3261606"/>
            <a:ext cx="22498" cy="19552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a:off x="6552616" y="5216856"/>
            <a:ext cx="24517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a:off x="6552616" y="4106408"/>
            <a:ext cx="40077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a:off x="6787157" y="4762087"/>
            <a:ext cx="182537" cy="853"/>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a:off x="6674320" y="5053948"/>
            <a:ext cx="1931532"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a:off x="6674320" y="4106408"/>
            <a:ext cx="1766" cy="947540"/>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a:off x="9009253" y="4435331"/>
            <a:ext cx="0" cy="1068388"/>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flipV="1">
            <a:off x="9009253" y="5497920"/>
            <a:ext cx="1599091" cy="572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1" name="直接连接符 270"/>
          <p:cNvCxnSpPr/>
          <p:nvPr/>
        </p:nvCxnSpPr>
        <p:spPr>
          <a:xfrm>
            <a:off x="10899219" y="5487455"/>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3" name="直接连接符 272"/>
          <p:cNvCxnSpPr/>
          <p:nvPr/>
        </p:nvCxnSpPr>
        <p:spPr>
          <a:xfrm>
            <a:off x="7385977" y="4572160"/>
            <a:ext cx="21340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5" name="文本框 284"/>
          <p:cNvSpPr txBox="1"/>
          <p:nvPr/>
        </p:nvSpPr>
        <p:spPr>
          <a:xfrm>
            <a:off x="1932581" y="4115138"/>
            <a:ext cx="1500650" cy="48904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 memory</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361" name="直接连接符 360"/>
          <p:cNvCxnSpPr>
            <a:endCxn id="76" idx="3"/>
          </p:cNvCxnSpPr>
          <p:nvPr/>
        </p:nvCxnSpPr>
        <p:spPr>
          <a:xfrm>
            <a:off x="11570314" y="5155284"/>
            <a:ext cx="132688" cy="27775"/>
          </a:xfrm>
          <a:prstGeom prst="line">
            <a:avLst/>
          </a:prstGeom>
          <a:ln w="25400">
            <a:noFill/>
          </a:ln>
        </p:spPr>
        <p:style>
          <a:lnRef idx="1">
            <a:schemeClr val="accent1"/>
          </a:lnRef>
          <a:fillRef idx="0">
            <a:schemeClr val="accent1"/>
          </a:fillRef>
          <a:effectRef idx="0">
            <a:schemeClr val="accent1"/>
          </a:effectRef>
          <a:fontRef idx="minor">
            <a:schemeClr val="tx1"/>
          </a:fontRef>
        </p:style>
      </p:cxnSp>
      <p:cxnSp>
        <p:nvCxnSpPr>
          <p:cNvPr id="362" name="直接连接符 361"/>
          <p:cNvCxnSpPr/>
          <p:nvPr/>
        </p:nvCxnSpPr>
        <p:spPr>
          <a:xfrm flipH="1">
            <a:off x="11766581" y="5137194"/>
            <a:ext cx="14406" cy="9965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8" name="直接连接符 367"/>
          <p:cNvCxnSpPr/>
          <p:nvPr/>
        </p:nvCxnSpPr>
        <p:spPr>
          <a:xfrm>
            <a:off x="4134620" y="4838859"/>
            <a:ext cx="0" cy="13086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2" name="直接连接符 371"/>
          <p:cNvCxnSpPr/>
          <p:nvPr/>
        </p:nvCxnSpPr>
        <p:spPr>
          <a:xfrm>
            <a:off x="4131261" y="4838859"/>
            <a:ext cx="247455" cy="48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7" name="直接连接符 376"/>
          <p:cNvCxnSpPr/>
          <p:nvPr/>
        </p:nvCxnSpPr>
        <p:spPr>
          <a:xfrm>
            <a:off x="536795" y="1789030"/>
            <a:ext cx="89899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8" name="直接连接符 387"/>
          <p:cNvCxnSpPr/>
          <p:nvPr/>
        </p:nvCxnSpPr>
        <p:spPr>
          <a:xfrm>
            <a:off x="536795" y="1798073"/>
            <a:ext cx="0" cy="23336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5" name="直接连接符 394"/>
          <p:cNvCxnSpPr/>
          <p:nvPr/>
        </p:nvCxnSpPr>
        <p:spPr>
          <a:xfrm>
            <a:off x="695044" y="3420134"/>
            <a:ext cx="165348" cy="65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7" name="直接连接符 396"/>
          <p:cNvCxnSpPr/>
          <p:nvPr/>
        </p:nvCxnSpPr>
        <p:spPr>
          <a:xfrm>
            <a:off x="527464" y="4127359"/>
            <a:ext cx="332520"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4" name="直接连接符 403"/>
          <p:cNvCxnSpPr/>
          <p:nvPr/>
        </p:nvCxnSpPr>
        <p:spPr>
          <a:xfrm>
            <a:off x="9526766" y="1789030"/>
            <a:ext cx="0" cy="10197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7" name="直接连接符 406"/>
          <p:cNvCxnSpPr/>
          <p:nvPr/>
        </p:nvCxnSpPr>
        <p:spPr>
          <a:xfrm flipV="1">
            <a:off x="8900322" y="2816773"/>
            <a:ext cx="641869" cy="51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923127" y="2723359"/>
            <a:ext cx="20135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4</a:t>
            </a:r>
            <a:endParaRPr kumimoji="0" lang="zh-CN" altLang="en-US"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cxnSp>
        <p:nvCxnSpPr>
          <p:cNvPr id="247" name="直接连接符 246"/>
          <p:cNvCxnSpPr/>
          <p:nvPr/>
        </p:nvCxnSpPr>
        <p:spPr>
          <a:xfrm>
            <a:off x="11618906" y="5137194"/>
            <a:ext cx="16208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a:xfrm>
            <a:off x="3979925" y="2854594"/>
            <a:ext cx="0" cy="27611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a:off x="8358216" y="4028332"/>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a:off x="8899393" y="4038103"/>
            <a:ext cx="18594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直接连接符 216"/>
          <p:cNvCxnSpPr/>
          <p:nvPr/>
        </p:nvCxnSpPr>
        <p:spPr>
          <a:xfrm>
            <a:off x="3989135" y="4496782"/>
            <a:ext cx="389581" cy="1331"/>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99" name="连接符: 肘形 98"/>
          <p:cNvCxnSpPr/>
          <p:nvPr/>
        </p:nvCxnSpPr>
        <p:spPr>
          <a:xfrm flipV="1">
            <a:off x="1974953" y="2535605"/>
            <a:ext cx="1431289" cy="730238"/>
          </a:xfrm>
          <a:prstGeom prst="bentConnector3">
            <a:avLst>
              <a:gd name="adj1" fmla="val 82595"/>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238" name="文本框 237"/>
          <p:cNvSpPr txBox="1"/>
          <p:nvPr/>
        </p:nvSpPr>
        <p:spPr>
          <a:xfrm rot="10800000">
            <a:off x="3621555" y="2316804"/>
            <a:ext cx="430887" cy="1436503"/>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40" name="文本框 239"/>
          <p:cNvSpPr txBox="1"/>
          <p:nvPr/>
        </p:nvSpPr>
        <p:spPr>
          <a:xfrm>
            <a:off x="4550412" y="5629699"/>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32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64" name="文本框 263"/>
          <p:cNvSpPr txBox="1"/>
          <p:nvPr/>
        </p:nvSpPr>
        <p:spPr>
          <a:xfrm>
            <a:off x="5776297" y="5601422"/>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64</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245" name="直接连接符 244"/>
          <p:cNvCxnSpPr/>
          <p:nvPr/>
        </p:nvCxnSpPr>
        <p:spPr>
          <a:xfrm>
            <a:off x="4677170" y="5543300"/>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7" name="直接连接符 266"/>
          <p:cNvCxnSpPr/>
          <p:nvPr/>
        </p:nvCxnSpPr>
        <p:spPr>
          <a:xfrm>
            <a:off x="5905752" y="5537823"/>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V="1">
            <a:off x="4121166" y="6133716"/>
            <a:ext cx="7659820" cy="137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a:off x="10908553" y="4673636"/>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a:off x="3693678" y="4098307"/>
            <a:ext cx="286247" cy="8101"/>
          </a:xfrm>
          <a:prstGeom prst="line">
            <a:avLst/>
          </a:prstGeom>
          <a:ln w="2540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WB for Load</a:t>
            </a:r>
            <a:endParaRPr lang="zh-CN" altLang="en-US" dirty="0"/>
          </a:p>
        </p:txBody>
      </p:sp>
      <p:grpSp>
        <p:nvGrpSpPr>
          <p:cNvPr id="130" name="组合 129"/>
          <p:cNvGrpSpPr/>
          <p:nvPr/>
        </p:nvGrpSpPr>
        <p:grpSpPr>
          <a:xfrm>
            <a:off x="10592485" y="1207589"/>
            <a:ext cx="1205529" cy="665157"/>
            <a:chOff x="1613177" y="1509972"/>
            <a:chExt cx="2034915" cy="665157"/>
          </a:xfrm>
        </p:grpSpPr>
        <p:cxnSp>
          <p:nvCxnSpPr>
            <p:cNvPr id="139" name="直接连接符 138"/>
            <p:cNvCxnSpPr/>
            <p:nvPr/>
          </p:nvCxnSpPr>
          <p:spPr>
            <a:xfrm>
              <a:off x="1659668"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a:off x="3648092"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p:nvCxnSpPr>
          <p:spPr>
            <a:xfrm>
              <a:off x="1659668" y="1838984"/>
              <a:ext cx="19856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2" name="文本框 141"/>
            <p:cNvSpPr txBox="1"/>
            <p:nvPr/>
          </p:nvSpPr>
          <p:spPr>
            <a:xfrm>
              <a:off x="2127256" y="1509972"/>
              <a:ext cx="105052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Id</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3" name="文本框 142"/>
            <p:cNvSpPr txBox="1"/>
            <p:nvPr/>
          </p:nvSpPr>
          <p:spPr>
            <a:xfrm>
              <a:off x="1613177" y="1805797"/>
              <a:ext cx="20321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rPr>
                <a:t>Write-back</a:t>
              </a:r>
              <a:endParaRPr kumimoji="0" lang="zh-CN" altLang="en-US" sz="18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144" name="矩形 143"/>
          <p:cNvSpPr/>
          <p:nvPr/>
        </p:nvSpPr>
        <p:spPr>
          <a:xfrm>
            <a:off x="10756759" y="2209359"/>
            <a:ext cx="147600" cy="3744000"/>
          </a:xfrm>
          <a:prstGeom prst="rect">
            <a:avLst/>
          </a:prstGeom>
          <a:solidFill>
            <a:srgbClr val="9CDCF9"/>
          </a:soli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6" name="AutoShape 5"/>
          <p:cNvSpPr/>
          <p:nvPr/>
        </p:nvSpPr>
        <p:spPr bwMode="auto">
          <a:xfrm>
            <a:off x="820781" y="5237789"/>
            <a:ext cx="2359934" cy="816967"/>
          </a:xfrm>
          <a:prstGeom prst="borderCallout1">
            <a:avLst>
              <a:gd name="adj1" fmla="val 26253"/>
              <a:gd name="adj2" fmla="val 100767"/>
              <a:gd name="adj3" fmla="val -69368"/>
              <a:gd name="adj4" fmla="val 147056"/>
            </a:avLst>
          </a:prstGeom>
          <a:solidFill>
            <a:schemeClr val="accent1">
              <a:lumMod val="20000"/>
              <a:lumOff val="80000"/>
            </a:schemeClr>
          </a:solidFill>
          <a:ln w="12700">
            <a:solidFill>
              <a:schemeClr val="tx1"/>
            </a:solidFill>
            <a:miter lim="800000"/>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写回的寄存器编号不正确！</a:t>
            </a:r>
            <a:endParaRPr kumimoji="0" lang="en-AU" altLang="en-US" sz="2400"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endParaRPr>
          </a:p>
        </p:txBody>
      </p:sp>
      <p:sp>
        <p:nvSpPr>
          <p:cNvPr id="147" name="Oval 4"/>
          <p:cNvSpPr>
            <a:spLocks noChangeArrowheads="1"/>
          </p:cNvSpPr>
          <p:nvPr/>
        </p:nvSpPr>
        <p:spPr bwMode="auto">
          <a:xfrm>
            <a:off x="4213455" y="4316723"/>
            <a:ext cx="944323" cy="474904"/>
          </a:xfrm>
          <a:prstGeom prst="ellipse">
            <a:avLst/>
          </a:prstGeom>
          <a:noFill/>
          <a:ln w="1905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48" name="文本框 147"/>
          <p:cNvSpPr txBox="1"/>
          <p:nvPr/>
        </p:nvSpPr>
        <p:spPr>
          <a:xfrm>
            <a:off x="5937400" y="1869849"/>
            <a:ext cx="898003"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ID/EX</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9" name="文本框 148"/>
          <p:cNvSpPr txBox="1"/>
          <p:nvPr/>
        </p:nvSpPr>
        <p:spPr>
          <a:xfrm>
            <a:off x="8123013" y="1817223"/>
            <a:ext cx="1268296"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EX/MEM</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0" name="文本框 149"/>
          <p:cNvSpPr txBox="1"/>
          <p:nvPr/>
        </p:nvSpPr>
        <p:spPr>
          <a:xfrm>
            <a:off x="10101053" y="1831169"/>
            <a:ext cx="1338828"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MEM/WB</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1" name="灯片编号占位符 1"/>
          <p:cNvSpPr>
            <a:spLocks noGrp="1"/>
          </p:cNvSpPr>
          <p:nvPr>
            <p:ph type="sldNum" sz="quarter" idx="12"/>
          </p:nvPr>
        </p:nvSpPr>
        <p:spPr>
          <a:xfrm>
            <a:off x="8940542" y="648279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nvGrpSpPr>
          <p:cNvPr id="165" name="组合 164">
            <a:extLst>
              <a:ext uri="{FF2B5EF4-FFF2-40B4-BE49-F238E27FC236}">
                <a16:creationId xmlns:a16="http://schemas.microsoft.com/office/drawing/2014/main" id="{FD09E3E2-A867-4F30-94F4-6C7024593A1C}"/>
              </a:ext>
            </a:extLst>
          </p:cNvPr>
          <p:cNvGrpSpPr/>
          <p:nvPr/>
        </p:nvGrpSpPr>
        <p:grpSpPr>
          <a:xfrm>
            <a:off x="3347368" y="5875710"/>
            <a:ext cx="635647" cy="606462"/>
            <a:chOff x="7319483" y="6149946"/>
            <a:chExt cx="635647" cy="606462"/>
          </a:xfrm>
        </p:grpSpPr>
        <p:sp>
          <p:nvSpPr>
            <p:cNvPr id="169" name="等腰三角形 168">
              <a:extLst>
                <a:ext uri="{FF2B5EF4-FFF2-40B4-BE49-F238E27FC236}">
                  <a16:creationId xmlns:a16="http://schemas.microsoft.com/office/drawing/2014/main" id="{857EB051-DDAB-4C17-81F8-F9EEFE09237B}"/>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连接符 169">
              <a:extLst>
                <a:ext uri="{FF2B5EF4-FFF2-40B4-BE49-F238E27FC236}">
                  <a16:creationId xmlns:a16="http://schemas.microsoft.com/office/drawing/2014/main" id="{BE75AF25-D28B-4244-AB41-EF5E80ADB0CB}"/>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71" name="文本框 170">
              <a:extLst>
                <a:ext uri="{FF2B5EF4-FFF2-40B4-BE49-F238E27FC236}">
                  <a16:creationId xmlns:a16="http://schemas.microsoft.com/office/drawing/2014/main" id="{39DFEC39-A6D5-4FAE-8098-EA98946BC552}"/>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2" name="组合 171">
            <a:extLst>
              <a:ext uri="{FF2B5EF4-FFF2-40B4-BE49-F238E27FC236}">
                <a16:creationId xmlns:a16="http://schemas.microsoft.com/office/drawing/2014/main" id="{4398E20F-E76B-4C30-B4DF-FCC2B75443C4}"/>
              </a:ext>
            </a:extLst>
          </p:cNvPr>
          <p:cNvGrpSpPr/>
          <p:nvPr/>
        </p:nvGrpSpPr>
        <p:grpSpPr>
          <a:xfrm>
            <a:off x="6187732" y="5874826"/>
            <a:ext cx="635647" cy="606462"/>
            <a:chOff x="7319483" y="6149946"/>
            <a:chExt cx="635647" cy="606462"/>
          </a:xfrm>
        </p:grpSpPr>
        <p:sp>
          <p:nvSpPr>
            <p:cNvPr id="173" name="等腰三角形 172">
              <a:extLst>
                <a:ext uri="{FF2B5EF4-FFF2-40B4-BE49-F238E27FC236}">
                  <a16:creationId xmlns:a16="http://schemas.microsoft.com/office/drawing/2014/main" id="{69887FD8-814F-4949-84C5-4A938C0A0E41}"/>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5" name="直接连接符 174">
              <a:extLst>
                <a:ext uri="{FF2B5EF4-FFF2-40B4-BE49-F238E27FC236}">
                  <a16:creationId xmlns:a16="http://schemas.microsoft.com/office/drawing/2014/main" id="{916A3F84-2560-4B96-BB97-DDD1932484D1}"/>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76" name="文本框 175">
              <a:extLst>
                <a:ext uri="{FF2B5EF4-FFF2-40B4-BE49-F238E27FC236}">
                  <a16:creationId xmlns:a16="http://schemas.microsoft.com/office/drawing/2014/main" id="{250F7179-183C-4BE2-AB82-BBFA12CEDBDB}"/>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8" name="组合 177">
            <a:extLst>
              <a:ext uri="{FF2B5EF4-FFF2-40B4-BE49-F238E27FC236}">
                <a16:creationId xmlns:a16="http://schemas.microsoft.com/office/drawing/2014/main" id="{C3AEB813-49F7-4DAF-A90A-8106313F4BB2}"/>
              </a:ext>
            </a:extLst>
          </p:cNvPr>
          <p:cNvGrpSpPr/>
          <p:nvPr/>
        </p:nvGrpSpPr>
        <p:grpSpPr>
          <a:xfrm>
            <a:off x="8553099" y="5867035"/>
            <a:ext cx="635647" cy="606462"/>
            <a:chOff x="7319483" y="6149946"/>
            <a:chExt cx="635647" cy="606462"/>
          </a:xfrm>
        </p:grpSpPr>
        <p:sp>
          <p:nvSpPr>
            <p:cNvPr id="179" name="等腰三角形 178">
              <a:extLst>
                <a:ext uri="{FF2B5EF4-FFF2-40B4-BE49-F238E27FC236}">
                  <a16:creationId xmlns:a16="http://schemas.microsoft.com/office/drawing/2014/main" id="{330D5768-73F9-454E-B598-3D9CB3A847CB}"/>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0" name="直接连接符 179">
              <a:extLst>
                <a:ext uri="{FF2B5EF4-FFF2-40B4-BE49-F238E27FC236}">
                  <a16:creationId xmlns:a16="http://schemas.microsoft.com/office/drawing/2014/main" id="{B8534BF0-F214-48EC-A76F-F2B8365F2036}"/>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81" name="文本框 180">
              <a:extLst>
                <a:ext uri="{FF2B5EF4-FFF2-40B4-BE49-F238E27FC236}">
                  <a16:creationId xmlns:a16="http://schemas.microsoft.com/office/drawing/2014/main" id="{AECB8A54-F9F2-4759-ABAE-C4E15C49FC11}"/>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82" name="组合 181">
            <a:extLst>
              <a:ext uri="{FF2B5EF4-FFF2-40B4-BE49-F238E27FC236}">
                <a16:creationId xmlns:a16="http://schemas.microsoft.com/office/drawing/2014/main" id="{1665E449-3E8D-4C68-AAAD-B91672DD9E42}"/>
              </a:ext>
            </a:extLst>
          </p:cNvPr>
          <p:cNvGrpSpPr/>
          <p:nvPr/>
        </p:nvGrpSpPr>
        <p:grpSpPr>
          <a:xfrm>
            <a:off x="10559603" y="5867035"/>
            <a:ext cx="635647" cy="606462"/>
            <a:chOff x="7319483" y="6149946"/>
            <a:chExt cx="635647" cy="606462"/>
          </a:xfrm>
        </p:grpSpPr>
        <p:sp>
          <p:nvSpPr>
            <p:cNvPr id="183" name="等腰三角形 182">
              <a:extLst>
                <a:ext uri="{FF2B5EF4-FFF2-40B4-BE49-F238E27FC236}">
                  <a16:creationId xmlns:a16="http://schemas.microsoft.com/office/drawing/2014/main" id="{6ECD55A9-1A8F-4293-8471-C1395BEF0567}"/>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4" name="直接连接符 183">
              <a:extLst>
                <a:ext uri="{FF2B5EF4-FFF2-40B4-BE49-F238E27FC236}">
                  <a16:creationId xmlns:a16="http://schemas.microsoft.com/office/drawing/2014/main" id="{09C3EA82-254A-47E2-987D-58434B0ABC12}"/>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85" name="文本框 184">
              <a:extLst>
                <a:ext uri="{FF2B5EF4-FFF2-40B4-BE49-F238E27FC236}">
                  <a16:creationId xmlns:a16="http://schemas.microsoft.com/office/drawing/2014/main" id="{8974E86A-6099-428D-B27A-81B2FDD6879A}"/>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
        <p:nvSpPr>
          <p:cNvPr id="187" name="文本框 186"/>
          <p:cNvSpPr txBox="1"/>
          <p:nvPr/>
        </p:nvSpPr>
        <p:spPr>
          <a:xfrm rot="5400000">
            <a:off x="10029676" y="5083341"/>
            <a:ext cx="1623670" cy="307777"/>
          </a:xfrm>
          <a:prstGeom prst="rect">
            <a:avLst/>
          </a:prstGeom>
          <a:noFill/>
        </p:spPr>
        <p:txBody>
          <a:bodyPr wrap="square" rtlCol="0">
            <a:spAutoFit/>
          </a:bodyPr>
          <a:lstStyle/>
          <a:p>
            <a:r>
              <a:rPr lang="en-US" altLang="zh-CN" sz="1400" b="1" dirty="0">
                <a:solidFill>
                  <a:srgbClr val="C00000"/>
                </a:solidFill>
              </a:rPr>
              <a:t>MEM/</a:t>
            </a:r>
            <a:r>
              <a:rPr lang="en-US" altLang="zh-CN" sz="1400" b="1" dirty="0" err="1">
                <a:solidFill>
                  <a:srgbClr val="C00000"/>
                </a:solidFill>
              </a:rPr>
              <a:t>WB.result</a:t>
            </a:r>
            <a:endParaRPr lang="zh-CN" altLang="en-US" sz="1400" b="1" dirty="0">
              <a:solidFill>
                <a:srgbClr val="C00000"/>
              </a:solidFill>
            </a:endParaRPr>
          </a:p>
        </p:txBody>
      </p:sp>
      <p:sp>
        <p:nvSpPr>
          <p:cNvPr id="189" name="文本框 188"/>
          <p:cNvSpPr txBox="1"/>
          <p:nvPr/>
        </p:nvSpPr>
        <p:spPr>
          <a:xfrm rot="5400000">
            <a:off x="10121104" y="3428498"/>
            <a:ext cx="1475753" cy="307777"/>
          </a:xfrm>
          <a:prstGeom prst="rect">
            <a:avLst/>
          </a:prstGeom>
          <a:noFill/>
        </p:spPr>
        <p:txBody>
          <a:bodyPr wrap="square" rtlCol="0">
            <a:spAutoFit/>
          </a:bodyPr>
          <a:lstStyle/>
          <a:p>
            <a:r>
              <a:rPr lang="en-US" altLang="zh-CN" sz="1400" b="1" dirty="0">
                <a:solidFill>
                  <a:srgbClr val="0000FF"/>
                </a:solidFill>
              </a:rPr>
              <a:t>MEM/</a:t>
            </a:r>
            <a:r>
              <a:rPr lang="en-US" altLang="zh-CN" sz="1400" b="1" dirty="0" err="1">
                <a:solidFill>
                  <a:srgbClr val="0000FF"/>
                </a:solidFill>
              </a:rPr>
              <a:t>WB.data</a:t>
            </a:r>
            <a:endParaRPr lang="zh-CN" altLang="en-US" sz="1400" b="1" dirty="0">
              <a:solidFill>
                <a:srgbClr val="0000FF"/>
              </a:solidFill>
            </a:endParaRPr>
          </a:p>
        </p:txBody>
      </p:sp>
      <p:grpSp>
        <p:nvGrpSpPr>
          <p:cNvPr id="7" name="组合 6"/>
          <p:cNvGrpSpPr/>
          <p:nvPr/>
        </p:nvGrpSpPr>
        <p:grpSpPr>
          <a:xfrm>
            <a:off x="4238000" y="896414"/>
            <a:ext cx="7661459" cy="580075"/>
            <a:chOff x="4238000" y="896414"/>
            <a:chExt cx="7661459" cy="580075"/>
          </a:xfrm>
        </p:grpSpPr>
        <p:sp>
          <p:nvSpPr>
            <p:cNvPr id="3" name="矩形 2"/>
            <p:cNvSpPr/>
            <p:nvPr/>
          </p:nvSpPr>
          <p:spPr>
            <a:xfrm>
              <a:off x="10458039" y="896414"/>
              <a:ext cx="1441420" cy="369332"/>
            </a:xfrm>
            <a:prstGeom prst="rect">
              <a:avLst/>
            </a:prstGeom>
          </p:spPr>
          <p:txBody>
            <a:bodyPr wrap="none">
              <a:spAutoFit/>
            </a:bodyPr>
            <a:lstStyle/>
            <a:p>
              <a:r>
                <a:rPr lang="en-US" altLang="zh-CN" dirty="0" err="1">
                  <a:latin typeface="Times New Roman" panose="02020603050405020304" pitchFamily="18" charset="0"/>
                  <a:cs typeface="Times New Roman" panose="02020603050405020304" pitchFamily="18" charset="0"/>
                </a:rPr>
                <a:t>ld</a:t>
              </a:r>
              <a:r>
                <a:rPr lang="en-US" altLang="zh-CN" dirty="0">
                  <a:latin typeface="Times New Roman" panose="02020603050405020304" pitchFamily="18" charset="0"/>
                  <a:cs typeface="Times New Roman" panose="02020603050405020304" pitchFamily="18" charset="0"/>
                </a:rPr>
                <a:t> </a:t>
              </a:r>
              <a:r>
                <a:rPr lang="en-US" altLang="zh-CN" dirty="0">
                  <a:solidFill>
                    <a:srgbClr val="0000FF"/>
                  </a:solidFill>
                  <a:latin typeface="Times New Roman" panose="02020603050405020304" pitchFamily="18" charset="0"/>
                  <a:cs typeface="Times New Roman" panose="02020603050405020304" pitchFamily="18" charset="0"/>
                </a:rPr>
                <a:t>x10</a:t>
              </a:r>
              <a:r>
                <a:rPr lang="en-US" altLang="zh-CN" dirty="0">
                  <a:latin typeface="Times New Roman" panose="02020603050405020304" pitchFamily="18" charset="0"/>
                  <a:cs typeface="Times New Roman" panose="02020603050405020304" pitchFamily="18" charset="0"/>
                </a:rPr>
                <a:t>,40(x1)</a:t>
              </a:r>
              <a:endParaRPr lang="zh-CN" altLang="en-US" dirty="0">
                <a:latin typeface="Times New Roman" panose="02020603050405020304" pitchFamily="18" charset="0"/>
                <a:cs typeface="Times New Roman" panose="02020603050405020304" pitchFamily="18" charset="0"/>
              </a:endParaRPr>
            </a:p>
          </p:txBody>
        </p:sp>
        <p:sp>
          <p:nvSpPr>
            <p:cNvPr id="5" name="矩形 4"/>
            <p:cNvSpPr/>
            <p:nvPr/>
          </p:nvSpPr>
          <p:spPr>
            <a:xfrm>
              <a:off x="4238000" y="1107157"/>
              <a:ext cx="1491114" cy="369332"/>
            </a:xfrm>
            <a:prstGeom prst="rect">
              <a:avLst/>
            </a:prstGeom>
          </p:spPr>
          <p:txBody>
            <a:bodyPr wrap="none">
              <a:spAutoFit/>
            </a:bodyPr>
            <a:lstStyle/>
            <a:p>
              <a:r>
                <a:rPr lang="en-US" altLang="zh-CN" dirty="0" err="1"/>
                <a:t>ld</a:t>
              </a:r>
              <a:r>
                <a:rPr lang="en-US" altLang="zh-CN" dirty="0"/>
                <a:t> </a:t>
              </a:r>
              <a:r>
                <a:rPr lang="en-US" altLang="zh-CN" dirty="0">
                  <a:solidFill>
                    <a:srgbClr val="0000FF"/>
                  </a:solidFill>
                </a:rPr>
                <a:t>x13</a:t>
              </a:r>
              <a:r>
                <a:rPr lang="en-US" altLang="zh-CN" dirty="0"/>
                <a:t>,48(x1) </a:t>
              </a:r>
              <a:endParaRPr lang="zh-CN" altLang="en-US" dirty="0"/>
            </a:p>
          </p:txBody>
        </p:sp>
      </p:grpSp>
      <p:sp>
        <p:nvSpPr>
          <p:cNvPr id="191" name="矩形 190"/>
          <p:cNvSpPr/>
          <p:nvPr/>
        </p:nvSpPr>
        <p:spPr>
          <a:xfrm>
            <a:off x="2409997" y="4861367"/>
            <a:ext cx="893193" cy="369332"/>
          </a:xfrm>
          <a:prstGeom prst="rect">
            <a:avLst/>
          </a:prstGeom>
        </p:spPr>
        <p:style>
          <a:lnRef idx="1">
            <a:schemeClr val="accent4"/>
          </a:lnRef>
          <a:fillRef idx="2">
            <a:schemeClr val="accent4"/>
          </a:fillRef>
          <a:effectRef idx="1">
            <a:schemeClr val="accent4"/>
          </a:effectRef>
          <a:fontRef idx="minor">
            <a:schemeClr val="dk1"/>
          </a:fontRef>
        </p:style>
        <p:txBody>
          <a:bodyPr wrap="none">
            <a:spAutoFit/>
          </a:bodyPr>
          <a:lstStyle/>
          <a:p>
            <a:r>
              <a:rPr lang="en-US" altLang="zh-CN" b="1" dirty="0" err="1">
                <a:solidFill>
                  <a:srgbClr val="FF0000"/>
                </a:solidFill>
                <a:latin typeface="Times New Roman" panose="02020603050405020304" pitchFamily="18" charset="0"/>
                <a:cs typeface="Times New Roman" panose="02020603050405020304" pitchFamily="18" charset="0"/>
              </a:rPr>
              <a:t>rd</a:t>
            </a:r>
            <a:r>
              <a:rPr lang="en-US" altLang="zh-CN" b="1" dirty="0">
                <a:solidFill>
                  <a:srgbClr val="FF0000"/>
                </a:solidFill>
                <a:latin typeface="Times New Roman" panose="02020603050405020304" pitchFamily="18" charset="0"/>
                <a:cs typeface="Times New Roman" panose="02020603050405020304" pitchFamily="18" charset="0"/>
              </a:rPr>
              <a:t>=x13</a:t>
            </a:r>
            <a:endParaRPr lang="zh-CN" altLang="en-US" dirty="0">
              <a:solidFill>
                <a:srgbClr val="FF0000"/>
              </a:solidFill>
            </a:endParaRPr>
          </a:p>
        </p:txBody>
      </p:sp>
      <p:sp>
        <p:nvSpPr>
          <p:cNvPr id="192" name="矩形 191"/>
          <p:cNvSpPr/>
          <p:nvPr/>
        </p:nvSpPr>
        <p:spPr>
          <a:xfrm>
            <a:off x="350095" y="4837575"/>
            <a:ext cx="1739579" cy="369332"/>
          </a:xfrm>
          <a:prstGeom prst="rect">
            <a:avLst/>
          </a:prstGeom>
        </p:spPr>
        <p:style>
          <a:lnRef idx="1">
            <a:schemeClr val="accent5"/>
          </a:lnRef>
          <a:fillRef idx="2">
            <a:schemeClr val="accent5"/>
          </a:fillRef>
          <a:effectRef idx="1">
            <a:schemeClr val="accent5"/>
          </a:effectRef>
          <a:fontRef idx="minor">
            <a:schemeClr val="dk1"/>
          </a:fontRef>
        </p:style>
        <p:txBody>
          <a:bodyPr wrap="none">
            <a:spAutoFit/>
          </a:bodyPr>
          <a:lstStyle/>
          <a:p>
            <a:r>
              <a:rPr lang="en-US" altLang="zh-CN" b="1" dirty="0">
                <a:solidFill>
                  <a:srgbClr val="FF0000"/>
                </a:solidFill>
                <a:latin typeface="Times New Roman" panose="02020603050405020304" pitchFamily="18" charset="0"/>
                <a:cs typeface="Times New Roman" panose="02020603050405020304" pitchFamily="18" charset="0"/>
              </a:rPr>
              <a:t>WB</a:t>
            </a:r>
            <a:r>
              <a:rPr lang="zh-CN" altLang="en-US" b="1" dirty="0">
                <a:solidFill>
                  <a:srgbClr val="FF0000"/>
                </a:solidFill>
                <a:latin typeface="Times New Roman" panose="02020603050405020304" pitchFamily="18" charset="0"/>
                <a:cs typeface="Times New Roman" panose="02020603050405020304" pitchFamily="18" charset="0"/>
              </a:rPr>
              <a:t>阶段</a:t>
            </a:r>
            <a:r>
              <a:rPr lang="en-US" altLang="zh-CN" b="1" dirty="0" err="1">
                <a:solidFill>
                  <a:srgbClr val="FF0000"/>
                </a:solidFill>
                <a:latin typeface="Times New Roman" panose="02020603050405020304" pitchFamily="18" charset="0"/>
                <a:cs typeface="Times New Roman" panose="02020603050405020304" pitchFamily="18" charset="0"/>
              </a:rPr>
              <a:t>rd</a:t>
            </a:r>
            <a:r>
              <a:rPr lang="en-US" altLang="zh-CN" b="1" dirty="0">
                <a:solidFill>
                  <a:srgbClr val="FF0000"/>
                </a:solidFill>
                <a:latin typeface="Times New Roman" panose="02020603050405020304" pitchFamily="18" charset="0"/>
                <a:cs typeface="Times New Roman" panose="02020603050405020304" pitchFamily="18" charset="0"/>
              </a:rPr>
              <a:t>=x10</a:t>
            </a:r>
            <a:endParaRPr lang="zh-CN" altLang="en-US" dirty="0">
              <a:solidFill>
                <a:srgbClr val="FF0000"/>
              </a:solidFill>
            </a:endParaRPr>
          </a:p>
        </p:txBody>
      </p:sp>
    </p:spTree>
    <p:extLst>
      <p:ext uri="{BB962C8B-B14F-4D97-AF65-F5344CB8AC3E}">
        <p14:creationId xmlns:p14="http://schemas.microsoft.com/office/powerpoint/2010/main" val="1394136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6"/>
                                        </p:tgtEl>
                                        <p:attrNameLst>
                                          <p:attrName>style.visibility</p:attrName>
                                        </p:attrNameLst>
                                      </p:cBhvr>
                                      <p:to>
                                        <p:strVal val="visible"/>
                                      </p:to>
                                    </p:set>
                                    <p:animEffect transition="in" filter="fade">
                                      <p:cBhvr>
                                        <p:cTn id="7" dur="500"/>
                                        <p:tgtEl>
                                          <p:spTgt spid="14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7"/>
                                        </p:tgtEl>
                                        <p:attrNameLst>
                                          <p:attrName>style.visibility</p:attrName>
                                        </p:attrNameLst>
                                      </p:cBhvr>
                                      <p:to>
                                        <p:strVal val="visible"/>
                                      </p:to>
                                    </p:set>
                                    <p:animEffect transition="in" filter="fade">
                                      <p:cBhvr>
                                        <p:cTn id="10" dur="500"/>
                                        <p:tgtEl>
                                          <p:spTgt spid="147"/>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91"/>
                                        </p:tgtEl>
                                        <p:attrNameLst>
                                          <p:attrName>style.visibility</p:attrName>
                                        </p:attrNameLst>
                                      </p:cBhvr>
                                      <p:to>
                                        <p:strVal val="visible"/>
                                      </p:to>
                                    </p:set>
                                    <p:animEffect transition="in" filter="fade">
                                      <p:cBhvr>
                                        <p:cTn id="21" dur="500"/>
                                        <p:tgtEl>
                                          <p:spTgt spid="19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92"/>
                                        </p:tgtEl>
                                        <p:attrNameLst>
                                          <p:attrName>style.visibility</p:attrName>
                                        </p:attrNameLst>
                                      </p:cBhvr>
                                      <p:to>
                                        <p:strVal val="visible"/>
                                      </p:to>
                                    </p:set>
                                    <p:animEffect transition="in" filter="fade">
                                      <p:cBhvr>
                                        <p:cTn id="26" dur="500"/>
                                        <p:tgtEl>
                                          <p:spTgt spid="1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 grpId="0" bldLvl="0" animBg="1"/>
      <p:bldP spid="147" grpId="0" bldLvl="0" animBg="1"/>
      <p:bldP spid="191" grpId="0" animBg="1"/>
      <p:bldP spid="19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pPr lvl="1"/>
            <a:endPar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a:p>
            <a:endParaRPr lang="zh-CN" altLang="en-US" dirty="0"/>
          </a:p>
        </p:txBody>
      </p:sp>
      <p:grpSp>
        <p:nvGrpSpPr>
          <p:cNvPr id="18" name="Instruction memory"/>
          <p:cNvGrpSpPr/>
          <p:nvPr/>
        </p:nvGrpSpPr>
        <p:grpSpPr>
          <a:xfrm>
            <a:off x="2132353" y="3389335"/>
            <a:ext cx="1142439" cy="1017764"/>
            <a:chOff x="2263385" y="3407372"/>
            <a:chExt cx="1470915" cy="1193839"/>
          </a:xfrm>
        </p:grpSpPr>
        <p:sp>
          <p:nvSpPr>
            <p:cNvPr id="8" name="矩形 7"/>
            <p:cNvSpPr/>
            <p:nvPr/>
          </p:nvSpPr>
          <p:spPr>
            <a:xfrm>
              <a:off x="2333823" y="3448051"/>
              <a:ext cx="1400477" cy="11531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 name="文本框 11"/>
            <p:cNvSpPr txBox="1"/>
            <p:nvPr/>
          </p:nvSpPr>
          <p:spPr>
            <a:xfrm>
              <a:off x="2263385" y="3407372"/>
              <a:ext cx="1319245"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15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0" name="PC"/>
          <p:cNvGrpSpPr/>
          <p:nvPr/>
        </p:nvGrpSpPr>
        <p:grpSpPr>
          <a:xfrm>
            <a:off x="1554187" y="3191621"/>
            <a:ext cx="508932" cy="707887"/>
            <a:chOff x="792726" y="4754327"/>
            <a:chExt cx="1018662" cy="607761"/>
          </a:xfrm>
        </p:grpSpPr>
        <p:sp>
          <p:nvSpPr>
            <p:cNvPr id="15" name="矩形 14"/>
            <p:cNvSpPr/>
            <p:nvPr/>
          </p:nvSpPr>
          <p:spPr>
            <a:xfrm>
              <a:off x="887030" y="4800600"/>
              <a:ext cx="639939" cy="50292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9" name="文本框 18"/>
            <p:cNvSpPr txBox="1"/>
            <p:nvPr/>
          </p:nvSpPr>
          <p:spPr>
            <a:xfrm>
              <a:off x="792726" y="4754327"/>
              <a:ext cx="1018662" cy="607761"/>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PC</a:t>
              </a:r>
              <a:endParaRPr kumimoji="0" lang="zh-CN" alt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4" name="Add"/>
          <p:cNvGrpSpPr/>
          <p:nvPr/>
        </p:nvGrpSpPr>
        <p:grpSpPr>
          <a:xfrm>
            <a:off x="2390931" y="2140793"/>
            <a:ext cx="655949" cy="822349"/>
            <a:chOff x="4656246" y="4140786"/>
            <a:chExt cx="743403" cy="964617"/>
          </a:xfrm>
        </p:grpSpPr>
        <p:sp>
          <p:nvSpPr>
            <p:cNvPr id="22" name="梯形 21"/>
            <p:cNvSpPr/>
            <p:nvPr/>
          </p:nvSpPr>
          <p:spPr>
            <a:xfrm rot="5400000">
              <a:off x="4538209" y="4329347"/>
              <a:ext cx="964617" cy="587495"/>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3" name="文本框 22"/>
            <p:cNvSpPr txBox="1"/>
            <p:nvPr/>
          </p:nvSpPr>
          <p:spPr>
            <a:xfrm>
              <a:off x="4656246" y="4371481"/>
              <a:ext cx="743403"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36" name="IF/ID"/>
          <p:cNvGrpSpPr/>
          <p:nvPr/>
        </p:nvGrpSpPr>
        <p:grpSpPr>
          <a:xfrm>
            <a:off x="3241534" y="1690224"/>
            <a:ext cx="797013" cy="4114272"/>
            <a:chOff x="116128" y="450828"/>
            <a:chExt cx="955165" cy="5944486"/>
          </a:xfrm>
        </p:grpSpPr>
        <p:sp>
          <p:nvSpPr>
            <p:cNvPr id="34" name="矩形 33"/>
            <p:cNvSpPr/>
            <p:nvPr/>
          </p:nvSpPr>
          <p:spPr>
            <a:xfrm>
              <a:off x="358141" y="937259"/>
              <a:ext cx="358140" cy="5458055"/>
            </a:xfrm>
            <a:prstGeom prst="rect">
              <a:avLst/>
            </a:prstGeom>
            <a:noFill/>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5" name="文本框 34"/>
            <p:cNvSpPr txBox="1"/>
            <p:nvPr/>
          </p:nvSpPr>
          <p:spPr>
            <a:xfrm>
              <a:off x="116128" y="450828"/>
              <a:ext cx="955165" cy="578097"/>
            </a:xfrm>
            <a:prstGeom prst="rect">
              <a:avLst/>
            </a:prstGeom>
            <a:ln w="25400">
              <a:noFill/>
            </a:ln>
          </p:spPr>
          <p:style>
            <a:lnRef idx="1">
              <a:schemeClr val="accent1"/>
            </a:lnRef>
            <a:fillRef idx="0">
              <a:schemeClr val="accent1"/>
            </a:fillRef>
            <a:effectRef idx="0">
              <a:schemeClr val="accent1"/>
            </a:effectRef>
            <a:fontRef idx="minor">
              <a:schemeClr val="tx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IF/ID</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45" name="Registers"/>
          <p:cNvGrpSpPr/>
          <p:nvPr/>
        </p:nvGrpSpPr>
        <p:grpSpPr>
          <a:xfrm>
            <a:off x="4371686" y="2450888"/>
            <a:ext cx="1726163" cy="2568442"/>
            <a:chOff x="1920262" y="241327"/>
            <a:chExt cx="3106114" cy="3344105"/>
          </a:xfrm>
        </p:grpSpPr>
        <p:sp>
          <p:nvSpPr>
            <p:cNvPr id="37" name="矩形 36"/>
            <p:cNvSpPr/>
            <p:nvPr/>
          </p:nvSpPr>
          <p:spPr>
            <a:xfrm>
              <a:off x="2026387" y="320244"/>
              <a:ext cx="2772304" cy="3265188"/>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 name="文本框 37"/>
            <p:cNvSpPr txBox="1"/>
            <p:nvPr/>
          </p:nvSpPr>
          <p:spPr>
            <a:xfrm>
              <a:off x="2121631" y="1515410"/>
              <a:ext cx="2149527" cy="52094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Registers</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 name="文本框 38"/>
            <p:cNvSpPr txBox="1"/>
            <p:nvPr/>
          </p:nvSpPr>
          <p:spPr>
            <a:xfrm>
              <a:off x="1920789" y="241327"/>
              <a:ext cx="2611979"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0" name="文本框 39"/>
            <p:cNvSpPr txBox="1"/>
            <p:nvPr/>
          </p:nvSpPr>
          <p:spPr>
            <a:xfrm>
              <a:off x="1920262" y="740405"/>
              <a:ext cx="2450645"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1" name="文本框 40"/>
            <p:cNvSpPr txBox="1"/>
            <p:nvPr/>
          </p:nvSpPr>
          <p:spPr>
            <a:xfrm>
              <a:off x="1925707" y="2479303"/>
              <a:ext cx="2199198"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reg</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2" name="文本框 41"/>
            <p:cNvSpPr txBox="1"/>
            <p:nvPr/>
          </p:nvSpPr>
          <p:spPr>
            <a:xfrm>
              <a:off x="1938951" y="2943791"/>
              <a:ext cx="2364242"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3" name="文本框 42"/>
            <p:cNvSpPr txBox="1"/>
            <p:nvPr/>
          </p:nvSpPr>
          <p:spPr>
            <a:xfrm>
              <a:off x="2467221" y="1159239"/>
              <a:ext cx="2524881"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4" name="文本框 43"/>
            <p:cNvSpPr txBox="1"/>
            <p:nvPr/>
          </p:nvSpPr>
          <p:spPr>
            <a:xfrm>
              <a:off x="2431051" y="1920895"/>
              <a:ext cx="2595325" cy="520942"/>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48" name="Imm Gen"/>
          <p:cNvGrpSpPr/>
          <p:nvPr/>
        </p:nvGrpSpPr>
        <p:grpSpPr>
          <a:xfrm>
            <a:off x="5169308" y="5187019"/>
            <a:ext cx="658095" cy="538474"/>
            <a:chOff x="4868693" y="6172575"/>
            <a:chExt cx="992993" cy="1215294"/>
          </a:xfrm>
        </p:grpSpPr>
        <p:sp>
          <p:nvSpPr>
            <p:cNvPr id="46" name="椭圆 45"/>
            <p:cNvSpPr/>
            <p:nvPr/>
          </p:nvSpPr>
          <p:spPr>
            <a:xfrm>
              <a:off x="4868693" y="6172575"/>
              <a:ext cx="984044" cy="1146747"/>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7" name="文本框 46"/>
            <p:cNvSpPr txBox="1"/>
            <p:nvPr/>
          </p:nvSpPr>
          <p:spPr>
            <a:xfrm>
              <a:off x="4895397" y="6339596"/>
              <a:ext cx="966289" cy="104827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Imm</a:t>
              </a: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Gen</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55" name="Add Sum"/>
          <p:cNvGrpSpPr/>
          <p:nvPr/>
        </p:nvGrpSpPr>
        <p:grpSpPr>
          <a:xfrm>
            <a:off x="7661101" y="2268263"/>
            <a:ext cx="655949" cy="768090"/>
            <a:chOff x="5634620" y="2480764"/>
            <a:chExt cx="1081993" cy="1475010"/>
          </a:xfrm>
        </p:grpSpPr>
        <p:sp>
          <p:nvSpPr>
            <p:cNvPr id="52" name="梯形 51"/>
            <p:cNvSpPr/>
            <p:nvPr/>
          </p:nvSpPr>
          <p:spPr>
            <a:xfrm rot="5400000">
              <a:off x="5424366" y="2770445"/>
              <a:ext cx="1475010" cy="895647"/>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4" name="文本框 53"/>
            <p:cNvSpPr txBox="1"/>
            <p:nvPr/>
          </p:nvSpPr>
          <p:spPr>
            <a:xfrm>
              <a:off x="5634620" y="2851177"/>
              <a:ext cx="1081993" cy="93914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Sum</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61" name="ALU"/>
          <p:cNvGrpSpPr/>
          <p:nvPr/>
        </p:nvGrpSpPr>
        <p:grpSpPr>
          <a:xfrm>
            <a:off x="7588025" y="3295516"/>
            <a:ext cx="880667" cy="1454509"/>
            <a:chOff x="6023805" y="3618922"/>
            <a:chExt cx="1295157" cy="1704463"/>
          </a:xfrm>
        </p:grpSpPr>
        <p:sp>
          <p:nvSpPr>
            <p:cNvPr id="57" name="梯形 56"/>
            <p:cNvSpPr/>
            <p:nvPr/>
          </p:nvSpPr>
          <p:spPr>
            <a:xfrm rot="5400000">
              <a:off x="5805450" y="3911167"/>
              <a:ext cx="1704463" cy="1119974"/>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8" name="文本框 57"/>
            <p:cNvSpPr txBox="1"/>
            <p:nvPr/>
          </p:nvSpPr>
          <p:spPr>
            <a:xfrm>
              <a:off x="6023805" y="3779478"/>
              <a:ext cx="1070760"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ALU</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9" name="文本框 58"/>
            <p:cNvSpPr txBox="1"/>
            <p:nvPr/>
          </p:nvSpPr>
          <p:spPr>
            <a:xfrm>
              <a:off x="6212840" y="4596488"/>
              <a:ext cx="1106122" cy="347668"/>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result</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60" name="文本框 59"/>
            <p:cNvSpPr txBox="1"/>
            <p:nvPr/>
          </p:nvSpPr>
          <p:spPr>
            <a:xfrm>
              <a:off x="6276821" y="4080452"/>
              <a:ext cx="983534"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Zero</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65" name="shift left 1"/>
          <p:cNvGrpSpPr/>
          <p:nvPr/>
        </p:nvGrpSpPr>
        <p:grpSpPr>
          <a:xfrm>
            <a:off x="6609322" y="2420231"/>
            <a:ext cx="774571" cy="682474"/>
            <a:chOff x="6107415" y="4133981"/>
            <a:chExt cx="1189523" cy="1146746"/>
          </a:xfrm>
        </p:grpSpPr>
        <p:sp>
          <p:nvSpPr>
            <p:cNvPr id="63" name="椭圆 62"/>
            <p:cNvSpPr/>
            <p:nvPr/>
          </p:nvSpPr>
          <p:spPr>
            <a:xfrm>
              <a:off x="6161866" y="4133981"/>
              <a:ext cx="984043" cy="1146746"/>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64" name="文本框 63"/>
            <p:cNvSpPr txBox="1"/>
            <p:nvPr/>
          </p:nvSpPr>
          <p:spPr>
            <a:xfrm>
              <a:off x="6107415" y="4371720"/>
              <a:ext cx="1189523" cy="821732"/>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Shift </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left 1</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72" name="Mux 3"/>
          <p:cNvGrpSpPr/>
          <p:nvPr/>
        </p:nvGrpSpPr>
        <p:grpSpPr>
          <a:xfrm>
            <a:off x="11155154" y="4357265"/>
            <a:ext cx="596486" cy="1168007"/>
            <a:chOff x="3628473" y="5448300"/>
            <a:chExt cx="839025" cy="1230515"/>
          </a:xfrm>
        </p:grpSpPr>
        <p:sp>
          <p:nvSpPr>
            <p:cNvPr id="73" name="mux"/>
            <p:cNvSpPr/>
            <p:nvPr/>
          </p:nvSpPr>
          <p:spPr>
            <a:xfrm rot="5400000">
              <a:off x="3386121" y="5744398"/>
              <a:ext cx="1230515" cy="638319"/>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4" name="文本框 73"/>
            <p:cNvSpPr txBox="1"/>
            <p:nvPr/>
          </p:nvSpPr>
          <p:spPr>
            <a:xfrm>
              <a:off x="3628473" y="5492154"/>
              <a:ext cx="260679"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5" name="文本框 74"/>
            <p:cNvSpPr txBox="1"/>
            <p:nvPr/>
          </p:nvSpPr>
          <p:spPr>
            <a:xfrm>
              <a:off x="3641695" y="6293721"/>
              <a:ext cx="404061" cy="35667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6" name="文本框 75"/>
            <p:cNvSpPr txBox="1"/>
            <p:nvPr/>
          </p:nvSpPr>
          <p:spPr>
            <a:xfrm>
              <a:off x="3867268" y="5599309"/>
              <a:ext cx="600230" cy="1070017"/>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90" name="Data memory"/>
          <p:cNvGrpSpPr/>
          <p:nvPr/>
        </p:nvGrpSpPr>
        <p:grpSpPr>
          <a:xfrm>
            <a:off x="9175448" y="3540000"/>
            <a:ext cx="1417516" cy="1635472"/>
            <a:chOff x="14770965" y="4726326"/>
            <a:chExt cx="3011394" cy="3362560"/>
          </a:xfrm>
        </p:grpSpPr>
        <p:sp>
          <p:nvSpPr>
            <p:cNvPr id="82" name="矩形 81"/>
            <p:cNvSpPr/>
            <p:nvPr/>
          </p:nvSpPr>
          <p:spPr>
            <a:xfrm>
              <a:off x="14919092" y="4726326"/>
              <a:ext cx="2551866" cy="33625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3" name="文本框 82"/>
            <p:cNvSpPr txBox="1"/>
            <p:nvPr/>
          </p:nvSpPr>
          <p:spPr>
            <a:xfrm>
              <a:off x="14893548" y="4778415"/>
              <a:ext cx="2622003" cy="100548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Data </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memory</a:t>
              </a:r>
            </a:p>
          </p:txBody>
        </p:sp>
        <p:sp>
          <p:nvSpPr>
            <p:cNvPr id="84" name="文本框 83"/>
            <p:cNvSpPr txBox="1"/>
            <p:nvPr/>
          </p:nvSpPr>
          <p:spPr>
            <a:xfrm>
              <a:off x="14776597" y="5875439"/>
              <a:ext cx="2291814"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7" name="文本框 86"/>
            <p:cNvSpPr txBox="1"/>
            <p:nvPr/>
          </p:nvSpPr>
          <p:spPr>
            <a:xfrm>
              <a:off x="14770965" y="7263927"/>
              <a:ext cx="2654424"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8" name="文本框 87"/>
            <p:cNvSpPr txBox="1"/>
            <p:nvPr/>
          </p:nvSpPr>
          <p:spPr>
            <a:xfrm>
              <a:off x="15110098" y="6521639"/>
              <a:ext cx="2672261"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101" name="矩形 100"/>
          <p:cNvSpPr/>
          <p:nvPr/>
        </p:nvSpPr>
        <p:spPr>
          <a:xfrm>
            <a:off x="6276738" y="2034539"/>
            <a:ext cx="316009" cy="3769417"/>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11" name="矩形 110"/>
          <p:cNvSpPr/>
          <p:nvPr/>
        </p:nvSpPr>
        <p:spPr>
          <a:xfrm>
            <a:off x="8654483" y="2039289"/>
            <a:ext cx="291194" cy="3754340"/>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1" name="矩形 120"/>
          <p:cNvSpPr/>
          <p:nvPr/>
        </p:nvSpPr>
        <p:spPr>
          <a:xfrm>
            <a:off x="10656314" y="2025854"/>
            <a:ext cx="300877" cy="3767775"/>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160" name="直接连接符 159"/>
          <p:cNvCxnSpPr/>
          <p:nvPr/>
        </p:nvCxnSpPr>
        <p:spPr>
          <a:xfrm flipV="1">
            <a:off x="3742316" y="2350067"/>
            <a:ext cx="2534421" cy="109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直接连接符 160"/>
          <p:cNvCxnSpPr/>
          <p:nvPr/>
        </p:nvCxnSpPr>
        <p:spPr>
          <a:xfrm>
            <a:off x="1921021" y="3552091"/>
            <a:ext cx="25830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直接连接符 161"/>
          <p:cNvCxnSpPr>
            <a:stCxn id="8" idx="3"/>
            <a:endCxn id="34" idx="1"/>
          </p:cNvCxnSpPr>
          <p:nvPr/>
        </p:nvCxnSpPr>
        <p:spPr>
          <a:xfrm>
            <a:off x="3274792" y="3915557"/>
            <a:ext cx="168684" cy="1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直接连接符 162"/>
          <p:cNvCxnSpPr>
            <a:stCxn id="22" idx="0"/>
          </p:cNvCxnSpPr>
          <p:nvPr/>
        </p:nvCxnSpPr>
        <p:spPr>
          <a:xfrm flipV="1">
            <a:off x="2971543" y="2550080"/>
            <a:ext cx="82559" cy="18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a:off x="2009625" y="2276975"/>
            <a:ext cx="43729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flipH="1">
            <a:off x="2009625" y="2268263"/>
            <a:ext cx="3782" cy="1271738"/>
          </a:xfrm>
          <a:prstGeom prst="line">
            <a:avLst/>
          </a:prstGeom>
          <a:ln w="25400">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3045224" y="1860161"/>
            <a:ext cx="0" cy="6899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a:stCxn id="52" idx="0"/>
          </p:cNvCxnSpPr>
          <p:nvPr/>
        </p:nvCxnSpPr>
        <p:spPr>
          <a:xfrm flipV="1">
            <a:off x="8252239" y="2652308"/>
            <a:ext cx="404306"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直接连接符 187"/>
          <p:cNvCxnSpPr/>
          <p:nvPr/>
        </p:nvCxnSpPr>
        <p:spPr>
          <a:xfrm>
            <a:off x="756100" y="1860161"/>
            <a:ext cx="22980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a:off x="756100" y="1860161"/>
            <a:ext cx="0" cy="13869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a:off x="4050558" y="2682031"/>
            <a:ext cx="409392"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4037301" y="3034882"/>
            <a:ext cx="395373"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a:off x="5975909" y="3490402"/>
            <a:ext cx="30542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a:xfrm>
            <a:off x="5975910" y="3931784"/>
            <a:ext cx="29581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8" name="直接连接符 217"/>
          <p:cNvCxnSpPr/>
          <p:nvPr/>
        </p:nvCxnSpPr>
        <p:spPr>
          <a:xfrm flipV="1">
            <a:off x="5823867" y="5424803"/>
            <a:ext cx="457463" cy="719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1" name="直接连接符 260"/>
          <p:cNvCxnSpPr/>
          <p:nvPr/>
        </p:nvCxnSpPr>
        <p:spPr>
          <a:xfrm>
            <a:off x="7315011" y="2774801"/>
            <a:ext cx="36100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3" name="直接连接符 262"/>
          <p:cNvCxnSpPr/>
          <p:nvPr/>
        </p:nvCxnSpPr>
        <p:spPr>
          <a:xfrm>
            <a:off x="6601254" y="3515933"/>
            <a:ext cx="103718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2" name="Mux 3"/>
          <p:cNvGrpSpPr/>
          <p:nvPr/>
        </p:nvGrpSpPr>
        <p:grpSpPr>
          <a:xfrm>
            <a:off x="886276" y="3035663"/>
            <a:ext cx="615567" cy="1168007"/>
            <a:chOff x="3339670" y="5460516"/>
            <a:chExt cx="901073" cy="1230515"/>
          </a:xfrm>
        </p:grpSpPr>
        <p:sp>
          <p:nvSpPr>
            <p:cNvPr id="133" name="mux"/>
            <p:cNvSpPr/>
            <p:nvPr/>
          </p:nvSpPr>
          <p:spPr>
            <a:xfrm rot="5400000">
              <a:off x="3140776" y="5731027"/>
              <a:ext cx="1230515" cy="689494"/>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4" name="文本框 133"/>
            <p:cNvSpPr txBox="1"/>
            <p:nvPr/>
          </p:nvSpPr>
          <p:spPr>
            <a:xfrm>
              <a:off x="3365437" y="5514581"/>
              <a:ext cx="260684"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5" name="文本框 134"/>
            <p:cNvSpPr txBox="1"/>
            <p:nvPr/>
          </p:nvSpPr>
          <p:spPr>
            <a:xfrm>
              <a:off x="3339670" y="6240974"/>
              <a:ext cx="324022"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6" name="文本框 135"/>
            <p:cNvSpPr txBox="1"/>
            <p:nvPr/>
          </p:nvSpPr>
          <p:spPr>
            <a:xfrm>
              <a:off x="3616106" y="5588478"/>
              <a:ext cx="624637" cy="107001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52" name="直接连接符 151"/>
          <p:cNvCxnSpPr/>
          <p:nvPr/>
        </p:nvCxnSpPr>
        <p:spPr>
          <a:xfrm>
            <a:off x="8406854" y="4254304"/>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a:off x="8957540" y="4264269"/>
            <a:ext cx="28232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a:off x="8937369" y="4879326"/>
            <a:ext cx="3068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10455595" y="4559110"/>
            <a:ext cx="20911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56" name="Mux 3"/>
          <p:cNvGrpSpPr/>
          <p:nvPr/>
        </p:nvGrpSpPr>
        <p:grpSpPr>
          <a:xfrm>
            <a:off x="6952550" y="3633137"/>
            <a:ext cx="482064" cy="1168006"/>
            <a:chOff x="3558568" y="5448300"/>
            <a:chExt cx="706348" cy="1230515"/>
          </a:xfrm>
        </p:grpSpPr>
        <p:sp>
          <p:nvSpPr>
            <p:cNvPr id="157" name="mux"/>
            <p:cNvSpPr/>
            <p:nvPr/>
          </p:nvSpPr>
          <p:spPr>
            <a:xfrm rot="5400000">
              <a:off x="3332723" y="5746622"/>
              <a:ext cx="1230515" cy="633871"/>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8" name="文本框 157"/>
            <p:cNvSpPr txBox="1"/>
            <p:nvPr/>
          </p:nvSpPr>
          <p:spPr>
            <a:xfrm>
              <a:off x="3571052" y="5580627"/>
              <a:ext cx="260683"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9" name="文本框 158"/>
            <p:cNvSpPr txBox="1"/>
            <p:nvPr/>
          </p:nvSpPr>
          <p:spPr>
            <a:xfrm>
              <a:off x="3558568" y="6264229"/>
              <a:ext cx="408929" cy="34293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6" name="文本框 165"/>
            <p:cNvSpPr txBox="1"/>
            <p:nvPr/>
          </p:nvSpPr>
          <p:spPr>
            <a:xfrm>
              <a:off x="3747999" y="5579240"/>
              <a:ext cx="462611" cy="1070019"/>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68" name="直接连接符 167"/>
          <p:cNvCxnSpPr/>
          <p:nvPr/>
        </p:nvCxnSpPr>
        <p:spPr>
          <a:xfrm flipV="1">
            <a:off x="1414375" y="3545698"/>
            <a:ext cx="178001" cy="5"/>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a:xfrm>
            <a:off x="2252389" y="2739181"/>
            <a:ext cx="18646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a:off x="6601254" y="2344795"/>
            <a:ext cx="1083649" cy="7422"/>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flipH="1">
            <a:off x="6823932" y="3086982"/>
            <a:ext cx="22498" cy="19552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a:off x="6601254" y="5042232"/>
            <a:ext cx="24517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a:off x="6601254" y="3931784"/>
            <a:ext cx="40077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a:off x="6835795" y="4587463"/>
            <a:ext cx="182537" cy="853"/>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a:off x="6722958" y="4879324"/>
            <a:ext cx="1931532"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a:off x="6722958" y="3931784"/>
            <a:ext cx="1766" cy="947540"/>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a:off x="9057891" y="4260707"/>
            <a:ext cx="0" cy="1068388"/>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flipV="1">
            <a:off x="9057891" y="5323296"/>
            <a:ext cx="1599091" cy="572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1" name="直接连接符 270"/>
          <p:cNvCxnSpPr/>
          <p:nvPr/>
        </p:nvCxnSpPr>
        <p:spPr>
          <a:xfrm>
            <a:off x="10947857" y="5312831"/>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3" name="直接连接符 272"/>
          <p:cNvCxnSpPr/>
          <p:nvPr/>
        </p:nvCxnSpPr>
        <p:spPr>
          <a:xfrm>
            <a:off x="7434615" y="4397536"/>
            <a:ext cx="21340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5" name="文本框 284"/>
          <p:cNvSpPr txBox="1"/>
          <p:nvPr/>
        </p:nvSpPr>
        <p:spPr>
          <a:xfrm>
            <a:off x="1989532" y="3940514"/>
            <a:ext cx="1500650" cy="48904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 memory</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361" name="直接连接符 360"/>
          <p:cNvCxnSpPr>
            <a:endCxn id="76" idx="3"/>
          </p:cNvCxnSpPr>
          <p:nvPr/>
        </p:nvCxnSpPr>
        <p:spPr>
          <a:xfrm>
            <a:off x="11618952" y="4980660"/>
            <a:ext cx="132688" cy="27775"/>
          </a:xfrm>
          <a:prstGeom prst="line">
            <a:avLst/>
          </a:prstGeom>
          <a:ln w="25400">
            <a:noFill/>
          </a:ln>
        </p:spPr>
        <p:style>
          <a:lnRef idx="1">
            <a:schemeClr val="accent1"/>
          </a:lnRef>
          <a:fillRef idx="0">
            <a:schemeClr val="accent1"/>
          </a:fillRef>
          <a:effectRef idx="0">
            <a:schemeClr val="accent1"/>
          </a:effectRef>
          <a:fontRef idx="minor">
            <a:schemeClr val="tx1"/>
          </a:fontRef>
        </p:style>
      </p:cxnSp>
      <p:cxnSp>
        <p:nvCxnSpPr>
          <p:cNvPr id="362" name="直接连接符 361"/>
          <p:cNvCxnSpPr/>
          <p:nvPr/>
        </p:nvCxnSpPr>
        <p:spPr>
          <a:xfrm flipH="1">
            <a:off x="11815219" y="4962570"/>
            <a:ext cx="14406" cy="9965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8" name="直接连接符 367"/>
          <p:cNvCxnSpPr/>
          <p:nvPr/>
        </p:nvCxnSpPr>
        <p:spPr>
          <a:xfrm>
            <a:off x="4183258" y="4664235"/>
            <a:ext cx="0" cy="13086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2" name="直接连接符 371"/>
          <p:cNvCxnSpPr/>
          <p:nvPr/>
        </p:nvCxnSpPr>
        <p:spPr>
          <a:xfrm>
            <a:off x="4179899" y="4664235"/>
            <a:ext cx="247455" cy="48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7" name="直接连接符 376"/>
          <p:cNvCxnSpPr/>
          <p:nvPr/>
        </p:nvCxnSpPr>
        <p:spPr>
          <a:xfrm>
            <a:off x="585433" y="1614406"/>
            <a:ext cx="89899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8" name="直接连接符 387"/>
          <p:cNvCxnSpPr/>
          <p:nvPr/>
        </p:nvCxnSpPr>
        <p:spPr>
          <a:xfrm>
            <a:off x="585433" y="1623449"/>
            <a:ext cx="0" cy="23336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5" name="直接连接符 394"/>
          <p:cNvCxnSpPr/>
          <p:nvPr/>
        </p:nvCxnSpPr>
        <p:spPr>
          <a:xfrm>
            <a:off x="743682" y="3245510"/>
            <a:ext cx="165348" cy="65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7" name="直接连接符 396"/>
          <p:cNvCxnSpPr/>
          <p:nvPr/>
        </p:nvCxnSpPr>
        <p:spPr>
          <a:xfrm>
            <a:off x="576102" y="3952735"/>
            <a:ext cx="332520"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4" name="直接连接符 403"/>
          <p:cNvCxnSpPr/>
          <p:nvPr/>
        </p:nvCxnSpPr>
        <p:spPr>
          <a:xfrm>
            <a:off x="9575404" y="1614406"/>
            <a:ext cx="0" cy="10197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7" name="直接连接符 406"/>
          <p:cNvCxnSpPr/>
          <p:nvPr/>
        </p:nvCxnSpPr>
        <p:spPr>
          <a:xfrm flipV="1">
            <a:off x="8948960" y="2642149"/>
            <a:ext cx="641869" cy="51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971765" y="2548735"/>
            <a:ext cx="20135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4</a:t>
            </a:r>
            <a:endParaRPr kumimoji="0" lang="zh-CN" altLang="en-US"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cxnSp>
        <p:nvCxnSpPr>
          <p:cNvPr id="247" name="直接连接符 246"/>
          <p:cNvCxnSpPr/>
          <p:nvPr/>
        </p:nvCxnSpPr>
        <p:spPr>
          <a:xfrm>
            <a:off x="11667544" y="4962570"/>
            <a:ext cx="16208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a:xfrm>
            <a:off x="4028563" y="2679970"/>
            <a:ext cx="0" cy="27611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a:off x="8406854" y="3853708"/>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a:off x="8948031" y="3853751"/>
            <a:ext cx="18594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连接符: 肘形 98"/>
          <p:cNvCxnSpPr/>
          <p:nvPr/>
        </p:nvCxnSpPr>
        <p:spPr>
          <a:xfrm flipV="1">
            <a:off x="2023591" y="2360981"/>
            <a:ext cx="1431289" cy="730238"/>
          </a:xfrm>
          <a:prstGeom prst="bentConnector3">
            <a:avLst>
              <a:gd name="adj1" fmla="val 82595"/>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238" name="文本框 237"/>
          <p:cNvSpPr txBox="1"/>
          <p:nvPr/>
        </p:nvSpPr>
        <p:spPr>
          <a:xfrm rot="10800000">
            <a:off x="3670193" y="2142180"/>
            <a:ext cx="430887" cy="1436503"/>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40" name="文本框 239"/>
          <p:cNvSpPr txBox="1"/>
          <p:nvPr/>
        </p:nvSpPr>
        <p:spPr>
          <a:xfrm>
            <a:off x="4599050" y="5455075"/>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32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64" name="文本框 263"/>
          <p:cNvSpPr txBox="1"/>
          <p:nvPr/>
        </p:nvSpPr>
        <p:spPr>
          <a:xfrm>
            <a:off x="5824935" y="5426798"/>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64</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245" name="直接连接符 244"/>
          <p:cNvCxnSpPr/>
          <p:nvPr/>
        </p:nvCxnSpPr>
        <p:spPr>
          <a:xfrm>
            <a:off x="4725808" y="5368676"/>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7" name="直接连接符 266"/>
          <p:cNvCxnSpPr/>
          <p:nvPr/>
        </p:nvCxnSpPr>
        <p:spPr>
          <a:xfrm>
            <a:off x="5954390" y="5363199"/>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V="1">
            <a:off x="4169804" y="5959092"/>
            <a:ext cx="7659820" cy="137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a:off x="10957188" y="4565175"/>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a:off x="3742316" y="3923683"/>
            <a:ext cx="286247" cy="8101"/>
          </a:xfrm>
          <a:prstGeom prst="line">
            <a:avLst/>
          </a:prstGeom>
          <a:ln w="2540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p:txBody>
          <a:bodyPr/>
          <a:lstStyle/>
          <a:p>
            <a:r>
              <a:rPr lang="zh-CN" altLang="en-US" dirty="0"/>
              <a:t>更正之后的数据通路</a:t>
            </a:r>
          </a:p>
        </p:txBody>
      </p:sp>
      <p:cxnSp>
        <p:nvCxnSpPr>
          <p:cNvPr id="130" name="直接连接符 129"/>
          <p:cNvCxnSpPr/>
          <p:nvPr/>
        </p:nvCxnSpPr>
        <p:spPr>
          <a:xfrm>
            <a:off x="4028563" y="5441319"/>
            <a:ext cx="1143140"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3883319" y="4323489"/>
            <a:ext cx="544035" cy="0"/>
          </a:xfrm>
          <a:prstGeom prst="line">
            <a:avLst/>
          </a:prstGeom>
          <a:ln w="25400">
            <a:solidFill>
              <a:srgbClr val="0000FF"/>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a:off x="4027566" y="5441070"/>
            <a:ext cx="0" cy="257789"/>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41" name="直接箭头连接符 140"/>
          <p:cNvCxnSpPr/>
          <p:nvPr/>
        </p:nvCxnSpPr>
        <p:spPr>
          <a:xfrm>
            <a:off x="4027566" y="5698859"/>
            <a:ext cx="2240293" cy="0"/>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直接箭头连接符 141"/>
          <p:cNvCxnSpPr/>
          <p:nvPr/>
        </p:nvCxnSpPr>
        <p:spPr>
          <a:xfrm>
            <a:off x="6600448" y="5691999"/>
            <a:ext cx="2039500" cy="0"/>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直接箭头连接符 142"/>
          <p:cNvCxnSpPr/>
          <p:nvPr/>
        </p:nvCxnSpPr>
        <p:spPr>
          <a:xfrm>
            <a:off x="8957540" y="5687302"/>
            <a:ext cx="1681742" cy="0"/>
          </a:xfrm>
          <a:prstGeom prst="straightConnector1">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a:xfrm flipV="1">
            <a:off x="10966066" y="5698859"/>
            <a:ext cx="236174" cy="1"/>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nvCxnSpPr>
        <p:spPr>
          <a:xfrm>
            <a:off x="11191857" y="5691500"/>
            <a:ext cx="0" cy="201239"/>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46" name="直接箭头连接符 145"/>
          <p:cNvCxnSpPr/>
          <p:nvPr/>
        </p:nvCxnSpPr>
        <p:spPr>
          <a:xfrm flipH="1">
            <a:off x="3883319" y="5892739"/>
            <a:ext cx="7318921" cy="0"/>
          </a:xfrm>
          <a:prstGeom prst="straightConnector1">
            <a:avLst/>
          </a:prstGeom>
          <a:ln w="25400">
            <a:solidFill>
              <a:srgbClr val="0000FF"/>
            </a:solidFill>
            <a:tailEnd type="none"/>
          </a:ln>
        </p:spPr>
        <p:style>
          <a:lnRef idx="1">
            <a:schemeClr val="accent1"/>
          </a:lnRef>
          <a:fillRef idx="0">
            <a:schemeClr val="accent1"/>
          </a:fillRef>
          <a:effectRef idx="0">
            <a:schemeClr val="accent1"/>
          </a:effectRef>
          <a:fontRef idx="minor">
            <a:schemeClr val="tx1"/>
          </a:fontRef>
        </p:style>
      </p:cxnSp>
      <p:cxnSp>
        <p:nvCxnSpPr>
          <p:cNvPr id="147" name="直接连接符 146"/>
          <p:cNvCxnSpPr/>
          <p:nvPr/>
        </p:nvCxnSpPr>
        <p:spPr>
          <a:xfrm>
            <a:off x="3895880" y="4323489"/>
            <a:ext cx="0" cy="158085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148" name="文本框 147"/>
          <p:cNvSpPr txBox="1"/>
          <p:nvPr/>
        </p:nvSpPr>
        <p:spPr>
          <a:xfrm>
            <a:off x="5986038" y="1695225"/>
            <a:ext cx="898003"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ID/EX</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9" name="文本框 148"/>
          <p:cNvSpPr txBox="1"/>
          <p:nvPr/>
        </p:nvSpPr>
        <p:spPr>
          <a:xfrm>
            <a:off x="8171651" y="1642599"/>
            <a:ext cx="1268296"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EX/MEM</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0" name="文本框 149"/>
          <p:cNvSpPr txBox="1"/>
          <p:nvPr/>
        </p:nvSpPr>
        <p:spPr>
          <a:xfrm>
            <a:off x="10149691" y="1656545"/>
            <a:ext cx="1338828"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MEM/WB</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1" name="灯片编号占位符 1"/>
          <p:cNvSpPr>
            <a:spLocks noGrp="1"/>
          </p:cNvSpPr>
          <p:nvPr>
            <p:ph type="sldNum" sz="quarter" idx="12"/>
          </p:nvPr>
        </p:nvSpPr>
        <p:spPr>
          <a:xfrm>
            <a:off x="8940542" y="648279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nvGrpSpPr>
          <p:cNvPr id="2" name="组合 1">
            <a:extLst>
              <a:ext uri="{FF2B5EF4-FFF2-40B4-BE49-F238E27FC236}">
                <a16:creationId xmlns:a16="http://schemas.microsoft.com/office/drawing/2014/main" id="{F0446054-0E81-45AA-B40D-59262D6608B2}"/>
              </a:ext>
            </a:extLst>
          </p:cNvPr>
          <p:cNvGrpSpPr/>
          <p:nvPr/>
        </p:nvGrpSpPr>
        <p:grpSpPr>
          <a:xfrm>
            <a:off x="3400702" y="5690626"/>
            <a:ext cx="7843269" cy="620534"/>
            <a:chOff x="3400702" y="5690626"/>
            <a:chExt cx="7843269" cy="620534"/>
          </a:xfrm>
        </p:grpSpPr>
        <p:grpSp>
          <p:nvGrpSpPr>
            <p:cNvPr id="165" name="组合 164">
              <a:extLst>
                <a:ext uri="{FF2B5EF4-FFF2-40B4-BE49-F238E27FC236}">
                  <a16:creationId xmlns:a16="http://schemas.microsoft.com/office/drawing/2014/main" id="{F9073635-9DE9-4E42-A1A0-5AA51CB2460A}"/>
                </a:ext>
              </a:extLst>
            </p:cNvPr>
            <p:cNvGrpSpPr/>
            <p:nvPr/>
          </p:nvGrpSpPr>
          <p:grpSpPr>
            <a:xfrm>
              <a:off x="3400702" y="5704698"/>
              <a:ext cx="635647" cy="606462"/>
              <a:chOff x="7319483" y="6149946"/>
              <a:chExt cx="635647" cy="606462"/>
            </a:xfrm>
          </p:grpSpPr>
          <p:sp>
            <p:nvSpPr>
              <p:cNvPr id="169" name="等腰三角形 168">
                <a:extLst>
                  <a:ext uri="{FF2B5EF4-FFF2-40B4-BE49-F238E27FC236}">
                    <a16:creationId xmlns:a16="http://schemas.microsoft.com/office/drawing/2014/main" id="{7BD689D7-C940-4278-8C0C-99CDFEBB2403}"/>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0" name="直接连接符 169">
                <a:extLst>
                  <a:ext uri="{FF2B5EF4-FFF2-40B4-BE49-F238E27FC236}">
                    <a16:creationId xmlns:a16="http://schemas.microsoft.com/office/drawing/2014/main" id="{7A2148D1-957D-4FCA-8CFC-DEF5D7AF23EF}"/>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71" name="文本框 170">
                <a:extLst>
                  <a:ext uri="{FF2B5EF4-FFF2-40B4-BE49-F238E27FC236}">
                    <a16:creationId xmlns:a16="http://schemas.microsoft.com/office/drawing/2014/main" id="{E3F9FDF3-F063-43CC-BDD4-33F7AFA056DB}"/>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2" name="组合 171">
              <a:extLst>
                <a:ext uri="{FF2B5EF4-FFF2-40B4-BE49-F238E27FC236}">
                  <a16:creationId xmlns:a16="http://schemas.microsoft.com/office/drawing/2014/main" id="{85561ABC-F72D-4F4D-832E-FA1423A344A6}"/>
                </a:ext>
              </a:extLst>
            </p:cNvPr>
            <p:cNvGrpSpPr/>
            <p:nvPr/>
          </p:nvGrpSpPr>
          <p:grpSpPr>
            <a:xfrm>
              <a:off x="6239013" y="5698367"/>
              <a:ext cx="635647" cy="606462"/>
              <a:chOff x="7319483" y="6149946"/>
              <a:chExt cx="635647" cy="606462"/>
            </a:xfrm>
          </p:grpSpPr>
          <p:sp>
            <p:nvSpPr>
              <p:cNvPr id="173" name="等腰三角形 172">
                <a:extLst>
                  <a:ext uri="{FF2B5EF4-FFF2-40B4-BE49-F238E27FC236}">
                    <a16:creationId xmlns:a16="http://schemas.microsoft.com/office/drawing/2014/main" id="{2190EE89-B18A-4BC6-B18D-C59BBEDC7493}"/>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5" name="直接连接符 174">
                <a:extLst>
                  <a:ext uri="{FF2B5EF4-FFF2-40B4-BE49-F238E27FC236}">
                    <a16:creationId xmlns:a16="http://schemas.microsoft.com/office/drawing/2014/main" id="{6602F9A1-BBE1-40B6-82EE-D90C0B624632}"/>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76" name="文本框 175">
                <a:extLst>
                  <a:ext uri="{FF2B5EF4-FFF2-40B4-BE49-F238E27FC236}">
                    <a16:creationId xmlns:a16="http://schemas.microsoft.com/office/drawing/2014/main" id="{A550E087-75C5-4D4A-9B34-1385CA14D9C5}"/>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8" name="组合 177">
              <a:extLst>
                <a:ext uri="{FF2B5EF4-FFF2-40B4-BE49-F238E27FC236}">
                  <a16:creationId xmlns:a16="http://schemas.microsoft.com/office/drawing/2014/main" id="{FB5BDC5E-BBD6-4F14-A720-9FADBF52D855}"/>
                </a:ext>
              </a:extLst>
            </p:cNvPr>
            <p:cNvGrpSpPr/>
            <p:nvPr/>
          </p:nvGrpSpPr>
          <p:grpSpPr>
            <a:xfrm>
              <a:off x="8604217" y="5690626"/>
              <a:ext cx="635647" cy="606462"/>
              <a:chOff x="7319483" y="6149946"/>
              <a:chExt cx="635647" cy="606462"/>
            </a:xfrm>
          </p:grpSpPr>
          <p:sp>
            <p:nvSpPr>
              <p:cNvPr id="179" name="等腰三角形 178">
                <a:extLst>
                  <a:ext uri="{FF2B5EF4-FFF2-40B4-BE49-F238E27FC236}">
                    <a16:creationId xmlns:a16="http://schemas.microsoft.com/office/drawing/2014/main" id="{E0BBC061-6E5B-488D-B624-B6A91E90843E}"/>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0" name="直接连接符 179">
                <a:extLst>
                  <a:ext uri="{FF2B5EF4-FFF2-40B4-BE49-F238E27FC236}">
                    <a16:creationId xmlns:a16="http://schemas.microsoft.com/office/drawing/2014/main" id="{97D27E7B-605D-4642-8CD7-AEA3DC1F16CE}"/>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81" name="文本框 180">
                <a:extLst>
                  <a:ext uri="{FF2B5EF4-FFF2-40B4-BE49-F238E27FC236}">
                    <a16:creationId xmlns:a16="http://schemas.microsoft.com/office/drawing/2014/main" id="{EC8E1DEA-5D29-44C4-B951-7C9467BB6C2D}"/>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82" name="组合 181">
              <a:extLst>
                <a:ext uri="{FF2B5EF4-FFF2-40B4-BE49-F238E27FC236}">
                  <a16:creationId xmlns:a16="http://schemas.microsoft.com/office/drawing/2014/main" id="{06C9BB64-C8D5-4E42-A7B8-D8BB9F6FAC03}"/>
                </a:ext>
              </a:extLst>
            </p:cNvPr>
            <p:cNvGrpSpPr/>
            <p:nvPr/>
          </p:nvGrpSpPr>
          <p:grpSpPr>
            <a:xfrm>
              <a:off x="10608324" y="5695692"/>
              <a:ext cx="635647" cy="606462"/>
              <a:chOff x="7319483" y="6149946"/>
              <a:chExt cx="635647" cy="606462"/>
            </a:xfrm>
          </p:grpSpPr>
          <p:sp>
            <p:nvSpPr>
              <p:cNvPr id="183" name="等腰三角形 182">
                <a:extLst>
                  <a:ext uri="{FF2B5EF4-FFF2-40B4-BE49-F238E27FC236}">
                    <a16:creationId xmlns:a16="http://schemas.microsoft.com/office/drawing/2014/main" id="{98E49E87-5393-44DE-86E7-89181FB5DBC3}"/>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4" name="直接连接符 183">
                <a:extLst>
                  <a:ext uri="{FF2B5EF4-FFF2-40B4-BE49-F238E27FC236}">
                    <a16:creationId xmlns:a16="http://schemas.microsoft.com/office/drawing/2014/main" id="{2E012FC9-E2CA-4FAC-989F-19B2690D43EB}"/>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85" name="文本框 184">
                <a:extLst>
                  <a:ext uri="{FF2B5EF4-FFF2-40B4-BE49-F238E27FC236}">
                    <a16:creationId xmlns:a16="http://schemas.microsoft.com/office/drawing/2014/main" id="{2A786CD7-44A2-4A0C-9028-B164D067C232}"/>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sp>
        <p:nvSpPr>
          <p:cNvPr id="187" name="矩形 186"/>
          <p:cNvSpPr/>
          <p:nvPr/>
        </p:nvSpPr>
        <p:spPr>
          <a:xfrm>
            <a:off x="9666959" y="6049109"/>
            <a:ext cx="893193" cy="369332"/>
          </a:xfrm>
          <a:prstGeom prst="rect">
            <a:avLst/>
          </a:prstGeom>
        </p:spPr>
        <p:style>
          <a:lnRef idx="1">
            <a:schemeClr val="accent4"/>
          </a:lnRef>
          <a:fillRef idx="2">
            <a:schemeClr val="accent4"/>
          </a:fillRef>
          <a:effectRef idx="1">
            <a:schemeClr val="accent4"/>
          </a:effectRef>
          <a:fontRef idx="minor">
            <a:schemeClr val="dk1"/>
          </a:fontRef>
        </p:style>
        <p:txBody>
          <a:bodyPr wrap="none">
            <a:spAutoFit/>
          </a:bodyPr>
          <a:lstStyle/>
          <a:p>
            <a:r>
              <a:rPr lang="en-US" altLang="zh-CN" b="1" dirty="0" err="1">
                <a:solidFill>
                  <a:srgbClr val="FF0000"/>
                </a:solidFill>
                <a:latin typeface="Times New Roman" panose="02020603050405020304" pitchFamily="18" charset="0"/>
                <a:cs typeface="Times New Roman" panose="02020603050405020304" pitchFamily="18" charset="0"/>
              </a:rPr>
              <a:t>rd</a:t>
            </a:r>
            <a:r>
              <a:rPr lang="en-US" altLang="zh-CN" b="1" dirty="0">
                <a:solidFill>
                  <a:srgbClr val="FF0000"/>
                </a:solidFill>
                <a:latin typeface="Times New Roman" panose="02020603050405020304" pitchFamily="18" charset="0"/>
                <a:cs typeface="Times New Roman" panose="02020603050405020304" pitchFamily="18" charset="0"/>
              </a:rPr>
              <a:t>=x10</a:t>
            </a:r>
            <a:endParaRPr lang="zh-CN" altLang="en-US" dirty="0">
              <a:solidFill>
                <a:srgbClr val="FF0000"/>
              </a:solidFill>
            </a:endParaRPr>
          </a:p>
        </p:txBody>
      </p:sp>
      <p:sp>
        <p:nvSpPr>
          <p:cNvPr id="191" name="矩形 190"/>
          <p:cNvSpPr/>
          <p:nvPr/>
        </p:nvSpPr>
        <p:spPr>
          <a:xfrm>
            <a:off x="10458039" y="896414"/>
            <a:ext cx="1441420" cy="369332"/>
          </a:xfrm>
          <a:prstGeom prst="rect">
            <a:avLst/>
          </a:prstGeom>
        </p:spPr>
        <p:txBody>
          <a:bodyPr wrap="none">
            <a:spAutoFit/>
          </a:bodyPr>
          <a:lstStyle/>
          <a:p>
            <a:r>
              <a:rPr lang="en-US" altLang="zh-CN" dirty="0" err="1">
                <a:latin typeface="Times New Roman" panose="02020603050405020304" pitchFamily="18" charset="0"/>
                <a:cs typeface="Times New Roman" panose="02020603050405020304" pitchFamily="18" charset="0"/>
              </a:rPr>
              <a:t>ld</a:t>
            </a:r>
            <a:r>
              <a:rPr lang="en-US" altLang="zh-CN" dirty="0">
                <a:latin typeface="Times New Roman" panose="02020603050405020304" pitchFamily="18" charset="0"/>
                <a:cs typeface="Times New Roman" panose="02020603050405020304" pitchFamily="18" charset="0"/>
              </a:rPr>
              <a:t> </a:t>
            </a:r>
            <a:r>
              <a:rPr lang="en-US" altLang="zh-CN" dirty="0">
                <a:solidFill>
                  <a:srgbClr val="0000FF"/>
                </a:solidFill>
                <a:latin typeface="Times New Roman" panose="02020603050405020304" pitchFamily="18" charset="0"/>
                <a:cs typeface="Times New Roman" panose="02020603050405020304" pitchFamily="18" charset="0"/>
              </a:rPr>
              <a:t>x10</a:t>
            </a:r>
            <a:r>
              <a:rPr lang="en-US" altLang="zh-CN" dirty="0">
                <a:latin typeface="Times New Roman" panose="02020603050405020304" pitchFamily="18" charset="0"/>
                <a:cs typeface="Times New Roman" panose="02020603050405020304" pitchFamily="18" charset="0"/>
              </a:rPr>
              <a:t>,40(x1)</a:t>
            </a:r>
            <a:endParaRPr lang="zh-CN" altLang="en-US" dirty="0">
              <a:latin typeface="Times New Roman" panose="02020603050405020304" pitchFamily="18" charset="0"/>
              <a:cs typeface="Times New Roman" panose="02020603050405020304" pitchFamily="18" charset="0"/>
            </a:endParaRPr>
          </a:p>
        </p:txBody>
      </p:sp>
      <p:sp>
        <p:nvSpPr>
          <p:cNvPr id="192" name="等腰三角形 191">
            <a:extLst>
              <a:ext uri="{FF2B5EF4-FFF2-40B4-BE49-F238E27FC236}">
                <a16:creationId xmlns:a16="http://schemas.microsoft.com/office/drawing/2014/main" id="{B2095892-539C-4630-AA41-086C8D73561E}"/>
              </a:ext>
            </a:extLst>
          </p:cNvPr>
          <p:cNvSpPr/>
          <p:nvPr/>
        </p:nvSpPr>
        <p:spPr>
          <a:xfrm>
            <a:off x="9365150" y="5072582"/>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93" name="直接连接符 192">
            <a:extLst>
              <a:ext uri="{FF2B5EF4-FFF2-40B4-BE49-F238E27FC236}">
                <a16:creationId xmlns:a16="http://schemas.microsoft.com/office/drawing/2014/main" id="{28416F72-B8E8-4565-A511-0EF9ECB39E1F}"/>
              </a:ext>
            </a:extLst>
          </p:cNvPr>
          <p:cNvCxnSpPr>
            <a:cxnSpLocks/>
          </p:cNvCxnSpPr>
          <p:nvPr/>
        </p:nvCxnSpPr>
        <p:spPr>
          <a:xfrm>
            <a:off x="9404991" y="5163820"/>
            <a:ext cx="0" cy="132031"/>
          </a:xfrm>
          <a:prstGeom prst="line">
            <a:avLst/>
          </a:prstGeom>
        </p:spPr>
        <p:style>
          <a:lnRef idx="3">
            <a:schemeClr val="dk1"/>
          </a:lnRef>
          <a:fillRef idx="0">
            <a:schemeClr val="dk1"/>
          </a:fillRef>
          <a:effectRef idx="2">
            <a:schemeClr val="dk1"/>
          </a:effectRef>
          <a:fontRef idx="minor">
            <a:schemeClr val="tx1"/>
          </a:fontRef>
        </p:style>
      </p:cxnSp>
      <p:sp>
        <p:nvSpPr>
          <p:cNvPr id="194" name="文本框 193">
            <a:extLst>
              <a:ext uri="{FF2B5EF4-FFF2-40B4-BE49-F238E27FC236}">
                <a16:creationId xmlns:a16="http://schemas.microsoft.com/office/drawing/2014/main" id="{82457499-3F57-483F-A32A-7F39D7044D6D}"/>
              </a:ext>
            </a:extLst>
          </p:cNvPr>
          <p:cNvSpPr txBox="1"/>
          <p:nvPr/>
        </p:nvSpPr>
        <p:spPr>
          <a:xfrm>
            <a:off x="9239864" y="525550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195" name="等腰三角形 194">
            <a:extLst>
              <a:ext uri="{FF2B5EF4-FFF2-40B4-BE49-F238E27FC236}">
                <a16:creationId xmlns:a16="http://schemas.microsoft.com/office/drawing/2014/main" id="{B2095892-539C-4630-AA41-086C8D73561E}"/>
              </a:ext>
            </a:extLst>
          </p:cNvPr>
          <p:cNvSpPr/>
          <p:nvPr/>
        </p:nvSpPr>
        <p:spPr>
          <a:xfrm>
            <a:off x="4685476" y="4930755"/>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96" name="直接连接符 195">
            <a:extLst>
              <a:ext uri="{FF2B5EF4-FFF2-40B4-BE49-F238E27FC236}">
                <a16:creationId xmlns:a16="http://schemas.microsoft.com/office/drawing/2014/main" id="{28416F72-B8E8-4565-A511-0EF9ECB39E1F}"/>
              </a:ext>
            </a:extLst>
          </p:cNvPr>
          <p:cNvCxnSpPr>
            <a:cxnSpLocks/>
          </p:cNvCxnSpPr>
          <p:nvPr/>
        </p:nvCxnSpPr>
        <p:spPr>
          <a:xfrm>
            <a:off x="4725317" y="5021993"/>
            <a:ext cx="0" cy="132031"/>
          </a:xfrm>
          <a:prstGeom prst="line">
            <a:avLst/>
          </a:prstGeom>
        </p:spPr>
        <p:style>
          <a:lnRef idx="3">
            <a:schemeClr val="dk1"/>
          </a:lnRef>
          <a:fillRef idx="0">
            <a:schemeClr val="dk1"/>
          </a:fillRef>
          <a:effectRef idx="2">
            <a:schemeClr val="dk1"/>
          </a:effectRef>
          <a:fontRef idx="minor">
            <a:schemeClr val="tx1"/>
          </a:fontRef>
        </p:style>
      </p:cxnSp>
      <p:sp>
        <p:nvSpPr>
          <p:cNvPr id="197" name="文本框 196">
            <a:extLst>
              <a:ext uri="{FF2B5EF4-FFF2-40B4-BE49-F238E27FC236}">
                <a16:creationId xmlns:a16="http://schemas.microsoft.com/office/drawing/2014/main" id="{82457499-3F57-483F-A32A-7F39D7044D6D}"/>
              </a:ext>
            </a:extLst>
          </p:cNvPr>
          <p:cNvSpPr txBox="1"/>
          <p:nvPr/>
        </p:nvSpPr>
        <p:spPr>
          <a:xfrm>
            <a:off x="4589735" y="498474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extLst>
      <p:ext uri="{BB962C8B-B14F-4D97-AF65-F5344CB8AC3E}">
        <p14:creationId xmlns:p14="http://schemas.microsoft.com/office/powerpoint/2010/main" val="2828495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7"/>
                                        </p:tgtEl>
                                        <p:attrNameLst>
                                          <p:attrName>style.visibility</p:attrName>
                                        </p:attrNameLst>
                                      </p:cBhvr>
                                      <p:to>
                                        <p:strVal val="visible"/>
                                      </p:to>
                                    </p:set>
                                    <p:animEffect transition="in" filter="fade">
                                      <p:cBhvr>
                                        <p:cTn id="7" dur="500"/>
                                        <p:tgtEl>
                                          <p:spTgt spid="1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pPr lvl="1"/>
            <a:endPar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a:p>
            <a:endParaRPr lang="zh-CN" altLang="en-US" dirty="0"/>
          </a:p>
        </p:txBody>
      </p:sp>
      <p:grpSp>
        <p:nvGrpSpPr>
          <p:cNvPr id="20" name="PC"/>
          <p:cNvGrpSpPr/>
          <p:nvPr/>
        </p:nvGrpSpPr>
        <p:grpSpPr>
          <a:xfrm>
            <a:off x="1648705" y="2635320"/>
            <a:ext cx="508932" cy="707887"/>
            <a:chOff x="792726" y="4754326"/>
            <a:chExt cx="1018662" cy="607761"/>
          </a:xfrm>
        </p:grpSpPr>
        <p:sp>
          <p:nvSpPr>
            <p:cNvPr id="15" name="矩形 14"/>
            <p:cNvSpPr/>
            <p:nvPr/>
          </p:nvSpPr>
          <p:spPr>
            <a:xfrm>
              <a:off x="887030" y="4800600"/>
              <a:ext cx="639939" cy="502920"/>
            </a:xfrm>
            <a:prstGeom prst="rect">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9" name="文本框 18"/>
            <p:cNvSpPr txBox="1"/>
            <p:nvPr/>
          </p:nvSpPr>
          <p:spPr>
            <a:xfrm>
              <a:off x="792726" y="4754326"/>
              <a:ext cx="1018662" cy="607761"/>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PC</a:t>
              </a:r>
              <a:endParaRPr kumimoji="0" lang="zh-CN" alt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4" name="Add"/>
          <p:cNvGrpSpPr/>
          <p:nvPr/>
        </p:nvGrpSpPr>
        <p:grpSpPr>
          <a:xfrm>
            <a:off x="2485449" y="1584493"/>
            <a:ext cx="655949" cy="822349"/>
            <a:chOff x="4656246" y="4140786"/>
            <a:chExt cx="743403" cy="964617"/>
          </a:xfrm>
        </p:grpSpPr>
        <p:sp>
          <p:nvSpPr>
            <p:cNvPr id="22" name="梯形 21"/>
            <p:cNvSpPr/>
            <p:nvPr/>
          </p:nvSpPr>
          <p:spPr>
            <a:xfrm rot="5400000">
              <a:off x="4538209" y="4329347"/>
              <a:ext cx="964617" cy="587495"/>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3" name="文本框 22"/>
            <p:cNvSpPr txBox="1"/>
            <p:nvPr/>
          </p:nvSpPr>
          <p:spPr>
            <a:xfrm>
              <a:off x="4656246" y="4371481"/>
              <a:ext cx="743403"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36" name="IF/ID"/>
          <p:cNvGrpSpPr/>
          <p:nvPr/>
        </p:nvGrpSpPr>
        <p:grpSpPr>
          <a:xfrm>
            <a:off x="3336052" y="1133924"/>
            <a:ext cx="797013" cy="4114272"/>
            <a:chOff x="116128" y="450828"/>
            <a:chExt cx="955165" cy="5944486"/>
          </a:xfrm>
        </p:grpSpPr>
        <p:sp>
          <p:nvSpPr>
            <p:cNvPr id="34" name="矩形 33"/>
            <p:cNvSpPr/>
            <p:nvPr/>
          </p:nvSpPr>
          <p:spPr>
            <a:xfrm>
              <a:off x="358141" y="937259"/>
              <a:ext cx="358140" cy="5458055"/>
            </a:xfrm>
            <a:prstGeom prst="rect">
              <a:avLst/>
            </a:prstGeom>
            <a:solidFill>
              <a:srgbClr val="9CDCF9"/>
            </a:solidFill>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5" name="文本框 34"/>
            <p:cNvSpPr txBox="1"/>
            <p:nvPr/>
          </p:nvSpPr>
          <p:spPr>
            <a:xfrm>
              <a:off x="116128" y="450828"/>
              <a:ext cx="955165" cy="578097"/>
            </a:xfrm>
            <a:prstGeom prst="rect">
              <a:avLst/>
            </a:prstGeom>
            <a:ln w="25400">
              <a:noFill/>
            </a:ln>
          </p:spPr>
          <p:style>
            <a:lnRef idx="1">
              <a:schemeClr val="accent1"/>
            </a:lnRef>
            <a:fillRef idx="0">
              <a:schemeClr val="accent1"/>
            </a:fillRef>
            <a:effectRef idx="0">
              <a:schemeClr val="accent1"/>
            </a:effectRef>
            <a:fontRef idx="minor">
              <a:schemeClr val="tx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IF/ID</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45" name="Registers"/>
          <p:cNvGrpSpPr/>
          <p:nvPr/>
        </p:nvGrpSpPr>
        <p:grpSpPr>
          <a:xfrm>
            <a:off x="4466204" y="1894588"/>
            <a:ext cx="1726163" cy="2568442"/>
            <a:chOff x="1920262" y="241327"/>
            <a:chExt cx="3106114" cy="3344105"/>
          </a:xfrm>
        </p:grpSpPr>
        <p:sp>
          <p:nvSpPr>
            <p:cNvPr id="37" name="矩形 36"/>
            <p:cNvSpPr/>
            <p:nvPr/>
          </p:nvSpPr>
          <p:spPr>
            <a:xfrm>
              <a:off x="2026387" y="320244"/>
              <a:ext cx="2772304" cy="3265188"/>
            </a:xfrm>
            <a:prstGeom prst="rect">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 name="文本框 37"/>
            <p:cNvSpPr txBox="1"/>
            <p:nvPr/>
          </p:nvSpPr>
          <p:spPr>
            <a:xfrm>
              <a:off x="2121631" y="1515410"/>
              <a:ext cx="2149527" cy="52094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Registers</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 name="文本框 38"/>
            <p:cNvSpPr txBox="1"/>
            <p:nvPr/>
          </p:nvSpPr>
          <p:spPr>
            <a:xfrm>
              <a:off x="1920789" y="241327"/>
              <a:ext cx="2611979"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0" name="文本框 39"/>
            <p:cNvSpPr txBox="1"/>
            <p:nvPr/>
          </p:nvSpPr>
          <p:spPr>
            <a:xfrm>
              <a:off x="1920262" y="740405"/>
              <a:ext cx="2450645"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1" name="文本框 40"/>
            <p:cNvSpPr txBox="1"/>
            <p:nvPr/>
          </p:nvSpPr>
          <p:spPr>
            <a:xfrm>
              <a:off x="1925707" y="2479303"/>
              <a:ext cx="2199198"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reg</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2" name="文本框 41"/>
            <p:cNvSpPr txBox="1"/>
            <p:nvPr/>
          </p:nvSpPr>
          <p:spPr>
            <a:xfrm>
              <a:off x="1938951" y="2943791"/>
              <a:ext cx="2364242"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3" name="文本框 42"/>
            <p:cNvSpPr txBox="1"/>
            <p:nvPr/>
          </p:nvSpPr>
          <p:spPr>
            <a:xfrm>
              <a:off x="2467221" y="1159239"/>
              <a:ext cx="2524881"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4" name="文本框 43"/>
            <p:cNvSpPr txBox="1"/>
            <p:nvPr/>
          </p:nvSpPr>
          <p:spPr>
            <a:xfrm>
              <a:off x="2431051" y="1920895"/>
              <a:ext cx="2595325" cy="520942"/>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48" name="Imm Gen"/>
          <p:cNvGrpSpPr/>
          <p:nvPr/>
        </p:nvGrpSpPr>
        <p:grpSpPr>
          <a:xfrm>
            <a:off x="5263826" y="4630719"/>
            <a:ext cx="658095" cy="538474"/>
            <a:chOff x="4868693" y="6172575"/>
            <a:chExt cx="992993" cy="1215294"/>
          </a:xfrm>
        </p:grpSpPr>
        <p:sp>
          <p:nvSpPr>
            <p:cNvPr id="46" name="椭圆 45"/>
            <p:cNvSpPr/>
            <p:nvPr/>
          </p:nvSpPr>
          <p:spPr>
            <a:xfrm>
              <a:off x="4868693" y="6172575"/>
              <a:ext cx="984044" cy="1146747"/>
            </a:xfrm>
            <a:prstGeom prst="ellipse">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7" name="文本框 46"/>
            <p:cNvSpPr txBox="1"/>
            <p:nvPr/>
          </p:nvSpPr>
          <p:spPr>
            <a:xfrm>
              <a:off x="4895397" y="6339596"/>
              <a:ext cx="966289" cy="104827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Imm</a:t>
              </a: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Gen</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55" name="Add Sum"/>
          <p:cNvGrpSpPr/>
          <p:nvPr/>
        </p:nvGrpSpPr>
        <p:grpSpPr>
          <a:xfrm>
            <a:off x="7755619" y="1711963"/>
            <a:ext cx="655949" cy="768090"/>
            <a:chOff x="5634620" y="2480764"/>
            <a:chExt cx="1081993" cy="1475010"/>
          </a:xfrm>
        </p:grpSpPr>
        <p:sp>
          <p:nvSpPr>
            <p:cNvPr id="52" name="梯形 51"/>
            <p:cNvSpPr/>
            <p:nvPr/>
          </p:nvSpPr>
          <p:spPr>
            <a:xfrm rot="5400000">
              <a:off x="5424366" y="2770445"/>
              <a:ext cx="1475010" cy="895647"/>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4" name="文本框 53"/>
            <p:cNvSpPr txBox="1"/>
            <p:nvPr/>
          </p:nvSpPr>
          <p:spPr>
            <a:xfrm>
              <a:off x="5634620" y="2851177"/>
              <a:ext cx="1081993" cy="93914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Sum</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61" name="ALU"/>
          <p:cNvGrpSpPr/>
          <p:nvPr/>
        </p:nvGrpSpPr>
        <p:grpSpPr>
          <a:xfrm>
            <a:off x="7682543" y="2739216"/>
            <a:ext cx="880667" cy="1454509"/>
            <a:chOff x="6023805" y="3618922"/>
            <a:chExt cx="1295157" cy="1704463"/>
          </a:xfrm>
        </p:grpSpPr>
        <p:sp>
          <p:nvSpPr>
            <p:cNvPr id="57" name="梯形 56"/>
            <p:cNvSpPr/>
            <p:nvPr/>
          </p:nvSpPr>
          <p:spPr>
            <a:xfrm rot="5400000">
              <a:off x="5805450" y="3911167"/>
              <a:ext cx="1704463" cy="1119974"/>
            </a:xfrm>
            <a:prstGeom prst="trapezoid">
              <a:avLst>
                <a:gd name="adj" fmla="val 43158"/>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8" name="文本框 57"/>
            <p:cNvSpPr txBox="1"/>
            <p:nvPr/>
          </p:nvSpPr>
          <p:spPr>
            <a:xfrm>
              <a:off x="6023805" y="3779478"/>
              <a:ext cx="1070760"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ALU</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9" name="文本框 58"/>
            <p:cNvSpPr txBox="1"/>
            <p:nvPr/>
          </p:nvSpPr>
          <p:spPr>
            <a:xfrm>
              <a:off x="6212840" y="4596488"/>
              <a:ext cx="1106122" cy="347668"/>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result</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60" name="文本框 59"/>
            <p:cNvSpPr txBox="1"/>
            <p:nvPr/>
          </p:nvSpPr>
          <p:spPr>
            <a:xfrm>
              <a:off x="6276821" y="4080452"/>
              <a:ext cx="983534"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Zero</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65" name="shift left 1"/>
          <p:cNvGrpSpPr/>
          <p:nvPr/>
        </p:nvGrpSpPr>
        <p:grpSpPr>
          <a:xfrm>
            <a:off x="6703840" y="1863931"/>
            <a:ext cx="774571" cy="682474"/>
            <a:chOff x="6107415" y="4133981"/>
            <a:chExt cx="1189523" cy="1146746"/>
          </a:xfrm>
        </p:grpSpPr>
        <p:sp>
          <p:nvSpPr>
            <p:cNvPr id="63" name="椭圆 62"/>
            <p:cNvSpPr/>
            <p:nvPr/>
          </p:nvSpPr>
          <p:spPr>
            <a:xfrm>
              <a:off x="6161866" y="4133981"/>
              <a:ext cx="984043" cy="1146746"/>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64" name="文本框 63"/>
            <p:cNvSpPr txBox="1"/>
            <p:nvPr/>
          </p:nvSpPr>
          <p:spPr>
            <a:xfrm>
              <a:off x="6107415" y="4371720"/>
              <a:ext cx="1189523" cy="821732"/>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Shift </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left 1</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72" name="Mux 3"/>
          <p:cNvGrpSpPr/>
          <p:nvPr/>
        </p:nvGrpSpPr>
        <p:grpSpPr>
          <a:xfrm>
            <a:off x="11249672" y="3800965"/>
            <a:ext cx="596486" cy="1168007"/>
            <a:chOff x="3628473" y="5448300"/>
            <a:chExt cx="839025" cy="1230515"/>
          </a:xfrm>
        </p:grpSpPr>
        <p:sp>
          <p:nvSpPr>
            <p:cNvPr id="73" name="mux"/>
            <p:cNvSpPr/>
            <p:nvPr/>
          </p:nvSpPr>
          <p:spPr>
            <a:xfrm rot="5400000">
              <a:off x="3386121" y="5744398"/>
              <a:ext cx="1230515" cy="638319"/>
            </a:xfrm>
            <a:prstGeom prst="flowChartTerminator">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4" name="文本框 73"/>
            <p:cNvSpPr txBox="1"/>
            <p:nvPr/>
          </p:nvSpPr>
          <p:spPr>
            <a:xfrm>
              <a:off x="3628473" y="5492154"/>
              <a:ext cx="260679"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5" name="文本框 74"/>
            <p:cNvSpPr txBox="1"/>
            <p:nvPr/>
          </p:nvSpPr>
          <p:spPr>
            <a:xfrm>
              <a:off x="3641695" y="6293721"/>
              <a:ext cx="404061" cy="35667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6" name="文本框 75"/>
            <p:cNvSpPr txBox="1"/>
            <p:nvPr/>
          </p:nvSpPr>
          <p:spPr>
            <a:xfrm>
              <a:off x="3867268" y="5599309"/>
              <a:ext cx="600230" cy="1070017"/>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101" name="矩形 100"/>
          <p:cNvSpPr/>
          <p:nvPr/>
        </p:nvSpPr>
        <p:spPr>
          <a:xfrm>
            <a:off x="6371256" y="1478239"/>
            <a:ext cx="316009" cy="3769417"/>
          </a:xfrm>
          <a:prstGeom prst="rect">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11" name="矩形 110"/>
          <p:cNvSpPr/>
          <p:nvPr/>
        </p:nvSpPr>
        <p:spPr>
          <a:xfrm>
            <a:off x="8749001" y="1482989"/>
            <a:ext cx="291194" cy="3754340"/>
          </a:xfrm>
          <a:prstGeom prst="rect">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1" name="矩形 120"/>
          <p:cNvSpPr/>
          <p:nvPr/>
        </p:nvSpPr>
        <p:spPr>
          <a:xfrm>
            <a:off x="10750832" y="1469554"/>
            <a:ext cx="300877" cy="3767775"/>
          </a:xfrm>
          <a:prstGeom prst="rect">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160" name="直接连接符 159"/>
          <p:cNvCxnSpPr/>
          <p:nvPr/>
        </p:nvCxnSpPr>
        <p:spPr>
          <a:xfrm flipV="1">
            <a:off x="3836834" y="1793767"/>
            <a:ext cx="2534421" cy="109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直接连接符 160"/>
          <p:cNvCxnSpPr/>
          <p:nvPr/>
        </p:nvCxnSpPr>
        <p:spPr>
          <a:xfrm>
            <a:off x="2015539" y="2995791"/>
            <a:ext cx="25830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直接连接符 162"/>
          <p:cNvCxnSpPr>
            <a:stCxn id="22" idx="0"/>
          </p:cNvCxnSpPr>
          <p:nvPr/>
        </p:nvCxnSpPr>
        <p:spPr>
          <a:xfrm flipV="1">
            <a:off x="3066061" y="1993780"/>
            <a:ext cx="82559" cy="18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a:off x="2104143" y="1720675"/>
            <a:ext cx="43729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flipH="1">
            <a:off x="2104143" y="1711963"/>
            <a:ext cx="3782" cy="1271738"/>
          </a:xfrm>
          <a:prstGeom prst="line">
            <a:avLst/>
          </a:prstGeom>
          <a:ln w="25400">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3139742" y="1303861"/>
            <a:ext cx="0" cy="6899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a:stCxn id="52" idx="0"/>
          </p:cNvCxnSpPr>
          <p:nvPr/>
        </p:nvCxnSpPr>
        <p:spPr>
          <a:xfrm flipV="1">
            <a:off x="8346757" y="2096008"/>
            <a:ext cx="404306"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直接连接符 187"/>
          <p:cNvCxnSpPr/>
          <p:nvPr/>
        </p:nvCxnSpPr>
        <p:spPr>
          <a:xfrm>
            <a:off x="850618" y="1303861"/>
            <a:ext cx="22980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a:off x="850618" y="1303861"/>
            <a:ext cx="0" cy="13869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a:off x="4145076" y="2125731"/>
            <a:ext cx="409392"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4131819" y="2478582"/>
            <a:ext cx="395373"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a:off x="6070427" y="2934102"/>
            <a:ext cx="30542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a:xfrm>
            <a:off x="6070428" y="3375484"/>
            <a:ext cx="29581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8" name="直接连接符 217"/>
          <p:cNvCxnSpPr/>
          <p:nvPr/>
        </p:nvCxnSpPr>
        <p:spPr>
          <a:xfrm flipV="1">
            <a:off x="5918385" y="4868503"/>
            <a:ext cx="457463" cy="719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1" name="直接连接符 260"/>
          <p:cNvCxnSpPr/>
          <p:nvPr/>
        </p:nvCxnSpPr>
        <p:spPr>
          <a:xfrm>
            <a:off x="7409529" y="2218501"/>
            <a:ext cx="36100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3" name="直接连接符 262"/>
          <p:cNvCxnSpPr/>
          <p:nvPr/>
        </p:nvCxnSpPr>
        <p:spPr>
          <a:xfrm>
            <a:off x="6695772" y="2959633"/>
            <a:ext cx="103718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2" name="Mux 3"/>
          <p:cNvGrpSpPr/>
          <p:nvPr/>
        </p:nvGrpSpPr>
        <p:grpSpPr>
          <a:xfrm>
            <a:off x="980794" y="2479363"/>
            <a:ext cx="615567" cy="1168007"/>
            <a:chOff x="3339670" y="5460516"/>
            <a:chExt cx="901073" cy="1230515"/>
          </a:xfrm>
        </p:grpSpPr>
        <p:sp>
          <p:nvSpPr>
            <p:cNvPr id="133" name="mux"/>
            <p:cNvSpPr/>
            <p:nvPr/>
          </p:nvSpPr>
          <p:spPr>
            <a:xfrm rot="5400000">
              <a:off x="3140776" y="5731027"/>
              <a:ext cx="1230515" cy="689494"/>
            </a:xfrm>
            <a:prstGeom prst="flowChartTerminator">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4" name="文本框 133"/>
            <p:cNvSpPr txBox="1"/>
            <p:nvPr/>
          </p:nvSpPr>
          <p:spPr>
            <a:xfrm>
              <a:off x="3365437" y="5514581"/>
              <a:ext cx="260684"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5" name="文本框 134"/>
            <p:cNvSpPr txBox="1"/>
            <p:nvPr/>
          </p:nvSpPr>
          <p:spPr>
            <a:xfrm>
              <a:off x="3339670" y="6240974"/>
              <a:ext cx="324022"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6" name="文本框 135"/>
            <p:cNvSpPr txBox="1"/>
            <p:nvPr/>
          </p:nvSpPr>
          <p:spPr>
            <a:xfrm>
              <a:off x="3616106" y="5588478"/>
              <a:ext cx="624637" cy="107001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52" name="直接连接符 151"/>
          <p:cNvCxnSpPr/>
          <p:nvPr/>
        </p:nvCxnSpPr>
        <p:spPr>
          <a:xfrm>
            <a:off x="8501372" y="3698004"/>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a:off x="9052058" y="3707969"/>
            <a:ext cx="28232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a:off x="9031887" y="4323026"/>
            <a:ext cx="3068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10550113" y="4002810"/>
            <a:ext cx="20911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56" name="Mux 3"/>
          <p:cNvGrpSpPr/>
          <p:nvPr/>
        </p:nvGrpSpPr>
        <p:grpSpPr>
          <a:xfrm>
            <a:off x="7047068" y="3076837"/>
            <a:ext cx="482064" cy="1168006"/>
            <a:chOff x="3558568" y="5448300"/>
            <a:chExt cx="706348" cy="1230515"/>
          </a:xfrm>
        </p:grpSpPr>
        <p:sp>
          <p:nvSpPr>
            <p:cNvPr id="157" name="mux"/>
            <p:cNvSpPr/>
            <p:nvPr/>
          </p:nvSpPr>
          <p:spPr>
            <a:xfrm rot="5400000">
              <a:off x="3332723" y="5746622"/>
              <a:ext cx="1230515" cy="633871"/>
            </a:xfrm>
            <a:prstGeom prst="flowChartTerminator">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8" name="文本框 157"/>
            <p:cNvSpPr txBox="1"/>
            <p:nvPr/>
          </p:nvSpPr>
          <p:spPr>
            <a:xfrm>
              <a:off x="3571052" y="5580627"/>
              <a:ext cx="260683"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9" name="文本框 158"/>
            <p:cNvSpPr txBox="1"/>
            <p:nvPr/>
          </p:nvSpPr>
          <p:spPr>
            <a:xfrm>
              <a:off x="3558568" y="6264229"/>
              <a:ext cx="408929" cy="34293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6" name="文本框 165"/>
            <p:cNvSpPr txBox="1"/>
            <p:nvPr/>
          </p:nvSpPr>
          <p:spPr>
            <a:xfrm>
              <a:off x="3747999" y="5579240"/>
              <a:ext cx="462611" cy="1070019"/>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68" name="直接连接符 167"/>
          <p:cNvCxnSpPr/>
          <p:nvPr/>
        </p:nvCxnSpPr>
        <p:spPr>
          <a:xfrm flipV="1">
            <a:off x="1508893" y="2989398"/>
            <a:ext cx="178001" cy="5"/>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a:xfrm>
            <a:off x="2346907" y="2182881"/>
            <a:ext cx="18646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a:off x="6695772" y="1788495"/>
            <a:ext cx="1083649" cy="7422"/>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flipH="1">
            <a:off x="6918450" y="2530682"/>
            <a:ext cx="22498" cy="19552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a:off x="6695772" y="4485932"/>
            <a:ext cx="24517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a:off x="6695772" y="3375484"/>
            <a:ext cx="40077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a:off x="6930313" y="4031163"/>
            <a:ext cx="182537" cy="853"/>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a:off x="6817476" y="4323024"/>
            <a:ext cx="1931532"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a:off x="6817476" y="3375484"/>
            <a:ext cx="1766" cy="947540"/>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a:off x="9152409" y="3704407"/>
            <a:ext cx="0" cy="1068388"/>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flipV="1">
            <a:off x="9152409" y="4766996"/>
            <a:ext cx="1599091" cy="572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1" name="直接连接符 270"/>
          <p:cNvCxnSpPr/>
          <p:nvPr/>
        </p:nvCxnSpPr>
        <p:spPr>
          <a:xfrm>
            <a:off x="11042375" y="4756531"/>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3" name="直接连接符 272"/>
          <p:cNvCxnSpPr/>
          <p:nvPr/>
        </p:nvCxnSpPr>
        <p:spPr>
          <a:xfrm>
            <a:off x="7529133" y="3841236"/>
            <a:ext cx="21340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1" name="直接连接符 360"/>
          <p:cNvCxnSpPr>
            <a:endCxn id="76" idx="3"/>
          </p:cNvCxnSpPr>
          <p:nvPr/>
        </p:nvCxnSpPr>
        <p:spPr>
          <a:xfrm>
            <a:off x="11713470" y="4424360"/>
            <a:ext cx="132688" cy="27775"/>
          </a:xfrm>
          <a:prstGeom prst="line">
            <a:avLst/>
          </a:prstGeom>
          <a:ln w="25400">
            <a:noFill/>
          </a:ln>
        </p:spPr>
        <p:style>
          <a:lnRef idx="1">
            <a:schemeClr val="accent1"/>
          </a:lnRef>
          <a:fillRef idx="0">
            <a:schemeClr val="accent1"/>
          </a:fillRef>
          <a:effectRef idx="0">
            <a:schemeClr val="accent1"/>
          </a:effectRef>
          <a:fontRef idx="minor">
            <a:schemeClr val="tx1"/>
          </a:fontRef>
        </p:style>
      </p:cxnSp>
      <p:cxnSp>
        <p:nvCxnSpPr>
          <p:cNvPr id="362" name="直接连接符 361"/>
          <p:cNvCxnSpPr/>
          <p:nvPr/>
        </p:nvCxnSpPr>
        <p:spPr>
          <a:xfrm flipH="1">
            <a:off x="11909737" y="4406270"/>
            <a:ext cx="14406" cy="9965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8" name="直接连接符 367"/>
          <p:cNvCxnSpPr/>
          <p:nvPr/>
        </p:nvCxnSpPr>
        <p:spPr>
          <a:xfrm>
            <a:off x="4277776" y="4107935"/>
            <a:ext cx="0" cy="13086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2" name="直接连接符 371"/>
          <p:cNvCxnSpPr/>
          <p:nvPr/>
        </p:nvCxnSpPr>
        <p:spPr>
          <a:xfrm>
            <a:off x="4274417" y="4107935"/>
            <a:ext cx="247455" cy="48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7" name="直接连接符 376"/>
          <p:cNvCxnSpPr/>
          <p:nvPr/>
        </p:nvCxnSpPr>
        <p:spPr>
          <a:xfrm>
            <a:off x="679951" y="1058106"/>
            <a:ext cx="89899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8" name="直接连接符 387"/>
          <p:cNvCxnSpPr/>
          <p:nvPr/>
        </p:nvCxnSpPr>
        <p:spPr>
          <a:xfrm>
            <a:off x="679951" y="1067149"/>
            <a:ext cx="0" cy="23336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5" name="直接连接符 394"/>
          <p:cNvCxnSpPr/>
          <p:nvPr/>
        </p:nvCxnSpPr>
        <p:spPr>
          <a:xfrm>
            <a:off x="838200" y="2689210"/>
            <a:ext cx="165348" cy="65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7" name="直接连接符 396"/>
          <p:cNvCxnSpPr/>
          <p:nvPr/>
        </p:nvCxnSpPr>
        <p:spPr>
          <a:xfrm>
            <a:off x="670620" y="3396435"/>
            <a:ext cx="332520"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4" name="直接连接符 403"/>
          <p:cNvCxnSpPr/>
          <p:nvPr/>
        </p:nvCxnSpPr>
        <p:spPr>
          <a:xfrm>
            <a:off x="9669922" y="1058106"/>
            <a:ext cx="0" cy="10197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7" name="直接连接符 406"/>
          <p:cNvCxnSpPr/>
          <p:nvPr/>
        </p:nvCxnSpPr>
        <p:spPr>
          <a:xfrm flipV="1">
            <a:off x="9043478" y="2085849"/>
            <a:ext cx="641869" cy="51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2066283" y="1992435"/>
            <a:ext cx="20135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4</a:t>
            </a:r>
            <a:endParaRPr kumimoji="0" lang="zh-CN" altLang="en-US"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cxnSp>
        <p:nvCxnSpPr>
          <p:cNvPr id="247" name="直接连接符 246"/>
          <p:cNvCxnSpPr/>
          <p:nvPr/>
        </p:nvCxnSpPr>
        <p:spPr>
          <a:xfrm>
            <a:off x="11762062" y="4406270"/>
            <a:ext cx="16208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a:xfrm>
            <a:off x="4123081" y="2123670"/>
            <a:ext cx="0" cy="27611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a:off x="8501372" y="3297408"/>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a:off x="9042549" y="3297451"/>
            <a:ext cx="18594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连接符: 肘形 98"/>
          <p:cNvCxnSpPr/>
          <p:nvPr/>
        </p:nvCxnSpPr>
        <p:spPr>
          <a:xfrm flipV="1">
            <a:off x="2118109" y="1804681"/>
            <a:ext cx="1431289" cy="730238"/>
          </a:xfrm>
          <a:prstGeom prst="bentConnector3">
            <a:avLst>
              <a:gd name="adj1" fmla="val 82595"/>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238" name="文本框 237"/>
          <p:cNvSpPr txBox="1"/>
          <p:nvPr/>
        </p:nvSpPr>
        <p:spPr>
          <a:xfrm rot="10800000">
            <a:off x="3764711" y="1585880"/>
            <a:ext cx="430887" cy="1436503"/>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40" name="文本框 239"/>
          <p:cNvSpPr txBox="1"/>
          <p:nvPr/>
        </p:nvSpPr>
        <p:spPr>
          <a:xfrm>
            <a:off x="4693568" y="4898775"/>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32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64" name="文本框 263"/>
          <p:cNvSpPr txBox="1"/>
          <p:nvPr/>
        </p:nvSpPr>
        <p:spPr>
          <a:xfrm>
            <a:off x="5919453" y="4870498"/>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64</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245" name="直接连接符 244"/>
          <p:cNvCxnSpPr/>
          <p:nvPr/>
        </p:nvCxnSpPr>
        <p:spPr>
          <a:xfrm>
            <a:off x="4820326" y="4812376"/>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7" name="直接连接符 266"/>
          <p:cNvCxnSpPr/>
          <p:nvPr/>
        </p:nvCxnSpPr>
        <p:spPr>
          <a:xfrm>
            <a:off x="6048908" y="4806899"/>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V="1">
            <a:off x="4264322" y="5402792"/>
            <a:ext cx="7659820" cy="137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a:off x="11051706" y="4008875"/>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a:off x="3836834" y="3367383"/>
            <a:ext cx="285250" cy="0"/>
          </a:xfrm>
          <a:prstGeom prst="line">
            <a:avLst/>
          </a:prstGeom>
          <a:ln w="2540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p:txBody>
          <a:bodyPr/>
          <a:lstStyle/>
          <a:p>
            <a:r>
              <a:rPr lang="zh-CN" altLang="en-US" dirty="0"/>
              <a:t>用于加载指令的全部五个流水线阶段部分</a:t>
            </a:r>
          </a:p>
        </p:txBody>
      </p:sp>
      <p:cxnSp>
        <p:nvCxnSpPr>
          <p:cNvPr id="130" name="直接连接符 129"/>
          <p:cNvCxnSpPr/>
          <p:nvPr/>
        </p:nvCxnSpPr>
        <p:spPr>
          <a:xfrm>
            <a:off x="4123081" y="4885019"/>
            <a:ext cx="1143140"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3977837" y="3767189"/>
            <a:ext cx="544035"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a:off x="4122084" y="4884770"/>
            <a:ext cx="0" cy="25778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直接箭头连接符 140"/>
          <p:cNvCxnSpPr/>
          <p:nvPr/>
        </p:nvCxnSpPr>
        <p:spPr>
          <a:xfrm>
            <a:off x="4122084" y="5142559"/>
            <a:ext cx="22402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直接箭头连接符 141"/>
          <p:cNvCxnSpPr/>
          <p:nvPr/>
        </p:nvCxnSpPr>
        <p:spPr>
          <a:xfrm>
            <a:off x="6694966" y="5135699"/>
            <a:ext cx="203950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直接箭头连接符 142"/>
          <p:cNvCxnSpPr/>
          <p:nvPr/>
        </p:nvCxnSpPr>
        <p:spPr>
          <a:xfrm>
            <a:off x="9052058" y="5131002"/>
            <a:ext cx="168174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a:xfrm flipV="1">
            <a:off x="11060584" y="5142559"/>
            <a:ext cx="236174"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nvCxnSpPr>
        <p:spPr>
          <a:xfrm>
            <a:off x="11286375" y="5135200"/>
            <a:ext cx="0" cy="20123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接箭头连接符 145"/>
          <p:cNvCxnSpPr/>
          <p:nvPr/>
        </p:nvCxnSpPr>
        <p:spPr>
          <a:xfrm flipH="1">
            <a:off x="3977837" y="5336439"/>
            <a:ext cx="7318921"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7" name="直接连接符 146"/>
          <p:cNvCxnSpPr/>
          <p:nvPr/>
        </p:nvCxnSpPr>
        <p:spPr>
          <a:xfrm>
            <a:off x="3990398" y="3767189"/>
            <a:ext cx="0" cy="15808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2084050" y="2833035"/>
            <a:ext cx="1500650" cy="1040224"/>
            <a:chOff x="2047898" y="4138365"/>
            <a:chExt cx="1500650" cy="1040224"/>
          </a:xfrm>
        </p:grpSpPr>
        <p:sp>
          <p:nvSpPr>
            <p:cNvPr id="8" name="矩形 7"/>
            <p:cNvSpPr/>
            <p:nvPr/>
          </p:nvSpPr>
          <p:spPr>
            <a:xfrm>
              <a:off x="2245427" y="4173044"/>
              <a:ext cx="1087731" cy="983085"/>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8" name="矩形 147"/>
            <p:cNvSpPr/>
            <p:nvPr/>
          </p:nvSpPr>
          <p:spPr>
            <a:xfrm>
              <a:off x="2780500" y="4188771"/>
              <a:ext cx="540000" cy="961200"/>
            </a:xfrm>
            <a:prstGeom prst="rect">
              <a:avLst/>
            </a:prstGeom>
            <a:solidFill>
              <a:srgbClr val="9CDCF9"/>
            </a:solidFill>
            <a:ln w="25400">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 name="文本框 11"/>
            <p:cNvSpPr txBox="1"/>
            <p:nvPr/>
          </p:nvSpPr>
          <p:spPr>
            <a:xfrm>
              <a:off x="2190719" y="4138365"/>
              <a:ext cx="1024639"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15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162" name="直接连接符 161"/>
            <p:cNvCxnSpPr>
              <a:stCxn id="8" idx="3"/>
              <a:endCxn id="34" idx="1"/>
            </p:cNvCxnSpPr>
            <p:nvPr/>
          </p:nvCxnSpPr>
          <p:spPr>
            <a:xfrm flipV="1">
              <a:off x="3333158" y="4655199"/>
              <a:ext cx="168684" cy="938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5" name="文本框 284"/>
            <p:cNvSpPr txBox="1"/>
            <p:nvPr/>
          </p:nvSpPr>
          <p:spPr>
            <a:xfrm>
              <a:off x="2047898" y="4689544"/>
              <a:ext cx="1500650" cy="48904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 memory</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5" name="组合 4"/>
          <p:cNvGrpSpPr/>
          <p:nvPr/>
        </p:nvGrpSpPr>
        <p:grpSpPr>
          <a:xfrm>
            <a:off x="9269966" y="2983700"/>
            <a:ext cx="1417516" cy="1635472"/>
            <a:chOff x="9233814" y="4289030"/>
            <a:chExt cx="1417516" cy="1635472"/>
          </a:xfrm>
        </p:grpSpPr>
        <p:sp>
          <p:nvSpPr>
            <p:cNvPr id="82" name="矩形 81"/>
            <p:cNvSpPr/>
            <p:nvPr/>
          </p:nvSpPr>
          <p:spPr>
            <a:xfrm>
              <a:off x="9303540" y="4289030"/>
              <a:ext cx="1201208" cy="1635472"/>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9" name="矩形 148"/>
            <p:cNvSpPr/>
            <p:nvPr/>
          </p:nvSpPr>
          <p:spPr>
            <a:xfrm>
              <a:off x="9888682" y="4298051"/>
              <a:ext cx="601200" cy="1616400"/>
            </a:xfrm>
            <a:prstGeom prst="rect">
              <a:avLst/>
            </a:prstGeom>
            <a:solidFill>
              <a:srgbClr val="9CDCF9"/>
            </a:solidFill>
            <a:ln w="25400">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3" name="文本框 82"/>
            <p:cNvSpPr txBox="1"/>
            <p:nvPr/>
          </p:nvSpPr>
          <p:spPr>
            <a:xfrm>
              <a:off x="9291516" y="4314365"/>
              <a:ext cx="1234223" cy="48904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Data </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memory</a:t>
              </a:r>
            </a:p>
          </p:txBody>
        </p:sp>
        <p:sp>
          <p:nvSpPr>
            <p:cNvPr id="84" name="文本框 83"/>
            <p:cNvSpPr txBox="1"/>
            <p:nvPr/>
          </p:nvSpPr>
          <p:spPr>
            <a:xfrm>
              <a:off x="9236465" y="4847932"/>
              <a:ext cx="1078797" cy="400110"/>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7" name="文本框 86"/>
            <p:cNvSpPr txBox="1"/>
            <p:nvPr/>
          </p:nvSpPr>
          <p:spPr>
            <a:xfrm>
              <a:off x="9233814" y="5523261"/>
              <a:ext cx="1249484" cy="400110"/>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8" name="文本框 87"/>
            <p:cNvSpPr txBox="1"/>
            <p:nvPr/>
          </p:nvSpPr>
          <p:spPr>
            <a:xfrm>
              <a:off x="9393450" y="5162229"/>
              <a:ext cx="1257880" cy="400110"/>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150" name="文本框 149"/>
          <p:cNvSpPr txBox="1"/>
          <p:nvPr/>
        </p:nvSpPr>
        <p:spPr>
          <a:xfrm>
            <a:off x="6080556" y="1138925"/>
            <a:ext cx="898003"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ID/EX</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1" name="文本框 150"/>
          <p:cNvSpPr txBox="1"/>
          <p:nvPr/>
        </p:nvSpPr>
        <p:spPr>
          <a:xfrm>
            <a:off x="8266169" y="1086299"/>
            <a:ext cx="1268296"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EX/MEM</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5" name="文本框 164"/>
          <p:cNvSpPr txBox="1"/>
          <p:nvPr/>
        </p:nvSpPr>
        <p:spPr>
          <a:xfrm>
            <a:off x="10244209" y="1100245"/>
            <a:ext cx="1338828"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MEM/WB</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9" name="灯片编号占位符 1"/>
          <p:cNvSpPr>
            <a:spLocks noGrp="1"/>
          </p:cNvSpPr>
          <p:nvPr>
            <p:ph type="sldNum" sz="quarter" idx="12"/>
          </p:nvPr>
        </p:nvSpPr>
        <p:spPr>
          <a:xfrm>
            <a:off x="8940542" y="648279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nvGrpSpPr>
          <p:cNvPr id="170" name="组合 169">
            <a:extLst>
              <a:ext uri="{FF2B5EF4-FFF2-40B4-BE49-F238E27FC236}">
                <a16:creationId xmlns:a16="http://schemas.microsoft.com/office/drawing/2014/main" id="{752F68CD-5F89-4E46-B0BB-2D72CB51C370}"/>
              </a:ext>
            </a:extLst>
          </p:cNvPr>
          <p:cNvGrpSpPr/>
          <p:nvPr/>
        </p:nvGrpSpPr>
        <p:grpSpPr>
          <a:xfrm>
            <a:off x="3494832" y="5132290"/>
            <a:ext cx="7843269" cy="620534"/>
            <a:chOff x="3400702" y="5690626"/>
            <a:chExt cx="7843269" cy="620534"/>
          </a:xfrm>
        </p:grpSpPr>
        <p:grpSp>
          <p:nvGrpSpPr>
            <p:cNvPr id="171" name="组合 170">
              <a:extLst>
                <a:ext uri="{FF2B5EF4-FFF2-40B4-BE49-F238E27FC236}">
                  <a16:creationId xmlns:a16="http://schemas.microsoft.com/office/drawing/2014/main" id="{4ABA063C-2FCF-4485-8389-D0D6C7856389}"/>
                </a:ext>
              </a:extLst>
            </p:cNvPr>
            <p:cNvGrpSpPr/>
            <p:nvPr/>
          </p:nvGrpSpPr>
          <p:grpSpPr>
            <a:xfrm>
              <a:off x="3400702" y="5704698"/>
              <a:ext cx="635647" cy="606462"/>
              <a:chOff x="7319483" y="6149946"/>
              <a:chExt cx="635647" cy="606462"/>
            </a:xfrm>
          </p:grpSpPr>
          <p:sp>
            <p:nvSpPr>
              <p:cNvPr id="187" name="等腰三角形 186">
                <a:extLst>
                  <a:ext uri="{FF2B5EF4-FFF2-40B4-BE49-F238E27FC236}">
                    <a16:creationId xmlns:a16="http://schemas.microsoft.com/office/drawing/2014/main" id="{C4B2ECB1-2262-403C-919C-3C8FCB0E340D}"/>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9" name="直接连接符 188">
                <a:extLst>
                  <a:ext uri="{FF2B5EF4-FFF2-40B4-BE49-F238E27FC236}">
                    <a16:creationId xmlns:a16="http://schemas.microsoft.com/office/drawing/2014/main" id="{59A4058A-7305-49EA-91CA-90961B65ECCA}"/>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91" name="文本框 190">
                <a:extLst>
                  <a:ext uri="{FF2B5EF4-FFF2-40B4-BE49-F238E27FC236}">
                    <a16:creationId xmlns:a16="http://schemas.microsoft.com/office/drawing/2014/main" id="{A0F21D42-81B9-4945-9418-9ED746D866F2}"/>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2" name="组合 171">
              <a:extLst>
                <a:ext uri="{FF2B5EF4-FFF2-40B4-BE49-F238E27FC236}">
                  <a16:creationId xmlns:a16="http://schemas.microsoft.com/office/drawing/2014/main" id="{1DC638EE-2F81-4FCF-B000-A1272F6D803A}"/>
                </a:ext>
              </a:extLst>
            </p:cNvPr>
            <p:cNvGrpSpPr/>
            <p:nvPr/>
          </p:nvGrpSpPr>
          <p:grpSpPr>
            <a:xfrm>
              <a:off x="6239013" y="5698367"/>
              <a:ext cx="635647" cy="606462"/>
              <a:chOff x="7319483" y="6149946"/>
              <a:chExt cx="635647" cy="606462"/>
            </a:xfrm>
          </p:grpSpPr>
          <p:sp>
            <p:nvSpPr>
              <p:cNvPr id="183" name="等腰三角形 182">
                <a:extLst>
                  <a:ext uri="{FF2B5EF4-FFF2-40B4-BE49-F238E27FC236}">
                    <a16:creationId xmlns:a16="http://schemas.microsoft.com/office/drawing/2014/main" id="{42FF5576-05D7-42D4-A310-6F1F8A604C8C}"/>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4" name="直接连接符 183">
                <a:extLst>
                  <a:ext uri="{FF2B5EF4-FFF2-40B4-BE49-F238E27FC236}">
                    <a16:creationId xmlns:a16="http://schemas.microsoft.com/office/drawing/2014/main" id="{14AC1F3A-BE58-4EBE-8DB2-B24F820AF446}"/>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85" name="文本框 184">
                <a:extLst>
                  <a:ext uri="{FF2B5EF4-FFF2-40B4-BE49-F238E27FC236}">
                    <a16:creationId xmlns:a16="http://schemas.microsoft.com/office/drawing/2014/main" id="{9224A32B-9E6D-4102-8283-F504ED2DA60C}"/>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3" name="组合 172">
              <a:extLst>
                <a:ext uri="{FF2B5EF4-FFF2-40B4-BE49-F238E27FC236}">
                  <a16:creationId xmlns:a16="http://schemas.microsoft.com/office/drawing/2014/main" id="{61F3F9B2-26DD-4353-A211-1CD2696CC235}"/>
                </a:ext>
              </a:extLst>
            </p:cNvPr>
            <p:cNvGrpSpPr/>
            <p:nvPr/>
          </p:nvGrpSpPr>
          <p:grpSpPr>
            <a:xfrm>
              <a:off x="8604217" y="5690626"/>
              <a:ext cx="635647" cy="606462"/>
              <a:chOff x="7319483" y="6149946"/>
              <a:chExt cx="635647" cy="606462"/>
            </a:xfrm>
          </p:grpSpPr>
          <p:sp>
            <p:nvSpPr>
              <p:cNvPr id="180" name="等腰三角形 179">
                <a:extLst>
                  <a:ext uri="{FF2B5EF4-FFF2-40B4-BE49-F238E27FC236}">
                    <a16:creationId xmlns:a16="http://schemas.microsoft.com/office/drawing/2014/main" id="{08A15C4F-175A-4447-9811-25BAD8E7AD54}"/>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1" name="直接连接符 180">
                <a:extLst>
                  <a:ext uri="{FF2B5EF4-FFF2-40B4-BE49-F238E27FC236}">
                    <a16:creationId xmlns:a16="http://schemas.microsoft.com/office/drawing/2014/main" id="{3670BAF2-5547-4041-9D37-D9B579C6C0E2}"/>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82" name="文本框 181">
                <a:extLst>
                  <a:ext uri="{FF2B5EF4-FFF2-40B4-BE49-F238E27FC236}">
                    <a16:creationId xmlns:a16="http://schemas.microsoft.com/office/drawing/2014/main" id="{75438E22-957C-45A1-A5C1-4A3E133A96C3}"/>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5" name="组合 174">
              <a:extLst>
                <a:ext uri="{FF2B5EF4-FFF2-40B4-BE49-F238E27FC236}">
                  <a16:creationId xmlns:a16="http://schemas.microsoft.com/office/drawing/2014/main" id="{D474F2E0-FD9B-4C52-BB79-F3E8A0B12674}"/>
                </a:ext>
              </a:extLst>
            </p:cNvPr>
            <p:cNvGrpSpPr/>
            <p:nvPr/>
          </p:nvGrpSpPr>
          <p:grpSpPr>
            <a:xfrm>
              <a:off x="10608324" y="5695692"/>
              <a:ext cx="635647" cy="606462"/>
              <a:chOff x="7319483" y="6149946"/>
              <a:chExt cx="635647" cy="606462"/>
            </a:xfrm>
          </p:grpSpPr>
          <p:sp>
            <p:nvSpPr>
              <p:cNvPr id="176" name="等腰三角形 175">
                <a:extLst>
                  <a:ext uri="{FF2B5EF4-FFF2-40B4-BE49-F238E27FC236}">
                    <a16:creationId xmlns:a16="http://schemas.microsoft.com/office/drawing/2014/main" id="{C9F34772-E58E-4CB5-BCF4-5BEFB13BAA96}"/>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8" name="直接连接符 177">
                <a:extLst>
                  <a:ext uri="{FF2B5EF4-FFF2-40B4-BE49-F238E27FC236}">
                    <a16:creationId xmlns:a16="http://schemas.microsoft.com/office/drawing/2014/main" id="{79A75C8E-88FF-43EA-9233-8D2BDF710794}"/>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79" name="文本框 178">
                <a:extLst>
                  <a:ext uri="{FF2B5EF4-FFF2-40B4-BE49-F238E27FC236}">
                    <a16:creationId xmlns:a16="http://schemas.microsoft.com/office/drawing/2014/main" id="{28079E00-CF88-431B-AE54-54682B936C60}"/>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sp>
        <p:nvSpPr>
          <p:cNvPr id="192" name="文本框 191"/>
          <p:cNvSpPr txBox="1"/>
          <p:nvPr/>
        </p:nvSpPr>
        <p:spPr>
          <a:xfrm rot="5400000">
            <a:off x="8070816" y="2176909"/>
            <a:ext cx="1691245" cy="369332"/>
          </a:xfrm>
          <a:prstGeom prst="rect">
            <a:avLst/>
          </a:prstGeom>
          <a:noFill/>
        </p:spPr>
        <p:txBody>
          <a:bodyPr wrap="square" rtlCol="0">
            <a:spAutoFit/>
          </a:bodyPr>
          <a:lstStyle/>
          <a:p>
            <a:r>
              <a:rPr lang="en-US" altLang="zh-CN" b="1" dirty="0" err="1">
                <a:solidFill>
                  <a:srgbClr val="FF0000"/>
                </a:solidFill>
              </a:rPr>
              <a:t>PC+imm</a:t>
            </a:r>
            <a:endParaRPr lang="zh-CN" altLang="en-US" b="1" dirty="0">
              <a:solidFill>
                <a:srgbClr val="FF0000"/>
              </a:solidFill>
            </a:endParaRPr>
          </a:p>
        </p:txBody>
      </p:sp>
      <p:sp>
        <p:nvSpPr>
          <p:cNvPr id="193" name="文本框 192"/>
          <p:cNvSpPr txBox="1"/>
          <p:nvPr/>
        </p:nvSpPr>
        <p:spPr>
          <a:xfrm rot="5400000">
            <a:off x="3155759" y="2017635"/>
            <a:ext cx="1106278" cy="369332"/>
          </a:xfrm>
          <a:prstGeom prst="rect">
            <a:avLst/>
          </a:prstGeom>
          <a:noFill/>
        </p:spPr>
        <p:txBody>
          <a:bodyPr wrap="square" rtlCol="0">
            <a:spAutoFit/>
          </a:bodyPr>
          <a:lstStyle/>
          <a:p>
            <a:r>
              <a:rPr lang="en-US" altLang="zh-CN" b="1" dirty="0">
                <a:solidFill>
                  <a:srgbClr val="FF0000"/>
                </a:solidFill>
              </a:rPr>
              <a:t>PC[63:0]</a:t>
            </a:r>
            <a:endParaRPr lang="zh-CN" altLang="en-US" b="1" dirty="0">
              <a:solidFill>
                <a:srgbClr val="FF0000"/>
              </a:solidFill>
            </a:endParaRPr>
          </a:p>
        </p:txBody>
      </p:sp>
      <p:sp>
        <p:nvSpPr>
          <p:cNvPr id="194" name="文本框 193"/>
          <p:cNvSpPr txBox="1"/>
          <p:nvPr/>
        </p:nvSpPr>
        <p:spPr>
          <a:xfrm rot="5400000">
            <a:off x="3079986" y="4259794"/>
            <a:ext cx="1262263" cy="369332"/>
          </a:xfrm>
          <a:prstGeom prst="rect">
            <a:avLst/>
          </a:prstGeom>
          <a:noFill/>
        </p:spPr>
        <p:txBody>
          <a:bodyPr wrap="square" rtlCol="0">
            <a:spAutoFit/>
          </a:bodyPr>
          <a:lstStyle/>
          <a:p>
            <a:r>
              <a:rPr lang="en-US" altLang="zh-CN" b="1" dirty="0" err="1">
                <a:solidFill>
                  <a:srgbClr val="FF0000"/>
                </a:solidFill>
              </a:rPr>
              <a:t>inst</a:t>
            </a:r>
            <a:r>
              <a:rPr lang="en-US" altLang="zh-CN" b="1" dirty="0">
                <a:solidFill>
                  <a:srgbClr val="FF0000"/>
                </a:solidFill>
              </a:rPr>
              <a:t>[31:0]</a:t>
            </a:r>
            <a:endParaRPr lang="zh-CN" altLang="en-US" b="1" dirty="0">
              <a:solidFill>
                <a:srgbClr val="FF0000"/>
              </a:solidFill>
            </a:endParaRPr>
          </a:p>
        </p:txBody>
      </p:sp>
      <p:sp>
        <p:nvSpPr>
          <p:cNvPr id="195" name="文本框 194"/>
          <p:cNvSpPr txBox="1"/>
          <p:nvPr/>
        </p:nvSpPr>
        <p:spPr>
          <a:xfrm rot="5400000">
            <a:off x="6336989" y="1541486"/>
            <a:ext cx="458096" cy="369332"/>
          </a:xfrm>
          <a:prstGeom prst="rect">
            <a:avLst/>
          </a:prstGeom>
          <a:noFill/>
        </p:spPr>
        <p:txBody>
          <a:bodyPr wrap="square" rtlCol="0">
            <a:spAutoFit/>
          </a:bodyPr>
          <a:lstStyle/>
          <a:p>
            <a:r>
              <a:rPr lang="en-US" altLang="zh-CN" b="1" dirty="0">
                <a:solidFill>
                  <a:srgbClr val="FF0000"/>
                </a:solidFill>
              </a:rPr>
              <a:t>PC</a:t>
            </a:r>
            <a:endParaRPr lang="zh-CN" altLang="en-US" b="1" dirty="0">
              <a:solidFill>
                <a:srgbClr val="FF0000"/>
              </a:solidFill>
            </a:endParaRPr>
          </a:p>
        </p:txBody>
      </p:sp>
      <p:sp>
        <p:nvSpPr>
          <p:cNvPr id="196" name="文本框 195"/>
          <p:cNvSpPr txBox="1"/>
          <p:nvPr/>
        </p:nvSpPr>
        <p:spPr>
          <a:xfrm rot="5400000">
            <a:off x="6225390" y="4231622"/>
            <a:ext cx="666647" cy="369332"/>
          </a:xfrm>
          <a:prstGeom prst="rect">
            <a:avLst/>
          </a:prstGeom>
          <a:noFill/>
        </p:spPr>
        <p:txBody>
          <a:bodyPr wrap="square" rtlCol="0">
            <a:spAutoFit/>
          </a:bodyPr>
          <a:lstStyle/>
          <a:p>
            <a:r>
              <a:rPr lang="en-US" altLang="zh-CN" b="1" dirty="0" err="1">
                <a:solidFill>
                  <a:srgbClr val="FF0000"/>
                </a:solidFill>
              </a:rPr>
              <a:t>imm</a:t>
            </a:r>
            <a:endParaRPr lang="zh-CN" altLang="en-US" b="1" dirty="0">
              <a:solidFill>
                <a:srgbClr val="FF0000"/>
              </a:solidFill>
            </a:endParaRPr>
          </a:p>
        </p:txBody>
      </p:sp>
      <p:sp>
        <p:nvSpPr>
          <p:cNvPr id="197" name="文本框 196"/>
          <p:cNvSpPr txBox="1"/>
          <p:nvPr/>
        </p:nvSpPr>
        <p:spPr>
          <a:xfrm rot="5400000">
            <a:off x="6000123" y="2346315"/>
            <a:ext cx="1134248" cy="369332"/>
          </a:xfrm>
          <a:prstGeom prst="rect">
            <a:avLst/>
          </a:prstGeom>
          <a:noFill/>
        </p:spPr>
        <p:txBody>
          <a:bodyPr wrap="square" rtlCol="0">
            <a:spAutoFit/>
          </a:bodyPr>
          <a:lstStyle/>
          <a:p>
            <a:r>
              <a:rPr lang="en-US" altLang="zh-CN" b="1" dirty="0" err="1">
                <a:solidFill>
                  <a:srgbClr val="FF0000"/>
                </a:solidFill>
              </a:rPr>
              <a:t>Reg</a:t>
            </a:r>
            <a:r>
              <a:rPr lang="en-US" altLang="zh-CN" b="1" dirty="0">
                <a:solidFill>
                  <a:srgbClr val="FF0000"/>
                </a:solidFill>
              </a:rPr>
              <a:t>[rs1]</a:t>
            </a:r>
            <a:endParaRPr lang="zh-CN" altLang="en-US" b="1" dirty="0">
              <a:solidFill>
                <a:srgbClr val="FF0000"/>
              </a:solidFill>
            </a:endParaRPr>
          </a:p>
        </p:txBody>
      </p:sp>
      <p:sp>
        <p:nvSpPr>
          <p:cNvPr id="198" name="文本框 197"/>
          <p:cNvSpPr txBox="1"/>
          <p:nvPr/>
        </p:nvSpPr>
        <p:spPr>
          <a:xfrm rot="5400000">
            <a:off x="6029019" y="3392140"/>
            <a:ext cx="1064318" cy="369332"/>
          </a:xfrm>
          <a:prstGeom prst="rect">
            <a:avLst/>
          </a:prstGeom>
          <a:noFill/>
        </p:spPr>
        <p:txBody>
          <a:bodyPr wrap="square" rtlCol="0">
            <a:spAutoFit/>
          </a:bodyPr>
          <a:lstStyle/>
          <a:p>
            <a:r>
              <a:rPr lang="en-US" altLang="zh-CN" b="1" dirty="0" err="1">
                <a:solidFill>
                  <a:srgbClr val="FF0000"/>
                </a:solidFill>
              </a:rPr>
              <a:t>Reg</a:t>
            </a:r>
            <a:r>
              <a:rPr lang="en-US" altLang="zh-CN" b="1" dirty="0">
                <a:solidFill>
                  <a:srgbClr val="FF0000"/>
                </a:solidFill>
              </a:rPr>
              <a:t>[rs2]</a:t>
            </a:r>
            <a:endParaRPr lang="zh-CN" altLang="en-US" b="1" dirty="0">
              <a:solidFill>
                <a:srgbClr val="FF0000"/>
              </a:solidFill>
            </a:endParaRPr>
          </a:p>
        </p:txBody>
      </p:sp>
      <p:sp>
        <p:nvSpPr>
          <p:cNvPr id="199" name="文本框 198"/>
          <p:cNvSpPr txBox="1"/>
          <p:nvPr/>
        </p:nvSpPr>
        <p:spPr>
          <a:xfrm rot="5400000">
            <a:off x="8399561" y="4031767"/>
            <a:ext cx="1064318" cy="369332"/>
          </a:xfrm>
          <a:prstGeom prst="rect">
            <a:avLst/>
          </a:prstGeom>
          <a:noFill/>
        </p:spPr>
        <p:txBody>
          <a:bodyPr wrap="square" rtlCol="0">
            <a:spAutoFit/>
          </a:bodyPr>
          <a:lstStyle/>
          <a:p>
            <a:r>
              <a:rPr lang="en-US" altLang="zh-CN" b="1" dirty="0" err="1">
                <a:solidFill>
                  <a:srgbClr val="FF0000"/>
                </a:solidFill>
              </a:rPr>
              <a:t>Reg</a:t>
            </a:r>
            <a:r>
              <a:rPr lang="en-US" altLang="zh-CN" b="1" dirty="0">
                <a:solidFill>
                  <a:srgbClr val="FF0000"/>
                </a:solidFill>
              </a:rPr>
              <a:t>[rs2]</a:t>
            </a:r>
            <a:endParaRPr lang="zh-CN" altLang="en-US" b="1" dirty="0">
              <a:solidFill>
                <a:srgbClr val="FF0000"/>
              </a:solidFill>
            </a:endParaRPr>
          </a:p>
        </p:txBody>
      </p:sp>
      <p:sp>
        <p:nvSpPr>
          <p:cNvPr id="200" name="文本框 199"/>
          <p:cNvSpPr txBox="1"/>
          <p:nvPr/>
        </p:nvSpPr>
        <p:spPr>
          <a:xfrm rot="5400000">
            <a:off x="8509547" y="3285452"/>
            <a:ext cx="828717" cy="369332"/>
          </a:xfrm>
          <a:prstGeom prst="rect">
            <a:avLst/>
          </a:prstGeom>
          <a:noFill/>
        </p:spPr>
        <p:txBody>
          <a:bodyPr wrap="square" rtlCol="0">
            <a:spAutoFit/>
          </a:bodyPr>
          <a:lstStyle/>
          <a:p>
            <a:r>
              <a:rPr lang="en-US" altLang="zh-CN" b="1" dirty="0">
                <a:solidFill>
                  <a:srgbClr val="0000FF"/>
                </a:solidFill>
              </a:rPr>
              <a:t>result</a:t>
            </a:r>
            <a:endParaRPr lang="zh-CN" altLang="en-US" b="1" dirty="0">
              <a:solidFill>
                <a:srgbClr val="0000FF"/>
              </a:solidFill>
            </a:endParaRPr>
          </a:p>
        </p:txBody>
      </p:sp>
      <p:sp>
        <p:nvSpPr>
          <p:cNvPr id="201" name="文本框 200"/>
          <p:cNvSpPr txBox="1"/>
          <p:nvPr/>
        </p:nvSpPr>
        <p:spPr>
          <a:xfrm rot="5400000">
            <a:off x="8512576" y="2769773"/>
            <a:ext cx="828717" cy="369332"/>
          </a:xfrm>
          <a:prstGeom prst="rect">
            <a:avLst/>
          </a:prstGeom>
          <a:noFill/>
        </p:spPr>
        <p:txBody>
          <a:bodyPr wrap="square" rtlCol="0">
            <a:spAutoFit/>
          </a:bodyPr>
          <a:lstStyle/>
          <a:p>
            <a:r>
              <a:rPr lang="en-US" altLang="zh-CN" b="1" dirty="0">
                <a:solidFill>
                  <a:srgbClr val="0000FF"/>
                </a:solidFill>
              </a:rPr>
              <a:t>zero</a:t>
            </a:r>
            <a:endParaRPr lang="zh-CN" altLang="en-US" b="1" dirty="0">
              <a:solidFill>
                <a:srgbClr val="0000FF"/>
              </a:solidFill>
            </a:endParaRPr>
          </a:p>
        </p:txBody>
      </p:sp>
      <p:sp>
        <p:nvSpPr>
          <p:cNvPr id="202" name="文本框 201"/>
          <p:cNvSpPr txBox="1"/>
          <p:nvPr/>
        </p:nvSpPr>
        <p:spPr>
          <a:xfrm rot="5400000">
            <a:off x="10524059" y="4152787"/>
            <a:ext cx="828717" cy="369332"/>
          </a:xfrm>
          <a:prstGeom prst="rect">
            <a:avLst/>
          </a:prstGeom>
          <a:noFill/>
        </p:spPr>
        <p:txBody>
          <a:bodyPr wrap="square" rtlCol="0">
            <a:spAutoFit/>
          </a:bodyPr>
          <a:lstStyle/>
          <a:p>
            <a:r>
              <a:rPr lang="en-US" altLang="zh-CN" b="1" dirty="0">
                <a:solidFill>
                  <a:srgbClr val="C00000"/>
                </a:solidFill>
              </a:rPr>
              <a:t>result</a:t>
            </a:r>
            <a:endParaRPr lang="zh-CN" altLang="en-US" b="1" dirty="0">
              <a:solidFill>
                <a:srgbClr val="C00000"/>
              </a:solidFill>
            </a:endParaRPr>
          </a:p>
        </p:txBody>
      </p:sp>
      <p:sp>
        <p:nvSpPr>
          <p:cNvPr id="204" name="文本框 203"/>
          <p:cNvSpPr txBox="1"/>
          <p:nvPr/>
        </p:nvSpPr>
        <p:spPr>
          <a:xfrm rot="5400000">
            <a:off x="10306155" y="3164458"/>
            <a:ext cx="1231828" cy="369332"/>
          </a:xfrm>
          <a:prstGeom prst="rect">
            <a:avLst/>
          </a:prstGeom>
          <a:noFill/>
        </p:spPr>
        <p:txBody>
          <a:bodyPr wrap="square" rtlCol="0">
            <a:spAutoFit/>
          </a:bodyPr>
          <a:lstStyle/>
          <a:p>
            <a:r>
              <a:rPr lang="en-US" altLang="zh-CN" b="1" dirty="0">
                <a:solidFill>
                  <a:srgbClr val="C00000"/>
                </a:solidFill>
              </a:rPr>
              <a:t>Read data</a:t>
            </a:r>
            <a:endParaRPr lang="zh-CN" altLang="en-US" b="1" dirty="0">
              <a:solidFill>
                <a:srgbClr val="C00000"/>
              </a:solidFill>
            </a:endParaRPr>
          </a:p>
        </p:txBody>
      </p:sp>
      <p:sp>
        <p:nvSpPr>
          <p:cNvPr id="207" name="文本框 206"/>
          <p:cNvSpPr txBox="1"/>
          <p:nvPr/>
        </p:nvSpPr>
        <p:spPr>
          <a:xfrm rot="5400000">
            <a:off x="6333549" y="4753606"/>
            <a:ext cx="430284" cy="369332"/>
          </a:xfrm>
          <a:prstGeom prst="rect">
            <a:avLst/>
          </a:prstGeom>
          <a:noFill/>
        </p:spPr>
        <p:txBody>
          <a:bodyPr wrap="square" rtlCol="0">
            <a:spAutoFit/>
          </a:bodyPr>
          <a:lstStyle/>
          <a:p>
            <a:r>
              <a:rPr lang="en-US" altLang="zh-CN" b="1" dirty="0" err="1">
                <a:solidFill>
                  <a:srgbClr val="0000FF"/>
                </a:solidFill>
              </a:rPr>
              <a:t>rd</a:t>
            </a:r>
            <a:endParaRPr lang="zh-CN" altLang="en-US" b="1" dirty="0">
              <a:solidFill>
                <a:srgbClr val="0000FF"/>
              </a:solidFill>
            </a:endParaRPr>
          </a:p>
        </p:txBody>
      </p:sp>
      <p:sp>
        <p:nvSpPr>
          <p:cNvPr id="210" name="文本框 209"/>
          <p:cNvSpPr txBox="1"/>
          <p:nvPr/>
        </p:nvSpPr>
        <p:spPr>
          <a:xfrm rot="5400000">
            <a:off x="8711717" y="4732285"/>
            <a:ext cx="453472" cy="369332"/>
          </a:xfrm>
          <a:prstGeom prst="rect">
            <a:avLst/>
          </a:prstGeom>
          <a:noFill/>
        </p:spPr>
        <p:txBody>
          <a:bodyPr wrap="square" rtlCol="0">
            <a:spAutoFit/>
          </a:bodyPr>
          <a:lstStyle/>
          <a:p>
            <a:r>
              <a:rPr lang="en-US" altLang="zh-CN" b="1" dirty="0" err="1">
                <a:solidFill>
                  <a:srgbClr val="0000FF"/>
                </a:solidFill>
              </a:rPr>
              <a:t>rd</a:t>
            </a:r>
            <a:endParaRPr lang="zh-CN" altLang="en-US" b="1" dirty="0">
              <a:solidFill>
                <a:srgbClr val="0000FF"/>
              </a:solidFill>
            </a:endParaRPr>
          </a:p>
        </p:txBody>
      </p:sp>
      <p:sp>
        <p:nvSpPr>
          <p:cNvPr id="211" name="文本框 210"/>
          <p:cNvSpPr txBox="1"/>
          <p:nvPr/>
        </p:nvSpPr>
        <p:spPr>
          <a:xfrm rot="5400000">
            <a:off x="10645334" y="4864635"/>
            <a:ext cx="568292" cy="369332"/>
          </a:xfrm>
          <a:prstGeom prst="rect">
            <a:avLst/>
          </a:prstGeom>
          <a:noFill/>
        </p:spPr>
        <p:txBody>
          <a:bodyPr wrap="square" rtlCol="0">
            <a:spAutoFit/>
          </a:bodyPr>
          <a:lstStyle/>
          <a:p>
            <a:r>
              <a:rPr lang="en-US" altLang="zh-CN" b="1" dirty="0" err="1">
                <a:solidFill>
                  <a:srgbClr val="0000FF"/>
                </a:solidFill>
              </a:rPr>
              <a:t>rd</a:t>
            </a:r>
            <a:endParaRPr lang="zh-CN" altLang="en-US" b="1" dirty="0">
              <a:solidFill>
                <a:srgbClr val="0000FF"/>
              </a:solidFill>
            </a:endParaRPr>
          </a:p>
        </p:txBody>
      </p:sp>
      <p:sp>
        <p:nvSpPr>
          <p:cNvPr id="213" name="等腰三角形 212">
            <a:extLst>
              <a:ext uri="{FF2B5EF4-FFF2-40B4-BE49-F238E27FC236}">
                <a16:creationId xmlns:a16="http://schemas.microsoft.com/office/drawing/2014/main" id="{B2095892-539C-4630-AA41-086C8D73561E}"/>
              </a:ext>
            </a:extLst>
          </p:cNvPr>
          <p:cNvSpPr/>
          <p:nvPr/>
        </p:nvSpPr>
        <p:spPr>
          <a:xfrm>
            <a:off x="9479525" y="4533202"/>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15" name="直接连接符 214">
            <a:extLst>
              <a:ext uri="{FF2B5EF4-FFF2-40B4-BE49-F238E27FC236}">
                <a16:creationId xmlns:a16="http://schemas.microsoft.com/office/drawing/2014/main" id="{28416F72-B8E8-4565-A511-0EF9ECB39E1F}"/>
              </a:ext>
            </a:extLst>
          </p:cNvPr>
          <p:cNvCxnSpPr>
            <a:cxnSpLocks/>
          </p:cNvCxnSpPr>
          <p:nvPr/>
        </p:nvCxnSpPr>
        <p:spPr>
          <a:xfrm>
            <a:off x="9519366" y="4624440"/>
            <a:ext cx="0" cy="132031"/>
          </a:xfrm>
          <a:prstGeom prst="line">
            <a:avLst/>
          </a:prstGeom>
        </p:spPr>
        <p:style>
          <a:lnRef idx="3">
            <a:schemeClr val="dk1"/>
          </a:lnRef>
          <a:fillRef idx="0">
            <a:schemeClr val="dk1"/>
          </a:fillRef>
          <a:effectRef idx="2">
            <a:schemeClr val="dk1"/>
          </a:effectRef>
          <a:fontRef idx="minor">
            <a:schemeClr val="tx1"/>
          </a:fontRef>
        </p:style>
      </p:cxnSp>
      <p:sp>
        <p:nvSpPr>
          <p:cNvPr id="216" name="文本框 215">
            <a:extLst>
              <a:ext uri="{FF2B5EF4-FFF2-40B4-BE49-F238E27FC236}">
                <a16:creationId xmlns:a16="http://schemas.microsoft.com/office/drawing/2014/main" id="{82457499-3F57-483F-A32A-7F39D7044D6D}"/>
              </a:ext>
            </a:extLst>
          </p:cNvPr>
          <p:cNvSpPr txBox="1"/>
          <p:nvPr/>
        </p:nvSpPr>
        <p:spPr>
          <a:xfrm>
            <a:off x="9354239" y="471612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7" name="等腰三角形 216">
            <a:extLst>
              <a:ext uri="{FF2B5EF4-FFF2-40B4-BE49-F238E27FC236}">
                <a16:creationId xmlns:a16="http://schemas.microsoft.com/office/drawing/2014/main" id="{B2095892-539C-4630-AA41-086C8D73561E}"/>
              </a:ext>
            </a:extLst>
          </p:cNvPr>
          <p:cNvSpPr/>
          <p:nvPr/>
        </p:nvSpPr>
        <p:spPr>
          <a:xfrm>
            <a:off x="4744155" y="4367760"/>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19" name="直接连接符 218">
            <a:extLst>
              <a:ext uri="{FF2B5EF4-FFF2-40B4-BE49-F238E27FC236}">
                <a16:creationId xmlns:a16="http://schemas.microsoft.com/office/drawing/2014/main" id="{28416F72-B8E8-4565-A511-0EF9ECB39E1F}"/>
              </a:ext>
            </a:extLst>
          </p:cNvPr>
          <p:cNvCxnSpPr>
            <a:cxnSpLocks/>
          </p:cNvCxnSpPr>
          <p:nvPr/>
        </p:nvCxnSpPr>
        <p:spPr>
          <a:xfrm>
            <a:off x="4783996" y="4458998"/>
            <a:ext cx="0" cy="132031"/>
          </a:xfrm>
          <a:prstGeom prst="line">
            <a:avLst/>
          </a:prstGeom>
        </p:spPr>
        <p:style>
          <a:lnRef idx="3">
            <a:schemeClr val="dk1"/>
          </a:lnRef>
          <a:fillRef idx="0">
            <a:schemeClr val="dk1"/>
          </a:fillRef>
          <a:effectRef idx="2">
            <a:schemeClr val="dk1"/>
          </a:effectRef>
          <a:fontRef idx="minor">
            <a:schemeClr val="tx1"/>
          </a:fontRef>
        </p:style>
      </p:cxnSp>
      <p:sp>
        <p:nvSpPr>
          <p:cNvPr id="220" name="文本框 219">
            <a:extLst>
              <a:ext uri="{FF2B5EF4-FFF2-40B4-BE49-F238E27FC236}">
                <a16:creationId xmlns:a16="http://schemas.microsoft.com/office/drawing/2014/main" id="{82457499-3F57-483F-A32A-7F39D7044D6D}"/>
              </a:ext>
            </a:extLst>
          </p:cNvPr>
          <p:cNvSpPr txBox="1"/>
          <p:nvPr/>
        </p:nvSpPr>
        <p:spPr>
          <a:xfrm>
            <a:off x="4618869" y="449849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21" name="矩形 220"/>
          <p:cNvSpPr/>
          <p:nvPr/>
        </p:nvSpPr>
        <p:spPr>
          <a:xfrm>
            <a:off x="232312" y="4328229"/>
            <a:ext cx="3142804" cy="2308324"/>
          </a:xfrm>
          <a:prstGeom prst="rect">
            <a:avLst/>
          </a:prstGeom>
          <a:ln w="28575"/>
        </p:spPr>
        <p:style>
          <a:lnRef idx="2">
            <a:schemeClr val="accent4"/>
          </a:lnRef>
          <a:fillRef idx="1">
            <a:schemeClr val="lt1"/>
          </a:fillRef>
          <a:effectRef idx="0">
            <a:schemeClr val="accent4"/>
          </a:effectRef>
          <a:fontRef idx="minor">
            <a:schemeClr val="dk1"/>
          </a:fontRef>
        </p:style>
        <p:txBody>
          <a:bodyPr wrap="square">
            <a:spAutoFit/>
          </a:bodyPr>
          <a:lstStyle/>
          <a:p>
            <a:pPr marL="285750" indent="-285750" algn="just">
              <a:buFont typeface="Arial" panose="020B0604020202020204" pitchFamily="34" charset="0"/>
              <a:buChar char="•"/>
            </a:pPr>
            <a:r>
              <a:rPr lang="zh-CN" altLang="en-US" dirty="0"/>
              <a:t>若要将相关信息从之前的流水线阶段传递到后续的流水线阶段，须将他们放置在流水线寄存器中。</a:t>
            </a:r>
            <a:endParaRPr lang="en-US" altLang="zh-CN" dirty="0"/>
          </a:p>
          <a:p>
            <a:pPr marL="285750" indent="-285750" algn="just">
              <a:buFont typeface="Arial" panose="020B0604020202020204" pitchFamily="34" charset="0"/>
              <a:buChar char="•"/>
            </a:pPr>
            <a:r>
              <a:rPr lang="zh-CN" altLang="en-US" dirty="0"/>
              <a:t>在流水线通路设计中的每一个逻辑部件，只能在单个流水线阶段中被使用，否则会发生结构冒险。</a:t>
            </a:r>
          </a:p>
        </p:txBody>
      </p:sp>
    </p:spTree>
    <p:extLst>
      <p:ext uri="{BB962C8B-B14F-4D97-AF65-F5344CB8AC3E}">
        <p14:creationId xmlns:p14="http://schemas.microsoft.com/office/powerpoint/2010/main" val="968580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1"/>
                                        </p:tgtEl>
                                        <p:attrNameLst>
                                          <p:attrName>style.visibility</p:attrName>
                                        </p:attrNameLst>
                                      </p:cBhvr>
                                      <p:to>
                                        <p:strVal val="visible"/>
                                      </p:to>
                                    </p:set>
                                    <p:animEffect transition="in" filter="fade">
                                      <p:cBhvr>
                                        <p:cTn id="7" dur="500"/>
                                        <p:tgtEl>
                                          <p:spTgt spid="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pPr lvl="1"/>
            <a:endPar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a:p>
            <a:endParaRPr lang="zh-CN" altLang="en-US" dirty="0"/>
          </a:p>
        </p:txBody>
      </p:sp>
      <p:sp>
        <p:nvSpPr>
          <p:cNvPr id="6" name="标题 5"/>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EX for Store</a:t>
            </a:r>
            <a:endParaRPr lang="zh-CN" altLang="en-US" dirty="0"/>
          </a:p>
        </p:txBody>
      </p:sp>
      <p:grpSp>
        <p:nvGrpSpPr>
          <p:cNvPr id="148" name="组合 147"/>
          <p:cNvGrpSpPr/>
          <p:nvPr/>
        </p:nvGrpSpPr>
        <p:grpSpPr>
          <a:xfrm>
            <a:off x="6495587" y="1009015"/>
            <a:ext cx="2375983" cy="695935"/>
            <a:chOff x="1613177" y="1509972"/>
            <a:chExt cx="2034915" cy="695935"/>
          </a:xfrm>
        </p:grpSpPr>
        <p:cxnSp>
          <p:nvCxnSpPr>
            <p:cNvPr id="149" name="直接连接符 148"/>
            <p:cNvCxnSpPr/>
            <p:nvPr/>
          </p:nvCxnSpPr>
          <p:spPr>
            <a:xfrm>
              <a:off x="1659668"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p:nvCxnSpPr>
          <p:spPr>
            <a:xfrm>
              <a:off x="3648092"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a:off x="1659668" y="1838984"/>
              <a:ext cx="19856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5" name="文本框 164"/>
            <p:cNvSpPr txBox="1"/>
            <p:nvPr/>
          </p:nvSpPr>
          <p:spPr>
            <a:xfrm>
              <a:off x="2127256" y="1509972"/>
              <a:ext cx="1050521"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sd</a:t>
              </a:r>
              <a:endParaRPr kumimoji="0" lang="zh-CN" altLang="en-US" sz="20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9" name="文本框 168"/>
            <p:cNvSpPr txBox="1"/>
            <p:nvPr/>
          </p:nvSpPr>
          <p:spPr>
            <a:xfrm>
              <a:off x="1613177" y="1805797"/>
              <a:ext cx="203218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rPr>
                <a:t>Execution</a:t>
              </a:r>
              <a:endPar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 name="组合 1"/>
          <p:cNvGrpSpPr/>
          <p:nvPr/>
        </p:nvGrpSpPr>
        <p:grpSpPr>
          <a:xfrm>
            <a:off x="634468" y="1898485"/>
            <a:ext cx="11253523" cy="4358440"/>
            <a:chOff x="634468" y="2363436"/>
            <a:chExt cx="11253523" cy="4358440"/>
          </a:xfrm>
        </p:grpSpPr>
        <p:grpSp>
          <p:nvGrpSpPr>
            <p:cNvPr id="18" name="Instruction memory"/>
            <p:cNvGrpSpPr/>
            <p:nvPr/>
          </p:nvGrpSpPr>
          <p:grpSpPr>
            <a:xfrm>
              <a:off x="2190719" y="4138365"/>
              <a:ext cx="1142439" cy="1017764"/>
              <a:chOff x="2263385" y="3407372"/>
              <a:chExt cx="1470915" cy="1193839"/>
            </a:xfrm>
          </p:grpSpPr>
          <p:sp>
            <p:nvSpPr>
              <p:cNvPr id="8" name="矩形 7"/>
              <p:cNvSpPr/>
              <p:nvPr/>
            </p:nvSpPr>
            <p:spPr>
              <a:xfrm>
                <a:off x="2333823" y="3448051"/>
                <a:ext cx="1400477" cy="11531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 name="文本框 11"/>
              <p:cNvSpPr txBox="1"/>
              <p:nvPr/>
            </p:nvSpPr>
            <p:spPr>
              <a:xfrm>
                <a:off x="2263385" y="3407372"/>
                <a:ext cx="1319245"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15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0" name="PC"/>
            <p:cNvGrpSpPr/>
            <p:nvPr/>
          </p:nvGrpSpPr>
          <p:grpSpPr>
            <a:xfrm>
              <a:off x="1612553" y="3940651"/>
              <a:ext cx="508932" cy="707887"/>
              <a:chOff x="792726" y="4754327"/>
              <a:chExt cx="1018662" cy="607761"/>
            </a:xfrm>
          </p:grpSpPr>
          <p:sp>
            <p:nvSpPr>
              <p:cNvPr id="15" name="矩形 14"/>
              <p:cNvSpPr/>
              <p:nvPr/>
            </p:nvSpPr>
            <p:spPr>
              <a:xfrm>
                <a:off x="887030" y="4800600"/>
                <a:ext cx="639939" cy="50292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9" name="文本框 18"/>
              <p:cNvSpPr txBox="1"/>
              <p:nvPr/>
            </p:nvSpPr>
            <p:spPr>
              <a:xfrm>
                <a:off x="792726" y="4754327"/>
                <a:ext cx="1018662" cy="607761"/>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PC</a:t>
                </a:r>
                <a:endParaRPr kumimoji="0" lang="zh-CN" alt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4" name="Add"/>
            <p:cNvGrpSpPr/>
            <p:nvPr/>
          </p:nvGrpSpPr>
          <p:grpSpPr>
            <a:xfrm>
              <a:off x="2449297" y="2889823"/>
              <a:ext cx="655949" cy="822349"/>
              <a:chOff x="4656246" y="4140786"/>
              <a:chExt cx="743403" cy="964617"/>
            </a:xfrm>
          </p:grpSpPr>
          <p:sp>
            <p:nvSpPr>
              <p:cNvPr id="22" name="梯形 21"/>
              <p:cNvSpPr/>
              <p:nvPr/>
            </p:nvSpPr>
            <p:spPr>
              <a:xfrm rot="5400000">
                <a:off x="4538209" y="4329347"/>
                <a:ext cx="964617" cy="587495"/>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3" name="文本框 22"/>
              <p:cNvSpPr txBox="1"/>
              <p:nvPr/>
            </p:nvSpPr>
            <p:spPr>
              <a:xfrm>
                <a:off x="4656246" y="4371481"/>
                <a:ext cx="743403"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36" name="IF/ID"/>
            <p:cNvGrpSpPr/>
            <p:nvPr/>
          </p:nvGrpSpPr>
          <p:grpSpPr>
            <a:xfrm>
              <a:off x="3299900" y="2439254"/>
              <a:ext cx="797013" cy="4114272"/>
              <a:chOff x="116128" y="450828"/>
              <a:chExt cx="955165" cy="5944486"/>
            </a:xfrm>
          </p:grpSpPr>
          <p:sp>
            <p:nvSpPr>
              <p:cNvPr id="34" name="矩形 33"/>
              <p:cNvSpPr/>
              <p:nvPr/>
            </p:nvSpPr>
            <p:spPr>
              <a:xfrm>
                <a:off x="358141" y="937259"/>
                <a:ext cx="358140" cy="5458055"/>
              </a:xfrm>
              <a:prstGeom prst="rect">
                <a:avLst/>
              </a:prstGeom>
              <a:noFill/>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5" name="文本框 34"/>
              <p:cNvSpPr txBox="1"/>
              <p:nvPr/>
            </p:nvSpPr>
            <p:spPr>
              <a:xfrm>
                <a:off x="116128" y="450828"/>
                <a:ext cx="955165" cy="578097"/>
              </a:xfrm>
              <a:prstGeom prst="rect">
                <a:avLst/>
              </a:prstGeom>
              <a:ln w="25400">
                <a:noFill/>
              </a:ln>
            </p:spPr>
            <p:style>
              <a:lnRef idx="1">
                <a:schemeClr val="accent1"/>
              </a:lnRef>
              <a:fillRef idx="0">
                <a:schemeClr val="accent1"/>
              </a:fillRef>
              <a:effectRef idx="0">
                <a:schemeClr val="accent1"/>
              </a:effectRef>
              <a:fontRef idx="minor">
                <a:schemeClr val="tx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IF/ID</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45" name="Registers"/>
            <p:cNvGrpSpPr/>
            <p:nvPr/>
          </p:nvGrpSpPr>
          <p:grpSpPr>
            <a:xfrm>
              <a:off x="4430052" y="3199918"/>
              <a:ext cx="1726163" cy="2568442"/>
              <a:chOff x="1920262" y="241327"/>
              <a:chExt cx="3106114" cy="3344105"/>
            </a:xfrm>
          </p:grpSpPr>
          <p:sp>
            <p:nvSpPr>
              <p:cNvPr id="37" name="矩形 36"/>
              <p:cNvSpPr/>
              <p:nvPr/>
            </p:nvSpPr>
            <p:spPr>
              <a:xfrm>
                <a:off x="2026387" y="320244"/>
                <a:ext cx="2772304" cy="3265188"/>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 name="文本框 37"/>
              <p:cNvSpPr txBox="1"/>
              <p:nvPr/>
            </p:nvSpPr>
            <p:spPr>
              <a:xfrm>
                <a:off x="2121631" y="1515410"/>
                <a:ext cx="2149527" cy="52094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Registers</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 name="文本框 38"/>
              <p:cNvSpPr txBox="1"/>
              <p:nvPr/>
            </p:nvSpPr>
            <p:spPr>
              <a:xfrm>
                <a:off x="1920789" y="241327"/>
                <a:ext cx="2611979"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0" name="文本框 39"/>
              <p:cNvSpPr txBox="1"/>
              <p:nvPr/>
            </p:nvSpPr>
            <p:spPr>
              <a:xfrm>
                <a:off x="1920262" y="740405"/>
                <a:ext cx="2450645"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1" name="文本框 40"/>
              <p:cNvSpPr txBox="1"/>
              <p:nvPr/>
            </p:nvSpPr>
            <p:spPr>
              <a:xfrm>
                <a:off x="1925707" y="2479303"/>
                <a:ext cx="2199198"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reg</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2" name="文本框 41"/>
              <p:cNvSpPr txBox="1"/>
              <p:nvPr/>
            </p:nvSpPr>
            <p:spPr>
              <a:xfrm>
                <a:off x="1938951" y="2943791"/>
                <a:ext cx="2364242"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3" name="文本框 42"/>
              <p:cNvSpPr txBox="1"/>
              <p:nvPr/>
            </p:nvSpPr>
            <p:spPr>
              <a:xfrm>
                <a:off x="2467221" y="1159239"/>
                <a:ext cx="2524881"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4" name="文本框 43"/>
              <p:cNvSpPr txBox="1"/>
              <p:nvPr/>
            </p:nvSpPr>
            <p:spPr>
              <a:xfrm>
                <a:off x="2431051" y="1920895"/>
                <a:ext cx="2595325" cy="520942"/>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48" name="Imm Gen"/>
            <p:cNvGrpSpPr/>
            <p:nvPr/>
          </p:nvGrpSpPr>
          <p:grpSpPr>
            <a:xfrm>
              <a:off x="5227674" y="5936049"/>
              <a:ext cx="658095" cy="538474"/>
              <a:chOff x="4868693" y="6172575"/>
              <a:chExt cx="992993" cy="1215294"/>
            </a:xfrm>
          </p:grpSpPr>
          <p:sp>
            <p:nvSpPr>
              <p:cNvPr id="46" name="椭圆 45"/>
              <p:cNvSpPr/>
              <p:nvPr/>
            </p:nvSpPr>
            <p:spPr>
              <a:xfrm>
                <a:off x="4868693" y="6172575"/>
                <a:ext cx="984044" cy="1146747"/>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7" name="文本框 46"/>
              <p:cNvSpPr txBox="1"/>
              <p:nvPr/>
            </p:nvSpPr>
            <p:spPr>
              <a:xfrm>
                <a:off x="4895397" y="6339596"/>
                <a:ext cx="966289" cy="104827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Imm</a:t>
                </a: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Gen</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55" name="Add Sum"/>
            <p:cNvGrpSpPr/>
            <p:nvPr/>
          </p:nvGrpSpPr>
          <p:grpSpPr>
            <a:xfrm>
              <a:off x="7719467" y="3017293"/>
              <a:ext cx="655949" cy="768090"/>
              <a:chOff x="5634620" y="2480764"/>
              <a:chExt cx="1081993" cy="1475010"/>
            </a:xfrm>
          </p:grpSpPr>
          <p:sp>
            <p:nvSpPr>
              <p:cNvPr id="52" name="梯形 51"/>
              <p:cNvSpPr/>
              <p:nvPr/>
            </p:nvSpPr>
            <p:spPr>
              <a:xfrm rot="5400000">
                <a:off x="5424366" y="2770445"/>
                <a:ext cx="1475010" cy="895647"/>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4" name="文本框 53"/>
              <p:cNvSpPr txBox="1"/>
              <p:nvPr/>
            </p:nvSpPr>
            <p:spPr>
              <a:xfrm>
                <a:off x="5634620" y="2851177"/>
                <a:ext cx="1081993" cy="93914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Sum</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61" name="ALU"/>
            <p:cNvGrpSpPr/>
            <p:nvPr/>
          </p:nvGrpSpPr>
          <p:grpSpPr>
            <a:xfrm>
              <a:off x="7646391" y="4044546"/>
              <a:ext cx="880667" cy="1454509"/>
              <a:chOff x="6023805" y="3618922"/>
              <a:chExt cx="1295157" cy="1704463"/>
            </a:xfrm>
          </p:grpSpPr>
          <p:sp>
            <p:nvSpPr>
              <p:cNvPr id="57" name="梯形 56"/>
              <p:cNvSpPr/>
              <p:nvPr/>
            </p:nvSpPr>
            <p:spPr>
              <a:xfrm rot="5400000">
                <a:off x="5805450" y="3911167"/>
                <a:ext cx="1704463" cy="1119974"/>
              </a:xfrm>
              <a:prstGeom prst="trapezoid">
                <a:avLst>
                  <a:gd name="adj" fmla="val 43158"/>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8" name="文本框 57"/>
              <p:cNvSpPr txBox="1"/>
              <p:nvPr/>
            </p:nvSpPr>
            <p:spPr>
              <a:xfrm>
                <a:off x="6023805" y="3779478"/>
                <a:ext cx="1070760"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ALU</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9" name="文本框 58"/>
              <p:cNvSpPr txBox="1"/>
              <p:nvPr/>
            </p:nvSpPr>
            <p:spPr>
              <a:xfrm>
                <a:off x="6212840" y="4596488"/>
                <a:ext cx="1106122" cy="347668"/>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result</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60" name="文本框 59"/>
              <p:cNvSpPr txBox="1"/>
              <p:nvPr/>
            </p:nvSpPr>
            <p:spPr>
              <a:xfrm>
                <a:off x="6276821" y="4080452"/>
                <a:ext cx="983534"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Zero</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65" name="shift left 1"/>
            <p:cNvGrpSpPr/>
            <p:nvPr/>
          </p:nvGrpSpPr>
          <p:grpSpPr>
            <a:xfrm>
              <a:off x="6667688" y="3169261"/>
              <a:ext cx="774571" cy="682474"/>
              <a:chOff x="6107415" y="4133981"/>
              <a:chExt cx="1189523" cy="1146746"/>
            </a:xfrm>
          </p:grpSpPr>
          <p:sp>
            <p:nvSpPr>
              <p:cNvPr id="63" name="椭圆 62"/>
              <p:cNvSpPr/>
              <p:nvPr/>
            </p:nvSpPr>
            <p:spPr>
              <a:xfrm>
                <a:off x="6161866" y="4133981"/>
                <a:ext cx="984043" cy="1146746"/>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64" name="文本框 63"/>
              <p:cNvSpPr txBox="1"/>
              <p:nvPr/>
            </p:nvSpPr>
            <p:spPr>
              <a:xfrm>
                <a:off x="6107415" y="4371720"/>
                <a:ext cx="1189523" cy="821732"/>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Shift </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left 1</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72" name="Mux 3"/>
            <p:cNvGrpSpPr/>
            <p:nvPr/>
          </p:nvGrpSpPr>
          <p:grpSpPr>
            <a:xfrm>
              <a:off x="11213520" y="5106295"/>
              <a:ext cx="596486" cy="1168007"/>
              <a:chOff x="3628473" y="5448300"/>
              <a:chExt cx="839025" cy="1230515"/>
            </a:xfrm>
          </p:grpSpPr>
          <p:sp>
            <p:nvSpPr>
              <p:cNvPr id="73" name="mux"/>
              <p:cNvSpPr/>
              <p:nvPr/>
            </p:nvSpPr>
            <p:spPr>
              <a:xfrm rot="5400000">
                <a:off x="3386121" y="5744398"/>
                <a:ext cx="1230515" cy="638319"/>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4" name="文本框 73"/>
              <p:cNvSpPr txBox="1"/>
              <p:nvPr/>
            </p:nvSpPr>
            <p:spPr>
              <a:xfrm>
                <a:off x="3628473" y="5492154"/>
                <a:ext cx="260679"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5" name="文本框 74"/>
              <p:cNvSpPr txBox="1"/>
              <p:nvPr/>
            </p:nvSpPr>
            <p:spPr>
              <a:xfrm>
                <a:off x="3641695" y="6293721"/>
                <a:ext cx="404061" cy="35667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6" name="文本框 75"/>
              <p:cNvSpPr txBox="1"/>
              <p:nvPr/>
            </p:nvSpPr>
            <p:spPr>
              <a:xfrm>
                <a:off x="3867268" y="5599309"/>
                <a:ext cx="600230" cy="1070017"/>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90" name="Data memory"/>
            <p:cNvGrpSpPr/>
            <p:nvPr/>
          </p:nvGrpSpPr>
          <p:grpSpPr>
            <a:xfrm>
              <a:off x="9233814" y="4289030"/>
              <a:ext cx="1417516" cy="1635472"/>
              <a:chOff x="14770965" y="4726326"/>
              <a:chExt cx="3011394" cy="3362560"/>
            </a:xfrm>
          </p:grpSpPr>
          <p:sp>
            <p:nvSpPr>
              <p:cNvPr id="82" name="矩形 81"/>
              <p:cNvSpPr/>
              <p:nvPr/>
            </p:nvSpPr>
            <p:spPr>
              <a:xfrm>
                <a:off x="14919092" y="4726326"/>
                <a:ext cx="2551866" cy="33625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3" name="文本框 82"/>
              <p:cNvSpPr txBox="1"/>
              <p:nvPr/>
            </p:nvSpPr>
            <p:spPr>
              <a:xfrm>
                <a:off x="14893548" y="4778415"/>
                <a:ext cx="2622003" cy="100548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Data </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memory</a:t>
                </a:r>
              </a:p>
            </p:txBody>
          </p:sp>
          <p:sp>
            <p:nvSpPr>
              <p:cNvPr id="84" name="文本框 83"/>
              <p:cNvSpPr txBox="1"/>
              <p:nvPr/>
            </p:nvSpPr>
            <p:spPr>
              <a:xfrm>
                <a:off x="14776597" y="5875439"/>
                <a:ext cx="2291814"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7" name="文本框 86"/>
              <p:cNvSpPr txBox="1"/>
              <p:nvPr/>
            </p:nvSpPr>
            <p:spPr>
              <a:xfrm>
                <a:off x="14770965" y="7263927"/>
                <a:ext cx="2654424"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8" name="文本框 87"/>
              <p:cNvSpPr txBox="1"/>
              <p:nvPr/>
            </p:nvSpPr>
            <p:spPr>
              <a:xfrm>
                <a:off x="15110098" y="6521639"/>
                <a:ext cx="2672261"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101" name="矩形 100"/>
            <p:cNvSpPr/>
            <p:nvPr/>
          </p:nvSpPr>
          <p:spPr>
            <a:xfrm>
              <a:off x="6335104" y="2783569"/>
              <a:ext cx="316009" cy="3769417"/>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11" name="矩形 110"/>
            <p:cNvSpPr/>
            <p:nvPr/>
          </p:nvSpPr>
          <p:spPr>
            <a:xfrm>
              <a:off x="8712849" y="2788319"/>
              <a:ext cx="291194" cy="3754340"/>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1" name="矩形 120"/>
            <p:cNvSpPr/>
            <p:nvPr/>
          </p:nvSpPr>
          <p:spPr>
            <a:xfrm>
              <a:off x="10714680" y="2774884"/>
              <a:ext cx="300877" cy="3767775"/>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160" name="直接连接符 159"/>
            <p:cNvCxnSpPr/>
            <p:nvPr/>
          </p:nvCxnSpPr>
          <p:spPr>
            <a:xfrm flipV="1">
              <a:off x="3800682" y="3099097"/>
              <a:ext cx="2534421" cy="109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直接连接符 160"/>
            <p:cNvCxnSpPr/>
            <p:nvPr/>
          </p:nvCxnSpPr>
          <p:spPr>
            <a:xfrm>
              <a:off x="1979387" y="4301121"/>
              <a:ext cx="25830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直接连接符 161"/>
            <p:cNvCxnSpPr>
              <a:stCxn id="8" idx="3"/>
              <a:endCxn id="34" idx="1"/>
            </p:cNvCxnSpPr>
            <p:nvPr/>
          </p:nvCxnSpPr>
          <p:spPr>
            <a:xfrm>
              <a:off x="3333158" y="4664587"/>
              <a:ext cx="168684" cy="1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直接连接符 162"/>
            <p:cNvCxnSpPr>
              <a:stCxn id="22" idx="0"/>
            </p:cNvCxnSpPr>
            <p:nvPr/>
          </p:nvCxnSpPr>
          <p:spPr>
            <a:xfrm flipV="1">
              <a:off x="3029909" y="3299110"/>
              <a:ext cx="82559" cy="18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a:off x="2067991" y="3026005"/>
              <a:ext cx="43729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flipH="1">
              <a:off x="2067991" y="3017293"/>
              <a:ext cx="3782" cy="1271738"/>
            </a:xfrm>
            <a:prstGeom prst="line">
              <a:avLst/>
            </a:prstGeom>
            <a:ln w="25400">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3103590" y="2609191"/>
              <a:ext cx="0" cy="6899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a:stCxn id="52" idx="0"/>
            </p:cNvCxnSpPr>
            <p:nvPr/>
          </p:nvCxnSpPr>
          <p:spPr>
            <a:xfrm flipV="1">
              <a:off x="8310605" y="3401338"/>
              <a:ext cx="404306"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直接连接符 187"/>
            <p:cNvCxnSpPr/>
            <p:nvPr/>
          </p:nvCxnSpPr>
          <p:spPr>
            <a:xfrm>
              <a:off x="814466" y="2609191"/>
              <a:ext cx="22980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a:off x="814466" y="2609191"/>
              <a:ext cx="0" cy="13869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a:off x="4108924" y="3431061"/>
              <a:ext cx="409392"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4095667" y="3783912"/>
              <a:ext cx="395373"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a:off x="6034275" y="4239432"/>
              <a:ext cx="30542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a:xfrm>
              <a:off x="6034276" y="4680814"/>
              <a:ext cx="29581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8" name="直接连接符 217"/>
            <p:cNvCxnSpPr/>
            <p:nvPr/>
          </p:nvCxnSpPr>
          <p:spPr>
            <a:xfrm flipV="1">
              <a:off x="5882233" y="6173833"/>
              <a:ext cx="457463" cy="719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1" name="直接连接符 260"/>
            <p:cNvCxnSpPr/>
            <p:nvPr/>
          </p:nvCxnSpPr>
          <p:spPr>
            <a:xfrm>
              <a:off x="7373377" y="3523831"/>
              <a:ext cx="36100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3" name="直接连接符 262"/>
            <p:cNvCxnSpPr/>
            <p:nvPr/>
          </p:nvCxnSpPr>
          <p:spPr>
            <a:xfrm>
              <a:off x="6659620" y="4264963"/>
              <a:ext cx="103718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2" name="Mux 3"/>
            <p:cNvGrpSpPr/>
            <p:nvPr/>
          </p:nvGrpSpPr>
          <p:grpSpPr>
            <a:xfrm>
              <a:off x="944642" y="3784693"/>
              <a:ext cx="615567" cy="1168007"/>
              <a:chOff x="3339670" y="5460516"/>
              <a:chExt cx="901073" cy="1230515"/>
            </a:xfrm>
          </p:grpSpPr>
          <p:sp>
            <p:nvSpPr>
              <p:cNvPr id="133" name="mux"/>
              <p:cNvSpPr/>
              <p:nvPr/>
            </p:nvSpPr>
            <p:spPr>
              <a:xfrm rot="5400000">
                <a:off x="3140776" y="5731027"/>
                <a:ext cx="1230515" cy="689494"/>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4" name="文本框 133"/>
              <p:cNvSpPr txBox="1"/>
              <p:nvPr/>
            </p:nvSpPr>
            <p:spPr>
              <a:xfrm>
                <a:off x="3365437" y="5514581"/>
                <a:ext cx="260684"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5" name="文本框 134"/>
              <p:cNvSpPr txBox="1"/>
              <p:nvPr/>
            </p:nvSpPr>
            <p:spPr>
              <a:xfrm>
                <a:off x="3339670" y="6240974"/>
                <a:ext cx="324022"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6" name="文本框 135"/>
              <p:cNvSpPr txBox="1"/>
              <p:nvPr/>
            </p:nvSpPr>
            <p:spPr>
              <a:xfrm>
                <a:off x="3616106" y="5588478"/>
                <a:ext cx="624637" cy="107001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52" name="直接连接符 151"/>
            <p:cNvCxnSpPr/>
            <p:nvPr/>
          </p:nvCxnSpPr>
          <p:spPr>
            <a:xfrm>
              <a:off x="8465220" y="5003334"/>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a:off x="9015906" y="5013299"/>
              <a:ext cx="28232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a:off x="8995735" y="5628356"/>
              <a:ext cx="3068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10513961" y="5308140"/>
              <a:ext cx="20911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56" name="Mux 3"/>
            <p:cNvGrpSpPr/>
            <p:nvPr/>
          </p:nvGrpSpPr>
          <p:grpSpPr>
            <a:xfrm>
              <a:off x="7010916" y="4382167"/>
              <a:ext cx="482064" cy="1168006"/>
              <a:chOff x="3558568" y="5448300"/>
              <a:chExt cx="706348" cy="1230515"/>
            </a:xfrm>
          </p:grpSpPr>
          <p:sp>
            <p:nvSpPr>
              <p:cNvPr id="157" name="mux"/>
              <p:cNvSpPr/>
              <p:nvPr/>
            </p:nvSpPr>
            <p:spPr>
              <a:xfrm rot="5400000">
                <a:off x="3332723" y="5746622"/>
                <a:ext cx="1230515" cy="633871"/>
              </a:xfrm>
              <a:prstGeom prst="flowChartTerminator">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8" name="文本框 157"/>
              <p:cNvSpPr txBox="1"/>
              <p:nvPr/>
            </p:nvSpPr>
            <p:spPr>
              <a:xfrm>
                <a:off x="3571052" y="5580627"/>
                <a:ext cx="260683"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9" name="文本框 158"/>
              <p:cNvSpPr txBox="1"/>
              <p:nvPr/>
            </p:nvSpPr>
            <p:spPr>
              <a:xfrm>
                <a:off x="3558568" y="6264229"/>
                <a:ext cx="408929" cy="34293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6" name="文本框 165"/>
              <p:cNvSpPr txBox="1"/>
              <p:nvPr/>
            </p:nvSpPr>
            <p:spPr>
              <a:xfrm>
                <a:off x="3747999" y="5579240"/>
                <a:ext cx="462611" cy="1070019"/>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68" name="直接连接符 167"/>
            <p:cNvCxnSpPr/>
            <p:nvPr/>
          </p:nvCxnSpPr>
          <p:spPr>
            <a:xfrm flipV="1">
              <a:off x="1472741" y="4294728"/>
              <a:ext cx="178001" cy="5"/>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a:xfrm>
              <a:off x="2310755" y="3488211"/>
              <a:ext cx="18646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a:off x="6659620" y="3093825"/>
              <a:ext cx="1083649" cy="7422"/>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flipH="1">
              <a:off x="6882298" y="3836012"/>
              <a:ext cx="22498" cy="19552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a:off x="6659620" y="5791262"/>
              <a:ext cx="24517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a:off x="6659620" y="4680814"/>
              <a:ext cx="40077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a:off x="6894161" y="5336493"/>
              <a:ext cx="182537" cy="853"/>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a:off x="6781324" y="5628354"/>
              <a:ext cx="1931532" cy="1"/>
            </a:xfrm>
            <a:prstGeom prst="line">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a:off x="6781324" y="4680814"/>
              <a:ext cx="1766" cy="947540"/>
            </a:xfrm>
            <a:prstGeom prst="line">
              <a:avLst/>
            </a:prstGeom>
            <a:ln w="25400">
              <a:solidFill>
                <a:srgbClr val="0000FF"/>
              </a:solidFill>
              <a:headEnd type="ova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a:off x="9116257" y="5009737"/>
              <a:ext cx="0" cy="1068388"/>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flipV="1">
              <a:off x="9116257" y="6072326"/>
              <a:ext cx="1599091" cy="572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1" name="直接连接符 270"/>
            <p:cNvCxnSpPr/>
            <p:nvPr/>
          </p:nvCxnSpPr>
          <p:spPr>
            <a:xfrm>
              <a:off x="11006223" y="6061861"/>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3" name="直接连接符 272"/>
            <p:cNvCxnSpPr/>
            <p:nvPr/>
          </p:nvCxnSpPr>
          <p:spPr>
            <a:xfrm>
              <a:off x="7492981" y="5146566"/>
              <a:ext cx="21340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5" name="文本框 284"/>
            <p:cNvSpPr txBox="1"/>
            <p:nvPr/>
          </p:nvSpPr>
          <p:spPr>
            <a:xfrm>
              <a:off x="2047898" y="4689544"/>
              <a:ext cx="1500650" cy="48904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 memory</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361" name="直接连接符 360"/>
            <p:cNvCxnSpPr>
              <a:endCxn id="76" idx="3"/>
            </p:cNvCxnSpPr>
            <p:nvPr/>
          </p:nvCxnSpPr>
          <p:spPr>
            <a:xfrm>
              <a:off x="11677318" y="5729690"/>
              <a:ext cx="132688" cy="27775"/>
            </a:xfrm>
            <a:prstGeom prst="line">
              <a:avLst/>
            </a:prstGeom>
            <a:ln w="25400">
              <a:noFill/>
            </a:ln>
          </p:spPr>
          <p:style>
            <a:lnRef idx="1">
              <a:schemeClr val="accent1"/>
            </a:lnRef>
            <a:fillRef idx="0">
              <a:schemeClr val="accent1"/>
            </a:fillRef>
            <a:effectRef idx="0">
              <a:schemeClr val="accent1"/>
            </a:effectRef>
            <a:fontRef idx="minor">
              <a:schemeClr val="tx1"/>
            </a:fontRef>
          </p:style>
        </p:cxnSp>
        <p:cxnSp>
          <p:nvCxnSpPr>
            <p:cNvPr id="362" name="直接连接符 361"/>
            <p:cNvCxnSpPr/>
            <p:nvPr/>
          </p:nvCxnSpPr>
          <p:spPr>
            <a:xfrm flipH="1">
              <a:off x="11873585" y="5711600"/>
              <a:ext cx="14406" cy="9965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8" name="直接连接符 367"/>
            <p:cNvCxnSpPr/>
            <p:nvPr/>
          </p:nvCxnSpPr>
          <p:spPr>
            <a:xfrm>
              <a:off x="4241624" y="5413265"/>
              <a:ext cx="0" cy="13086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2" name="直接连接符 371"/>
            <p:cNvCxnSpPr/>
            <p:nvPr/>
          </p:nvCxnSpPr>
          <p:spPr>
            <a:xfrm>
              <a:off x="4238265" y="5413265"/>
              <a:ext cx="247455" cy="48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7" name="直接连接符 376"/>
            <p:cNvCxnSpPr/>
            <p:nvPr/>
          </p:nvCxnSpPr>
          <p:spPr>
            <a:xfrm>
              <a:off x="643799" y="2363436"/>
              <a:ext cx="89899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8" name="直接连接符 387"/>
            <p:cNvCxnSpPr/>
            <p:nvPr/>
          </p:nvCxnSpPr>
          <p:spPr>
            <a:xfrm>
              <a:off x="643799" y="2372479"/>
              <a:ext cx="0" cy="23336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5" name="直接连接符 394"/>
            <p:cNvCxnSpPr/>
            <p:nvPr/>
          </p:nvCxnSpPr>
          <p:spPr>
            <a:xfrm>
              <a:off x="802048" y="3994540"/>
              <a:ext cx="165348" cy="65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7" name="直接连接符 396"/>
            <p:cNvCxnSpPr/>
            <p:nvPr/>
          </p:nvCxnSpPr>
          <p:spPr>
            <a:xfrm>
              <a:off x="634468" y="4701765"/>
              <a:ext cx="332520"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4" name="直接连接符 403"/>
            <p:cNvCxnSpPr/>
            <p:nvPr/>
          </p:nvCxnSpPr>
          <p:spPr>
            <a:xfrm>
              <a:off x="9633770" y="2363436"/>
              <a:ext cx="0" cy="10197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7" name="直接连接符 406"/>
            <p:cNvCxnSpPr/>
            <p:nvPr/>
          </p:nvCxnSpPr>
          <p:spPr>
            <a:xfrm flipV="1">
              <a:off x="9007326" y="3391179"/>
              <a:ext cx="641869" cy="51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2030131" y="3297765"/>
              <a:ext cx="20135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4</a:t>
              </a:r>
              <a:endParaRPr kumimoji="0" lang="zh-CN" altLang="en-US"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cxnSp>
          <p:nvCxnSpPr>
            <p:cNvPr id="247" name="直接连接符 246"/>
            <p:cNvCxnSpPr/>
            <p:nvPr/>
          </p:nvCxnSpPr>
          <p:spPr>
            <a:xfrm>
              <a:off x="11725910" y="5711600"/>
              <a:ext cx="16208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a:xfrm>
              <a:off x="4086929" y="3429000"/>
              <a:ext cx="0" cy="27611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a:off x="8465220" y="4602738"/>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a:off x="9006397" y="4612509"/>
              <a:ext cx="18594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连接符: 肘形 98"/>
            <p:cNvCxnSpPr/>
            <p:nvPr/>
          </p:nvCxnSpPr>
          <p:spPr>
            <a:xfrm flipV="1">
              <a:off x="2081957" y="3110011"/>
              <a:ext cx="1431289" cy="730238"/>
            </a:xfrm>
            <a:prstGeom prst="bentConnector3">
              <a:avLst>
                <a:gd name="adj1" fmla="val 82595"/>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238" name="文本框 237"/>
            <p:cNvSpPr txBox="1"/>
            <p:nvPr/>
          </p:nvSpPr>
          <p:spPr>
            <a:xfrm rot="10800000">
              <a:off x="3728559" y="2891210"/>
              <a:ext cx="430887" cy="1436503"/>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40" name="文本框 239"/>
            <p:cNvSpPr txBox="1"/>
            <p:nvPr/>
          </p:nvSpPr>
          <p:spPr>
            <a:xfrm>
              <a:off x="4657416" y="6204105"/>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32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64" name="文本框 263"/>
            <p:cNvSpPr txBox="1"/>
            <p:nvPr/>
          </p:nvSpPr>
          <p:spPr>
            <a:xfrm>
              <a:off x="5883301" y="6175828"/>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64</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245" name="直接连接符 244"/>
            <p:cNvCxnSpPr/>
            <p:nvPr/>
          </p:nvCxnSpPr>
          <p:spPr>
            <a:xfrm>
              <a:off x="4784174" y="6117706"/>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7" name="直接连接符 266"/>
            <p:cNvCxnSpPr/>
            <p:nvPr/>
          </p:nvCxnSpPr>
          <p:spPr>
            <a:xfrm>
              <a:off x="6012756" y="6112229"/>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V="1">
              <a:off x="4228170" y="6708122"/>
              <a:ext cx="7659820" cy="137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a:off x="11015554" y="5314205"/>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a:off x="3800682" y="4672713"/>
              <a:ext cx="286247" cy="8101"/>
            </a:xfrm>
            <a:prstGeom prst="line">
              <a:avLst/>
            </a:prstGeom>
            <a:ln w="2540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a:off x="4086929" y="6190349"/>
              <a:ext cx="1143140"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3941685" y="5072519"/>
              <a:ext cx="544035"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a:off x="4085932" y="6190100"/>
              <a:ext cx="0" cy="25778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直接箭头连接符 140"/>
            <p:cNvCxnSpPr/>
            <p:nvPr/>
          </p:nvCxnSpPr>
          <p:spPr>
            <a:xfrm>
              <a:off x="4085932" y="6447889"/>
              <a:ext cx="22402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直接箭头连接符 141"/>
            <p:cNvCxnSpPr/>
            <p:nvPr/>
          </p:nvCxnSpPr>
          <p:spPr>
            <a:xfrm>
              <a:off x="6658814" y="6441029"/>
              <a:ext cx="203950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直接箭头连接符 142"/>
            <p:cNvCxnSpPr/>
            <p:nvPr/>
          </p:nvCxnSpPr>
          <p:spPr>
            <a:xfrm>
              <a:off x="9015906" y="6436332"/>
              <a:ext cx="168174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a:xfrm flipV="1">
              <a:off x="11024432" y="6447889"/>
              <a:ext cx="236174"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nvCxnSpPr>
          <p:spPr>
            <a:xfrm>
              <a:off x="11250223" y="6440530"/>
              <a:ext cx="0" cy="20123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接箭头连接符 145"/>
            <p:cNvCxnSpPr/>
            <p:nvPr/>
          </p:nvCxnSpPr>
          <p:spPr>
            <a:xfrm flipH="1">
              <a:off x="3941685" y="6641769"/>
              <a:ext cx="7318921"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7" name="直接连接符 146"/>
            <p:cNvCxnSpPr/>
            <p:nvPr/>
          </p:nvCxnSpPr>
          <p:spPr>
            <a:xfrm>
              <a:off x="3954246" y="5072519"/>
              <a:ext cx="0" cy="15808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70" name="矩形 169"/>
            <p:cNvSpPr/>
            <p:nvPr/>
          </p:nvSpPr>
          <p:spPr>
            <a:xfrm>
              <a:off x="6495587" y="2788948"/>
              <a:ext cx="147600" cy="3751200"/>
            </a:xfrm>
            <a:prstGeom prst="rect">
              <a:avLst/>
            </a:prstGeom>
            <a:solidFill>
              <a:srgbClr val="9CDCF9"/>
            </a:soli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71" name="矩形 170"/>
            <p:cNvSpPr/>
            <p:nvPr/>
          </p:nvSpPr>
          <p:spPr>
            <a:xfrm>
              <a:off x="8723970" y="2796715"/>
              <a:ext cx="147600" cy="3736800"/>
            </a:xfrm>
            <a:prstGeom prst="rect">
              <a:avLst/>
            </a:prstGeom>
            <a:solidFill>
              <a:srgbClr val="9CDCF9"/>
            </a:soli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172" name="文本框 171"/>
          <p:cNvSpPr txBox="1"/>
          <p:nvPr/>
        </p:nvSpPr>
        <p:spPr>
          <a:xfrm>
            <a:off x="6044404" y="1979304"/>
            <a:ext cx="898003"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ID/EX</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73" name="文本框 172"/>
          <p:cNvSpPr txBox="1"/>
          <p:nvPr/>
        </p:nvSpPr>
        <p:spPr>
          <a:xfrm>
            <a:off x="8230017" y="1926678"/>
            <a:ext cx="1268296"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EX/MEM</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75" name="文本框 174"/>
          <p:cNvSpPr txBox="1"/>
          <p:nvPr/>
        </p:nvSpPr>
        <p:spPr>
          <a:xfrm>
            <a:off x="10208057" y="1940624"/>
            <a:ext cx="1338828"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MEM/WB</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76" name="灯片编号占位符 1"/>
          <p:cNvSpPr>
            <a:spLocks noGrp="1"/>
          </p:cNvSpPr>
          <p:nvPr>
            <p:ph type="sldNum" sz="quarter" idx="12"/>
          </p:nvPr>
        </p:nvSpPr>
        <p:spPr>
          <a:xfrm>
            <a:off x="8940542" y="648279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nvGrpSpPr>
          <p:cNvPr id="178" name="组合 177">
            <a:extLst>
              <a:ext uri="{FF2B5EF4-FFF2-40B4-BE49-F238E27FC236}">
                <a16:creationId xmlns:a16="http://schemas.microsoft.com/office/drawing/2014/main" id="{0BE079DD-3C64-45B3-9833-5FAF0A710951}"/>
              </a:ext>
            </a:extLst>
          </p:cNvPr>
          <p:cNvGrpSpPr/>
          <p:nvPr/>
        </p:nvGrpSpPr>
        <p:grpSpPr>
          <a:xfrm>
            <a:off x="3458267" y="5973112"/>
            <a:ext cx="7843269" cy="620534"/>
            <a:chOff x="3400702" y="5690626"/>
            <a:chExt cx="7843269" cy="620534"/>
          </a:xfrm>
        </p:grpSpPr>
        <p:grpSp>
          <p:nvGrpSpPr>
            <p:cNvPr id="179" name="组合 178">
              <a:extLst>
                <a:ext uri="{FF2B5EF4-FFF2-40B4-BE49-F238E27FC236}">
                  <a16:creationId xmlns:a16="http://schemas.microsoft.com/office/drawing/2014/main" id="{2C41B824-21B2-49A0-B9C1-9598F8899F66}"/>
                </a:ext>
              </a:extLst>
            </p:cNvPr>
            <p:cNvGrpSpPr/>
            <p:nvPr/>
          </p:nvGrpSpPr>
          <p:grpSpPr>
            <a:xfrm>
              <a:off x="3400702" y="5704698"/>
              <a:ext cx="635647" cy="606462"/>
              <a:chOff x="7319483" y="6149946"/>
              <a:chExt cx="635647" cy="606462"/>
            </a:xfrm>
          </p:grpSpPr>
          <p:sp>
            <p:nvSpPr>
              <p:cNvPr id="195" name="等腰三角形 194">
                <a:extLst>
                  <a:ext uri="{FF2B5EF4-FFF2-40B4-BE49-F238E27FC236}">
                    <a16:creationId xmlns:a16="http://schemas.microsoft.com/office/drawing/2014/main" id="{0AB400E5-8028-4980-8911-E2FBE515D5A6}"/>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96" name="直接连接符 195">
                <a:extLst>
                  <a:ext uri="{FF2B5EF4-FFF2-40B4-BE49-F238E27FC236}">
                    <a16:creationId xmlns:a16="http://schemas.microsoft.com/office/drawing/2014/main" id="{C96D9ABD-6EBB-425F-9182-AFD990DE865F}"/>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97" name="文本框 196">
                <a:extLst>
                  <a:ext uri="{FF2B5EF4-FFF2-40B4-BE49-F238E27FC236}">
                    <a16:creationId xmlns:a16="http://schemas.microsoft.com/office/drawing/2014/main" id="{CAAED6CE-13A9-4ADC-8A83-F5EEDEA9F678}"/>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80" name="组合 179">
              <a:extLst>
                <a:ext uri="{FF2B5EF4-FFF2-40B4-BE49-F238E27FC236}">
                  <a16:creationId xmlns:a16="http://schemas.microsoft.com/office/drawing/2014/main" id="{C5270470-6697-4843-B8BC-7F77FC9A5673}"/>
                </a:ext>
              </a:extLst>
            </p:cNvPr>
            <p:cNvGrpSpPr/>
            <p:nvPr/>
          </p:nvGrpSpPr>
          <p:grpSpPr>
            <a:xfrm>
              <a:off x="6239013" y="5698367"/>
              <a:ext cx="635647" cy="606462"/>
              <a:chOff x="7319483" y="6149946"/>
              <a:chExt cx="635647" cy="606462"/>
            </a:xfrm>
          </p:grpSpPr>
          <p:sp>
            <p:nvSpPr>
              <p:cNvPr id="192" name="等腰三角形 191">
                <a:extLst>
                  <a:ext uri="{FF2B5EF4-FFF2-40B4-BE49-F238E27FC236}">
                    <a16:creationId xmlns:a16="http://schemas.microsoft.com/office/drawing/2014/main" id="{C4E57F68-8190-4AF7-BAF5-BF428C3F62C5}"/>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93" name="直接连接符 192">
                <a:extLst>
                  <a:ext uri="{FF2B5EF4-FFF2-40B4-BE49-F238E27FC236}">
                    <a16:creationId xmlns:a16="http://schemas.microsoft.com/office/drawing/2014/main" id="{F31CD575-BAE3-4F33-84C5-18988F992A2E}"/>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94" name="文本框 193">
                <a:extLst>
                  <a:ext uri="{FF2B5EF4-FFF2-40B4-BE49-F238E27FC236}">
                    <a16:creationId xmlns:a16="http://schemas.microsoft.com/office/drawing/2014/main" id="{AC26CD40-6DAB-4229-B819-D74D8A577390}"/>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81" name="组合 180">
              <a:extLst>
                <a:ext uri="{FF2B5EF4-FFF2-40B4-BE49-F238E27FC236}">
                  <a16:creationId xmlns:a16="http://schemas.microsoft.com/office/drawing/2014/main" id="{F97A87B3-756D-40BF-9D56-0F371CBAE2AD}"/>
                </a:ext>
              </a:extLst>
            </p:cNvPr>
            <p:cNvGrpSpPr/>
            <p:nvPr/>
          </p:nvGrpSpPr>
          <p:grpSpPr>
            <a:xfrm>
              <a:off x="8604217" y="5690626"/>
              <a:ext cx="635647" cy="606462"/>
              <a:chOff x="7319483" y="6149946"/>
              <a:chExt cx="635647" cy="606462"/>
            </a:xfrm>
          </p:grpSpPr>
          <p:sp>
            <p:nvSpPr>
              <p:cNvPr id="187" name="等腰三角形 186">
                <a:extLst>
                  <a:ext uri="{FF2B5EF4-FFF2-40B4-BE49-F238E27FC236}">
                    <a16:creationId xmlns:a16="http://schemas.microsoft.com/office/drawing/2014/main" id="{FE3D3576-5191-4F75-9C94-BE7421DAFC76}"/>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9" name="直接连接符 188">
                <a:extLst>
                  <a:ext uri="{FF2B5EF4-FFF2-40B4-BE49-F238E27FC236}">
                    <a16:creationId xmlns:a16="http://schemas.microsoft.com/office/drawing/2014/main" id="{8964E31D-07C5-4427-AF14-777C3659A9D0}"/>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91" name="文本框 190">
                <a:extLst>
                  <a:ext uri="{FF2B5EF4-FFF2-40B4-BE49-F238E27FC236}">
                    <a16:creationId xmlns:a16="http://schemas.microsoft.com/office/drawing/2014/main" id="{4A04097A-7E11-4431-AC83-F1D1B5E5C566}"/>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82" name="组合 181">
              <a:extLst>
                <a:ext uri="{FF2B5EF4-FFF2-40B4-BE49-F238E27FC236}">
                  <a16:creationId xmlns:a16="http://schemas.microsoft.com/office/drawing/2014/main" id="{41D65220-914D-4ADF-AEEB-FD17BAEAEA41}"/>
                </a:ext>
              </a:extLst>
            </p:cNvPr>
            <p:cNvGrpSpPr/>
            <p:nvPr/>
          </p:nvGrpSpPr>
          <p:grpSpPr>
            <a:xfrm>
              <a:off x="10608324" y="5695692"/>
              <a:ext cx="635647" cy="606462"/>
              <a:chOff x="7319483" y="6149946"/>
              <a:chExt cx="635647" cy="606462"/>
            </a:xfrm>
          </p:grpSpPr>
          <p:sp>
            <p:nvSpPr>
              <p:cNvPr id="183" name="等腰三角形 182">
                <a:extLst>
                  <a:ext uri="{FF2B5EF4-FFF2-40B4-BE49-F238E27FC236}">
                    <a16:creationId xmlns:a16="http://schemas.microsoft.com/office/drawing/2014/main" id="{F6063CAB-DE9F-40F2-A1E4-63EF8E03E1F5}"/>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4" name="直接连接符 183">
                <a:extLst>
                  <a:ext uri="{FF2B5EF4-FFF2-40B4-BE49-F238E27FC236}">
                    <a16:creationId xmlns:a16="http://schemas.microsoft.com/office/drawing/2014/main" id="{571A3E7B-9A55-42E4-B767-83C9D1B62978}"/>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85" name="文本框 184">
                <a:extLst>
                  <a:ext uri="{FF2B5EF4-FFF2-40B4-BE49-F238E27FC236}">
                    <a16:creationId xmlns:a16="http://schemas.microsoft.com/office/drawing/2014/main" id="{C97C4894-7027-4CA9-8E51-6E9B76DB42A8}"/>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spTree>
    <p:extLst>
      <p:ext uri="{BB962C8B-B14F-4D97-AF65-F5344CB8AC3E}">
        <p14:creationId xmlns:p14="http://schemas.microsoft.com/office/powerpoint/2010/main" val="41600331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pPr lvl="1"/>
            <a:endPar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a:p>
            <a:endParaRPr lang="zh-CN" altLang="en-US" dirty="0"/>
          </a:p>
        </p:txBody>
      </p:sp>
      <p:grpSp>
        <p:nvGrpSpPr>
          <p:cNvPr id="18" name="Instruction memory"/>
          <p:cNvGrpSpPr/>
          <p:nvPr/>
        </p:nvGrpSpPr>
        <p:grpSpPr>
          <a:xfrm>
            <a:off x="2226871" y="3584437"/>
            <a:ext cx="1142439" cy="1017764"/>
            <a:chOff x="2263385" y="3407372"/>
            <a:chExt cx="1470915" cy="1193839"/>
          </a:xfrm>
        </p:grpSpPr>
        <p:sp>
          <p:nvSpPr>
            <p:cNvPr id="8" name="矩形 7"/>
            <p:cNvSpPr/>
            <p:nvPr/>
          </p:nvSpPr>
          <p:spPr>
            <a:xfrm>
              <a:off x="2333823" y="3448051"/>
              <a:ext cx="1400477" cy="11531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 name="文本框 11"/>
            <p:cNvSpPr txBox="1"/>
            <p:nvPr/>
          </p:nvSpPr>
          <p:spPr>
            <a:xfrm>
              <a:off x="2263385" y="3407372"/>
              <a:ext cx="1319245"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15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0" name="PC"/>
          <p:cNvGrpSpPr/>
          <p:nvPr/>
        </p:nvGrpSpPr>
        <p:grpSpPr>
          <a:xfrm>
            <a:off x="1648705" y="3386723"/>
            <a:ext cx="508932" cy="707887"/>
            <a:chOff x="792726" y="4754327"/>
            <a:chExt cx="1018662" cy="607761"/>
          </a:xfrm>
        </p:grpSpPr>
        <p:sp>
          <p:nvSpPr>
            <p:cNvPr id="15" name="矩形 14"/>
            <p:cNvSpPr/>
            <p:nvPr/>
          </p:nvSpPr>
          <p:spPr>
            <a:xfrm>
              <a:off x="887030" y="4800600"/>
              <a:ext cx="639939" cy="50292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9" name="文本框 18"/>
            <p:cNvSpPr txBox="1"/>
            <p:nvPr/>
          </p:nvSpPr>
          <p:spPr>
            <a:xfrm>
              <a:off x="792726" y="4754327"/>
              <a:ext cx="1018662" cy="607761"/>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PC</a:t>
              </a:r>
              <a:endParaRPr kumimoji="0" lang="zh-CN" alt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4" name="Add"/>
          <p:cNvGrpSpPr/>
          <p:nvPr/>
        </p:nvGrpSpPr>
        <p:grpSpPr>
          <a:xfrm>
            <a:off x="2485449" y="2335895"/>
            <a:ext cx="655949" cy="822349"/>
            <a:chOff x="4656246" y="4140786"/>
            <a:chExt cx="743403" cy="964617"/>
          </a:xfrm>
        </p:grpSpPr>
        <p:sp>
          <p:nvSpPr>
            <p:cNvPr id="22" name="梯形 21"/>
            <p:cNvSpPr/>
            <p:nvPr/>
          </p:nvSpPr>
          <p:spPr>
            <a:xfrm rot="5400000">
              <a:off x="4538209" y="4329347"/>
              <a:ext cx="964617" cy="587495"/>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3" name="文本框 22"/>
            <p:cNvSpPr txBox="1"/>
            <p:nvPr/>
          </p:nvSpPr>
          <p:spPr>
            <a:xfrm>
              <a:off x="4656246" y="4371481"/>
              <a:ext cx="743403"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36" name="IF/ID"/>
          <p:cNvGrpSpPr/>
          <p:nvPr/>
        </p:nvGrpSpPr>
        <p:grpSpPr>
          <a:xfrm>
            <a:off x="3336052" y="1885326"/>
            <a:ext cx="797013" cy="4114272"/>
            <a:chOff x="116128" y="450828"/>
            <a:chExt cx="955165" cy="5944486"/>
          </a:xfrm>
        </p:grpSpPr>
        <p:sp>
          <p:nvSpPr>
            <p:cNvPr id="34" name="矩形 33"/>
            <p:cNvSpPr/>
            <p:nvPr/>
          </p:nvSpPr>
          <p:spPr>
            <a:xfrm>
              <a:off x="358141" y="937259"/>
              <a:ext cx="358140" cy="5458055"/>
            </a:xfrm>
            <a:prstGeom prst="rect">
              <a:avLst/>
            </a:prstGeom>
            <a:noFill/>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5" name="文本框 34"/>
            <p:cNvSpPr txBox="1"/>
            <p:nvPr/>
          </p:nvSpPr>
          <p:spPr>
            <a:xfrm>
              <a:off x="116128" y="450828"/>
              <a:ext cx="955165" cy="578097"/>
            </a:xfrm>
            <a:prstGeom prst="rect">
              <a:avLst/>
            </a:prstGeom>
            <a:ln w="25400">
              <a:noFill/>
            </a:ln>
          </p:spPr>
          <p:style>
            <a:lnRef idx="1">
              <a:schemeClr val="accent1"/>
            </a:lnRef>
            <a:fillRef idx="0">
              <a:schemeClr val="accent1"/>
            </a:fillRef>
            <a:effectRef idx="0">
              <a:schemeClr val="accent1"/>
            </a:effectRef>
            <a:fontRef idx="minor">
              <a:schemeClr val="tx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IF/ID</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45" name="Registers"/>
          <p:cNvGrpSpPr/>
          <p:nvPr/>
        </p:nvGrpSpPr>
        <p:grpSpPr>
          <a:xfrm>
            <a:off x="4466204" y="2645990"/>
            <a:ext cx="1726163" cy="2568442"/>
            <a:chOff x="1920262" y="241327"/>
            <a:chExt cx="3106114" cy="3344105"/>
          </a:xfrm>
        </p:grpSpPr>
        <p:sp>
          <p:nvSpPr>
            <p:cNvPr id="37" name="矩形 36"/>
            <p:cNvSpPr/>
            <p:nvPr/>
          </p:nvSpPr>
          <p:spPr>
            <a:xfrm>
              <a:off x="2026387" y="320244"/>
              <a:ext cx="2772304" cy="3265188"/>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 name="文本框 37"/>
            <p:cNvSpPr txBox="1"/>
            <p:nvPr/>
          </p:nvSpPr>
          <p:spPr>
            <a:xfrm>
              <a:off x="2121631" y="1515410"/>
              <a:ext cx="2149527" cy="52094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Registers</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 name="文本框 38"/>
            <p:cNvSpPr txBox="1"/>
            <p:nvPr/>
          </p:nvSpPr>
          <p:spPr>
            <a:xfrm>
              <a:off x="1920789" y="241327"/>
              <a:ext cx="2611979"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0" name="文本框 39"/>
            <p:cNvSpPr txBox="1"/>
            <p:nvPr/>
          </p:nvSpPr>
          <p:spPr>
            <a:xfrm>
              <a:off x="1920262" y="740405"/>
              <a:ext cx="2450645"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1" name="文本框 40"/>
            <p:cNvSpPr txBox="1"/>
            <p:nvPr/>
          </p:nvSpPr>
          <p:spPr>
            <a:xfrm>
              <a:off x="1925707" y="2479303"/>
              <a:ext cx="2199198"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reg</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2" name="文本框 41"/>
            <p:cNvSpPr txBox="1"/>
            <p:nvPr/>
          </p:nvSpPr>
          <p:spPr>
            <a:xfrm>
              <a:off x="1938951" y="2943791"/>
              <a:ext cx="2364242"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3" name="文本框 42"/>
            <p:cNvSpPr txBox="1"/>
            <p:nvPr/>
          </p:nvSpPr>
          <p:spPr>
            <a:xfrm>
              <a:off x="2467221" y="1159239"/>
              <a:ext cx="2524881"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4" name="文本框 43"/>
            <p:cNvSpPr txBox="1"/>
            <p:nvPr/>
          </p:nvSpPr>
          <p:spPr>
            <a:xfrm>
              <a:off x="2431051" y="1920895"/>
              <a:ext cx="2595325" cy="520942"/>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48" name="Imm Gen"/>
          <p:cNvGrpSpPr/>
          <p:nvPr/>
        </p:nvGrpSpPr>
        <p:grpSpPr>
          <a:xfrm>
            <a:off x="5263826" y="5382121"/>
            <a:ext cx="658095" cy="538474"/>
            <a:chOff x="4868693" y="6172575"/>
            <a:chExt cx="992993" cy="1215294"/>
          </a:xfrm>
        </p:grpSpPr>
        <p:sp>
          <p:nvSpPr>
            <p:cNvPr id="46" name="椭圆 45"/>
            <p:cNvSpPr/>
            <p:nvPr/>
          </p:nvSpPr>
          <p:spPr>
            <a:xfrm>
              <a:off x="4868693" y="6172575"/>
              <a:ext cx="984044" cy="1146747"/>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7" name="文本框 46"/>
            <p:cNvSpPr txBox="1"/>
            <p:nvPr/>
          </p:nvSpPr>
          <p:spPr>
            <a:xfrm>
              <a:off x="4895397" y="6339596"/>
              <a:ext cx="966289" cy="104827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Imm</a:t>
              </a: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Gen</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55" name="Add Sum"/>
          <p:cNvGrpSpPr/>
          <p:nvPr/>
        </p:nvGrpSpPr>
        <p:grpSpPr>
          <a:xfrm>
            <a:off x="7755619" y="2463365"/>
            <a:ext cx="655949" cy="768090"/>
            <a:chOff x="5634620" y="2480764"/>
            <a:chExt cx="1081993" cy="1475010"/>
          </a:xfrm>
        </p:grpSpPr>
        <p:sp>
          <p:nvSpPr>
            <p:cNvPr id="52" name="梯形 51"/>
            <p:cNvSpPr/>
            <p:nvPr/>
          </p:nvSpPr>
          <p:spPr>
            <a:xfrm rot="5400000">
              <a:off x="5424366" y="2770445"/>
              <a:ext cx="1475010" cy="895647"/>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4" name="文本框 53"/>
            <p:cNvSpPr txBox="1"/>
            <p:nvPr/>
          </p:nvSpPr>
          <p:spPr>
            <a:xfrm>
              <a:off x="5634620" y="2851177"/>
              <a:ext cx="1081993" cy="93914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Sum</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61" name="ALU"/>
          <p:cNvGrpSpPr/>
          <p:nvPr/>
        </p:nvGrpSpPr>
        <p:grpSpPr>
          <a:xfrm>
            <a:off x="7682543" y="3490618"/>
            <a:ext cx="880667" cy="1454509"/>
            <a:chOff x="6023805" y="3618922"/>
            <a:chExt cx="1295157" cy="1704463"/>
          </a:xfrm>
        </p:grpSpPr>
        <p:sp>
          <p:nvSpPr>
            <p:cNvPr id="57" name="梯形 56"/>
            <p:cNvSpPr/>
            <p:nvPr/>
          </p:nvSpPr>
          <p:spPr>
            <a:xfrm rot="5400000">
              <a:off x="5805450" y="3911167"/>
              <a:ext cx="1704463" cy="1119974"/>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8" name="文本框 57"/>
            <p:cNvSpPr txBox="1"/>
            <p:nvPr/>
          </p:nvSpPr>
          <p:spPr>
            <a:xfrm>
              <a:off x="6023805" y="3779478"/>
              <a:ext cx="1070760"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ALU</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9" name="文本框 58"/>
            <p:cNvSpPr txBox="1"/>
            <p:nvPr/>
          </p:nvSpPr>
          <p:spPr>
            <a:xfrm>
              <a:off x="6212840" y="4596488"/>
              <a:ext cx="1106122" cy="347668"/>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result</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60" name="文本框 59"/>
            <p:cNvSpPr txBox="1"/>
            <p:nvPr/>
          </p:nvSpPr>
          <p:spPr>
            <a:xfrm>
              <a:off x="6276821" y="4080452"/>
              <a:ext cx="983534"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Zero</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65" name="shift left 1"/>
          <p:cNvGrpSpPr/>
          <p:nvPr/>
        </p:nvGrpSpPr>
        <p:grpSpPr>
          <a:xfrm>
            <a:off x="6703840" y="2615333"/>
            <a:ext cx="774571" cy="682474"/>
            <a:chOff x="6107415" y="4133981"/>
            <a:chExt cx="1189523" cy="1146746"/>
          </a:xfrm>
        </p:grpSpPr>
        <p:sp>
          <p:nvSpPr>
            <p:cNvPr id="63" name="椭圆 62"/>
            <p:cNvSpPr/>
            <p:nvPr/>
          </p:nvSpPr>
          <p:spPr>
            <a:xfrm>
              <a:off x="6161866" y="4133981"/>
              <a:ext cx="984043" cy="1146746"/>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64" name="文本框 63"/>
            <p:cNvSpPr txBox="1"/>
            <p:nvPr/>
          </p:nvSpPr>
          <p:spPr>
            <a:xfrm>
              <a:off x="6107415" y="4371720"/>
              <a:ext cx="1189523" cy="821732"/>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Shift </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left 1</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72" name="Mux 3"/>
          <p:cNvGrpSpPr/>
          <p:nvPr/>
        </p:nvGrpSpPr>
        <p:grpSpPr>
          <a:xfrm>
            <a:off x="11249672" y="4552367"/>
            <a:ext cx="596486" cy="1168007"/>
            <a:chOff x="3628473" y="5448300"/>
            <a:chExt cx="839025" cy="1230515"/>
          </a:xfrm>
        </p:grpSpPr>
        <p:sp>
          <p:nvSpPr>
            <p:cNvPr id="73" name="mux"/>
            <p:cNvSpPr/>
            <p:nvPr/>
          </p:nvSpPr>
          <p:spPr>
            <a:xfrm rot="5400000">
              <a:off x="3386121" y="5744398"/>
              <a:ext cx="1230515" cy="638319"/>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4" name="文本框 73"/>
            <p:cNvSpPr txBox="1"/>
            <p:nvPr/>
          </p:nvSpPr>
          <p:spPr>
            <a:xfrm>
              <a:off x="3628473" y="5492154"/>
              <a:ext cx="260679"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5" name="文本框 74"/>
            <p:cNvSpPr txBox="1"/>
            <p:nvPr/>
          </p:nvSpPr>
          <p:spPr>
            <a:xfrm>
              <a:off x="3641695" y="6293721"/>
              <a:ext cx="404061" cy="35667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6" name="文本框 75"/>
            <p:cNvSpPr txBox="1"/>
            <p:nvPr/>
          </p:nvSpPr>
          <p:spPr>
            <a:xfrm>
              <a:off x="3867268" y="5599309"/>
              <a:ext cx="600230" cy="1070017"/>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101" name="矩形 100"/>
          <p:cNvSpPr/>
          <p:nvPr/>
        </p:nvSpPr>
        <p:spPr>
          <a:xfrm>
            <a:off x="6371256" y="2229641"/>
            <a:ext cx="316009" cy="3769417"/>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11" name="矩形 110"/>
          <p:cNvSpPr/>
          <p:nvPr/>
        </p:nvSpPr>
        <p:spPr>
          <a:xfrm>
            <a:off x="8749001" y="2234391"/>
            <a:ext cx="291194" cy="3754340"/>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1" name="矩形 120"/>
          <p:cNvSpPr/>
          <p:nvPr/>
        </p:nvSpPr>
        <p:spPr>
          <a:xfrm>
            <a:off x="10750832" y="2220956"/>
            <a:ext cx="300877" cy="3767775"/>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160" name="直接连接符 159"/>
          <p:cNvCxnSpPr/>
          <p:nvPr/>
        </p:nvCxnSpPr>
        <p:spPr>
          <a:xfrm flipV="1">
            <a:off x="3836834" y="2545169"/>
            <a:ext cx="2534421" cy="109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直接连接符 160"/>
          <p:cNvCxnSpPr/>
          <p:nvPr/>
        </p:nvCxnSpPr>
        <p:spPr>
          <a:xfrm>
            <a:off x="2015539" y="3747193"/>
            <a:ext cx="25830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直接连接符 161"/>
          <p:cNvCxnSpPr>
            <a:stCxn id="8" idx="3"/>
            <a:endCxn id="34" idx="1"/>
          </p:cNvCxnSpPr>
          <p:nvPr/>
        </p:nvCxnSpPr>
        <p:spPr>
          <a:xfrm>
            <a:off x="3369310" y="4110659"/>
            <a:ext cx="168684" cy="1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直接连接符 162"/>
          <p:cNvCxnSpPr>
            <a:stCxn id="22" idx="0"/>
          </p:cNvCxnSpPr>
          <p:nvPr/>
        </p:nvCxnSpPr>
        <p:spPr>
          <a:xfrm flipV="1">
            <a:off x="3066061" y="2745182"/>
            <a:ext cx="82559" cy="18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a:off x="2104143" y="2472077"/>
            <a:ext cx="43729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flipH="1">
            <a:off x="2104143" y="2463365"/>
            <a:ext cx="3782" cy="1271738"/>
          </a:xfrm>
          <a:prstGeom prst="line">
            <a:avLst/>
          </a:prstGeom>
          <a:ln w="25400">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3139742" y="2055263"/>
            <a:ext cx="0" cy="6899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a:stCxn id="52" idx="0"/>
          </p:cNvCxnSpPr>
          <p:nvPr/>
        </p:nvCxnSpPr>
        <p:spPr>
          <a:xfrm flipV="1">
            <a:off x="8346757" y="2847410"/>
            <a:ext cx="404306"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直接连接符 187"/>
          <p:cNvCxnSpPr/>
          <p:nvPr/>
        </p:nvCxnSpPr>
        <p:spPr>
          <a:xfrm>
            <a:off x="850618" y="2055263"/>
            <a:ext cx="22980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a:off x="850618" y="2055263"/>
            <a:ext cx="0" cy="13869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a:off x="4145076" y="2877133"/>
            <a:ext cx="409392"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4131819" y="3229984"/>
            <a:ext cx="395373"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a:off x="6070427" y="3685504"/>
            <a:ext cx="30542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a:xfrm>
            <a:off x="6070428" y="4126886"/>
            <a:ext cx="29581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8" name="直接连接符 217"/>
          <p:cNvCxnSpPr/>
          <p:nvPr/>
        </p:nvCxnSpPr>
        <p:spPr>
          <a:xfrm flipV="1">
            <a:off x="5918385" y="5619905"/>
            <a:ext cx="457463" cy="719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1" name="直接连接符 260"/>
          <p:cNvCxnSpPr/>
          <p:nvPr/>
        </p:nvCxnSpPr>
        <p:spPr>
          <a:xfrm>
            <a:off x="7409529" y="2969903"/>
            <a:ext cx="36100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3" name="直接连接符 262"/>
          <p:cNvCxnSpPr/>
          <p:nvPr/>
        </p:nvCxnSpPr>
        <p:spPr>
          <a:xfrm>
            <a:off x="6695772" y="3711035"/>
            <a:ext cx="103718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2" name="Mux 3"/>
          <p:cNvGrpSpPr/>
          <p:nvPr/>
        </p:nvGrpSpPr>
        <p:grpSpPr>
          <a:xfrm>
            <a:off x="980794" y="3230765"/>
            <a:ext cx="615567" cy="1168007"/>
            <a:chOff x="3339670" y="5460516"/>
            <a:chExt cx="901073" cy="1230515"/>
          </a:xfrm>
        </p:grpSpPr>
        <p:sp>
          <p:nvSpPr>
            <p:cNvPr id="133" name="mux"/>
            <p:cNvSpPr/>
            <p:nvPr/>
          </p:nvSpPr>
          <p:spPr>
            <a:xfrm rot="5400000">
              <a:off x="3140776" y="5731027"/>
              <a:ext cx="1230515" cy="689494"/>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4" name="文本框 133"/>
            <p:cNvSpPr txBox="1"/>
            <p:nvPr/>
          </p:nvSpPr>
          <p:spPr>
            <a:xfrm>
              <a:off x="3365437" y="5514581"/>
              <a:ext cx="260684"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5" name="文本框 134"/>
            <p:cNvSpPr txBox="1"/>
            <p:nvPr/>
          </p:nvSpPr>
          <p:spPr>
            <a:xfrm>
              <a:off x="3339670" y="6240974"/>
              <a:ext cx="324022"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6" name="文本框 135"/>
            <p:cNvSpPr txBox="1"/>
            <p:nvPr/>
          </p:nvSpPr>
          <p:spPr>
            <a:xfrm>
              <a:off x="3616106" y="5588478"/>
              <a:ext cx="624637" cy="107001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52" name="直接连接符 151"/>
          <p:cNvCxnSpPr/>
          <p:nvPr/>
        </p:nvCxnSpPr>
        <p:spPr>
          <a:xfrm>
            <a:off x="8501372" y="4449406"/>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a:off x="9052058" y="4459371"/>
            <a:ext cx="28232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a:off x="9031887" y="5074428"/>
            <a:ext cx="3068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10550113" y="4754212"/>
            <a:ext cx="20911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56" name="Mux 3"/>
          <p:cNvGrpSpPr/>
          <p:nvPr/>
        </p:nvGrpSpPr>
        <p:grpSpPr>
          <a:xfrm>
            <a:off x="7047068" y="3828239"/>
            <a:ext cx="482064" cy="1168006"/>
            <a:chOff x="3558568" y="5448300"/>
            <a:chExt cx="706348" cy="1230515"/>
          </a:xfrm>
        </p:grpSpPr>
        <p:sp>
          <p:nvSpPr>
            <p:cNvPr id="157" name="mux"/>
            <p:cNvSpPr/>
            <p:nvPr/>
          </p:nvSpPr>
          <p:spPr>
            <a:xfrm rot="5400000">
              <a:off x="3332723" y="5746622"/>
              <a:ext cx="1230515" cy="633871"/>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8" name="文本框 157"/>
            <p:cNvSpPr txBox="1"/>
            <p:nvPr/>
          </p:nvSpPr>
          <p:spPr>
            <a:xfrm>
              <a:off x="3571052" y="5580627"/>
              <a:ext cx="260683"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9" name="文本框 158"/>
            <p:cNvSpPr txBox="1"/>
            <p:nvPr/>
          </p:nvSpPr>
          <p:spPr>
            <a:xfrm>
              <a:off x="3558568" y="6264229"/>
              <a:ext cx="408929" cy="34293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6" name="文本框 165"/>
            <p:cNvSpPr txBox="1"/>
            <p:nvPr/>
          </p:nvSpPr>
          <p:spPr>
            <a:xfrm>
              <a:off x="3747999" y="5579240"/>
              <a:ext cx="462611" cy="1070019"/>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68" name="直接连接符 167"/>
          <p:cNvCxnSpPr/>
          <p:nvPr/>
        </p:nvCxnSpPr>
        <p:spPr>
          <a:xfrm flipV="1">
            <a:off x="1508893" y="3740800"/>
            <a:ext cx="178001" cy="5"/>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a:xfrm>
            <a:off x="2346907" y="2934283"/>
            <a:ext cx="18646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a:off x="6695772" y="2539897"/>
            <a:ext cx="1083649" cy="7422"/>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flipH="1">
            <a:off x="6918450" y="3282084"/>
            <a:ext cx="22498" cy="19552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a:off x="6695772" y="5237334"/>
            <a:ext cx="24517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a:off x="6695772" y="4126886"/>
            <a:ext cx="40077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a:off x="6930313" y="4782565"/>
            <a:ext cx="182537" cy="853"/>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a:off x="6817476" y="5074426"/>
            <a:ext cx="1931532"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a:off x="6817476" y="4126886"/>
            <a:ext cx="1766" cy="947540"/>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a:off x="9152409" y="4455809"/>
            <a:ext cx="0" cy="1068388"/>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flipV="1">
            <a:off x="9152409" y="5518398"/>
            <a:ext cx="1599091" cy="572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1" name="直接连接符 270"/>
          <p:cNvCxnSpPr/>
          <p:nvPr/>
        </p:nvCxnSpPr>
        <p:spPr>
          <a:xfrm>
            <a:off x="11042375" y="5507933"/>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3" name="直接连接符 272"/>
          <p:cNvCxnSpPr/>
          <p:nvPr/>
        </p:nvCxnSpPr>
        <p:spPr>
          <a:xfrm>
            <a:off x="7529133" y="4592638"/>
            <a:ext cx="21340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5" name="文本框 284"/>
          <p:cNvSpPr txBox="1"/>
          <p:nvPr/>
        </p:nvSpPr>
        <p:spPr>
          <a:xfrm>
            <a:off x="2084050" y="4135616"/>
            <a:ext cx="1500650" cy="48904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 memory</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361" name="直接连接符 360"/>
          <p:cNvCxnSpPr>
            <a:endCxn id="76" idx="3"/>
          </p:cNvCxnSpPr>
          <p:nvPr/>
        </p:nvCxnSpPr>
        <p:spPr>
          <a:xfrm>
            <a:off x="11713470" y="5175762"/>
            <a:ext cx="132688" cy="27775"/>
          </a:xfrm>
          <a:prstGeom prst="line">
            <a:avLst/>
          </a:prstGeom>
          <a:ln w="25400">
            <a:noFill/>
          </a:ln>
        </p:spPr>
        <p:style>
          <a:lnRef idx="1">
            <a:schemeClr val="accent1"/>
          </a:lnRef>
          <a:fillRef idx="0">
            <a:schemeClr val="accent1"/>
          </a:fillRef>
          <a:effectRef idx="0">
            <a:schemeClr val="accent1"/>
          </a:effectRef>
          <a:fontRef idx="minor">
            <a:schemeClr val="tx1"/>
          </a:fontRef>
        </p:style>
      </p:cxnSp>
      <p:cxnSp>
        <p:nvCxnSpPr>
          <p:cNvPr id="362" name="直接连接符 361"/>
          <p:cNvCxnSpPr/>
          <p:nvPr/>
        </p:nvCxnSpPr>
        <p:spPr>
          <a:xfrm flipH="1">
            <a:off x="11909737" y="5157672"/>
            <a:ext cx="14406" cy="9965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8" name="直接连接符 367"/>
          <p:cNvCxnSpPr/>
          <p:nvPr/>
        </p:nvCxnSpPr>
        <p:spPr>
          <a:xfrm>
            <a:off x="4277776" y="4859337"/>
            <a:ext cx="0" cy="13086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2" name="直接连接符 371"/>
          <p:cNvCxnSpPr/>
          <p:nvPr/>
        </p:nvCxnSpPr>
        <p:spPr>
          <a:xfrm>
            <a:off x="4274417" y="4859337"/>
            <a:ext cx="247455" cy="48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7" name="直接连接符 376"/>
          <p:cNvCxnSpPr/>
          <p:nvPr/>
        </p:nvCxnSpPr>
        <p:spPr>
          <a:xfrm>
            <a:off x="679951" y="1809508"/>
            <a:ext cx="89899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8" name="直接连接符 387"/>
          <p:cNvCxnSpPr/>
          <p:nvPr/>
        </p:nvCxnSpPr>
        <p:spPr>
          <a:xfrm>
            <a:off x="679951" y="1818551"/>
            <a:ext cx="0" cy="23336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5" name="直接连接符 394"/>
          <p:cNvCxnSpPr/>
          <p:nvPr/>
        </p:nvCxnSpPr>
        <p:spPr>
          <a:xfrm>
            <a:off x="838200" y="3440612"/>
            <a:ext cx="165348" cy="65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7" name="直接连接符 396"/>
          <p:cNvCxnSpPr/>
          <p:nvPr/>
        </p:nvCxnSpPr>
        <p:spPr>
          <a:xfrm>
            <a:off x="670620" y="4147837"/>
            <a:ext cx="332520"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4" name="直接连接符 403"/>
          <p:cNvCxnSpPr/>
          <p:nvPr/>
        </p:nvCxnSpPr>
        <p:spPr>
          <a:xfrm>
            <a:off x="9669922" y="1809508"/>
            <a:ext cx="0" cy="10197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7" name="直接连接符 406"/>
          <p:cNvCxnSpPr/>
          <p:nvPr/>
        </p:nvCxnSpPr>
        <p:spPr>
          <a:xfrm flipV="1">
            <a:off x="9043478" y="2837251"/>
            <a:ext cx="641869" cy="51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2066283" y="2743837"/>
            <a:ext cx="20135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4</a:t>
            </a:r>
            <a:endParaRPr kumimoji="0" lang="zh-CN" altLang="en-US"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cxnSp>
        <p:nvCxnSpPr>
          <p:cNvPr id="247" name="直接连接符 246"/>
          <p:cNvCxnSpPr/>
          <p:nvPr/>
        </p:nvCxnSpPr>
        <p:spPr>
          <a:xfrm>
            <a:off x="11762062" y="5157672"/>
            <a:ext cx="16208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a:xfrm>
            <a:off x="4123081" y="2875072"/>
            <a:ext cx="0" cy="27611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a:off x="8501372" y="4048810"/>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a:off x="9042549" y="4048853"/>
            <a:ext cx="18594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连接符: 肘形 98"/>
          <p:cNvCxnSpPr/>
          <p:nvPr/>
        </p:nvCxnSpPr>
        <p:spPr>
          <a:xfrm flipV="1">
            <a:off x="2118109" y="2556083"/>
            <a:ext cx="1431289" cy="730238"/>
          </a:xfrm>
          <a:prstGeom prst="bentConnector3">
            <a:avLst>
              <a:gd name="adj1" fmla="val 82595"/>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238" name="文本框 237"/>
          <p:cNvSpPr txBox="1"/>
          <p:nvPr/>
        </p:nvSpPr>
        <p:spPr>
          <a:xfrm rot="10800000">
            <a:off x="3764711" y="2337282"/>
            <a:ext cx="430887" cy="1436503"/>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40" name="文本框 239"/>
          <p:cNvSpPr txBox="1"/>
          <p:nvPr/>
        </p:nvSpPr>
        <p:spPr>
          <a:xfrm>
            <a:off x="4693568" y="5650177"/>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32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64" name="文本框 263"/>
          <p:cNvSpPr txBox="1"/>
          <p:nvPr/>
        </p:nvSpPr>
        <p:spPr>
          <a:xfrm>
            <a:off x="5919453" y="5621900"/>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64</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245" name="直接连接符 244"/>
          <p:cNvCxnSpPr/>
          <p:nvPr/>
        </p:nvCxnSpPr>
        <p:spPr>
          <a:xfrm>
            <a:off x="4820326" y="5563778"/>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7" name="直接连接符 266"/>
          <p:cNvCxnSpPr/>
          <p:nvPr/>
        </p:nvCxnSpPr>
        <p:spPr>
          <a:xfrm>
            <a:off x="6048908" y="5558301"/>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V="1">
            <a:off x="4264322" y="6154194"/>
            <a:ext cx="7659820" cy="137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a:off x="11051706" y="4760277"/>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a:off x="3836834" y="4118785"/>
            <a:ext cx="286247" cy="8101"/>
          </a:xfrm>
          <a:prstGeom prst="line">
            <a:avLst/>
          </a:prstGeom>
          <a:ln w="2540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MEM for Store</a:t>
            </a:r>
            <a:endParaRPr lang="zh-CN" altLang="en-US" dirty="0"/>
          </a:p>
        </p:txBody>
      </p:sp>
      <p:cxnSp>
        <p:nvCxnSpPr>
          <p:cNvPr id="130" name="直接连接符 129"/>
          <p:cNvCxnSpPr/>
          <p:nvPr/>
        </p:nvCxnSpPr>
        <p:spPr>
          <a:xfrm>
            <a:off x="4123081" y="5636421"/>
            <a:ext cx="1143140"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3977837" y="4518591"/>
            <a:ext cx="544035"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a:off x="4122084" y="5636172"/>
            <a:ext cx="0" cy="25778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直接箭头连接符 140"/>
          <p:cNvCxnSpPr/>
          <p:nvPr/>
        </p:nvCxnSpPr>
        <p:spPr>
          <a:xfrm>
            <a:off x="4122084" y="5893961"/>
            <a:ext cx="22402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直接箭头连接符 141"/>
          <p:cNvCxnSpPr/>
          <p:nvPr/>
        </p:nvCxnSpPr>
        <p:spPr>
          <a:xfrm>
            <a:off x="6694966" y="5887101"/>
            <a:ext cx="203950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直接箭头连接符 142"/>
          <p:cNvCxnSpPr/>
          <p:nvPr/>
        </p:nvCxnSpPr>
        <p:spPr>
          <a:xfrm>
            <a:off x="9052058" y="5882404"/>
            <a:ext cx="168174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a:xfrm flipV="1">
            <a:off x="11060584" y="5893961"/>
            <a:ext cx="236174"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nvCxnSpPr>
        <p:spPr>
          <a:xfrm>
            <a:off x="11286375" y="5886602"/>
            <a:ext cx="0" cy="20123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接箭头连接符 145"/>
          <p:cNvCxnSpPr/>
          <p:nvPr/>
        </p:nvCxnSpPr>
        <p:spPr>
          <a:xfrm flipH="1">
            <a:off x="3977837" y="6087841"/>
            <a:ext cx="7318921"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7" name="直接连接符 146"/>
          <p:cNvCxnSpPr/>
          <p:nvPr/>
        </p:nvCxnSpPr>
        <p:spPr>
          <a:xfrm>
            <a:off x="3990398" y="4518591"/>
            <a:ext cx="0" cy="15808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8" name="组合 147"/>
          <p:cNvGrpSpPr/>
          <p:nvPr/>
        </p:nvGrpSpPr>
        <p:grpSpPr>
          <a:xfrm>
            <a:off x="8816172" y="1009015"/>
            <a:ext cx="2157268" cy="695935"/>
            <a:chOff x="1613177" y="1509972"/>
            <a:chExt cx="2034915" cy="695935"/>
          </a:xfrm>
        </p:grpSpPr>
        <p:cxnSp>
          <p:nvCxnSpPr>
            <p:cNvPr id="149" name="直接连接符 148"/>
            <p:cNvCxnSpPr/>
            <p:nvPr/>
          </p:nvCxnSpPr>
          <p:spPr>
            <a:xfrm>
              <a:off x="1659668"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p:nvCxnSpPr>
          <p:spPr>
            <a:xfrm>
              <a:off x="3648092"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a:off x="1659668" y="1838984"/>
              <a:ext cx="19856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5" name="文本框 164"/>
            <p:cNvSpPr txBox="1"/>
            <p:nvPr/>
          </p:nvSpPr>
          <p:spPr>
            <a:xfrm>
              <a:off x="2127256" y="1509972"/>
              <a:ext cx="1050521"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sd</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9" name="文本框 168"/>
            <p:cNvSpPr txBox="1"/>
            <p:nvPr/>
          </p:nvSpPr>
          <p:spPr>
            <a:xfrm>
              <a:off x="1613177" y="1805797"/>
              <a:ext cx="203218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rPr>
                <a:t>Memory</a:t>
              </a:r>
              <a:endPar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170" name="矩形 169"/>
          <p:cNvSpPr/>
          <p:nvPr/>
        </p:nvSpPr>
        <p:spPr>
          <a:xfrm>
            <a:off x="8884414" y="2242787"/>
            <a:ext cx="147600" cy="3736800"/>
          </a:xfrm>
          <a:prstGeom prst="rect">
            <a:avLst/>
          </a:prstGeom>
          <a:solidFill>
            <a:srgbClr val="9CDCF9"/>
          </a:solidFill>
          <a:ln w="25400">
            <a:no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nvGrpSpPr>
          <p:cNvPr id="2" name="组合 1"/>
          <p:cNvGrpSpPr/>
          <p:nvPr/>
        </p:nvGrpSpPr>
        <p:grpSpPr>
          <a:xfrm>
            <a:off x="9269966" y="3735102"/>
            <a:ext cx="1417516" cy="1635472"/>
            <a:chOff x="9233814" y="4289030"/>
            <a:chExt cx="1417516" cy="1635472"/>
          </a:xfrm>
        </p:grpSpPr>
        <p:sp>
          <p:nvSpPr>
            <p:cNvPr id="82" name="矩形 81"/>
            <p:cNvSpPr/>
            <p:nvPr/>
          </p:nvSpPr>
          <p:spPr>
            <a:xfrm>
              <a:off x="9303540" y="4289030"/>
              <a:ext cx="1201208" cy="1635472"/>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72" name="矩形 171"/>
            <p:cNvSpPr/>
            <p:nvPr/>
          </p:nvSpPr>
          <p:spPr>
            <a:xfrm>
              <a:off x="9316389" y="4306052"/>
              <a:ext cx="601200" cy="1616400"/>
            </a:xfrm>
            <a:prstGeom prst="rect">
              <a:avLst/>
            </a:prstGeom>
            <a:solidFill>
              <a:srgbClr val="9CDCF9"/>
            </a:solidFill>
            <a:ln w="25400">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3" name="文本框 82"/>
            <p:cNvSpPr txBox="1"/>
            <p:nvPr/>
          </p:nvSpPr>
          <p:spPr>
            <a:xfrm>
              <a:off x="9291516" y="4314365"/>
              <a:ext cx="1234223" cy="48904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Data </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memory</a:t>
              </a:r>
            </a:p>
          </p:txBody>
        </p:sp>
        <p:sp>
          <p:nvSpPr>
            <p:cNvPr id="84" name="文本框 83"/>
            <p:cNvSpPr txBox="1"/>
            <p:nvPr/>
          </p:nvSpPr>
          <p:spPr>
            <a:xfrm>
              <a:off x="9236465" y="4847932"/>
              <a:ext cx="1078797" cy="400110"/>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7" name="文本框 86"/>
            <p:cNvSpPr txBox="1"/>
            <p:nvPr/>
          </p:nvSpPr>
          <p:spPr>
            <a:xfrm>
              <a:off x="9233814" y="5523261"/>
              <a:ext cx="1249484" cy="400110"/>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8" name="文本框 87"/>
            <p:cNvSpPr txBox="1"/>
            <p:nvPr/>
          </p:nvSpPr>
          <p:spPr>
            <a:xfrm>
              <a:off x="9393450" y="5162229"/>
              <a:ext cx="1257880" cy="400110"/>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173" name="文本框 172"/>
          <p:cNvSpPr txBox="1"/>
          <p:nvPr/>
        </p:nvSpPr>
        <p:spPr>
          <a:xfrm>
            <a:off x="6080556" y="1890327"/>
            <a:ext cx="898003"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ID/EX</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75" name="文本框 174"/>
          <p:cNvSpPr txBox="1"/>
          <p:nvPr/>
        </p:nvSpPr>
        <p:spPr>
          <a:xfrm>
            <a:off x="8266169" y="1837701"/>
            <a:ext cx="1268296"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EX/MEM</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76" name="文本框 175"/>
          <p:cNvSpPr txBox="1"/>
          <p:nvPr/>
        </p:nvSpPr>
        <p:spPr>
          <a:xfrm>
            <a:off x="10244209" y="1851647"/>
            <a:ext cx="1338828"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MEM/WB</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71" name="灯片编号占位符 1"/>
          <p:cNvSpPr>
            <a:spLocks noGrp="1"/>
          </p:cNvSpPr>
          <p:nvPr>
            <p:ph type="sldNum" sz="quarter" idx="12"/>
          </p:nvPr>
        </p:nvSpPr>
        <p:spPr>
          <a:xfrm>
            <a:off x="8940542" y="648279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nvGrpSpPr>
          <p:cNvPr id="178" name="组合 177">
            <a:extLst>
              <a:ext uri="{FF2B5EF4-FFF2-40B4-BE49-F238E27FC236}">
                <a16:creationId xmlns:a16="http://schemas.microsoft.com/office/drawing/2014/main" id="{7F1AFEC7-3131-4CB1-B564-8AD27D1F2DD8}"/>
              </a:ext>
            </a:extLst>
          </p:cNvPr>
          <p:cNvGrpSpPr/>
          <p:nvPr/>
        </p:nvGrpSpPr>
        <p:grpSpPr>
          <a:xfrm>
            <a:off x="3485996" y="5889882"/>
            <a:ext cx="7843269" cy="620534"/>
            <a:chOff x="3400702" y="5690626"/>
            <a:chExt cx="7843269" cy="620534"/>
          </a:xfrm>
        </p:grpSpPr>
        <p:grpSp>
          <p:nvGrpSpPr>
            <p:cNvPr id="179" name="组合 178">
              <a:extLst>
                <a:ext uri="{FF2B5EF4-FFF2-40B4-BE49-F238E27FC236}">
                  <a16:creationId xmlns:a16="http://schemas.microsoft.com/office/drawing/2014/main" id="{259ED26F-0ECB-403F-864C-549146233F74}"/>
                </a:ext>
              </a:extLst>
            </p:cNvPr>
            <p:cNvGrpSpPr/>
            <p:nvPr/>
          </p:nvGrpSpPr>
          <p:grpSpPr>
            <a:xfrm>
              <a:off x="3400702" y="5704698"/>
              <a:ext cx="635647" cy="606462"/>
              <a:chOff x="7319483" y="6149946"/>
              <a:chExt cx="635647" cy="606462"/>
            </a:xfrm>
          </p:grpSpPr>
          <p:sp>
            <p:nvSpPr>
              <p:cNvPr id="195" name="等腰三角形 194">
                <a:extLst>
                  <a:ext uri="{FF2B5EF4-FFF2-40B4-BE49-F238E27FC236}">
                    <a16:creationId xmlns:a16="http://schemas.microsoft.com/office/drawing/2014/main" id="{941E0CAC-852B-4E8E-A4EB-E7B9733FA200}"/>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96" name="直接连接符 195">
                <a:extLst>
                  <a:ext uri="{FF2B5EF4-FFF2-40B4-BE49-F238E27FC236}">
                    <a16:creationId xmlns:a16="http://schemas.microsoft.com/office/drawing/2014/main" id="{CFA26B77-1C97-422D-8D31-8AB6BD47F1AE}"/>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97" name="文本框 196">
                <a:extLst>
                  <a:ext uri="{FF2B5EF4-FFF2-40B4-BE49-F238E27FC236}">
                    <a16:creationId xmlns:a16="http://schemas.microsoft.com/office/drawing/2014/main" id="{A6C67E3A-19E2-4D81-B656-8085C9D09EB1}"/>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80" name="组合 179">
              <a:extLst>
                <a:ext uri="{FF2B5EF4-FFF2-40B4-BE49-F238E27FC236}">
                  <a16:creationId xmlns:a16="http://schemas.microsoft.com/office/drawing/2014/main" id="{3BBD19F4-142E-416F-85EE-25FC2AC1CADA}"/>
                </a:ext>
              </a:extLst>
            </p:cNvPr>
            <p:cNvGrpSpPr/>
            <p:nvPr/>
          </p:nvGrpSpPr>
          <p:grpSpPr>
            <a:xfrm>
              <a:off x="6239013" y="5698367"/>
              <a:ext cx="635647" cy="606462"/>
              <a:chOff x="7319483" y="6149946"/>
              <a:chExt cx="635647" cy="606462"/>
            </a:xfrm>
          </p:grpSpPr>
          <p:sp>
            <p:nvSpPr>
              <p:cNvPr id="192" name="等腰三角形 191">
                <a:extLst>
                  <a:ext uri="{FF2B5EF4-FFF2-40B4-BE49-F238E27FC236}">
                    <a16:creationId xmlns:a16="http://schemas.microsoft.com/office/drawing/2014/main" id="{13D79D3E-909A-4B3E-8848-4AE14867DC92}"/>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93" name="直接连接符 192">
                <a:extLst>
                  <a:ext uri="{FF2B5EF4-FFF2-40B4-BE49-F238E27FC236}">
                    <a16:creationId xmlns:a16="http://schemas.microsoft.com/office/drawing/2014/main" id="{FD690ECE-62E6-427B-A1A5-0685B514B00F}"/>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94" name="文本框 193">
                <a:extLst>
                  <a:ext uri="{FF2B5EF4-FFF2-40B4-BE49-F238E27FC236}">
                    <a16:creationId xmlns:a16="http://schemas.microsoft.com/office/drawing/2014/main" id="{C0C76789-8361-49CE-9144-A531D3795ABE}"/>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81" name="组合 180">
              <a:extLst>
                <a:ext uri="{FF2B5EF4-FFF2-40B4-BE49-F238E27FC236}">
                  <a16:creationId xmlns:a16="http://schemas.microsoft.com/office/drawing/2014/main" id="{BC440D2D-B459-48F3-A361-47C1D691D14D}"/>
                </a:ext>
              </a:extLst>
            </p:cNvPr>
            <p:cNvGrpSpPr/>
            <p:nvPr/>
          </p:nvGrpSpPr>
          <p:grpSpPr>
            <a:xfrm>
              <a:off x="8604217" y="5690626"/>
              <a:ext cx="635647" cy="606462"/>
              <a:chOff x="7319483" y="6149946"/>
              <a:chExt cx="635647" cy="606462"/>
            </a:xfrm>
          </p:grpSpPr>
          <p:sp>
            <p:nvSpPr>
              <p:cNvPr id="187" name="等腰三角形 186">
                <a:extLst>
                  <a:ext uri="{FF2B5EF4-FFF2-40B4-BE49-F238E27FC236}">
                    <a16:creationId xmlns:a16="http://schemas.microsoft.com/office/drawing/2014/main" id="{B2095892-539C-4630-AA41-086C8D73561E}"/>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9" name="直接连接符 188">
                <a:extLst>
                  <a:ext uri="{FF2B5EF4-FFF2-40B4-BE49-F238E27FC236}">
                    <a16:creationId xmlns:a16="http://schemas.microsoft.com/office/drawing/2014/main" id="{28416F72-B8E8-4565-A511-0EF9ECB39E1F}"/>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91" name="文本框 190">
                <a:extLst>
                  <a:ext uri="{FF2B5EF4-FFF2-40B4-BE49-F238E27FC236}">
                    <a16:creationId xmlns:a16="http://schemas.microsoft.com/office/drawing/2014/main" id="{82457499-3F57-483F-A32A-7F39D7044D6D}"/>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82" name="组合 181">
              <a:extLst>
                <a:ext uri="{FF2B5EF4-FFF2-40B4-BE49-F238E27FC236}">
                  <a16:creationId xmlns:a16="http://schemas.microsoft.com/office/drawing/2014/main" id="{39070DBE-335D-4169-AD7D-37AAC5B80DA9}"/>
                </a:ext>
              </a:extLst>
            </p:cNvPr>
            <p:cNvGrpSpPr/>
            <p:nvPr/>
          </p:nvGrpSpPr>
          <p:grpSpPr>
            <a:xfrm>
              <a:off x="10608324" y="5695692"/>
              <a:ext cx="635647" cy="606462"/>
              <a:chOff x="7319483" y="6149946"/>
              <a:chExt cx="635647" cy="606462"/>
            </a:xfrm>
          </p:grpSpPr>
          <p:sp>
            <p:nvSpPr>
              <p:cNvPr id="183" name="等腰三角形 182">
                <a:extLst>
                  <a:ext uri="{FF2B5EF4-FFF2-40B4-BE49-F238E27FC236}">
                    <a16:creationId xmlns:a16="http://schemas.microsoft.com/office/drawing/2014/main" id="{FBBE0A47-B579-4D26-A55B-322B632C0E07}"/>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4" name="直接连接符 183">
                <a:extLst>
                  <a:ext uri="{FF2B5EF4-FFF2-40B4-BE49-F238E27FC236}">
                    <a16:creationId xmlns:a16="http://schemas.microsoft.com/office/drawing/2014/main" id="{36F61CDA-544E-4021-8A68-6EBBB5D1094B}"/>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85" name="文本框 184">
                <a:extLst>
                  <a:ext uri="{FF2B5EF4-FFF2-40B4-BE49-F238E27FC236}">
                    <a16:creationId xmlns:a16="http://schemas.microsoft.com/office/drawing/2014/main" id="{0003387F-9CFF-4793-86C4-BFD6DF39519C}"/>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sp>
        <p:nvSpPr>
          <p:cNvPr id="198" name="等腰三角形 197">
            <a:extLst>
              <a:ext uri="{FF2B5EF4-FFF2-40B4-BE49-F238E27FC236}">
                <a16:creationId xmlns:a16="http://schemas.microsoft.com/office/drawing/2014/main" id="{B2095892-539C-4630-AA41-086C8D73561E}"/>
              </a:ext>
            </a:extLst>
          </p:cNvPr>
          <p:cNvSpPr/>
          <p:nvPr/>
        </p:nvSpPr>
        <p:spPr>
          <a:xfrm>
            <a:off x="9760849" y="5271725"/>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99" name="直接连接符 198">
            <a:extLst>
              <a:ext uri="{FF2B5EF4-FFF2-40B4-BE49-F238E27FC236}">
                <a16:creationId xmlns:a16="http://schemas.microsoft.com/office/drawing/2014/main" id="{28416F72-B8E8-4565-A511-0EF9ECB39E1F}"/>
              </a:ext>
            </a:extLst>
          </p:cNvPr>
          <p:cNvCxnSpPr>
            <a:cxnSpLocks/>
          </p:cNvCxnSpPr>
          <p:nvPr/>
        </p:nvCxnSpPr>
        <p:spPr>
          <a:xfrm>
            <a:off x="9800690" y="5362963"/>
            <a:ext cx="0" cy="132031"/>
          </a:xfrm>
          <a:prstGeom prst="line">
            <a:avLst/>
          </a:prstGeom>
        </p:spPr>
        <p:style>
          <a:lnRef idx="3">
            <a:schemeClr val="dk1"/>
          </a:lnRef>
          <a:fillRef idx="0">
            <a:schemeClr val="dk1"/>
          </a:fillRef>
          <a:effectRef idx="2">
            <a:schemeClr val="dk1"/>
          </a:effectRef>
          <a:fontRef idx="minor">
            <a:schemeClr val="tx1"/>
          </a:fontRef>
        </p:style>
      </p:cxnSp>
      <p:sp>
        <p:nvSpPr>
          <p:cNvPr id="200" name="文本框 199">
            <a:extLst>
              <a:ext uri="{FF2B5EF4-FFF2-40B4-BE49-F238E27FC236}">
                <a16:creationId xmlns:a16="http://schemas.microsoft.com/office/drawing/2014/main" id="{82457499-3F57-483F-A32A-7F39D7044D6D}"/>
              </a:ext>
            </a:extLst>
          </p:cNvPr>
          <p:cNvSpPr txBox="1"/>
          <p:nvPr/>
        </p:nvSpPr>
        <p:spPr>
          <a:xfrm>
            <a:off x="9635563" y="54546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
        <p:nvSpPr>
          <p:cNvPr id="215" name="等腰三角形 214">
            <a:extLst>
              <a:ext uri="{FF2B5EF4-FFF2-40B4-BE49-F238E27FC236}">
                <a16:creationId xmlns:a16="http://schemas.microsoft.com/office/drawing/2014/main" id="{B2095892-539C-4630-AA41-086C8D73561E}"/>
              </a:ext>
            </a:extLst>
          </p:cNvPr>
          <p:cNvSpPr/>
          <p:nvPr/>
        </p:nvSpPr>
        <p:spPr>
          <a:xfrm>
            <a:off x="4821873" y="5103832"/>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16" name="直接连接符 215">
            <a:extLst>
              <a:ext uri="{FF2B5EF4-FFF2-40B4-BE49-F238E27FC236}">
                <a16:creationId xmlns:a16="http://schemas.microsoft.com/office/drawing/2014/main" id="{28416F72-B8E8-4565-A511-0EF9ECB39E1F}"/>
              </a:ext>
            </a:extLst>
          </p:cNvPr>
          <p:cNvCxnSpPr>
            <a:cxnSpLocks/>
          </p:cNvCxnSpPr>
          <p:nvPr/>
        </p:nvCxnSpPr>
        <p:spPr>
          <a:xfrm>
            <a:off x="4861714" y="5195070"/>
            <a:ext cx="0" cy="132031"/>
          </a:xfrm>
          <a:prstGeom prst="line">
            <a:avLst/>
          </a:prstGeom>
        </p:spPr>
        <p:style>
          <a:lnRef idx="3">
            <a:schemeClr val="dk1"/>
          </a:lnRef>
          <a:fillRef idx="0">
            <a:schemeClr val="dk1"/>
          </a:fillRef>
          <a:effectRef idx="2">
            <a:schemeClr val="dk1"/>
          </a:effectRef>
          <a:fontRef idx="minor">
            <a:schemeClr val="tx1"/>
          </a:fontRef>
        </p:style>
      </p:cxnSp>
      <p:sp>
        <p:nvSpPr>
          <p:cNvPr id="217" name="文本框 216">
            <a:extLst>
              <a:ext uri="{FF2B5EF4-FFF2-40B4-BE49-F238E27FC236}">
                <a16:creationId xmlns:a16="http://schemas.microsoft.com/office/drawing/2014/main" id="{82457499-3F57-483F-A32A-7F39D7044D6D}"/>
              </a:ext>
            </a:extLst>
          </p:cNvPr>
          <p:cNvSpPr txBox="1"/>
          <p:nvPr/>
        </p:nvSpPr>
        <p:spPr>
          <a:xfrm>
            <a:off x="4695963" y="5211042"/>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spTree>
    <p:extLst>
      <p:ext uri="{BB962C8B-B14F-4D97-AF65-F5344CB8AC3E}">
        <p14:creationId xmlns:p14="http://schemas.microsoft.com/office/powerpoint/2010/main" val="22940770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pPr lvl="1"/>
            <a:endParaRPr kumimoji="0" lang="en-US" altLang="zh-CN" b="0"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endParaRPr>
          </a:p>
          <a:p>
            <a:endParaRPr lang="zh-CN" altLang="en-US" dirty="0"/>
          </a:p>
        </p:txBody>
      </p:sp>
      <p:grpSp>
        <p:nvGrpSpPr>
          <p:cNvPr id="18" name="Instruction memory"/>
          <p:cNvGrpSpPr/>
          <p:nvPr/>
        </p:nvGrpSpPr>
        <p:grpSpPr>
          <a:xfrm>
            <a:off x="2142080" y="3563959"/>
            <a:ext cx="1142439" cy="1017764"/>
            <a:chOff x="2263385" y="3407372"/>
            <a:chExt cx="1470915" cy="1193839"/>
          </a:xfrm>
        </p:grpSpPr>
        <p:sp>
          <p:nvSpPr>
            <p:cNvPr id="8" name="矩形 7"/>
            <p:cNvSpPr/>
            <p:nvPr/>
          </p:nvSpPr>
          <p:spPr>
            <a:xfrm>
              <a:off x="2333823" y="3448051"/>
              <a:ext cx="1400477" cy="11531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 name="文本框 11"/>
            <p:cNvSpPr txBox="1"/>
            <p:nvPr/>
          </p:nvSpPr>
          <p:spPr>
            <a:xfrm>
              <a:off x="2263385" y="3407372"/>
              <a:ext cx="1319245"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15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0" name="PC"/>
          <p:cNvGrpSpPr/>
          <p:nvPr/>
        </p:nvGrpSpPr>
        <p:grpSpPr>
          <a:xfrm>
            <a:off x="1563914" y="3366245"/>
            <a:ext cx="508932" cy="707887"/>
            <a:chOff x="792726" y="4754327"/>
            <a:chExt cx="1018662" cy="607761"/>
          </a:xfrm>
        </p:grpSpPr>
        <p:sp>
          <p:nvSpPr>
            <p:cNvPr id="15" name="矩形 14"/>
            <p:cNvSpPr/>
            <p:nvPr/>
          </p:nvSpPr>
          <p:spPr>
            <a:xfrm>
              <a:off x="887030" y="4800600"/>
              <a:ext cx="639939" cy="50292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9" name="文本框 18"/>
            <p:cNvSpPr txBox="1"/>
            <p:nvPr/>
          </p:nvSpPr>
          <p:spPr>
            <a:xfrm>
              <a:off x="792726" y="4754327"/>
              <a:ext cx="1018662" cy="607761"/>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PC</a:t>
              </a:r>
              <a:endParaRPr kumimoji="0" lang="zh-CN" alt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4" name="Add"/>
          <p:cNvGrpSpPr/>
          <p:nvPr/>
        </p:nvGrpSpPr>
        <p:grpSpPr>
          <a:xfrm>
            <a:off x="2400658" y="2315417"/>
            <a:ext cx="655949" cy="822349"/>
            <a:chOff x="4656246" y="4140786"/>
            <a:chExt cx="743403" cy="964617"/>
          </a:xfrm>
        </p:grpSpPr>
        <p:sp>
          <p:nvSpPr>
            <p:cNvPr id="22" name="梯形 21"/>
            <p:cNvSpPr/>
            <p:nvPr/>
          </p:nvSpPr>
          <p:spPr>
            <a:xfrm rot="5400000">
              <a:off x="4538209" y="4329347"/>
              <a:ext cx="964617" cy="587495"/>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3" name="文本框 22"/>
            <p:cNvSpPr txBox="1"/>
            <p:nvPr/>
          </p:nvSpPr>
          <p:spPr>
            <a:xfrm>
              <a:off x="4656246" y="4371481"/>
              <a:ext cx="743403"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36" name="IF/ID"/>
          <p:cNvGrpSpPr/>
          <p:nvPr/>
        </p:nvGrpSpPr>
        <p:grpSpPr>
          <a:xfrm>
            <a:off x="3251261" y="1864848"/>
            <a:ext cx="797013" cy="4114272"/>
            <a:chOff x="116128" y="450828"/>
            <a:chExt cx="955165" cy="5944486"/>
          </a:xfrm>
        </p:grpSpPr>
        <p:sp>
          <p:nvSpPr>
            <p:cNvPr id="34" name="矩形 33"/>
            <p:cNvSpPr/>
            <p:nvPr/>
          </p:nvSpPr>
          <p:spPr>
            <a:xfrm>
              <a:off x="358141" y="937259"/>
              <a:ext cx="358140" cy="5458055"/>
            </a:xfrm>
            <a:prstGeom prst="rect">
              <a:avLst/>
            </a:prstGeom>
            <a:noFill/>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5" name="文本框 34"/>
            <p:cNvSpPr txBox="1"/>
            <p:nvPr/>
          </p:nvSpPr>
          <p:spPr>
            <a:xfrm>
              <a:off x="116128" y="450828"/>
              <a:ext cx="955165" cy="578097"/>
            </a:xfrm>
            <a:prstGeom prst="rect">
              <a:avLst/>
            </a:prstGeom>
            <a:ln w="25400">
              <a:noFill/>
            </a:ln>
          </p:spPr>
          <p:style>
            <a:lnRef idx="1">
              <a:schemeClr val="accent1"/>
            </a:lnRef>
            <a:fillRef idx="0">
              <a:schemeClr val="accent1"/>
            </a:fillRef>
            <a:effectRef idx="0">
              <a:schemeClr val="accent1"/>
            </a:effectRef>
            <a:fontRef idx="minor">
              <a:schemeClr val="tx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IF/ID</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45" name="Registers"/>
          <p:cNvGrpSpPr/>
          <p:nvPr/>
        </p:nvGrpSpPr>
        <p:grpSpPr>
          <a:xfrm>
            <a:off x="4381413" y="2625512"/>
            <a:ext cx="1726163" cy="2568442"/>
            <a:chOff x="1920262" y="241327"/>
            <a:chExt cx="3106114" cy="3344105"/>
          </a:xfrm>
        </p:grpSpPr>
        <p:sp>
          <p:nvSpPr>
            <p:cNvPr id="37" name="矩形 36"/>
            <p:cNvSpPr/>
            <p:nvPr/>
          </p:nvSpPr>
          <p:spPr>
            <a:xfrm>
              <a:off x="2026387" y="320244"/>
              <a:ext cx="2772304" cy="3265188"/>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 name="文本框 37"/>
            <p:cNvSpPr txBox="1"/>
            <p:nvPr/>
          </p:nvSpPr>
          <p:spPr>
            <a:xfrm>
              <a:off x="2121631" y="1515410"/>
              <a:ext cx="2149527" cy="52094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Registers</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 name="文本框 38"/>
            <p:cNvSpPr txBox="1"/>
            <p:nvPr/>
          </p:nvSpPr>
          <p:spPr>
            <a:xfrm>
              <a:off x="1920789" y="241327"/>
              <a:ext cx="2611979"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0" name="文本框 39"/>
            <p:cNvSpPr txBox="1"/>
            <p:nvPr/>
          </p:nvSpPr>
          <p:spPr>
            <a:xfrm>
              <a:off x="1920262" y="740405"/>
              <a:ext cx="2450645"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1" name="文本框 40"/>
            <p:cNvSpPr txBox="1"/>
            <p:nvPr/>
          </p:nvSpPr>
          <p:spPr>
            <a:xfrm>
              <a:off x="1925707" y="2479303"/>
              <a:ext cx="2199198"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reg</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2" name="文本框 41"/>
            <p:cNvSpPr txBox="1"/>
            <p:nvPr/>
          </p:nvSpPr>
          <p:spPr>
            <a:xfrm>
              <a:off x="1938951" y="2943791"/>
              <a:ext cx="2364242"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3" name="文本框 42"/>
            <p:cNvSpPr txBox="1"/>
            <p:nvPr/>
          </p:nvSpPr>
          <p:spPr>
            <a:xfrm>
              <a:off x="2467221" y="1159239"/>
              <a:ext cx="2524881"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4" name="文本框 43"/>
            <p:cNvSpPr txBox="1"/>
            <p:nvPr/>
          </p:nvSpPr>
          <p:spPr>
            <a:xfrm>
              <a:off x="2431051" y="1920895"/>
              <a:ext cx="2595325" cy="520942"/>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48" name="Imm Gen"/>
          <p:cNvGrpSpPr/>
          <p:nvPr/>
        </p:nvGrpSpPr>
        <p:grpSpPr>
          <a:xfrm>
            <a:off x="5179035" y="5361643"/>
            <a:ext cx="658095" cy="538474"/>
            <a:chOff x="4868693" y="6172575"/>
            <a:chExt cx="992993" cy="1215294"/>
          </a:xfrm>
        </p:grpSpPr>
        <p:sp>
          <p:nvSpPr>
            <p:cNvPr id="46" name="椭圆 45"/>
            <p:cNvSpPr/>
            <p:nvPr/>
          </p:nvSpPr>
          <p:spPr>
            <a:xfrm>
              <a:off x="4868693" y="6172575"/>
              <a:ext cx="984044" cy="1146747"/>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7" name="文本框 46"/>
            <p:cNvSpPr txBox="1"/>
            <p:nvPr/>
          </p:nvSpPr>
          <p:spPr>
            <a:xfrm>
              <a:off x="4895397" y="6339596"/>
              <a:ext cx="966289" cy="104827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Imm</a:t>
              </a: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Gen</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55" name="Add Sum"/>
          <p:cNvGrpSpPr/>
          <p:nvPr/>
        </p:nvGrpSpPr>
        <p:grpSpPr>
          <a:xfrm>
            <a:off x="7670828" y="2442887"/>
            <a:ext cx="655949" cy="768090"/>
            <a:chOff x="5634620" y="2480764"/>
            <a:chExt cx="1081993" cy="1475010"/>
          </a:xfrm>
        </p:grpSpPr>
        <p:sp>
          <p:nvSpPr>
            <p:cNvPr id="52" name="梯形 51"/>
            <p:cNvSpPr/>
            <p:nvPr/>
          </p:nvSpPr>
          <p:spPr>
            <a:xfrm rot="5400000">
              <a:off x="5424366" y="2770445"/>
              <a:ext cx="1475010" cy="895647"/>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4" name="文本框 53"/>
            <p:cNvSpPr txBox="1"/>
            <p:nvPr/>
          </p:nvSpPr>
          <p:spPr>
            <a:xfrm>
              <a:off x="5634620" y="2851177"/>
              <a:ext cx="1081993" cy="93914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Sum</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61" name="ALU"/>
          <p:cNvGrpSpPr/>
          <p:nvPr/>
        </p:nvGrpSpPr>
        <p:grpSpPr>
          <a:xfrm>
            <a:off x="7597752" y="3470140"/>
            <a:ext cx="880667" cy="1454509"/>
            <a:chOff x="6023805" y="3618922"/>
            <a:chExt cx="1295157" cy="1704463"/>
          </a:xfrm>
        </p:grpSpPr>
        <p:sp>
          <p:nvSpPr>
            <p:cNvPr id="57" name="梯形 56"/>
            <p:cNvSpPr/>
            <p:nvPr/>
          </p:nvSpPr>
          <p:spPr>
            <a:xfrm rot="5400000">
              <a:off x="5805450" y="3911167"/>
              <a:ext cx="1704463" cy="1119974"/>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8" name="文本框 57"/>
            <p:cNvSpPr txBox="1"/>
            <p:nvPr/>
          </p:nvSpPr>
          <p:spPr>
            <a:xfrm>
              <a:off x="6023805" y="3779478"/>
              <a:ext cx="1070760"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ALU</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59" name="文本框 58"/>
            <p:cNvSpPr txBox="1"/>
            <p:nvPr/>
          </p:nvSpPr>
          <p:spPr>
            <a:xfrm>
              <a:off x="6212840" y="4596488"/>
              <a:ext cx="1106122" cy="347668"/>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result</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60" name="文本框 59"/>
            <p:cNvSpPr txBox="1"/>
            <p:nvPr/>
          </p:nvSpPr>
          <p:spPr>
            <a:xfrm>
              <a:off x="6276821" y="4080452"/>
              <a:ext cx="983534"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Zero</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65" name="shift left 1"/>
          <p:cNvGrpSpPr/>
          <p:nvPr/>
        </p:nvGrpSpPr>
        <p:grpSpPr>
          <a:xfrm>
            <a:off x="6619049" y="2594855"/>
            <a:ext cx="774571" cy="682474"/>
            <a:chOff x="6107415" y="4133981"/>
            <a:chExt cx="1189523" cy="1146746"/>
          </a:xfrm>
        </p:grpSpPr>
        <p:sp>
          <p:nvSpPr>
            <p:cNvPr id="63" name="椭圆 62"/>
            <p:cNvSpPr/>
            <p:nvPr/>
          </p:nvSpPr>
          <p:spPr>
            <a:xfrm>
              <a:off x="6161866" y="4133981"/>
              <a:ext cx="984043" cy="1146746"/>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64" name="文本框 63"/>
            <p:cNvSpPr txBox="1"/>
            <p:nvPr/>
          </p:nvSpPr>
          <p:spPr>
            <a:xfrm>
              <a:off x="6107415" y="4371720"/>
              <a:ext cx="1189523" cy="821732"/>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Shift </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left 1</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72" name="Mux 3"/>
          <p:cNvGrpSpPr/>
          <p:nvPr/>
        </p:nvGrpSpPr>
        <p:grpSpPr>
          <a:xfrm>
            <a:off x="11164881" y="4531889"/>
            <a:ext cx="596486" cy="1168007"/>
            <a:chOff x="3628473" y="5448300"/>
            <a:chExt cx="839025" cy="1230515"/>
          </a:xfrm>
        </p:grpSpPr>
        <p:sp>
          <p:nvSpPr>
            <p:cNvPr id="73" name="mux"/>
            <p:cNvSpPr/>
            <p:nvPr/>
          </p:nvSpPr>
          <p:spPr>
            <a:xfrm rot="5400000">
              <a:off x="3386121" y="5744398"/>
              <a:ext cx="1230515" cy="638319"/>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4" name="文本框 73"/>
            <p:cNvSpPr txBox="1"/>
            <p:nvPr/>
          </p:nvSpPr>
          <p:spPr>
            <a:xfrm>
              <a:off x="3628473" y="5492154"/>
              <a:ext cx="260679"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5" name="文本框 74"/>
            <p:cNvSpPr txBox="1"/>
            <p:nvPr/>
          </p:nvSpPr>
          <p:spPr>
            <a:xfrm>
              <a:off x="3641695" y="6293721"/>
              <a:ext cx="404061" cy="35667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76" name="文本框 75"/>
            <p:cNvSpPr txBox="1"/>
            <p:nvPr/>
          </p:nvSpPr>
          <p:spPr>
            <a:xfrm>
              <a:off x="3867268" y="5599309"/>
              <a:ext cx="600230" cy="1070017"/>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90" name="Data memory"/>
          <p:cNvGrpSpPr/>
          <p:nvPr/>
        </p:nvGrpSpPr>
        <p:grpSpPr>
          <a:xfrm>
            <a:off x="9185175" y="3714624"/>
            <a:ext cx="1417516" cy="1635472"/>
            <a:chOff x="14770965" y="4726326"/>
            <a:chExt cx="3011394" cy="3362560"/>
          </a:xfrm>
        </p:grpSpPr>
        <p:sp>
          <p:nvSpPr>
            <p:cNvPr id="82" name="矩形 81"/>
            <p:cNvSpPr/>
            <p:nvPr/>
          </p:nvSpPr>
          <p:spPr>
            <a:xfrm>
              <a:off x="14919092" y="4726326"/>
              <a:ext cx="2551866" cy="33625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3" name="文本框 82"/>
            <p:cNvSpPr txBox="1"/>
            <p:nvPr/>
          </p:nvSpPr>
          <p:spPr>
            <a:xfrm>
              <a:off x="14893548" y="4778415"/>
              <a:ext cx="2622003" cy="100548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Data </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memory</a:t>
              </a:r>
            </a:p>
          </p:txBody>
        </p:sp>
        <p:sp>
          <p:nvSpPr>
            <p:cNvPr id="84" name="文本框 83"/>
            <p:cNvSpPr txBox="1"/>
            <p:nvPr/>
          </p:nvSpPr>
          <p:spPr>
            <a:xfrm>
              <a:off x="14776597" y="5875439"/>
              <a:ext cx="2291814"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7" name="文本框 86"/>
            <p:cNvSpPr txBox="1"/>
            <p:nvPr/>
          </p:nvSpPr>
          <p:spPr>
            <a:xfrm>
              <a:off x="14770965" y="7263927"/>
              <a:ext cx="2654424"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88" name="文本框 87"/>
            <p:cNvSpPr txBox="1"/>
            <p:nvPr/>
          </p:nvSpPr>
          <p:spPr>
            <a:xfrm>
              <a:off x="15110098" y="6521639"/>
              <a:ext cx="2672261"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101" name="矩形 100"/>
          <p:cNvSpPr/>
          <p:nvPr/>
        </p:nvSpPr>
        <p:spPr>
          <a:xfrm>
            <a:off x="6286465" y="2209163"/>
            <a:ext cx="316009" cy="3769417"/>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11" name="矩形 110"/>
          <p:cNvSpPr/>
          <p:nvPr/>
        </p:nvSpPr>
        <p:spPr>
          <a:xfrm>
            <a:off x="8664210" y="2213913"/>
            <a:ext cx="291194" cy="3754340"/>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1" name="矩形 120"/>
          <p:cNvSpPr/>
          <p:nvPr/>
        </p:nvSpPr>
        <p:spPr>
          <a:xfrm>
            <a:off x="10666041" y="2200478"/>
            <a:ext cx="300877" cy="3767775"/>
          </a:xfrm>
          <a:prstGeom prst="rect">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160" name="直接连接符 159"/>
          <p:cNvCxnSpPr/>
          <p:nvPr/>
        </p:nvCxnSpPr>
        <p:spPr>
          <a:xfrm flipV="1">
            <a:off x="3752043" y="2524691"/>
            <a:ext cx="2534421" cy="109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直接连接符 160"/>
          <p:cNvCxnSpPr/>
          <p:nvPr/>
        </p:nvCxnSpPr>
        <p:spPr>
          <a:xfrm>
            <a:off x="1930748" y="3726715"/>
            <a:ext cx="25830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直接连接符 161"/>
          <p:cNvCxnSpPr>
            <a:stCxn id="8" idx="3"/>
            <a:endCxn id="34" idx="1"/>
          </p:cNvCxnSpPr>
          <p:nvPr/>
        </p:nvCxnSpPr>
        <p:spPr>
          <a:xfrm>
            <a:off x="3284519" y="4090181"/>
            <a:ext cx="168684" cy="1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直接连接符 162"/>
          <p:cNvCxnSpPr>
            <a:stCxn id="22" idx="0"/>
          </p:cNvCxnSpPr>
          <p:nvPr/>
        </p:nvCxnSpPr>
        <p:spPr>
          <a:xfrm flipV="1">
            <a:off x="2981270" y="2724704"/>
            <a:ext cx="82559" cy="18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a:off x="2019352" y="2451599"/>
            <a:ext cx="43729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flipH="1">
            <a:off x="2019352" y="2442887"/>
            <a:ext cx="3782" cy="1271738"/>
          </a:xfrm>
          <a:prstGeom prst="line">
            <a:avLst/>
          </a:prstGeom>
          <a:ln w="25400">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3054951" y="2034785"/>
            <a:ext cx="0" cy="6899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a:stCxn id="52" idx="0"/>
          </p:cNvCxnSpPr>
          <p:nvPr/>
        </p:nvCxnSpPr>
        <p:spPr>
          <a:xfrm flipV="1">
            <a:off x="8261966" y="2826932"/>
            <a:ext cx="404306"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直接连接符 187"/>
          <p:cNvCxnSpPr/>
          <p:nvPr/>
        </p:nvCxnSpPr>
        <p:spPr>
          <a:xfrm>
            <a:off x="765827" y="2034785"/>
            <a:ext cx="22980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a:off x="765827" y="2034785"/>
            <a:ext cx="0" cy="13869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a:off x="4060285" y="2856655"/>
            <a:ext cx="409392"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4047028" y="3209506"/>
            <a:ext cx="395373"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a:off x="5985636" y="3665026"/>
            <a:ext cx="30542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a:xfrm>
            <a:off x="5985637" y="4106408"/>
            <a:ext cx="29581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8" name="直接连接符 217"/>
          <p:cNvCxnSpPr/>
          <p:nvPr/>
        </p:nvCxnSpPr>
        <p:spPr>
          <a:xfrm flipV="1">
            <a:off x="5833594" y="5599427"/>
            <a:ext cx="457463" cy="719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1" name="直接连接符 260"/>
          <p:cNvCxnSpPr/>
          <p:nvPr/>
        </p:nvCxnSpPr>
        <p:spPr>
          <a:xfrm>
            <a:off x="7324738" y="2949425"/>
            <a:ext cx="36100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3" name="直接连接符 262"/>
          <p:cNvCxnSpPr/>
          <p:nvPr/>
        </p:nvCxnSpPr>
        <p:spPr>
          <a:xfrm>
            <a:off x="6610981" y="3690557"/>
            <a:ext cx="103718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2" name="Mux 3"/>
          <p:cNvGrpSpPr/>
          <p:nvPr/>
        </p:nvGrpSpPr>
        <p:grpSpPr>
          <a:xfrm>
            <a:off x="896003" y="3210287"/>
            <a:ext cx="615567" cy="1168007"/>
            <a:chOff x="3339670" y="5460516"/>
            <a:chExt cx="901073" cy="1230515"/>
          </a:xfrm>
        </p:grpSpPr>
        <p:sp>
          <p:nvSpPr>
            <p:cNvPr id="133" name="mux"/>
            <p:cNvSpPr/>
            <p:nvPr/>
          </p:nvSpPr>
          <p:spPr>
            <a:xfrm rot="5400000">
              <a:off x="3140776" y="5731027"/>
              <a:ext cx="1230515" cy="689494"/>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4" name="文本框 133"/>
            <p:cNvSpPr txBox="1"/>
            <p:nvPr/>
          </p:nvSpPr>
          <p:spPr>
            <a:xfrm>
              <a:off x="3365437" y="5514581"/>
              <a:ext cx="260684"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5" name="文本框 134"/>
            <p:cNvSpPr txBox="1"/>
            <p:nvPr/>
          </p:nvSpPr>
          <p:spPr>
            <a:xfrm>
              <a:off x="3339670" y="6240974"/>
              <a:ext cx="324022"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6" name="文本框 135"/>
            <p:cNvSpPr txBox="1"/>
            <p:nvPr/>
          </p:nvSpPr>
          <p:spPr>
            <a:xfrm>
              <a:off x="3616106" y="5588478"/>
              <a:ext cx="624637" cy="107001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52" name="直接连接符 151"/>
          <p:cNvCxnSpPr/>
          <p:nvPr/>
        </p:nvCxnSpPr>
        <p:spPr>
          <a:xfrm>
            <a:off x="8416581" y="4428928"/>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a:off x="8967267" y="4438893"/>
            <a:ext cx="28232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a:off x="8947096" y="5053950"/>
            <a:ext cx="3068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10465322" y="4733734"/>
            <a:ext cx="20911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56" name="Mux 3"/>
          <p:cNvGrpSpPr/>
          <p:nvPr/>
        </p:nvGrpSpPr>
        <p:grpSpPr>
          <a:xfrm>
            <a:off x="6962277" y="3807761"/>
            <a:ext cx="482064" cy="1168006"/>
            <a:chOff x="3558568" y="5448300"/>
            <a:chExt cx="706348" cy="1230515"/>
          </a:xfrm>
        </p:grpSpPr>
        <p:sp>
          <p:nvSpPr>
            <p:cNvPr id="157" name="mux"/>
            <p:cNvSpPr/>
            <p:nvPr/>
          </p:nvSpPr>
          <p:spPr>
            <a:xfrm rot="5400000">
              <a:off x="3332723" y="5746622"/>
              <a:ext cx="1230515" cy="633871"/>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8" name="文本框 157"/>
            <p:cNvSpPr txBox="1"/>
            <p:nvPr/>
          </p:nvSpPr>
          <p:spPr>
            <a:xfrm>
              <a:off x="3571052" y="5580627"/>
              <a:ext cx="260683"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9" name="文本框 158"/>
            <p:cNvSpPr txBox="1"/>
            <p:nvPr/>
          </p:nvSpPr>
          <p:spPr>
            <a:xfrm>
              <a:off x="3558568" y="6264229"/>
              <a:ext cx="408929" cy="34293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6" name="文本框 165"/>
            <p:cNvSpPr txBox="1"/>
            <p:nvPr/>
          </p:nvSpPr>
          <p:spPr>
            <a:xfrm>
              <a:off x="3747999" y="5579240"/>
              <a:ext cx="462611" cy="1070019"/>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168" name="直接连接符 167"/>
          <p:cNvCxnSpPr/>
          <p:nvPr/>
        </p:nvCxnSpPr>
        <p:spPr>
          <a:xfrm flipV="1">
            <a:off x="1424102" y="3720322"/>
            <a:ext cx="178001" cy="5"/>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a:xfrm>
            <a:off x="2262116" y="2913805"/>
            <a:ext cx="18646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a:off x="6610981" y="2519419"/>
            <a:ext cx="1083649" cy="7422"/>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flipH="1">
            <a:off x="6833659" y="3261606"/>
            <a:ext cx="22498" cy="19552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a:off x="6610981" y="5216856"/>
            <a:ext cx="24517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a:off x="6610981" y="4106408"/>
            <a:ext cx="40077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a:off x="6845522" y="4762087"/>
            <a:ext cx="182537" cy="853"/>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a:off x="6732685" y="5053948"/>
            <a:ext cx="1931532"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a:off x="6732685" y="4106408"/>
            <a:ext cx="1766" cy="947540"/>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a:off x="9067618" y="4435331"/>
            <a:ext cx="0" cy="1068388"/>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flipV="1">
            <a:off x="9067618" y="5497920"/>
            <a:ext cx="1599091" cy="572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1" name="直接连接符 270"/>
          <p:cNvCxnSpPr/>
          <p:nvPr/>
        </p:nvCxnSpPr>
        <p:spPr>
          <a:xfrm>
            <a:off x="10957584" y="5487455"/>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3" name="直接连接符 272"/>
          <p:cNvCxnSpPr/>
          <p:nvPr/>
        </p:nvCxnSpPr>
        <p:spPr>
          <a:xfrm>
            <a:off x="7444342" y="4572160"/>
            <a:ext cx="21340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5" name="文本框 284"/>
          <p:cNvSpPr txBox="1"/>
          <p:nvPr/>
        </p:nvSpPr>
        <p:spPr>
          <a:xfrm>
            <a:off x="1999259" y="4115138"/>
            <a:ext cx="1500650" cy="48904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 memory</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361" name="直接连接符 360"/>
          <p:cNvCxnSpPr>
            <a:endCxn id="76" idx="3"/>
          </p:cNvCxnSpPr>
          <p:nvPr/>
        </p:nvCxnSpPr>
        <p:spPr>
          <a:xfrm>
            <a:off x="11628679" y="5155284"/>
            <a:ext cx="132688" cy="27775"/>
          </a:xfrm>
          <a:prstGeom prst="line">
            <a:avLst/>
          </a:prstGeom>
          <a:ln w="25400">
            <a:noFill/>
          </a:ln>
        </p:spPr>
        <p:style>
          <a:lnRef idx="1">
            <a:schemeClr val="accent1"/>
          </a:lnRef>
          <a:fillRef idx="0">
            <a:schemeClr val="accent1"/>
          </a:fillRef>
          <a:effectRef idx="0">
            <a:schemeClr val="accent1"/>
          </a:effectRef>
          <a:fontRef idx="minor">
            <a:schemeClr val="tx1"/>
          </a:fontRef>
        </p:style>
      </p:cxnSp>
      <p:cxnSp>
        <p:nvCxnSpPr>
          <p:cNvPr id="362" name="直接连接符 361"/>
          <p:cNvCxnSpPr/>
          <p:nvPr/>
        </p:nvCxnSpPr>
        <p:spPr>
          <a:xfrm flipH="1">
            <a:off x="11824946" y="5137194"/>
            <a:ext cx="14406" cy="9965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8" name="直接连接符 367"/>
          <p:cNvCxnSpPr/>
          <p:nvPr/>
        </p:nvCxnSpPr>
        <p:spPr>
          <a:xfrm>
            <a:off x="4192985" y="4838859"/>
            <a:ext cx="0" cy="13086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2" name="直接连接符 371"/>
          <p:cNvCxnSpPr/>
          <p:nvPr/>
        </p:nvCxnSpPr>
        <p:spPr>
          <a:xfrm>
            <a:off x="4189626" y="4838859"/>
            <a:ext cx="247455" cy="48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7" name="直接连接符 376"/>
          <p:cNvCxnSpPr/>
          <p:nvPr/>
        </p:nvCxnSpPr>
        <p:spPr>
          <a:xfrm>
            <a:off x="595160" y="1789030"/>
            <a:ext cx="89899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8" name="直接连接符 387"/>
          <p:cNvCxnSpPr/>
          <p:nvPr/>
        </p:nvCxnSpPr>
        <p:spPr>
          <a:xfrm>
            <a:off x="595160" y="1798073"/>
            <a:ext cx="0" cy="23336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5" name="直接连接符 394"/>
          <p:cNvCxnSpPr/>
          <p:nvPr/>
        </p:nvCxnSpPr>
        <p:spPr>
          <a:xfrm>
            <a:off x="753409" y="3420134"/>
            <a:ext cx="165348" cy="65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7" name="直接连接符 396"/>
          <p:cNvCxnSpPr/>
          <p:nvPr/>
        </p:nvCxnSpPr>
        <p:spPr>
          <a:xfrm>
            <a:off x="585829" y="4127359"/>
            <a:ext cx="332520"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4" name="直接连接符 403"/>
          <p:cNvCxnSpPr/>
          <p:nvPr/>
        </p:nvCxnSpPr>
        <p:spPr>
          <a:xfrm>
            <a:off x="9585131" y="1789030"/>
            <a:ext cx="0" cy="10197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7" name="直接连接符 406"/>
          <p:cNvCxnSpPr/>
          <p:nvPr/>
        </p:nvCxnSpPr>
        <p:spPr>
          <a:xfrm flipV="1">
            <a:off x="8958687" y="2816773"/>
            <a:ext cx="641869" cy="51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981492" y="2723359"/>
            <a:ext cx="20135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4</a:t>
            </a:r>
            <a:endParaRPr kumimoji="0" lang="zh-CN" altLang="en-US"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cxnSp>
        <p:nvCxnSpPr>
          <p:cNvPr id="247" name="直接连接符 246"/>
          <p:cNvCxnSpPr/>
          <p:nvPr/>
        </p:nvCxnSpPr>
        <p:spPr>
          <a:xfrm>
            <a:off x="11677271" y="5137194"/>
            <a:ext cx="16208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a:xfrm>
            <a:off x="4038290" y="2854594"/>
            <a:ext cx="0" cy="27611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a:off x="8416581" y="4028332"/>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a:off x="8957758" y="4028375"/>
            <a:ext cx="18594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连接符: 肘形 98"/>
          <p:cNvCxnSpPr/>
          <p:nvPr/>
        </p:nvCxnSpPr>
        <p:spPr>
          <a:xfrm flipV="1">
            <a:off x="2033318" y="2535605"/>
            <a:ext cx="1431289" cy="730238"/>
          </a:xfrm>
          <a:prstGeom prst="bentConnector3">
            <a:avLst>
              <a:gd name="adj1" fmla="val 82595"/>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238" name="文本框 237"/>
          <p:cNvSpPr txBox="1"/>
          <p:nvPr/>
        </p:nvSpPr>
        <p:spPr>
          <a:xfrm rot="10800000">
            <a:off x="3679920" y="2316804"/>
            <a:ext cx="430887" cy="1436503"/>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40" name="文本框 239"/>
          <p:cNvSpPr txBox="1"/>
          <p:nvPr/>
        </p:nvSpPr>
        <p:spPr>
          <a:xfrm>
            <a:off x="4608777" y="5629699"/>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32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264" name="文本框 263"/>
          <p:cNvSpPr txBox="1"/>
          <p:nvPr/>
        </p:nvSpPr>
        <p:spPr>
          <a:xfrm>
            <a:off x="5834662" y="5601422"/>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64</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245" name="直接连接符 244"/>
          <p:cNvCxnSpPr/>
          <p:nvPr/>
        </p:nvCxnSpPr>
        <p:spPr>
          <a:xfrm>
            <a:off x="4735535" y="5543300"/>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7" name="直接连接符 266"/>
          <p:cNvCxnSpPr/>
          <p:nvPr/>
        </p:nvCxnSpPr>
        <p:spPr>
          <a:xfrm>
            <a:off x="5964117" y="5537823"/>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V="1">
            <a:off x="4179531" y="6133716"/>
            <a:ext cx="7659820" cy="137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a:off x="10966915" y="4739799"/>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a:off x="3752043" y="4098307"/>
            <a:ext cx="286247" cy="8101"/>
          </a:xfrm>
          <a:prstGeom prst="line">
            <a:avLst/>
          </a:prstGeom>
          <a:ln w="2540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WB for Store</a:t>
            </a:r>
            <a:endParaRPr lang="zh-CN" altLang="en-US" dirty="0"/>
          </a:p>
        </p:txBody>
      </p:sp>
      <p:cxnSp>
        <p:nvCxnSpPr>
          <p:cNvPr id="130" name="直接连接符 129"/>
          <p:cNvCxnSpPr/>
          <p:nvPr/>
        </p:nvCxnSpPr>
        <p:spPr>
          <a:xfrm>
            <a:off x="4038290" y="5615943"/>
            <a:ext cx="1143140"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3893046" y="4498113"/>
            <a:ext cx="544035"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a:off x="4037293" y="5615694"/>
            <a:ext cx="0" cy="25778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直接箭头连接符 140"/>
          <p:cNvCxnSpPr/>
          <p:nvPr/>
        </p:nvCxnSpPr>
        <p:spPr>
          <a:xfrm>
            <a:off x="4037293" y="5873483"/>
            <a:ext cx="22402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直接箭头连接符 141"/>
          <p:cNvCxnSpPr/>
          <p:nvPr/>
        </p:nvCxnSpPr>
        <p:spPr>
          <a:xfrm>
            <a:off x="6610175" y="5866623"/>
            <a:ext cx="203950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直接箭头连接符 142"/>
          <p:cNvCxnSpPr/>
          <p:nvPr/>
        </p:nvCxnSpPr>
        <p:spPr>
          <a:xfrm>
            <a:off x="8967267" y="5861926"/>
            <a:ext cx="168174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a:xfrm flipV="1">
            <a:off x="10975793" y="5873483"/>
            <a:ext cx="236174"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nvCxnSpPr>
        <p:spPr>
          <a:xfrm>
            <a:off x="11201584" y="5866124"/>
            <a:ext cx="0" cy="20123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接箭头连接符 145"/>
          <p:cNvCxnSpPr/>
          <p:nvPr/>
        </p:nvCxnSpPr>
        <p:spPr>
          <a:xfrm flipH="1">
            <a:off x="3893046" y="6067363"/>
            <a:ext cx="7318921"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7" name="直接连接符 146"/>
          <p:cNvCxnSpPr/>
          <p:nvPr/>
        </p:nvCxnSpPr>
        <p:spPr>
          <a:xfrm>
            <a:off x="3905607" y="4498113"/>
            <a:ext cx="0" cy="15808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8" name="组合 147"/>
          <p:cNvGrpSpPr/>
          <p:nvPr/>
        </p:nvGrpSpPr>
        <p:grpSpPr>
          <a:xfrm>
            <a:off x="10646429" y="1009015"/>
            <a:ext cx="1205529" cy="665157"/>
            <a:chOff x="1613177" y="1509972"/>
            <a:chExt cx="2034915" cy="665157"/>
          </a:xfrm>
        </p:grpSpPr>
        <p:cxnSp>
          <p:nvCxnSpPr>
            <p:cNvPr id="149" name="直接连接符 148"/>
            <p:cNvCxnSpPr/>
            <p:nvPr/>
          </p:nvCxnSpPr>
          <p:spPr>
            <a:xfrm>
              <a:off x="1659668"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p:nvCxnSpPr>
          <p:spPr>
            <a:xfrm>
              <a:off x="3648092"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a:off x="1659668" y="1838984"/>
              <a:ext cx="19856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5" name="文本框 164"/>
            <p:cNvSpPr txBox="1"/>
            <p:nvPr/>
          </p:nvSpPr>
          <p:spPr>
            <a:xfrm>
              <a:off x="2127256" y="1509972"/>
              <a:ext cx="105052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sd</a:t>
              </a:r>
              <a:endParaRPr kumimoji="0" lang="zh-CN" altLang="en-US" sz="18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9" name="文本框 168"/>
            <p:cNvSpPr txBox="1"/>
            <p:nvPr/>
          </p:nvSpPr>
          <p:spPr>
            <a:xfrm>
              <a:off x="1613177" y="1805797"/>
              <a:ext cx="20321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rPr>
                <a:t>Write-back</a:t>
              </a:r>
              <a:endParaRPr kumimoji="0" lang="zh-CN" altLang="en-US" sz="18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170" name="文本框 169"/>
          <p:cNvSpPr txBox="1"/>
          <p:nvPr/>
        </p:nvSpPr>
        <p:spPr>
          <a:xfrm>
            <a:off x="5995765" y="1869849"/>
            <a:ext cx="898003"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ID/EX</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71" name="文本框 170"/>
          <p:cNvSpPr txBox="1"/>
          <p:nvPr/>
        </p:nvSpPr>
        <p:spPr>
          <a:xfrm>
            <a:off x="8181378" y="1817223"/>
            <a:ext cx="1268296"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EX/MEM</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72" name="文本框 171"/>
          <p:cNvSpPr txBox="1"/>
          <p:nvPr/>
        </p:nvSpPr>
        <p:spPr>
          <a:xfrm>
            <a:off x="10159418" y="1831169"/>
            <a:ext cx="1338828" cy="40011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MEM/WB</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73" name="灯片编号占位符 1"/>
          <p:cNvSpPr>
            <a:spLocks noGrp="1"/>
          </p:cNvSpPr>
          <p:nvPr>
            <p:ph type="sldNum" sz="quarter" idx="12"/>
          </p:nvPr>
        </p:nvSpPr>
        <p:spPr>
          <a:xfrm>
            <a:off x="8940542" y="6482791"/>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2" name="文本框 1"/>
          <p:cNvSpPr txBox="1"/>
          <p:nvPr/>
        </p:nvSpPr>
        <p:spPr>
          <a:xfrm>
            <a:off x="554919" y="1046637"/>
            <a:ext cx="6289989" cy="4770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500" b="1" i="0" u="none" strike="noStrike" kern="12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存储指令在“写回阶段”不执行任何操作。</a:t>
            </a:r>
          </a:p>
        </p:txBody>
      </p:sp>
      <p:grpSp>
        <p:nvGrpSpPr>
          <p:cNvPr id="175" name="组合 174">
            <a:extLst>
              <a:ext uri="{FF2B5EF4-FFF2-40B4-BE49-F238E27FC236}">
                <a16:creationId xmlns:a16="http://schemas.microsoft.com/office/drawing/2014/main" id="{FAA562C7-B482-4AA9-A5CA-A688A301D1DF}"/>
              </a:ext>
            </a:extLst>
          </p:cNvPr>
          <p:cNvGrpSpPr/>
          <p:nvPr/>
        </p:nvGrpSpPr>
        <p:grpSpPr>
          <a:xfrm>
            <a:off x="3403103" y="5872638"/>
            <a:ext cx="7843269" cy="634462"/>
            <a:chOff x="3400702" y="5690626"/>
            <a:chExt cx="7843269" cy="634462"/>
          </a:xfrm>
        </p:grpSpPr>
        <p:grpSp>
          <p:nvGrpSpPr>
            <p:cNvPr id="176" name="组合 175">
              <a:extLst>
                <a:ext uri="{FF2B5EF4-FFF2-40B4-BE49-F238E27FC236}">
                  <a16:creationId xmlns:a16="http://schemas.microsoft.com/office/drawing/2014/main" id="{B08DF1FC-014E-4CB5-AF14-781C03DB5D57}"/>
                </a:ext>
              </a:extLst>
            </p:cNvPr>
            <p:cNvGrpSpPr/>
            <p:nvPr/>
          </p:nvGrpSpPr>
          <p:grpSpPr>
            <a:xfrm>
              <a:off x="3400702" y="5704698"/>
              <a:ext cx="635647" cy="606462"/>
              <a:chOff x="7319483" y="6149946"/>
              <a:chExt cx="635647" cy="606462"/>
            </a:xfrm>
          </p:grpSpPr>
          <p:sp>
            <p:nvSpPr>
              <p:cNvPr id="193" name="等腰三角形 192">
                <a:extLst>
                  <a:ext uri="{FF2B5EF4-FFF2-40B4-BE49-F238E27FC236}">
                    <a16:creationId xmlns:a16="http://schemas.microsoft.com/office/drawing/2014/main" id="{70421648-AA86-47E7-9ABD-36A842D09F00}"/>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94" name="直接连接符 193">
                <a:extLst>
                  <a:ext uri="{FF2B5EF4-FFF2-40B4-BE49-F238E27FC236}">
                    <a16:creationId xmlns:a16="http://schemas.microsoft.com/office/drawing/2014/main" id="{446EE77E-C3E9-4D61-91EC-D616DD793F0F}"/>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95" name="文本框 194">
                <a:extLst>
                  <a:ext uri="{FF2B5EF4-FFF2-40B4-BE49-F238E27FC236}">
                    <a16:creationId xmlns:a16="http://schemas.microsoft.com/office/drawing/2014/main" id="{1246C4A6-5238-45D9-85FB-F5F53327F17E}"/>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8" name="组合 177">
              <a:extLst>
                <a:ext uri="{FF2B5EF4-FFF2-40B4-BE49-F238E27FC236}">
                  <a16:creationId xmlns:a16="http://schemas.microsoft.com/office/drawing/2014/main" id="{8A5A8F1E-1BC9-4A68-8CEF-B64EA5841E60}"/>
                </a:ext>
              </a:extLst>
            </p:cNvPr>
            <p:cNvGrpSpPr/>
            <p:nvPr/>
          </p:nvGrpSpPr>
          <p:grpSpPr>
            <a:xfrm>
              <a:off x="6275185" y="5698367"/>
              <a:ext cx="635647" cy="626721"/>
              <a:chOff x="7355655" y="6149946"/>
              <a:chExt cx="635647" cy="626721"/>
            </a:xfrm>
          </p:grpSpPr>
          <p:sp>
            <p:nvSpPr>
              <p:cNvPr id="189" name="等腰三角形 188">
                <a:extLst>
                  <a:ext uri="{FF2B5EF4-FFF2-40B4-BE49-F238E27FC236}">
                    <a16:creationId xmlns:a16="http://schemas.microsoft.com/office/drawing/2014/main" id="{8551ABFA-64D1-4024-B816-6A79A2BD0226}"/>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91" name="直接连接符 190">
                <a:extLst>
                  <a:ext uri="{FF2B5EF4-FFF2-40B4-BE49-F238E27FC236}">
                    <a16:creationId xmlns:a16="http://schemas.microsoft.com/office/drawing/2014/main" id="{062EC92B-E66F-430A-A738-5B544E4A2510}"/>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92" name="文本框 191">
                <a:extLst>
                  <a:ext uri="{FF2B5EF4-FFF2-40B4-BE49-F238E27FC236}">
                    <a16:creationId xmlns:a16="http://schemas.microsoft.com/office/drawing/2014/main" id="{9FA039FD-ED3E-4E45-B847-CB262B06EA27}"/>
                  </a:ext>
                </a:extLst>
              </p:cNvPr>
              <p:cNvSpPr txBox="1"/>
              <p:nvPr/>
            </p:nvSpPr>
            <p:spPr>
              <a:xfrm>
                <a:off x="7355655" y="6315002"/>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9" name="组合 178">
              <a:extLst>
                <a:ext uri="{FF2B5EF4-FFF2-40B4-BE49-F238E27FC236}">
                  <a16:creationId xmlns:a16="http://schemas.microsoft.com/office/drawing/2014/main" id="{D8CEE440-6CBB-4174-890C-3F35DB145A1F}"/>
                </a:ext>
              </a:extLst>
            </p:cNvPr>
            <p:cNvGrpSpPr/>
            <p:nvPr/>
          </p:nvGrpSpPr>
          <p:grpSpPr>
            <a:xfrm>
              <a:off x="8604217" y="5690626"/>
              <a:ext cx="635647" cy="606462"/>
              <a:chOff x="7319483" y="6149946"/>
              <a:chExt cx="635647" cy="606462"/>
            </a:xfrm>
          </p:grpSpPr>
          <p:sp>
            <p:nvSpPr>
              <p:cNvPr id="184" name="等腰三角形 183">
                <a:extLst>
                  <a:ext uri="{FF2B5EF4-FFF2-40B4-BE49-F238E27FC236}">
                    <a16:creationId xmlns:a16="http://schemas.microsoft.com/office/drawing/2014/main" id="{5BF160CF-7118-4FD8-94FE-0883D1A551F6}"/>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5" name="直接连接符 184">
                <a:extLst>
                  <a:ext uri="{FF2B5EF4-FFF2-40B4-BE49-F238E27FC236}">
                    <a16:creationId xmlns:a16="http://schemas.microsoft.com/office/drawing/2014/main" id="{096F9A54-7B79-4479-8E17-7CC7CE171C25}"/>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87" name="文本框 186">
                <a:extLst>
                  <a:ext uri="{FF2B5EF4-FFF2-40B4-BE49-F238E27FC236}">
                    <a16:creationId xmlns:a16="http://schemas.microsoft.com/office/drawing/2014/main" id="{D6DE19D5-ECCD-46A6-A816-EA1E1E0E858E}"/>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80" name="组合 179">
              <a:extLst>
                <a:ext uri="{FF2B5EF4-FFF2-40B4-BE49-F238E27FC236}">
                  <a16:creationId xmlns:a16="http://schemas.microsoft.com/office/drawing/2014/main" id="{1389C52B-ACCD-4B33-B703-86E989CCA844}"/>
                </a:ext>
              </a:extLst>
            </p:cNvPr>
            <p:cNvGrpSpPr/>
            <p:nvPr/>
          </p:nvGrpSpPr>
          <p:grpSpPr>
            <a:xfrm>
              <a:off x="10608324" y="5695692"/>
              <a:ext cx="635647" cy="606462"/>
              <a:chOff x="7319483" y="6149946"/>
              <a:chExt cx="635647" cy="606462"/>
            </a:xfrm>
          </p:grpSpPr>
          <p:sp>
            <p:nvSpPr>
              <p:cNvPr id="181" name="等腰三角形 180">
                <a:extLst>
                  <a:ext uri="{FF2B5EF4-FFF2-40B4-BE49-F238E27FC236}">
                    <a16:creationId xmlns:a16="http://schemas.microsoft.com/office/drawing/2014/main" id="{9541BDD3-8059-400B-9053-CB5ABF0A51A6}"/>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2" name="直接连接符 181">
                <a:extLst>
                  <a:ext uri="{FF2B5EF4-FFF2-40B4-BE49-F238E27FC236}">
                    <a16:creationId xmlns:a16="http://schemas.microsoft.com/office/drawing/2014/main" id="{1E4EE1CE-0FF9-4611-9DC8-91512B88AC24}"/>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83" name="文本框 182">
                <a:extLst>
                  <a:ext uri="{FF2B5EF4-FFF2-40B4-BE49-F238E27FC236}">
                    <a16:creationId xmlns:a16="http://schemas.microsoft.com/office/drawing/2014/main" id="{A70E65B4-1DB7-4C27-8840-C7AA42BC0690}"/>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spTree>
    <p:extLst>
      <p:ext uri="{BB962C8B-B14F-4D97-AF65-F5344CB8AC3E}">
        <p14:creationId xmlns:p14="http://schemas.microsoft.com/office/powerpoint/2010/main" val="16647359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3"/>
          <p:cNvSpPr>
            <a:spLocks noGrp="1" noChangeArrowheads="1"/>
          </p:cNvSpPr>
          <p:nvPr>
            <p:ph idx="1"/>
          </p:nvPr>
        </p:nvSpPr>
        <p:spPr/>
        <p:txBody>
          <a:bodyPr>
            <a:normAutofit/>
          </a:bodyPr>
          <a:lstStyle/>
          <a:p>
            <a:pPr eaLnBrk="1" hangingPunct="1"/>
            <a:r>
              <a:rPr lang="zh-CN" altLang="en-US" sz="2800" dirty="0"/>
              <a:t>显示了每个流水线阶段中使用的</a:t>
            </a:r>
            <a:r>
              <a:rPr lang="zh-CN" altLang="en-US" sz="2800" dirty="0">
                <a:solidFill>
                  <a:srgbClr val="0000FF"/>
                </a:solidFill>
              </a:rPr>
              <a:t>物理资源</a:t>
            </a:r>
            <a:endParaRPr lang="en-AU" altLang="en-US" sz="2800" dirty="0">
              <a:solidFill>
                <a:srgbClr val="0000FF"/>
              </a:solidFill>
            </a:endParaRPr>
          </a:p>
        </p:txBody>
      </p:sp>
      <p:sp>
        <p:nvSpPr>
          <p:cNvPr id="3" name="标题 2"/>
          <p:cNvSpPr>
            <a:spLocks noGrp="1"/>
          </p:cNvSpPr>
          <p:nvPr>
            <p:ph type="title"/>
          </p:nvPr>
        </p:nvSpPr>
        <p:spPr/>
        <p:txBody>
          <a:bodyPr/>
          <a:lstStyle/>
          <a:p>
            <a:r>
              <a:rPr lang="zh-CN" altLang="en-US" dirty="0">
                <a:latin typeface="Times New Roman" panose="02020603050405020304" pitchFamily="18" charset="0"/>
                <a:ea typeface="+mn-ea"/>
                <a:cs typeface="Times New Roman" panose="02020603050405020304" pitchFamily="18" charset="0"/>
                <a:sym typeface="+mn-ea"/>
              </a:rPr>
              <a:t>多时钟周期流水线图</a:t>
            </a:r>
            <a:endParaRPr lang="zh-CN" altLang="en-US"/>
          </a:p>
        </p:txBody>
      </p:sp>
      <p:sp>
        <p:nvSpPr>
          <p:cNvPr id="2" name="灯片编号占位符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nvGrpSpPr>
          <p:cNvPr id="536" name="指令"/>
          <p:cNvGrpSpPr/>
          <p:nvPr/>
        </p:nvGrpSpPr>
        <p:grpSpPr>
          <a:xfrm>
            <a:off x="3607097" y="2151002"/>
            <a:ext cx="4200124" cy="848518"/>
            <a:chOff x="3708787" y="2899251"/>
            <a:chExt cx="4562188" cy="1058188"/>
          </a:xfrm>
        </p:grpSpPr>
        <p:grpSp>
          <p:nvGrpSpPr>
            <p:cNvPr id="537" name="指令"/>
            <p:cNvGrpSpPr/>
            <p:nvPr/>
          </p:nvGrpSpPr>
          <p:grpSpPr>
            <a:xfrm>
              <a:off x="3751739" y="2899251"/>
              <a:ext cx="4403588" cy="1058188"/>
              <a:chOff x="4036219" y="4360386"/>
              <a:chExt cx="2411301" cy="579439"/>
            </a:xfrm>
          </p:grpSpPr>
          <p:grpSp>
            <p:nvGrpSpPr>
              <p:cNvPr id="543" name="组合 542"/>
              <p:cNvGrpSpPr/>
              <p:nvPr/>
            </p:nvGrpSpPr>
            <p:grpSpPr>
              <a:xfrm>
                <a:off x="4036219" y="4536600"/>
                <a:ext cx="233362" cy="230981"/>
                <a:chOff x="3459957" y="3198019"/>
                <a:chExt cx="233362" cy="230981"/>
              </a:xfrm>
            </p:grpSpPr>
            <p:sp>
              <p:nvSpPr>
                <p:cNvPr id="584" name="矩形 583"/>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585" name="矩形 584"/>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grpSp>
          <p:sp>
            <p:nvSpPr>
              <p:cNvPr id="544" name="矩形 543"/>
              <p:cNvSpPr/>
              <p:nvPr/>
            </p:nvSpPr>
            <p:spPr>
              <a:xfrm>
                <a:off x="4383088" y="4360386"/>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cxnSp>
            <p:nvCxnSpPr>
              <p:cNvPr id="545" name="直接连接符 544"/>
              <p:cNvCxnSpPr>
                <a:stCxn id="585"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46" name="组合 545"/>
              <p:cNvGrpSpPr/>
              <p:nvPr/>
            </p:nvGrpSpPr>
            <p:grpSpPr>
              <a:xfrm>
                <a:off x="4583677" y="4531622"/>
                <a:ext cx="224066" cy="235402"/>
                <a:chOff x="3971697" y="3537291"/>
                <a:chExt cx="224066" cy="235402"/>
              </a:xfrm>
            </p:grpSpPr>
            <p:sp>
              <p:nvSpPr>
                <p:cNvPr id="577" name="矩形 576"/>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578" name="直接连接符 577"/>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79" name="直接连接符 578"/>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80" name="直接连接符 579"/>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81" name="直接连接符 580"/>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2" name="直接连接符 581"/>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3" name="直接连接符 582"/>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47" name="直接连接符 546"/>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48" name="任意多边形: 形状 547"/>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549" name="矩形 548"/>
              <p:cNvSpPr/>
              <p:nvPr/>
            </p:nvSpPr>
            <p:spPr>
              <a:xfrm>
                <a:off x="4935538" y="4362769"/>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550" name="矩形 549"/>
              <p:cNvSpPr/>
              <p:nvPr/>
            </p:nvSpPr>
            <p:spPr>
              <a:xfrm>
                <a:off x="5492751" y="4361974"/>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grpSp>
            <p:nvGrpSpPr>
              <p:cNvPr id="551" name="组合 550"/>
              <p:cNvGrpSpPr/>
              <p:nvPr/>
            </p:nvGrpSpPr>
            <p:grpSpPr>
              <a:xfrm>
                <a:off x="5688014" y="4536601"/>
                <a:ext cx="233362" cy="230981"/>
                <a:chOff x="3459957" y="3198019"/>
                <a:chExt cx="233362" cy="230981"/>
              </a:xfrm>
            </p:grpSpPr>
            <p:sp>
              <p:nvSpPr>
                <p:cNvPr id="575" name="矩形 574"/>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576" name="矩形 575"/>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grpSp>
          <p:sp>
            <p:nvSpPr>
              <p:cNvPr id="552" name="矩形 551"/>
              <p:cNvSpPr/>
              <p:nvPr/>
            </p:nvSpPr>
            <p:spPr>
              <a:xfrm>
                <a:off x="6045593" y="4362768"/>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grpSp>
            <p:nvGrpSpPr>
              <p:cNvPr id="553" name="组合 552"/>
              <p:cNvGrpSpPr/>
              <p:nvPr/>
            </p:nvGrpSpPr>
            <p:grpSpPr>
              <a:xfrm rot="10800000">
                <a:off x="6224134" y="4529592"/>
                <a:ext cx="223386" cy="233308"/>
                <a:chOff x="3970449" y="3541712"/>
                <a:chExt cx="223386" cy="233308"/>
              </a:xfrm>
            </p:grpSpPr>
            <p:sp>
              <p:nvSpPr>
                <p:cNvPr id="568" name="矩形 567"/>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569" name="直接连接符 568"/>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70" name="直接连接符 569"/>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71" name="直接连接符 570"/>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72" name="直接连接符 571"/>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3" name="直接连接符 572"/>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4" name="直接连接符 573"/>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54" name="直接连接符 553"/>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5" name="直接连接符 554"/>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6" name="直接连接符 555"/>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7" name="直接连接符 556"/>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8" name="直接连接符 557"/>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9" name="直接连接符 558"/>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0" name="直接连接符 559"/>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1" name="直接连接符 560"/>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2" name="直接连接符 561"/>
              <p:cNvCxnSpPr>
                <a:stCxn id="576" idx="3"/>
                <a:endCxn id="552"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3" name="直接连接符 562"/>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4" name="直接连接符 563"/>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5" name="直接连接符 564"/>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6" name="直接连接符 565"/>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7" name="直接连接符 566"/>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8" name="文本框 537"/>
            <p:cNvSpPr txBox="1"/>
            <p:nvPr/>
          </p:nvSpPr>
          <p:spPr>
            <a:xfrm>
              <a:off x="3708787" y="3187962"/>
              <a:ext cx="632926" cy="4080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IM</a:t>
              </a:r>
              <a:endPar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539" name="文本框 538"/>
            <p:cNvSpPr txBox="1"/>
            <p:nvPr/>
          </p:nvSpPr>
          <p:spPr>
            <a:xfrm>
              <a:off x="4654820" y="3187962"/>
              <a:ext cx="678399" cy="39968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Reg</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540" name="文本框 539"/>
            <p:cNvSpPr txBox="1"/>
            <p:nvPr/>
          </p:nvSpPr>
          <p:spPr>
            <a:xfrm>
              <a:off x="7648165" y="3188315"/>
              <a:ext cx="622810" cy="4011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Reg</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541" name="文本框 540"/>
            <p:cNvSpPr txBox="1"/>
            <p:nvPr/>
          </p:nvSpPr>
          <p:spPr>
            <a:xfrm>
              <a:off x="5751707" y="3204357"/>
              <a:ext cx="641091" cy="4011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ALU</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542" name="文本框 541"/>
            <p:cNvSpPr txBox="1"/>
            <p:nvPr/>
          </p:nvSpPr>
          <p:spPr>
            <a:xfrm>
              <a:off x="6697502" y="3209906"/>
              <a:ext cx="60198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DM</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586" name="指令"/>
          <p:cNvGrpSpPr/>
          <p:nvPr/>
        </p:nvGrpSpPr>
        <p:grpSpPr>
          <a:xfrm>
            <a:off x="4540547" y="3036827"/>
            <a:ext cx="4200124" cy="848518"/>
            <a:chOff x="3708787" y="2899251"/>
            <a:chExt cx="4562188" cy="1058188"/>
          </a:xfrm>
        </p:grpSpPr>
        <p:grpSp>
          <p:nvGrpSpPr>
            <p:cNvPr id="587" name="指令"/>
            <p:cNvGrpSpPr/>
            <p:nvPr/>
          </p:nvGrpSpPr>
          <p:grpSpPr>
            <a:xfrm>
              <a:off x="3751739" y="2899251"/>
              <a:ext cx="4403588" cy="1058188"/>
              <a:chOff x="4036219" y="4360386"/>
              <a:chExt cx="2411301" cy="579439"/>
            </a:xfrm>
          </p:grpSpPr>
          <p:grpSp>
            <p:nvGrpSpPr>
              <p:cNvPr id="593" name="组合 592"/>
              <p:cNvGrpSpPr/>
              <p:nvPr/>
            </p:nvGrpSpPr>
            <p:grpSpPr>
              <a:xfrm>
                <a:off x="4036219" y="4536600"/>
                <a:ext cx="233362" cy="230981"/>
                <a:chOff x="3459957" y="3198019"/>
                <a:chExt cx="233362" cy="230981"/>
              </a:xfrm>
            </p:grpSpPr>
            <p:sp>
              <p:nvSpPr>
                <p:cNvPr id="632" name="矩形 631"/>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633" name="矩形 632"/>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grpSp>
          <p:sp>
            <p:nvSpPr>
              <p:cNvPr id="594" name="矩形 593"/>
              <p:cNvSpPr/>
              <p:nvPr/>
            </p:nvSpPr>
            <p:spPr>
              <a:xfrm>
                <a:off x="4383088" y="4360386"/>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cxnSp>
            <p:nvCxnSpPr>
              <p:cNvPr id="595" name="直接连接符 594"/>
              <p:cNvCxnSpPr>
                <a:stCxn id="633"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96" name="组合 595"/>
              <p:cNvGrpSpPr/>
              <p:nvPr/>
            </p:nvGrpSpPr>
            <p:grpSpPr>
              <a:xfrm>
                <a:off x="4583677" y="4531622"/>
                <a:ext cx="224066" cy="235402"/>
                <a:chOff x="3971697" y="3537291"/>
                <a:chExt cx="224066" cy="235402"/>
              </a:xfrm>
            </p:grpSpPr>
            <p:sp>
              <p:nvSpPr>
                <p:cNvPr id="625" name="矩形 624"/>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626" name="直接连接符 625"/>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27" name="直接连接符 626"/>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28" name="直接连接符 627"/>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29" name="直接连接符 628"/>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0" name="直接连接符 629"/>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1" name="直接连接符 630"/>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97" name="直接连接符 596"/>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98" name="任意多边形: 形状 597"/>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599" name="矩形 598"/>
              <p:cNvSpPr/>
              <p:nvPr/>
            </p:nvSpPr>
            <p:spPr>
              <a:xfrm>
                <a:off x="4935538" y="4362769"/>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600" name="矩形 599"/>
              <p:cNvSpPr/>
              <p:nvPr/>
            </p:nvSpPr>
            <p:spPr>
              <a:xfrm>
                <a:off x="5492751" y="4361974"/>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601" name="矩形 600"/>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602" name="矩形 601"/>
              <p:cNvSpPr/>
              <p:nvPr/>
            </p:nvSpPr>
            <p:spPr>
              <a:xfrm>
                <a:off x="6045593" y="4362768"/>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grpSp>
            <p:nvGrpSpPr>
              <p:cNvPr id="603" name="组合 602"/>
              <p:cNvGrpSpPr/>
              <p:nvPr/>
            </p:nvGrpSpPr>
            <p:grpSpPr>
              <a:xfrm rot="10800000">
                <a:off x="6224134" y="4529592"/>
                <a:ext cx="223386" cy="233308"/>
                <a:chOff x="3970449" y="3541712"/>
                <a:chExt cx="223386" cy="233308"/>
              </a:xfrm>
            </p:grpSpPr>
            <p:sp>
              <p:nvSpPr>
                <p:cNvPr id="618" name="矩形 617"/>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619" name="直接连接符 618"/>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20" name="直接连接符 619"/>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21" name="直接连接符 620"/>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22" name="直接连接符 621"/>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3" name="直接连接符 622"/>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4" name="直接连接符 623"/>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04" name="直接连接符 603"/>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5" name="直接连接符 604"/>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6" name="直接连接符 605"/>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7" name="直接连接符 606"/>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8" name="直接连接符 607"/>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9" name="直接连接符 608"/>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0" name="直接连接符 609"/>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1" name="直接连接符 610"/>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2" name="直接连接符 611"/>
              <p:cNvCxnSpPr>
                <a:stCxn id="601" idx="3"/>
                <a:endCxn id="602"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3" name="直接连接符 612"/>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4" name="直接连接符 613"/>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5" name="直接连接符 614"/>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6" name="直接连接符 615"/>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7" name="直接连接符 616"/>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88" name="文本框 587"/>
            <p:cNvSpPr txBox="1"/>
            <p:nvPr/>
          </p:nvSpPr>
          <p:spPr>
            <a:xfrm>
              <a:off x="3708787" y="3187962"/>
              <a:ext cx="632926" cy="4080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IM</a:t>
              </a:r>
              <a:endPar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589" name="文本框 588"/>
            <p:cNvSpPr txBox="1"/>
            <p:nvPr/>
          </p:nvSpPr>
          <p:spPr>
            <a:xfrm>
              <a:off x="4654820" y="3187962"/>
              <a:ext cx="678399" cy="39968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Reg</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590" name="文本框 589"/>
            <p:cNvSpPr txBox="1"/>
            <p:nvPr/>
          </p:nvSpPr>
          <p:spPr>
            <a:xfrm>
              <a:off x="7648165" y="3188315"/>
              <a:ext cx="622810" cy="4011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Reg</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591" name="文本框 590"/>
            <p:cNvSpPr txBox="1"/>
            <p:nvPr/>
          </p:nvSpPr>
          <p:spPr>
            <a:xfrm>
              <a:off x="5751707" y="3204357"/>
              <a:ext cx="641091" cy="4011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ALU</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592" name="文本框 591"/>
            <p:cNvSpPr txBox="1"/>
            <p:nvPr/>
          </p:nvSpPr>
          <p:spPr>
            <a:xfrm>
              <a:off x="6697502" y="3209906"/>
              <a:ext cx="60198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DM</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634" name="指令"/>
          <p:cNvGrpSpPr/>
          <p:nvPr/>
        </p:nvGrpSpPr>
        <p:grpSpPr>
          <a:xfrm>
            <a:off x="5475921" y="3912132"/>
            <a:ext cx="4200124" cy="848518"/>
            <a:chOff x="3708787" y="2899251"/>
            <a:chExt cx="4562188" cy="1058188"/>
          </a:xfrm>
        </p:grpSpPr>
        <p:grpSp>
          <p:nvGrpSpPr>
            <p:cNvPr id="635" name="指令"/>
            <p:cNvGrpSpPr/>
            <p:nvPr/>
          </p:nvGrpSpPr>
          <p:grpSpPr>
            <a:xfrm>
              <a:off x="3751739" y="2899251"/>
              <a:ext cx="4403588" cy="1058188"/>
              <a:chOff x="4036219" y="4360386"/>
              <a:chExt cx="2411301" cy="579439"/>
            </a:xfrm>
          </p:grpSpPr>
          <p:grpSp>
            <p:nvGrpSpPr>
              <p:cNvPr id="641" name="组合 640"/>
              <p:cNvGrpSpPr/>
              <p:nvPr/>
            </p:nvGrpSpPr>
            <p:grpSpPr>
              <a:xfrm>
                <a:off x="4036219" y="4536600"/>
                <a:ext cx="233362" cy="230981"/>
                <a:chOff x="3459957" y="3198019"/>
                <a:chExt cx="233362" cy="230981"/>
              </a:xfrm>
            </p:grpSpPr>
            <p:sp>
              <p:nvSpPr>
                <p:cNvPr id="680" name="矩形 679"/>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681" name="矩形 680"/>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grpSp>
          <p:sp>
            <p:nvSpPr>
              <p:cNvPr id="642" name="矩形 641"/>
              <p:cNvSpPr/>
              <p:nvPr/>
            </p:nvSpPr>
            <p:spPr>
              <a:xfrm>
                <a:off x="4383088" y="4360386"/>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cxnSp>
            <p:nvCxnSpPr>
              <p:cNvPr id="643" name="直接连接符 642"/>
              <p:cNvCxnSpPr>
                <a:stCxn id="681"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44" name="组合 643"/>
              <p:cNvGrpSpPr/>
              <p:nvPr/>
            </p:nvGrpSpPr>
            <p:grpSpPr>
              <a:xfrm>
                <a:off x="4583677" y="4531622"/>
                <a:ext cx="224066" cy="235402"/>
                <a:chOff x="3971697" y="3537291"/>
                <a:chExt cx="224066" cy="235402"/>
              </a:xfrm>
            </p:grpSpPr>
            <p:sp>
              <p:nvSpPr>
                <p:cNvPr id="673" name="矩形 672"/>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674" name="直接连接符 673"/>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75" name="直接连接符 674"/>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76" name="直接连接符 675"/>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77" name="直接连接符 676"/>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8" name="直接连接符 677"/>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9" name="直接连接符 678"/>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45" name="直接连接符 644"/>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46" name="任意多边形: 形状 645"/>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647" name="矩形 646"/>
              <p:cNvSpPr/>
              <p:nvPr/>
            </p:nvSpPr>
            <p:spPr>
              <a:xfrm>
                <a:off x="4935538" y="4362769"/>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648" name="矩形 647"/>
              <p:cNvSpPr/>
              <p:nvPr/>
            </p:nvSpPr>
            <p:spPr>
              <a:xfrm>
                <a:off x="5492751" y="4361974"/>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649" name="矩形 648"/>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650" name="矩形 649"/>
              <p:cNvSpPr/>
              <p:nvPr/>
            </p:nvSpPr>
            <p:spPr>
              <a:xfrm>
                <a:off x="6045593" y="4362768"/>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grpSp>
            <p:nvGrpSpPr>
              <p:cNvPr id="651" name="组合 650"/>
              <p:cNvGrpSpPr/>
              <p:nvPr/>
            </p:nvGrpSpPr>
            <p:grpSpPr>
              <a:xfrm rot="10800000">
                <a:off x="6224134" y="4529592"/>
                <a:ext cx="223386" cy="233308"/>
                <a:chOff x="3970449" y="3541712"/>
                <a:chExt cx="223386" cy="233308"/>
              </a:xfrm>
            </p:grpSpPr>
            <p:sp>
              <p:nvSpPr>
                <p:cNvPr id="666" name="矩形 665"/>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667" name="直接连接符 666"/>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68" name="直接连接符 667"/>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69" name="直接连接符 668"/>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70" name="直接连接符 669"/>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1" name="直接连接符 670"/>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2" name="直接连接符 671"/>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52" name="直接连接符 651"/>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3" name="直接连接符 652"/>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4" name="直接连接符 653"/>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5" name="直接连接符 654"/>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6" name="直接连接符 655"/>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7" name="直接连接符 656"/>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8" name="直接连接符 657"/>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9" name="直接连接符 658"/>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0" name="直接连接符 659"/>
              <p:cNvCxnSpPr>
                <a:stCxn id="649" idx="3"/>
                <a:endCxn id="650"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1" name="直接连接符 660"/>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2" name="直接连接符 661"/>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3" name="直接连接符 662"/>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4" name="直接连接符 663"/>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5" name="直接连接符 664"/>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36" name="文本框 635"/>
            <p:cNvSpPr txBox="1"/>
            <p:nvPr/>
          </p:nvSpPr>
          <p:spPr>
            <a:xfrm>
              <a:off x="3708787" y="3187962"/>
              <a:ext cx="632926" cy="4080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IM</a:t>
              </a:r>
              <a:endPar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637" name="文本框 636"/>
            <p:cNvSpPr txBox="1"/>
            <p:nvPr/>
          </p:nvSpPr>
          <p:spPr>
            <a:xfrm>
              <a:off x="4654820" y="3187962"/>
              <a:ext cx="678399" cy="39968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Reg</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638" name="文本框 637"/>
            <p:cNvSpPr txBox="1"/>
            <p:nvPr/>
          </p:nvSpPr>
          <p:spPr>
            <a:xfrm>
              <a:off x="7648165" y="3188315"/>
              <a:ext cx="622810" cy="4011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Reg</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639" name="文本框 638"/>
            <p:cNvSpPr txBox="1"/>
            <p:nvPr/>
          </p:nvSpPr>
          <p:spPr>
            <a:xfrm>
              <a:off x="5751707" y="3204357"/>
              <a:ext cx="641091" cy="4011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ALU</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640" name="文本框 639"/>
            <p:cNvSpPr txBox="1"/>
            <p:nvPr/>
          </p:nvSpPr>
          <p:spPr>
            <a:xfrm>
              <a:off x="6697502" y="3209906"/>
              <a:ext cx="60198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DM</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682" name="指令"/>
          <p:cNvGrpSpPr/>
          <p:nvPr/>
        </p:nvGrpSpPr>
        <p:grpSpPr>
          <a:xfrm>
            <a:off x="6406745" y="4789356"/>
            <a:ext cx="4200124" cy="848518"/>
            <a:chOff x="3708787" y="2899251"/>
            <a:chExt cx="4562188" cy="1058188"/>
          </a:xfrm>
        </p:grpSpPr>
        <p:grpSp>
          <p:nvGrpSpPr>
            <p:cNvPr id="683" name="指令"/>
            <p:cNvGrpSpPr/>
            <p:nvPr/>
          </p:nvGrpSpPr>
          <p:grpSpPr>
            <a:xfrm>
              <a:off x="3751739" y="2899251"/>
              <a:ext cx="4403588" cy="1058188"/>
              <a:chOff x="4036219" y="4360386"/>
              <a:chExt cx="2411301" cy="579439"/>
            </a:xfrm>
          </p:grpSpPr>
          <p:grpSp>
            <p:nvGrpSpPr>
              <p:cNvPr id="689" name="组合 688"/>
              <p:cNvGrpSpPr/>
              <p:nvPr/>
            </p:nvGrpSpPr>
            <p:grpSpPr>
              <a:xfrm>
                <a:off x="4036219" y="4536600"/>
                <a:ext cx="233362" cy="230981"/>
                <a:chOff x="3459957" y="3198019"/>
                <a:chExt cx="233362" cy="230981"/>
              </a:xfrm>
            </p:grpSpPr>
            <p:sp>
              <p:nvSpPr>
                <p:cNvPr id="730" name="矩形 729"/>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731" name="矩形 730"/>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grpSp>
          <p:sp>
            <p:nvSpPr>
              <p:cNvPr id="690" name="矩形 689"/>
              <p:cNvSpPr/>
              <p:nvPr/>
            </p:nvSpPr>
            <p:spPr>
              <a:xfrm>
                <a:off x="4383088" y="4360386"/>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cxnSp>
            <p:nvCxnSpPr>
              <p:cNvPr id="691" name="直接连接符 690"/>
              <p:cNvCxnSpPr>
                <a:stCxn id="731"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92" name="组合 691"/>
              <p:cNvGrpSpPr/>
              <p:nvPr/>
            </p:nvGrpSpPr>
            <p:grpSpPr>
              <a:xfrm>
                <a:off x="4583677" y="4531622"/>
                <a:ext cx="224066" cy="235402"/>
                <a:chOff x="3971697" y="3537291"/>
                <a:chExt cx="224066" cy="235402"/>
              </a:xfrm>
            </p:grpSpPr>
            <p:sp>
              <p:nvSpPr>
                <p:cNvPr id="723" name="矩形 722"/>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724" name="直接连接符 723"/>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25" name="直接连接符 724"/>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26" name="直接连接符 725"/>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27" name="直接连接符 726"/>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8" name="直接连接符 727"/>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9" name="直接连接符 728"/>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93" name="直接连接符 692"/>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94" name="任意多边形: 形状 693"/>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695" name="矩形 694"/>
              <p:cNvSpPr/>
              <p:nvPr/>
            </p:nvSpPr>
            <p:spPr>
              <a:xfrm>
                <a:off x="4935538" y="4362769"/>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696" name="矩形 695"/>
              <p:cNvSpPr/>
              <p:nvPr/>
            </p:nvSpPr>
            <p:spPr>
              <a:xfrm>
                <a:off x="5492751" y="4361974"/>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grpSp>
            <p:nvGrpSpPr>
              <p:cNvPr id="697" name="组合 696"/>
              <p:cNvGrpSpPr/>
              <p:nvPr/>
            </p:nvGrpSpPr>
            <p:grpSpPr>
              <a:xfrm>
                <a:off x="5688014" y="4536601"/>
                <a:ext cx="233362" cy="230981"/>
                <a:chOff x="3459957" y="3198019"/>
                <a:chExt cx="233362" cy="230981"/>
              </a:xfrm>
            </p:grpSpPr>
            <p:sp>
              <p:nvSpPr>
                <p:cNvPr id="721" name="矩形 720"/>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722" name="矩形 721"/>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grpSp>
          <p:sp>
            <p:nvSpPr>
              <p:cNvPr id="698" name="矩形 697"/>
              <p:cNvSpPr/>
              <p:nvPr/>
            </p:nvSpPr>
            <p:spPr>
              <a:xfrm>
                <a:off x="6045593" y="4362768"/>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grpSp>
            <p:nvGrpSpPr>
              <p:cNvPr id="699" name="组合 698"/>
              <p:cNvGrpSpPr/>
              <p:nvPr/>
            </p:nvGrpSpPr>
            <p:grpSpPr>
              <a:xfrm rot="10800000">
                <a:off x="6224134" y="4529592"/>
                <a:ext cx="223386" cy="233308"/>
                <a:chOff x="3970449" y="3541712"/>
                <a:chExt cx="223386" cy="233308"/>
              </a:xfrm>
            </p:grpSpPr>
            <p:sp>
              <p:nvSpPr>
                <p:cNvPr id="714" name="矩形 713"/>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715" name="直接连接符 714"/>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16" name="直接连接符 715"/>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17" name="直接连接符 716"/>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18" name="直接连接符 717"/>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9" name="直接连接符 718"/>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0" name="直接连接符 719"/>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00" name="直接连接符 699"/>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1" name="直接连接符 700"/>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2" name="直接连接符 701"/>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3" name="直接连接符 702"/>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4" name="直接连接符 703"/>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5" name="直接连接符 704"/>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6" name="直接连接符 705"/>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7" name="直接连接符 706"/>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8" name="直接连接符 707"/>
              <p:cNvCxnSpPr>
                <a:stCxn id="722" idx="3"/>
                <a:endCxn id="698"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9" name="直接连接符 708"/>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0" name="直接连接符 709"/>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1" name="直接连接符 710"/>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2" name="直接连接符 711"/>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3" name="直接连接符 712"/>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84" name="文本框 683"/>
            <p:cNvSpPr txBox="1"/>
            <p:nvPr/>
          </p:nvSpPr>
          <p:spPr>
            <a:xfrm>
              <a:off x="3708787" y="3187962"/>
              <a:ext cx="632926" cy="4080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IM</a:t>
              </a:r>
              <a:endPar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685" name="文本框 684"/>
            <p:cNvSpPr txBox="1"/>
            <p:nvPr/>
          </p:nvSpPr>
          <p:spPr>
            <a:xfrm>
              <a:off x="4654820" y="3187962"/>
              <a:ext cx="678399" cy="39968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Reg</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686" name="文本框 685"/>
            <p:cNvSpPr txBox="1"/>
            <p:nvPr/>
          </p:nvSpPr>
          <p:spPr>
            <a:xfrm>
              <a:off x="7648165" y="3188315"/>
              <a:ext cx="622810" cy="4011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Reg</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687" name="文本框 686"/>
            <p:cNvSpPr txBox="1"/>
            <p:nvPr/>
          </p:nvSpPr>
          <p:spPr>
            <a:xfrm>
              <a:off x="5751707" y="3204357"/>
              <a:ext cx="641091" cy="4011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ALU</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688" name="文本框 687"/>
            <p:cNvSpPr txBox="1"/>
            <p:nvPr/>
          </p:nvSpPr>
          <p:spPr>
            <a:xfrm>
              <a:off x="6697502" y="3209906"/>
              <a:ext cx="60198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DM</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732" name="指令"/>
          <p:cNvGrpSpPr/>
          <p:nvPr/>
        </p:nvGrpSpPr>
        <p:grpSpPr>
          <a:xfrm>
            <a:off x="7339939" y="5675472"/>
            <a:ext cx="4200124" cy="848518"/>
            <a:chOff x="3708787" y="2899251"/>
            <a:chExt cx="4562188" cy="1058188"/>
          </a:xfrm>
        </p:grpSpPr>
        <p:grpSp>
          <p:nvGrpSpPr>
            <p:cNvPr id="733" name="指令"/>
            <p:cNvGrpSpPr/>
            <p:nvPr/>
          </p:nvGrpSpPr>
          <p:grpSpPr>
            <a:xfrm>
              <a:off x="3751739" y="2899251"/>
              <a:ext cx="4403588" cy="1058188"/>
              <a:chOff x="4036219" y="4360386"/>
              <a:chExt cx="2411301" cy="579439"/>
            </a:xfrm>
          </p:grpSpPr>
          <p:grpSp>
            <p:nvGrpSpPr>
              <p:cNvPr id="739" name="组合 738"/>
              <p:cNvGrpSpPr/>
              <p:nvPr/>
            </p:nvGrpSpPr>
            <p:grpSpPr>
              <a:xfrm>
                <a:off x="4036219" y="4536600"/>
                <a:ext cx="233362" cy="230981"/>
                <a:chOff x="3459957" y="3198019"/>
                <a:chExt cx="233362" cy="230981"/>
              </a:xfrm>
            </p:grpSpPr>
            <p:sp>
              <p:nvSpPr>
                <p:cNvPr id="778" name="矩形 777"/>
                <p:cNvSpPr/>
                <p:nvPr/>
              </p:nvSpPr>
              <p:spPr>
                <a:xfrm>
                  <a:off x="3571875" y="3198019"/>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779" name="矩形 778"/>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grpSp>
          <p:sp>
            <p:nvSpPr>
              <p:cNvPr id="740" name="矩形 739"/>
              <p:cNvSpPr/>
              <p:nvPr/>
            </p:nvSpPr>
            <p:spPr>
              <a:xfrm>
                <a:off x="4383088" y="4360386"/>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cxnSp>
            <p:nvCxnSpPr>
              <p:cNvPr id="741" name="直接连接符 740"/>
              <p:cNvCxnSpPr>
                <a:stCxn id="779"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42" name="组合 741"/>
              <p:cNvGrpSpPr/>
              <p:nvPr/>
            </p:nvGrpSpPr>
            <p:grpSpPr>
              <a:xfrm>
                <a:off x="4583677" y="4531622"/>
                <a:ext cx="224066" cy="235402"/>
                <a:chOff x="3971697" y="3537291"/>
                <a:chExt cx="224066" cy="235402"/>
              </a:xfrm>
            </p:grpSpPr>
            <p:sp>
              <p:nvSpPr>
                <p:cNvPr id="771" name="矩形 770"/>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772" name="直接连接符 771"/>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73" name="直接连接符 772"/>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74" name="直接连接符 773"/>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75" name="直接连接符 774"/>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6" name="直接连接符 775"/>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7" name="直接连接符 776"/>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43" name="直接连接符 742"/>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44" name="任意多边形: 形状 743"/>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745" name="矩形 744"/>
              <p:cNvSpPr/>
              <p:nvPr/>
            </p:nvSpPr>
            <p:spPr>
              <a:xfrm>
                <a:off x="4935538" y="4362769"/>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746" name="矩形 745"/>
              <p:cNvSpPr/>
              <p:nvPr/>
            </p:nvSpPr>
            <p:spPr>
              <a:xfrm>
                <a:off x="5492751" y="4361974"/>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747" name="矩形 746"/>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
            <p:nvSpPr>
              <p:cNvPr id="748" name="矩形 747"/>
              <p:cNvSpPr/>
              <p:nvPr/>
            </p:nvSpPr>
            <p:spPr>
              <a:xfrm>
                <a:off x="6045593" y="4362768"/>
                <a:ext cx="73818" cy="577056"/>
              </a:xfrm>
              <a:prstGeom prst="rect">
                <a:avLst/>
              </a:prstGeom>
              <a:solidFill>
                <a:srgbClr val="54C9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grpSp>
            <p:nvGrpSpPr>
              <p:cNvPr id="749" name="组合 748"/>
              <p:cNvGrpSpPr/>
              <p:nvPr/>
            </p:nvGrpSpPr>
            <p:grpSpPr>
              <a:xfrm rot="10800000">
                <a:off x="6224134" y="4529592"/>
                <a:ext cx="223386" cy="233308"/>
                <a:chOff x="3970449" y="3541712"/>
                <a:chExt cx="223386" cy="233308"/>
              </a:xfrm>
            </p:grpSpPr>
            <p:sp>
              <p:nvSpPr>
                <p:cNvPr id="764" name="矩形 763"/>
                <p:cNvSpPr/>
                <p:nvPr/>
              </p:nvSpPr>
              <p:spPr>
                <a:xfrm>
                  <a:off x="4071938" y="3541712"/>
                  <a:ext cx="121444" cy="230981"/>
                </a:xfrm>
                <a:prstGeom prst="rect">
                  <a:avLst/>
                </a:prstGeom>
                <a:solidFill>
                  <a:srgbClr val="6CC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cxnSp>
              <p:nvCxnSpPr>
                <p:cNvPr id="765" name="直接连接符 764"/>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66" name="直接连接符 765"/>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67" name="直接连接符 766"/>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68" name="直接连接符 767"/>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9" name="直接连接符 768"/>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0" name="直接连接符 769"/>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50" name="直接连接符 749"/>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1" name="直接连接符 750"/>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2" name="直接连接符 751"/>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3" name="直接连接符 752"/>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4" name="直接连接符 753"/>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5" name="直接连接符 754"/>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6" name="直接连接符 755"/>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7" name="直接连接符 756"/>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8" name="直接连接符 757"/>
              <p:cNvCxnSpPr>
                <a:stCxn id="747" idx="3"/>
                <a:endCxn id="748"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9" name="直接连接符 758"/>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0" name="直接连接符 759"/>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1" name="直接连接符 760"/>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2" name="直接连接符 761"/>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3" name="直接连接符 762"/>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34" name="文本框 733"/>
            <p:cNvSpPr txBox="1"/>
            <p:nvPr/>
          </p:nvSpPr>
          <p:spPr>
            <a:xfrm>
              <a:off x="3708787" y="3187962"/>
              <a:ext cx="632926" cy="4080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IM</a:t>
              </a:r>
              <a:endParaRPr kumimoji="0" lang="zh-CN" altLang="en-US"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735" name="文本框 734"/>
            <p:cNvSpPr txBox="1"/>
            <p:nvPr/>
          </p:nvSpPr>
          <p:spPr>
            <a:xfrm>
              <a:off x="4654820" y="3187962"/>
              <a:ext cx="678399" cy="39968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Reg</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736" name="文本框 735"/>
            <p:cNvSpPr txBox="1"/>
            <p:nvPr/>
          </p:nvSpPr>
          <p:spPr>
            <a:xfrm>
              <a:off x="7648165" y="3188315"/>
              <a:ext cx="622810" cy="4011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Reg</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737" name="文本框 736"/>
            <p:cNvSpPr txBox="1"/>
            <p:nvPr/>
          </p:nvSpPr>
          <p:spPr>
            <a:xfrm>
              <a:off x="5751707" y="3204357"/>
              <a:ext cx="641091" cy="4011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ALU</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738" name="文本框 737"/>
            <p:cNvSpPr txBox="1"/>
            <p:nvPr/>
          </p:nvSpPr>
          <p:spPr>
            <a:xfrm>
              <a:off x="6697502" y="3209906"/>
              <a:ext cx="60198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DM</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pSp>
      <p:grpSp>
        <p:nvGrpSpPr>
          <p:cNvPr id="780" name="时间轴"/>
          <p:cNvGrpSpPr/>
          <p:nvPr/>
        </p:nvGrpSpPr>
        <p:grpSpPr>
          <a:xfrm>
            <a:off x="1472361" y="1628020"/>
            <a:ext cx="10280665" cy="648823"/>
            <a:chOff x="991372" y="1927819"/>
            <a:chExt cx="10280665" cy="648823"/>
          </a:xfrm>
        </p:grpSpPr>
        <p:cxnSp>
          <p:nvCxnSpPr>
            <p:cNvPr id="781" name="直接箭头连接符 780"/>
            <p:cNvCxnSpPr/>
            <p:nvPr/>
          </p:nvCxnSpPr>
          <p:spPr>
            <a:xfrm>
              <a:off x="3629769" y="2185186"/>
              <a:ext cx="7510315"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sp>
          <p:nvSpPr>
            <p:cNvPr id="782" name="文本框 781"/>
            <p:cNvSpPr txBox="1"/>
            <p:nvPr/>
          </p:nvSpPr>
          <p:spPr>
            <a:xfrm>
              <a:off x="3047727" y="2207282"/>
              <a:ext cx="71428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 1</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783" name="文本框 782"/>
            <p:cNvSpPr txBox="1"/>
            <p:nvPr/>
          </p:nvSpPr>
          <p:spPr>
            <a:xfrm>
              <a:off x="3981073" y="2204602"/>
              <a:ext cx="71428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 2</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784" name="文本框 783"/>
            <p:cNvSpPr txBox="1"/>
            <p:nvPr/>
          </p:nvSpPr>
          <p:spPr>
            <a:xfrm>
              <a:off x="6737190" y="2207196"/>
              <a:ext cx="71428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 5</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785" name="文本框 784"/>
            <p:cNvSpPr txBox="1"/>
            <p:nvPr/>
          </p:nvSpPr>
          <p:spPr>
            <a:xfrm>
              <a:off x="4946527" y="2201889"/>
              <a:ext cx="71428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 3</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786" name="文本框 785"/>
            <p:cNvSpPr txBox="1"/>
            <p:nvPr/>
          </p:nvSpPr>
          <p:spPr>
            <a:xfrm>
              <a:off x="7682194" y="2207310"/>
              <a:ext cx="71428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 6</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787" name="文本框 786"/>
            <p:cNvSpPr txBox="1"/>
            <p:nvPr/>
          </p:nvSpPr>
          <p:spPr>
            <a:xfrm>
              <a:off x="5827526" y="2202034"/>
              <a:ext cx="71428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 4</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788" name="文本框 787"/>
            <p:cNvSpPr txBox="1"/>
            <p:nvPr/>
          </p:nvSpPr>
          <p:spPr>
            <a:xfrm>
              <a:off x="9543787" y="2203075"/>
              <a:ext cx="71428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 8</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789" name="文本框 788"/>
            <p:cNvSpPr txBox="1"/>
            <p:nvPr/>
          </p:nvSpPr>
          <p:spPr>
            <a:xfrm>
              <a:off x="8644891" y="2203075"/>
              <a:ext cx="71428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 7</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790" name="文本框 789"/>
            <p:cNvSpPr txBox="1"/>
            <p:nvPr/>
          </p:nvSpPr>
          <p:spPr>
            <a:xfrm>
              <a:off x="10557751" y="2201889"/>
              <a:ext cx="71428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 9</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791" name="文本框 790"/>
            <p:cNvSpPr txBox="1"/>
            <p:nvPr/>
          </p:nvSpPr>
          <p:spPr>
            <a:xfrm>
              <a:off x="991372" y="1927819"/>
              <a:ext cx="2690023" cy="400110"/>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Time (in clock cycles)</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grpSp>
        <p:nvGrpSpPr>
          <p:cNvPr id="792" name="组合 791"/>
          <p:cNvGrpSpPr/>
          <p:nvPr/>
        </p:nvGrpSpPr>
        <p:grpSpPr>
          <a:xfrm>
            <a:off x="49924" y="2478105"/>
            <a:ext cx="3217632" cy="3858854"/>
            <a:chOff x="-136952" y="2814440"/>
            <a:chExt cx="3217632" cy="3858854"/>
          </a:xfrm>
        </p:grpSpPr>
        <p:grpSp>
          <p:nvGrpSpPr>
            <p:cNvPr id="793" name="Program"/>
            <p:cNvGrpSpPr/>
            <p:nvPr/>
          </p:nvGrpSpPr>
          <p:grpSpPr>
            <a:xfrm>
              <a:off x="-136952" y="2814440"/>
              <a:ext cx="3194109" cy="3690235"/>
              <a:chOff x="-539913" y="3119259"/>
              <a:chExt cx="3194109" cy="3690235"/>
            </a:xfrm>
          </p:grpSpPr>
          <p:cxnSp>
            <p:nvCxnSpPr>
              <p:cNvPr id="797" name="直接箭头连接符 796"/>
              <p:cNvCxnSpPr/>
              <p:nvPr/>
            </p:nvCxnSpPr>
            <p:spPr>
              <a:xfrm>
                <a:off x="908204" y="3285024"/>
                <a:ext cx="0" cy="352447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798" name="文本框 797"/>
              <p:cNvSpPr txBox="1"/>
              <p:nvPr/>
            </p:nvSpPr>
            <p:spPr>
              <a:xfrm>
                <a:off x="-539913" y="3119259"/>
                <a:ext cx="20465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Program execution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order  (in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instructions)</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99" name="文本框 798"/>
              <p:cNvSpPr txBox="1"/>
              <p:nvPr/>
            </p:nvSpPr>
            <p:spPr>
              <a:xfrm>
                <a:off x="1087359" y="3142925"/>
                <a:ext cx="156001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ld</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x10,40(x1)</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800" name="文本框 799"/>
              <p:cNvSpPr txBox="1"/>
              <p:nvPr/>
            </p:nvSpPr>
            <p:spPr>
              <a:xfrm>
                <a:off x="1094178" y="4051984"/>
                <a:ext cx="1560018" cy="369332"/>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sub x11,x2,x3</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sp>
          <p:nvSpPr>
            <p:cNvPr id="794" name="文本框 793"/>
            <p:cNvSpPr txBox="1"/>
            <p:nvPr/>
          </p:nvSpPr>
          <p:spPr>
            <a:xfrm>
              <a:off x="1471382" y="4557774"/>
              <a:ext cx="1560018" cy="369332"/>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add x12,x3,x4 </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95" name="文本框 794"/>
            <p:cNvSpPr txBox="1"/>
            <p:nvPr/>
          </p:nvSpPr>
          <p:spPr>
            <a:xfrm>
              <a:off x="1520662" y="5396368"/>
              <a:ext cx="1560018" cy="369332"/>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ld</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x13,48(x1) </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96" name="文本框 795"/>
            <p:cNvSpPr txBox="1"/>
            <p:nvPr/>
          </p:nvSpPr>
          <p:spPr>
            <a:xfrm>
              <a:off x="1520662" y="6303962"/>
              <a:ext cx="1560018" cy="369332"/>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add x14,x5,x6</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spTree>
    <p:extLst>
      <p:ext uri="{BB962C8B-B14F-4D97-AF65-F5344CB8AC3E}">
        <p14:creationId xmlns:p14="http://schemas.microsoft.com/office/powerpoint/2010/main" val="24907498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多时钟周期流水线图</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8" name="文本框 7"/>
          <p:cNvSpPr txBox="1"/>
          <p:nvPr/>
        </p:nvSpPr>
        <p:spPr>
          <a:xfrm>
            <a:off x="572364" y="1718100"/>
            <a:ext cx="237355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Time (in clock cycles)</a:t>
            </a:r>
          </a:p>
        </p:txBody>
      </p:sp>
      <p:cxnSp>
        <p:nvCxnSpPr>
          <p:cNvPr id="48" name="直接箭头连接符 47"/>
          <p:cNvCxnSpPr/>
          <p:nvPr/>
        </p:nvCxnSpPr>
        <p:spPr>
          <a:xfrm>
            <a:off x="2551178" y="2099881"/>
            <a:ext cx="8984088" cy="6954"/>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grpSp>
        <p:nvGrpSpPr>
          <p:cNvPr id="94" name="组合 93"/>
          <p:cNvGrpSpPr/>
          <p:nvPr/>
        </p:nvGrpSpPr>
        <p:grpSpPr>
          <a:xfrm>
            <a:off x="2780720" y="3482309"/>
            <a:ext cx="8921109" cy="1934845"/>
            <a:chOff x="2487757" y="2883840"/>
            <a:chExt cx="8921109" cy="1934845"/>
          </a:xfrm>
        </p:grpSpPr>
        <p:sp>
          <p:nvSpPr>
            <p:cNvPr id="56" name="矩形 55"/>
            <p:cNvSpPr/>
            <p:nvPr/>
          </p:nvSpPr>
          <p:spPr>
            <a:xfrm>
              <a:off x="2487757" y="288574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取指令</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7" name="矩形 56"/>
            <p:cNvSpPr/>
            <p:nvPr/>
          </p:nvSpPr>
          <p:spPr>
            <a:xfrm>
              <a:off x="5461462" y="288574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访存</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8" name="矩形 57"/>
            <p:cNvSpPr/>
            <p:nvPr/>
          </p:nvSpPr>
          <p:spPr>
            <a:xfrm>
              <a:off x="4470226" y="288447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执行</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9" name="矩形 58"/>
            <p:cNvSpPr/>
            <p:nvPr/>
          </p:nvSpPr>
          <p:spPr>
            <a:xfrm>
              <a:off x="3478991" y="288447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译码</a:t>
              </a:r>
              <a:endParaRPr kumimoji="0" lang="en-US" altLang="zh-CN"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60" name="矩形 59"/>
            <p:cNvSpPr/>
            <p:nvPr/>
          </p:nvSpPr>
          <p:spPr>
            <a:xfrm>
              <a:off x="6452695" y="288384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写回</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61" name="矩形 60"/>
            <p:cNvSpPr/>
            <p:nvPr/>
          </p:nvSpPr>
          <p:spPr>
            <a:xfrm>
              <a:off x="3478991" y="327309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取指令</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62" name="矩形 61"/>
            <p:cNvSpPr/>
            <p:nvPr/>
          </p:nvSpPr>
          <p:spPr>
            <a:xfrm>
              <a:off x="6452696" y="327309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访存</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63" name="矩形 62"/>
            <p:cNvSpPr/>
            <p:nvPr/>
          </p:nvSpPr>
          <p:spPr>
            <a:xfrm>
              <a:off x="5461460" y="327182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执行</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64" name="矩形 63"/>
            <p:cNvSpPr/>
            <p:nvPr/>
          </p:nvSpPr>
          <p:spPr>
            <a:xfrm>
              <a:off x="4470225" y="327182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译码</a:t>
              </a:r>
              <a:endParaRPr kumimoji="0" lang="en-US" altLang="zh-CN"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65" name="矩形 64"/>
            <p:cNvSpPr/>
            <p:nvPr/>
          </p:nvSpPr>
          <p:spPr>
            <a:xfrm>
              <a:off x="7443929" y="327119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写回</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66" name="矩形 65"/>
            <p:cNvSpPr/>
            <p:nvPr/>
          </p:nvSpPr>
          <p:spPr>
            <a:xfrm>
              <a:off x="4470225" y="366298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取指令</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67" name="矩形 66"/>
            <p:cNvSpPr/>
            <p:nvPr/>
          </p:nvSpPr>
          <p:spPr>
            <a:xfrm>
              <a:off x="7443930" y="366298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访存</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68" name="矩形 67"/>
            <p:cNvSpPr/>
            <p:nvPr/>
          </p:nvSpPr>
          <p:spPr>
            <a:xfrm>
              <a:off x="6452694" y="366171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执行</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69" name="矩形 68"/>
            <p:cNvSpPr/>
            <p:nvPr/>
          </p:nvSpPr>
          <p:spPr>
            <a:xfrm>
              <a:off x="5461459" y="366171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译码</a:t>
              </a:r>
              <a:endParaRPr kumimoji="0" lang="en-US" altLang="zh-CN"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70" name="矩形 69"/>
            <p:cNvSpPr/>
            <p:nvPr/>
          </p:nvSpPr>
          <p:spPr>
            <a:xfrm>
              <a:off x="8435163" y="366108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写回</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2" name="矩形 71"/>
            <p:cNvSpPr/>
            <p:nvPr/>
          </p:nvSpPr>
          <p:spPr>
            <a:xfrm>
              <a:off x="5461459" y="404462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取指令</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3" name="矩形 72"/>
            <p:cNvSpPr/>
            <p:nvPr/>
          </p:nvSpPr>
          <p:spPr>
            <a:xfrm>
              <a:off x="8435164" y="404462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访存</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4" name="矩形 73"/>
            <p:cNvSpPr/>
            <p:nvPr/>
          </p:nvSpPr>
          <p:spPr>
            <a:xfrm>
              <a:off x="7443928" y="404335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执行</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5" name="矩形 74"/>
            <p:cNvSpPr/>
            <p:nvPr/>
          </p:nvSpPr>
          <p:spPr>
            <a:xfrm>
              <a:off x="6452693" y="404335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译码</a:t>
              </a:r>
              <a:endParaRPr kumimoji="0" lang="en-US" altLang="zh-CN"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76" name="矩形 75"/>
            <p:cNvSpPr/>
            <p:nvPr/>
          </p:nvSpPr>
          <p:spPr>
            <a:xfrm>
              <a:off x="9426397" y="404271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写回</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7" name="矩形 76"/>
            <p:cNvSpPr/>
            <p:nvPr/>
          </p:nvSpPr>
          <p:spPr>
            <a:xfrm>
              <a:off x="6452693" y="4432605"/>
              <a:ext cx="991235" cy="385445"/>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取指令</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8" name="矩形 77"/>
            <p:cNvSpPr/>
            <p:nvPr/>
          </p:nvSpPr>
          <p:spPr>
            <a:xfrm>
              <a:off x="9426398" y="4432605"/>
              <a:ext cx="991235" cy="385869"/>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访存</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79" name="矩形 78"/>
            <p:cNvSpPr/>
            <p:nvPr/>
          </p:nvSpPr>
          <p:spPr>
            <a:xfrm>
              <a:off x="8435162" y="443133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执行</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80" name="矩形 79"/>
            <p:cNvSpPr/>
            <p:nvPr/>
          </p:nvSpPr>
          <p:spPr>
            <a:xfrm>
              <a:off x="7443927" y="443133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译码</a:t>
              </a:r>
              <a:endParaRPr kumimoji="0" lang="en-US" altLang="zh-CN" sz="20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81" name="矩形 80"/>
            <p:cNvSpPr/>
            <p:nvPr/>
          </p:nvSpPr>
          <p:spPr>
            <a:xfrm>
              <a:off x="10417631" y="443070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写回</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grpSp>
        <p:nvGrpSpPr>
          <p:cNvPr id="95" name="组合 94"/>
          <p:cNvGrpSpPr/>
          <p:nvPr/>
        </p:nvGrpSpPr>
        <p:grpSpPr>
          <a:xfrm>
            <a:off x="664438" y="3485956"/>
            <a:ext cx="2307099" cy="2081860"/>
            <a:chOff x="929998" y="2881883"/>
            <a:chExt cx="1557759" cy="2081860"/>
          </a:xfrm>
        </p:grpSpPr>
        <p:cxnSp>
          <p:nvCxnSpPr>
            <p:cNvPr id="24" name="直接箭头连接符 23"/>
            <p:cNvCxnSpPr/>
            <p:nvPr/>
          </p:nvCxnSpPr>
          <p:spPr>
            <a:xfrm flipH="1">
              <a:off x="929998" y="2881883"/>
              <a:ext cx="1" cy="208186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1083436" y="2881883"/>
              <a:ext cx="118515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ld</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x10,40(x1)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6" name="文本框 25"/>
            <p:cNvSpPr txBox="1"/>
            <p:nvPr/>
          </p:nvSpPr>
          <p:spPr>
            <a:xfrm>
              <a:off x="1084672" y="3310976"/>
              <a:ext cx="1255735"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sub x11,x2,x3</a:t>
              </a:r>
            </a:p>
          </p:txBody>
        </p:sp>
        <p:sp>
          <p:nvSpPr>
            <p:cNvPr id="27" name="文本框 26"/>
            <p:cNvSpPr txBox="1"/>
            <p:nvPr/>
          </p:nvSpPr>
          <p:spPr>
            <a:xfrm>
              <a:off x="1100569" y="4151394"/>
              <a:ext cx="118515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ld</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x13,48(x1)</a:t>
              </a:r>
            </a:p>
          </p:txBody>
        </p:sp>
        <p:sp>
          <p:nvSpPr>
            <p:cNvPr id="53" name="文本框 52"/>
            <p:cNvSpPr txBox="1"/>
            <p:nvPr/>
          </p:nvSpPr>
          <p:spPr>
            <a:xfrm>
              <a:off x="1085368" y="3735925"/>
              <a:ext cx="1293421"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add x12,x3,x4</a:t>
              </a:r>
            </a:p>
          </p:txBody>
        </p:sp>
        <p:sp>
          <p:nvSpPr>
            <p:cNvPr id="84" name="文本框 83"/>
            <p:cNvSpPr txBox="1"/>
            <p:nvPr/>
          </p:nvSpPr>
          <p:spPr>
            <a:xfrm>
              <a:off x="1084671" y="4512762"/>
              <a:ext cx="140308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add x14,x5,x6</a:t>
              </a:r>
            </a:p>
          </p:txBody>
        </p:sp>
      </p:grpSp>
      <p:sp>
        <p:nvSpPr>
          <p:cNvPr id="85" name="文本框 84"/>
          <p:cNvSpPr txBox="1"/>
          <p:nvPr/>
        </p:nvSpPr>
        <p:spPr>
          <a:xfrm>
            <a:off x="3962771" y="2106835"/>
            <a:ext cx="6096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CC2</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86" name="文本框 85"/>
          <p:cNvSpPr txBox="1"/>
          <p:nvPr/>
        </p:nvSpPr>
        <p:spPr>
          <a:xfrm>
            <a:off x="2971537" y="2106835"/>
            <a:ext cx="6096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CC1</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87" name="文本框 86"/>
          <p:cNvSpPr txBox="1"/>
          <p:nvPr/>
        </p:nvSpPr>
        <p:spPr>
          <a:xfrm>
            <a:off x="4954005" y="2106835"/>
            <a:ext cx="6096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CC3</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88" name="文本框 87"/>
          <p:cNvSpPr txBox="1"/>
          <p:nvPr/>
        </p:nvSpPr>
        <p:spPr>
          <a:xfrm>
            <a:off x="5939031" y="2106835"/>
            <a:ext cx="6096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CC4</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89" name="文本框 88"/>
          <p:cNvSpPr txBox="1"/>
          <p:nvPr/>
        </p:nvSpPr>
        <p:spPr>
          <a:xfrm>
            <a:off x="6936473" y="2106835"/>
            <a:ext cx="6096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CC5</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90" name="文本框 89"/>
          <p:cNvSpPr txBox="1"/>
          <p:nvPr/>
        </p:nvSpPr>
        <p:spPr>
          <a:xfrm>
            <a:off x="7927707" y="2106835"/>
            <a:ext cx="6096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CC6</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91" name="文本框 90"/>
          <p:cNvSpPr txBox="1"/>
          <p:nvPr/>
        </p:nvSpPr>
        <p:spPr>
          <a:xfrm>
            <a:off x="8920351" y="2106835"/>
            <a:ext cx="6096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CC7</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92" name="文本框 91"/>
          <p:cNvSpPr txBox="1"/>
          <p:nvPr/>
        </p:nvSpPr>
        <p:spPr>
          <a:xfrm>
            <a:off x="9970363" y="2102726"/>
            <a:ext cx="6096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CC8</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93" name="文本框 92"/>
          <p:cNvSpPr txBox="1"/>
          <p:nvPr/>
        </p:nvSpPr>
        <p:spPr>
          <a:xfrm>
            <a:off x="10900048" y="2099881"/>
            <a:ext cx="6096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CC9</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96" name="文本框 95"/>
          <p:cNvSpPr txBox="1"/>
          <p:nvPr/>
        </p:nvSpPr>
        <p:spPr>
          <a:xfrm>
            <a:off x="597980" y="2298115"/>
            <a:ext cx="2153351"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Program execution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order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(in instruction)</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 name="矩形 1"/>
          <p:cNvSpPr/>
          <p:nvPr/>
        </p:nvSpPr>
        <p:spPr>
          <a:xfrm>
            <a:off x="713487" y="1072363"/>
            <a:ext cx="4134465" cy="43088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2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rPr>
              <a:t>用矩形块来命名每个流水线阶段</a:t>
            </a:r>
            <a:endParaRPr kumimoji="0" lang="en-US" altLang="zh-CN" sz="22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838791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Rectangle 3"/>
          <p:cNvSpPr>
            <a:spLocks noGrp="1" noChangeArrowheads="1"/>
          </p:cNvSpPr>
          <p:nvPr>
            <p:ph idx="1"/>
          </p:nvPr>
        </p:nvSpPr>
        <p:spPr>
          <a:xfrm>
            <a:off x="838200" y="902009"/>
            <a:ext cx="10515600" cy="5263515"/>
          </a:xfrm>
        </p:spPr>
        <p:txBody>
          <a:bodyPr>
            <a:normAutofit/>
          </a:bodyPr>
          <a:lstStyle/>
          <a:p>
            <a:pPr eaLnBrk="1" hangingPunct="1">
              <a:lnSpc>
                <a:spcPct val="90000"/>
              </a:lnSpc>
            </a:pPr>
            <a:r>
              <a:rPr lang="zh-CN" altLang="en-US" sz="2800" dirty="0"/>
              <a:t>显示了给定周期中流水线的状态</a:t>
            </a:r>
            <a:endParaRPr lang="en-US" altLang="zh-CN" sz="2800" dirty="0"/>
          </a:p>
          <a:p>
            <a:pPr lvl="1" eaLnBrk="1" hangingPunct="1">
              <a:lnSpc>
                <a:spcPct val="90000"/>
              </a:lnSpc>
            </a:pPr>
            <a:r>
              <a:rPr lang="zh-CN" altLang="en-US" sz="2400" dirty="0"/>
              <a:t>单时钟周期图是多时钟周期图里一个时钟周期的垂直切片</a:t>
            </a:r>
            <a:endParaRPr lang="en-AU" altLang="en-US" sz="2400" dirty="0"/>
          </a:p>
        </p:txBody>
      </p:sp>
      <p:sp>
        <p:nvSpPr>
          <p:cNvPr id="121" name="标题 3"/>
          <p:cNvSpPr>
            <a:spLocks noGrp="1"/>
          </p:cNvSpPr>
          <p:nvPr>
            <p:ph type="title"/>
          </p:nvPr>
        </p:nvSpPr>
        <p:spPr/>
        <p:txBody>
          <a:bodyPr/>
          <a:lstStyle/>
          <a:p>
            <a:r>
              <a:rPr lang="zh-CN" altLang="en-US" dirty="0"/>
              <a:t>一个时钟周期下的流水线图 </a:t>
            </a:r>
            <a:r>
              <a:rPr lang="en-US" altLang="zh-CN" dirty="0"/>
              <a:t>(CC5)</a:t>
            </a:r>
            <a:endParaRPr lang="zh-CN" altLang="en-US" dirty="0"/>
          </a:p>
        </p:txBody>
      </p:sp>
      <p:grpSp>
        <p:nvGrpSpPr>
          <p:cNvPr id="138" name="组合 137"/>
          <p:cNvGrpSpPr/>
          <p:nvPr/>
        </p:nvGrpSpPr>
        <p:grpSpPr>
          <a:xfrm>
            <a:off x="634468" y="2363436"/>
            <a:ext cx="11253523" cy="4358440"/>
            <a:chOff x="634468" y="2363436"/>
            <a:chExt cx="11253523" cy="4358440"/>
          </a:xfrm>
        </p:grpSpPr>
        <p:grpSp>
          <p:nvGrpSpPr>
            <p:cNvPr id="139" name="Instruction memory"/>
            <p:cNvGrpSpPr/>
            <p:nvPr/>
          </p:nvGrpSpPr>
          <p:grpSpPr>
            <a:xfrm>
              <a:off x="2190719" y="4138365"/>
              <a:ext cx="1142439" cy="1017764"/>
              <a:chOff x="2263385" y="3407372"/>
              <a:chExt cx="1470915" cy="1193839"/>
            </a:xfrm>
          </p:grpSpPr>
          <p:sp>
            <p:nvSpPr>
              <p:cNvPr id="407" name="矩形 406"/>
              <p:cNvSpPr/>
              <p:nvPr/>
            </p:nvSpPr>
            <p:spPr>
              <a:xfrm>
                <a:off x="2333823" y="3448051"/>
                <a:ext cx="1400477" cy="11531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08" name="文本框 407"/>
              <p:cNvSpPr txBox="1"/>
              <p:nvPr/>
            </p:nvSpPr>
            <p:spPr>
              <a:xfrm>
                <a:off x="2263385" y="3407372"/>
                <a:ext cx="1319245"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15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40" name="PC"/>
            <p:cNvGrpSpPr/>
            <p:nvPr/>
          </p:nvGrpSpPr>
          <p:grpSpPr>
            <a:xfrm>
              <a:off x="1612553" y="3940651"/>
              <a:ext cx="508932" cy="707887"/>
              <a:chOff x="792726" y="4754327"/>
              <a:chExt cx="1018662" cy="607761"/>
            </a:xfrm>
          </p:grpSpPr>
          <p:sp>
            <p:nvSpPr>
              <p:cNvPr id="405" name="矩形 404"/>
              <p:cNvSpPr/>
              <p:nvPr/>
            </p:nvSpPr>
            <p:spPr>
              <a:xfrm>
                <a:off x="887030" y="4800600"/>
                <a:ext cx="639939" cy="50292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06" name="文本框 405"/>
              <p:cNvSpPr txBox="1"/>
              <p:nvPr/>
            </p:nvSpPr>
            <p:spPr>
              <a:xfrm>
                <a:off x="792726" y="4754327"/>
                <a:ext cx="1018662" cy="607761"/>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PC</a:t>
                </a:r>
                <a:endParaRPr kumimoji="0" lang="zh-CN" alt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41" name="Add"/>
            <p:cNvGrpSpPr/>
            <p:nvPr/>
          </p:nvGrpSpPr>
          <p:grpSpPr>
            <a:xfrm>
              <a:off x="2449297" y="2889823"/>
              <a:ext cx="655949" cy="822349"/>
              <a:chOff x="4656246" y="4140786"/>
              <a:chExt cx="743403" cy="964617"/>
            </a:xfrm>
          </p:grpSpPr>
          <p:sp>
            <p:nvSpPr>
              <p:cNvPr id="403" name="梯形 402"/>
              <p:cNvSpPr/>
              <p:nvPr/>
            </p:nvSpPr>
            <p:spPr>
              <a:xfrm rot="5400000">
                <a:off x="4538209" y="4329347"/>
                <a:ext cx="964617" cy="587495"/>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04" name="文本框 403"/>
              <p:cNvSpPr txBox="1"/>
              <p:nvPr/>
            </p:nvSpPr>
            <p:spPr>
              <a:xfrm>
                <a:off x="4656246" y="4371481"/>
                <a:ext cx="743403"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42" name="IF/ID"/>
            <p:cNvGrpSpPr/>
            <p:nvPr/>
          </p:nvGrpSpPr>
          <p:grpSpPr>
            <a:xfrm>
              <a:off x="3299900" y="2439254"/>
              <a:ext cx="797013" cy="4114272"/>
              <a:chOff x="116128" y="450828"/>
              <a:chExt cx="955165" cy="5944486"/>
            </a:xfrm>
          </p:grpSpPr>
          <p:sp>
            <p:nvSpPr>
              <p:cNvPr id="401" name="矩形 400"/>
              <p:cNvSpPr/>
              <p:nvPr/>
            </p:nvSpPr>
            <p:spPr>
              <a:xfrm>
                <a:off x="358141" y="937259"/>
                <a:ext cx="358140" cy="5458055"/>
              </a:xfrm>
              <a:prstGeom prst="rect">
                <a:avLst/>
              </a:prstGeom>
              <a:solidFill>
                <a:srgbClr val="9CDCF9"/>
              </a:solidFill>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02" name="文本框 401"/>
              <p:cNvSpPr txBox="1"/>
              <p:nvPr/>
            </p:nvSpPr>
            <p:spPr>
              <a:xfrm>
                <a:off x="116128" y="450828"/>
                <a:ext cx="955165" cy="578097"/>
              </a:xfrm>
              <a:prstGeom prst="rect">
                <a:avLst/>
              </a:prstGeom>
              <a:ln w="25400">
                <a:noFill/>
              </a:ln>
            </p:spPr>
            <p:style>
              <a:lnRef idx="1">
                <a:schemeClr val="accent1"/>
              </a:lnRef>
              <a:fillRef idx="0">
                <a:schemeClr val="accent1"/>
              </a:fillRef>
              <a:effectRef idx="0">
                <a:schemeClr val="accent1"/>
              </a:effectRef>
              <a:fontRef idx="minor">
                <a:schemeClr val="tx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IF/ID</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77" name="Registers"/>
            <p:cNvGrpSpPr/>
            <p:nvPr/>
          </p:nvGrpSpPr>
          <p:grpSpPr>
            <a:xfrm>
              <a:off x="4430052" y="3199918"/>
              <a:ext cx="1726163" cy="2568442"/>
              <a:chOff x="1920262" y="241327"/>
              <a:chExt cx="3106114" cy="3344105"/>
            </a:xfrm>
          </p:grpSpPr>
          <p:sp>
            <p:nvSpPr>
              <p:cNvPr id="393" name="矩形 392"/>
              <p:cNvSpPr/>
              <p:nvPr/>
            </p:nvSpPr>
            <p:spPr>
              <a:xfrm>
                <a:off x="2026387" y="320244"/>
                <a:ext cx="2772304" cy="3265188"/>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4" name="文本框 393"/>
              <p:cNvSpPr txBox="1"/>
              <p:nvPr/>
            </p:nvSpPr>
            <p:spPr>
              <a:xfrm>
                <a:off x="2121631" y="1515410"/>
                <a:ext cx="2149527" cy="52094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Registers</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5" name="文本框 394"/>
              <p:cNvSpPr txBox="1"/>
              <p:nvPr/>
            </p:nvSpPr>
            <p:spPr>
              <a:xfrm>
                <a:off x="1920789" y="241327"/>
                <a:ext cx="2611979"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6" name="文本框 395"/>
              <p:cNvSpPr txBox="1"/>
              <p:nvPr/>
            </p:nvSpPr>
            <p:spPr>
              <a:xfrm>
                <a:off x="1920262" y="740405"/>
                <a:ext cx="2450645"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7" name="文本框 396"/>
              <p:cNvSpPr txBox="1"/>
              <p:nvPr/>
            </p:nvSpPr>
            <p:spPr>
              <a:xfrm>
                <a:off x="1925707" y="2479303"/>
                <a:ext cx="2199198"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reg</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8" name="文本框 397"/>
              <p:cNvSpPr txBox="1"/>
              <p:nvPr/>
            </p:nvSpPr>
            <p:spPr>
              <a:xfrm>
                <a:off x="1938951" y="2943791"/>
                <a:ext cx="2364242"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9" name="文本框 398"/>
              <p:cNvSpPr txBox="1"/>
              <p:nvPr/>
            </p:nvSpPr>
            <p:spPr>
              <a:xfrm>
                <a:off x="2467221" y="1159239"/>
                <a:ext cx="2524881"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00" name="文本框 399"/>
              <p:cNvSpPr txBox="1"/>
              <p:nvPr/>
            </p:nvSpPr>
            <p:spPr>
              <a:xfrm>
                <a:off x="2431051" y="1920895"/>
                <a:ext cx="2595325" cy="520942"/>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78" name="Imm Gen"/>
            <p:cNvGrpSpPr/>
            <p:nvPr/>
          </p:nvGrpSpPr>
          <p:grpSpPr>
            <a:xfrm>
              <a:off x="5227674" y="5936049"/>
              <a:ext cx="658095" cy="538474"/>
              <a:chOff x="4868693" y="6172575"/>
              <a:chExt cx="992993" cy="1215294"/>
            </a:xfrm>
          </p:grpSpPr>
          <p:sp>
            <p:nvSpPr>
              <p:cNvPr id="391" name="椭圆 390"/>
              <p:cNvSpPr/>
              <p:nvPr/>
            </p:nvSpPr>
            <p:spPr>
              <a:xfrm>
                <a:off x="4868693" y="6172575"/>
                <a:ext cx="984044" cy="1146747"/>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2" name="文本框 391"/>
              <p:cNvSpPr txBox="1"/>
              <p:nvPr/>
            </p:nvSpPr>
            <p:spPr>
              <a:xfrm>
                <a:off x="4895397" y="6339596"/>
                <a:ext cx="966289" cy="104827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Imm</a:t>
                </a: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Gen</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79" name="Add Sum"/>
            <p:cNvGrpSpPr/>
            <p:nvPr/>
          </p:nvGrpSpPr>
          <p:grpSpPr>
            <a:xfrm>
              <a:off x="7719467" y="3017293"/>
              <a:ext cx="655949" cy="768090"/>
              <a:chOff x="5634620" y="2480764"/>
              <a:chExt cx="1081993" cy="1475010"/>
            </a:xfrm>
          </p:grpSpPr>
          <p:sp>
            <p:nvSpPr>
              <p:cNvPr id="389" name="梯形 388"/>
              <p:cNvSpPr/>
              <p:nvPr/>
            </p:nvSpPr>
            <p:spPr>
              <a:xfrm rot="5400000">
                <a:off x="5424366" y="2770445"/>
                <a:ext cx="1475010" cy="895647"/>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0" name="文本框 389"/>
              <p:cNvSpPr txBox="1"/>
              <p:nvPr/>
            </p:nvSpPr>
            <p:spPr>
              <a:xfrm>
                <a:off x="5634620" y="2851177"/>
                <a:ext cx="1081993" cy="93914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Sum</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80" name="ALU"/>
            <p:cNvGrpSpPr/>
            <p:nvPr/>
          </p:nvGrpSpPr>
          <p:grpSpPr>
            <a:xfrm>
              <a:off x="7646391" y="4044546"/>
              <a:ext cx="880667" cy="1454509"/>
              <a:chOff x="6023805" y="3618922"/>
              <a:chExt cx="1295157" cy="1704463"/>
            </a:xfrm>
          </p:grpSpPr>
          <p:sp>
            <p:nvSpPr>
              <p:cNvPr id="385" name="梯形 384"/>
              <p:cNvSpPr/>
              <p:nvPr/>
            </p:nvSpPr>
            <p:spPr>
              <a:xfrm rot="5400000">
                <a:off x="5805450" y="3911167"/>
                <a:ext cx="1704463" cy="1119974"/>
              </a:xfrm>
              <a:prstGeom prst="trapezoid">
                <a:avLst>
                  <a:gd name="adj" fmla="val 43158"/>
                </a:avLst>
              </a:prstGeom>
              <a:solidFill>
                <a:schemeClr val="bg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6" name="文本框 385"/>
              <p:cNvSpPr txBox="1"/>
              <p:nvPr/>
            </p:nvSpPr>
            <p:spPr>
              <a:xfrm>
                <a:off x="6023805" y="3779478"/>
                <a:ext cx="1070760"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ALU</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7" name="文本框 386"/>
              <p:cNvSpPr txBox="1"/>
              <p:nvPr/>
            </p:nvSpPr>
            <p:spPr>
              <a:xfrm>
                <a:off x="6212840" y="4596488"/>
                <a:ext cx="1106122" cy="347668"/>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result</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8" name="文本框 387"/>
              <p:cNvSpPr txBox="1"/>
              <p:nvPr/>
            </p:nvSpPr>
            <p:spPr>
              <a:xfrm>
                <a:off x="6276821" y="4080452"/>
                <a:ext cx="983534"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Zero</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81" name="shift left 1"/>
            <p:cNvGrpSpPr/>
            <p:nvPr/>
          </p:nvGrpSpPr>
          <p:grpSpPr>
            <a:xfrm>
              <a:off x="6667688" y="3169261"/>
              <a:ext cx="774571" cy="682474"/>
              <a:chOff x="6107415" y="4133981"/>
              <a:chExt cx="1189523" cy="1146746"/>
            </a:xfrm>
          </p:grpSpPr>
          <p:sp>
            <p:nvSpPr>
              <p:cNvPr id="383" name="椭圆 382"/>
              <p:cNvSpPr/>
              <p:nvPr/>
            </p:nvSpPr>
            <p:spPr>
              <a:xfrm>
                <a:off x="6161866" y="4133981"/>
                <a:ext cx="984043" cy="1146746"/>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4" name="文本框 383"/>
              <p:cNvSpPr txBox="1"/>
              <p:nvPr/>
            </p:nvSpPr>
            <p:spPr>
              <a:xfrm>
                <a:off x="6107415" y="4371720"/>
                <a:ext cx="1189523" cy="821732"/>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Shift </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left 1</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82" name="Mux 3"/>
            <p:cNvGrpSpPr/>
            <p:nvPr/>
          </p:nvGrpSpPr>
          <p:grpSpPr>
            <a:xfrm>
              <a:off x="11213520" y="5106295"/>
              <a:ext cx="596486" cy="1168007"/>
              <a:chOff x="3628473" y="5448300"/>
              <a:chExt cx="839025" cy="1230515"/>
            </a:xfrm>
          </p:grpSpPr>
          <p:sp>
            <p:nvSpPr>
              <p:cNvPr id="379" name="mux"/>
              <p:cNvSpPr/>
              <p:nvPr/>
            </p:nvSpPr>
            <p:spPr>
              <a:xfrm rot="5400000">
                <a:off x="3386121" y="5744398"/>
                <a:ext cx="1230515" cy="638319"/>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0" name="文本框 379"/>
              <p:cNvSpPr txBox="1"/>
              <p:nvPr/>
            </p:nvSpPr>
            <p:spPr>
              <a:xfrm>
                <a:off x="3628473" y="5492154"/>
                <a:ext cx="260679"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1" name="文本框 380"/>
              <p:cNvSpPr txBox="1"/>
              <p:nvPr/>
            </p:nvSpPr>
            <p:spPr>
              <a:xfrm>
                <a:off x="3641695" y="6293721"/>
                <a:ext cx="404061" cy="35667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2" name="文本框 381"/>
              <p:cNvSpPr txBox="1"/>
              <p:nvPr/>
            </p:nvSpPr>
            <p:spPr>
              <a:xfrm>
                <a:off x="3867268" y="5599309"/>
                <a:ext cx="600230" cy="1070017"/>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83" name="Data memory"/>
            <p:cNvGrpSpPr/>
            <p:nvPr/>
          </p:nvGrpSpPr>
          <p:grpSpPr>
            <a:xfrm>
              <a:off x="9233814" y="4289030"/>
              <a:ext cx="1417516" cy="1635472"/>
              <a:chOff x="14770965" y="4726326"/>
              <a:chExt cx="3011394" cy="3362560"/>
            </a:xfrm>
          </p:grpSpPr>
          <p:sp>
            <p:nvSpPr>
              <p:cNvPr id="374" name="矩形 373"/>
              <p:cNvSpPr/>
              <p:nvPr/>
            </p:nvSpPr>
            <p:spPr>
              <a:xfrm>
                <a:off x="14919092" y="4726326"/>
                <a:ext cx="2551866" cy="33625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75" name="文本框 374"/>
              <p:cNvSpPr txBox="1"/>
              <p:nvPr/>
            </p:nvSpPr>
            <p:spPr>
              <a:xfrm>
                <a:off x="14893548" y="4778415"/>
                <a:ext cx="2622003" cy="100548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Data </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memory</a:t>
                </a:r>
              </a:p>
            </p:txBody>
          </p:sp>
          <p:sp>
            <p:nvSpPr>
              <p:cNvPr id="376" name="文本框 375"/>
              <p:cNvSpPr txBox="1"/>
              <p:nvPr/>
            </p:nvSpPr>
            <p:spPr>
              <a:xfrm>
                <a:off x="14776597" y="5875439"/>
                <a:ext cx="2291814"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77" name="文本框 376"/>
              <p:cNvSpPr txBox="1"/>
              <p:nvPr/>
            </p:nvSpPr>
            <p:spPr>
              <a:xfrm>
                <a:off x="14770965" y="7263927"/>
                <a:ext cx="2654424"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78" name="文本框 377"/>
              <p:cNvSpPr txBox="1"/>
              <p:nvPr/>
            </p:nvSpPr>
            <p:spPr>
              <a:xfrm>
                <a:off x="15110098" y="6521639"/>
                <a:ext cx="2672261"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372" name="矩形 371"/>
            <p:cNvSpPr/>
            <p:nvPr/>
          </p:nvSpPr>
          <p:spPr>
            <a:xfrm>
              <a:off x="6335104" y="2783569"/>
              <a:ext cx="316009" cy="3769417"/>
            </a:xfrm>
            <a:prstGeom prst="rect">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70" name="矩形 369"/>
            <p:cNvSpPr/>
            <p:nvPr/>
          </p:nvSpPr>
          <p:spPr>
            <a:xfrm>
              <a:off x="8712849" y="2788319"/>
              <a:ext cx="291194" cy="3754340"/>
            </a:xfrm>
            <a:prstGeom prst="rect">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68" name="矩形 367"/>
            <p:cNvSpPr/>
            <p:nvPr/>
          </p:nvSpPr>
          <p:spPr>
            <a:xfrm>
              <a:off x="10714680" y="2774884"/>
              <a:ext cx="300877" cy="3767775"/>
            </a:xfrm>
            <a:prstGeom prst="rect">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287" name="直接连接符 286"/>
            <p:cNvCxnSpPr/>
            <p:nvPr/>
          </p:nvCxnSpPr>
          <p:spPr>
            <a:xfrm flipV="1">
              <a:off x="3800682" y="3099097"/>
              <a:ext cx="2534421" cy="109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8" name="直接连接符 287"/>
            <p:cNvCxnSpPr/>
            <p:nvPr/>
          </p:nvCxnSpPr>
          <p:spPr>
            <a:xfrm>
              <a:off x="1979387" y="4301121"/>
              <a:ext cx="25830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9" name="直接连接符 288"/>
            <p:cNvCxnSpPr>
              <a:stCxn id="407" idx="3"/>
              <a:endCxn id="401" idx="1"/>
            </p:cNvCxnSpPr>
            <p:nvPr/>
          </p:nvCxnSpPr>
          <p:spPr>
            <a:xfrm>
              <a:off x="3333158" y="4664587"/>
              <a:ext cx="168684" cy="1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0" name="直接连接符 289"/>
            <p:cNvCxnSpPr>
              <a:stCxn id="403" idx="0"/>
            </p:cNvCxnSpPr>
            <p:nvPr/>
          </p:nvCxnSpPr>
          <p:spPr>
            <a:xfrm flipV="1">
              <a:off x="3029909" y="3299110"/>
              <a:ext cx="82559" cy="18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1" name="直接连接符 290"/>
            <p:cNvCxnSpPr/>
            <p:nvPr/>
          </p:nvCxnSpPr>
          <p:spPr>
            <a:xfrm>
              <a:off x="2067991" y="3026005"/>
              <a:ext cx="43729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2" name="直接连接符 291"/>
            <p:cNvCxnSpPr/>
            <p:nvPr/>
          </p:nvCxnSpPr>
          <p:spPr>
            <a:xfrm flipH="1">
              <a:off x="2067991" y="3017293"/>
              <a:ext cx="3782" cy="1271738"/>
            </a:xfrm>
            <a:prstGeom prst="line">
              <a:avLst/>
            </a:prstGeom>
            <a:ln w="25400">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293" name="直接连接符 292"/>
            <p:cNvCxnSpPr/>
            <p:nvPr/>
          </p:nvCxnSpPr>
          <p:spPr>
            <a:xfrm>
              <a:off x="3103590" y="2609191"/>
              <a:ext cx="0" cy="6899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4" name="直接连接符 293"/>
            <p:cNvCxnSpPr>
              <a:stCxn id="389" idx="0"/>
            </p:cNvCxnSpPr>
            <p:nvPr/>
          </p:nvCxnSpPr>
          <p:spPr>
            <a:xfrm flipV="1">
              <a:off x="8310605" y="3401338"/>
              <a:ext cx="404306"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5" name="直接连接符 294"/>
            <p:cNvCxnSpPr/>
            <p:nvPr/>
          </p:nvCxnSpPr>
          <p:spPr>
            <a:xfrm>
              <a:off x="814466" y="2609191"/>
              <a:ext cx="22980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6" name="直接连接符 295"/>
            <p:cNvCxnSpPr/>
            <p:nvPr/>
          </p:nvCxnSpPr>
          <p:spPr>
            <a:xfrm>
              <a:off x="814466" y="2609191"/>
              <a:ext cx="0" cy="13869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7" name="直接连接符 296"/>
            <p:cNvCxnSpPr/>
            <p:nvPr/>
          </p:nvCxnSpPr>
          <p:spPr>
            <a:xfrm>
              <a:off x="4108924" y="3431061"/>
              <a:ext cx="409392"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8" name="直接连接符 297"/>
            <p:cNvCxnSpPr/>
            <p:nvPr/>
          </p:nvCxnSpPr>
          <p:spPr>
            <a:xfrm>
              <a:off x="4095667" y="3783912"/>
              <a:ext cx="395373"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99" name="直接连接符 298"/>
            <p:cNvCxnSpPr/>
            <p:nvPr/>
          </p:nvCxnSpPr>
          <p:spPr>
            <a:xfrm>
              <a:off x="6034275" y="4239432"/>
              <a:ext cx="30542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0" name="直接连接符 299"/>
            <p:cNvCxnSpPr/>
            <p:nvPr/>
          </p:nvCxnSpPr>
          <p:spPr>
            <a:xfrm>
              <a:off x="6034276" y="4680814"/>
              <a:ext cx="29581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1" name="直接连接符 300"/>
            <p:cNvCxnSpPr/>
            <p:nvPr/>
          </p:nvCxnSpPr>
          <p:spPr>
            <a:xfrm flipV="1">
              <a:off x="5882233" y="6173833"/>
              <a:ext cx="457463" cy="719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2" name="直接连接符 301"/>
            <p:cNvCxnSpPr/>
            <p:nvPr/>
          </p:nvCxnSpPr>
          <p:spPr>
            <a:xfrm>
              <a:off x="7373377" y="3523831"/>
              <a:ext cx="36100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3" name="直接连接符 302"/>
            <p:cNvCxnSpPr/>
            <p:nvPr/>
          </p:nvCxnSpPr>
          <p:spPr>
            <a:xfrm>
              <a:off x="6659620" y="4264963"/>
              <a:ext cx="103718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04" name="Mux 3"/>
            <p:cNvGrpSpPr/>
            <p:nvPr/>
          </p:nvGrpSpPr>
          <p:grpSpPr>
            <a:xfrm>
              <a:off x="944642" y="3784693"/>
              <a:ext cx="615567" cy="1168007"/>
              <a:chOff x="3339670" y="5460516"/>
              <a:chExt cx="901073" cy="1230515"/>
            </a:xfrm>
          </p:grpSpPr>
          <p:sp>
            <p:nvSpPr>
              <p:cNvPr id="364" name="mux"/>
              <p:cNvSpPr/>
              <p:nvPr/>
            </p:nvSpPr>
            <p:spPr>
              <a:xfrm rot="5400000">
                <a:off x="3140776" y="5731027"/>
                <a:ext cx="1230515" cy="689494"/>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65" name="文本框 364"/>
              <p:cNvSpPr txBox="1"/>
              <p:nvPr/>
            </p:nvSpPr>
            <p:spPr>
              <a:xfrm>
                <a:off x="3365437" y="5514581"/>
                <a:ext cx="260684"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66" name="文本框 365"/>
              <p:cNvSpPr txBox="1"/>
              <p:nvPr/>
            </p:nvSpPr>
            <p:spPr>
              <a:xfrm>
                <a:off x="3339670" y="6240974"/>
                <a:ext cx="324022"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67" name="文本框 366"/>
              <p:cNvSpPr txBox="1"/>
              <p:nvPr/>
            </p:nvSpPr>
            <p:spPr>
              <a:xfrm>
                <a:off x="3616106" y="5588478"/>
                <a:ext cx="624637" cy="107001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305" name="直接连接符 304"/>
            <p:cNvCxnSpPr/>
            <p:nvPr/>
          </p:nvCxnSpPr>
          <p:spPr>
            <a:xfrm>
              <a:off x="8465220" y="5003334"/>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6" name="直接连接符 305"/>
            <p:cNvCxnSpPr/>
            <p:nvPr/>
          </p:nvCxnSpPr>
          <p:spPr>
            <a:xfrm>
              <a:off x="9015906" y="5013299"/>
              <a:ext cx="28232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7" name="直接连接符 306"/>
            <p:cNvCxnSpPr/>
            <p:nvPr/>
          </p:nvCxnSpPr>
          <p:spPr>
            <a:xfrm>
              <a:off x="8995735" y="5628356"/>
              <a:ext cx="3068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8" name="直接连接符 307"/>
            <p:cNvCxnSpPr/>
            <p:nvPr/>
          </p:nvCxnSpPr>
          <p:spPr>
            <a:xfrm>
              <a:off x="10513961" y="5308140"/>
              <a:ext cx="20911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09" name="Mux 3"/>
            <p:cNvGrpSpPr/>
            <p:nvPr/>
          </p:nvGrpSpPr>
          <p:grpSpPr>
            <a:xfrm>
              <a:off x="7010916" y="4382167"/>
              <a:ext cx="482064" cy="1168006"/>
              <a:chOff x="3558568" y="5448300"/>
              <a:chExt cx="706348" cy="1230515"/>
            </a:xfrm>
          </p:grpSpPr>
          <p:sp>
            <p:nvSpPr>
              <p:cNvPr id="360" name="mux"/>
              <p:cNvSpPr/>
              <p:nvPr/>
            </p:nvSpPr>
            <p:spPr>
              <a:xfrm rot="5400000">
                <a:off x="3332723" y="5746622"/>
                <a:ext cx="1230515" cy="633871"/>
              </a:xfrm>
              <a:prstGeom prst="flowChartTerminator">
                <a:avLst/>
              </a:prstGeom>
              <a:solidFill>
                <a:schemeClr val="bg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61" name="文本框 360"/>
              <p:cNvSpPr txBox="1"/>
              <p:nvPr/>
            </p:nvSpPr>
            <p:spPr>
              <a:xfrm>
                <a:off x="3571052" y="5580627"/>
                <a:ext cx="260683"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62" name="文本框 361"/>
              <p:cNvSpPr txBox="1"/>
              <p:nvPr/>
            </p:nvSpPr>
            <p:spPr>
              <a:xfrm>
                <a:off x="3558568" y="6264229"/>
                <a:ext cx="408929" cy="34293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63" name="文本框 362"/>
              <p:cNvSpPr txBox="1"/>
              <p:nvPr/>
            </p:nvSpPr>
            <p:spPr>
              <a:xfrm>
                <a:off x="3747999" y="5579240"/>
                <a:ext cx="462611" cy="1070019"/>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310" name="直接连接符 309"/>
            <p:cNvCxnSpPr/>
            <p:nvPr/>
          </p:nvCxnSpPr>
          <p:spPr>
            <a:xfrm flipV="1">
              <a:off x="1472741" y="4294728"/>
              <a:ext cx="178001" cy="5"/>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1" name="直接连接符 310"/>
            <p:cNvCxnSpPr/>
            <p:nvPr/>
          </p:nvCxnSpPr>
          <p:spPr>
            <a:xfrm>
              <a:off x="2310755" y="3488211"/>
              <a:ext cx="18646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2" name="直接连接符 311"/>
            <p:cNvCxnSpPr/>
            <p:nvPr/>
          </p:nvCxnSpPr>
          <p:spPr>
            <a:xfrm>
              <a:off x="6659620" y="3093825"/>
              <a:ext cx="1083649" cy="7422"/>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3" name="直接连接符 312"/>
            <p:cNvCxnSpPr/>
            <p:nvPr/>
          </p:nvCxnSpPr>
          <p:spPr>
            <a:xfrm flipH="1">
              <a:off x="6882298" y="3836012"/>
              <a:ext cx="22498" cy="19552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4" name="直接连接符 313"/>
            <p:cNvCxnSpPr/>
            <p:nvPr/>
          </p:nvCxnSpPr>
          <p:spPr>
            <a:xfrm>
              <a:off x="6659620" y="5791262"/>
              <a:ext cx="24517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 name="直接连接符 314"/>
            <p:cNvCxnSpPr/>
            <p:nvPr/>
          </p:nvCxnSpPr>
          <p:spPr>
            <a:xfrm>
              <a:off x="6659620" y="4680814"/>
              <a:ext cx="40077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6" name="直接连接符 315"/>
            <p:cNvCxnSpPr/>
            <p:nvPr/>
          </p:nvCxnSpPr>
          <p:spPr>
            <a:xfrm>
              <a:off x="6894161" y="5336493"/>
              <a:ext cx="182537" cy="853"/>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17" name="直接连接符 316"/>
            <p:cNvCxnSpPr/>
            <p:nvPr/>
          </p:nvCxnSpPr>
          <p:spPr>
            <a:xfrm>
              <a:off x="6781324" y="5628354"/>
              <a:ext cx="1931532"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8" name="直接连接符 317"/>
            <p:cNvCxnSpPr/>
            <p:nvPr/>
          </p:nvCxnSpPr>
          <p:spPr>
            <a:xfrm>
              <a:off x="6781324" y="4680814"/>
              <a:ext cx="1766" cy="947540"/>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319" name="直接连接符 318"/>
            <p:cNvCxnSpPr/>
            <p:nvPr/>
          </p:nvCxnSpPr>
          <p:spPr>
            <a:xfrm>
              <a:off x="9116257" y="5009737"/>
              <a:ext cx="0" cy="1068388"/>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320" name="直接连接符 319"/>
            <p:cNvCxnSpPr/>
            <p:nvPr/>
          </p:nvCxnSpPr>
          <p:spPr>
            <a:xfrm flipV="1">
              <a:off x="9116257" y="6072326"/>
              <a:ext cx="1599091" cy="572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1" name="直接连接符 320"/>
            <p:cNvCxnSpPr/>
            <p:nvPr/>
          </p:nvCxnSpPr>
          <p:spPr>
            <a:xfrm>
              <a:off x="11006223" y="6061861"/>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2" name="直接连接符 321"/>
            <p:cNvCxnSpPr/>
            <p:nvPr/>
          </p:nvCxnSpPr>
          <p:spPr>
            <a:xfrm>
              <a:off x="7492981" y="5146566"/>
              <a:ext cx="21340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3" name="文本框 322"/>
            <p:cNvSpPr txBox="1"/>
            <p:nvPr/>
          </p:nvSpPr>
          <p:spPr>
            <a:xfrm>
              <a:off x="2047898" y="4689544"/>
              <a:ext cx="1500650" cy="48904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 memory</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324" name="直接连接符 323"/>
            <p:cNvCxnSpPr>
              <a:endCxn id="382" idx="3"/>
            </p:cNvCxnSpPr>
            <p:nvPr/>
          </p:nvCxnSpPr>
          <p:spPr>
            <a:xfrm>
              <a:off x="11677318" y="5729690"/>
              <a:ext cx="132688" cy="27775"/>
            </a:xfrm>
            <a:prstGeom prst="line">
              <a:avLst/>
            </a:prstGeom>
            <a:ln w="25400">
              <a:noFill/>
            </a:ln>
          </p:spPr>
          <p:style>
            <a:lnRef idx="1">
              <a:schemeClr val="accent1"/>
            </a:lnRef>
            <a:fillRef idx="0">
              <a:schemeClr val="accent1"/>
            </a:fillRef>
            <a:effectRef idx="0">
              <a:schemeClr val="accent1"/>
            </a:effectRef>
            <a:fontRef idx="minor">
              <a:schemeClr val="tx1"/>
            </a:fontRef>
          </p:style>
        </p:cxnSp>
        <p:cxnSp>
          <p:nvCxnSpPr>
            <p:cNvPr id="325" name="直接连接符 324"/>
            <p:cNvCxnSpPr/>
            <p:nvPr/>
          </p:nvCxnSpPr>
          <p:spPr>
            <a:xfrm flipH="1">
              <a:off x="11873585" y="5711600"/>
              <a:ext cx="14406" cy="9965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6" name="直接连接符 325"/>
            <p:cNvCxnSpPr/>
            <p:nvPr/>
          </p:nvCxnSpPr>
          <p:spPr>
            <a:xfrm>
              <a:off x="4241624" y="5413265"/>
              <a:ext cx="0" cy="13086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7" name="直接连接符 326"/>
            <p:cNvCxnSpPr/>
            <p:nvPr/>
          </p:nvCxnSpPr>
          <p:spPr>
            <a:xfrm>
              <a:off x="4238265" y="5413265"/>
              <a:ext cx="247455" cy="48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8" name="直接连接符 327"/>
            <p:cNvCxnSpPr/>
            <p:nvPr/>
          </p:nvCxnSpPr>
          <p:spPr>
            <a:xfrm>
              <a:off x="643799" y="2363436"/>
              <a:ext cx="89899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9" name="直接连接符 328"/>
            <p:cNvCxnSpPr/>
            <p:nvPr/>
          </p:nvCxnSpPr>
          <p:spPr>
            <a:xfrm>
              <a:off x="643799" y="2372479"/>
              <a:ext cx="0" cy="23336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0" name="直接连接符 329"/>
            <p:cNvCxnSpPr/>
            <p:nvPr/>
          </p:nvCxnSpPr>
          <p:spPr>
            <a:xfrm>
              <a:off x="802048" y="3994540"/>
              <a:ext cx="165348" cy="65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1" name="直接连接符 330"/>
            <p:cNvCxnSpPr/>
            <p:nvPr/>
          </p:nvCxnSpPr>
          <p:spPr>
            <a:xfrm>
              <a:off x="634468" y="4701765"/>
              <a:ext cx="332520"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2" name="直接连接符 331"/>
            <p:cNvCxnSpPr/>
            <p:nvPr/>
          </p:nvCxnSpPr>
          <p:spPr>
            <a:xfrm>
              <a:off x="9633770" y="2363436"/>
              <a:ext cx="0" cy="10197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3" name="直接连接符 332"/>
            <p:cNvCxnSpPr/>
            <p:nvPr/>
          </p:nvCxnSpPr>
          <p:spPr>
            <a:xfrm flipV="1">
              <a:off x="9007326" y="3391179"/>
              <a:ext cx="641869" cy="51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34" name="文本框 333"/>
            <p:cNvSpPr txBox="1"/>
            <p:nvPr/>
          </p:nvSpPr>
          <p:spPr>
            <a:xfrm>
              <a:off x="2030131" y="3297765"/>
              <a:ext cx="20135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4</a:t>
              </a:r>
              <a:endParaRPr kumimoji="0" lang="zh-CN" altLang="en-US"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cxnSp>
          <p:nvCxnSpPr>
            <p:cNvPr id="335" name="直接连接符 334"/>
            <p:cNvCxnSpPr/>
            <p:nvPr/>
          </p:nvCxnSpPr>
          <p:spPr>
            <a:xfrm>
              <a:off x="11725910" y="5711600"/>
              <a:ext cx="16208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36" name="直接连接符 335"/>
            <p:cNvCxnSpPr/>
            <p:nvPr/>
          </p:nvCxnSpPr>
          <p:spPr>
            <a:xfrm>
              <a:off x="4086929" y="3429000"/>
              <a:ext cx="0" cy="27611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7" name="直接连接符 336"/>
            <p:cNvCxnSpPr/>
            <p:nvPr/>
          </p:nvCxnSpPr>
          <p:spPr>
            <a:xfrm>
              <a:off x="8465220" y="4602738"/>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8" name="直接连接符 337"/>
            <p:cNvCxnSpPr/>
            <p:nvPr/>
          </p:nvCxnSpPr>
          <p:spPr>
            <a:xfrm>
              <a:off x="9006397" y="4602781"/>
              <a:ext cx="18594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9" name="连接符: 肘形 338"/>
            <p:cNvCxnSpPr/>
            <p:nvPr/>
          </p:nvCxnSpPr>
          <p:spPr>
            <a:xfrm flipV="1">
              <a:off x="2081957" y="3110011"/>
              <a:ext cx="1431289" cy="730238"/>
            </a:xfrm>
            <a:prstGeom prst="bentConnector3">
              <a:avLst>
                <a:gd name="adj1" fmla="val 82595"/>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40" name="文本框 339"/>
            <p:cNvSpPr txBox="1"/>
            <p:nvPr/>
          </p:nvSpPr>
          <p:spPr>
            <a:xfrm rot="10800000">
              <a:off x="3728559" y="2891210"/>
              <a:ext cx="430887" cy="1436503"/>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41" name="文本框 340"/>
            <p:cNvSpPr txBox="1"/>
            <p:nvPr/>
          </p:nvSpPr>
          <p:spPr>
            <a:xfrm>
              <a:off x="4657416" y="6204105"/>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32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42" name="文本框 341"/>
            <p:cNvSpPr txBox="1"/>
            <p:nvPr/>
          </p:nvSpPr>
          <p:spPr>
            <a:xfrm>
              <a:off x="5883301" y="6175828"/>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64</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343" name="直接连接符 342"/>
            <p:cNvCxnSpPr/>
            <p:nvPr/>
          </p:nvCxnSpPr>
          <p:spPr>
            <a:xfrm>
              <a:off x="4784174" y="6117706"/>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4" name="直接连接符 343"/>
            <p:cNvCxnSpPr/>
            <p:nvPr/>
          </p:nvCxnSpPr>
          <p:spPr>
            <a:xfrm>
              <a:off x="6012756" y="6112229"/>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5" name="直接连接符 344"/>
            <p:cNvCxnSpPr/>
            <p:nvPr/>
          </p:nvCxnSpPr>
          <p:spPr>
            <a:xfrm flipV="1">
              <a:off x="4228170" y="6708122"/>
              <a:ext cx="7659820" cy="137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6" name="直接连接符 345"/>
            <p:cNvCxnSpPr/>
            <p:nvPr/>
          </p:nvCxnSpPr>
          <p:spPr>
            <a:xfrm>
              <a:off x="11015554" y="5314205"/>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7" name="直接连接符 346"/>
            <p:cNvCxnSpPr/>
            <p:nvPr/>
          </p:nvCxnSpPr>
          <p:spPr>
            <a:xfrm>
              <a:off x="3800682" y="4672713"/>
              <a:ext cx="286247" cy="8101"/>
            </a:xfrm>
            <a:prstGeom prst="line">
              <a:avLst/>
            </a:prstGeom>
            <a:ln w="2540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348" name="直接连接符 347"/>
            <p:cNvCxnSpPr/>
            <p:nvPr/>
          </p:nvCxnSpPr>
          <p:spPr>
            <a:xfrm>
              <a:off x="4086929" y="6190349"/>
              <a:ext cx="1143140"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49" name="直接连接符 348"/>
            <p:cNvCxnSpPr/>
            <p:nvPr/>
          </p:nvCxnSpPr>
          <p:spPr>
            <a:xfrm>
              <a:off x="3941685" y="5072519"/>
              <a:ext cx="544035"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50" name="直接连接符 349"/>
            <p:cNvCxnSpPr/>
            <p:nvPr/>
          </p:nvCxnSpPr>
          <p:spPr>
            <a:xfrm>
              <a:off x="4085932" y="6190100"/>
              <a:ext cx="0" cy="25778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1" name="直接箭头连接符 350"/>
            <p:cNvCxnSpPr/>
            <p:nvPr/>
          </p:nvCxnSpPr>
          <p:spPr>
            <a:xfrm>
              <a:off x="4085932" y="6447889"/>
              <a:ext cx="22402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2" name="直接箭头连接符 351"/>
            <p:cNvCxnSpPr/>
            <p:nvPr/>
          </p:nvCxnSpPr>
          <p:spPr>
            <a:xfrm>
              <a:off x="6658814" y="6441029"/>
              <a:ext cx="203950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3" name="直接箭头连接符 352"/>
            <p:cNvCxnSpPr/>
            <p:nvPr/>
          </p:nvCxnSpPr>
          <p:spPr>
            <a:xfrm>
              <a:off x="9015906" y="6436332"/>
              <a:ext cx="168174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4" name="直接连接符 353"/>
            <p:cNvCxnSpPr/>
            <p:nvPr/>
          </p:nvCxnSpPr>
          <p:spPr>
            <a:xfrm flipV="1">
              <a:off x="11024432" y="6447889"/>
              <a:ext cx="236174"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5" name="直接连接符 354"/>
            <p:cNvCxnSpPr/>
            <p:nvPr/>
          </p:nvCxnSpPr>
          <p:spPr>
            <a:xfrm>
              <a:off x="11250223" y="6440530"/>
              <a:ext cx="0" cy="20123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6" name="直接箭头连接符 355"/>
            <p:cNvCxnSpPr/>
            <p:nvPr/>
          </p:nvCxnSpPr>
          <p:spPr>
            <a:xfrm flipH="1">
              <a:off x="3941685" y="6641769"/>
              <a:ext cx="7318921"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7" name="直接连接符 356"/>
            <p:cNvCxnSpPr/>
            <p:nvPr/>
          </p:nvCxnSpPr>
          <p:spPr>
            <a:xfrm>
              <a:off x="3954246" y="5072519"/>
              <a:ext cx="0" cy="15808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3" name="文本框 142"/>
          <p:cNvSpPr txBox="1"/>
          <p:nvPr/>
        </p:nvSpPr>
        <p:spPr>
          <a:xfrm>
            <a:off x="6044404" y="2444255"/>
            <a:ext cx="889000" cy="39878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ID/EX</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4" name="文本框 143"/>
          <p:cNvSpPr txBox="1"/>
          <p:nvPr/>
        </p:nvSpPr>
        <p:spPr>
          <a:xfrm>
            <a:off x="8230017" y="2391629"/>
            <a:ext cx="1256030" cy="39878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EX/MEM</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5" name="文本框 144"/>
          <p:cNvSpPr txBox="1"/>
          <p:nvPr/>
        </p:nvSpPr>
        <p:spPr>
          <a:xfrm>
            <a:off x="10208057" y="2405575"/>
            <a:ext cx="1326515" cy="39878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MEM/WB</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nvGrpSpPr>
          <p:cNvPr id="542" name="组合 541"/>
          <p:cNvGrpSpPr/>
          <p:nvPr/>
        </p:nvGrpSpPr>
        <p:grpSpPr>
          <a:xfrm>
            <a:off x="589782" y="1706429"/>
            <a:ext cx="3072647" cy="707886"/>
            <a:chOff x="1613177" y="1509972"/>
            <a:chExt cx="2034915" cy="707886"/>
          </a:xfrm>
        </p:grpSpPr>
        <p:cxnSp>
          <p:nvCxnSpPr>
            <p:cNvPr id="543" name="直接连接符 542"/>
            <p:cNvCxnSpPr/>
            <p:nvPr/>
          </p:nvCxnSpPr>
          <p:spPr>
            <a:xfrm>
              <a:off x="1659668"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4" name="直接连接符 543"/>
            <p:cNvCxnSpPr/>
            <p:nvPr/>
          </p:nvCxnSpPr>
          <p:spPr>
            <a:xfrm>
              <a:off x="3648092"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5" name="直接连接符 544"/>
            <p:cNvCxnSpPr/>
            <p:nvPr/>
          </p:nvCxnSpPr>
          <p:spPr>
            <a:xfrm>
              <a:off x="1659668" y="1838984"/>
              <a:ext cx="19856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46" name="文本框 545"/>
            <p:cNvSpPr txBox="1"/>
            <p:nvPr/>
          </p:nvSpPr>
          <p:spPr>
            <a:xfrm>
              <a:off x="1844193" y="1509972"/>
              <a:ext cx="1333583"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add x14,x5,x6</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47" name="文本框 546"/>
            <p:cNvSpPr txBox="1"/>
            <p:nvPr/>
          </p:nvSpPr>
          <p:spPr>
            <a:xfrm>
              <a:off x="1613177" y="1805797"/>
              <a:ext cx="203218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rPr>
                <a:t>Instruction fetch</a:t>
              </a:r>
              <a:endPar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grpSp>
        <p:nvGrpSpPr>
          <p:cNvPr id="548" name="组合 547"/>
          <p:cNvGrpSpPr/>
          <p:nvPr/>
        </p:nvGrpSpPr>
        <p:grpSpPr>
          <a:xfrm>
            <a:off x="3602184" y="1706429"/>
            <a:ext cx="2822939" cy="695935"/>
            <a:chOff x="1613177" y="1509972"/>
            <a:chExt cx="2034915" cy="695935"/>
          </a:xfrm>
        </p:grpSpPr>
        <p:cxnSp>
          <p:nvCxnSpPr>
            <p:cNvPr id="549" name="直接连接符 548"/>
            <p:cNvCxnSpPr/>
            <p:nvPr/>
          </p:nvCxnSpPr>
          <p:spPr>
            <a:xfrm>
              <a:off x="1659668"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0" name="直接连接符 549"/>
            <p:cNvCxnSpPr/>
            <p:nvPr/>
          </p:nvCxnSpPr>
          <p:spPr>
            <a:xfrm>
              <a:off x="3648092"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1" name="直接连接符 550"/>
            <p:cNvCxnSpPr/>
            <p:nvPr/>
          </p:nvCxnSpPr>
          <p:spPr>
            <a:xfrm>
              <a:off x="1659668" y="1838984"/>
              <a:ext cx="19856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52" name="文本框 551"/>
            <p:cNvSpPr txBox="1"/>
            <p:nvPr/>
          </p:nvSpPr>
          <p:spPr>
            <a:xfrm>
              <a:off x="2127256" y="1509972"/>
              <a:ext cx="122293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ld</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x13,48,x1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53" name="文本框 552"/>
            <p:cNvSpPr txBox="1"/>
            <p:nvPr/>
          </p:nvSpPr>
          <p:spPr>
            <a:xfrm>
              <a:off x="1613177" y="1805797"/>
              <a:ext cx="203218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rPr>
                <a:t>Instruction decode</a:t>
              </a:r>
              <a:endPar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grpSp>
        <p:nvGrpSpPr>
          <p:cNvPr id="554" name="组合 553"/>
          <p:cNvGrpSpPr/>
          <p:nvPr/>
        </p:nvGrpSpPr>
        <p:grpSpPr>
          <a:xfrm>
            <a:off x="6363591" y="1706429"/>
            <a:ext cx="2501725" cy="695935"/>
            <a:chOff x="1613177" y="1509972"/>
            <a:chExt cx="2034915" cy="695935"/>
          </a:xfrm>
        </p:grpSpPr>
        <p:cxnSp>
          <p:nvCxnSpPr>
            <p:cNvPr id="555" name="直接连接符 554"/>
            <p:cNvCxnSpPr/>
            <p:nvPr/>
          </p:nvCxnSpPr>
          <p:spPr>
            <a:xfrm>
              <a:off x="1659668"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6" name="直接连接符 555"/>
            <p:cNvCxnSpPr/>
            <p:nvPr/>
          </p:nvCxnSpPr>
          <p:spPr>
            <a:xfrm>
              <a:off x="3648092"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7" name="直接连接符 556"/>
            <p:cNvCxnSpPr/>
            <p:nvPr/>
          </p:nvCxnSpPr>
          <p:spPr>
            <a:xfrm>
              <a:off x="1659668" y="1838984"/>
              <a:ext cx="19856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58" name="文本框 557"/>
            <p:cNvSpPr txBox="1"/>
            <p:nvPr/>
          </p:nvSpPr>
          <p:spPr>
            <a:xfrm>
              <a:off x="1879885" y="1509972"/>
              <a:ext cx="148211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add x12,x3,x4</a:t>
              </a:r>
            </a:p>
          </p:txBody>
        </p:sp>
        <p:sp>
          <p:nvSpPr>
            <p:cNvPr id="559" name="文本框 558"/>
            <p:cNvSpPr txBox="1"/>
            <p:nvPr/>
          </p:nvSpPr>
          <p:spPr>
            <a:xfrm>
              <a:off x="1613177" y="1805797"/>
              <a:ext cx="203218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rPr>
                <a:t>Execution</a:t>
              </a:r>
              <a:endPar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grpSp>
        <p:nvGrpSpPr>
          <p:cNvPr id="560" name="组合 559"/>
          <p:cNvGrpSpPr/>
          <p:nvPr/>
        </p:nvGrpSpPr>
        <p:grpSpPr>
          <a:xfrm>
            <a:off x="8811059" y="1706429"/>
            <a:ext cx="2014918" cy="695935"/>
            <a:chOff x="1613177" y="1509972"/>
            <a:chExt cx="2034915" cy="695935"/>
          </a:xfrm>
        </p:grpSpPr>
        <p:cxnSp>
          <p:nvCxnSpPr>
            <p:cNvPr id="561" name="直接连接符 560"/>
            <p:cNvCxnSpPr/>
            <p:nvPr/>
          </p:nvCxnSpPr>
          <p:spPr>
            <a:xfrm>
              <a:off x="1659668"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2" name="直接连接符 561"/>
            <p:cNvCxnSpPr/>
            <p:nvPr/>
          </p:nvCxnSpPr>
          <p:spPr>
            <a:xfrm>
              <a:off x="3648092"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3" name="直接连接符 562"/>
            <p:cNvCxnSpPr/>
            <p:nvPr/>
          </p:nvCxnSpPr>
          <p:spPr>
            <a:xfrm>
              <a:off x="1659668" y="1838984"/>
              <a:ext cx="19856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64" name="文本框 563"/>
            <p:cNvSpPr txBox="1"/>
            <p:nvPr/>
          </p:nvSpPr>
          <p:spPr>
            <a:xfrm>
              <a:off x="1711076" y="1509972"/>
              <a:ext cx="184018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sub x11,x2,x3</a:t>
              </a:r>
            </a:p>
          </p:txBody>
        </p:sp>
        <p:sp>
          <p:nvSpPr>
            <p:cNvPr id="565" name="文本框 564"/>
            <p:cNvSpPr txBox="1"/>
            <p:nvPr/>
          </p:nvSpPr>
          <p:spPr>
            <a:xfrm>
              <a:off x="1613177" y="1805797"/>
              <a:ext cx="203218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rPr>
                <a:t>Memory</a:t>
              </a:r>
              <a:endPar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grpSp>
        <p:nvGrpSpPr>
          <p:cNvPr id="566" name="组合 565"/>
          <p:cNvGrpSpPr/>
          <p:nvPr/>
        </p:nvGrpSpPr>
        <p:grpSpPr>
          <a:xfrm>
            <a:off x="10651329" y="1706429"/>
            <a:ext cx="1601629" cy="665157"/>
            <a:chOff x="1375456" y="1509972"/>
            <a:chExt cx="2703526" cy="665157"/>
          </a:xfrm>
        </p:grpSpPr>
        <p:cxnSp>
          <p:nvCxnSpPr>
            <p:cNvPr id="567" name="直接连接符 566"/>
            <p:cNvCxnSpPr/>
            <p:nvPr/>
          </p:nvCxnSpPr>
          <p:spPr>
            <a:xfrm>
              <a:off x="1659668"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8" name="直接连接符 567"/>
            <p:cNvCxnSpPr/>
            <p:nvPr/>
          </p:nvCxnSpPr>
          <p:spPr>
            <a:xfrm>
              <a:off x="3648092"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9" name="直接连接符 568"/>
            <p:cNvCxnSpPr/>
            <p:nvPr/>
          </p:nvCxnSpPr>
          <p:spPr>
            <a:xfrm>
              <a:off x="1659668" y="1838984"/>
              <a:ext cx="19856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70" name="文本框 569"/>
            <p:cNvSpPr txBox="1"/>
            <p:nvPr/>
          </p:nvSpPr>
          <p:spPr>
            <a:xfrm>
              <a:off x="1375456" y="1509972"/>
              <a:ext cx="270352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ld</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x10,40(x1)</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71" name="文本框 570"/>
            <p:cNvSpPr txBox="1"/>
            <p:nvPr/>
          </p:nvSpPr>
          <p:spPr>
            <a:xfrm>
              <a:off x="1613177" y="1805797"/>
              <a:ext cx="20321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rPr>
                <a:t>Write-back</a:t>
              </a:r>
              <a:endParaRPr kumimoji="0" lang="zh-CN" altLang="en-US" sz="18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66" name="组合 165">
            <a:extLst>
              <a:ext uri="{FF2B5EF4-FFF2-40B4-BE49-F238E27FC236}">
                <a16:creationId xmlns:a16="http://schemas.microsoft.com/office/drawing/2014/main" id="{3F3B9EAD-9B2D-42E3-B86C-62E7599DD3F1}"/>
              </a:ext>
            </a:extLst>
          </p:cNvPr>
          <p:cNvGrpSpPr/>
          <p:nvPr/>
        </p:nvGrpSpPr>
        <p:grpSpPr>
          <a:xfrm>
            <a:off x="3468611" y="6314774"/>
            <a:ext cx="7434958" cy="598293"/>
            <a:chOff x="3410633" y="5559064"/>
            <a:chExt cx="7434958" cy="598293"/>
          </a:xfrm>
        </p:grpSpPr>
        <p:grpSp>
          <p:nvGrpSpPr>
            <p:cNvPr id="167" name="组合 166">
              <a:extLst>
                <a:ext uri="{FF2B5EF4-FFF2-40B4-BE49-F238E27FC236}">
                  <a16:creationId xmlns:a16="http://schemas.microsoft.com/office/drawing/2014/main" id="{BAEB8A01-FA70-4CCC-9EE6-61C3AB0FEE99}"/>
                </a:ext>
              </a:extLst>
            </p:cNvPr>
            <p:cNvGrpSpPr/>
            <p:nvPr/>
          </p:nvGrpSpPr>
          <p:grpSpPr>
            <a:xfrm>
              <a:off x="3410633" y="5695692"/>
              <a:ext cx="635647" cy="461665"/>
              <a:chOff x="7329414" y="6140940"/>
              <a:chExt cx="635647" cy="461665"/>
            </a:xfrm>
          </p:grpSpPr>
          <p:sp>
            <p:nvSpPr>
              <p:cNvPr id="180" name="等腰三角形 179">
                <a:extLst>
                  <a:ext uri="{FF2B5EF4-FFF2-40B4-BE49-F238E27FC236}">
                    <a16:creationId xmlns:a16="http://schemas.microsoft.com/office/drawing/2014/main" id="{61C79C00-5794-404A-BB02-01E5042B19B7}"/>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1" name="直接连接符 180">
                <a:extLst>
                  <a:ext uri="{FF2B5EF4-FFF2-40B4-BE49-F238E27FC236}">
                    <a16:creationId xmlns:a16="http://schemas.microsoft.com/office/drawing/2014/main" id="{B02108BA-3167-4F3B-926A-F6DFF40E1DE4}"/>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82" name="文本框 181">
                <a:extLst>
                  <a:ext uri="{FF2B5EF4-FFF2-40B4-BE49-F238E27FC236}">
                    <a16:creationId xmlns:a16="http://schemas.microsoft.com/office/drawing/2014/main" id="{734E53D2-117E-4921-9527-4B358A2D0359}"/>
                  </a:ext>
                </a:extLst>
              </p:cNvPr>
              <p:cNvSpPr txBox="1"/>
              <p:nvPr/>
            </p:nvSpPr>
            <p:spPr>
              <a:xfrm>
                <a:off x="7329414" y="614094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68" name="组合 167">
              <a:extLst>
                <a:ext uri="{FF2B5EF4-FFF2-40B4-BE49-F238E27FC236}">
                  <a16:creationId xmlns:a16="http://schemas.microsoft.com/office/drawing/2014/main" id="{FC18D4E2-7623-4CD1-B83C-61970A5861CA}"/>
                </a:ext>
              </a:extLst>
            </p:cNvPr>
            <p:cNvGrpSpPr/>
            <p:nvPr/>
          </p:nvGrpSpPr>
          <p:grpSpPr>
            <a:xfrm>
              <a:off x="6396597" y="5559064"/>
              <a:ext cx="788177" cy="461665"/>
              <a:chOff x="7477067" y="6010643"/>
              <a:chExt cx="788177" cy="461665"/>
            </a:xfrm>
          </p:grpSpPr>
          <p:sp>
            <p:nvSpPr>
              <p:cNvPr id="177" name="等腰三角形 176">
                <a:extLst>
                  <a:ext uri="{FF2B5EF4-FFF2-40B4-BE49-F238E27FC236}">
                    <a16:creationId xmlns:a16="http://schemas.microsoft.com/office/drawing/2014/main" id="{370976C9-335F-4DA3-8026-368524FCE7A0}"/>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8" name="直接连接符 177">
                <a:extLst>
                  <a:ext uri="{FF2B5EF4-FFF2-40B4-BE49-F238E27FC236}">
                    <a16:creationId xmlns:a16="http://schemas.microsoft.com/office/drawing/2014/main" id="{3D30CC51-7D5A-451A-A06D-8A60BDD89A4F}"/>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79" name="文本框 178">
                <a:extLst>
                  <a:ext uri="{FF2B5EF4-FFF2-40B4-BE49-F238E27FC236}">
                    <a16:creationId xmlns:a16="http://schemas.microsoft.com/office/drawing/2014/main" id="{76C480C1-E344-47BF-A64F-D3C487165D64}"/>
                  </a:ext>
                </a:extLst>
              </p:cNvPr>
              <p:cNvSpPr txBox="1"/>
              <p:nvPr/>
            </p:nvSpPr>
            <p:spPr>
              <a:xfrm>
                <a:off x="7629597" y="60106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69" name="组合 168">
              <a:extLst>
                <a:ext uri="{FF2B5EF4-FFF2-40B4-BE49-F238E27FC236}">
                  <a16:creationId xmlns:a16="http://schemas.microsoft.com/office/drawing/2014/main" id="{8CEAC8C4-7E9A-438F-ACD0-EB487DD21A02}"/>
                </a:ext>
              </a:extLst>
            </p:cNvPr>
            <p:cNvGrpSpPr/>
            <p:nvPr/>
          </p:nvGrpSpPr>
          <p:grpSpPr>
            <a:xfrm>
              <a:off x="8158160" y="5582758"/>
              <a:ext cx="683324" cy="461665"/>
              <a:chOff x="6873426" y="6042078"/>
              <a:chExt cx="683324" cy="461665"/>
            </a:xfrm>
          </p:grpSpPr>
          <p:sp>
            <p:nvSpPr>
              <p:cNvPr id="174" name="等腰三角形 173">
                <a:extLst>
                  <a:ext uri="{FF2B5EF4-FFF2-40B4-BE49-F238E27FC236}">
                    <a16:creationId xmlns:a16="http://schemas.microsoft.com/office/drawing/2014/main" id="{8138471B-D47B-43F8-812D-A2E262AACA1F}"/>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5" name="直接连接符 174">
                <a:extLst>
                  <a:ext uri="{FF2B5EF4-FFF2-40B4-BE49-F238E27FC236}">
                    <a16:creationId xmlns:a16="http://schemas.microsoft.com/office/drawing/2014/main" id="{25228F49-39A2-475A-813C-0050D99D8F7F}"/>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76" name="文本框 175">
                <a:extLst>
                  <a:ext uri="{FF2B5EF4-FFF2-40B4-BE49-F238E27FC236}">
                    <a16:creationId xmlns:a16="http://schemas.microsoft.com/office/drawing/2014/main" id="{971F06FF-571A-4895-A5F2-3C4F1E900A69}"/>
                  </a:ext>
                </a:extLst>
              </p:cNvPr>
              <p:cNvSpPr txBox="1"/>
              <p:nvPr/>
            </p:nvSpPr>
            <p:spPr>
              <a:xfrm>
                <a:off x="6873426" y="6042078"/>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0" name="组合 169">
              <a:extLst>
                <a:ext uri="{FF2B5EF4-FFF2-40B4-BE49-F238E27FC236}">
                  <a16:creationId xmlns:a16="http://schemas.microsoft.com/office/drawing/2014/main" id="{3FBE8CF0-BA14-4841-900A-E2E5B9B9BDEB}"/>
                </a:ext>
              </a:extLst>
            </p:cNvPr>
            <p:cNvGrpSpPr/>
            <p:nvPr/>
          </p:nvGrpSpPr>
          <p:grpSpPr>
            <a:xfrm>
              <a:off x="10150079" y="5578378"/>
              <a:ext cx="695512" cy="461665"/>
              <a:chOff x="6861238" y="6032632"/>
              <a:chExt cx="695512" cy="461665"/>
            </a:xfrm>
          </p:grpSpPr>
          <p:sp>
            <p:nvSpPr>
              <p:cNvPr id="171" name="等腰三角形 170">
                <a:extLst>
                  <a:ext uri="{FF2B5EF4-FFF2-40B4-BE49-F238E27FC236}">
                    <a16:creationId xmlns:a16="http://schemas.microsoft.com/office/drawing/2014/main" id="{81EBD4BD-7E0E-4622-8612-DF85C43DCFD1}"/>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2" name="直接连接符 171">
                <a:extLst>
                  <a:ext uri="{FF2B5EF4-FFF2-40B4-BE49-F238E27FC236}">
                    <a16:creationId xmlns:a16="http://schemas.microsoft.com/office/drawing/2014/main" id="{AD450621-7251-4659-A591-81C4AF844255}"/>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73" name="文本框 172">
                <a:extLst>
                  <a:ext uri="{FF2B5EF4-FFF2-40B4-BE49-F238E27FC236}">
                    <a16:creationId xmlns:a16="http://schemas.microsoft.com/office/drawing/2014/main" id="{86F07294-2E98-4F7A-9E58-81B9DAC6F363}"/>
                  </a:ext>
                </a:extLst>
              </p:cNvPr>
              <p:cNvSpPr txBox="1"/>
              <p:nvPr/>
            </p:nvSpPr>
            <p:spPr>
              <a:xfrm>
                <a:off x="6861238" y="6032632"/>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sp>
        <p:nvSpPr>
          <p:cNvPr id="2" name="矩形 1"/>
          <p:cNvSpPr/>
          <p:nvPr/>
        </p:nvSpPr>
        <p:spPr>
          <a:xfrm>
            <a:off x="196768" y="5219652"/>
            <a:ext cx="3047280" cy="1477328"/>
          </a:xfrm>
          <a:prstGeom prst="rect">
            <a:avLst/>
          </a:prstGeom>
          <a:ln w="28575"/>
        </p:spPr>
        <p:style>
          <a:lnRef idx="2">
            <a:schemeClr val="accent3"/>
          </a:lnRef>
          <a:fillRef idx="1">
            <a:schemeClr val="lt1"/>
          </a:fillRef>
          <a:effectRef idx="0">
            <a:schemeClr val="accent3"/>
          </a:effectRef>
          <a:fontRef idx="minor">
            <a:schemeClr val="dk1"/>
          </a:fontRef>
        </p:style>
        <p:txBody>
          <a:bodyPr wrap="square">
            <a:spAutoFit/>
          </a:bodyPr>
          <a:lstStyle/>
          <a:p>
            <a:r>
              <a:rPr lang="zh-CN" altLang="en-US" dirty="0"/>
              <a:t>计算机并不知道提取的是哪一种指令，因此，它必须为任何一种指令做好准备，将所有可能有用的信息沿流水线传递出去</a:t>
            </a:r>
          </a:p>
        </p:txBody>
      </p:sp>
    </p:spTree>
    <p:extLst>
      <p:ext uri="{BB962C8B-B14F-4D97-AF65-F5344CB8AC3E}">
        <p14:creationId xmlns:p14="http://schemas.microsoft.com/office/powerpoint/2010/main" val="2063168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3"/>
          <p:cNvSpPr>
            <a:spLocks noGrp="1" noChangeArrowheads="1"/>
          </p:cNvSpPr>
          <p:nvPr>
            <p:ph idx="1"/>
          </p:nvPr>
        </p:nvSpPr>
        <p:spPr>
          <a:xfrm>
            <a:off x="838200" y="911736"/>
            <a:ext cx="10515600" cy="5263515"/>
          </a:xfrm>
        </p:spPr>
        <p:txBody>
          <a:bodyPr>
            <a:normAutofit/>
          </a:bodyPr>
          <a:lstStyle/>
          <a:p>
            <a:pPr eaLnBrk="1" hangingPunct="1"/>
            <a:r>
              <a:rPr lang="zh-CN" altLang="en-US" dirty="0"/>
              <a:t>控制信号从指令中产生，与单周期实现相似</a:t>
            </a:r>
            <a:endParaRPr lang="en-US" altLang="zh-CN" dirty="0"/>
          </a:p>
          <a:p>
            <a:pPr eaLnBrk="1" hangingPunct="1"/>
            <a:r>
              <a:rPr lang="zh-CN" altLang="en-US" dirty="0"/>
              <a:t>根据流水线阶段将控制线也进行分组</a:t>
            </a:r>
            <a:endParaRPr lang="en-US" altLang="zh-CN" dirty="0"/>
          </a:p>
          <a:p>
            <a:pPr lvl="1"/>
            <a:r>
              <a:rPr lang="en-US" altLang="zh-CN" dirty="0"/>
              <a:t>IF</a:t>
            </a:r>
            <a:r>
              <a:rPr lang="zh-CN" altLang="en-US" dirty="0"/>
              <a:t>和</a:t>
            </a:r>
            <a:r>
              <a:rPr lang="en-US" altLang="zh-CN" dirty="0"/>
              <a:t>ID</a:t>
            </a:r>
            <a:r>
              <a:rPr lang="zh-CN" altLang="en-US" dirty="0"/>
              <a:t>阶段没有需要特别控制的内容</a:t>
            </a:r>
            <a:endParaRPr lang="en-US" altLang="en-US" dirty="0"/>
          </a:p>
        </p:txBody>
      </p:sp>
      <p:sp>
        <p:nvSpPr>
          <p:cNvPr id="2" name="灯片编号占位符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4" name="标题 3"/>
          <p:cNvSpPr>
            <a:spLocks noGrp="1"/>
          </p:cNvSpPr>
          <p:nvPr>
            <p:ph type="title"/>
          </p:nvPr>
        </p:nvSpPr>
        <p:spPr/>
        <p:txBody>
          <a:bodyPr/>
          <a:lstStyle/>
          <a:p>
            <a:r>
              <a:rPr lang="zh-CN" altLang="en-US" dirty="0"/>
              <a:t>流水线控制</a:t>
            </a:r>
          </a:p>
        </p:txBody>
      </p:sp>
      <p:grpSp>
        <p:nvGrpSpPr>
          <p:cNvPr id="5" name="组合 4"/>
          <p:cNvGrpSpPr/>
          <p:nvPr/>
        </p:nvGrpSpPr>
        <p:grpSpPr>
          <a:xfrm>
            <a:off x="993668" y="2749411"/>
            <a:ext cx="6682764" cy="4108589"/>
            <a:chOff x="2336693" y="2619820"/>
            <a:chExt cx="6682764" cy="4108589"/>
          </a:xfrm>
        </p:grpSpPr>
        <p:sp>
          <p:nvSpPr>
            <p:cNvPr id="3" name="矩形 2"/>
            <p:cNvSpPr/>
            <p:nvPr/>
          </p:nvSpPr>
          <p:spPr>
            <a:xfrm>
              <a:off x="2497238" y="4454554"/>
              <a:ext cx="334861" cy="1817976"/>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等线"/>
                <a:ea typeface="+mn-ea"/>
                <a:cs typeface="+mn-cs"/>
              </a:endParaRPr>
            </a:p>
          </p:txBody>
        </p:sp>
        <p:sp>
          <p:nvSpPr>
            <p:cNvPr id="7" name="椭圆 6"/>
            <p:cNvSpPr/>
            <p:nvPr/>
          </p:nvSpPr>
          <p:spPr>
            <a:xfrm>
              <a:off x="3108937" y="2619820"/>
              <a:ext cx="796954" cy="1747365"/>
            </a:xfrm>
            <a:prstGeom prst="ellipse">
              <a:avLst/>
            </a:prstGeom>
            <a:solidFill>
              <a:schemeClr val="bg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w="0"/>
                <a:solidFill>
                  <a:prstClr val="black"/>
                </a:solidFill>
                <a:effectLst>
                  <a:outerShdw blurRad="38100" dist="19050" dir="2700000" algn="tl" rotWithShape="0">
                    <a:prstClr val="black">
                      <a:alpha val="40000"/>
                    </a:prstClr>
                  </a:outerShdw>
                </a:effectLst>
                <a:uLnTx/>
                <a:uFillTx/>
                <a:latin typeface="Times New Roman" panose="02020603050405020304" pitchFamily="18" charset="0"/>
                <a:ea typeface="+mn-ea"/>
                <a:cs typeface="Times New Roman" panose="02020603050405020304" pitchFamily="18" charset="0"/>
              </a:endParaRPr>
            </a:p>
          </p:txBody>
        </p:sp>
        <p:cxnSp>
          <p:nvCxnSpPr>
            <p:cNvPr id="12" name="连接符: 肘形 11"/>
            <p:cNvCxnSpPr>
              <a:stCxn id="3" idx="3"/>
              <a:endCxn id="7" idx="2"/>
            </p:cNvCxnSpPr>
            <p:nvPr/>
          </p:nvCxnSpPr>
          <p:spPr>
            <a:xfrm flipV="1">
              <a:off x="2832099" y="3493503"/>
              <a:ext cx="276838" cy="1870039"/>
            </a:xfrm>
            <a:prstGeom prst="bentConnector3">
              <a:avLst/>
            </a:prstGeom>
            <a:ln w="254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4" name="矩形 13"/>
            <p:cNvSpPr/>
            <p:nvPr/>
          </p:nvSpPr>
          <p:spPr>
            <a:xfrm>
              <a:off x="4342817" y="4454554"/>
              <a:ext cx="360727" cy="1817976"/>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等线"/>
                <a:ea typeface="+mn-ea"/>
                <a:cs typeface="+mn-cs"/>
              </a:endParaRPr>
            </a:p>
          </p:txBody>
        </p:sp>
        <p:sp>
          <p:nvSpPr>
            <p:cNvPr id="19" name="矩形 18"/>
            <p:cNvSpPr/>
            <p:nvPr/>
          </p:nvSpPr>
          <p:spPr>
            <a:xfrm>
              <a:off x="6143474" y="4454554"/>
              <a:ext cx="360727" cy="1817976"/>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等线"/>
                <a:ea typeface="+mn-ea"/>
                <a:cs typeface="+mn-cs"/>
              </a:endParaRPr>
            </a:p>
          </p:txBody>
        </p:sp>
        <p:sp>
          <p:nvSpPr>
            <p:cNvPr id="20" name="矩形 19"/>
            <p:cNvSpPr/>
            <p:nvPr/>
          </p:nvSpPr>
          <p:spPr>
            <a:xfrm>
              <a:off x="7944131" y="4454554"/>
              <a:ext cx="360727" cy="1817976"/>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等线"/>
                <a:ea typeface="+mn-ea"/>
                <a:cs typeface="+mn-cs"/>
              </a:endParaRPr>
            </a:p>
          </p:txBody>
        </p:sp>
        <p:sp>
          <p:nvSpPr>
            <p:cNvPr id="21" name="矩形 20"/>
            <p:cNvSpPr/>
            <p:nvPr/>
          </p:nvSpPr>
          <p:spPr>
            <a:xfrm>
              <a:off x="4342817" y="3800213"/>
              <a:ext cx="360727" cy="654341"/>
            </a:xfrm>
            <a:prstGeom prst="rect">
              <a:avLst/>
            </a:prstGeom>
            <a:solidFill>
              <a:schemeClr val="bg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22" name="矩形 21"/>
            <p:cNvSpPr/>
            <p:nvPr/>
          </p:nvSpPr>
          <p:spPr>
            <a:xfrm>
              <a:off x="4342815" y="3145871"/>
              <a:ext cx="360727" cy="654341"/>
            </a:xfrm>
            <a:prstGeom prst="rect">
              <a:avLst/>
            </a:prstGeom>
            <a:solidFill>
              <a:schemeClr val="bg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a:t>
              </a:r>
            </a:p>
          </p:txBody>
        </p:sp>
        <p:sp>
          <p:nvSpPr>
            <p:cNvPr id="23" name="矩形 22"/>
            <p:cNvSpPr/>
            <p:nvPr/>
          </p:nvSpPr>
          <p:spPr>
            <a:xfrm>
              <a:off x="4342816" y="2619820"/>
              <a:ext cx="360727" cy="526052"/>
            </a:xfrm>
            <a:prstGeom prst="rect">
              <a:avLst/>
            </a:prstGeom>
            <a:solidFill>
              <a:schemeClr val="bg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等线"/>
                <a:ea typeface="+mn-ea"/>
                <a:cs typeface="+mn-cs"/>
              </a:endParaRPr>
            </a:p>
          </p:txBody>
        </p:sp>
        <p:sp>
          <p:nvSpPr>
            <p:cNvPr id="17" name="文本框 16"/>
            <p:cNvSpPr txBox="1"/>
            <p:nvPr/>
          </p:nvSpPr>
          <p:spPr>
            <a:xfrm>
              <a:off x="4232950" y="2747313"/>
              <a:ext cx="59824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WB</a:t>
              </a:r>
            </a:p>
          </p:txBody>
        </p:sp>
        <p:sp>
          <p:nvSpPr>
            <p:cNvPr id="25" name="矩形 24"/>
            <p:cNvSpPr/>
            <p:nvPr/>
          </p:nvSpPr>
          <p:spPr>
            <a:xfrm>
              <a:off x="6143474" y="3800213"/>
              <a:ext cx="360727" cy="654341"/>
            </a:xfrm>
            <a:prstGeom prst="rect">
              <a:avLst/>
            </a:prstGeom>
            <a:solidFill>
              <a:schemeClr val="bg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a:t>
              </a:r>
            </a:p>
          </p:txBody>
        </p:sp>
        <p:sp>
          <p:nvSpPr>
            <p:cNvPr id="27" name="矩形 26"/>
            <p:cNvSpPr/>
            <p:nvPr/>
          </p:nvSpPr>
          <p:spPr>
            <a:xfrm>
              <a:off x="6143474" y="3145871"/>
              <a:ext cx="360727" cy="646161"/>
            </a:xfrm>
            <a:prstGeom prst="rect">
              <a:avLst/>
            </a:prstGeom>
            <a:solidFill>
              <a:schemeClr val="bg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等线"/>
                <a:ea typeface="+mn-ea"/>
                <a:cs typeface="+mn-cs"/>
              </a:endParaRPr>
            </a:p>
          </p:txBody>
        </p:sp>
        <p:sp>
          <p:nvSpPr>
            <p:cNvPr id="28" name="文本框 27"/>
            <p:cNvSpPr txBox="1"/>
            <p:nvPr/>
          </p:nvSpPr>
          <p:spPr>
            <a:xfrm>
              <a:off x="6060269" y="3326408"/>
              <a:ext cx="59824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WB</a:t>
              </a:r>
            </a:p>
          </p:txBody>
        </p:sp>
        <p:sp>
          <p:nvSpPr>
            <p:cNvPr id="29" name="矩形 28"/>
            <p:cNvSpPr/>
            <p:nvPr/>
          </p:nvSpPr>
          <p:spPr>
            <a:xfrm>
              <a:off x="7944130" y="3808810"/>
              <a:ext cx="360727" cy="646161"/>
            </a:xfrm>
            <a:prstGeom prst="rect">
              <a:avLst/>
            </a:prstGeom>
            <a:solidFill>
              <a:schemeClr val="bg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等线"/>
                <a:ea typeface="+mn-ea"/>
                <a:cs typeface="+mn-cs"/>
              </a:endParaRPr>
            </a:p>
          </p:txBody>
        </p:sp>
        <p:sp>
          <p:nvSpPr>
            <p:cNvPr id="30" name="文本框 29"/>
            <p:cNvSpPr txBox="1"/>
            <p:nvPr/>
          </p:nvSpPr>
          <p:spPr>
            <a:xfrm>
              <a:off x="7823845" y="3928383"/>
              <a:ext cx="59824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WB</a:t>
              </a:r>
            </a:p>
          </p:txBody>
        </p:sp>
        <p:cxnSp>
          <p:nvCxnSpPr>
            <p:cNvPr id="34" name="直接箭头连接符 33"/>
            <p:cNvCxnSpPr/>
            <p:nvPr/>
          </p:nvCxnSpPr>
          <p:spPr>
            <a:xfrm>
              <a:off x="3730421" y="2747313"/>
              <a:ext cx="612394" cy="0"/>
            </a:xfrm>
            <a:prstGeom prst="straightConnector1">
              <a:avLst/>
            </a:prstGeom>
            <a:ln w="25400">
              <a:solidFill>
                <a:srgbClr val="00B0F0"/>
              </a:solidFill>
              <a:tailEnd type="triangle"/>
            </a:ln>
          </p:spPr>
          <p:style>
            <a:lnRef idx="1">
              <a:schemeClr val="dk1"/>
            </a:lnRef>
            <a:fillRef idx="0">
              <a:schemeClr val="dk1"/>
            </a:fillRef>
            <a:effectRef idx="0">
              <a:schemeClr val="dk1"/>
            </a:effectRef>
            <a:fontRef idx="minor">
              <a:schemeClr val="tx1"/>
            </a:fontRef>
          </p:style>
        </p:cxnSp>
        <p:cxnSp>
          <p:nvCxnSpPr>
            <p:cNvPr id="36" name="直接箭头连接符 35"/>
            <p:cNvCxnSpPr/>
            <p:nvPr/>
          </p:nvCxnSpPr>
          <p:spPr>
            <a:xfrm>
              <a:off x="3822700" y="3024312"/>
              <a:ext cx="520115" cy="0"/>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a:off x="3905891" y="3326408"/>
              <a:ext cx="436924" cy="0"/>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a:off x="3905891" y="3712464"/>
              <a:ext cx="436924" cy="0"/>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a:off x="3905891" y="3493503"/>
              <a:ext cx="439606" cy="0"/>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a:off x="3822700" y="3928383"/>
              <a:ext cx="520115" cy="0"/>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7889" name="直接箭头连接符 37888"/>
            <p:cNvCxnSpPr>
              <a:stCxn id="7" idx="5"/>
            </p:cNvCxnSpPr>
            <p:nvPr/>
          </p:nvCxnSpPr>
          <p:spPr>
            <a:xfrm flipV="1">
              <a:off x="3789180" y="4110687"/>
              <a:ext cx="557829" cy="602"/>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7895" name="连接符: 肘形 37894"/>
            <p:cNvCxnSpPr/>
            <p:nvPr/>
          </p:nvCxnSpPr>
          <p:spPr>
            <a:xfrm>
              <a:off x="4711931" y="2747313"/>
              <a:ext cx="1431543" cy="516050"/>
            </a:xfrm>
            <a:prstGeom prst="bentConnector3">
              <a:avLst>
                <a:gd name="adj1" fmla="val 8223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7911" name="连接符: 肘形 37910"/>
            <p:cNvCxnSpPr/>
            <p:nvPr/>
          </p:nvCxnSpPr>
          <p:spPr>
            <a:xfrm>
              <a:off x="4703542" y="3024312"/>
              <a:ext cx="1439932" cy="551605"/>
            </a:xfrm>
            <a:prstGeom prst="bentConnector3">
              <a:avLst>
                <a:gd name="adj1" fmla="val 73886"/>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7914" name="连接符: 肘形 37913"/>
            <p:cNvCxnSpPr/>
            <p:nvPr/>
          </p:nvCxnSpPr>
          <p:spPr>
            <a:xfrm>
              <a:off x="4711931" y="3295643"/>
              <a:ext cx="1431543" cy="651029"/>
            </a:xfrm>
            <a:prstGeom prst="bentConnector3">
              <a:avLst>
                <a:gd name="adj1" fmla="val 66994"/>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7917" name="连接符: 肘形 37916"/>
            <p:cNvCxnSpPr>
              <a:endCxn id="25" idx="1"/>
            </p:cNvCxnSpPr>
            <p:nvPr/>
          </p:nvCxnSpPr>
          <p:spPr>
            <a:xfrm>
              <a:off x="4707735" y="3493502"/>
              <a:ext cx="1435739" cy="633882"/>
            </a:xfrm>
            <a:prstGeom prst="bentConnector3">
              <a:avLst>
                <a:gd name="adj1" fmla="val 61686"/>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7920" name="连接符: 肘形 37919"/>
            <p:cNvCxnSpPr/>
            <p:nvPr/>
          </p:nvCxnSpPr>
          <p:spPr>
            <a:xfrm>
              <a:off x="4705637" y="3697475"/>
              <a:ext cx="1437834" cy="610619"/>
            </a:xfrm>
            <a:prstGeom prst="bentConnector3">
              <a:avLst>
                <a:gd name="adj1" fmla="val 56418"/>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7923" name="连接符: 肘形 37922"/>
            <p:cNvCxnSpPr/>
            <p:nvPr/>
          </p:nvCxnSpPr>
          <p:spPr>
            <a:xfrm>
              <a:off x="6504201" y="3326408"/>
              <a:ext cx="1439929" cy="620264"/>
            </a:xfrm>
            <a:prstGeom prst="bentConnector3">
              <a:avLst>
                <a:gd name="adj1" fmla="val 81460"/>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7928" name="连接符: 肘形 37927"/>
            <p:cNvCxnSpPr/>
            <p:nvPr/>
          </p:nvCxnSpPr>
          <p:spPr>
            <a:xfrm>
              <a:off x="6504201" y="3636540"/>
              <a:ext cx="1403726" cy="568842"/>
            </a:xfrm>
            <a:prstGeom prst="bentConnector3">
              <a:avLst>
                <a:gd name="adj1" fmla="val 75100"/>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37932" name="文本框 37931"/>
            <p:cNvSpPr txBox="1"/>
            <p:nvPr/>
          </p:nvSpPr>
          <p:spPr>
            <a:xfrm>
              <a:off x="2336693" y="6272530"/>
              <a:ext cx="75373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IF/ID</a:t>
              </a:r>
            </a:p>
          </p:txBody>
        </p:sp>
        <p:sp>
          <p:nvSpPr>
            <p:cNvPr id="37933" name="文本框 37932"/>
            <p:cNvSpPr txBox="1"/>
            <p:nvPr/>
          </p:nvSpPr>
          <p:spPr>
            <a:xfrm>
              <a:off x="4131697" y="6328299"/>
              <a:ext cx="9144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ID/EX</a:t>
              </a:r>
            </a:p>
          </p:txBody>
        </p:sp>
        <p:sp>
          <p:nvSpPr>
            <p:cNvPr id="37934" name="文本框 37933"/>
            <p:cNvSpPr txBox="1"/>
            <p:nvPr/>
          </p:nvSpPr>
          <p:spPr>
            <a:xfrm>
              <a:off x="5791200" y="6303295"/>
              <a:ext cx="122275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EX/MEM</a:t>
              </a:r>
            </a:p>
          </p:txBody>
        </p:sp>
        <p:sp>
          <p:nvSpPr>
            <p:cNvPr id="37935" name="文本框 37934"/>
            <p:cNvSpPr txBox="1"/>
            <p:nvPr/>
          </p:nvSpPr>
          <p:spPr>
            <a:xfrm>
              <a:off x="7604968" y="6264065"/>
              <a:ext cx="1414489"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MEM/WB</a:t>
              </a:r>
            </a:p>
          </p:txBody>
        </p:sp>
        <p:cxnSp>
          <p:nvCxnSpPr>
            <p:cNvPr id="6" name="直接连接符 5"/>
            <p:cNvCxnSpPr/>
            <p:nvPr/>
          </p:nvCxnSpPr>
          <p:spPr>
            <a:xfrm>
              <a:off x="4695156" y="3928383"/>
              <a:ext cx="226502"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4853967" y="3744642"/>
              <a:ext cx="34657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等线"/>
                  <a:ea typeface="+mn-ea"/>
                  <a:cs typeface="+mn-cs"/>
                </a:rPr>
                <a:t>…</a:t>
              </a:r>
            </a:p>
          </p:txBody>
        </p:sp>
        <p:cxnSp>
          <p:nvCxnSpPr>
            <p:cNvPr id="51" name="直接连接符 50"/>
            <p:cNvCxnSpPr/>
            <p:nvPr/>
          </p:nvCxnSpPr>
          <p:spPr>
            <a:xfrm>
              <a:off x="4696554" y="4105950"/>
              <a:ext cx="226502"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4855365" y="3922209"/>
              <a:ext cx="34657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等线"/>
                  <a:ea typeface="+mn-ea"/>
                  <a:cs typeface="+mn-cs"/>
                </a:rPr>
                <a:t>…</a:t>
              </a:r>
            </a:p>
          </p:txBody>
        </p:sp>
        <p:cxnSp>
          <p:nvCxnSpPr>
            <p:cNvPr id="53" name="直接连接符 52"/>
            <p:cNvCxnSpPr/>
            <p:nvPr/>
          </p:nvCxnSpPr>
          <p:spPr>
            <a:xfrm>
              <a:off x="6500189" y="3954948"/>
              <a:ext cx="226502"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6659000" y="3771207"/>
              <a:ext cx="34657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等线"/>
                  <a:ea typeface="+mn-ea"/>
                  <a:cs typeface="+mn-cs"/>
                </a:rPr>
                <a:t>…</a:t>
              </a:r>
            </a:p>
          </p:txBody>
        </p:sp>
        <p:cxnSp>
          <p:nvCxnSpPr>
            <p:cNvPr id="55" name="直接连接符 54"/>
            <p:cNvCxnSpPr/>
            <p:nvPr/>
          </p:nvCxnSpPr>
          <p:spPr>
            <a:xfrm>
              <a:off x="6508578" y="4131117"/>
              <a:ext cx="226502"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6667389" y="3947376"/>
              <a:ext cx="34657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等线"/>
                  <a:ea typeface="+mn-ea"/>
                  <a:cs typeface="+mn-cs"/>
                </a:rPr>
                <a:t>…</a:t>
              </a:r>
            </a:p>
          </p:txBody>
        </p:sp>
        <p:cxnSp>
          <p:nvCxnSpPr>
            <p:cNvPr id="57" name="直接连接符 56"/>
            <p:cNvCxnSpPr/>
            <p:nvPr/>
          </p:nvCxnSpPr>
          <p:spPr>
            <a:xfrm>
              <a:off x="6508578" y="4315675"/>
              <a:ext cx="226502"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58" name="文本框 57"/>
            <p:cNvSpPr txBox="1"/>
            <p:nvPr/>
          </p:nvSpPr>
          <p:spPr>
            <a:xfrm>
              <a:off x="6667389" y="4131934"/>
              <a:ext cx="34657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等线"/>
                  <a:ea typeface="+mn-ea"/>
                  <a:cs typeface="+mn-cs"/>
                </a:rPr>
                <a:t>…</a:t>
              </a:r>
            </a:p>
          </p:txBody>
        </p:sp>
        <p:cxnSp>
          <p:nvCxnSpPr>
            <p:cNvPr id="59" name="直接连接符 58"/>
            <p:cNvCxnSpPr/>
            <p:nvPr/>
          </p:nvCxnSpPr>
          <p:spPr>
            <a:xfrm>
              <a:off x="8303824" y="3954948"/>
              <a:ext cx="226502"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a:xfrm>
              <a:off x="8462635" y="3771207"/>
              <a:ext cx="34657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等线"/>
                  <a:ea typeface="+mn-ea"/>
                  <a:cs typeface="+mn-cs"/>
                </a:rPr>
                <a:t>…</a:t>
              </a:r>
            </a:p>
          </p:txBody>
        </p:sp>
        <p:cxnSp>
          <p:nvCxnSpPr>
            <p:cNvPr id="61" name="直接连接符 60"/>
            <p:cNvCxnSpPr/>
            <p:nvPr/>
          </p:nvCxnSpPr>
          <p:spPr>
            <a:xfrm>
              <a:off x="8312213" y="4198229"/>
              <a:ext cx="226502"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62" name="文本框 61"/>
            <p:cNvSpPr txBox="1"/>
            <p:nvPr/>
          </p:nvSpPr>
          <p:spPr>
            <a:xfrm>
              <a:off x="8471024" y="4014488"/>
              <a:ext cx="34657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等线"/>
                  <a:ea typeface="+mn-ea"/>
                  <a:cs typeface="+mn-cs"/>
                </a:rPr>
                <a:t>…</a:t>
              </a:r>
            </a:p>
          </p:txBody>
        </p:sp>
        <p:sp>
          <p:nvSpPr>
            <p:cNvPr id="13" name="文本框 12"/>
            <p:cNvSpPr txBox="1"/>
            <p:nvPr/>
          </p:nvSpPr>
          <p:spPr>
            <a:xfrm>
              <a:off x="3036782" y="3267208"/>
              <a:ext cx="966931"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Control</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5" name="文本框 14"/>
            <p:cNvSpPr txBox="1"/>
            <p:nvPr/>
          </p:nvSpPr>
          <p:spPr>
            <a:xfrm>
              <a:off x="4304434" y="3937803"/>
              <a:ext cx="52770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EX</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pSp>
      <p:sp>
        <p:nvSpPr>
          <p:cNvPr id="8" name="文本框 7"/>
          <p:cNvSpPr txBox="1"/>
          <p:nvPr/>
        </p:nvSpPr>
        <p:spPr>
          <a:xfrm>
            <a:off x="346519" y="3766131"/>
            <a:ext cx="1239029" cy="646331"/>
          </a:xfrm>
          <a:prstGeom prst="rect">
            <a:avLst/>
          </a:prstGeom>
          <a:noFill/>
        </p:spPr>
        <p:txBody>
          <a:bodyPr wrap="square" rtlCol="0">
            <a:spAutoFit/>
          </a:bodyPr>
          <a:lstStyle/>
          <a:p>
            <a:r>
              <a:rPr lang="en-US" altLang="zh-CN" dirty="0"/>
              <a:t>op</a:t>
            </a:r>
            <a:r>
              <a:rPr lang="zh-CN" altLang="en-US" dirty="0"/>
              <a:t>、</a:t>
            </a:r>
            <a:r>
              <a:rPr lang="en-US" altLang="zh-CN" dirty="0"/>
              <a:t>func3</a:t>
            </a:r>
            <a:r>
              <a:rPr lang="zh-CN" altLang="en-US" dirty="0"/>
              <a:t>、</a:t>
            </a:r>
            <a:r>
              <a:rPr lang="en-US" altLang="zh-CN" dirty="0"/>
              <a:t>func7</a:t>
            </a:r>
            <a:endParaRPr lang="zh-CN" altLang="en-US" dirty="0"/>
          </a:p>
        </p:txBody>
      </p:sp>
      <p:grpSp>
        <p:nvGrpSpPr>
          <p:cNvPr id="33" name="组合 32"/>
          <p:cNvGrpSpPr/>
          <p:nvPr/>
        </p:nvGrpSpPr>
        <p:grpSpPr>
          <a:xfrm>
            <a:off x="6998035" y="3798849"/>
            <a:ext cx="1193465" cy="570991"/>
            <a:chOff x="6998035" y="3798849"/>
            <a:chExt cx="1193465" cy="570991"/>
          </a:xfrm>
        </p:grpSpPr>
        <p:sp>
          <p:nvSpPr>
            <p:cNvPr id="63" name="文本框 62"/>
            <p:cNvSpPr txBox="1"/>
            <p:nvPr/>
          </p:nvSpPr>
          <p:spPr>
            <a:xfrm>
              <a:off x="6998035" y="3798849"/>
              <a:ext cx="1193465" cy="323165"/>
            </a:xfrm>
            <a:prstGeom prst="rect">
              <a:avLst/>
            </a:prstGeom>
            <a:noFill/>
          </p:spPr>
          <p:txBody>
            <a:bodyPr wrap="square" rtlCol="0">
              <a:spAutoFit/>
            </a:bodyPr>
            <a:lstStyle/>
            <a:p>
              <a:r>
                <a:rPr lang="en-US" altLang="zh-CN" sz="1500" dirty="0" err="1">
                  <a:solidFill>
                    <a:srgbClr val="00B050"/>
                  </a:solidFill>
                  <a:latin typeface="Times New Roman" panose="02020603050405020304" pitchFamily="18" charset="0"/>
                  <a:cs typeface="Times New Roman" panose="02020603050405020304" pitchFamily="18" charset="0"/>
                </a:rPr>
                <a:t>MemtoReg</a:t>
              </a:r>
              <a:endParaRPr lang="zh-CN" altLang="en-US" sz="1500" dirty="0">
                <a:solidFill>
                  <a:srgbClr val="00B050"/>
                </a:solidFill>
                <a:latin typeface="Times New Roman" panose="02020603050405020304" pitchFamily="18" charset="0"/>
                <a:cs typeface="Times New Roman" panose="02020603050405020304" pitchFamily="18" charset="0"/>
              </a:endParaRPr>
            </a:p>
          </p:txBody>
        </p:sp>
        <p:sp>
          <p:nvSpPr>
            <p:cNvPr id="64" name="文本框 63"/>
            <p:cNvSpPr txBox="1"/>
            <p:nvPr/>
          </p:nvSpPr>
          <p:spPr>
            <a:xfrm>
              <a:off x="6998035" y="4046675"/>
              <a:ext cx="1011197" cy="323165"/>
            </a:xfrm>
            <a:prstGeom prst="rect">
              <a:avLst/>
            </a:prstGeom>
            <a:noFill/>
          </p:spPr>
          <p:txBody>
            <a:bodyPr wrap="square" rtlCol="0">
              <a:spAutoFit/>
            </a:bodyPr>
            <a:lstStyle/>
            <a:p>
              <a:r>
                <a:rPr lang="en-US" altLang="zh-CN" sz="1500" dirty="0" err="1">
                  <a:solidFill>
                    <a:srgbClr val="00B050"/>
                  </a:solidFill>
                  <a:latin typeface="Times New Roman" panose="02020603050405020304" pitchFamily="18" charset="0"/>
                  <a:cs typeface="Times New Roman" panose="02020603050405020304" pitchFamily="18" charset="0"/>
                </a:rPr>
                <a:t>Regwrite</a:t>
              </a:r>
              <a:endParaRPr lang="zh-CN" altLang="en-US" sz="1500" dirty="0">
                <a:solidFill>
                  <a:srgbClr val="00B050"/>
                </a:solidFill>
                <a:latin typeface="Times New Roman" panose="02020603050405020304" pitchFamily="18" charset="0"/>
                <a:cs typeface="Times New Roman" panose="02020603050405020304" pitchFamily="18" charset="0"/>
              </a:endParaRPr>
            </a:p>
          </p:txBody>
        </p:sp>
      </p:grpSp>
      <p:grpSp>
        <p:nvGrpSpPr>
          <p:cNvPr id="18" name="组合 17"/>
          <p:cNvGrpSpPr/>
          <p:nvPr/>
        </p:nvGrpSpPr>
        <p:grpSpPr>
          <a:xfrm>
            <a:off x="3350234" y="2571275"/>
            <a:ext cx="1193465" cy="585934"/>
            <a:chOff x="3350234" y="2571275"/>
            <a:chExt cx="1193465" cy="585934"/>
          </a:xfrm>
        </p:grpSpPr>
        <p:sp>
          <p:nvSpPr>
            <p:cNvPr id="67" name="文本框 66"/>
            <p:cNvSpPr txBox="1"/>
            <p:nvPr/>
          </p:nvSpPr>
          <p:spPr>
            <a:xfrm>
              <a:off x="3350234" y="2571275"/>
              <a:ext cx="1193465" cy="292388"/>
            </a:xfrm>
            <a:prstGeom prst="rect">
              <a:avLst/>
            </a:prstGeom>
            <a:noFill/>
          </p:spPr>
          <p:txBody>
            <a:bodyPr wrap="square" rtlCol="0">
              <a:spAutoFit/>
            </a:bodyPr>
            <a:lstStyle/>
            <a:p>
              <a:r>
                <a:rPr lang="en-US" altLang="zh-CN" sz="1300" dirty="0" err="1">
                  <a:solidFill>
                    <a:srgbClr val="00B050"/>
                  </a:solidFill>
                  <a:latin typeface="Times New Roman" panose="02020603050405020304" pitchFamily="18" charset="0"/>
                  <a:cs typeface="Times New Roman" panose="02020603050405020304" pitchFamily="18" charset="0"/>
                </a:rPr>
                <a:t>MemtoReg</a:t>
              </a:r>
              <a:endParaRPr lang="zh-CN" altLang="en-US" sz="1300" dirty="0">
                <a:solidFill>
                  <a:srgbClr val="00B050"/>
                </a:solidFill>
                <a:latin typeface="Times New Roman" panose="02020603050405020304" pitchFamily="18" charset="0"/>
                <a:cs typeface="Times New Roman" panose="02020603050405020304" pitchFamily="18" charset="0"/>
              </a:endParaRPr>
            </a:p>
          </p:txBody>
        </p:sp>
        <p:sp>
          <p:nvSpPr>
            <p:cNvPr id="68" name="文本框 67"/>
            <p:cNvSpPr txBox="1"/>
            <p:nvPr/>
          </p:nvSpPr>
          <p:spPr>
            <a:xfrm>
              <a:off x="3350234" y="2864821"/>
              <a:ext cx="1011197" cy="292388"/>
            </a:xfrm>
            <a:prstGeom prst="rect">
              <a:avLst/>
            </a:prstGeom>
            <a:noFill/>
          </p:spPr>
          <p:txBody>
            <a:bodyPr wrap="square" rtlCol="0">
              <a:spAutoFit/>
            </a:bodyPr>
            <a:lstStyle/>
            <a:p>
              <a:r>
                <a:rPr lang="en-US" altLang="zh-CN" sz="1300" dirty="0" err="1">
                  <a:solidFill>
                    <a:srgbClr val="00B050"/>
                  </a:solidFill>
                  <a:latin typeface="Times New Roman" panose="02020603050405020304" pitchFamily="18" charset="0"/>
                  <a:cs typeface="Times New Roman" panose="02020603050405020304" pitchFamily="18" charset="0"/>
                </a:rPr>
                <a:t>Regwrite</a:t>
              </a:r>
              <a:endParaRPr lang="zh-CN" altLang="en-US" sz="1300" dirty="0">
                <a:solidFill>
                  <a:srgbClr val="00B050"/>
                </a:solidFill>
                <a:latin typeface="Times New Roman" panose="02020603050405020304" pitchFamily="18" charset="0"/>
                <a:cs typeface="Times New Roman" panose="02020603050405020304" pitchFamily="18" charset="0"/>
              </a:endParaRPr>
            </a:p>
          </p:txBody>
        </p:sp>
      </p:grpSp>
      <p:grpSp>
        <p:nvGrpSpPr>
          <p:cNvPr id="35" name="组合 34"/>
          <p:cNvGrpSpPr/>
          <p:nvPr/>
        </p:nvGrpSpPr>
        <p:grpSpPr>
          <a:xfrm>
            <a:off x="5197379" y="3191616"/>
            <a:ext cx="1193465" cy="1288722"/>
            <a:chOff x="5197379" y="3191616"/>
            <a:chExt cx="1193465" cy="1288722"/>
          </a:xfrm>
        </p:grpSpPr>
        <p:grpSp>
          <p:nvGrpSpPr>
            <p:cNvPr id="31" name="组合 30"/>
            <p:cNvGrpSpPr/>
            <p:nvPr/>
          </p:nvGrpSpPr>
          <p:grpSpPr>
            <a:xfrm>
              <a:off x="5197379" y="3191616"/>
              <a:ext cx="1193465" cy="585934"/>
              <a:chOff x="5197379" y="3191616"/>
              <a:chExt cx="1193465" cy="585934"/>
            </a:xfrm>
          </p:grpSpPr>
          <p:sp>
            <p:nvSpPr>
              <p:cNvPr id="65" name="文本框 64"/>
              <p:cNvSpPr txBox="1"/>
              <p:nvPr/>
            </p:nvSpPr>
            <p:spPr>
              <a:xfrm>
                <a:off x="5197379" y="3191616"/>
                <a:ext cx="1193465" cy="292388"/>
              </a:xfrm>
              <a:prstGeom prst="rect">
                <a:avLst/>
              </a:prstGeom>
              <a:noFill/>
            </p:spPr>
            <p:txBody>
              <a:bodyPr wrap="square" rtlCol="0">
                <a:spAutoFit/>
              </a:bodyPr>
              <a:lstStyle/>
              <a:p>
                <a:r>
                  <a:rPr lang="en-US" altLang="zh-CN" sz="1300" dirty="0" err="1">
                    <a:solidFill>
                      <a:srgbClr val="00B050"/>
                    </a:solidFill>
                    <a:latin typeface="Times New Roman" panose="02020603050405020304" pitchFamily="18" charset="0"/>
                    <a:cs typeface="Times New Roman" panose="02020603050405020304" pitchFamily="18" charset="0"/>
                  </a:rPr>
                  <a:t>MemtoReg</a:t>
                </a:r>
                <a:endParaRPr lang="zh-CN" altLang="en-US" sz="1300" dirty="0">
                  <a:solidFill>
                    <a:srgbClr val="00B050"/>
                  </a:solidFill>
                  <a:latin typeface="Times New Roman" panose="02020603050405020304" pitchFamily="18" charset="0"/>
                  <a:cs typeface="Times New Roman" panose="02020603050405020304" pitchFamily="18" charset="0"/>
                </a:endParaRPr>
              </a:p>
            </p:txBody>
          </p:sp>
          <p:sp>
            <p:nvSpPr>
              <p:cNvPr id="66" name="文本框 65"/>
              <p:cNvSpPr txBox="1"/>
              <p:nvPr/>
            </p:nvSpPr>
            <p:spPr>
              <a:xfrm>
                <a:off x="5197379" y="3485162"/>
                <a:ext cx="1011197" cy="292388"/>
              </a:xfrm>
              <a:prstGeom prst="rect">
                <a:avLst/>
              </a:prstGeom>
              <a:noFill/>
            </p:spPr>
            <p:txBody>
              <a:bodyPr wrap="square" rtlCol="0">
                <a:spAutoFit/>
              </a:bodyPr>
              <a:lstStyle/>
              <a:p>
                <a:r>
                  <a:rPr lang="en-US" altLang="zh-CN" sz="1300" dirty="0" err="1">
                    <a:solidFill>
                      <a:srgbClr val="00B050"/>
                    </a:solidFill>
                    <a:latin typeface="Times New Roman" panose="02020603050405020304" pitchFamily="18" charset="0"/>
                    <a:cs typeface="Times New Roman" panose="02020603050405020304" pitchFamily="18" charset="0"/>
                  </a:rPr>
                  <a:t>Regwrite</a:t>
                </a:r>
                <a:endParaRPr lang="zh-CN" altLang="en-US" sz="1300" dirty="0">
                  <a:solidFill>
                    <a:srgbClr val="00B050"/>
                  </a:solidFill>
                  <a:latin typeface="Times New Roman" panose="02020603050405020304" pitchFamily="18" charset="0"/>
                  <a:cs typeface="Times New Roman" panose="02020603050405020304" pitchFamily="18" charset="0"/>
                </a:endParaRPr>
              </a:p>
            </p:txBody>
          </p:sp>
        </p:grpSp>
        <p:grpSp>
          <p:nvGrpSpPr>
            <p:cNvPr id="32" name="组合 31"/>
            <p:cNvGrpSpPr/>
            <p:nvPr/>
          </p:nvGrpSpPr>
          <p:grpSpPr>
            <a:xfrm>
              <a:off x="5197379" y="3814007"/>
              <a:ext cx="1193465" cy="666331"/>
              <a:chOff x="5197379" y="3814007"/>
              <a:chExt cx="1193465" cy="666331"/>
            </a:xfrm>
          </p:grpSpPr>
          <p:sp>
            <p:nvSpPr>
              <p:cNvPr id="69" name="文本框 68"/>
              <p:cNvSpPr txBox="1"/>
              <p:nvPr/>
            </p:nvSpPr>
            <p:spPr>
              <a:xfrm>
                <a:off x="5197379" y="3814007"/>
                <a:ext cx="1193465" cy="292388"/>
              </a:xfrm>
              <a:prstGeom prst="rect">
                <a:avLst/>
              </a:prstGeom>
              <a:noFill/>
            </p:spPr>
            <p:txBody>
              <a:bodyPr wrap="square" rtlCol="0">
                <a:spAutoFit/>
              </a:bodyPr>
              <a:lstStyle/>
              <a:p>
                <a:r>
                  <a:rPr lang="en-US" altLang="zh-CN" sz="1300" dirty="0">
                    <a:solidFill>
                      <a:srgbClr val="00B050"/>
                    </a:solidFill>
                    <a:latin typeface="Times New Roman" panose="02020603050405020304" pitchFamily="18" charset="0"/>
                    <a:cs typeface="Times New Roman" panose="02020603050405020304" pitchFamily="18" charset="0"/>
                  </a:rPr>
                  <a:t>Branch</a:t>
                </a:r>
                <a:endParaRPr lang="zh-CN" altLang="en-US" sz="1300" dirty="0">
                  <a:solidFill>
                    <a:srgbClr val="00B050"/>
                  </a:solidFill>
                  <a:latin typeface="Times New Roman" panose="02020603050405020304" pitchFamily="18" charset="0"/>
                  <a:cs typeface="Times New Roman" panose="02020603050405020304" pitchFamily="18" charset="0"/>
                </a:endParaRPr>
              </a:p>
            </p:txBody>
          </p:sp>
          <p:sp>
            <p:nvSpPr>
              <p:cNvPr id="70" name="文本框 69"/>
              <p:cNvSpPr txBox="1"/>
              <p:nvPr/>
            </p:nvSpPr>
            <p:spPr>
              <a:xfrm>
                <a:off x="5197379" y="4005411"/>
                <a:ext cx="1193465" cy="292388"/>
              </a:xfrm>
              <a:prstGeom prst="rect">
                <a:avLst/>
              </a:prstGeom>
              <a:noFill/>
            </p:spPr>
            <p:txBody>
              <a:bodyPr wrap="square" rtlCol="0">
                <a:spAutoFit/>
              </a:bodyPr>
              <a:lstStyle/>
              <a:p>
                <a:r>
                  <a:rPr lang="en-US" altLang="zh-CN" sz="1300" dirty="0" err="1">
                    <a:solidFill>
                      <a:srgbClr val="00B050"/>
                    </a:solidFill>
                    <a:latin typeface="Times New Roman" panose="02020603050405020304" pitchFamily="18" charset="0"/>
                    <a:cs typeface="Times New Roman" panose="02020603050405020304" pitchFamily="18" charset="0"/>
                  </a:rPr>
                  <a:t>MemRead</a:t>
                </a:r>
                <a:endParaRPr lang="zh-CN" altLang="en-US" sz="1300" dirty="0">
                  <a:solidFill>
                    <a:srgbClr val="00B050"/>
                  </a:solidFill>
                  <a:latin typeface="Times New Roman" panose="02020603050405020304" pitchFamily="18" charset="0"/>
                  <a:cs typeface="Times New Roman" panose="02020603050405020304" pitchFamily="18" charset="0"/>
                </a:endParaRPr>
              </a:p>
            </p:txBody>
          </p:sp>
          <p:sp>
            <p:nvSpPr>
              <p:cNvPr id="71" name="文本框 70"/>
              <p:cNvSpPr txBox="1"/>
              <p:nvPr/>
            </p:nvSpPr>
            <p:spPr>
              <a:xfrm>
                <a:off x="5197379" y="4187950"/>
                <a:ext cx="1193465" cy="292388"/>
              </a:xfrm>
              <a:prstGeom prst="rect">
                <a:avLst/>
              </a:prstGeom>
              <a:noFill/>
            </p:spPr>
            <p:txBody>
              <a:bodyPr wrap="square" rtlCol="0">
                <a:spAutoFit/>
              </a:bodyPr>
              <a:lstStyle/>
              <a:p>
                <a:r>
                  <a:rPr lang="en-US" altLang="zh-CN" sz="1300" dirty="0" err="1">
                    <a:solidFill>
                      <a:srgbClr val="00B050"/>
                    </a:solidFill>
                    <a:latin typeface="Times New Roman" panose="02020603050405020304" pitchFamily="18" charset="0"/>
                    <a:cs typeface="Times New Roman" panose="02020603050405020304" pitchFamily="18" charset="0"/>
                  </a:rPr>
                  <a:t>MemWrite</a:t>
                </a:r>
                <a:endParaRPr lang="zh-CN" altLang="en-US" sz="1300" dirty="0">
                  <a:solidFill>
                    <a:srgbClr val="00B050"/>
                  </a:solidFill>
                  <a:latin typeface="Times New Roman" panose="02020603050405020304" pitchFamily="18" charset="0"/>
                  <a:cs typeface="Times New Roman" panose="02020603050405020304" pitchFamily="18" charset="0"/>
                </a:endParaRPr>
              </a:p>
            </p:txBody>
          </p:sp>
        </p:grpSp>
      </p:grpSp>
      <p:grpSp>
        <p:nvGrpSpPr>
          <p:cNvPr id="24" name="组合 23"/>
          <p:cNvGrpSpPr/>
          <p:nvPr/>
        </p:nvGrpSpPr>
        <p:grpSpPr>
          <a:xfrm>
            <a:off x="3350234" y="3129298"/>
            <a:ext cx="1193465" cy="719671"/>
            <a:chOff x="3350234" y="3129298"/>
            <a:chExt cx="1193465" cy="719671"/>
          </a:xfrm>
        </p:grpSpPr>
        <p:sp>
          <p:nvSpPr>
            <p:cNvPr id="72" name="文本框 71"/>
            <p:cNvSpPr txBox="1"/>
            <p:nvPr/>
          </p:nvSpPr>
          <p:spPr>
            <a:xfrm>
              <a:off x="3350234" y="3129298"/>
              <a:ext cx="1193465" cy="292388"/>
            </a:xfrm>
            <a:prstGeom prst="rect">
              <a:avLst/>
            </a:prstGeom>
            <a:noFill/>
          </p:spPr>
          <p:txBody>
            <a:bodyPr wrap="square" rtlCol="0">
              <a:spAutoFit/>
            </a:bodyPr>
            <a:lstStyle/>
            <a:p>
              <a:r>
                <a:rPr lang="en-US" altLang="zh-CN" sz="1300" dirty="0">
                  <a:solidFill>
                    <a:srgbClr val="00B050"/>
                  </a:solidFill>
                  <a:latin typeface="Times New Roman" panose="02020603050405020304" pitchFamily="18" charset="0"/>
                  <a:cs typeface="Times New Roman" panose="02020603050405020304" pitchFamily="18" charset="0"/>
                </a:rPr>
                <a:t>Branch</a:t>
              </a:r>
              <a:endParaRPr lang="zh-CN" altLang="en-US" sz="1300" dirty="0">
                <a:solidFill>
                  <a:srgbClr val="00B050"/>
                </a:solidFill>
                <a:latin typeface="Times New Roman" panose="02020603050405020304" pitchFamily="18" charset="0"/>
                <a:cs typeface="Times New Roman" panose="02020603050405020304" pitchFamily="18" charset="0"/>
              </a:endParaRPr>
            </a:p>
          </p:txBody>
        </p:sp>
        <p:sp>
          <p:nvSpPr>
            <p:cNvPr id="73" name="文本框 72"/>
            <p:cNvSpPr txBox="1"/>
            <p:nvPr/>
          </p:nvSpPr>
          <p:spPr>
            <a:xfrm>
              <a:off x="3350234" y="3366422"/>
              <a:ext cx="1193465" cy="292388"/>
            </a:xfrm>
            <a:prstGeom prst="rect">
              <a:avLst/>
            </a:prstGeom>
            <a:noFill/>
          </p:spPr>
          <p:txBody>
            <a:bodyPr wrap="square" rtlCol="0">
              <a:spAutoFit/>
            </a:bodyPr>
            <a:lstStyle/>
            <a:p>
              <a:r>
                <a:rPr lang="en-US" altLang="zh-CN" sz="1300" dirty="0" err="1">
                  <a:solidFill>
                    <a:srgbClr val="00B050"/>
                  </a:solidFill>
                  <a:latin typeface="Times New Roman" panose="02020603050405020304" pitchFamily="18" charset="0"/>
                  <a:cs typeface="Times New Roman" panose="02020603050405020304" pitchFamily="18" charset="0"/>
                </a:rPr>
                <a:t>MemRead</a:t>
              </a:r>
              <a:endParaRPr lang="zh-CN" altLang="en-US" sz="1300" dirty="0">
                <a:solidFill>
                  <a:srgbClr val="00B050"/>
                </a:solidFill>
                <a:latin typeface="Times New Roman" panose="02020603050405020304" pitchFamily="18" charset="0"/>
                <a:cs typeface="Times New Roman" panose="02020603050405020304" pitchFamily="18" charset="0"/>
              </a:endParaRPr>
            </a:p>
          </p:txBody>
        </p:sp>
        <p:sp>
          <p:nvSpPr>
            <p:cNvPr id="74" name="文本框 73"/>
            <p:cNvSpPr txBox="1"/>
            <p:nvPr/>
          </p:nvSpPr>
          <p:spPr>
            <a:xfrm>
              <a:off x="3350234" y="3556581"/>
              <a:ext cx="1193465" cy="292388"/>
            </a:xfrm>
            <a:prstGeom prst="rect">
              <a:avLst/>
            </a:prstGeom>
            <a:noFill/>
          </p:spPr>
          <p:txBody>
            <a:bodyPr wrap="square" rtlCol="0">
              <a:spAutoFit/>
            </a:bodyPr>
            <a:lstStyle/>
            <a:p>
              <a:r>
                <a:rPr lang="en-US" altLang="zh-CN" sz="1300" dirty="0" err="1">
                  <a:solidFill>
                    <a:srgbClr val="00B050"/>
                  </a:solidFill>
                  <a:latin typeface="Times New Roman" panose="02020603050405020304" pitchFamily="18" charset="0"/>
                  <a:cs typeface="Times New Roman" panose="02020603050405020304" pitchFamily="18" charset="0"/>
                </a:rPr>
                <a:t>MemWrite</a:t>
              </a:r>
              <a:endParaRPr lang="zh-CN" altLang="en-US" sz="1300" dirty="0">
                <a:solidFill>
                  <a:srgbClr val="00B050"/>
                </a:solidFill>
                <a:latin typeface="Times New Roman" panose="02020603050405020304" pitchFamily="18" charset="0"/>
                <a:cs typeface="Times New Roman" panose="02020603050405020304" pitchFamily="18" charset="0"/>
              </a:endParaRPr>
            </a:p>
          </p:txBody>
        </p:sp>
      </p:grpSp>
      <p:grpSp>
        <p:nvGrpSpPr>
          <p:cNvPr id="26" name="组合 25"/>
          <p:cNvGrpSpPr/>
          <p:nvPr/>
        </p:nvGrpSpPr>
        <p:grpSpPr>
          <a:xfrm>
            <a:off x="3350233" y="3774926"/>
            <a:ext cx="1199787" cy="511585"/>
            <a:chOff x="3350233" y="3774926"/>
            <a:chExt cx="1199787" cy="511585"/>
          </a:xfrm>
        </p:grpSpPr>
        <p:sp>
          <p:nvSpPr>
            <p:cNvPr id="75" name="文本框 74"/>
            <p:cNvSpPr txBox="1"/>
            <p:nvPr/>
          </p:nvSpPr>
          <p:spPr>
            <a:xfrm>
              <a:off x="3350233" y="3774926"/>
              <a:ext cx="1193465" cy="292388"/>
            </a:xfrm>
            <a:prstGeom prst="rect">
              <a:avLst/>
            </a:prstGeom>
            <a:noFill/>
          </p:spPr>
          <p:txBody>
            <a:bodyPr wrap="square" rtlCol="0">
              <a:spAutoFit/>
            </a:bodyPr>
            <a:lstStyle/>
            <a:p>
              <a:r>
                <a:rPr lang="en-US" altLang="zh-CN" sz="1300" dirty="0" err="1">
                  <a:solidFill>
                    <a:srgbClr val="00B050"/>
                  </a:solidFill>
                  <a:latin typeface="Times New Roman" panose="02020603050405020304" pitchFamily="18" charset="0"/>
                  <a:cs typeface="Times New Roman" panose="02020603050405020304" pitchFamily="18" charset="0"/>
                </a:rPr>
                <a:t>ALUOp</a:t>
              </a:r>
              <a:endParaRPr lang="zh-CN" altLang="en-US" sz="1300" dirty="0">
                <a:solidFill>
                  <a:srgbClr val="00B050"/>
                </a:solidFill>
                <a:latin typeface="Times New Roman" panose="02020603050405020304" pitchFamily="18" charset="0"/>
                <a:cs typeface="Times New Roman" panose="02020603050405020304" pitchFamily="18" charset="0"/>
              </a:endParaRPr>
            </a:p>
          </p:txBody>
        </p:sp>
        <p:sp>
          <p:nvSpPr>
            <p:cNvPr id="76" name="文本框 75"/>
            <p:cNvSpPr txBox="1"/>
            <p:nvPr/>
          </p:nvSpPr>
          <p:spPr>
            <a:xfrm>
              <a:off x="3356555" y="3994123"/>
              <a:ext cx="1193465" cy="292388"/>
            </a:xfrm>
            <a:prstGeom prst="rect">
              <a:avLst/>
            </a:prstGeom>
            <a:noFill/>
          </p:spPr>
          <p:txBody>
            <a:bodyPr wrap="square" rtlCol="0">
              <a:spAutoFit/>
            </a:bodyPr>
            <a:lstStyle/>
            <a:p>
              <a:r>
                <a:rPr lang="en-US" altLang="zh-CN" sz="1300" dirty="0" err="1">
                  <a:solidFill>
                    <a:srgbClr val="00B050"/>
                  </a:solidFill>
                  <a:latin typeface="Times New Roman" panose="02020603050405020304" pitchFamily="18" charset="0"/>
                  <a:cs typeface="Times New Roman" panose="02020603050405020304" pitchFamily="18" charset="0"/>
                </a:rPr>
                <a:t>ALUSrc</a:t>
              </a:r>
              <a:endParaRPr lang="zh-CN" altLang="en-US" sz="1300" dirty="0">
                <a:solidFill>
                  <a:srgbClr val="00B050"/>
                </a:solidFill>
                <a:latin typeface="Times New Roman" panose="02020603050405020304" pitchFamily="18" charset="0"/>
                <a:cs typeface="Times New Roman" panose="02020603050405020304" pitchFamily="18" charset="0"/>
              </a:endParaRPr>
            </a:p>
          </p:txBody>
        </p:sp>
      </p:grpSp>
      <p:sp>
        <p:nvSpPr>
          <p:cNvPr id="9" name="矩形 8"/>
          <p:cNvSpPr/>
          <p:nvPr/>
        </p:nvSpPr>
        <p:spPr>
          <a:xfrm>
            <a:off x="8240438" y="2473469"/>
            <a:ext cx="3666553" cy="1754326"/>
          </a:xfrm>
          <a:prstGeom prst="rect">
            <a:avLst/>
          </a:prstGeom>
        </p:spPr>
        <p:txBody>
          <a:bodyPr wrap="square">
            <a:spAutoFit/>
          </a:bodyPr>
          <a:lstStyle/>
          <a:p>
            <a:pPr marL="285750" indent="-285750" algn="just">
              <a:buFont typeface="Arial" panose="020B0604020202020204" pitchFamily="34" charset="0"/>
              <a:buChar char="•"/>
            </a:pPr>
            <a:r>
              <a:rPr lang="en-US" altLang="zh-CN" dirty="0" err="1">
                <a:solidFill>
                  <a:srgbClr val="0000FF"/>
                </a:solidFill>
                <a:latin typeface="Times New Roman" panose="02020603050405020304" pitchFamily="18" charset="0"/>
                <a:cs typeface="Times New Roman" panose="02020603050405020304" pitchFamily="18" charset="0"/>
              </a:rPr>
              <a:t>MemtoReg</a:t>
            </a:r>
            <a:r>
              <a:rPr lang="zh-CN" altLang="en-US" dirty="0">
                <a:solidFill>
                  <a:srgbClr val="0000FF"/>
                </a:solidFill>
                <a:latin typeface="Times New Roman" panose="02020603050405020304" pitchFamily="18" charset="0"/>
                <a:cs typeface="Times New Roman" panose="02020603050405020304" pitchFamily="18" charset="0"/>
              </a:rPr>
              <a:t>选择</a:t>
            </a:r>
            <a:r>
              <a:rPr lang="en-US" altLang="zh-CN" dirty="0">
                <a:solidFill>
                  <a:srgbClr val="0000FF"/>
                </a:solidFill>
                <a:latin typeface="Times New Roman" panose="02020603050405020304" pitchFamily="18" charset="0"/>
                <a:cs typeface="Times New Roman" panose="02020603050405020304" pitchFamily="18" charset="0"/>
              </a:rPr>
              <a:t>ALU</a:t>
            </a:r>
            <a:r>
              <a:rPr lang="zh-CN" altLang="en-US" dirty="0">
                <a:solidFill>
                  <a:srgbClr val="0000FF"/>
                </a:solidFill>
                <a:latin typeface="Times New Roman" panose="02020603050405020304" pitchFamily="18" charset="0"/>
                <a:cs typeface="Times New Roman" panose="02020603050405020304" pitchFamily="18" charset="0"/>
              </a:rPr>
              <a:t>或数据存储器值写入到寄存器堆</a:t>
            </a:r>
            <a:endParaRPr lang="en-US" altLang="zh-CN" dirty="0">
              <a:solidFill>
                <a:srgbClr val="0000FF"/>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zh-CN" dirty="0" err="1">
                <a:solidFill>
                  <a:srgbClr val="0000FF"/>
                </a:solidFill>
                <a:latin typeface="Times New Roman" panose="02020603050405020304" pitchFamily="18" charset="0"/>
                <a:cs typeface="Times New Roman" panose="02020603050405020304" pitchFamily="18" charset="0"/>
              </a:rPr>
              <a:t>ALUSrc</a:t>
            </a:r>
            <a:r>
              <a:rPr lang="zh-CN" altLang="en-US" dirty="0">
                <a:solidFill>
                  <a:srgbClr val="0000FF"/>
                </a:solidFill>
                <a:latin typeface="Times New Roman" panose="02020603050405020304" pitchFamily="18" charset="0"/>
                <a:cs typeface="Times New Roman" panose="02020603050405020304" pitchFamily="18" charset="0"/>
              </a:rPr>
              <a:t>：</a:t>
            </a:r>
            <a:r>
              <a:rPr lang="en-US" altLang="zh-CN" dirty="0">
                <a:solidFill>
                  <a:srgbClr val="0000FF"/>
                </a:solidFill>
                <a:latin typeface="Times New Roman" panose="02020603050405020304" pitchFamily="18" charset="0"/>
                <a:cs typeface="Times New Roman" panose="02020603050405020304" pitchFamily="18" charset="0"/>
              </a:rPr>
              <a:t>ALU</a:t>
            </a:r>
            <a:r>
              <a:rPr lang="zh-CN" altLang="en-US" dirty="0">
                <a:solidFill>
                  <a:srgbClr val="0000FF"/>
                </a:solidFill>
                <a:latin typeface="Times New Roman" panose="02020603050405020304" pitchFamily="18" charset="0"/>
                <a:cs typeface="Times New Roman" panose="02020603050405020304" pitchFamily="18" charset="0"/>
              </a:rPr>
              <a:t>前的选择器控制信号，用于选择</a:t>
            </a:r>
            <a:r>
              <a:rPr lang="en-US" altLang="zh-CN" dirty="0" err="1">
                <a:solidFill>
                  <a:srgbClr val="0000FF"/>
                </a:solidFill>
                <a:latin typeface="Times New Roman" panose="02020603050405020304" pitchFamily="18" charset="0"/>
                <a:cs typeface="Times New Roman" panose="02020603050405020304" pitchFamily="18" charset="0"/>
              </a:rPr>
              <a:t>Reg</a:t>
            </a:r>
            <a:r>
              <a:rPr lang="en-US" altLang="zh-CN" dirty="0">
                <a:solidFill>
                  <a:srgbClr val="0000FF"/>
                </a:solidFill>
                <a:latin typeface="Times New Roman" panose="02020603050405020304" pitchFamily="18" charset="0"/>
                <a:cs typeface="Times New Roman" panose="02020603050405020304" pitchFamily="18" charset="0"/>
              </a:rPr>
              <a:t>[rs2]</a:t>
            </a:r>
            <a:r>
              <a:rPr lang="zh-CN" altLang="en-US" dirty="0">
                <a:solidFill>
                  <a:srgbClr val="0000FF"/>
                </a:solidFill>
                <a:latin typeface="Times New Roman" panose="02020603050405020304" pitchFamily="18" charset="0"/>
                <a:cs typeface="Times New Roman" panose="02020603050405020304" pitchFamily="18" charset="0"/>
              </a:rPr>
              <a:t>或立即数值</a:t>
            </a:r>
            <a:endParaRPr lang="en-US" altLang="zh-CN" dirty="0">
              <a:solidFill>
                <a:srgbClr val="0000FF"/>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altLang="zh-CN" dirty="0">
                <a:solidFill>
                  <a:srgbClr val="0000FF"/>
                </a:solidFill>
                <a:latin typeface="Times New Roman" panose="02020603050405020304" pitchFamily="18" charset="0"/>
                <a:cs typeface="Times New Roman" panose="02020603050405020304" pitchFamily="18" charset="0"/>
              </a:rPr>
              <a:t>Branch</a:t>
            </a:r>
            <a:r>
              <a:rPr lang="zh-CN" altLang="en-US" dirty="0">
                <a:solidFill>
                  <a:srgbClr val="0000FF"/>
                </a:solidFill>
                <a:latin typeface="Times New Roman" panose="02020603050405020304" pitchFamily="18" charset="0"/>
                <a:cs typeface="Times New Roman" panose="02020603050405020304" pitchFamily="18" charset="0"/>
              </a:rPr>
              <a:t>：分支指令的控制信号</a:t>
            </a:r>
          </a:p>
        </p:txBody>
      </p:sp>
      <p:sp>
        <p:nvSpPr>
          <p:cNvPr id="10" name="文本框 9"/>
          <p:cNvSpPr txBox="1"/>
          <p:nvPr/>
        </p:nvSpPr>
        <p:spPr>
          <a:xfrm>
            <a:off x="8957471" y="6329432"/>
            <a:ext cx="1810468" cy="369332"/>
          </a:xfrm>
          <a:prstGeom prst="rect">
            <a:avLst/>
          </a:prstGeom>
          <a:noFill/>
        </p:spPr>
        <p:txBody>
          <a:bodyPr wrap="square" rtlCol="0">
            <a:spAutoFit/>
          </a:bodyPr>
          <a:lstStyle/>
          <a:p>
            <a:r>
              <a:rPr lang="zh-CN" altLang="en-US" dirty="0">
                <a:solidFill>
                  <a:srgbClr val="FFC409"/>
                </a:solidFill>
              </a:rPr>
              <a:t>见黑书</a:t>
            </a:r>
            <a:r>
              <a:rPr lang="en-US" altLang="zh-CN" dirty="0">
                <a:solidFill>
                  <a:srgbClr val="FFC409"/>
                </a:solidFill>
              </a:rPr>
              <a:t>P207</a:t>
            </a:r>
            <a:r>
              <a:rPr lang="zh-CN" altLang="en-US" dirty="0">
                <a:solidFill>
                  <a:srgbClr val="FFC409"/>
                </a:solidFill>
              </a:rPr>
              <a:t>页</a:t>
            </a:r>
          </a:p>
        </p:txBody>
      </p:sp>
    </p:spTree>
    <p:extLst>
      <p:ext uri="{BB962C8B-B14F-4D97-AF65-F5344CB8AC3E}">
        <p14:creationId xmlns:p14="http://schemas.microsoft.com/office/powerpoint/2010/main" val="4007654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892">
                                            <p:txEl>
                                              <p:pRg st="1" end="1"/>
                                            </p:txEl>
                                          </p:spTgt>
                                        </p:tgtEl>
                                        <p:attrNameLst>
                                          <p:attrName>style.visibility</p:attrName>
                                        </p:attrNameLst>
                                      </p:cBhvr>
                                      <p:to>
                                        <p:strVal val="visible"/>
                                      </p:to>
                                    </p:set>
                                    <p:animEffect transition="in" filter="fade">
                                      <p:cBhvr>
                                        <p:cTn id="7" dur="500"/>
                                        <p:tgtEl>
                                          <p:spTgt spid="3789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7892">
                                            <p:txEl>
                                              <p:pRg st="2" end="2"/>
                                            </p:txEl>
                                          </p:spTgt>
                                        </p:tgtEl>
                                        <p:attrNameLst>
                                          <p:attrName>style.visibility</p:attrName>
                                        </p:attrNameLst>
                                      </p:cBhvr>
                                      <p:to>
                                        <p:strVal val="visible"/>
                                      </p:to>
                                    </p:set>
                                    <p:animEffect transition="in" filter="fade">
                                      <p:cBhvr>
                                        <p:cTn id="20" dur="500"/>
                                        <p:tgtEl>
                                          <p:spTgt spid="37892">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500"/>
                                        <p:tgtEl>
                                          <p:spTgt spid="2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fade">
                                      <p:cBhvr>
                                        <p:cTn id="45" dur="500"/>
                                        <p:tgtEl>
                                          <p:spTgt spid="9"/>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500"/>
                                        <p:tgtEl>
                                          <p:spTgt spid="3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fade">
                                      <p:cBhvr>
                                        <p:cTn id="5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3"/>
          <p:cNvSpPr>
            <a:spLocks noGrp="1" noChangeArrowheads="1"/>
          </p:cNvSpPr>
          <p:nvPr>
            <p:ph idx="1"/>
          </p:nvPr>
        </p:nvSpPr>
        <p:spPr>
          <a:xfrm>
            <a:off x="838200" y="911736"/>
            <a:ext cx="10515600" cy="5263515"/>
          </a:xfrm>
        </p:spPr>
        <p:txBody>
          <a:bodyPr>
            <a:normAutofit/>
          </a:bodyPr>
          <a:lstStyle/>
          <a:p>
            <a:pPr eaLnBrk="1" hangingPunct="1"/>
            <a:r>
              <a:rPr lang="zh-CN" altLang="en-US" dirty="0"/>
              <a:t>控制信号从指令中产生，与单周期实现相似</a:t>
            </a:r>
            <a:endParaRPr lang="en-US" altLang="zh-CN" dirty="0"/>
          </a:p>
          <a:p>
            <a:pPr eaLnBrk="1" hangingPunct="1"/>
            <a:r>
              <a:rPr lang="zh-CN" altLang="en-US" dirty="0"/>
              <a:t>根据流水线阶段将控制线也划分成五组</a:t>
            </a:r>
            <a:endParaRPr lang="en-US" altLang="zh-CN" dirty="0"/>
          </a:p>
          <a:p>
            <a:pPr lvl="1"/>
            <a:r>
              <a:rPr lang="en-US" altLang="zh-CN" dirty="0"/>
              <a:t>IF</a:t>
            </a:r>
            <a:r>
              <a:rPr lang="zh-CN" altLang="en-US" dirty="0"/>
              <a:t>和</a:t>
            </a:r>
            <a:r>
              <a:rPr lang="en-US" altLang="zh-CN" dirty="0"/>
              <a:t>ID</a:t>
            </a:r>
            <a:r>
              <a:rPr lang="zh-CN" altLang="en-US" dirty="0"/>
              <a:t>阶段没有需要特别控制的内容</a:t>
            </a:r>
            <a:endParaRPr lang="en-US" altLang="en-US" dirty="0"/>
          </a:p>
        </p:txBody>
      </p:sp>
      <p:sp>
        <p:nvSpPr>
          <p:cNvPr id="2" name="灯片编号占位符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E8E787-E6FE-45D8-9039-788B45E44EE7}"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4" name="标题 3"/>
          <p:cNvSpPr>
            <a:spLocks noGrp="1"/>
          </p:cNvSpPr>
          <p:nvPr>
            <p:ph type="title"/>
          </p:nvPr>
        </p:nvSpPr>
        <p:spPr/>
        <p:txBody>
          <a:bodyPr/>
          <a:lstStyle/>
          <a:p>
            <a:r>
              <a:rPr lang="zh-CN" altLang="en-US" dirty="0"/>
              <a:t>流水线控制</a:t>
            </a:r>
          </a:p>
        </p:txBody>
      </p:sp>
      <p:graphicFrame>
        <p:nvGraphicFramePr>
          <p:cNvPr id="39" name="表格 38">
            <a:extLst>
              <a:ext uri="{FF2B5EF4-FFF2-40B4-BE49-F238E27FC236}">
                <a16:creationId xmlns:a16="http://schemas.microsoft.com/office/drawing/2014/main" id="{7ACEA74E-F66A-487C-A051-E7D52B8FBD07}"/>
              </a:ext>
            </a:extLst>
          </p:cNvPr>
          <p:cNvGraphicFramePr>
            <a:graphicFrameLocks noGrp="1"/>
          </p:cNvGraphicFramePr>
          <p:nvPr>
            <p:extLst>
              <p:ext uri="{D42A27DB-BD31-4B8C-83A1-F6EECF244321}">
                <p14:modId xmlns:p14="http://schemas.microsoft.com/office/powerpoint/2010/main" val="1619949731"/>
              </p:ext>
            </p:extLst>
          </p:nvPr>
        </p:nvGraphicFramePr>
        <p:xfrm>
          <a:off x="1371600" y="2935275"/>
          <a:ext cx="8417079" cy="2758440"/>
        </p:xfrm>
        <a:graphic>
          <a:graphicData uri="http://schemas.openxmlformats.org/drawingml/2006/table">
            <a:tbl>
              <a:tblPr firstRow="1" bandRow="1">
                <a:tableStyleId>{5940675A-B579-460E-94D1-54222C63F5DA}</a:tableStyleId>
              </a:tblPr>
              <a:tblGrid>
                <a:gridCol w="1094721">
                  <a:extLst>
                    <a:ext uri="{9D8B030D-6E8A-4147-A177-3AD203B41FA5}">
                      <a16:colId xmlns:a16="http://schemas.microsoft.com/office/drawing/2014/main" val="2611867070"/>
                    </a:ext>
                  </a:extLst>
                </a:gridCol>
                <a:gridCol w="1009548">
                  <a:extLst>
                    <a:ext uri="{9D8B030D-6E8A-4147-A177-3AD203B41FA5}">
                      <a16:colId xmlns:a16="http://schemas.microsoft.com/office/drawing/2014/main" val="3343610986"/>
                    </a:ext>
                  </a:extLst>
                </a:gridCol>
                <a:gridCol w="1052135">
                  <a:extLst>
                    <a:ext uri="{9D8B030D-6E8A-4147-A177-3AD203B41FA5}">
                      <a16:colId xmlns:a16="http://schemas.microsoft.com/office/drawing/2014/main" val="3385458821"/>
                    </a:ext>
                  </a:extLst>
                </a:gridCol>
                <a:gridCol w="1052135">
                  <a:extLst>
                    <a:ext uri="{9D8B030D-6E8A-4147-A177-3AD203B41FA5}">
                      <a16:colId xmlns:a16="http://schemas.microsoft.com/office/drawing/2014/main" val="1650526014"/>
                    </a:ext>
                  </a:extLst>
                </a:gridCol>
                <a:gridCol w="1052135">
                  <a:extLst>
                    <a:ext uri="{9D8B030D-6E8A-4147-A177-3AD203B41FA5}">
                      <a16:colId xmlns:a16="http://schemas.microsoft.com/office/drawing/2014/main" val="2205555070"/>
                    </a:ext>
                  </a:extLst>
                </a:gridCol>
                <a:gridCol w="1052135">
                  <a:extLst>
                    <a:ext uri="{9D8B030D-6E8A-4147-A177-3AD203B41FA5}">
                      <a16:colId xmlns:a16="http://schemas.microsoft.com/office/drawing/2014/main" val="129069491"/>
                    </a:ext>
                  </a:extLst>
                </a:gridCol>
                <a:gridCol w="1052135">
                  <a:extLst>
                    <a:ext uri="{9D8B030D-6E8A-4147-A177-3AD203B41FA5}">
                      <a16:colId xmlns:a16="http://schemas.microsoft.com/office/drawing/2014/main" val="2534067240"/>
                    </a:ext>
                  </a:extLst>
                </a:gridCol>
                <a:gridCol w="1052135">
                  <a:extLst>
                    <a:ext uri="{9D8B030D-6E8A-4147-A177-3AD203B41FA5}">
                      <a16:colId xmlns:a16="http://schemas.microsoft.com/office/drawing/2014/main" val="2015045099"/>
                    </a:ext>
                  </a:extLst>
                </a:gridCol>
              </a:tblGrid>
              <a:tr h="125306">
                <a:tc>
                  <a:txBody>
                    <a:bodyPr/>
                    <a:lstStyle/>
                    <a:p>
                      <a:pPr algn="ctr"/>
                      <a:r>
                        <a:rPr lang="zh-CN" altLang="en-US" dirty="0">
                          <a:latin typeface="Arial" panose="020B0604020202020204" pitchFamily="34" charset="0"/>
                          <a:cs typeface="Arial" panose="020B0604020202020204" pitchFamily="34" charset="0"/>
                        </a:rPr>
                        <a:t>指令</a:t>
                      </a:r>
                    </a:p>
                  </a:txBody>
                  <a:tcPr anchor="ctr">
                    <a:solidFill>
                      <a:srgbClr val="9CDCF9"/>
                    </a:solidFill>
                  </a:tcPr>
                </a:tc>
                <a:tc gridSpan="2">
                  <a:txBody>
                    <a:bodyPr/>
                    <a:lstStyle/>
                    <a:p>
                      <a:pPr algn="ctr"/>
                      <a:r>
                        <a:rPr lang="zh-CN" altLang="en-US" dirty="0">
                          <a:latin typeface="Arial" panose="020B0604020202020204" pitchFamily="34" charset="0"/>
                          <a:cs typeface="Arial" panose="020B0604020202020204" pitchFamily="34" charset="0"/>
                        </a:rPr>
                        <a:t>执行</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地址计算计算控制线</a:t>
                      </a:r>
                    </a:p>
                  </a:txBody>
                  <a:tcPr anchor="ctr">
                    <a:solidFill>
                      <a:srgbClr val="9CDCF9"/>
                    </a:solidFill>
                  </a:tcPr>
                </a:tc>
                <a:tc hMerge="1">
                  <a:txBody>
                    <a:bodyPr/>
                    <a:lstStyle/>
                    <a:p>
                      <a:endParaRPr lang="zh-CN" altLang="en-US" dirty="0"/>
                    </a:p>
                  </a:txBody>
                  <a:tcPr/>
                </a:tc>
                <a:tc gridSpan="3">
                  <a:txBody>
                    <a:bodyPr/>
                    <a:lstStyle/>
                    <a:p>
                      <a:pPr algn="ctr"/>
                      <a:r>
                        <a:rPr lang="zh-CN" altLang="en-US" dirty="0">
                          <a:latin typeface="Arial" panose="020B0604020202020204" pitchFamily="34" charset="0"/>
                          <a:cs typeface="Arial" panose="020B0604020202020204" pitchFamily="34" charset="0"/>
                        </a:rPr>
                        <a:t>存储器访问阶段控制线</a:t>
                      </a:r>
                    </a:p>
                  </a:txBody>
                  <a:tcPr anchor="ctr">
                    <a:solidFill>
                      <a:srgbClr val="9CDCF9"/>
                    </a:solidFill>
                  </a:tcPr>
                </a:tc>
                <a:tc hMerge="1">
                  <a:txBody>
                    <a:bodyPr/>
                    <a:lstStyle/>
                    <a:p>
                      <a:endParaRPr lang="zh-CN" altLang="en-US" dirty="0"/>
                    </a:p>
                  </a:txBody>
                  <a:tcPr/>
                </a:tc>
                <a:tc hMerge="1">
                  <a:txBody>
                    <a:bodyPr/>
                    <a:lstStyle/>
                    <a:p>
                      <a:endParaRPr lang="zh-CN" altLang="en-US" dirty="0"/>
                    </a:p>
                  </a:txBody>
                  <a:tcPr/>
                </a:tc>
                <a:tc gridSpan="2">
                  <a:txBody>
                    <a:bodyPr/>
                    <a:lstStyle/>
                    <a:p>
                      <a:pPr algn="ctr"/>
                      <a:r>
                        <a:rPr lang="zh-CN" altLang="en-US" dirty="0">
                          <a:latin typeface="Arial" panose="020B0604020202020204" pitchFamily="34" charset="0"/>
                          <a:cs typeface="Arial" panose="020B0604020202020204" pitchFamily="34" charset="0"/>
                        </a:rPr>
                        <a:t>写回阶段控制线</a:t>
                      </a:r>
                    </a:p>
                  </a:txBody>
                  <a:tcPr anchor="ctr">
                    <a:solidFill>
                      <a:srgbClr val="9CDCF9"/>
                    </a:solidFill>
                  </a:tcPr>
                </a:tc>
                <a:tc hMerge="1">
                  <a:txBody>
                    <a:bodyPr/>
                    <a:lstStyle/>
                    <a:p>
                      <a:endParaRPr lang="zh-CN" altLang="en-US" dirty="0"/>
                    </a:p>
                  </a:txBody>
                  <a:tcPr/>
                </a:tc>
                <a:extLst>
                  <a:ext uri="{0D108BD9-81ED-4DB2-BD59-A6C34878D82A}">
                    <a16:rowId xmlns:a16="http://schemas.microsoft.com/office/drawing/2014/main" val="2260121265"/>
                  </a:ext>
                </a:extLst>
              </a:tr>
              <a:tr h="370840">
                <a:tc>
                  <a:txBody>
                    <a:bodyPr/>
                    <a:lstStyle/>
                    <a:p>
                      <a:pPr algn="ctr"/>
                      <a:endParaRPr lang="zh-CN" altLang="en-US">
                        <a:latin typeface="Arial" panose="020B0604020202020204" pitchFamily="34" charset="0"/>
                        <a:cs typeface="Arial" panose="020B0604020202020204" pitchFamily="34" charset="0"/>
                      </a:endParaRPr>
                    </a:p>
                  </a:txBody>
                  <a:tcPr anchor="ctr">
                    <a:solidFill>
                      <a:srgbClr val="9CDCF9"/>
                    </a:solidFill>
                  </a:tcPr>
                </a:tc>
                <a:tc>
                  <a:txBody>
                    <a:bodyPr/>
                    <a:lstStyle/>
                    <a:p>
                      <a:pPr algn="ctr"/>
                      <a:r>
                        <a:rPr lang="en-US" altLang="zh-CN" dirty="0" err="1">
                          <a:latin typeface="Arial" panose="020B0604020202020204" pitchFamily="34" charset="0"/>
                          <a:cs typeface="Arial" panose="020B0604020202020204" pitchFamily="34" charset="0"/>
                        </a:rPr>
                        <a:t>ALUOp</a:t>
                      </a:r>
                      <a:endParaRPr lang="zh-CN" altLang="en-US" dirty="0">
                        <a:latin typeface="Arial" panose="020B0604020202020204" pitchFamily="34" charset="0"/>
                        <a:cs typeface="Arial" panose="020B0604020202020204" pitchFamily="34" charset="0"/>
                      </a:endParaRPr>
                    </a:p>
                  </a:txBody>
                  <a:tcPr anchor="ctr">
                    <a:solidFill>
                      <a:srgbClr val="9CDCF9"/>
                    </a:solidFill>
                  </a:tcPr>
                </a:tc>
                <a:tc>
                  <a:txBody>
                    <a:bodyPr/>
                    <a:lstStyle/>
                    <a:p>
                      <a:pPr algn="ctr"/>
                      <a:r>
                        <a:rPr lang="en-US" altLang="zh-CN" dirty="0" err="1">
                          <a:latin typeface="Arial" panose="020B0604020202020204" pitchFamily="34" charset="0"/>
                          <a:cs typeface="Arial" panose="020B0604020202020204" pitchFamily="34" charset="0"/>
                        </a:rPr>
                        <a:t>ALUSrc</a:t>
                      </a:r>
                      <a:endParaRPr lang="zh-CN" altLang="en-US" dirty="0">
                        <a:latin typeface="Arial" panose="020B0604020202020204" pitchFamily="34" charset="0"/>
                        <a:cs typeface="Arial" panose="020B0604020202020204" pitchFamily="34" charset="0"/>
                      </a:endParaRPr>
                    </a:p>
                  </a:txBody>
                  <a:tcPr anchor="ctr">
                    <a:solidFill>
                      <a:srgbClr val="9CDCF9"/>
                    </a:solidFill>
                  </a:tcPr>
                </a:tc>
                <a:tc>
                  <a:txBody>
                    <a:bodyPr/>
                    <a:lstStyle/>
                    <a:p>
                      <a:pPr algn="ctr"/>
                      <a:r>
                        <a:rPr lang="en-US" altLang="zh-CN" dirty="0">
                          <a:latin typeface="Arial" panose="020B0604020202020204" pitchFamily="34" charset="0"/>
                          <a:cs typeface="Arial" panose="020B0604020202020204" pitchFamily="34" charset="0"/>
                        </a:rPr>
                        <a:t>Branch</a:t>
                      </a:r>
                      <a:endParaRPr lang="zh-CN" altLang="en-US" dirty="0">
                        <a:latin typeface="Arial" panose="020B0604020202020204" pitchFamily="34" charset="0"/>
                        <a:cs typeface="Arial" panose="020B0604020202020204" pitchFamily="34" charset="0"/>
                      </a:endParaRPr>
                    </a:p>
                  </a:txBody>
                  <a:tcPr anchor="ctr">
                    <a:solidFill>
                      <a:srgbClr val="9CDCF9"/>
                    </a:solidFill>
                  </a:tcPr>
                </a:tc>
                <a:tc>
                  <a:txBody>
                    <a:bodyPr/>
                    <a:lstStyle/>
                    <a:p>
                      <a:pPr algn="ctr"/>
                      <a:r>
                        <a:rPr lang="en-US" altLang="zh-CN" dirty="0">
                          <a:latin typeface="Arial" panose="020B0604020202020204" pitchFamily="34" charset="0"/>
                          <a:cs typeface="Arial" panose="020B0604020202020204" pitchFamily="34" charset="0"/>
                        </a:rPr>
                        <a:t>Mem-Read</a:t>
                      </a:r>
                      <a:endParaRPr lang="zh-CN" altLang="en-US" dirty="0">
                        <a:latin typeface="Arial" panose="020B0604020202020204" pitchFamily="34" charset="0"/>
                        <a:cs typeface="Arial" panose="020B0604020202020204" pitchFamily="34" charset="0"/>
                      </a:endParaRPr>
                    </a:p>
                  </a:txBody>
                  <a:tcPr anchor="ctr">
                    <a:solidFill>
                      <a:srgbClr val="9CDCF9"/>
                    </a:solidFill>
                  </a:tcPr>
                </a:tc>
                <a:tc>
                  <a:txBody>
                    <a:bodyPr/>
                    <a:lstStyle/>
                    <a:p>
                      <a:pPr algn="ctr"/>
                      <a:r>
                        <a:rPr lang="en-US" altLang="zh-CN" dirty="0">
                          <a:latin typeface="Arial" panose="020B0604020202020204" pitchFamily="34" charset="0"/>
                          <a:cs typeface="Arial" panose="020B0604020202020204" pitchFamily="34" charset="0"/>
                        </a:rPr>
                        <a:t>Mem-Write</a:t>
                      </a:r>
                      <a:endParaRPr lang="zh-CN" altLang="en-US" dirty="0">
                        <a:latin typeface="Arial" panose="020B0604020202020204" pitchFamily="34" charset="0"/>
                        <a:cs typeface="Arial" panose="020B0604020202020204" pitchFamily="34" charset="0"/>
                      </a:endParaRPr>
                    </a:p>
                  </a:txBody>
                  <a:tcPr anchor="ctr">
                    <a:solidFill>
                      <a:srgbClr val="9CDCF9"/>
                    </a:solidFill>
                  </a:tcPr>
                </a:tc>
                <a:tc>
                  <a:txBody>
                    <a:bodyPr/>
                    <a:lstStyle/>
                    <a:p>
                      <a:pPr algn="ctr"/>
                      <a:r>
                        <a:rPr lang="en-US" altLang="zh-CN" dirty="0">
                          <a:latin typeface="Arial" panose="020B0604020202020204" pitchFamily="34" charset="0"/>
                          <a:cs typeface="Arial" panose="020B0604020202020204" pitchFamily="34" charset="0"/>
                        </a:rPr>
                        <a:t>Reg-Write</a:t>
                      </a:r>
                      <a:endParaRPr lang="zh-CN" altLang="en-US" dirty="0">
                        <a:latin typeface="Arial" panose="020B0604020202020204" pitchFamily="34" charset="0"/>
                        <a:cs typeface="Arial" panose="020B0604020202020204" pitchFamily="34" charset="0"/>
                      </a:endParaRPr>
                    </a:p>
                  </a:txBody>
                  <a:tcPr anchor="ctr">
                    <a:solidFill>
                      <a:srgbClr val="9CDCF9"/>
                    </a:solidFill>
                  </a:tcPr>
                </a:tc>
                <a:tc>
                  <a:txBody>
                    <a:bodyPr/>
                    <a:lstStyle/>
                    <a:p>
                      <a:pPr algn="ctr"/>
                      <a:r>
                        <a:rPr lang="en-US" altLang="zh-CN" dirty="0" err="1">
                          <a:latin typeface="Arial" panose="020B0604020202020204" pitchFamily="34" charset="0"/>
                          <a:cs typeface="Arial" panose="020B0604020202020204" pitchFamily="34" charset="0"/>
                        </a:rPr>
                        <a:t>Memto</a:t>
                      </a:r>
                      <a:r>
                        <a:rPr lang="en-US" altLang="zh-CN" dirty="0">
                          <a:latin typeface="Arial" panose="020B0604020202020204" pitchFamily="34" charset="0"/>
                          <a:cs typeface="Arial" panose="020B0604020202020204" pitchFamily="34" charset="0"/>
                        </a:rPr>
                        <a:t>-Reg</a:t>
                      </a:r>
                      <a:endParaRPr lang="zh-CN" altLang="en-US" dirty="0">
                        <a:latin typeface="Arial" panose="020B0604020202020204" pitchFamily="34" charset="0"/>
                        <a:cs typeface="Arial" panose="020B0604020202020204" pitchFamily="34" charset="0"/>
                      </a:endParaRPr>
                    </a:p>
                  </a:txBody>
                  <a:tcPr anchor="ctr">
                    <a:solidFill>
                      <a:srgbClr val="9CDCF9"/>
                    </a:solidFill>
                  </a:tcPr>
                </a:tc>
                <a:extLst>
                  <a:ext uri="{0D108BD9-81ED-4DB2-BD59-A6C34878D82A}">
                    <a16:rowId xmlns:a16="http://schemas.microsoft.com/office/drawing/2014/main" val="1895758116"/>
                  </a:ext>
                </a:extLst>
              </a:tr>
              <a:tr h="231258">
                <a:tc>
                  <a:txBody>
                    <a:bodyPr/>
                    <a:lstStyle/>
                    <a:p>
                      <a:pPr algn="ctr"/>
                      <a:r>
                        <a:rPr lang="en-US" altLang="zh-CN" dirty="0">
                          <a:latin typeface="Arial" panose="020B0604020202020204" pitchFamily="34" charset="0"/>
                          <a:cs typeface="Arial" panose="020B0604020202020204" pitchFamily="34" charset="0"/>
                        </a:rPr>
                        <a:t>R-format</a:t>
                      </a:r>
                    </a:p>
                  </a:txBody>
                  <a:tcPr anchor="ctr"/>
                </a:tc>
                <a:tc>
                  <a:txBody>
                    <a:bodyPr/>
                    <a:lstStyle/>
                    <a:p>
                      <a:pPr algn="ctr"/>
                      <a:r>
                        <a:rPr lang="en-US" altLang="zh-CN" dirty="0">
                          <a:latin typeface="Arial" panose="020B0604020202020204" pitchFamily="34" charset="0"/>
                          <a:cs typeface="Arial" panose="020B0604020202020204" pitchFamily="34" charset="0"/>
                        </a:rPr>
                        <a:t>10</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0</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0</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0</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0</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1</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0</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34107388"/>
                  </a:ext>
                </a:extLst>
              </a:tr>
              <a:tr h="370840">
                <a:tc>
                  <a:txBody>
                    <a:bodyPr/>
                    <a:lstStyle/>
                    <a:p>
                      <a:pPr algn="ctr"/>
                      <a:r>
                        <a:rPr lang="en-US" altLang="zh-CN" dirty="0" err="1">
                          <a:latin typeface="Arial" panose="020B0604020202020204" pitchFamily="34" charset="0"/>
                          <a:cs typeface="Arial" panose="020B0604020202020204" pitchFamily="34" charset="0"/>
                        </a:rPr>
                        <a:t>ld</a:t>
                      </a:r>
                      <a:endParaRPr lang="en-US" altLang="zh-CN"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00</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1</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0</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1</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0</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1</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1</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711439512"/>
                  </a:ext>
                </a:extLst>
              </a:tr>
              <a:tr h="370840">
                <a:tc>
                  <a:txBody>
                    <a:bodyPr/>
                    <a:lstStyle/>
                    <a:p>
                      <a:pPr algn="ctr"/>
                      <a:r>
                        <a:rPr lang="en-US" altLang="zh-CN" dirty="0" err="1">
                          <a:latin typeface="Arial" panose="020B0604020202020204" pitchFamily="34" charset="0"/>
                          <a:cs typeface="Arial" panose="020B0604020202020204" pitchFamily="34" charset="0"/>
                        </a:rPr>
                        <a:t>sd</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00</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1</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0</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0</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1</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0</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X</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096280025"/>
                  </a:ext>
                </a:extLst>
              </a:tr>
              <a:tr h="370840">
                <a:tc>
                  <a:txBody>
                    <a:bodyPr/>
                    <a:lstStyle/>
                    <a:p>
                      <a:pPr algn="ctr"/>
                      <a:r>
                        <a:rPr lang="en-US" altLang="zh-CN" dirty="0" err="1">
                          <a:latin typeface="Arial" panose="020B0604020202020204" pitchFamily="34" charset="0"/>
                          <a:cs typeface="Arial" panose="020B0604020202020204" pitchFamily="34" charset="0"/>
                        </a:rPr>
                        <a:t>beq</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01</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0</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1</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0</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0</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0</a:t>
                      </a:r>
                      <a:endParaRPr lang="zh-CN" altLang="en-US" dirty="0">
                        <a:latin typeface="Arial" panose="020B0604020202020204" pitchFamily="34" charset="0"/>
                        <a:cs typeface="Arial" panose="020B0604020202020204" pitchFamily="34" charset="0"/>
                      </a:endParaRPr>
                    </a:p>
                  </a:txBody>
                  <a:tcPr anchor="ctr"/>
                </a:tc>
                <a:tc>
                  <a:txBody>
                    <a:bodyPr/>
                    <a:lstStyle/>
                    <a:p>
                      <a:pPr algn="ctr"/>
                      <a:r>
                        <a:rPr lang="en-US" altLang="zh-CN" dirty="0">
                          <a:latin typeface="Arial" panose="020B0604020202020204" pitchFamily="34" charset="0"/>
                          <a:cs typeface="Arial" panose="020B0604020202020204" pitchFamily="34" charset="0"/>
                        </a:rPr>
                        <a:t>X</a:t>
                      </a:r>
                      <a:endParaRPr lang="zh-CN" altLang="en-US"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464960882"/>
                  </a:ext>
                </a:extLst>
              </a:tr>
            </a:tbl>
          </a:graphicData>
        </a:graphic>
      </p:graphicFrame>
    </p:spTree>
    <p:extLst>
      <p:ext uri="{BB962C8B-B14F-4D97-AF65-F5344CB8AC3E}">
        <p14:creationId xmlns:p14="http://schemas.microsoft.com/office/powerpoint/2010/main" val="40785021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838200" y="121027"/>
            <a:ext cx="10515600" cy="605790"/>
          </a:xfrm>
        </p:spPr>
        <p:txBody>
          <a:bodyPr/>
          <a:lstStyle/>
          <a:p>
            <a:r>
              <a:rPr lang="zh-CN" altLang="en-US" dirty="0"/>
              <a:t>简单的流水线控制</a:t>
            </a:r>
          </a:p>
        </p:txBody>
      </p:sp>
      <p:grpSp>
        <p:nvGrpSpPr>
          <p:cNvPr id="8" name="Instruction memory"/>
          <p:cNvGrpSpPr/>
          <p:nvPr/>
        </p:nvGrpSpPr>
        <p:grpSpPr>
          <a:xfrm>
            <a:off x="1919271" y="3756664"/>
            <a:ext cx="1200172" cy="1102484"/>
            <a:chOff x="2333823" y="3418320"/>
            <a:chExt cx="1400477" cy="1182891"/>
          </a:xfrm>
        </p:grpSpPr>
        <p:sp>
          <p:nvSpPr>
            <p:cNvPr id="175" name="矩形 174"/>
            <p:cNvSpPr/>
            <p:nvPr/>
          </p:nvSpPr>
          <p:spPr>
            <a:xfrm>
              <a:off x="2333823" y="3448051"/>
              <a:ext cx="1400477" cy="11531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76" name="文本框 175"/>
            <p:cNvSpPr txBox="1"/>
            <p:nvPr/>
          </p:nvSpPr>
          <p:spPr>
            <a:xfrm>
              <a:off x="2368550" y="3418320"/>
              <a:ext cx="1195648" cy="429291"/>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9" name="PC"/>
          <p:cNvGrpSpPr/>
          <p:nvPr/>
        </p:nvGrpSpPr>
        <p:grpSpPr>
          <a:xfrm>
            <a:off x="1427234" y="3564263"/>
            <a:ext cx="319240" cy="707886"/>
            <a:chOff x="1082381" y="4780997"/>
            <a:chExt cx="595060" cy="555913"/>
          </a:xfrm>
        </p:grpSpPr>
        <p:sp>
          <p:nvSpPr>
            <p:cNvPr id="173" name="矩形 172"/>
            <p:cNvSpPr/>
            <p:nvPr/>
          </p:nvSpPr>
          <p:spPr>
            <a:xfrm>
              <a:off x="1119443" y="4800600"/>
              <a:ext cx="557998" cy="50292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74" name="文本框 173"/>
            <p:cNvSpPr txBox="1"/>
            <p:nvPr/>
          </p:nvSpPr>
          <p:spPr>
            <a:xfrm>
              <a:off x="1082381" y="4780997"/>
              <a:ext cx="375034" cy="55591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PC</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0" name="Add"/>
          <p:cNvGrpSpPr/>
          <p:nvPr/>
        </p:nvGrpSpPr>
        <p:grpSpPr>
          <a:xfrm>
            <a:off x="2170346" y="2381471"/>
            <a:ext cx="655949" cy="899047"/>
            <a:chOff x="4656246" y="4140786"/>
            <a:chExt cx="692302" cy="964617"/>
          </a:xfrm>
        </p:grpSpPr>
        <p:sp>
          <p:nvSpPr>
            <p:cNvPr id="171" name="梯形 170"/>
            <p:cNvSpPr/>
            <p:nvPr/>
          </p:nvSpPr>
          <p:spPr>
            <a:xfrm rot="5400000">
              <a:off x="4538209" y="4329347"/>
              <a:ext cx="964617" cy="587495"/>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72" name="文本框 171"/>
            <p:cNvSpPr txBox="1"/>
            <p:nvPr/>
          </p:nvSpPr>
          <p:spPr>
            <a:xfrm>
              <a:off x="4656246" y="4371480"/>
              <a:ext cx="692302" cy="429291"/>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1" name="IF/ID"/>
          <p:cNvGrpSpPr/>
          <p:nvPr/>
        </p:nvGrpSpPr>
        <p:grpSpPr>
          <a:xfrm>
            <a:off x="3067665" y="1896049"/>
            <a:ext cx="753732" cy="4490826"/>
            <a:chOff x="98196" y="460300"/>
            <a:chExt cx="841205" cy="5935014"/>
          </a:xfrm>
        </p:grpSpPr>
        <p:sp>
          <p:nvSpPr>
            <p:cNvPr id="169" name="矩形 168"/>
            <p:cNvSpPr/>
            <p:nvPr/>
          </p:nvSpPr>
          <p:spPr>
            <a:xfrm>
              <a:off x="358141" y="937259"/>
              <a:ext cx="358140" cy="5458055"/>
            </a:xfrm>
            <a:prstGeom prst="rect">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70" name="文本框 169"/>
            <p:cNvSpPr txBox="1"/>
            <p:nvPr/>
          </p:nvSpPr>
          <p:spPr>
            <a:xfrm>
              <a:off x="98196" y="460300"/>
              <a:ext cx="841205" cy="528780"/>
            </a:xfrm>
            <a:prstGeom prst="rect">
              <a:avLst/>
            </a:prstGeom>
            <a:ln w="25400">
              <a:noFill/>
            </a:ln>
          </p:spPr>
          <p:style>
            <a:lnRef idx="1">
              <a:schemeClr val="accent1"/>
            </a:lnRef>
            <a:fillRef idx="0">
              <a:schemeClr val="accent1"/>
            </a:fillRef>
            <a:effectRef idx="0">
              <a:schemeClr val="accent1"/>
            </a:effectRef>
            <a:fontRef idx="minor">
              <a:schemeClr val="tx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IF/ID</a:t>
              </a:r>
              <a:endParaRPr kumimoji="0" lang="zh-CN" altLang="en-US" sz="200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2" name="Registers"/>
          <p:cNvGrpSpPr/>
          <p:nvPr/>
        </p:nvGrpSpPr>
        <p:grpSpPr>
          <a:xfrm>
            <a:off x="4331932" y="2786752"/>
            <a:ext cx="1938932" cy="2415895"/>
            <a:chOff x="2026387" y="320244"/>
            <a:chExt cx="3249152" cy="2877146"/>
          </a:xfrm>
        </p:grpSpPr>
        <p:sp>
          <p:nvSpPr>
            <p:cNvPr id="161" name="矩形 160"/>
            <p:cNvSpPr/>
            <p:nvPr/>
          </p:nvSpPr>
          <p:spPr>
            <a:xfrm>
              <a:off x="2026387" y="320244"/>
              <a:ext cx="2772303" cy="2851663"/>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2" name="文本框 161"/>
            <p:cNvSpPr txBox="1"/>
            <p:nvPr/>
          </p:nvSpPr>
          <p:spPr>
            <a:xfrm>
              <a:off x="2322251" y="2720890"/>
              <a:ext cx="2001772" cy="47650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Registers</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3" name="文本框 162"/>
            <p:cNvSpPr txBox="1"/>
            <p:nvPr/>
          </p:nvSpPr>
          <p:spPr>
            <a:xfrm>
              <a:off x="2056192" y="360395"/>
              <a:ext cx="2171004" cy="47650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 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4" name="文本框 163"/>
            <p:cNvSpPr txBox="1"/>
            <p:nvPr/>
          </p:nvSpPr>
          <p:spPr>
            <a:xfrm>
              <a:off x="2056192" y="1133120"/>
              <a:ext cx="2171004" cy="47650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 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5" name="文本框 164"/>
            <p:cNvSpPr txBox="1"/>
            <p:nvPr/>
          </p:nvSpPr>
          <p:spPr>
            <a:xfrm>
              <a:off x="2056192" y="1519481"/>
              <a:ext cx="1922798" cy="47650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reg</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6" name="文本框 165"/>
            <p:cNvSpPr txBox="1"/>
            <p:nvPr/>
          </p:nvSpPr>
          <p:spPr>
            <a:xfrm>
              <a:off x="2056192" y="2292102"/>
              <a:ext cx="2089343" cy="47650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7" name="文本框 166"/>
            <p:cNvSpPr txBox="1"/>
            <p:nvPr/>
          </p:nvSpPr>
          <p:spPr>
            <a:xfrm>
              <a:off x="2718978" y="746757"/>
              <a:ext cx="2556561" cy="476500"/>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8" name="文本框 167"/>
            <p:cNvSpPr txBox="1"/>
            <p:nvPr/>
          </p:nvSpPr>
          <p:spPr>
            <a:xfrm>
              <a:off x="2718977" y="1905842"/>
              <a:ext cx="2230102" cy="476500"/>
            </a:xfrm>
            <a:prstGeom prst="rect">
              <a:avLst/>
            </a:prstGeom>
            <a:noFill/>
            <a:ln w="25400">
              <a:noFill/>
            </a:ln>
          </p:spPr>
          <p:txBody>
            <a:bodyPr wrap="non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data2</a:t>
              </a:r>
              <a:endParaRPr kumimoji="0" lang="zh-CN" altLang="en-US"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3" name="Imm Gen"/>
          <p:cNvGrpSpPr/>
          <p:nvPr/>
        </p:nvGrpSpPr>
        <p:grpSpPr>
          <a:xfrm>
            <a:off x="5006077" y="5283631"/>
            <a:ext cx="707197" cy="583819"/>
            <a:chOff x="4872307" y="5541359"/>
            <a:chExt cx="993733" cy="1205226"/>
          </a:xfrm>
        </p:grpSpPr>
        <p:sp>
          <p:nvSpPr>
            <p:cNvPr id="159" name="椭圆 158"/>
            <p:cNvSpPr/>
            <p:nvPr/>
          </p:nvSpPr>
          <p:spPr>
            <a:xfrm>
              <a:off x="4872307" y="5541359"/>
              <a:ext cx="984043" cy="1146746"/>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60" name="文本框 159"/>
            <p:cNvSpPr txBox="1"/>
            <p:nvPr/>
          </p:nvSpPr>
          <p:spPr>
            <a:xfrm>
              <a:off x="4939814" y="5749321"/>
              <a:ext cx="926226" cy="997264"/>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en-US" altLang="zh-CN" b="1" i="0" u="none" strike="noStrike" kern="1200" cap="none" spc="0" normalizeH="0" baseline="0" noProof="0" dirty="0" err="1">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Imm</a:t>
              </a:r>
              <a:endParaRPr kumimoji="0" lang="en-US" altLang="zh-CN"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a:p>
              <a:pPr marL="0" marR="0" lvl="0" indent="0" algn="l" defTabSz="914400" rtl="0" eaLnBrk="1" fontAlgn="auto" latinLnBrk="0" hangingPunct="1">
                <a:lnSpc>
                  <a:spcPts val="1500"/>
                </a:lnSpc>
                <a:spcBef>
                  <a:spcPts val="0"/>
                </a:spcBef>
                <a:spcAft>
                  <a:spcPts val="0"/>
                </a:spcAft>
                <a:buClrTx/>
                <a:buSzTx/>
                <a:buFontTx/>
                <a:buNone/>
                <a:defRPr/>
              </a:pPr>
              <a:r>
                <a:rPr kumimoji="0" lang="en-US" altLang="zh-CN"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Gen</a:t>
              </a:r>
              <a:endParaRPr kumimoji="0" lang="zh-CN" altLang="en-US"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4" name="Add Sum"/>
          <p:cNvGrpSpPr/>
          <p:nvPr/>
        </p:nvGrpSpPr>
        <p:grpSpPr>
          <a:xfrm>
            <a:off x="7599939" y="2520830"/>
            <a:ext cx="655949" cy="839727"/>
            <a:chOff x="5666744" y="2480764"/>
            <a:chExt cx="1007616" cy="1475010"/>
          </a:xfrm>
        </p:grpSpPr>
        <p:sp>
          <p:nvSpPr>
            <p:cNvPr id="157" name="梯形 156"/>
            <p:cNvSpPr/>
            <p:nvPr/>
          </p:nvSpPr>
          <p:spPr>
            <a:xfrm rot="5400000">
              <a:off x="5424366" y="2770445"/>
              <a:ext cx="1475010" cy="895647"/>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8" name="文本框 157"/>
            <p:cNvSpPr txBox="1"/>
            <p:nvPr/>
          </p:nvSpPr>
          <p:spPr>
            <a:xfrm>
              <a:off x="5666744" y="2869099"/>
              <a:ext cx="1007616" cy="848549"/>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p>
            <a:p>
              <a:pPr marL="0" marR="0" lvl="0" indent="0" algn="l" defTabSz="914400" rtl="0" eaLnBrk="1" fontAlgn="auto" latinLnBrk="0" hangingPunct="1">
                <a:lnSpc>
                  <a:spcPts val="1500"/>
                </a:lnSpc>
                <a:spcBef>
                  <a:spcPts val="0"/>
                </a:spcBef>
                <a:spcAft>
                  <a:spcPts val="0"/>
                </a:spcAft>
                <a:buClrTx/>
                <a:buSzTx/>
                <a:buFontTx/>
                <a:buNone/>
                <a:defRPr/>
              </a:pPr>
              <a:r>
                <a:rPr kumimoji="0" lang="en-US" altLang="zh-CN"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Sum</a:t>
              </a:r>
              <a:endParaRPr kumimoji="0" lang="zh-CN" altLang="en-US" sz="200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5" name="ALU"/>
          <p:cNvGrpSpPr/>
          <p:nvPr/>
        </p:nvGrpSpPr>
        <p:grpSpPr>
          <a:xfrm>
            <a:off x="7605835" y="3643891"/>
            <a:ext cx="842333" cy="1590166"/>
            <a:chOff x="6022153" y="3618922"/>
            <a:chExt cx="1297472" cy="1704463"/>
          </a:xfrm>
        </p:grpSpPr>
        <p:sp>
          <p:nvSpPr>
            <p:cNvPr id="153" name="梯形 152"/>
            <p:cNvSpPr/>
            <p:nvPr/>
          </p:nvSpPr>
          <p:spPr>
            <a:xfrm rot="5400000">
              <a:off x="5805450" y="3911167"/>
              <a:ext cx="1704463" cy="1119974"/>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4" name="文本框 153"/>
            <p:cNvSpPr txBox="1"/>
            <p:nvPr/>
          </p:nvSpPr>
          <p:spPr>
            <a:xfrm>
              <a:off x="6022153" y="3844414"/>
              <a:ext cx="1010378" cy="428869"/>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5" name="文本框 154"/>
            <p:cNvSpPr txBox="1"/>
            <p:nvPr/>
          </p:nvSpPr>
          <p:spPr>
            <a:xfrm>
              <a:off x="6124411" y="4528770"/>
              <a:ext cx="1158525" cy="318009"/>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result</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6" name="文本框 155"/>
            <p:cNvSpPr txBox="1"/>
            <p:nvPr/>
          </p:nvSpPr>
          <p:spPr>
            <a:xfrm>
              <a:off x="6837646" y="4071044"/>
              <a:ext cx="481979" cy="428869"/>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6" name="shift left 1"/>
          <p:cNvGrpSpPr/>
          <p:nvPr/>
        </p:nvGrpSpPr>
        <p:grpSpPr>
          <a:xfrm>
            <a:off x="6586763" y="2711669"/>
            <a:ext cx="774571" cy="757602"/>
            <a:chOff x="6179959" y="4133981"/>
            <a:chExt cx="1142392" cy="1146746"/>
          </a:xfrm>
        </p:grpSpPr>
        <p:sp>
          <p:nvSpPr>
            <p:cNvPr id="151" name="椭圆 150"/>
            <p:cNvSpPr/>
            <p:nvPr/>
          </p:nvSpPr>
          <p:spPr>
            <a:xfrm>
              <a:off x="6190528" y="4133981"/>
              <a:ext cx="984043" cy="1146746"/>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2" name="文本框 151"/>
            <p:cNvSpPr txBox="1"/>
            <p:nvPr/>
          </p:nvSpPr>
          <p:spPr>
            <a:xfrm>
              <a:off x="6179959" y="4418757"/>
              <a:ext cx="1142392" cy="740244"/>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Shift </a:t>
              </a:r>
            </a:p>
            <a:p>
              <a:pPr marL="0" marR="0" lvl="0" indent="0" algn="l" defTabSz="914400" rtl="0" eaLnBrk="1" fontAlgn="auto" latinLnBrk="0" hangingPunct="1">
                <a:lnSpc>
                  <a:spcPts val="15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left 1</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7" name="Mux 3"/>
          <p:cNvGrpSpPr/>
          <p:nvPr/>
        </p:nvGrpSpPr>
        <p:grpSpPr>
          <a:xfrm>
            <a:off x="11132737" y="4804660"/>
            <a:ext cx="627967" cy="1276942"/>
            <a:chOff x="3631044" y="5448299"/>
            <a:chExt cx="822591" cy="1230515"/>
          </a:xfrm>
        </p:grpSpPr>
        <p:sp>
          <p:nvSpPr>
            <p:cNvPr id="147" name="mux"/>
            <p:cNvSpPr/>
            <p:nvPr/>
          </p:nvSpPr>
          <p:spPr>
            <a:xfrm rot="5400000">
              <a:off x="3360534" y="5718809"/>
              <a:ext cx="1230515" cy="689495"/>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8" name="文本框 147"/>
            <p:cNvSpPr txBox="1"/>
            <p:nvPr/>
          </p:nvSpPr>
          <p:spPr>
            <a:xfrm>
              <a:off x="3694099" y="5492154"/>
              <a:ext cx="260682" cy="326245"/>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9" name="文本框 148"/>
            <p:cNvSpPr txBox="1"/>
            <p:nvPr/>
          </p:nvSpPr>
          <p:spPr>
            <a:xfrm>
              <a:off x="3667945" y="6293721"/>
              <a:ext cx="376287" cy="326245"/>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50" name="文本框 149"/>
            <p:cNvSpPr txBox="1"/>
            <p:nvPr/>
          </p:nvSpPr>
          <p:spPr>
            <a:xfrm>
              <a:off x="3894663" y="5599309"/>
              <a:ext cx="558972" cy="978736"/>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8" name="ALU Control"/>
          <p:cNvGrpSpPr/>
          <p:nvPr/>
        </p:nvGrpSpPr>
        <p:grpSpPr>
          <a:xfrm>
            <a:off x="6869876" y="5563266"/>
            <a:ext cx="963408" cy="552083"/>
            <a:chOff x="8982125" y="5053856"/>
            <a:chExt cx="985000" cy="1146746"/>
          </a:xfrm>
        </p:grpSpPr>
        <p:sp>
          <p:nvSpPr>
            <p:cNvPr id="145" name="椭圆 144"/>
            <p:cNvSpPr/>
            <p:nvPr/>
          </p:nvSpPr>
          <p:spPr>
            <a:xfrm>
              <a:off x="8983082" y="5053856"/>
              <a:ext cx="984043" cy="1146746"/>
            </a:xfrm>
            <a:prstGeom prst="ellipse">
              <a:avLst/>
            </a:prstGeom>
            <a:ln w="25400">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6" name="文本框 145"/>
            <p:cNvSpPr txBox="1"/>
            <p:nvPr/>
          </p:nvSpPr>
          <p:spPr>
            <a:xfrm>
              <a:off x="8982125" y="5162446"/>
              <a:ext cx="983884" cy="1015808"/>
            </a:xfrm>
            <a:prstGeom prst="rect">
              <a:avLst/>
            </a:prstGeom>
            <a:noFill/>
            <a:ln w="25400">
              <a:noFill/>
            </a:ln>
          </p:spPr>
          <p:txBody>
            <a:bodyPr wrap="none" rtlCol="0">
              <a:spAutoFit/>
            </a:bodyPr>
            <a:lstStyle/>
            <a:p>
              <a:pPr marL="0" marR="0" lvl="0" indent="0" algn="ctr" defTabSz="914400" rtl="0" eaLnBrk="1" fontAlgn="auto" latinLnBrk="0" hangingPunct="1">
                <a:lnSpc>
                  <a:spcPts val="15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00B0F0"/>
                  </a:solidFill>
                  <a:effectLst/>
                  <a:uLnTx/>
                  <a:uFillTx/>
                  <a:latin typeface="Times New Roman" panose="02020603050405020304" pitchFamily="18" charset="0"/>
                  <a:ea typeface="等线" panose="02010600030101010101" charset="-122"/>
                  <a:cs typeface="Times New Roman" panose="02020603050405020304" pitchFamily="18" charset="0"/>
                </a:rPr>
                <a:t> </a:t>
              </a: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rPr>
                <a:t>ALU</a:t>
              </a:r>
            </a:p>
            <a:p>
              <a:pPr marL="0" marR="0" lvl="0" indent="0" algn="ctr" defTabSz="914400" rtl="0" eaLnBrk="1" fontAlgn="auto" latinLnBrk="0" hangingPunct="1">
                <a:lnSpc>
                  <a:spcPts val="15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rPr>
                <a:t>control</a:t>
              </a:r>
            </a:p>
          </p:txBody>
        </p:sp>
      </p:grpSp>
      <p:grpSp>
        <p:nvGrpSpPr>
          <p:cNvPr id="19" name="Data memory"/>
          <p:cNvGrpSpPr/>
          <p:nvPr/>
        </p:nvGrpSpPr>
        <p:grpSpPr>
          <a:xfrm>
            <a:off x="9222172" y="3911178"/>
            <a:ext cx="1302884" cy="1788006"/>
            <a:chOff x="14812581" y="4726326"/>
            <a:chExt cx="2966863" cy="3362560"/>
          </a:xfrm>
        </p:grpSpPr>
        <p:sp>
          <p:nvSpPr>
            <p:cNvPr id="140" name="矩形 139"/>
            <p:cNvSpPr/>
            <p:nvPr/>
          </p:nvSpPr>
          <p:spPr>
            <a:xfrm>
              <a:off x="14919092" y="4726326"/>
              <a:ext cx="2551866" cy="33625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1" name="文本框 140"/>
            <p:cNvSpPr txBox="1"/>
            <p:nvPr/>
          </p:nvSpPr>
          <p:spPr>
            <a:xfrm>
              <a:off x="14941859" y="4912225"/>
              <a:ext cx="2622005" cy="919708"/>
            </a:xfrm>
            <a:prstGeom prst="rect">
              <a:avLst/>
            </a:prstGeom>
            <a:noFill/>
            <a:ln w="25400">
              <a:noFill/>
            </a:ln>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Data </a:t>
              </a:r>
            </a:p>
            <a:p>
              <a:pPr marL="0" marR="0" lvl="0" indent="0" algn="l" defTabSz="914400" rtl="0" eaLnBrk="1" fontAlgn="auto" latinLnBrk="0" hangingPunct="1">
                <a:lnSpc>
                  <a:spcPts val="15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memory</a:t>
              </a:r>
            </a:p>
          </p:txBody>
        </p:sp>
        <p:sp>
          <p:nvSpPr>
            <p:cNvPr id="142" name="文本框 141"/>
            <p:cNvSpPr txBox="1"/>
            <p:nvPr/>
          </p:nvSpPr>
          <p:spPr>
            <a:xfrm>
              <a:off x="14826185" y="5875439"/>
              <a:ext cx="2333257" cy="752455"/>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3" name="文本框 142"/>
            <p:cNvSpPr txBox="1"/>
            <p:nvPr/>
          </p:nvSpPr>
          <p:spPr>
            <a:xfrm>
              <a:off x="14812581" y="7127537"/>
              <a:ext cx="2839188" cy="752455"/>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4" name="文本框 143"/>
            <p:cNvSpPr txBox="1"/>
            <p:nvPr/>
          </p:nvSpPr>
          <p:spPr>
            <a:xfrm>
              <a:off x="15041004" y="6402636"/>
              <a:ext cx="2738440" cy="752455"/>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0" name="ID/EX"/>
          <p:cNvGrpSpPr/>
          <p:nvPr/>
        </p:nvGrpSpPr>
        <p:grpSpPr>
          <a:xfrm>
            <a:off x="5913354" y="1913395"/>
            <a:ext cx="869149" cy="4502959"/>
            <a:chOff x="12568479" y="4638181"/>
            <a:chExt cx="917318" cy="5955610"/>
          </a:xfrm>
        </p:grpSpPr>
        <p:sp>
          <p:nvSpPr>
            <p:cNvPr id="137" name="矩形 136"/>
            <p:cNvSpPr/>
            <p:nvPr/>
          </p:nvSpPr>
          <p:spPr>
            <a:xfrm>
              <a:off x="12863277" y="5106649"/>
              <a:ext cx="358140" cy="5487142"/>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8" name="文本框 137"/>
            <p:cNvSpPr txBox="1"/>
            <p:nvPr/>
          </p:nvSpPr>
          <p:spPr>
            <a:xfrm>
              <a:off x="12568479" y="4638181"/>
              <a:ext cx="917318" cy="529185"/>
            </a:xfrm>
            <a:prstGeom prst="rect">
              <a:avLst/>
            </a:prstGeom>
            <a:noFill/>
            <a:ln w="25400">
              <a:noFill/>
            </a:ln>
          </p:spPr>
          <p:txBody>
            <a:bodyPr wrap="none" rtlCol="0">
              <a:spAutoFit/>
            </a:bodyPr>
            <a:lstStyle/>
            <a:p>
              <a:pPr>
                <a:defRPr/>
              </a:pPr>
              <a:r>
                <a:rPr kumimoji="0" lang="en-US" altLang="zh-CN" sz="200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ID/EX</a:t>
              </a:r>
              <a:endParaRPr kumimoji="0" lang="zh-CN" altLang="en-US" sz="200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1" name="EX/MEM"/>
          <p:cNvGrpSpPr/>
          <p:nvPr/>
        </p:nvGrpSpPr>
        <p:grpSpPr>
          <a:xfrm>
            <a:off x="8191973" y="1882461"/>
            <a:ext cx="1210588" cy="4533898"/>
            <a:chOff x="12172708" y="1283078"/>
            <a:chExt cx="1386558" cy="5620773"/>
          </a:xfrm>
        </p:grpSpPr>
        <p:sp>
          <p:nvSpPr>
            <p:cNvPr id="135" name="矩形 134"/>
            <p:cNvSpPr/>
            <p:nvPr/>
          </p:nvSpPr>
          <p:spPr>
            <a:xfrm>
              <a:off x="12692428" y="1722251"/>
              <a:ext cx="358140" cy="518160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6" name="文本框 135"/>
            <p:cNvSpPr txBox="1"/>
            <p:nvPr/>
          </p:nvSpPr>
          <p:spPr>
            <a:xfrm>
              <a:off x="12172708" y="1283078"/>
              <a:ext cx="1386558" cy="496025"/>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EX/MEM</a:t>
              </a:r>
              <a:endParaRPr kumimoji="0" lang="zh-CN" altLang="en-US" sz="200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2" name="MEM/WB"/>
          <p:cNvGrpSpPr/>
          <p:nvPr/>
        </p:nvGrpSpPr>
        <p:grpSpPr>
          <a:xfrm>
            <a:off x="10132306" y="1764998"/>
            <a:ext cx="1281119" cy="4651364"/>
            <a:chOff x="13759648" y="1282286"/>
            <a:chExt cx="1420120" cy="5967348"/>
          </a:xfrm>
        </p:grpSpPr>
        <p:sp>
          <p:nvSpPr>
            <p:cNvPr id="133" name="矩形 132"/>
            <p:cNvSpPr/>
            <p:nvPr/>
          </p:nvSpPr>
          <p:spPr>
            <a:xfrm>
              <a:off x="14272656" y="1771647"/>
              <a:ext cx="358140" cy="5477987"/>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4" name="文本框 133"/>
            <p:cNvSpPr txBox="1"/>
            <p:nvPr/>
          </p:nvSpPr>
          <p:spPr>
            <a:xfrm>
              <a:off x="13759648" y="1282286"/>
              <a:ext cx="1420120" cy="513311"/>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MEM/WB</a:t>
              </a:r>
              <a:endParaRPr kumimoji="0" lang="zh-CN" altLang="en-US" sz="200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23" name="直接连接符 22"/>
          <p:cNvCxnSpPr/>
          <p:nvPr/>
        </p:nvCxnSpPr>
        <p:spPr>
          <a:xfrm>
            <a:off x="3621477" y="2610263"/>
            <a:ext cx="257119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连接符 23"/>
          <p:cNvCxnSpPr>
            <a:stCxn id="173" idx="3"/>
          </p:cNvCxnSpPr>
          <p:nvPr/>
        </p:nvCxnSpPr>
        <p:spPr>
          <a:xfrm flipV="1">
            <a:off x="1746474" y="3909418"/>
            <a:ext cx="191140" cy="6"/>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75" idx="3"/>
            <a:endCxn id="169" idx="1"/>
          </p:cNvCxnSpPr>
          <p:nvPr/>
        </p:nvCxnSpPr>
        <p:spPr>
          <a:xfrm>
            <a:off x="3119444" y="4321761"/>
            <a:ext cx="181134" cy="15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171" idx="0"/>
          </p:cNvCxnSpPr>
          <p:nvPr/>
        </p:nvCxnSpPr>
        <p:spPr>
          <a:xfrm flipV="1">
            <a:off x="2793812" y="2828931"/>
            <a:ext cx="88653" cy="20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811061" y="2538876"/>
            <a:ext cx="41074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3621477" y="4330641"/>
            <a:ext cx="296120"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811623" y="2525676"/>
            <a:ext cx="4061" cy="1390348"/>
          </a:xfrm>
          <a:prstGeom prst="line">
            <a:avLst/>
          </a:prstGeom>
          <a:ln w="25400">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1815536" y="3435724"/>
            <a:ext cx="1208788" cy="0"/>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3029196" y="2618927"/>
            <a:ext cx="0" cy="81679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2882464" y="2074666"/>
            <a:ext cx="0" cy="75426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157" idx="0"/>
          </p:cNvCxnSpPr>
          <p:nvPr/>
        </p:nvCxnSpPr>
        <p:spPr>
          <a:xfrm flipV="1">
            <a:off x="8213790" y="2940693"/>
            <a:ext cx="434148"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600546" y="2074666"/>
            <a:ext cx="228191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594487" y="2074666"/>
            <a:ext cx="0" cy="15163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3908571" y="3035669"/>
            <a:ext cx="439609"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3917596" y="3671349"/>
            <a:ext cx="409960"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3899437" y="5888580"/>
            <a:ext cx="2298166"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3908571" y="3027326"/>
            <a:ext cx="0" cy="31085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V="1">
            <a:off x="3900260" y="6135884"/>
            <a:ext cx="2287030" cy="16133"/>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连接符 41"/>
          <p:cNvCxnSpPr>
            <a:endCxn id="159" idx="2"/>
          </p:cNvCxnSpPr>
          <p:nvPr/>
        </p:nvCxnSpPr>
        <p:spPr>
          <a:xfrm flipV="1">
            <a:off x="3917596" y="5561378"/>
            <a:ext cx="1088477" cy="9413"/>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159" idx="6"/>
          </p:cNvCxnSpPr>
          <p:nvPr/>
        </p:nvCxnSpPr>
        <p:spPr>
          <a:xfrm flipV="1">
            <a:off x="5706374" y="5553517"/>
            <a:ext cx="491230" cy="786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10921744" y="5025336"/>
            <a:ext cx="20196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7243085" y="3203388"/>
            <a:ext cx="38764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6541141" y="3854262"/>
            <a:ext cx="1113739"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6549846" y="5891695"/>
            <a:ext cx="342422"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8" name="Mux 3"/>
          <p:cNvGrpSpPr/>
          <p:nvPr/>
        </p:nvGrpSpPr>
        <p:grpSpPr>
          <a:xfrm>
            <a:off x="768360" y="3347119"/>
            <a:ext cx="603816" cy="1276942"/>
            <a:chOff x="3631044" y="5448299"/>
            <a:chExt cx="823119" cy="1230515"/>
          </a:xfrm>
        </p:grpSpPr>
        <p:sp>
          <p:nvSpPr>
            <p:cNvPr id="129" name="mux"/>
            <p:cNvSpPr/>
            <p:nvPr/>
          </p:nvSpPr>
          <p:spPr>
            <a:xfrm rot="5400000">
              <a:off x="3360534" y="5718809"/>
              <a:ext cx="1230515" cy="689495"/>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0" name="文本框 129"/>
            <p:cNvSpPr txBox="1"/>
            <p:nvPr/>
          </p:nvSpPr>
          <p:spPr>
            <a:xfrm>
              <a:off x="3694099" y="5492154"/>
              <a:ext cx="260683" cy="326245"/>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1" name="文本框 130"/>
            <p:cNvSpPr txBox="1"/>
            <p:nvPr/>
          </p:nvSpPr>
          <p:spPr>
            <a:xfrm>
              <a:off x="3667944" y="6293721"/>
              <a:ext cx="391589" cy="326245"/>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32" name="文本框 131"/>
            <p:cNvSpPr txBox="1"/>
            <p:nvPr/>
          </p:nvSpPr>
          <p:spPr>
            <a:xfrm>
              <a:off x="3872460" y="5599309"/>
              <a:ext cx="581703" cy="978736"/>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49" name="直接连接符 48"/>
          <p:cNvCxnSpPr/>
          <p:nvPr/>
        </p:nvCxnSpPr>
        <p:spPr>
          <a:xfrm>
            <a:off x="8397594" y="4264286"/>
            <a:ext cx="250299" cy="3179"/>
          </a:xfrm>
          <a:prstGeom prst="line">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8379818" y="4692102"/>
            <a:ext cx="250299" cy="3179"/>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8971150" y="4702996"/>
            <a:ext cx="303162"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8949491" y="5375417"/>
            <a:ext cx="32945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10379580" y="5025336"/>
            <a:ext cx="224550"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4" name="Mux 3"/>
          <p:cNvGrpSpPr/>
          <p:nvPr/>
        </p:nvGrpSpPr>
        <p:grpSpPr>
          <a:xfrm>
            <a:off x="6971489" y="4013001"/>
            <a:ext cx="555578" cy="1276942"/>
            <a:chOff x="3631044" y="5448299"/>
            <a:chExt cx="758107" cy="1230515"/>
          </a:xfrm>
        </p:grpSpPr>
        <p:sp>
          <p:nvSpPr>
            <p:cNvPr id="125" name="mux"/>
            <p:cNvSpPr/>
            <p:nvPr/>
          </p:nvSpPr>
          <p:spPr>
            <a:xfrm rot="5400000">
              <a:off x="3360534" y="5718809"/>
              <a:ext cx="1230515" cy="689495"/>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6" name="文本框 125"/>
            <p:cNvSpPr txBox="1"/>
            <p:nvPr/>
          </p:nvSpPr>
          <p:spPr>
            <a:xfrm>
              <a:off x="3694098" y="5492154"/>
              <a:ext cx="260682" cy="326245"/>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7" name="文本框 126"/>
            <p:cNvSpPr txBox="1"/>
            <p:nvPr/>
          </p:nvSpPr>
          <p:spPr>
            <a:xfrm>
              <a:off x="3667945" y="6293721"/>
              <a:ext cx="391974" cy="326245"/>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28" name="文本框 127"/>
            <p:cNvSpPr txBox="1"/>
            <p:nvPr/>
          </p:nvSpPr>
          <p:spPr>
            <a:xfrm>
              <a:off x="3872497" y="5599309"/>
              <a:ext cx="516654" cy="800784"/>
            </a:xfrm>
            <a:prstGeom prst="rect">
              <a:avLst/>
            </a:prstGeom>
            <a:noFill/>
            <a:ln w="25400">
              <a:noFill/>
            </a:ln>
          </p:spPr>
          <p:txBody>
            <a:bodyPr wrap="non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55" name="直接连接符 54"/>
          <p:cNvCxnSpPr/>
          <p:nvPr/>
        </p:nvCxnSpPr>
        <p:spPr>
          <a:xfrm flipV="1">
            <a:off x="1261982" y="3897004"/>
            <a:ext cx="191140" cy="6"/>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3024324" y="2618927"/>
            <a:ext cx="27625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2021576" y="3035669"/>
            <a:ext cx="20022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V="1">
            <a:off x="6541141" y="2596484"/>
            <a:ext cx="1064696" cy="8015"/>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6798407" y="3465719"/>
            <a:ext cx="1754" cy="208779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6541141" y="5553517"/>
            <a:ext cx="26516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6541141" y="4339502"/>
            <a:ext cx="430352"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6792994" y="5056333"/>
            <a:ext cx="196010" cy="932"/>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674144" y="5375416"/>
            <a:ext cx="1971588"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6671828" y="4339502"/>
            <a:ext cx="1896" cy="1035914"/>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9108967" y="4699102"/>
            <a:ext cx="0" cy="1168033"/>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a:off x="9108967" y="5856482"/>
            <a:ext cx="149516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10921744" y="5847104"/>
            <a:ext cx="20196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7477723" y="4942891"/>
            <a:ext cx="17715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文本框 68"/>
          <p:cNvSpPr txBox="1"/>
          <p:nvPr/>
        </p:nvSpPr>
        <p:spPr>
          <a:xfrm>
            <a:off x="1825300" y="4381376"/>
            <a:ext cx="1438113" cy="489045"/>
          </a:xfrm>
          <a:prstGeom prst="rect">
            <a:avLst/>
          </a:prstGeom>
          <a:noFill/>
          <a:ln w="25400">
            <a:noFill/>
          </a:ln>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p>
          <a:p>
            <a:pPr marL="0" marR="0" lvl="0" indent="0" algn="l" defTabSz="914400" rtl="0" eaLnBrk="1" fontAlgn="auto" latinLnBrk="0" hangingPunct="1">
              <a:lnSpc>
                <a:spcPts val="15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 memory</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70" name="直接连接符 69"/>
          <p:cNvCxnSpPr/>
          <p:nvPr/>
        </p:nvCxnSpPr>
        <p:spPr>
          <a:xfrm>
            <a:off x="6533875" y="6152017"/>
            <a:ext cx="208867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8153339" y="5033464"/>
            <a:ext cx="0" cy="81238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7827944" y="5839123"/>
            <a:ext cx="325395"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8967080" y="6152017"/>
            <a:ext cx="1628025" cy="0"/>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4043944" y="6604206"/>
            <a:ext cx="707976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10930769" y="6152017"/>
            <a:ext cx="20196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11123710" y="6152017"/>
            <a:ext cx="0" cy="45218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4043944" y="4010027"/>
            <a:ext cx="0" cy="259417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V="1">
            <a:off x="4055501" y="4015635"/>
            <a:ext cx="272055" cy="4532"/>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接连接符 78"/>
          <p:cNvCxnSpPr>
            <a:endCxn id="150" idx="3"/>
          </p:cNvCxnSpPr>
          <p:nvPr/>
        </p:nvCxnSpPr>
        <p:spPr>
          <a:xfrm flipV="1">
            <a:off x="11649718" y="5469200"/>
            <a:ext cx="110986" cy="17005"/>
          </a:xfrm>
          <a:prstGeom prst="line">
            <a:avLst/>
          </a:prstGeom>
          <a:ln w="25400">
            <a:no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11752411" y="5486202"/>
            <a:ext cx="0" cy="12511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a:off x="4161278" y="6737369"/>
            <a:ext cx="7599799"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4170439" y="4597351"/>
            <a:ext cx="0" cy="214001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4161278" y="4604551"/>
            <a:ext cx="151901" cy="105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1013713" y="1243349"/>
            <a:ext cx="8961303"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3300578" y="1781367"/>
            <a:ext cx="633404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1009062" y="1243349"/>
            <a:ext cx="12357" cy="2087996"/>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5005285" y="2648830"/>
            <a:ext cx="788" cy="144939"/>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472967" y="1782423"/>
            <a:ext cx="15412" cy="260406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472967" y="1781501"/>
            <a:ext cx="29054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587043" y="3590982"/>
            <a:ext cx="208384" cy="5386"/>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V="1">
            <a:off x="500099" y="4357257"/>
            <a:ext cx="291658"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a:off x="9799459" y="3350124"/>
            <a:ext cx="175557"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a:off x="9959365" y="1243349"/>
            <a:ext cx="0" cy="2125583"/>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9634621" y="1781233"/>
            <a:ext cx="15111" cy="113960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V="1">
            <a:off x="8961937" y="2929587"/>
            <a:ext cx="689246" cy="565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a:endCxn id="147" idx="1"/>
          </p:cNvCxnSpPr>
          <p:nvPr/>
        </p:nvCxnSpPr>
        <p:spPr>
          <a:xfrm>
            <a:off x="11395917" y="2090454"/>
            <a:ext cx="0" cy="2714206"/>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10490275" y="2118906"/>
            <a:ext cx="0" cy="3935986"/>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V="1">
            <a:off x="9838291" y="6050919"/>
            <a:ext cx="651984" cy="3973"/>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a:stCxn id="140" idx="2"/>
          </p:cNvCxnSpPr>
          <p:nvPr/>
        </p:nvCxnSpPr>
        <p:spPr>
          <a:xfrm>
            <a:off x="9829264" y="5699184"/>
            <a:ext cx="0" cy="382418"/>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100" name="文本框 99"/>
          <p:cNvSpPr txBox="1"/>
          <p:nvPr/>
        </p:nvSpPr>
        <p:spPr>
          <a:xfrm rot="16200000">
            <a:off x="3169485" y="3508868"/>
            <a:ext cx="1204494" cy="338554"/>
          </a:xfrm>
          <a:prstGeom prst="rect">
            <a:avLst/>
          </a:prstGeom>
          <a:ln w="25400">
            <a:noFill/>
          </a:ln>
        </p:spPr>
        <p:style>
          <a:lnRef idx="1">
            <a:schemeClr val="accent1"/>
          </a:lnRef>
          <a:fillRef idx="0">
            <a:schemeClr val="accent1"/>
          </a:fillRef>
          <a:effectRef idx="0">
            <a:schemeClr val="accent1"/>
          </a:effectRef>
          <a:fontRef idx="minor">
            <a:schemeClr val="tx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101" name="直接连接符 100"/>
          <p:cNvCxnSpPr>
            <a:endCxn id="125" idx="1"/>
          </p:cNvCxnSpPr>
          <p:nvPr/>
        </p:nvCxnSpPr>
        <p:spPr>
          <a:xfrm flipH="1">
            <a:off x="7224140" y="3756664"/>
            <a:ext cx="1" cy="25633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102" name="文本框 101"/>
          <p:cNvSpPr txBox="1"/>
          <p:nvPr/>
        </p:nvSpPr>
        <p:spPr>
          <a:xfrm rot="16200000">
            <a:off x="9827661" y="2835248"/>
            <a:ext cx="1123844" cy="284693"/>
          </a:xfrm>
          <a:prstGeom prst="rect">
            <a:avLst/>
          </a:prstGeom>
          <a:noFill/>
          <a:ln w="25400">
            <a:noFill/>
          </a:ln>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en-US" altLang="zh-CN" sz="1600" b="0" i="0" u="none" strike="noStrike" kern="1200" cap="none" spc="0" normalizeH="0" baseline="0" noProof="0" dirty="0" err="1">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rPr>
              <a:t>MemRead</a:t>
            </a:r>
            <a:endParaRPr kumimoji="0" lang="zh-CN" altLang="en-US" sz="16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3" name="文本框 102"/>
          <p:cNvSpPr txBox="1"/>
          <p:nvPr/>
        </p:nvSpPr>
        <p:spPr>
          <a:xfrm rot="16200000">
            <a:off x="10493048" y="2754432"/>
            <a:ext cx="1526143" cy="296684"/>
          </a:xfrm>
          <a:prstGeom prst="rect">
            <a:avLst/>
          </a:prstGeom>
          <a:noFill/>
          <a:ln w="25400">
            <a:noFill/>
          </a:ln>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en-US" altLang="zh-CN" sz="2000" b="0" i="0" u="none" strike="noStrike" kern="1200" cap="none" spc="0" normalizeH="0" baseline="0" noProof="0" dirty="0" err="1">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rPr>
              <a:t>MemtoReg</a:t>
            </a:r>
            <a:endPar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4" name="文本框 103"/>
          <p:cNvSpPr txBox="1"/>
          <p:nvPr/>
        </p:nvSpPr>
        <p:spPr>
          <a:xfrm>
            <a:off x="4559595" y="2228891"/>
            <a:ext cx="1328863" cy="296684"/>
          </a:xfrm>
          <a:prstGeom prst="rect">
            <a:avLst/>
          </a:prstGeom>
          <a:noFill/>
          <a:ln w="25400">
            <a:noFill/>
          </a:ln>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en-US" altLang="zh-CN" sz="2000" b="0" i="0" u="none" strike="noStrike" kern="1200" cap="none" spc="0" normalizeH="0" baseline="0" noProof="0" dirty="0" err="1">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rPr>
              <a:t>RegWrite</a:t>
            </a:r>
            <a:endPar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05" name="文本框 104"/>
          <p:cNvSpPr txBox="1"/>
          <p:nvPr/>
        </p:nvSpPr>
        <p:spPr>
          <a:xfrm>
            <a:off x="1781607" y="2869114"/>
            <a:ext cx="21621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4</a:t>
            </a:r>
            <a:endParaRPr kumimoji="0" lang="zh-CN" altLang="en-US" sz="16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sp>
        <p:nvSpPr>
          <p:cNvPr id="106" name="文本框 105"/>
          <p:cNvSpPr txBox="1"/>
          <p:nvPr/>
        </p:nvSpPr>
        <p:spPr>
          <a:xfrm>
            <a:off x="1519360" y="829663"/>
            <a:ext cx="918926"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err="1">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rPr>
              <a:t>PCSrc</a:t>
            </a:r>
            <a:endPar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107" name="直接连接符 106"/>
          <p:cNvCxnSpPr/>
          <p:nvPr/>
        </p:nvCxnSpPr>
        <p:spPr>
          <a:xfrm>
            <a:off x="10215920" y="2019478"/>
            <a:ext cx="0" cy="1889941"/>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108" name="文本框 107"/>
          <p:cNvSpPr txBox="1"/>
          <p:nvPr/>
        </p:nvSpPr>
        <p:spPr>
          <a:xfrm rot="16200000">
            <a:off x="9582186" y="2835248"/>
            <a:ext cx="1123844" cy="284693"/>
          </a:xfrm>
          <a:prstGeom prst="rect">
            <a:avLst/>
          </a:prstGeom>
          <a:noFill/>
          <a:ln w="25400">
            <a:noFill/>
          </a:ln>
        </p:spPr>
        <p:txBody>
          <a:bodyPr wrap="square" rtlCol="0">
            <a:spAutoFit/>
          </a:bodyPr>
          <a:lstStyle/>
          <a:p>
            <a:pPr marL="0" marR="0" lvl="0" indent="0" algn="l" defTabSz="914400" rtl="0" eaLnBrk="1" fontAlgn="auto" latinLnBrk="0" hangingPunct="1">
              <a:lnSpc>
                <a:spcPts val="1500"/>
              </a:lnSpc>
              <a:spcBef>
                <a:spcPts val="0"/>
              </a:spcBef>
              <a:spcAft>
                <a:spcPts val="0"/>
              </a:spcAft>
              <a:buClrTx/>
              <a:buSzTx/>
              <a:buFontTx/>
              <a:buNone/>
              <a:defRPr/>
            </a:pPr>
            <a:r>
              <a:rPr kumimoji="0" lang="en-US" altLang="zh-CN" sz="1600" b="0" i="0" u="none" strike="noStrike" kern="1200" cap="none" spc="0" normalizeH="0" baseline="0" noProof="0" dirty="0" err="1">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rPr>
              <a:t>MemWrite</a:t>
            </a:r>
            <a:endParaRPr kumimoji="0" lang="zh-CN" altLang="en-US" sz="16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109" name="直接连接符 108"/>
          <p:cNvCxnSpPr/>
          <p:nvPr/>
        </p:nvCxnSpPr>
        <p:spPr>
          <a:xfrm>
            <a:off x="11670805" y="5478092"/>
            <a:ext cx="90272"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5998570" y="4364897"/>
            <a:ext cx="191435" cy="494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1" name="文本框 110"/>
          <p:cNvSpPr txBox="1"/>
          <p:nvPr/>
        </p:nvSpPr>
        <p:spPr>
          <a:xfrm>
            <a:off x="6694008" y="3408356"/>
            <a:ext cx="1055097"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err="1">
                <a:ln>
                  <a:noFill/>
                </a:ln>
                <a:solidFill>
                  <a:srgbClr val="0000FF"/>
                </a:solidFill>
                <a:effectLst/>
                <a:uLnTx/>
                <a:uFillTx/>
                <a:latin typeface="Times New Roman" panose="02020603050405020304" pitchFamily="18" charset="0"/>
                <a:ea typeface="+mn-ea"/>
                <a:cs typeface="Times New Roman" panose="02020603050405020304" pitchFamily="18" charset="0"/>
              </a:rPr>
              <a:t>ALUSrc</a:t>
            </a:r>
            <a:endParaRPr kumimoji="0" 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endParaRPr>
          </a:p>
        </p:txBody>
      </p:sp>
      <p:cxnSp>
        <p:nvCxnSpPr>
          <p:cNvPr id="112" name="直接连接符 111"/>
          <p:cNvCxnSpPr/>
          <p:nvPr/>
        </p:nvCxnSpPr>
        <p:spPr>
          <a:xfrm flipH="1">
            <a:off x="7368541" y="6096596"/>
            <a:ext cx="1" cy="14170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113" name="文本框 112"/>
          <p:cNvSpPr txBox="1"/>
          <p:nvPr/>
        </p:nvSpPr>
        <p:spPr>
          <a:xfrm>
            <a:off x="6910462" y="6214760"/>
            <a:ext cx="1027845"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err="1">
                <a:ln>
                  <a:noFill/>
                </a:ln>
                <a:solidFill>
                  <a:srgbClr val="0000FF"/>
                </a:solidFill>
                <a:effectLst/>
                <a:uLnTx/>
                <a:uFillTx/>
                <a:latin typeface="Times New Roman" panose="02020603050405020304" pitchFamily="18" charset="0"/>
                <a:ea typeface="+mn-ea"/>
                <a:cs typeface="Times New Roman" panose="02020603050405020304" pitchFamily="18" charset="0"/>
              </a:rPr>
              <a:t>ALUOp</a:t>
            </a:r>
            <a:endParaRPr kumimoji="0" 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endParaRPr>
          </a:p>
        </p:txBody>
      </p:sp>
      <p:sp>
        <p:nvSpPr>
          <p:cNvPr id="114" name="流程图: 延期 113"/>
          <p:cNvSpPr/>
          <p:nvPr/>
        </p:nvSpPr>
        <p:spPr>
          <a:xfrm>
            <a:off x="9274313" y="3161542"/>
            <a:ext cx="539169" cy="340934"/>
          </a:xfrm>
          <a:prstGeom prst="flowChartDelay">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600" b="0" i="0" u="none" strike="noStrike" kern="1200" cap="none" spc="0" normalizeH="0" baseline="0" noProof="0">
              <a:ln>
                <a:noFill/>
              </a:ln>
              <a:solidFill>
                <a:prstClr val="white"/>
              </a:solidFill>
              <a:effectLst/>
              <a:uLnTx/>
              <a:uFillTx/>
              <a:latin typeface="等线" panose="02010600030101010101" charset="-122"/>
              <a:ea typeface="+mn-ea"/>
              <a:cs typeface="+mn-cs"/>
            </a:endParaRPr>
          </a:p>
        </p:txBody>
      </p:sp>
      <p:cxnSp>
        <p:nvCxnSpPr>
          <p:cNvPr id="116" name="连接符: 肘形 115"/>
          <p:cNvCxnSpPr/>
          <p:nvPr/>
        </p:nvCxnSpPr>
        <p:spPr>
          <a:xfrm rot="10800000">
            <a:off x="9139277" y="3111489"/>
            <a:ext cx="135036" cy="158376"/>
          </a:xfrm>
          <a:prstGeom prst="bentConnector2">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117" name="文本框 116"/>
          <p:cNvSpPr txBox="1"/>
          <p:nvPr/>
        </p:nvSpPr>
        <p:spPr>
          <a:xfrm>
            <a:off x="9060850" y="2845446"/>
            <a:ext cx="92525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Branch</a:t>
            </a:r>
          </a:p>
        </p:txBody>
      </p:sp>
      <p:sp>
        <p:nvSpPr>
          <p:cNvPr id="118" name="文本框 117"/>
          <p:cNvSpPr txBox="1"/>
          <p:nvPr/>
        </p:nvSpPr>
        <p:spPr>
          <a:xfrm>
            <a:off x="4095742" y="5079299"/>
            <a:ext cx="1166764"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[31-0]</a:t>
            </a:r>
          </a:p>
        </p:txBody>
      </p:sp>
      <p:sp>
        <p:nvSpPr>
          <p:cNvPr id="119" name="文本框 118"/>
          <p:cNvSpPr txBox="1"/>
          <p:nvPr/>
        </p:nvSpPr>
        <p:spPr>
          <a:xfrm>
            <a:off x="4112064" y="5854589"/>
            <a:ext cx="196143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[30,14-12]</a:t>
            </a:r>
          </a:p>
        </p:txBody>
      </p:sp>
      <p:sp>
        <p:nvSpPr>
          <p:cNvPr id="120" name="文本框 119"/>
          <p:cNvSpPr txBox="1"/>
          <p:nvPr/>
        </p:nvSpPr>
        <p:spPr>
          <a:xfrm>
            <a:off x="4121235" y="6103160"/>
            <a:ext cx="163526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[11-7]</a:t>
            </a:r>
          </a:p>
        </p:txBody>
      </p:sp>
      <p:cxnSp>
        <p:nvCxnSpPr>
          <p:cNvPr id="121" name="直接连接符 120"/>
          <p:cNvCxnSpPr/>
          <p:nvPr/>
        </p:nvCxnSpPr>
        <p:spPr>
          <a:xfrm>
            <a:off x="5911263" y="5426253"/>
            <a:ext cx="107041" cy="256331"/>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
        <p:nvSpPr>
          <p:cNvPr id="122" name="文本框 121"/>
          <p:cNvSpPr txBox="1"/>
          <p:nvPr/>
        </p:nvSpPr>
        <p:spPr>
          <a:xfrm>
            <a:off x="5743382" y="5241013"/>
            <a:ext cx="40965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64</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23" name="文本框 122"/>
          <p:cNvSpPr txBox="1"/>
          <p:nvPr/>
        </p:nvSpPr>
        <p:spPr>
          <a:xfrm>
            <a:off x="4624302" y="5264687"/>
            <a:ext cx="43224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32</a:t>
            </a:r>
          </a:p>
        </p:txBody>
      </p:sp>
      <p:cxnSp>
        <p:nvCxnSpPr>
          <p:cNvPr id="124" name="直接连接符 123"/>
          <p:cNvCxnSpPr/>
          <p:nvPr/>
        </p:nvCxnSpPr>
        <p:spPr>
          <a:xfrm>
            <a:off x="4804217" y="5461763"/>
            <a:ext cx="107041" cy="256331"/>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177" name="直接连接符 176"/>
          <p:cNvCxnSpPr/>
          <p:nvPr/>
        </p:nvCxnSpPr>
        <p:spPr>
          <a:xfrm>
            <a:off x="6000086" y="3838070"/>
            <a:ext cx="191435" cy="494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a:xfrm>
            <a:off x="9132491" y="3449023"/>
            <a:ext cx="0" cy="834776"/>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9118237" y="3441165"/>
            <a:ext cx="150707"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p:nvPr/>
        </p:nvCxnSpPr>
        <p:spPr>
          <a:xfrm>
            <a:off x="8974103" y="4266483"/>
            <a:ext cx="150707"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50850" y="6214745"/>
            <a:ext cx="1442720" cy="460375"/>
          </a:xfrm>
          <a:prstGeom prst="rect">
            <a:avLst/>
          </a:prstGeom>
          <a:noFill/>
        </p:spPr>
        <p:txBody>
          <a:bodyPr wrap="none" rtlCol="0" anchor="t">
            <a:spAutoFit/>
          </a:bodyPr>
          <a:lstStyle/>
          <a:p>
            <a:r>
              <a:rPr lang="zh-CN" altLang="en-US" sz="2400" dirty="0">
                <a:sym typeface="+mn-ea"/>
              </a:rPr>
              <a:t>黑书</a:t>
            </a:r>
            <a:r>
              <a:rPr lang="en-US" altLang="zh-CN" sz="2400" dirty="0">
                <a:sym typeface="+mn-ea"/>
              </a:rPr>
              <a:t>P206</a:t>
            </a:r>
          </a:p>
        </p:txBody>
      </p:sp>
      <p:sp>
        <p:nvSpPr>
          <p:cNvPr id="3" name="文本框 2"/>
          <p:cNvSpPr txBox="1"/>
          <p:nvPr/>
        </p:nvSpPr>
        <p:spPr>
          <a:xfrm>
            <a:off x="95250" y="5407025"/>
            <a:ext cx="2786380" cy="829945"/>
          </a:xfrm>
          <a:prstGeom prst="rect">
            <a:avLst/>
          </a:prstGeom>
          <a:noFill/>
        </p:spPr>
        <p:txBody>
          <a:bodyPr wrap="square" rtlCol="0" anchor="t">
            <a:spAutoFit/>
          </a:bodyPr>
          <a:lstStyle/>
          <a:p>
            <a:r>
              <a:rPr lang="en-US" altLang="zh-CN" sz="2400" dirty="0">
                <a:sym typeface="+mn-ea"/>
              </a:rPr>
              <a:t>R</a:t>
            </a:r>
            <a:r>
              <a:rPr lang="zh-CN" altLang="en-US" sz="2400" dirty="0">
                <a:sym typeface="+mn-ea"/>
              </a:rPr>
              <a:t>型指令、</a:t>
            </a:r>
            <a:r>
              <a:rPr lang="en-US" altLang="zh-CN" sz="2400" dirty="0" err="1">
                <a:sym typeface="+mn-ea"/>
              </a:rPr>
              <a:t>ld</a:t>
            </a:r>
            <a:r>
              <a:rPr lang="zh-CN" altLang="en-US" sz="2400" dirty="0">
                <a:sym typeface="+mn-ea"/>
              </a:rPr>
              <a:t>指令、</a:t>
            </a:r>
            <a:r>
              <a:rPr lang="en-US" altLang="zh-CN" sz="2400" dirty="0" err="1">
                <a:sym typeface="+mn-ea"/>
              </a:rPr>
              <a:t>sd</a:t>
            </a:r>
            <a:r>
              <a:rPr lang="zh-CN" altLang="en-US" sz="2400" dirty="0">
                <a:sym typeface="+mn-ea"/>
              </a:rPr>
              <a:t>指令和</a:t>
            </a:r>
            <a:r>
              <a:rPr lang="en-US" altLang="zh-CN" sz="2400" dirty="0" err="1">
                <a:sym typeface="+mn-ea"/>
              </a:rPr>
              <a:t>beq</a:t>
            </a:r>
            <a:r>
              <a:rPr lang="zh-CN" altLang="en-US" sz="2400" dirty="0">
                <a:sym typeface="+mn-ea"/>
              </a:rPr>
              <a:t>指令</a:t>
            </a:r>
          </a:p>
        </p:txBody>
      </p:sp>
    </p:spTree>
    <p:extLst>
      <p:ext uri="{BB962C8B-B14F-4D97-AF65-F5344CB8AC3E}">
        <p14:creationId xmlns:p14="http://schemas.microsoft.com/office/powerpoint/2010/main" val="3853981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anim calcmode="lin" valueType="num">
                                      <p:cBhvr additive="base">
                                        <p:cTn id="7" dur="500" fill="hold"/>
                                        <p:tgtEl>
                                          <p:spTgt spid="87"/>
                                        </p:tgtEl>
                                        <p:attrNameLst>
                                          <p:attrName>ppt_x</p:attrName>
                                        </p:attrNameLst>
                                      </p:cBhvr>
                                      <p:tavLst>
                                        <p:tav tm="0">
                                          <p:val>
                                            <p:strVal val="#ppt_x"/>
                                          </p:val>
                                        </p:tav>
                                        <p:tav tm="100000">
                                          <p:val>
                                            <p:strVal val="#ppt_x"/>
                                          </p:val>
                                        </p:tav>
                                      </p:tavLst>
                                    </p:anim>
                                    <p:anim calcmode="lin" valueType="num">
                                      <p:cBhvr additive="base">
                                        <p:cTn id="8" dur="500" fill="hold"/>
                                        <p:tgtEl>
                                          <p:spTgt spid="8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4"/>
                                        </p:tgtEl>
                                        <p:attrNameLst>
                                          <p:attrName>style.visibility</p:attrName>
                                        </p:attrNameLst>
                                      </p:cBhvr>
                                      <p:to>
                                        <p:strVal val="visible"/>
                                      </p:to>
                                    </p:set>
                                    <p:anim calcmode="lin" valueType="num">
                                      <p:cBhvr additive="base">
                                        <p:cTn id="11" dur="500" fill="hold"/>
                                        <p:tgtEl>
                                          <p:spTgt spid="104"/>
                                        </p:tgtEl>
                                        <p:attrNameLst>
                                          <p:attrName>ppt_x</p:attrName>
                                        </p:attrNameLst>
                                      </p:cBhvr>
                                      <p:tavLst>
                                        <p:tav tm="0">
                                          <p:val>
                                            <p:strVal val="#ppt_x"/>
                                          </p:val>
                                        </p:tav>
                                        <p:tav tm="100000">
                                          <p:val>
                                            <p:strVal val="#ppt_x"/>
                                          </p:val>
                                        </p:tav>
                                      </p:tavLst>
                                    </p:anim>
                                    <p:anim calcmode="lin" valueType="num">
                                      <p:cBhvr additive="base">
                                        <p:cTn id="12" dur="500" fill="hold"/>
                                        <p:tgtEl>
                                          <p:spTgt spid="10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1"/>
                                        </p:tgtEl>
                                        <p:attrNameLst>
                                          <p:attrName>style.visibility</p:attrName>
                                        </p:attrNameLst>
                                      </p:cBhvr>
                                      <p:to>
                                        <p:strVal val="visible"/>
                                      </p:to>
                                    </p:set>
                                    <p:anim calcmode="lin" valueType="num">
                                      <p:cBhvr additive="base">
                                        <p:cTn id="17" dur="500" fill="hold"/>
                                        <p:tgtEl>
                                          <p:spTgt spid="111"/>
                                        </p:tgtEl>
                                        <p:attrNameLst>
                                          <p:attrName>ppt_x</p:attrName>
                                        </p:attrNameLst>
                                      </p:cBhvr>
                                      <p:tavLst>
                                        <p:tav tm="0">
                                          <p:val>
                                            <p:strVal val="#ppt_x"/>
                                          </p:val>
                                        </p:tav>
                                        <p:tav tm="100000">
                                          <p:val>
                                            <p:strVal val="#ppt_x"/>
                                          </p:val>
                                        </p:tav>
                                      </p:tavLst>
                                    </p:anim>
                                    <p:anim calcmode="lin" valueType="num">
                                      <p:cBhvr additive="base">
                                        <p:cTn id="18" dur="500" fill="hold"/>
                                        <p:tgtEl>
                                          <p:spTgt spid="111"/>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01"/>
                                        </p:tgtEl>
                                        <p:attrNameLst>
                                          <p:attrName>style.visibility</p:attrName>
                                        </p:attrNameLst>
                                      </p:cBhvr>
                                      <p:to>
                                        <p:strVal val="visible"/>
                                      </p:to>
                                    </p:set>
                                    <p:anim calcmode="lin" valueType="num">
                                      <p:cBhvr additive="base">
                                        <p:cTn id="21" dur="500" fill="hold"/>
                                        <p:tgtEl>
                                          <p:spTgt spid="101"/>
                                        </p:tgtEl>
                                        <p:attrNameLst>
                                          <p:attrName>ppt_x</p:attrName>
                                        </p:attrNameLst>
                                      </p:cBhvr>
                                      <p:tavLst>
                                        <p:tav tm="0">
                                          <p:val>
                                            <p:strVal val="#ppt_x"/>
                                          </p:val>
                                        </p:tav>
                                        <p:tav tm="100000">
                                          <p:val>
                                            <p:strVal val="#ppt_x"/>
                                          </p:val>
                                        </p:tav>
                                      </p:tavLst>
                                    </p:anim>
                                    <p:anim calcmode="lin" valueType="num">
                                      <p:cBhvr additive="base">
                                        <p:cTn id="22" dur="500" fill="hold"/>
                                        <p:tgtEl>
                                          <p:spTgt spid="101"/>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13"/>
                                        </p:tgtEl>
                                        <p:attrNameLst>
                                          <p:attrName>style.visibility</p:attrName>
                                        </p:attrNameLst>
                                      </p:cBhvr>
                                      <p:to>
                                        <p:strVal val="visible"/>
                                      </p:to>
                                    </p:set>
                                    <p:anim calcmode="lin" valueType="num">
                                      <p:cBhvr additive="base">
                                        <p:cTn id="27" dur="500" fill="hold"/>
                                        <p:tgtEl>
                                          <p:spTgt spid="113"/>
                                        </p:tgtEl>
                                        <p:attrNameLst>
                                          <p:attrName>ppt_x</p:attrName>
                                        </p:attrNameLst>
                                      </p:cBhvr>
                                      <p:tavLst>
                                        <p:tav tm="0">
                                          <p:val>
                                            <p:strVal val="#ppt_x"/>
                                          </p:val>
                                        </p:tav>
                                        <p:tav tm="100000">
                                          <p:val>
                                            <p:strVal val="#ppt_x"/>
                                          </p:val>
                                        </p:tav>
                                      </p:tavLst>
                                    </p:anim>
                                    <p:anim calcmode="lin" valueType="num">
                                      <p:cBhvr additive="base">
                                        <p:cTn id="28" dur="500" fill="hold"/>
                                        <p:tgtEl>
                                          <p:spTgt spid="113"/>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47"/>
                                        </p:tgtEl>
                                        <p:attrNameLst>
                                          <p:attrName>style.visibility</p:attrName>
                                        </p:attrNameLst>
                                      </p:cBhvr>
                                      <p:to>
                                        <p:strVal val="visible"/>
                                      </p:to>
                                    </p:set>
                                    <p:anim calcmode="lin" valueType="num">
                                      <p:cBhvr additive="base">
                                        <p:cTn id="31" dur="500" fill="hold"/>
                                        <p:tgtEl>
                                          <p:spTgt spid="47"/>
                                        </p:tgtEl>
                                        <p:attrNameLst>
                                          <p:attrName>ppt_x</p:attrName>
                                        </p:attrNameLst>
                                      </p:cBhvr>
                                      <p:tavLst>
                                        <p:tav tm="0">
                                          <p:val>
                                            <p:strVal val="#ppt_x"/>
                                          </p:val>
                                        </p:tav>
                                        <p:tav tm="100000">
                                          <p:val>
                                            <p:strVal val="#ppt_x"/>
                                          </p:val>
                                        </p:tav>
                                      </p:tavLst>
                                    </p:anim>
                                    <p:anim calcmode="lin" valueType="num">
                                      <p:cBhvr additive="base">
                                        <p:cTn id="32" dur="500" fill="hold"/>
                                        <p:tgtEl>
                                          <p:spTgt spid="47"/>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anim calcmode="lin" valueType="num">
                                      <p:cBhvr additive="base">
                                        <p:cTn id="35" dur="500" fill="hold"/>
                                        <p:tgtEl>
                                          <p:spTgt spid="18"/>
                                        </p:tgtEl>
                                        <p:attrNameLst>
                                          <p:attrName>ppt_x</p:attrName>
                                        </p:attrNameLst>
                                      </p:cBhvr>
                                      <p:tavLst>
                                        <p:tav tm="0">
                                          <p:val>
                                            <p:strVal val="#ppt_x"/>
                                          </p:val>
                                        </p:tav>
                                        <p:tav tm="100000">
                                          <p:val>
                                            <p:strVal val="#ppt_x"/>
                                          </p:val>
                                        </p:tav>
                                      </p:tavLst>
                                    </p:anim>
                                    <p:anim calcmode="lin" valueType="num">
                                      <p:cBhvr additive="base">
                                        <p:cTn id="36" dur="500" fill="hold"/>
                                        <p:tgtEl>
                                          <p:spTgt spid="18"/>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12"/>
                                        </p:tgtEl>
                                        <p:attrNameLst>
                                          <p:attrName>style.visibility</p:attrName>
                                        </p:attrNameLst>
                                      </p:cBhvr>
                                      <p:to>
                                        <p:strVal val="visible"/>
                                      </p:to>
                                    </p:set>
                                    <p:anim calcmode="lin" valueType="num">
                                      <p:cBhvr additive="base">
                                        <p:cTn id="39" dur="500" fill="hold"/>
                                        <p:tgtEl>
                                          <p:spTgt spid="112"/>
                                        </p:tgtEl>
                                        <p:attrNameLst>
                                          <p:attrName>ppt_x</p:attrName>
                                        </p:attrNameLst>
                                      </p:cBhvr>
                                      <p:tavLst>
                                        <p:tav tm="0">
                                          <p:val>
                                            <p:strVal val="#ppt_x"/>
                                          </p:val>
                                        </p:tav>
                                        <p:tav tm="100000">
                                          <p:val>
                                            <p:strVal val="#ppt_x"/>
                                          </p:val>
                                        </p:tav>
                                      </p:tavLst>
                                    </p:anim>
                                    <p:anim calcmode="lin" valueType="num">
                                      <p:cBhvr additive="base">
                                        <p:cTn id="40" dur="500" fill="hold"/>
                                        <p:tgtEl>
                                          <p:spTgt spid="112"/>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72"/>
                                        </p:tgtEl>
                                        <p:attrNameLst>
                                          <p:attrName>style.visibility</p:attrName>
                                        </p:attrNameLst>
                                      </p:cBhvr>
                                      <p:to>
                                        <p:strVal val="visible"/>
                                      </p:to>
                                    </p:set>
                                    <p:anim calcmode="lin" valueType="num">
                                      <p:cBhvr additive="base">
                                        <p:cTn id="43" dur="500" fill="hold"/>
                                        <p:tgtEl>
                                          <p:spTgt spid="72"/>
                                        </p:tgtEl>
                                        <p:attrNameLst>
                                          <p:attrName>ppt_x</p:attrName>
                                        </p:attrNameLst>
                                      </p:cBhvr>
                                      <p:tavLst>
                                        <p:tav tm="0">
                                          <p:val>
                                            <p:strVal val="#ppt_x"/>
                                          </p:val>
                                        </p:tav>
                                        <p:tav tm="100000">
                                          <p:val>
                                            <p:strVal val="#ppt_x"/>
                                          </p:val>
                                        </p:tav>
                                      </p:tavLst>
                                    </p:anim>
                                    <p:anim calcmode="lin" valueType="num">
                                      <p:cBhvr additive="base">
                                        <p:cTn id="44" dur="500" fill="hold"/>
                                        <p:tgtEl>
                                          <p:spTgt spid="72"/>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71"/>
                                        </p:tgtEl>
                                        <p:attrNameLst>
                                          <p:attrName>style.visibility</p:attrName>
                                        </p:attrNameLst>
                                      </p:cBhvr>
                                      <p:to>
                                        <p:strVal val="visible"/>
                                      </p:to>
                                    </p:set>
                                    <p:anim calcmode="lin" valueType="num">
                                      <p:cBhvr additive="base">
                                        <p:cTn id="47" dur="500" fill="hold"/>
                                        <p:tgtEl>
                                          <p:spTgt spid="71"/>
                                        </p:tgtEl>
                                        <p:attrNameLst>
                                          <p:attrName>ppt_x</p:attrName>
                                        </p:attrNameLst>
                                      </p:cBhvr>
                                      <p:tavLst>
                                        <p:tav tm="0">
                                          <p:val>
                                            <p:strVal val="#ppt_x"/>
                                          </p:val>
                                        </p:tav>
                                        <p:tav tm="100000">
                                          <p:val>
                                            <p:strVal val="#ppt_x"/>
                                          </p:val>
                                        </p:tav>
                                      </p:tavLst>
                                    </p:anim>
                                    <p:anim calcmode="lin" valueType="num">
                                      <p:cBhvr additive="base">
                                        <p:cTn id="48"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49"/>
                                        </p:tgtEl>
                                        <p:attrNameLst>
                                          <p:attrName>style.visibility</p:attrName>
                                        </p:attrNameLst>
                                      </p:cBhvr>
                                      <p:to>
                                        <p:strVal val="visible"/>
                                      </p:to>
                                    </p:set>
                                    <p:anim calcmode="lin" valueType="num">
                                      <p:cBhvr additive="base">
                                        <p:cTn id="53" dur="500" fill="hold"/>
                                        <p:tgtEl>
                                          <p:spTgt spid="49"/>
                                        </p:tgtEl>
                                        <p:attrNameLst>
                                          <p:attrName>ppt_x</p:attrName>
                                        </p:attrNameLst>
                                      </p:cBhvr>
                                      <p:tavLst>
                                        <p:tav tm="0">
                                          <p:val>
                                            <p:strVal val="#ppt_x"/>
                                          </p:val>
                                        </p:tav>
                                        <p:tav tm="100000">
                                          <p:val>
                                            <p:strVal val="#ppt_x"/>
                                          </p:val>
                                        </p:tav>
                                      </p:tavLst>
                                    </p:anim>
                                    <p:anim calcmode="lin" valueType="num">
                                      <p:cBhvr additive="base">
                                        <p:cTn id="54" dur="500" fill="hold"/>
                                        <p:tgtEl>
                                          <p:spTgt spid="49"/>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178"/>
                                        </p:tgtEl>
                                        <p:attrNameLst>
                                          <p:attrName>style.visibility</p:attrName>
                                        </p:attrNameLst>
                                      </p:cBhvr>
                                      <p:to>
                                        <p:strVal val="visible"/>
                                      </p:to>
                                    </p:set>
                                    <p:anim calcmode="lin" valueType="num">
                                      <p:cBhvr additive="base">
                                        <p:cTn id="57" dur="500" fill="hold"/>
                                        <p:tgtEl>
                                          <p:spTgt spid="178"/>
                                        </p:tgtEl>
                                        <p:attrNameLst>
                                          <p:attrName>ppt_x</p:attrName>
                                        </p:attrNameLst>
                                      </p:cBhvr>
                                      <p:tavLst>
                                        <p:tav tm="0">
                                          <p:val>
                                            <p:strVal val="#ppt_x"/>
                                          </p:val>
                                        </p:tav>
                                        <p:tav tm="100000">
                                          <p:val>
                                            <p:strVal val="#ppt_x"/>
                                          </p:val>
                                        </p:tav>
                                      </p:tavLst>
                                    </p:anim>
                                    <p:anim calcmode="lin" valueType="num">
                                      <p:cBhvr additive="base">
                                        <p:cTn id="58" dur="500" fill="hold"/>
                                        <p:tgtEl>
                                          <p:spTgt spid="178"/>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17"/>
                                        </p:tgtEl>
                                        <p:attrNameLst>
                                          <p:attrName>style.visibility</p:attrName>
                                        </p:attrNameLst>
                                      </p:cBhvr>
                                      <p:to>
                                        <p:strVal val="visible"/>
                                      </p:to>
                                    </p:set>
                                    <p:anim calcmode="lin" valueType="num">
                                      <p:cBhvr additive="base">
                                        <p:cTn id="61" dur="500" fill="hold"/>
                                        <p:tgtEl>
                                          <p:spTgt spid="117"/>
                                        </p:tgtEl>
                                        <p:attrNameLst>
                                          <p:attrName>ppt_x</p:attrName>
                                        </p:attrNameLst>
                                      </p:cBhvr>
                                      <p:tavLst>
                                        <p:tav tm="0">
                                          <p:val>
                                            <p:strVal val="#ppt_x"/>
                                          </p:val>
                                        </p:tav>
                                        <p:tav tm="100000">
                                          <p:val>
                                            <p:strVal val="#ppt_x"/>
                                          </p:val>
                                        </p:tav>
                                      </p:tavLst>
                                    </p:anim>
                                    <p:anim calcmode="lin" valueType="num">
                                      <p:cBhvr additive="base">
                                        <p:cTn id="62" dur="500" fill="hold"/>
                                        <p:tgtEl>
                                          <p:spTgt spid="117"/>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114"/>
                                        </p:tgtEl>
                                        <p:attrNameLst>
                                          <p:attrName>style.visibility</p:attrName>
                                        </p:attrNameLst>
                                      </p:cBhvr>
                                      <p:to>
                                        <p:strVal val="visible"/>
                                      </p:to>
                                    </p:set>
                                    <p:anim calcmode="lin" valueType="num">
                                      <p:cBhvr additive="base">
                                        <p:cTn id="65" dur="500" fill="hold"/>
                                        <p:tgtEl>
                                          <p:spTgt spid="114"/>
                                        </p:tgtEl>
                                        <p:attrNameLst>
                                          <p:attrName>ppt_x</p:attrName>
                                        </p:attrNameLst>
                                      </p:cBhvr>
                                      <p:tavLst>
                                        <p:tav tm="0">
                                          <p:val>
                                            <p:strVal val="#ppt_x"/>
                                          </p:val>
                                        </p:tav>
                                        <p:tav tm="100000">
                                          <p:val>
                                            <p:strVal val="#ppt_x"/>
                                          </p:val>
                                        </p:tav>
                                      </p:tavLst>
                                    </p:anim>
                                    <p:anim calcmode="lin" valueType="num">
                                      <p:cBhvr additive="base">
                                        <p:cTn id="66" dur="500" fill="hold"/>
                                        <p:tgtEl>
                                          <p:spTgt spid="114"/>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93"/>
                                        </p:tgtEl>
                                        <p:attrNameLst>
                                          <p:attrName>style.visibility</p:attrName>
                                        </p:attrNameLst>
                                      </p:cBhvr>
                                      <p:to>
                                        <p:strVal val="visible"/>
                                      </p:to>
                                    </p:set>
                                    <p:anim calcmode="lin" valueType="num">
                                      <p:cBhvr additive="base">
                                        <p:cTn id="69" dur="500" fill="hold"/>
                                        <p:tgtEl>
                                          <p:spTgt spid="93"/>
                                        </p:tgtEl>
                                        <p:attrNameLst>
                                          <p:attrName>ppt_x</p:attrName>
                                        </p:attrNameLst>
                                      </p:cBhvr>
                                      <p:tavLst>
                                        <p:tav tm="0">
                                          <p:val>
                                            <p:strVal val="#ppt_x"/>
                                          </p:val>
                                        </p:tav>
                                        <p:tav tm="100000">
                                          <p:val>
                                            <p:strVal val="#ppt_x"/>
                                          </p:val>
                                        </p:tav>
                                      </p:tavLst>
                                    </p:anim>
                                    <p:anim calcmode="lin" valueType="num">
                                      <p:cBhvr additive="base">
                                        <p:cTn id="70" dur="500" fill="hold"/>
                                        <p:tgtEl>
                                          <p:spTgt spid="93"/>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84"/>
                                        </p:tgtEl>
                                        <p:attrNameLst>
                                          <p:attrName>style.visibility</p:attrName>
                                        </p:attrNameLst>
                                      </p:cBhvr>
                                      <p:to>
                                        <p:strVal val="visible"/>
                                      </p:to>
                                    </p:set>
                                    <p:anim calcmode="lin" valueType="num">
                                      <p:cBhvr additive="base">
                                        <p:cTn id="73" dur="500" fill="hold"/>
                                        <p:tgtEl>
                                          <p:spTgt spid="84"/>
                                        </p:tgtEl>
                                        <p:attrNameLst>
                                          <p:attrName>ppt_x</p:attrName>
                                        </p:attrNameLst>
                                      </p:cBhvr>
                                      <p:tavLst>
                                        <p:tav tm="0">
                                          <p:val>
                                            <p:strVal val="#ppt_x"/>
                                          </p:val>
                                        </p:tav>
                                        <p:tav tm="100000">
                                          <p:val>
                                            <p:strVal val="#ppt_x"/>
                                          </p:val>
                                        </p:tav>
                                      </p:tavLst>
                                    </p:anim>
                                    <p:anim calcmode="lin" valueType="num">
                                      <p:cBhvr additive="base">
                                        <p:cTn id="74" dur="500" fill="hold"/>
                                        <p:tgtEl>
                                          <p:spTgt spid="84"/>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106"/>
                                        </p:tgtEl>
                                        <p:attrNameLst>
                                          <p:attrName>style.visibility</p:attrName>
                                        </p:attrNameLst>
                                      </p:cBhvr>
                                      <p:to>
                                        <p:strVal val="visible"/>
                                      </p:to>
                                    </p:set>
                                    <p:anim calcmode="lin" valueType="num">
                                      <p:cBhvr additive="base">
                                        <p:cTn id="77" dur="500" fill="hold"/>
                                        <p:tgtEl>
                                          <p:spTgt spid="106"/>
                                        </p:tgtEl>
                                        <p:attrNameLst>
                                          <p:attrName>ppt_x</p:attrName>
                                        </p:attrNameLst>
                                      </p:cBhvr>
                                      <p:tavLst>
                                        <p:tav tm="0">
                                          <p:val>
                                            <p:strVal val="#ppt_x"/>
                                          </p:val>
                                        </p:tav>
                                        <p:tav tm="100000">
                                          <p:val>
                                            <p:strVal val="#ppt_x"/>
                                          </p:val>
                                        </p:tav>
                                      </p:tavLst>
                                    </p:anim>
                                    <p:anim calcmode="lin" valueType="num">
                                      <p:cBhvr additive="base">
                                        <p:cTn id="78" dur="500" fill="hold"/>
                                        <p:tgtEl>
                                          <p:spTgt spid="106"/>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86"/>
                                        </p:tgtEl>
                                        <p:attrNameLst>
                                          <p:attrName>style.visibility</p:attrName>
                                        </p:attrNameLst>
                                      </p:cBhvr>
                                      <p:to>
                                        <p:strVal val="visible"/>
                                      </p:to>
                                    </p:set>
                                    <p:anim calcmode="lin" valueType="num">
                                      <p:cBhvr additive="base">
                                        <p:cTn id="81" dur="500" fill="hold"/>
                                        <p:tgtEl>
                                          <p:spTgt spid="86"/>
                                        </p:tgtEl>
                                        <p:attrNameLst>
                                          <p:attrName>ppt_x</p:attrName>
                                        </p:attrNameLst>
                                      </p:cBhvr>
                                      <p:tavLst>
                                        <p:tav tm="0">
                                          <p:val>
                                            <p:strVal val="#ppt_x"/>
                                          </p:val>
                                        </p:tav>
                                        <p:tav tm="100000">
                                          <p:val>
                                            <p:strVal val="#ppt_x"/>
                                          </p:val>
                                        </p:tav>
                                      </p:tavLst>
                                    </p:anim>
                                    <p:anim calcmode="lin" valueType="num">
                                      <p:cBhvr additive="base">
                                        <p:cTn id="82" dur="500" fill="hold"/>
                                        <p:tgtEl>
                                          <p:spTgt spid="86"/>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116"/>
                                        </p:tgtEl>
                                        <p:attrNameLst>
                                          <p:attrName>style.visibility</p:attrName>
                                        </p:attrNameLst>
                                      </p:cBhvr>
                                      <p:to>
                                        <p:strVal val="visible"/>
                                      </p:to>
                                    </p:set>
                                    <p:anim calcmode="lin" valueType="num">
                                      <p:cBhvr additive="base">
                                        <p:cTn id="85" dur="500" fill="hold"/>
                                        <p:tgtEl>
                                          <p:spTgt spid="116"/>
                                        </p:tgtEl>
                                        <p:attrNameLst>
                                          <p:attrName>ppt_x</p:attrName>
                                        </p:attrNameLst>
                                      </p:cBhvr>
                                      <p:tavLst>
                                        <p:tav tm="0">
                                          <p:val>
                                            <p:strVal val="#ppt_x"/>
                                          </p:val>
                                        </p:tav>
                                        <p:tav tm="100000">
                                          <p:val>
                                            <p:strVal val="#ppt_x"/>
                                          </p:val>
                                        </p:tav>
                                      </p:tavLst>
                                    </p:anim>
                                    <p:anim calcmode="lin" valueType="num">
                                      <p:cBhvr additive="base">
                                        <p:cTn id="86" dur="500" fill="hold"/>
                                        <p:tgtEl>
                                          <p:spTgt spid="116"/>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92"/>
                                        </p:tgtEl>
                                        <p:attrNameLst>
                                          <p:attrName>style.visibility</p:attrName>
                                        </p:attrNameLst>
                                      </p:cBhvr>
                                      <p:to>
                                        <p:strVal val="visible"/>
                                      </p:to>
                                    </p:set>
                                    <p:anim calcmode="lin" valueType="num">
                                      <p:cBhvr additive="base">
                                        <p:cTn id="89" dur="500" fill="hold"/>
                                        <p:tgtEl>
                                          <p:spTgt spid="92"/>
                                        </p:tgtEl>
                                        <p:attrNameLst>
                                          <p:attrName>ppt_x</p:attrName>
                                        </p:attrNameLst>
                                      </p:cBhvr>
                                      <p:tavLst>
                                        <p:tav tm="0">
                                          <p:val>
                                            <p:strVal val="#ppt_x"/>
                                          </p:val>
                                        </p:tav>
                                        <p:tav tm="100000">
                                          <p:val>
                                            <p:strVal val="#ppt_x"/>
                                          </p:val>
                                        </p:tav>
                                      </p:tavLst>
                                    </p:anim>
                                    <p:anim calcmode="lin" valueType="num">
                                      <p:cBhvr additive="base">
                                        <p:cTn id="90" dur="500" fill="hold"/>
                                        <p:tgtEl>
                                          <p:spTgt spid="92"/>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179"/>
                                        </p:tgtEl>
                                        <p:attrNameLst>
                                          <p:attrName>style.visibility</p:attrName>
                                        </p:attrNameLst>
                                      </p:cBhvr>
                                      <p:to>
                                        <p:strVal val="visible"/>
                                      </p:to>
                                    </p:set>
                                    <p:anim calcmode="lin" valueType="num">
                                      <p:cBhvr additive="base">
                                        <p:cTn id="93" dur="500" fill="hold"/>
                                        <p:tgtEl>
                                          <p:spTgt spid="179"/>
                                        </p:tgtEl>
                                        <p:attrNameLst>
                                          <p:attrName>ppt_x</p:attrName>
                                        </p:attrNameLst>
                                      </p:cBhvr>
                                      <p:tavLst>
                                        <p:tav tm="0">
                                          <p:val>
                                            <p:strVal val="#ppt_x"/>
                                          </p:val>
                                        </p:tav>
                                        <p:tav tm="100000">
                                          <p:val>
                                            <p:strVal val="#ppt_x"/>
                                          </p:val>
                                        </p:tav>
                                      </p:tavLst>
                                    </p:anim>
                                    <p:anim calcmode="lin" valueType="num">
                                      <p:cBhvr additive="base">
                                        <p:cTn id="94" dur="500" fill="hold"/>
                                        <p:tgtEl>
                                          <p:spTgt spid="179"/>
                                        </p:tgtEl>
                                        <p:attrNameLst>
                                          <p:attrName>ppt_y</p:attrName>
                                        </p:attrNameLst>
                                      </p:cBhvr>
                                      <p:tavLst>
                                        <p:tav tm="0">
                                          <p:val>
                                            <p:strVal val="1+#ppt_h/2"/>
                                          </p:val>
                                        </p:tav>
                                        <p:tav tm="100000">
                                          <p:val>
                                            <p:strVal val="#ppt_y"/>
                                          </p:val>
                                        </p:tav>
                                      </p:tavLst>
                                    </p:anim>
                                  </p:childTnLst>
                                </p:cTn>
                              </p:par>
                              <p:par>
                                <p:cTn id="95" presetID="2" presetClass="entr" presetSubtype="4" fill="hold" nodeType="withEffect">
                                  <p:stCondLst>
                                    <p:cond delay="0"/>
                                  </p:stCondLst>
                                  <p:childTnLst>
                                    <p:set>
                                      <p:cBhvr>
                                        <p:cTn id="96" dur="1" fill="hold">
                                          <p:stCondLst>
                                            <p:cond delay="0"/>
                                          </p:stCondLst>
                                        </p:cTn>
                                        <p:tgtEl>
                                          <p:spTgt spid="181"/>
                                        </p:tgtEl>
                                        <p:attrNameLst>
                                          <p:attrName>style.visibility</p:attrName>
                                        </p:attrNameLst>
                                      </p:cBhvr>
                                      <p:to>
                                        <p:strVal val="visible"/>
                                      </p:to>
                                    </p:set>
                                    <p:anim calcmode="lin" valueType="num">
                                      <p:cBhvr additive="base">
                                        <p:cTn id="97" dur="500" fill="hold"/>
                                        <p:tgtEl>
                                          <p:spTgt spid="181"/>
                                        </p:tgtEl>
                                        <p:attrNameLst>
                                          <p:attrName>ppt_x</p:attrName>
                                        </p:attrNameLst>
                                      </p:cBhvr>
                                      <p:tavLst>
                                        <p:tav tm="0">
                                          <p:val>
                                            <p:strVal val="#ppt_x"/>
                                          </p:val>
                                        </p:tav>
                                        <p:tav tm="100000">
                                          <p:val>
                                            <p:strVal val="#ppt_x"/>
                                          </p:val>
                                        </p:tav>
                                      </p:tavLst>
                                    </p:anim>
                                    <p:anim calcmode="lin" valueType="num">
                                      <p:cBhvr additive="base">
                                        <p:cTn id="98" dur="500" fill="hold"/>
                                        <p:tgtEl>
                                          <p:spTgt spid="181"/>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107"/>
                                        </p:tgtEl>
                                        <p:attrNameLst>
                                          <p:attrName>style.visibility</p:attrName>
                                        </p:attrNameLst>
                                      </p:cBhvr>
                                      <p:to>
                                        <p:strVal val="visible"/>
                                      </p:to>
                                    </p:set>
                                    <p:anim calcmode="lin" valueType="num">
                                      <p:cBhvr additive="base">
                                        <p:cTn id="103" dur="500" fill="hold"/>
                                        <p:tgtEl>
                                          <p:spTgt spid="107"/>
                                        </p:tgtEl>
                                        <p:attrNameLst>
                                          <p:attrName>ppt_x</p:attrName>
                                        </p:attrNameLst>
                                      </p:cBhvr>
                                      <p:tavLst>
                                        <p:tav tm="0">
                                          <p:val>
                                            <p:strVal val="#ppt_x"/>
                                          </p:val>
                                        </p:tav>
                                        <p:tav tm="100000">
                                          <p:val>
                                            <p:strVal val="#ppt_x"/>
                                          </p:val>
                                        </p:tav>
                                      </p:tavLst>
                                    </p:anim>
                                    <p:anim calcmode="lin" valueType="num">
                                      <p:cBhvr additive="base">
                                        <p:cTn id="104" dur="500" fill="hold"/>
                                        <p:tgtEl>
                                          <p:spTgt spid="107"/>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108"/>
                                        </p:tgtEl>
                                        <p:attrNameLst>
                                          <p:attrName>style.visibility</p:attrName>
                                        </p:attrNameLst>
                                      </p:cBhvr>
                                      <p:to>
                                        <p:strVal val="visible"/>
                                      </p:to>
                                    </p:set>
                                    <p:anim calcmode="lin" valueType="num">
                                      <p:cBhvr additive="base">
                                        <p:cTn id="107" dur="500" fill="hold"/>
                                        <p:tgtEl>
                                          <p:spTgt spid="108"/>
                                        </p:tgtEl>
                                        <p:attrNameLst>
                                          <p:attrName>ppt_x</p:attrName>
                                        </p:attrNameLst>
                                      </p:cBhvr>
                                      <p:tavLst>
                                        <p:tav tm="0">
                                          <p:val>
                                            <p:strVal val="#ppt_x"/>
                                          </p:val>
                                        </p:tav>
                                        <p:tav tm="100000">
                                          <p:val>
                                            <p:strVal val="#ppt_x"/>
                                          </p:val>
                                        </p:tav>
                                      </p:tavLst>
                                    </p:anim>
                                    <p:anim calcmode="lin" valueType="num">
                                      <p:cBhvr additive="base">
                                        <p:cTn id="108" dur="500" fill="hold"/>
                                        <p:tgtEl>
                                          <p:spTgt spid="108"/>
                                        </p:tgtEl>
                                        <p:attrNameLst>
                                          <p:attrName>ppt_y</p:attrName>
                                        </p:attrNameLst>
                                      </p:cBhvr>
                                      <p:tavLst>
                                        <p:tav tm="0">
                                          <p:val>
                                            <p:strVal val="1+#ppt_h/2"/>
                                          </p:val>
                                        </p:tav>
                                        <p:tav tm="100000">
                                          <p:val>
                                            <p:strVal val="#ppt_y"/>
                                          </p:val>
                                        </p:tav>
                                      </p:tavLst>
                                    </p:anim>
                                  </p:childTnLst>
                                </p:cTn>
                              </p:par>
                              <p:par>
                                <p:cTn id="109" presetID="2" presetClass="entr" presetSubtype="4" fill="hold" grpId="0" nodeType="withEffect">
                                  <p:stCondLst>
                                    <p:cond delay="0"/>
                                  </p:stCondLst>
                                  <p:childTnLst>
                                    <p:set>
                                      <p:cBhvr>
                                        <p:cTn id="110" dur="1" fill="hold">
                                          <p:stCondLst>
                                            <p:cond delay="0"/>
                                          </p:stCondLst>
                                        </p:cTn>
                                        <p:tgtEl>
                                          <p:spTgt spid="102"/>
                                        </p:tgtEl>
                                        <p:attrNameLst>
                                          <p:attrName>style.visibility</p:attrName>
                                        </p:attrNameLst>
                                      </p:cBhvr>
                                      <p:to>
                                        <p:strVal val="visible"/>
                                      </p:to>
                                    </p:set>
                                    <p:anim calcmode="lin" valueType="num">
                                      <p:cBhvr additive="base">
                                        <p:cTn id="111" dur="500" fill="hold"/>
                                        <p:tgtEl>
                                          <p:spTgt spid="102"/>
                                        </p:tgtEl>
                                        <p:attrNameLst>
                                          <p:attrName>ppt_x</p:attrName>
                                        </p:attrNameLst>
                                      </p:cBhvr>
                                      <p:tavLst>
                                        <p:tav tm="0">
                                          <p:val>
                                            <p:strVal val="#ppt_x"/>
                                          </p:val>
                                        </p:tav>
                                        <p:tav tm="100000">
                                          <p:val>
                                            <p:strVal val="#ppt_x"/>
                                          </p:val>
                                        </p:tav>
                                      </p:tavLst>
                                    </p:anim>
                                    <p:anim calcmode="lin" valueType="num">
                                      <p:cBhvr additive="base">
                                        <p:cTn id="112" dur="500" fill="hold"/>
                                        <p:tgtEl>
                                          <p:spTgt spid="102"/>
                                        </p:tgtEl>
                                        <p:attrNameLst>
                                          <p:attrName>ppt_y</p:attrName>
                                        </p:attrNameLst>
                                      </p:cBhvr>
                                      <p:tavLst>
                                        <p:tav tm="0">
                                          <p:val>
                                            <p:strVal val="1+#ppt_h/2"/>
                                          </p:val>
                                        </p:tav>
                                        <p:tav tm="100000">
                                          <p:val>
                                            <p:strVal val="#ppt_y"/>
                                          </p:val>
                                        </p:tav>
                                      </p:tavLst>
                                    </p:anim>
                                  </p:childTnLst>
                                </p:cTn>
                              </p:par>
                              <p:par>
                                <p:cTn id="113" presetID="2" presetClass="entr" presetSubtype="4" fill="hold" nodeType="withEffect">
                                  <p:stCondLst>
                                    <p:cond delay="0"/>
                                  </p:stCondLst>
                                  <p:childTnLst>
                                    <p:set>
                                      <p:cBhvr>
                                        <p:cTn id="114" dur="1" fill="hold">
                                          <p:stCondLst>
                                            <p:cond delay="0"/>
                                          </p:stCondLst>
                                        </p:cTn>
                                        <p:tgtEl>
                                          <p:spTgt spid="97"/>
                                        </p:tgtEl>
                                        <p:attrNameLst>
                                          <p:attrName>style.visibility</p:attrName>
                                        </p:attrNameLst>
                                      </p:cBhvr>
                                      <p:to>
                                        <p:strVal val="visible"/>
                                      </p:to>
                                    </p:set>
                                    <p:anim calcmode="lin" valueType="num">
                                      <p:cBhvr additive="base">
                                        <p:cTn id="115" dur="500" fill="hold"/>
                                        <p:tgtEl>
                                          <p:spTgt spid="97"/>
                                        </p:tgtEl>
                                        <p:attrNameLst>
                                          <p:attrName>ppt_x</p:attrName>
                                        </p:attrNameLst>
                                      </p:cBhvr>
                                      <p:tavLst>
                                        <p:tav tm="0">
                                          <p:val>
                                            <p:strVal val="#ppt_x"/>
                                          </p:val>
                                        </p:tav>
                                        <p:tav tm="100000">
                                          <p:val>
                                            <p:strVal val="#ppt_x"/>
                                          </p:val>
                                        </p:tav>
                                      </p:tavLst>
                                    </p:anim>
                                    <p:anim calcmode="lin" valueType="num">
                                      <p:cBhvr additive="base">
                                        <p:cTn id="116" dur="500" fill="hold"/>
                                        <p:tgtEl>
                                          <p:spTgt spid="97"/>
                                        </p:tgtEl>
                                        <p:attrNameLst>
                                          <p:attrName>ppt_y</p:attrName>
                                        </p:attrNameLst>
                                      </p:cBhvr>
                                      <p:tavLst>
                                        <p:tav tm="0">
                                          <p:val>
                                            <p:strVal val="1+#ppt_h/2"/>
                                          </p:val>
                                        </p:tav>
                                        <p:tav tm="100000">
                                          <p:val>
                                            <p:strVal val="#ppt_y"/>
                                          </p:val>
                                        </p:tav>
                                      </p:tavLst>
                                    </p:anim>
                                  </p:childTnLst>
                                </p:cTn>
                              </p:par>
                              <p:par>
                                <p:cTn id="117" presetID="2" presetClass="entr" presetSubtype="4" fill="hold" nodeType="withEffect">
                                  <p:stCondLst>
                                    <p:cond delay="0"/>
                                  </p:stCondLst>
                                  <p:childTnLst>
                                    <p:set>
                                      <p:cBhvr>
                                        <p:cTn id="118" dur="1" fill="hold">
                                          <p:stCondLst>
                                            <p:cond delay="0"/>
                                          </p:stCondLst>
                                        </p:cTn>
                                        <p:tgtEl>
                                          <p:spTgt spid="98"/>
                                        </p:tgtEl>
                                        <p:attrNameLst>
                                          <p:attrName>style.visibility</p:attrName>
                                        </p:attrNameLst>
                                      </p:cBhvr>
                                      <p:to>
                                        <p:strVal val="visible"/>
                                      </p:to>
                                    </p:set>
                                    <p:anim calcmode="lin" valueType="num">
                                      <p:cBhvr additive="base">
                                        <p:cTn id="119" dur="500" fill="hold"/>
                                        <p:tgtEl>
                                          <p:spTgt spid="98"/>
                                        </p:tgtEl>
                                        <p:attrNameLst>
                                          <p:attrName>ppt_x</p:attrName>
                                        </p:attrNameLst>
                                      </p:cBhvr>
                                      <p:tavLst>
                                        <p:tav tm="0">
                                          <p:val>
                                            <p:strVal val="#ppt_x"/>
                                          </p:val>
                                        </p:tav>
                                        <p:tav tm="100000">
                                          <p:val>
                                            <p:strVal val="#ppt_x"/>
                                          </p:val>
                                        </p:tav>
                                      </p:tavLst>
                                    </p:anim>
                                    <p:anim calcmode="lin" valueType="num">
                                      <p:cBhvr additive="base">
                                        <p:cTn id="120" dur="500" fill="hold"/>
                                        <p:tgtEl>
                                          <p:spTgt spid="98"/>
                                        </p:tgtEl>
                                        <p:attrNameLst>
                                          <p:attrName>ppt_y</p:attrName>
                                        </p:attrNameLst>
                                      </p:cBhvr>
                                      <p:tavLst>
                                        <p:tav tm="0">
                                          <p:val>
                                            <p:strVal val="1+#ppt_h/2"/>
                                          </p:val>
                                        </p:tav>
                                        <p:tav tm="100000">
                                          <p:val>
                                            <p:strVal val="#ppt_y"/>
                                          </p:val>
                                        </p:tav>
                                      </p:tavLst>
                                    </p:anim>
                                  </p:childTnLst>
                                </p:cTn>
                              </p:par>
                              <p:par>
                                <p:cTn id="121" presetID="2" presetClass="entr" presetSubtype="4" fill="hold" nodeType="withEffect">
                                  <p:stCondLst>
                                    <p:cond delay="0"/>
                                  </p:stCondLst>
                                  <p:childTnLst>
                                    <p:set>
                                      <p:cBhvr>
                                        <p:cTn id="122" dur="1" fill="hold">
                                          <p:stCondLst>
                                            <p:cond delay="0"/>
                                          </p:stCondLst>
                                        </p:cTn>
                                        <p:tgtEl>
                                          <p:spTgt spid="99"/>
                                        </p:tgtEl>
                                        <p:attrNameLst>
                                          <p:attrName>style.visibility</p:attrName>
                                        </p:attrNameLst>
                                      </p:cBhvr>
                                      <p:to>
                                        <p:strVal val="visible"/>
                                      </p:to>
                                    </p:set>
                                    <p:anim calcmode="lin" valueType="num">
                                      <p:cBhvr additive="base">
                                        <p:cTn id="123" dur="500" fill="hold"/>
                                        <p:tgtEl>
                                          <p:spTgt spid="99"/>
                                        </p:tgtEl>
                                        <p:attrNameLst>
                                          <p:attrName>ppt_x</p:attrName>
                                        </p:attrNameLst>
                                      </p:cBhvr>
                                      <p:tavLst>
                                        <p:tav tm="0">
                                          <p:val>
                                            <p:strVal val="#ppt_x"/>
                                          </p:val>
                                        </p:tav>
                                        <p:tav tm="100000">
                                          <p:val>
                                            <p:strVal val="#ppt_x"/>
                                          </p:val>
                                        </p:tav>
                                      </p:tavLst>
                                    </p:anim>
                                    <p:anim calcmode="lin" valueType="num">
                                      <p:cBhvr additive="base">
                                        <p:cTn id="124" dur="500" fill="hold"/>
                                        <p:tgtEl>
                                          <p:spTgt spid="99"/>
                                        </p:tgtEl>
                                        <p:attrNameLst>
                                          <p:attrName>ppt_y</p:attrName>
                                        </p:attrNameLst>
                                      </p:cBhvr>
                                      <p:tavLst>
                                        <p:tav tm="0">
                                          <p:val>
                                            <p:strVal val="1+#ppt_h/2"/>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7" presetID="2" presetClass="entr" presetSubtype="4" fill="hold" grpId="0" nodeType="clickEffect">
                                  <p:stCondLst>
                                    <p:cond delay="0"/>
                                  </p:stCondLst>
                                  <p:childTnLst>
                                    <p:set>
                                      <p:cBhvr>
                                        <p:cTn id="128" dur="1" fill="hold">
                                          <p:stCondLst>
                                            <p:cond delay="0"/>
                                          </p:stCondLst>
                                        </p:cTn>
                                        <p:tgtEl>
                                          <p:spTgt spid="103"/>
                                        </p:tgtEl>
                                        <p:attrNameLst>
                                          <p:attrName>style.visibility</p:attrName>
                                        </p:attrNameLst>
                                      </p:cBhvr>
                                      <p:to>
                                        <p:strVal val="visible"/>
                                      </p:to>
                                    </p:set>
                                    <p:anim calcmode="lin" valueType="num">
                                      <p:cBhvr additive="base">
                                        <p:cTn id="129" dur="500" fill="hold"/>
                                        <p:tgtEl>
                                          <p:spTgt spid="103"/>
                                        </p:tgtEl>
                                        <p:attrNameLst>
                                          <p:attrName>ppt_x</p:attrName>
                                        </p:attrNameLst>
                                      </p:cBhvr>
                                      <p:tavLst>
                                        <p:tav tm="0">
                                          <p:val>
                                            <p:strVal val="#ppt_x"/>
                                          </p:val>
                                        </p:tav>
                                        <p:tav tm="100000">
                                          <p:val>
                                            <p:strVal val="#ppt_x"/>
                                          </p:val>
                                        </p:tav>
                                      </p:tavLst>
                                    </p:anim>
                                    <p:anim calcmode="lin" valueType="num">
                                      <p:cBhvr additive="base">
                                        <p:cTn id="130" dur="500" fill="hold"/>
                                        <p:tgtEl>
                                          <p:spTgt spid="103"/>
                                        </p:tgtEl>
                                        <p:attrNameLst>
                                          <p:attrName>ppt_y</p:attrName>
                                        </p:attrNameLst>
                                      </p:cBhvr>
                                      <p:tavLst>
                                        <p:tav tm="0">
                                          <p:val>
                                            <p:strVal val="1+#ppt_h/2"/>
                                          </p:val>
                                        </p:tav>
                                        <p:tav tm="100000">
                                          <p:val>
                                            <p:strVal val="#ppt_y"/>
                                          </p:val>
                                        </p:tav>
                                      </p:tavLst>
                                    </p:anim>
                                  </p:childTnLst>
                                </p:cTn>
                              </p:par>
                              <p:par>
                                <p:cTn id="131" presetID="2" presetClass="entr" presetSubtype="4" fill="hold" nodeType="withEffect">
                                  <p:stCondLst>
                                    <p:cond delay="0"/>
                                  </p:stCondLst>
                                  <p:childTnLst>
                                    <p:set>
                                      <p:cBhvr>
                                        <p:cTn id="132" dur="1" fill="hold">
                                          <p:stCondLst>
                                            <p:cond delay="0"/>
                                          </p:stCondLst>
                                        </p:cTn>
                                        <p:tgtEl>
                                          <p:spTgt spid="96"/>
                                        </p:tgtEl>
                                        <p:attrNameLst>
                                          <p:attrName>style.visibility</p:attrName>
                                        </p:attrNameLst>
                                      </p:cBhvr>
                                      <p:to>
                                        <p:strVal val="visible"/>
                                      </p:to>
                                    </p:set>
                                    <p:anim calcmode="lin" valueType="num">
                                      <p:cBhvr additive="base">
                                        <p:cTn id="133" dur="500" fill="hold"/>
                                        <p:tgtEl>
                                          <p:spTgt spid="96"/>
                                        </p:tgtEl>
                                        <p:attrNameLst>
                                          <p:attrName>ppt_x</p:attrName>
                                        </p:attrNameLst>
                                      </p:cBhvr>
                                      <p:tavLst>
                                        <p:tav tm="0">
                                          <p:val>
                                            <p:strVal val="#ppt_x"/>
                                          </p:val>
                                        </p:tav>
                                        <p:tav tm="100000">
                                          <p:val>
                                            <p:strVal val="#ppt_x"/>
                                          </p:val>
                                        </p:tav>
                                      </p:tavLst>
                                    </p:anim>
                                    <p:anim calcmode="lin" valueType="num">
                                      <p:cBhvr additive="base">
                                        <p:cTn id="134" dur="500" fill="hold"/>
                                        <p:tgtEl>
                                          <p:spTgt spid="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P spid="103" grpId="0"/>
      <p:bldP spid="104" grpId="0"/>
      <p:bldP spid="106" grpId="0"/>
      <p:bldP spid="108" grpId="0"/>
      <p:bldP spid="111" grpId="0"/>
      <p:bldP spid="113" grpId="0"/>
      <p:bldP spid="114" grpId="0" bldLvl="0" animBg="1"/>
      <p:bldP spid="11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1" name="直接连接符 180"/>
          <p:cNvCxnSpPr/>
          <p:nvPr/>
        </p:nvCxnSpPr>
        <p:spPr>
          <a:xfrm>
            <a:off x="9068500" y="4093315"/>
            <a:ext cx="14975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直接连接符 181"/>
          <p:cNvCxnSpPr/>
          <p:nvPr/>
        </p:nvCxnSpPr>
        <p:spPr>
          <a:xfrm>
            <a:off x="9218251" y="3139144"/>
            <a:ext cx="0" cy="9598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直接连接符 182"/>
          <p:cNvCxnSpPr/>
          <p:nvPr/>
        </p:nvCxnSpPr>
        <p:spPr>
          <a:xfrm>
            <a:off x="9209377" y="3131397"/>
            <a:ext cx="18528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直接连接符 184"/>
          <p:cNvCxnSpPr/>
          <p:nvPr/>
        </p:nvCxnSpPr>
        <p:spPr>
          <a:xfrm>
            <a:off x="9210631" y="1874224"/>
            <a:ext cx="0" cy="9598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 name="直接连接符 186"/>
          <p:cNvCxnSpPr/>
          <p:nvPr/>
        </p:nvCxnSpPr>
        <p:spPr>
          <a:xfrm>
            <a:off x="9209377" y="2841837"/>
            <a:ext cx="18528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直接连接符 188"/>
          <p:cNvCxnSpPr/>
          <p:nvPr/>
        </p:nvCxnSpPr>
        <p:spPr>
          <a:xfrm>
            <a:off x="9060880" y="1883515"/>
            <a:ext cx="14975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7526426" y="3115907"/>
            <a:ext cx="920875" cy="284693"/>
          </a:xfrm>
          <a:prstGeom prst="rect">
            <a:avLst/>
          </a:prstGeom>
          <a:noFill/>
          <a:ln w="25400">
            <a:noFill/>
          </a:ln>
        </p:spPr>
        <p:txBody>
          <a:bodyPr wrap="square" rtlCol="0">
            <a:spAutoFit/>
            <a:scene3d>
              <a:camera prst="orthographicFront"/>
              <a:lightRig rig="threePt" dir="t"/>
            </a:scene3d>
          </a:bodyPr>
          <a:lstStyle/>
          <a:p>
            <a:pPr>
              <a:lnSpc>
                <a:spcPts val="1500"/>
              </a:lnSpc>
            </a:pPr>
            <a:r>
              <a:rPr lang="en-US" altLang="zh-CN" sz="1600" dirty="0" err="1">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ALUSrc</a:t>
            </a:r>
          </a:p>
        </p:txBody>
      </p:sp>
      <p:grpSp>
        <p:nvGrpSpPr>
          <p:cNvPr id="21" name="ALU Control"/>
          <p:cNvGrpSpPr/>
          <p:nvPr/>
        </p:nvGrpSpPr>
        <p:grpSpPr>
          <a:xfrm>
            <a:off x="6855423" y="5467456"/>
            <a:ext cx="1046243" cy="592348"/>
            <a:chOff x="8983082" y="5053856"/>
            <a:chExt cx="1013521" cy="1146746"/>
          </a:xfrm>
        </p:grpSpPr>
        <p:sp>
          <p:nvSpPr>
            <p:cNvPr id="25" name="椭圆 24"/>
            <p:cNvSpPr/>
            <p:nvPr/>
          </p:nvSpPr>
          <p:spPr>
            <a:xfrm>
              <a:off x="8983082" y="5053856"/>
              <a:ext cx="984043" cy="114674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sp>
          <p:nvSpPr>
            <p:cNvPr id="26" name="文本框 25"/>
            <p:cNvSpPr txBox="1"/>
            <p:nvPr/>
          </p:nvSpPr>
          <p:spPr>
            <a:xfrm>
              <a:off x="8994506" y="5227937"/>
              <a:ext cx="1002097" cy="946758"/>
            </a:xfrm>
            <a:prstGeom prst="rect">
              <a:avLst/>
            </a:prstGeom>
            <a:noFill/>
            <a:ln w="25400">
              <a:noFill/>
            </a:ln>
          </p:spPr>
          <p:txBody>
            <a:bodyPr wrap="none" rtlCol="0">
              <a:spAutoFit/>
            </a:bodyPr>
            <a:lstStyle/>
            <a:p>
              <a:pPr algn="ctr">
                <a:lnSpc>
                  <a:spcPts val="1500"/>
                </a:lnSpc>
              </a:pPr>
              <a:r>
                <a:rPr lang="en-US" altLang="zh-CN" sz="2000" b="1">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ALU </a:t>
              </a:r>
            </a:p>
            <a:p>
              <a:pPr algn="ctr">
                <a:lnSpc>
                  <a:spcPts val="1500"/>
                </a:lnSpc>
              </a:pPr>
              <a:r>
                <a:rPr lang="en-US" altLang="zh-CN" sz="2000" b="1">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Control</a:t>
              </a:r>
              <a:endParaRPr lang="en-US" altLang="zh-CN" sz="2000" b="1"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grpSp>
      <p:grpSp>
        <p:nvGrpSpPr>
          <p:cNvPr id="11" name="Control"/>
          <p:cNvGrpSpPr/>
          <p:nvPr/>
        </p:nvGrpSpPr>
        <p:grpSpPr>
          <a:xfrm>
            <a:off x="4608134" y="1275800"/>
            <a:ext cx="1122747" cy="637730"/>
            <a:chOff x="537061" y="1230121"/>
            <a:chExt cx="650808" cy="553190"/>
          </a:xfrm>
        </p:grpSpPr>
        <p:sp>
          <p:nvSpPr>
            <p:cNvPr id="9" name="椭圆 8"/>
            <p:cNvSpPr/>
            <p:nvPr/>
          </p:nvSpPr>
          <p:spPr>
            <a:xfrm>
              <a:off x="556261" y="1230121"/>
              <a:ext cx="624839" cy="553190"/>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ltLang="zh-CN" sz="2200" dirty="0">
                <a:solidFill>
                  <a:schemeClr val="tx1"/>
                </a:solidFill>
                <a:latin typeface="Times New Roman" panose="02020603050405020304" pitchFamily="18" charset="0"/>
                <a:cs typeface="Times New Roman" panose="02020603050405020304" pitchFamily="18" charset="0"/>
              </a:endParaRPr>
            </a:p>
          </p:txBody>
        </p:sp>
        <p:sp>
          <p:nvSpPr>
            <p:cNvPr id="10" name="文本框 9"/>
            <p:cNvSpPr txBox="1"/>
            <p:nvPr/>
          </p:nvSpPr>
          <p:spPr>
            <a:xfrm>
              <a:off x="537061" y="1278597"/>
              <a:ext cx="650808" cy="373767"/>
            </a:xfrm>
            <a:prstGeom prst="rect">
              <a:avLst/>
            </a:prstGeom>
            <a:noFill/>
            <a:ln w="25400">
              <a:noFill/>
            </a:ln>
          </p:spPr>
          <p:txBody>
            <a:bodyPr wrap="square" rtlCol="0">
              <a:spAutoFit/>
            </a:bodyPr>
            <a:lstStyle/>
            <a:p>
              <a:r>
                <a:rPr lang="en-US" altLang="zh-CN" sz="2200" b="1" dirty="0">
                  <a:solidFill>
                    <a:schemeClr val="tx1"/>
                  </a:solidFill>
                  <a:latin typeface="Times New Roman" panose="02020603050405020304" pitchFamily="18" charset="0"/>
                  <a:cs typeface="Times New Roman" panose="02020603050405020304" pitchFamily="18" charset="0"/>
                </a:rPr>
                <a:t>Control</a:t>
              </a:r>
            </a:p>
          </p:txBody>
        </p:sp>
      </p:grpSp>
      <p:grpSp>
        <p:nvGrpSpPr>
          <p:cNvPr id="18" name="Instruction memory"/>
          <p:cNvGrpSpPr/>
          <p:nvPr/>
        </p:nvGrpSpPr>
        <p:grpSpPr>
          <a:xfrm>
            <a:off x="1630095" y="3536079"/>
            <a:ext cx="1266687" cy="1182891"/>
            <a:chOff x="2333823" y="3418320"/>
            <a:chExt cx="1400477" cy="1182891"/>
          </a:xfrm>
        </p:grpSpPr>
        <p:sp>
          <p:nvSpPr>
            <p:cNvPr id="8" name="矩形 7"/>
            <p:cNvSpPr/>
            <p:nvPr/>
          </p:nvSpPr>
          <p:spPr>
            <a:xfrm>
              <a:off x="2333823" y="3448051"/>
              <a:ext cx="1400477" cy="11531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endParaRPr lang="en-US" altLang="zh-CN" sz="2200" dirty="0">
                <a:solidFill>
                  <a:srgbClr val="FF0000"/>
                </a:solidFill>
                <a:latin typeface="Times New Roman" panose="02020603050405020304" pitchFamily="18" charset="0"/>
                <a:cs typeface="Times New Roman" panose="02020603050405020304" pitchFamily="18" charset="0"/>
              </a:endParaRPr>
            </a:p>
          </p:txBody>
        </p:sp>
        <p:sp>
          <p:nvSpPr>
            <p:cNvPr id="12" name="文本框 11"/>
            <p:cNvSpPr txBox="1"/>
            <p:nvPr/>
          </p:nvSpPr>
          <p:spPr>
            <a:xfrm>
              <a:off x="2368550" y="3418320"/>
              <a:ext cx="1024639" cy="400110"/>
            </a:xfrm>
            <a:prstGeom prst="rect">
              <a:avLst/>
            </a:prstGeom>
            <a:noFill/>
            <a:ln w="25400">
              <a:noFill/>
            </a:ln>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Address</a:t>
              </a:r>
              <a:endParaRPr lang="zh-CN" altLang="en-US" sz="2000" dirty="0">
                <a:latin typeface="Times New Roman" panose="02020603050405020304" pitchFamily="18" charset="0"/>
                <a:cs typeface="Times New Roman" panose="02020603050405020304" pitchFamily="18" charset="0"/>
              </a:endParaRPr>
            </a:p>
          </p:txBody>
        </p:sp>
      </p:grpSp>
      <p:grpSp>
        <p:nvGrpSpPr>
          <p:cNvPr id="20" name="PC"/>
          <p:cNvGrpSpPr/>
          <p:nvPr/>
        </p:nvGrpSpPr>
        <p:grpSpPr>
          <a:xfrm>
            <a:off x="1131773" y="3329646"/>
            <a:ext cx="315948" cy="769442"/>
            <a:chOff x="1119443" y="4781000"/>
            <a:chExt cx="557998" cy="563180"/>
          </a:xfrm>
        </p:grpSpPr>
        <p:sp>
          <p:nvSpPr>
            <p:cNvPr id="15" name="矩形 14"/>
            <p:cNvSpPr/>
            <p:nvPr/>
          </p:nvSpPr>
          <p:spPr>
            <a:xfrm>
              <a:off x="1119443" y="4800600"/>
              <a:ext cx="557998" cy="50292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b="1" dirty="0">
                <a:latin typeface="Times New Roman" panose="02020603050405020304" pitchFamily="18" charset="0"/>
                <a:cs typeface="Times New Roman" panose="02020603050405020304" pitchFamily="18" charset="0"/>
              </a:endParaRPr>
            </a:p>
          </p:txBody>
        </p:sp>
        <p:sp>
          <p:nvSpPr>
            <p:cNvPr id="19" name="文本框 18"/>
            <p:cNvSpPr txBox="1"/>
            <p:nvPr/>
          </p:nvSpPr>
          <p:spPr>
            <a:xfrm>
              <a:off x="1180333" y="4781000"/>
              <a:ext cx="175221" cy="563180"/>
            </a:xfrm>
            <a:prstGeom prst="rect">
              <a:avLst/>
            </a:prstGeom>
            <a:noFill/>
            <a:ln w="25400">
              <a:noFill/>
            </a:ln>
          </p:spPr>
          <p:txBody>
            <a:bodyPr wrap="square" rtlCol="0">
              <a:spAutoFit/>
            </a:bodyPr>
            <a:lstStyle/>
            <a:p>
              <a:r>
                <a:rPr lang="en-US" altLang="zh-CN" sz="2200" b="1" dirty="0">
                  <a:solidFill>
                    <a:srgbClr val="FF0000"/>
                  </a:solidFill>
                  <a:latin typeface="Times New Roman" panose="02020603050405020304" pitchFamily="18" charset="0"/>
                  <a:cs typeface="Times New Roman" panose="02020603050405020304" pitchFamily="18" charset="0"/>
                </a:rPr>
                <a:t>PC</a:t>
              </a:r>
              <a:endParaRPr lang="zh-CN" altLang="en-US" sz="2200" b="1" dirty="0">
                <a:solidFill>
                  <a:srgbClr val="FF0000"/>
                </a:solidFill>
                <a:latin typeface="Times New Roman" panose="02020603050405020304" pitchFamily="18" charset="0"/>
                <a:cs typeface="Times New Roman" panose="02020603050405020304" pitchFamily="18" charset="0"/>
              </a:endParaRPr>
            </a:p>
          </p:txBody>
        </p:sp>
      </p:grpSp>
      <p:grpSp>
        <p:nvGrpSpPr>
          <p:cNvPr id="24" name="Add"/>
          <p:cNvGrpSpPr/>
          <p:nvPr/>
        </p:nvGrpSpPr>
        <p:grpSpPr>
          <a:xfrm>
            <a:off x="1895084" y="2060590"/>
            <a:ext cx="702436" cy="964617"/>
            <a:chOff x="4656246" y="4140786"/>
            <a:chExt cx="702436" cy="964617"/>
          </a:xfrm>
        </p:grpSpPr>
        <p:sp>
          <p:nvSpPr>
            <p:cNvPr id="22" name="梯形 21"/>
            <p:cNvSpPr/>
            <p:nvPr/>
          </p:nvSpPr>
          <p:spPr>
            <a:xfrm rot="5400000">
              <a:off x="4538209" y="4329347"/>
              <a:ext cx="964617" cy="587495"/>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dirty="0">
                <a:latin typeface="Times New Roman" panose="02020603050405020304" pitchFamily="18" charset="0"/>
                <a:cs typeface="Times New Roman" panose="02020603050405020304" pitchFamily="18" charset="0"/>
              </a:endParaRPr>
            </a:p>
          </p:txBody>
        </p:sp>
        <p:sp>
          <p:nvSpPr>
            <p:cNvPr id="23" name="文本框 22"/>
            <p:cNvSpPr txBox="1"/>
            <p:nvPr/>
          </p:nvSpPr>
          <p:spPr>
            <a:xfrm>
              <a:off x="4656246" y="4371480"/>
              <a:ext cx="702436" cy="430887"/>
            </a:xfrm>
            <a:prstGeom prst="rect">
              <a:avLst/>
            </a:prstGeom>
            <a:noFill/>
            <a:ln w="25400">
              <a:noFill/>
            </a:ln>
          </p:spPr>
          <p:txBody>
            <a:bodyPr wrap="none" rtlCol="0">
              <a:spAutoFit/>
            </a:bodyPr>
            <a:lstStyle/>
            <a:p>
              <a:r>
                <a:rPr lang="en-US" altLang="zh-CN" sz="2200" b="1" dirty="0">
                  <a:solidFill>
                    <a:srgbClr val="FF0000"/>
                  </a:solidFill>
                  <a:latin typeface="Times New Roman" panose="02020603050405020304" pitchFamily="18" charset="0"/>
                  <a:cs typeface="Times New Roman" panose="02020603050405020304" pitchFamily="18" charset="0"/>
                </a:rPr>
                <a:t>Add</a:t>
              </a:r>
              <a:endParaRPr lang="zh-CN" altLang="en-US" sz="2200" b="1" dirty="0">
                <a:solidFill>
                  <a:srgbClr val="FF0000"/>
                </a:solidFill>
                <a:latin typeface="Times New Roman" panose="02020603050405020304" pitchFamily="18" charset="0"/>
                <a:cs typeface="Times New Roman" panose="02020603050405020304" pitchFamily="18" charset="0"/>
              </a:endParaRPr>
            </a:p>
          </p:txBody>
        </p:sp>
      </p:grpSp>
      <p:grpSp>
        <p:nvGrpSpPr>
          <p:cNvPr id="36" name="IF/ID"/>
          <p:cNvGrpSpPr/>
          <p:nvPr/>
        </p:nvGrpSpPr>
        <p:grpSpPr>
          <a:xfrm>
            <a:off x="2923859" y="1599109"/>
            <a:ext cx="797013" cy="4759009"/>
            <a:chOff x="184618" y="533400"/>
            <a:chExt cx="842800" cy="5861914"/>
          </a:xfrm>
        </p:grpSpPr>
        <p:sp>
          <p:nvSpPr>
            <p:cNvPr id="34" name="矩形 33"/>
            <p:cNvSpPr/>
            <p:nvPr/>
          </p:nvSpPr>
          <p:spPr>
            <a:xfrm>
              <a:off x="358141" y="937259"/>
              <a:ext cx="358140" cy="5458055"/>
            </a:xfrm>
            <a:prstGeom prst="rect">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dirty="0">
                <a:latin typeface="Times New Roman" panose="02020603050405020304" pitchFamily="18" charset="0"/>
                <a:cs typeface="Times New Roman" panose="02020603050405020304" pitchFamily="18" charset="0"/>
              </a:endParaRPr>
            </a:p>
          </p:txBody>
        </p:sp>
        <p:sp>
          <p:nvSpPr>
            <p:cNvPr id="35" name="文本框 34"/>
            <p:cNvSpPr txBox="1"/>
            <p:nvPr/>
          </p:nvSpPr>
          <p:spPr>
            <a:xfrm>
              <a:off x="184618" y="533400"/>
              <a:ext cx="842800" cy="492836"/>
            </a:xfrm>
            <a:prstGeom prst="rect">
              <a:avLst/>
            </a:prstGeom>
            <a:ln w="25400">
              <a:noFill/>
            </a:ln>
          </p:spPr>
          <p:style>
            <a:lnRef idx="1">
              <a:schemeClr val="accent1"/>
            </a:lnRef>
            <a:fillRef idx="0">
              <a:schemeClr val="accent1"/>
            </a:fillRef>
            <a:effectRef idx="0">
              <a:schemeClr val="accent1"/>
            </a:effectRef>
            <a:fontRef idx="minor">
              <a:schemeClr val="tx1"/>
            </a:fontRef>
          </p:style>
          <p:txBody>
            <a:bodyPr wrap="none" rtlCol="0">
              <a:spAutoFit/>
            </a:bodyPr>
            <a:lstStyle/>
            <a:p>
              <a:r>
                <a:rPr lang="en-US" altLang="zh-CN" sz="2000" b="1" dirty="0">
                  <a:latin typeface="Times New Roman" panose="02020603050405020304" pitchFamily="18" charset="0"/>
                  <a:cs typeface="Times New Roman" panose="02020603050405020304" pitchFamily="18" charset="0"/>
                </a:rPr>
                <a:t>IF/ID</a:t>
              </a:r>
              <a:endParaRPr lang="zh-CN" altLang="en-US" sz="2000" b="1" dirty="0">
                <a:latin typeface="Times New Roman" panose="02020603050405020304" pitchFamily="18" charset="0"/>
                <a:cs typeface="Times New Roman" panose="02020603050405020304" pitchFamily="18" charset="0"/>
              </a:endParaRPr>
            </a:p>
          </p:txBody>
        </p:sp>
      </p:grpSp>
      <p:grpSp>
        <p:nvGrpSpPr>
          <p:cNvPr id="45" name="Registers"/>
          <p:cNvGrpSpPr/>
          <p:nvPr/>
        </p:nvGrpSpPr>
        <p:grpSpPr>
          <a:xfrm>
            <a:off x="4048132" y="2495429"/>
            <a:ext cx="1767023" cy="2593689"/>
            <a:chOff x="2026387" y="320244"/>
            <a:chExt cx="2805588" cy="2878918"/>
          </a:xfrm>
        </p:grpSpPr>
        <p:sp>
          <p:nvSpPr>
            <p:cNvPr id="37" name="矩形 36"/>
            <p:cNvSpPr/>
            <p:nvPr/>
          </p:nvSpPr>
          <p:spPr>
            <a:xfrm>
              <a:off x="2026387" y="320244"/>
              <a:ext cx="2772303" cy="2851663"/>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dirty="0">
                <a:latin typeface="Times New Roman" panose="02020603050405020304" pitchFamily="18" charset="0"/>
                <a:cs typeface="Times New Roman" panose="02020603050405020304" pitchFamily="18" charset="0"/>
              </a:endParaRPr>
            </a:p>
          </p:txBody>
        </p:sp>
        <p:sp>
          <p:nvSpPr>
            <p:cNvPr id="38" name="文本框 37"/>
            <p:cNvSpPr txBox="1"/>
            <p:nvPr/>
          </p:nvSpPr>
          <p:spPr>
            <a:xfrm>
              <a:off x="2322251" y="2720890"/>
              <a:ext cx="2057003" cy="478272"/>
            </a:xfrm>
            <a:prstGeom prst="rect">
              <a:avLst/>
            </a:prstGeom>
            <a:noFill/>
            <a:ln w="25400">
              <a:noFill/>
            </a:ln>
          </p:spPr>
          <p:txBody>
            <a:bodyPr wrap="none" rtlCol="0">
              <a:spAutoFit/>
            </a:bodyPr>
            <a:lstStyle/>
            <a:p>
              <a:r>
                <a:rPr lang="en-US" altLang="zh-CN" sz="2200" b="1" dirty="0">
                  <a:solidFill>
                    <a:srgbClr val="FF0000"/>
                  </a:solidFill>
                  <a:latin typeface="Times New Roman" panose="02020603050405020304" pitchFamily="18" charset="0"/>
                  <a:cs typeface="Times New Roman" panose="02020603050405020304" pitchFamily="18" charset="0"/>
                </a:rPr>
                <a:t>Registers</a:t>
              </a:r>
              <a:endParaRPr lang="zh-CN" altLang="en-US" sz="2200" b="1" dirty="0">
                <a:solidFill>
                  <a:srgbClr val="FF0000"/>
                </a:solidFill>
                <a:latin typeface="Times New Roman" panose="02020603050405020304" pitchFamily="18" charset="0"/>
                <a:cs typeface="Times New Roman" panose="02020603050405020304" pitchFamily="18" charset="0"/>
              </a:endParaRPr>
            </a:p>
          </p:txBody>
        </p:sp>
        <p:sp>
          <p:nvSpPr>
            <p:cNvPr id="39" name="文本框 38"/>
            <p:cNvSpPr txBox="1"/>
            <p:nvPr/>
          </p:nvSpPr>
          <p:spPr>
            <a:xfrm>
              <a:off x="2056191" y="360395"/>
              <a:ext cx="1849062" cy="355737"/>
            </a:xfrm>
            <a:prstGeom prst="rect">
              <a:avLst/>
            </a:prstGeom>
            <a:noFill/>
            <a:ln w="25400">
              <a:noFill/>
            </a:ln>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Read reg 1</a:t>
              </a:r>
              <a:endParaRPr lang="zh-CN" altLang="en-US" sz="2000" dirty="0">
                <a:latin typeface="Times New Roman" panose="02020603050405020304" pitchFamily="18" charset="0"/>
                <a:cs typeface="Times New Roman" panose="02020603050405020304" pitchFamily="18" charset="0"/>
              </a:endParaRPr>
            </a:p>
          </p:txBody>
        </p:sp>
        <p:sp>
          <p:nvSpPr>
            <p:cNvPr id="40" name="文本框 39"/>
            <p:cNvSpPr txBox="1"/>
            <p:nvPr/>
          </p:nvSpPr>
          <p:spPr>
            <a:xfrm>
              <a:off x="2056191" y="1133119"/>
              <a:ext cx="1849062" cy="355737"/>
            </a:xfrm>
            <a:prstGeom prst="rect">
              <a:avLst/>
            </a:prstGeom>
            <a:noFill/>
            <a:ln w="25400">
              <a:noFill/>
            </a:ln>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Read reg 2</a:t>
              </a:r>
              <a:endParaRPr lang="zh-CN" altLang="en-US" sz="2000" dirty="0">
                <a:latin typeface="Times New Roman" panose="02020603050405020304" pitchFamily="18" charset="0"/>
                <a:cs typeface="Times New Roman" panose="02020603050405020304" pitchFamily="18" charset="0"/>
              </a:endParaRPr>
            </a:p>
          </p:txBody>
        </p:sp>
        <p:sp>
          <p:nvSpPr>
            <p:cNvPr id="41" name="文本框 40"/>
            <p:cNvSpPr txBox="1"/>
            <p:nvPr/>
          </p:nvSpPr>
          <p:spPr>
            <a:xfrm>
              <a:off x="2056191" y="1519481"/>
              <a:ext cx="1637663" cy="355737"/>
            </a:xfrm>
            <a:prstGeom prst="rect">
              <a:avLst/>
            </a:prstGeom>
            <a:noFill/>
            <a:ln w="25400">
              <a:noFill/>
            </a:ln>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Write reg</a:t>
              </a:r>
              <a:endParaRPr lang="zh-CN" altLang="en-US" sz="2000" dirty="0">
                <a:latin typeface="Times New Roman" panose="02020603050405020304" pitchFamily="18" charset="0"/>
                <a:cs typeface="Times New Roman" panose="02020603050405020304" pitchFamily="18" charset="0"/>
              </a:endParaRPr>
            </a:p>
          </p:txBody>
        </p:sp>
        <p:sp>
          <p:nvSpPr>
            <p:cNvPr id="42" name="文本框 41"/>
            <p:cNvSpPr txBox="1"/>
            <p:nvPr/>
          </p:nvSpPr>
          <p:spPr>
            <a:xfrm>
              <a:off x="2056191" y="2292102"/>
              <a:ext cx="1779511" cy="355737"/>
            </a:xfrm>
            <a:prstGeom prst="rect">
              <a:avLst/>
            </a:prstGeom>
            <a:noFill/>
            <a:ln w="25400">
              <a:noFill/>
            </a:ln>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Write data</a:t>
              </a:r>
              <a:endParaRPr lang="zh-CN" altLang="en-US" sz="2000" dirty="0">
                <a:latin typeface="Times New Roman" panose="02020603050405020304" pitchFamily="18" charset="0"/>
                <a:cs typeface="Times New Roman" panose="02020603050405020304" pitchFamily="18" charset="0"/>
              </a:endParaRPr>
            </a:p>
          </p:txBody>
        </p:sp>
        <p:sp>
          <p:nvSpPr>
            <p:cNvPr id="43" name="文本框 42"/>
            <p:cNvSpPr txBox="1"/>
            <p:nvPr/>
          </p:nvSpPr>
          <p:spPr>
            <a:xfrm>
              <a:off x="2718977" y="746757"/>
              <a:ext cx="2112998" cy="444110"/>
            </a:xfrm>
            <a:prstGeom prst="rect">
              <a:avLst/>
            </a:prstGeom>
            <a:noFill/>
            <a:ln w="25400">
              <a:noFill/>
            </a:ln>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Read data1</a:t>
              </a:r>
              <a:endParaRPr lang="zh-CN" altLang="en-US" sz="2000" dirty="0">
                <a:latin typeface="Times New Roman" panose="02020603050405020304" pitchFamily="18" charset="0"/>
                <a:cs typeface="Times New Roman" panose="02020603050405020304" pitchFamily="18" charset="0"/>
              </a:endParaRPr>
            </a:p>
          </p:txBody>
        </p:sp>
        <p:sp>
          <p:nvSpPr>
            <p:cNvPr id="44" name="文本框 43"/>
            <p:cNvSpPr txBox="1"/>
            <p:nvPr/>
          </p:nvSpPr>
          <p:spPr>
            <a:xfrm>
              <a:off x="2718976" y="1905842"/>
              <a:ext cx="2112998" cy="355635"/>
            </a:xfrm>
            <a:prstGeom prst="rect">
              <a:avLst/>
            </a:prstGeom>
            <a:noFill/>
            <a:ln w="25400">
              <a:noFill/>
            </a:ln>
          </p:spPr>
          <p:txBody>
            <a:bodyPr wrap="non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r>
                <a:rPr lang="en-US" altLang="zh-CN" dirty="0"/>
                <a:t>Read data2</a:t>
              </a:r>
              <a:endParaRPr lang="zh-CN" altLang="en-US" dirty="0"/>
            </a:p>
          </p:txBody>
        </p:sp>
      </p:grpSp>
      <p:grpSp>
        <p:nvGrpSpPr>
          <p:cNvPr id="48" name="Imm Gen"/>
          <p:cNvGrpSpPr/>
          <p:nvPr/>
        </p:nvGrpSpPr>
        <p:grpSpPr>
          <a:xfrm>
            <a:off x="4887970" y="5174413"/>
            <a:ext cx="815657" cy="603221"/>
            <a:chOff x="4872307" y="5541359"/>
            <a:chExt cx="1085954" cy="1160630"/>
          </a:xfrm>
        </p:grpSpPr>
        <p:sp>
          <p:nvSpPr>
            <p:cNvPr id="46" name="椭圆 45"/>
            <p:cNvSpPr/>
            <p:nvPr/>
          </p:nvSpPr>
          <p:spPr>
            <a:xfrm>
              <a:off x="4872307" y="5541359"/>
              <a:ext cx="984043" cy="1146746"/>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sp>
          <p:nvSpPr>
            <p:cNvPr id="47" name="文本框 46"/>
            <p:cNvSpPr txBox="1"/>
            <p:nvPr/>
          </p:nvSpPr>
          <p:spPr>
            <a:xfrm>
              <a:off x="4939814" y="5749320"/>
              <a:ext cx="1018447" cy="952669"/>
            </a:xfrm>
            <a:prstGeom prst="rect">
              <a:avLst/>
            </a:prstGeom>
            <a:noFill/>
            <a:ln w="25400">
              <a:noFill/>
            </a:ln>
          </p:spPr>
          <p:txBody>
            <a:bodyPr wrap="none" rtlCol="0">
              <a:spAutoFit/>
            </a:bodyPr>
            <a:lstStyle/>
            <a:p>
              <a:pPr>
                <a:lnSpc>
                  <a:spcPts val="1500"/>
                </a:lnSpc>
              </a:pPr>
              <a:r>
                <a:rPr lang="en-US" altLang="zh-CN" sz="2200" b="1" dirty="0" err="1">
                  <a:solidFill>
                    <a:srgbClr val="FF0000"/>
                  </a:solidFill>
                  <a:latin typeface="Times New Roman" panose="02020603050405020304" pitchFamily="18" charset="0"/>
                  <a:cs typeface="Times New Roman" panose="02020603050405020304" pitchFamily="18" charset="0"/>
                </a:rPr>
                <a:t>Imm</a:t>
              </a:r>
              <a:endParaRPr lang="en-US" altLang="zh-CN" sz="2200" b="1" dirty="0">
                <a:solidFill>
                  <a:srgbClr val="FF0000"/>
                </a:solidFill>
                <a:latin typeface="Times New Roman" panose="02020603050405020304" pitchFamily="18" charset="0"/>
                <a:cs typeface="Times New Roman" panose="02020603050405020304" pitchFamily="18" charset="0"/>
              </a:endParaRPr>
            </a:p>
            <a:p>
              <a:pPr>
                <a:lnSpc>
                  <a:spcPts val="1500"/>
                </a:lnSpc>
              </a:pPr>
              <a:r>
                <a:rPr lang="en-US" altLang="zh-CN" sz="2200" b="1" dirty="0">
                  <a:solidFill>
                    <a:srgbClr val="FF0000"/>
                  </a:solidFill>
                  <a:latin typeface="Times New Roman" panose="02020603050405020304" pitchFamily="18" charset="0"/>
                  <a:cs typeface="Times New Roman" panose="02020603050405020304" pitchFamily="18" charset="0"/>
                </a:rPr>
                <a:t>Gen</a:t>
              </a:r>
              <a:endParaRPr lang="zh-CN" altLang="en-US" sz="2200" b="1" dirty="0">
                <a:solidFill>
                  <a:srgbClr val="FF0000"/>
                </a:solidFill>
                <a:latin typeface="Times New Roman" panose="02020603050405020304" pitchFamily="18" charset="0"/>
                <a:cs typeface="Times New Roman" panose="02020603050405020304" pitchFamily="18" charset="0"/>
              </a:endParaRPr>
            </a:p>
          </p:txBody>
        </p:sp>
      </p:grpSp>
      <p:grpSp>
        <p:nvGrpSpPr>
          <p:cNvPr id="55" name="Add Sum"/>
          <p:cNvGrpSpPr/>
          <p:nvPr/>
        </p:nvGrpSpPr>
        <p:grpSpPr>
          <a:xfrm>
            <a:off x="7625590" y="2210112"/>
            <a:ext cx="734496" cy="900971"/>
            <a:chOff x="5666744" y="2480764"/>
            <a:chExt cx="1069028" cy="1475010"/>
          </a:xfrm>
        </p:grpSpPr>
        <p:sp>
          <p:nvSpPr>
            <p:cNvPr id="52" name="梯形 51"/>
            <p:cNvSpPr/>
            <p:nvPr/>
          </p:nvSpPr>
          <p:spPr>
            <a:xfrm rot="5400000">
              <a:off x="5424366" y="2770445"/>
              <a:ext cx="1475010" cy="895647"/>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sp>
          <p:nvSpPr>
            <p:cNvPr id="54" name="文本框 53"/>
            <p:cNvSpPr txBox="1"/>
            <p:nvPr/>
          </p:nvSpPr>
          <p:spPr>
            <a:xfrm>
              <a:off x="5666744" y="2869097"/>
              <a:ext cx="1069028" cy="810604"/>
            </a:xfrm>
            <a:prstGeom prst="rect">
              <a:avLst/>
            </a:prstGeom>
            <a:noFill/>
            <a:ln w="25400">
              <a:noFill/>
            </a:ln>
          </p:spPr>
          <p:txBody>
            <a:bodyPr wrap="none" rtlCol="0">
              <a:spAutoFit/>
            </a:bodyPr>
            <a:lstStyle/>
            <a:p>
              <a:pPr>
                <a:lnSpc>
                  <a:spcPts val="1500"/>
                </a:lnSpc>
              </a:pPr>
              <a:r>
                <a:rPr lang="en-US" altLang="zh-CN" sz="2200" b="1" dirty="0">
                  <a:solidFill>
                    <a:srgbClr val="FF0000"/>
                  </a:solidFill>
                  <a:latin typeface="Times New Roman" panose="02020603050405020304" pitchFamily="18" charset="0"/>
                  <a:cs typeface="Times New Roman" panose="02020603050405020304" pitchFamily="18" charset="0"/>
                </a:rPr>
                <a:t>Add</a:t>
              </a:r>
            </a:p>
            <a:p>
              <a:pPr>
                <a:lnSpc>
                  <a:spcPts val="1500"/>
                </a:lnSpc>
              </a:pPr>
              <a:r>
                <a:rPr lang="en-US" altLang="zh-CN" sz="2200" b="1" dirty="0">
                  <a:solidFill>
                    <a:srgbClr val="FF0000"/>
                  </a:solidFill>
                  <a:latin typeface="Times New Roman" panose="02020603050405020304" pitchFamily="18" charset="0"/>
                  <a:cs typeface="Times New Roman" panose="02020603050405020304" pitchFamily="18" charset="0"/>
                </a:rPr>
                <a:t>Sum</a:t>
              </a:r>
              <a:endParaRPr lang="zh-CN" altLang="en-US" sz="2200" b="1" dirty="0">
                <a:solidFill>
                  <a:srgbClr val="FF0000"/>
                </a:solidFill>
                <a:latin typeface="Times New Roman" panose="02020603050405020304" pitchFamily="18" charset="0"/>
                <a:cs typeface="Times New Roman" panose="02020603050405020304" pitchFamily="18" charset="0"/>
              </a:endParaRPr>
            </a:p>
          </p:txBody>
        </p:sp>
      </p:grpSp>
      <p:grpSp>
        <p:nvGrpSpPr>
          <p:cNvPr id="61" name="ALU"/>
          <p:cNvGrpSpPr/>
          <p:nvPr/>
        </p:nvGrpSpPr>
        <p:grpSpPr>
          <a:xfrm>
            <a:off x="7631818" y="3415081"/>
            <a:ext cx="855473" cy="1706141"/>
            <a:chOff x="6022153" y="3618922"/>
            <a:chExt cx="1248516" cy="1704463"/>
          </a:xfrm>
        </p:grpSpPr>
        <p:sp>
          <p:nvSpPr>
            <p:cNvPr id="57" name="梯形 56"/>
            <p:cNvSpPr/>
            <p:nvPr/>
          </p:nvSpPr>
          <p:spPr>
            <a:xfrm rot="5400000">
              <a:off x="5805450" y="3911167"/>
              <a:ext cx="1704463" cy="1119974"/>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sp>
          <p:nvSpPr>
            <p:cNvPr id="58" name="文本框 57"/>
            <p:cNvSpPr txBox="1"/>
            <p:nvPr/>
          </p:nvSpPr>
          <p:spPr>
            <a:xfrm>
              <a:off x="6022153" y="3844414"/>
              <a:ext cx="1062600" cy="399716"/>
            </a:xfrm>
            <a:prstGeom prst="rect">
              <a:avLst/>
            </a:prstGeom>
            <a:noFill/>
            <a:ln w="25400">
              <a:noFill/>
            </a:ln>
          </p:spPr>
          <p:txBody>
            <a:bodyPr wrap="none" rtlCol="0">
              <a:spAutoFit/>
            </a:bodyPr>
            <a:lstStyle/>
            <a:p>
              <a:r>
                <a:rPr lang="en-US" altLang="zh-CN" sz="2000" b="1" dirty="0">
                  <a:solidFill>
                    <a:srgbClr val="FF0000"/>
                  </a:solidFill>
                  <a:latin typeface="Times New Roman" panose="02020603050405020304" pitchFamily="18" charset="0"/>
                  <a:cs typeface="Times New Roman" panose="02020603050405020304" pitchFamily="18" charset="0"/>
                </a:rPr>
                <a:t>ALU</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sp>
          <p:nvSpPr>
            <p:cNvPr id="59" name="文本框 58"/>
            <p:cNvSpPr txBox="1"/>
            <p:nvPr/>
          </p:nvSpPr>
          <p:spPr>
            <a:xfrm>
              <a:off x="6172977" y="4528771"/>
              <a:ext cx="1097692" cy="488564"/>
            </a:xfrm>
            <a:prstGeom prst="rect">
              <a:avLst/>
            </a:prstGeom>
            <a:noFill/>
            <a:ln w="25400">
              <a:noFill/>
            </a:ln>
          </p:spPr>
          <p:txBody>
            <a:bodyPr wrap="none" rtlCol="0">
              <a:spAutoFit/>
            </a:bodyPr>
            <a:lstStyle/>
            <a:p>
              <a:pPr>
                <a:lnSpc>
                  <a:spcPts val="1500"/>
                </a:lnSpc>
              </a:pPr>
              <a:r>
                <a:rPr lang="en-US" altLang="zh-CN" sz="2000" dirty="0">
                  <a:latin typeface="Times New Roman" panose="02020603050405020304" pitchFamily="18" charset="0"/>
                  <a:cs typeface="Times New Roman" panose="02020603050405020304" pitchFamily="18" charset="0"/>
                </a:rPr>
                <a:t>ALU</a:t>
              </a:r>
            </a:p>
            <a:p>
              <a:pPr>
                <a:lnSpc>
                  <a:spcPts val="1500"/>
                </a:lnSpc>
              </a:pPr>
              <a:r>
                <a:rPr lang="en-US" altLang="zh-CN" sz="2000" dirty="0">
                  <a:latin typeface="Times New Roman" panose="02020603050405020304" pitchFamily="18" charset="0"/>
                  <a:cs typeface="Times New Roman" panose="02020603050405020304" pitchFamily="18" charset="0"/>
                </a:rPr>
                <a:t>result</a:t>
              </a:r>
              <a:endParaRPr lang="zh-CN" altLang="en-US" sz="2000" dirty="0">
                <a:latin typeface="Times New Roman" panose="02020603050405020304" pitchFamily="18" charset="0"/>
                <a:cs typeface="Times New Roman" panose="02020603050405020304" pitchFamily="18" charset="0"/>
              </a:endParaRPr>
            </a:p>
          </p:txBody>
        </p:sp>
        <p:sp>
          <p:nvSpPr>
            <p:cNvPr id="60" name="文本框 59"/>
            <p:cNvSpPr txBox="1"/>
            <p:nvPr/>
          </p:nvSpPr>
          <p:spPr>
            <a:xfrm>
              <a:off x="6837645" y="4071044"/>
              <a:ext cx="312905" cy="400110"/>
            </a:xfrm>
            <a:prstGeom prst="rect">
              <a:avLst/>
            </a:prstGeom>
            <a:noFill/>
            <a:ln w="25400">
              <a:noFill/>
            </a:ln>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0</a:t>
              </a:r>
              <a:endParaRPr lang="zh-CN" altLang="en-US" sz="2000" dirty="0">
                <a:latin typeface="Times New Roman" panose="02020603050405020304" pitchFamily="18" charset="0"/>
                <a:cs typeface="Times New Roman" panose="02020603050405020304" pitchFamily="18" charset="0"/>
              </a:endParaRPr>
            </a:p>
          </p:txBody>
        </p:sp>
      </p:grpSp>
      <p:grpSp>
        <p:nvGrpSpPr>
          <p:cNvPr id="65" name="shift left 1"/>
          <p:cNvGrpSpPr/>
          <p:nvPr/>
        </p:nvGrpSpPr>
        <p:grpSpPr>
          <a:xfrm>
            <a:off x="6556262" y="2414870"/>
            <a:ext cx="837089" cy="812856"/>
            <a:chOff x="6179959" y="4133981"/>
            <a:chExt cx="1169768" cy="1146746"/>
          </a:xfrm>
        </p:grpSpPr>
        <p:sp>
          <p:nvSpPr>
            <p:cNvPr id="63" name="椭圆 62"/>
            <p:cNvSpPr/>
            <p:nvPr/>
          </p:nvSpPr>
          <p:spPr>
            <a:xfrm>
              <a:off x="6190528" y="4133981"/>
              <a:ext cx="984043" cy="1146746"/>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sp>
          <p:nvSpPr>
            <p:cNvPr id="64" name="文本框 63"/>
            <p:cNvSpPr txBox="1"/>
            <p:nvPr/>
          </p:nvSpPr>
          <p:spPr>
            <a:xfrm>
              <a:off x="6179959" y="4418756"/>
              <a:ext cx="1169768" cy="698519"/>
            </a:xfrm>
            <a:prstGeom prst="rect">
              <a:avLst/>
            </a:prstGeom>
            <a:noFill/>
            <a:ln w="25400">
              <a:noFill/>
            </a:ln>
          </p:spPr>
          <p:txBody>
            <a:bodyPr wrap="none" rtlCol="0">
              <a:spAutoFit/>
            </a:bodyPr>
            <a:lstStyle/>
            <a:p>
              <a:pPr>
                <a:lnSpc>
                  <a:spcPts val="1500"/>
                </a:lnSpc>
              </a:pPr>
              <a:r>
                <a:rPr lang="en-US" altLang="zh-CN" sz="2200" b="1" dirty="0">
                  <a:solidFill>
                    <a:srgbClr val="FF0000"/>
                  </a:solidFill>
                  <a:latin typeface="Times New Roman" panose="02020603050405020304" pitchFamily="18" charset="0"/>
                  <a:cs typeface="Times New Roman" panose="02020603050405020304" pitchFamily="18" charset="0"/>
                </a:rPr>
                <a:t>Shift </a:t>
              </a:r>
            </a:p>
            <a:p>
              <a:pPr>
                <a:lnSpc>
                  <a:spcPts val="1500"/>
                </a:lnSpc>
              </a:pPr>
              <a:r>
                <a:rPr lang="en-US" altLang="zh-CN" sz="2200" b="1" dirty="0">
                  <a:solidFill>
                    <a:srgbClr val="FF0000"/>
                  </a:solidFill>
                  <a:latin typeface="Times New Roman" panose="02020603050405020304" pitchFamily="18" charset="0"/>
                  <a:cs typeface="Times New Roman" panose="02020603050405020304" pitchFamily="18" charset="0"/>
                </a:rPr>
                <a:t>left 1</a:t>
              </a:r>
              <a:endParaRPr lang="zh-CN" altLang="en-US" sz="2200" b="1" dirty="0">
                <a:solidFill>
                  <a:srgbClr val="FF0000"/>
                </a:solidFill>
                <a:latin typeface="Times New Roman" panose="02020603050405020304" pitchFamily="18" charset="0"/>
                <a:cs typeface="Times New Roman" panose="02020603050405020304" pitchFamily="18" charset="0"/>
              </a:endParaRPr>
            </a:p>
          </p:txBody>
        </p:sp>
      </p:grpSp>
      <p:grpSp>
        <p:nvGrpSpPr>
          <p:cNvPr id="72" name="Mux 3"/>
          <p:cNvGrpSpPr/>
          <p:nvPr/>
        </p:nvGrpSpPr>
        <p:grpSpPr>
          <a:xfrm>
            <a:off x="11354179" y="4660508"/>
            <a:ext cx="663164" cy="1370073"/>
            <a:chOff x="3631044" y="5448299"/>
            <a:chExt cx="823080" cy="1230515"/>
          </a:xfrm>
        </p:grpSpPr>
        <p:sp>
          <p:nvSpPr>
            <p:cNvPr id="73" name="mux"/>
            <p:cNvSpPr/>
            <p:nvPr/>
          </p:nvSpPr>
          <p:spPr>
            <a:xfrm rot="5400000">
              <a:off x="3360534" y="5718809"/>
              <a:ext cx="1230515" cy="689495"/>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dirty="0">
                <a:latin typeface="Times New Roman" panose="02020603050405020304" pitchFamily="18" charset="0"/>
                <a:cs typeface="Times New Roman" panose="02020603050405020304" pitchFamily="18" charset="0"/>
              </a:endParaRPr>
            </a:p>
          </p:txBody>
        </p:sp>
        <p:sp>
          <p:nvSpPr>
            <p:cNvPr id="74" name="文本框 73"/>
            <p:cNvSpPr txBox="1"/>
            <p:nvPr/>
          </p:nvSpPr>
          <p:spPr>
            <a:xfrm>
              <a:off x="3694099" y="5492154"/>
              <a:ext cx="260682" cy="359354"/>
            </a:xfrm>
            <a:prstGeom prst="rect">
              <a:avLst/>
            </a:prstGeom>
            <a:noFill/>
            <a:ln w="25400">
              <a:noFill/>
            </a:ln>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0</a:t>
              </a:r>
              <a:endParaRPr lang="zh-CN" altLang="en-US" sz="2000" dirty="0">
                <a:latin typeface="Times New Roman" panose="02020603050405020304" pitchFamily="18" charset="0"/>
                <a:cs typeface="Times New Roman" panose="02020603050405020304" pitchFamily="18" charset="0"/>
              </a:endParaRPr>
            </a:p>
          </p:txBody>
        </p:sp>
        <p:sp>
          <p:nvSpPr>
            <p:cNvPr id="75" name="文本框 74"/>
            <p:cNvSpPr txBox="1"/>
            <p:nvPr/>
          </p:nvSpPr>
          <p:spPr>
            <a:xfrm>
              <a:off x="3667945" y="6293721"/>
              <a:ext cx="458566" cy="359354"/>
            </a:xfrm>
            <a:prstGeom prst="rect">
              <a:avLst/>
            </a:prstGeom>
            <a:noFill/>
            <a:ln w="25400">
              <a:noFill/>
            </a:ln>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1</a:t>
              </a:r>
              <a:endParaRPr lang="zh-CN" altLang="en-US" sz="2000" dirty="0">
                <a:latin typeface="Times New Roman" panose="02020603050405020304" pitchFamily="18" charset="0"/>
                <a:cs typeface="Times New Roman" panose="02020603050405020304" pitchFamily="18" charset="0"/>
              </a:endParaRPr>
            </a:p>
          </p:txBody>
        </p:sp>
        <p:sp>
          <p:nvSpPr>
            <p:cNvPr id="76" name="文本框 75"/>
            <p:cNvSpPr txBox="1"/>
            <p:nvPr/>
          </p:nvSpPr>
          <p:spPr>
            <a:xfrm>
              <a:off x="3894662" y="5599309"/>
              <a:ext cx="559462" cy="995134"/>
            </a:xfrm>
            <a:prstGeom prst="rect">
              <a:avLst/>
            </a:prstGeom>
            <a:noFill/>
            <a:ln w="25400">
              <a:noFill/>
            </a:ln>
          </p:spPr>
          <p:txBody>
            <a:bodyPr wrap="none" rtlCol="0">
              <a:spAutoFit/>
            </a:bodyPr>
            <a:lstStyle/>
            <a:p>
              <a:r>
                <a:rPr lang="en-US" altLang="zh-CN" sz="2200" b="1" dirty="0">
                  <a:solidFill>
                    <a:srgbClr val="FF0000"/>
                  </a:solidFill>
                  <a:latin typeface="Times New Roman" panose="02020603050405020304" pitchFamily="18" charset="0"/>
                  <a:cs typeface="Times New Roman" panose="02020603050405020304" pitchFamily="18" charset="0"/>
                </a:rPr>
                <a:t>M</a:t>
              </a:r>
            </a:p>
            <a:p>
              <a:r>
                <a:rPr lang="en-US" altLang="zh-CN" sz="2200" b="1" dirty="0">
                  <a:solidFill>
                    <a:srgbClr val="FF0000"/>
                  </a:solidFill>
                  <a:latin typeface="Times New Roman" panose="02020603050405020304" pitchFamily="18" charset="0"/>
                  <a:cs typeface="Times New Roman" panose="02020603050405020304" pitchFamily="18" charset="0"/>
                </a:rPr>
                <a:t>U</a:t>
              </a:r>
            </a:p>
            <a:p>
              <a:r>
                <a:rPr lang="en-US" altLang="zh-CN" sz="2200" b="1" dirty="0">
                  <a:solidFill>
                    <a:srgbClr val="FF0000"/>
                  </a:solidFill>
                  <a:latin typeface="Times New Roman" panose="02020603050405020304" pitchFamily="18" charset="0"/>
                  <a:cs typeface="Times New Roman" panose="02020603050405020304" pitchFamily="18" charset="0"/>
                </a:rPr>
                <a:t>X</a:t>
              </a:r>
              <a:endParaRPr lang="zh-CN" altLang="en-US" sz="2200" b="1" dirty="0">
                <a:solidFill>
                  <a:srgbClr val="FF0000"/>
                </a:solidFill>
                <a:latin typeface="Times New Roman" panose="02020603050405020304" pitchFamily="18" charset="0"/>
                <a:cs typeface="Times New Roman" panose="02020603050405020304" pitchFamily="18" charset="0"/>
              </a:endParaRPr>
            </a:p>
          </p:txBody>
        </p:sp>
      </p:grpSp>
      <p:grpSp>
        <p:nvGrpSpPr>
          <p:cNvPr id="80" name="ALU Control"/>
          <p:cNvGrpSpPr/>
          <p:nvPr/>
        </p:nvGrpSpPr>
        <p:grpSpPr>
          <a:xfrm>
            <a:off x="6850978" y="5464281"/>
            <a:ext cx="1046243" cy="592348"/>
            <a:chOff x="8983082" y="5053856"/>
            <a:chExt cx="1013521" cy="1146746"/>
          </a:xfrm>
        </p:grpSpPr>
        <p:sp>
          <p:nvSpPr>
            <p:cNvPr id="78" name="椭圆 77"/>
            <p:cNvSpPr/>
            <p:nvPr/>
          </p:nvSpPr>
          <p:spPr>
            <a:xfrm>
              <a:off x="8983082" y="5053856"/>
              <a:ext cx="984043" cy="1146746"/>
            </a:xfrm>
            <a:prstGeom prst="ellipse">
              <a:avLst/>
            </a:prstGeom>
            <a:ln w="25400">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sp>
          <p:nvSpPr>
            <p:cNvPr id="79" name="文本框 78"/>
            <p:cNvSpPr txBox="1"/>
            <p:nvPr/>
          </p:nvSpPr>
          <p:spPr>
            <a:xfrm>
              <a:off x="8994506" y="5227937"/>
              <a:ext cx="1002097" cy="946758"/>
            </a:xfrm>
            <a:prstGeom prst="rect">
              <a:avLst/>
            </a:prstGeom>
            <a:noFill/>
            <a:ln w="25400">
              <a:noFill/>
            </a:ln>
          </p:spPr>
          <p:txBody>
            <a:bodyPr wrap="none" rtlCol="0">
              <a:spAutoFit/>
            </a:bodyPr>
            <a:lstStyle/>
            <a:p>
              <a:pPr algn="ctr">
                <a:lnSpc>
                  <a:spcPts val="1500"/>
                </a:lnSpc>
              </a:pPr>
              <a:r>
                <a:rPr lang="en-US" altLang="zh-CN" sz="2000" b="1">
                  <a:solidFill>
                    <a:srgbClr val="00B0F0"/>
                  </a:solidFill>
                  <a:latin typeface="Times New Roman" panose="02020603050405020304" pitchFamily="18" charset="0"/>
                  <a:cs typeface="Times New Roman" panose="02020603050405020304" pitchFamily="18" charset="0"/>
                </a:rPr>
                <a:t>ALU </a:t>
              </a:r>
            </a:p>
            <a:p>
              <a:pPr algn="ctr">
                <a:lnSpc>
                  <a:spcPts val="1500"/>
                </a:lnSpc>
              </a:pPr>
              <a:r>
                <a:rPr lang="en-US" altLang="zh-CN" sz="2000" b="1">
                  <a:solidFill>
                    <a:srgbClr val="00B0F0"/>
                  </a:solidFill>
                  <a:latin typeface="Times New Roman" panose="02020603050405020304" pitchFamily="18" charset="0"/>
                  <a:cs typeface="Times New Roman" panose="02020603050405020304" pitchFamily="18" charset="0"/>
                </a:rPr>
                <a:t>Control</a:t>
              </a:r>
              <a:endParaRPr lang="en-US" altLang="zh-CN" sz="2000" b="1" dirty="0">
                <a:solidFill>
                  <a:srgbClr val="00B0F0"/>
                </a:solidFill>
                <a:latin typeface="Times New Roman" panose="02020603050405020304" pitchFamily="18" charset="0"/>
                <a:cs typeface="Times New Roman" panose="02020603050405020304" pitchFamily="18" charset="0"/>
              </a:endParaRPr>
            </a:p>
          </p:txBody>
        </p:sp>
      </p:grpSp>
      <p:grpSp>
        <p:nvGrpSpPr>
          <p:cNvPr id="90" name="Data memory"/>
          <p:cNvGrpSpPr/>
          <p:nvPr/>
        </p:nvGrpSpPr>
        <p:grpSpPr>
          <a:xfrm>
            <a:off x="9337727" y="3701862"/>
            <a:ext cx="1275173" cy="1918410"/>
            <a:chOff x="14812581" y="4726326"/>
            <a:chExt cx="2751283" cy="3362560"/>
          </a:xfrm>
        </p:grpSpPr>
        <p:sp>
          <p:nvSpPr>
            <p:cNvPr id="82" name="矩形 81"/>
            <p:cNvSpPr/>
            <p:nvPr/>
          </p:nvSpPr>
          <p:spPr>
            <a:xfrm>
              <a:off x="14919092" y="4726326"/>
              <a:ext cx="2551866" cy="33625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sp>
          <p:nvSpPr>
            <p:cNvPr id="83" name="文本框 82"/>
            <p:cNvSpPr txBox="1"/>
            <p:nvPr/>
          </p:nvSpPr>
          <p:spPr>
            <a:xfrm>
              <a:off x="14941859" y="4912225"/>
              <a:ext cx="2622005" cy="867867"/>
            </a:xfrm>
            <a:prstGeom prst="rect">
              <a:avLst/>
            </a:prstGeom>
            <a:noFill/>
            <a:ln w="25400">
              <a:noFill/>
            </a:ln>
          </p:spPr>
          <p:txBody>
            <a:bodyPr wrap="square" rtlCol="0">
              <a:spAutoFit/>
            </a:bodyPr>
            <a:lstStyle/>
            <a:p>
              <a:pPr>
                <a:lnSpc>
                  <a:spcPts val="1500"/>
                </a:lnSpc>
              </a:pPr>
              <a:r>
                <a:rPr lang="en-US" altLang="zh-CN" sz="2200" b="1" dirty="0">
                  <a:solidFill>
                    <a:srgbClr val="FF0000"/>
                  </a:solidFill>
                  <a:latin typeface="Times New Roman" panose="02020603050405020304" pitchFamily="18" charset="0"/>
                  <a:cs typeface="Times New Roman" panose="02020603050405020304" pitchFamily="18" charset="0"/>
                </a:rPr>
                <a:t>Data </a:t>
              </a:r>
            </a:p>
            <a:p>
              <a:pPr>
                <a:lnSpc>
                  <a:spcPts val="1500"/>
                </a:lnSpc>
              </a:pPr>
              <a:r>
                <a:rPr lang="en-US" altLang="zh-CN" sz="2200" b="1" dirty="0">
                  <a:solidFill>
                    <a:srgbClr val="FF0000"/>
                  </a:solidFill>
                  <a:latin typeface="Times New Roman" panose="02020603050405020304" pitchFamily="18" charset="0"/>
                  <a:cs typeface="Times New Roman" panose="02020603050405020304" pitchFamily="18" charset="0"/>
                </a:rPr>
                <a:t>memory</a:t>
              </a:r>
            </a:p>
          </p:txBody>
        </p:sp>
        <p:sp>
          <p:nvSpPr>
            <p:cNvPr id="84" name="文本框 83"/>
            <p:cNvSpPr txBox="1"/>
            <p:nvPr/>
          </p:nvSpPr>
          <p:spPr>
            <a:xfrm>
              <a:off x="14826184" y="5875441"/>
              <a:ext cx="1890233" cy="381290"/>
            </a:xfrm>
            <a:prstGeom prst="rect">
              <a:avLst/>
            </a:prstGeom>
            <a:noFill/>
            <a:ln w="25400">
              <a:noFill/>
            </a:ln>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Address</a:t>
              </a:r>
              <a:endParaRPr lang="zh-CN" altLang="en-US" sz="2000" dirty="0">
                <a:latin typeface="Times New Roman" panose="02020603050405020304" pitchFamily="18" charset="0"/>
                <a:cs typeface="Times New Roman" panose="02020603050405020304" pitchFamily="18" charset="0"/>
              </a:endParaRPr>
            </a:p>
          </p:txBody>
        </p:sp>
        <p:sp>
          <p:nvSpPr>
            <p:cNvPr id="87" name="文本框 86"/>
            <p:cNvSpPr txBox="1"/>
            <p:nvPr/>
          </p:nvSpPr>
          <p:spPr>
            <a:xfrm>
              <a:off x="14812581" y="7127538"/>
              <a:ext cx="2300101" cy="381289"/>
            </a:xfrm>
            <a:prstGeom prst="rect">
              <a:avLst/>
            </a:prstGeom>
            <a:noFill/>
            <a:ln w="25400">
              <a:noFill/>
            </a:ln>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Write data</a:t>
              </a:r>
              <a:endParaRPr lang="zh-CN" altLang="en-US" sz="2000" dirty="0">
                <a:latin typeface="Times New Roman" panose="02020603050405020304" pitchFamily="18" charset="0"/>
                <a:cs typeface="Times New Roman" panose="02020603050405020304" pitchFamily="18" charset="0"/>
              </a:endParaRPr>
            </a:p>
          </p:txBody>
        </p:sp>
        <p:sp>
          <p:nvSpPr>
            <p:cNvPr id="88" name="文本框 87"/>
            <p:cNvSpPr txBox="1"/>
            <p:nvPr/>
          </p:nvSpPr>
          <p:spPr>
            <a:xfrm>
              <a:off x="15041005" y="6402634"/>
              <a:ext cx="2218482" cy="381290"/>
            </a:xfrm>
            <a:prstGeom prst="rect">
              <a:avLst/>
            </a:prstGeom>
            <a:noFill/>
            <a:ln w="25400">
              <a:noFill/>
            </a:ln>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Read data</a:t>
              </a:r>
              <a:endParaRPr lang="zh-CN" altLang="en-US" sz="2000" dirty="0">
                <a:latin typeface="Times New Roman" panose="02020603050405020304" pitchFamily="18" charset="0"/>
                <a:cs typeface="Times New Roman" panose="02020603050405020304" pitchFamily="18" charset="0"/>
              </a:endParaRPr>
            </a:p>
          </p:txBody>
        </p:sp>
      </p:grpSp>
      <p:grpSp>
        <p:nvGrpSpPr>
          <p:cNvPr id="109" name="ID/EX"/>
          <p:cNvGrpSpPr/>
          <p:nvPr/>
        </p:nvGrpSpPr>
        <p:grpSpPr>
          <a:xfrm>
            <a:off x="5918825" y="669761"/>
            <a:ext cx="898003" cy="5719990"/>
            <a:chOff x="12641770" y="3542786"/>
            <a:chExt cx="898003" cy="7051005"/>
          </a:xfrm>
        </p:grpSpPr>
        <p:sp>
          <p:nvSpPr>
            <p:cNvPr id="101" name="矩形 100"/>
            <p:cNvSpPr/>
            <p:nvPr/>
          </p:nvSpPr>
          <p:spPr>
            <a:xfrm>
              <a:off x="12863277" y="5106649"/>
              <a:ext cx="358140" cy="5487142"/>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sp>
          <p:nvSpPr>
            <p:cNvPr id="102" name="文本框 101"/>
            <p:cNvSpPr txBox="1"/>
            <p:nvPr/>
          </p:nvSpPr>
          <p:spPr>
            <a:xfrm>
              <a:off x="12641770" y="3542786"/>
              <a:ext cx="898003" cy="493214"/>
            </a:xfrm>
            <a:prstGeom prst="rect">
              <a:avLst/>
            </a:prstGeom>
            <a:noFill/>
            <a:ln w="25400">
              <a:solidFill>
                <a:schemeClr val="bg1"/>
              </a:solidFill>
            </a:ln>
          </p:spPr>
          <p:txBody>
            <a:bodyPr wrap="none" rtlCol="0">
              <a:spAutoFit/>
            </a:bodyPr>
            <a:lstStyle/>
            <a:p>
              <a:r>
                <a:rPr lang="en-US" altLang="zh-CN" sz="2000" b="1" dirty="0">
                  <a:latin typeface="Times New Roman" panose="02020603050405020304" pitchFamily="18" charset="0"/>
                  <a:cs typeface="Times New Roman" panose="02020603050405020304" pitchFamily="18" charset="0"/>
                </a:rPr>
                <a:t>ID/EX</a:t>
              </a:r>
              <a:endParaRPr lang="zh-CN" altLang="en-US" sz="2000" b="1" dirty="0">
                <a:latin typeface="Times New Roman" panose="02020603050405020304" pitchFamily="18" charset="0"/>
                <a:cs typeface="Times New Roman" panose="02020603050405020304" pitchFamily="18" charset="0"/>
              </a:endParaRPr>
            </a:p>
          </p:txBody>
        </p:sp>
        <p:sp>
          <p:nvSpPr>
            <p:cNvPr id="103" name="矩形 102"/>
            <p:cNvSpPr/>
            <p:nvPr/>
          </p:nvSpPr>
          <p:spPr>
            <a:xfrm>
              <a:off x="12863277" y="4003828"/>
              <a:ext cx="358140" cy="3657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sp>
          <p:nvSpPr>
            <p:cNvPr id="104" name="矩形 103"/>
            <p:cNvSpPr/>
            <p:nvPr/>
          </p:nvSpPr>
          <p:spPr>
            <a:xfrm>
              <a:off x="12863277" y="4371435"/>
              <a:ext cx="358140" cy="3657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sp>
          <p:nvSpPr>
            <p:cNvPr id="105" name="矩形 104"/>
            <p:cNvSpPr/>
            <p:nvPr/>
          </p:nvSpPr>
          <p:spPr>
            <a:xfrm>
              <a:off x="12863277" y="4739042"/>
              <a:ext cx="358140" cy="3657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sp>
          <p:nvSpPr>
            <p:cNvPr id="106" name="文本框 105"/>
            <p:cNvSpPr txBox="1"/>
            <p:nvPr/>
          </p:nvSpPr>
          <p:spPr>
            <a:xfrm>
              <a:off x="12792902" y="4004151"/>
              <a:ext cx="514885" cy="417334"/>
            </a:xfrm>
            <a:prstGeom prst="rect">
              <a:avLst/>
            </a:prstGeom>
            <a:noFill/>
            <a:ln w="25400">
              <a:noFill/>
            </a:ln>
          </p:spPr>
          <p:txBody>
            <a:bodyPr wrap="square" rtlCol="0">
              <a:spAutoFit/>
            </a:bodyPr>
            <a:lstStyle/>
            <a:p>
              <a:r>
                <a:rPr lang="en-US" altLang="zh-CN" sz="1600" dirty="0">
                  <a:solidFill>
                    <a:schemeClr val="tx1"/>
                  </a:solidFill>
                  <a:latin typeface="Times New Roman" panose="02020603050405020304" pitchFamily="18" charset="0"/>
                  <a:cs typeface="Times New Roman" panose="02020603050405020304" pitchFamily="18" charset="0"/>
                </a:rPr>
                <a:t>WB</a:t>
              </a:r>
            </a:p>
          </p:txBody>
        </p:sp>
        <p:sp>
          <p:nvSpPr>
            <p:cNvPr id="107" name="文本框 106"/>
            <p:cNvSpPr txBox="1"/>
            <p:nvPr/>
          </p:nvSpPr>
          <p:spPr>
            <a:xfrm>
              <a:off x="12842373" y="4307779"/>
              <a:ext cx="412292" cy="493214"/>
            </a:xfrm>
            <a:prstGeom prst="rect">
              <a:avLst/>
            </a:prstGeom>
            <a:noFill/>
            <a:ln w="25400">
              <a:noFill/>
            </a:ln>
          </p:spPr>
          <p:txBody>
            <a:bodyPr wrap="none" rtlCol="0">
              <a:spAutoFit/>
            </a:bodyPr>
            <a:lstStyle/>
            <a:p>
              <a:r>
                <a:rPr lang="en-US" altLang="zh-CN" sz="2000" dirty="0">
                  <a:solidFill>
                    <a:schemeClr val="tx1"/>
                  </a:solidFill>
                  <a:latin typeface="Times New Roman" panose="02020603050405020304" pitchFamily="18" charset="0"/>
                  <a:cs typeface="Times New Roman" panose="02020603050405020304" pitchFamily="18" charset="0"/>
                </a:rPr>
                <a:t>M</a:t>
              </a:r>
            </a:p>
          </p:txBody>
        </p:sp>
        <p:sp>
          <p:nvSpPr>
            <p:cNvPr id="108" name="文本框 107"/>
            <p:cNvSpPr txBox="1"/>
            <p:nvPr/>
          </p:nvSpPr>
          <p:spPr>
            <a:xfrm>
              <a:off x="12780144" y="4690157"/>
              <a:ext cx="527709" cy="491574"/>
            </a:xfrm>
            <a:prstGeom prst="rect">
              <a:avLst/>
            </a:prstGeom>
            <a:noFill/>
            <a:ln w="25400">
              <a:noFill/>
            </a:ln>
          </p:spPr>
          <p:txBody>
            <a:bodyPr wrap="square" rtlCol="0">
              <a:spAutoFit/>
            </a:bodyPr>
            <a:lstStyle/>
            <a:p>
              <a:r>
                <a:rPr lang="en-US" altLang="zh-CN" sz="2000" dirty="0">
                  <a:solidFill>
                    <a:schemeClr val="tx1"/>
                  </a:solidFill>
                  <a:latin typeface="Times New Roman" panose="02020603050405020304" pitchFamily="18" charset="0"/>
                  <a:cs typeface="Times New Roman" panose="02020603050405020304" pitchFamily="18" charset="0"/>
                </a:rPr>
                <a:t>EX</a:t>
              </a:r>
            </a:p>
          </p:txBody>
        </p:sp>
      </p:grpSp>
      <p:grpSp>
        <p:nvGrpSpPr>
          <p:cNvPr id="119" name="EX/MEM"/>
          <p:cNvGrpSpPr/>
          <p:nvPr/>
        </p:nvGrpSpPr>
        <p:grpSpPr>
          <a:xfrm>
            <a:off x="8316335" y="718256"/>
            <a:ext cx="1268296" cy="5671496"/>
            <a:chOff x="12244229" y="350709"/>
            <a:chExt cx="1376375" cy="6553142"/>
          </a:xfrm>
        </p:grpSpPr>
        <p:sp>
          <p:nvSpPr>
            <p:cNvPr id="111" name="矩形 110"/>
            <p:cNvSpPr/>
            <p:nvPr/>
          </p:nvSpPr>
          <p:spPr>
            <a:xfrm>
              <a:off x="12692428" y="1722251"/>
              <a:ext cx="358140" cy="518160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sp>
          <p:nvSpPr>
            <p:cNvPr id="112" name="文本框 111"/>
            <p:cNvSpPr txBox="1"/>
            <p:nvPr/>
          </p:nvSpPr>
          <p:spPr>
            <a:xfrm>
              <a:off x="12244229" y="350709"/>
              <a:ext cx="1376375" cy="462308"/>
            </a:xfrm>
            <a:prstGeom prst="rect">
              <a:avLst/>
            </a:prstGeom>
            <a:noFill/>
            <a:ln w="25400">
              <a:noFill/>
            </a:ln>
          </p:spPr>
          <p:txBody>
            <a:bodyPr wrap="none" rtlCol="0">
              <a:spAutoFit/>
            </a:bodyPr>
            <a:lstStyle/>
            <a:p>
              <a:r>
                <a:rPr lang="en-US" altLang="zh-CN" sz="2000" b="1" dirty="0">
                  <a:latin typeface="Times New Roman" panose="02020603050405020304" pitchFamily="18" charset="0"/>
                  <a:cs typeface="Times New Roman" panose="02020603050405020304" pitchFamily="18" charset="0"/>
                </a:rPr>
                <a:t>EX/MEM</a:t>
              </a:r>
              <a:endParaRPr lang="zh-CN" altLang="en-US" sz="2000" b="1" dirty="0">
                <a:latin typeface="Times New Roman" panose="02020603050405020304" pitchFamily="18" charset="0"/>
                <a:cs typeface="Times New Roman" panose="02020603050405020304" pitchFamily="18" charset="0"/>
              </a:endParaRPr>
            </a:p>
          </p:txBody>
        </p:sp>
        <p:sp>
          <p:nvSpPr>
            <p:cNvPr id="113" name="矩形 112"/>
            <p:cNvSpPr/>
            <p:nvPr/>
          </p:nvSpPr>
          <p:spPr>
            <a:xfrm>
              <a:off x="12692428" y="1011926"/>
              <a:ext cx="358140" cy="3657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ln>
                  <a:solidFill>
                    <a:sysClr val="windowText" lastClr="000000"/>
                  </a:solidFill>
                </a:ln>
                <a:latin typeface="Times New Roman" panose="02020603050405020304" pitchFamily="18" charset="0"/>
                <a:cs typeface="Times New Roman" panose="02020603050405020304" pitchFamily="18" charset="0"/>
              </a:endParaRPr>
            </a:p>
          </p:txBody>
        </p:sp>
        <p:sp>
          <p:nvSpPr>
            <p:cNvPr id="114" name="矩形 113"/>
            <p:cNvSpPr/>
            <p:nvPr/>
          </p:nvSpPr>
          <p:spPr>
            <a:xfrm>
              <a:off x="12692428" y="1367089"/>
              <a:ext cx="358140" cy="3657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ln>
                  <a:solidFill>
                    <a:sysClr val="windowText" lastClr="000000"/>
                  </a:solidFill>
                </a:ln>
                <a:latin typeface="Times New Roman" panose="02020603050405020304" pitchFamily="18" charset="0"/>
                <a:cs typeface="Times New Roman" panose="02020603050405020304" pitchFamily="18" charset="0"/>
              </a:endParaRPr>
            </a:p>
          </p:txBody>
        </p:sp>
        <p:sp>
          <p:nvSpPr>
            <p:cNvPr id="117" name="文本框 116"/>
            <p:cNvSpPr txBox="1"/>
            <p:nvPr/>
          </p:nvSpPr>
          <p:spPr>
            <a:xfrm>
              <a:off x="12628667" y="1322662"/>
              <a:ext cx="447426" cy="462308"/>
            </a:xfrm>
            <a:prstGeom prst="rect">
              <a:avLst/>
            </a:prstGeom>
            <a:noFill/>
            <a:ln w="25400">
              <a:noFill/>
            </a:ln>
          </p:spPr>
          <p:txBody>
            <a:bodyPr wrap="none" rtlCol="0">
              <a:spAutoFit/>
              <a:scene3d>
                <a:camera prst="orthographicFront"/>
                <a:lightRig rig="threePt" dir="t"/>
              </a:scene3d>
            </a:bodyPr>
            <a:lstStyle/>
            <a:p>
              <a:r>
                <a:rPr lang="en-US" altLang="zh-CN" sz="200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M</a:t>
              </a:r>
            </a:p>
          </p:txBody>
        </p:sp>
      </p:grpSp>
      <p:grpSp>
        <p:nvGrpSpPr>
          <p:cNvPr id="127" name="MEM/WB"/>
          <p:cNvGrpSpPr/>
          <p:nvPr/>
        </p:nvGrpSpPr>
        <p:grpSpPr>
          <a:xfrm>
            <a:off x="10411682" y="1041408"/>
            <a:ext cx="1338828" cy="5348349"/>
            <a:chOff x="13878721" y="854519"/>
            <a:chExt cx="1406159" cy="6395115"/>
          </a:xfrm>
        </p:grpSpPr>
        <p:sp>
          <p:nvSpPr>
            <p:cNvPr id="121" name="矩形 120"/>
            <p:cNvSpPr/>
            <p:nvPr/>
          </p:nvSpPr>
          <p:spPr>
            <a:xfrm>
              <a:off x="14272656" y="1771647"/>
              <a:ext cx="358140" cy="5477987"/>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dirty="0">
                <a:latin typeface="Times New Roman" panose="02020603050405020304" pitchFamily="18" charset="0"/>
                <a:cs typeface="Times New Roman" panose="02020603050405020304" pitchFamily="18" charset="0"/>
              </a:endParaRPr>
            </a:p>
          </p:txBody>
        </p:sp>
        <p:sp>
          <p:nvSpPr>
            <p:cNvPr id="122" name="文本框 121"/>
            <p:cNvSpPr txBox="1"/>
            <p:nvPr/>
          </p:nvSpPr>
          <p:spPr>
            <a:xfrm>
              <a:off x="13878721" y="854519"/>
              <a:ext cx="1406159" cy="478419"/>
            </a:xfrm>
            <a:prstGeom prst="rect">
              <a:avLst/>
            </a:prstGeom>
            <a:noFill/>
            <a:ln w="25400">
              <a:noFill/>
            </a:ln>
          </p:spPr>
          <p:txBody>
            <a:bodyPr wrap="none" rtlCol="0">
              <a:spAutoFit/>
            </a:bodyPr>
            <a:lstStyle/>
            <a:p>
              <a:r>
                <a:rPr lang="en-US" altLang="zh-CN" sz="2000" b="1" dirty="0">
                  <a:latin typeface="Times New Roman" panose="02020603050405020304" pitchFamily="18" charset="0"/>
                  <a:cs typeface="Times New Roman" panose="02020603050405020304" pitchFamily="18" charset="0"/>
                </a:rPr>
                <a:t>MEM/WB</a:t>
              </a:r>
              <a:endParaRPr lang="zh-CN" altLang="en-US" sz="2000" b="1" dirty="0">
                <a:latin typeface="Times New Roman" panose="02020603050405020304" pitchFamily="18" charset="0"/>
                <a:cs typeface="Times New Roman" panose="02020603050405020304" pitchFamily="18" charset="0"/>
              </a:endParaRPr>
            </a:p>
          </p:txBody>
        </p:sp>
        <p:sp>
          <p:nvSpPr>
            <p:cNvPr id="123" name="矩形 122"/>
            <p:cNvSpPr/>
            <p:nvPr/>
          </p:nvSpPr>
          <p:spPr>
            <a:xfrm>
              <a:off x="14272656" y="1402146"/>
              <a:ext cx="358140" cy="3657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sp>
          <p:nvSpPr>
            <p:cNvPr id="125" name="文本框 124"/>
            <p:cNvSpPr txBox="1"/>
            <p:nvPr/>
          </p:nvSpPr>
          <p:spPr>
            <a:xfrm>
              <a:off x="14180991" y="1382989"/>
              <a:ext cx="540779" cy="404815"/>
            </a:xfrm>
            <a:prstGeom prst="rect">
              <a:avLst/>
            </a:prstGeom>
            <a:noFill/>
            <a:ln w="25400">
              <a:noFill/>
            </a:ln>
          </p:spPr>
          <p:txBody>
            <a:bodyPr wrap="none" rtlCol="0">
              <a:spAutoFit/>
            </a:bodyPr>
            <a:lstStyle/>
            <a:p>
              <a:r>
                <a:rPr lang="en-US" altLang="zh-CN" sz="1600" dirty="0">
                  <a:solidFill>
                    <a:schemeClr val="tx1"/>
                  </a:solidFill>
                  <a:latin typeface="Times New Roman" panose="02020603050405020304" pitchFamily="18" charset="0"/>
                  <a:cs typeface="Times New Roman" panose="02020603050405020304" pitchFamily="18" charset="0"/>
                </a:rPr>
                <a:t>WB</a:t>
              </a:r>
            </a:p>
          </p:txBody>
        </p:sp>
      </p:grpSp>
      <p:cxnSp>
        <p:nvCxnSpPr>
          <p:cNvPr id="160" name="直接连接符 159"/>
          <p:cNvCxnSpPr/>
          <p:nvPr/>
        </p:nvCxnSpPr>
        <p:spPr>
          <a:xfrm>
            <a:off x="3426638" y="2306068"/>
            <a:ext cx="2713692"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直接连接符 160"/>
          <p:cNvCxnSpPr>
            <a:stCxn id="15" idx="3"/>
          </p:cNvCxnSpPr>
          <p:nvPr/>
        </p:nvCxnSpPr>
        <p:spPr>
          <a:xfrm flipV="1">
            <a:off x="1447721" y="3699974"/>
            <a:ext cx="201733" cy="6"/>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直接连接符 161"/>
          <p:cNvCxnSpPr>
            <a:stCxn id="8" idx="3"/>
            <a:endCxn id="34" idx="1"/>
          </p:cNvCxnSpPr>
          <p:nvPr/>
        </p:nvCxnSpPr>
        <p:spPr>
          <a:xfrm>
            <a:off x="2896782" y="4142390"/>
            <a:ext cx="191173" cy="16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直接连接符 162"/>
          <p:cNvCxnSpPr>
            <a:stCxn id="22" idx="0"/>
          </p:cNvCxnSpPr>
          <p:nvPr/>
        </p:nvCxnSpPr>
        <p:spPr>
          <a:xfrm flipV="1">
            <a:off x="2553103" y="2540684"/>
            <a:ext cx="93566" cy="22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a:off x="1515887" y="2229475"/>
            <a:ext cx="43350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5" name="直接连接符 164"/>
          <p:cNvCxnSpPr/>
          <p:nvPr/>
        </p:nvCxnSpPr>
        <p:spPr>
          <a:xfrm flipV="1">
            <a:off x="3426638" y="4151917"/>
            <a:ext cx="200237"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flipH="1">
            <a:off x="1516481" y="2215312"/>
            <a:ext cx="4286" cy="1491750"/>
          </a:xfrm>
          <a:prstGeom prst="line">
            <a:avLst/>
          </a:prstGeom>
          <a:ln w="25400">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173" name="直接连接符 172"/>
          <p:cNvCxnSpPr/>
          <p:nvPr/>
        </p:nvCxnSpPr>
        <p:spPr>
          <a:xfrm>
            <a:off x="1520611" y="3191732"/>
            <a:ext cx="1275780" cy="0"/>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75" name="直接连接符 174"/>
          <p:cNvCxnSpPr/>
          <p:nvPr/>
        </p:nvCxnSpPr>
        <p:spPr>
          <a:xfrm>
            <a:off x="2801533" y="2315364"/>
            <a:ext cx="0" cy="87636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2646669" y="1731408"/>
            <a:ext cx="0" cy="80927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直接连接符 183"/>
          <p:cNvCxnSpPr/>
          <p:nvPr/>
        </p:nvCxnSpPr>
        <p:spPr>
          <a:xfrm flipV="1">
            <a:off x="6496160" y="1517073"/>
            <a:ext cx="1932603"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a:stCxn id="52" idx="0"/>
          </p:cNvCxnSpPr>
          <p:nvPr/>
        </p:nvCxnSpPr>
        <p:spPr>
          <a:xfrm flipV="1">
            <a:off x="8273462" y="2660597"/>
            <a:ext cx="458209"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8" name="直接连接符 187"/>
          <p:cNvCxnSpPr/>
          <p:nvPr/>
        </p:nvCxnSpPr>
        <p:spPr>
          <a:xfrm>
            <a:off x="238285" y="1731408"/>
            <a:ext cx="240838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a:off x="231890" y="1731408"/>
            <a:ext cx="0" cy="162690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直接连接符 195"/>
          <p:cNvCxnSpPr>
            <a:endCxn id="9" idx="2"/>
          </p:cNvCxnSpPr>
          <p:nvPr/>
        </p:nvCxnSpPr>
        <p:spPr>
          <a:xfrm>
            <a:off x="3617350" y="1591365"/>
            <a:ext cx="1023907" cy="330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8" name="直接连接符 197"/>
          <p:cNvCxnSpPr/>
          <p:nvPr/>
        </p:nvCxnSpPr>
        <p:spPr>
          <a:xfrm>
            <a:off x="5703627" y="1511884"/>
            <a:ext cx="441909"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直接连接符 199"/>
          <p:cNvCxnSpPr>
            <a:stCxn id="9" idx="0"/>
          </p:cNvCxnSpPr>
          <p:nvPr/>
        </p:nvCxnSpPr>
        <p:spPr>
          <a:xfrm>
            <a:off x="5180230" y="1275800"/>
            <a:ext cx="98492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直接连接符 201"/>
          <p:cNvCxnSpPr/>
          <p:nvPr/>
        </p:nvCxnSpPr>
        <p:spPr>
          <a:xfrm>
            <a:off x="5670909" y="1769192"/>
            <a:ext cx="503202"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a:off x="3617350" y="2762500"/>
            <a:ext cx="463973"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3626875" y="3444542"/>
            <a:ext cx="432680"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a:off x="5799395" y="3085041"/>
            <a:ext cx="34614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a:xfrm>
            <a:off x="5799396" y="4161425"/>
            <a:ext cx="33525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直接连接符 210"/>
          <p:cNvCxnSpPr/>
          <p:nvPr/>
        </p:nvCxnSpPr>
        <p:spPr>
          <a:xfrm>
            <a:off x="3626875" y="5823482"/>
            <a:ext cx="2518661"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13" name="直接连接符 212"/>
          <p:cNvCxnSpPr/>
          <p:nvPr/>
        </p:nvCxnSpPr>
        <p:spPr>
          <a:xfrm>
            <a:off x="3617350" y="1586140"/>
            <a:ext cx="0" cy="450268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 name="直接连接符 214"/>
          <p:cNvCxnSpPr/>
          <p:nvPr/>
        </p:nvCxnSpPr>
        <p:spPr>
          <a:xfrm>
            <a:off x="3592423" y="6088822"/>
            <a:ext cx="2542228"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6" name="直接连接符 215"/>
          <p:cNvCxnSpPr>
            <a:endCxn id="46" idx="2"/>
          </p:cNvCxnSpPr>
          <p:nvPr/>
        </p:nvCxnSpPr>
        <p:spPr>
          <a:xfrm>
            <a:off x="3592423" y="5472416"/>
            <a:ext cx="1295547"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18" name="直接连接符 217"/>
          <p:cNvCxnSpPr>
            <a:stCxn id="46" idx="6"/>
          </p:cNvCxnSpPr>
          <p:nvPr/>
        </p:nvCxnSpPr>
        <p:spPr>
          <a:xfrm flipV="1">
            <a:off x="5627082" y="5463982"/>
            <a:ext cx="518454" cy="843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6" name="直接连接符 225"/>
          <p:cNvCxnSpPr/>
          <p:nvPr/>
        </p:nvCxnSpPr>
        <p:spPr>
          <a:xfrm>
            <a:off x="6517301" y="1207745"/>
            <a:ext cx="203798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直接连接符 231"/>
          <p:cNvCxnSpPr/>
          <p:nvPr/>
        </p:nvCxnSpPr>
        <p:spPr>
          <a:xfrm>
            <a:off x="8555289" y="1416862"/>
            <a:ext cx="167179"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4" name="直接连接符 233"/>
          <p:cNvCxnSpPr/>
          <p:nvPr/>
        </p:nvCxnSpPr>
        <p:spPr>
          <a:xfrm>
            <a:off x="8556800" y="1192130"/>
            <a:ext cx="0" cy="22473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2" name="直接连接符 251"/>
          <p:cNvCxnSpPr/>
          <p:nvPr/>
        </p:nvCxnSpPr>
        <p:spPr>
          <a:xfrm>
            <a:off x="11131493" y="4897279"/>
            <a:ext cx="213160"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1" name="直接连接符 260"/>
          <p:cNvCxnSpPr/>
          <p:nvPr/>
        </p:nvCxnSpPr>
        <p:spPr>
          <a:xfrm>
            <a:off x="7248960" y="2942451"/>
            <a:ext cx="40913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3" name="直接连接符 262"/>
          <p:cNvCxnSpPr/>
          <p:nvPr/>
        </p:nvCxnSpPr>
        <p:spPr>
          <a:xfrm>
            <a:off x="6508113" y="3640795"/>
            <a:ext cx="117546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4" name="直接连接符 263"/>
          <p:cNvCxnSpPr/>
          <p:nvPr/>
        </p:nvCxnSpPr>
        <p:spPr>
          <a:xfrm>
            <a:off x="6517301" y="5826824"/>
            <a:ext cx="361399"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2" name="Mux 3"/>
          <p:cNvGrpSpPr/>
          <p:nvPr/>
        </p:nvGrpSpPr>
        <p:grpSpPr>
          <a:xfrm>
            <a:off x="415396" y="3096665"/>
            <a:ext cx="637675" cy="1370073"/>
            <a:chOff x="3631044" y="5448299"/>
            <a:chExt cx="823630" cy="1230515"/>
          </a:xfrm>
        </p:grpSpPr>
        <p:sp>
          <p:nvSpPr>
            <p:cNvPr id="133" name="mux"/>
            <p:cNvSpPr/>
            <p:nvPr/>
          </p:nvSpPr>
          <p:spPr>
            <a:xfrm rot="5400000">
              <a:off x="3360534" y="5718809"/>
              <a:ext cx="1230515" cy="689495"/>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dirty="0">
                <a:latin typeface="Times New Roman" panose="02020603050405020304" pitchFamily="18" charset="0"/>
                <a:cs typeface="Times New Roman" panose="02020603050405020304" pitchFamily="18" charset="0"/>
              </a:endParaRPr>
            </a:p>
          </p:txBody>
        </p:sp>
        <p:sp>
          <p:nvSpPr>
            <p:cNvPr id="134" name="文本框 133"/>
            <p:cNvSpPr txBox="1"/>
            <p:nvPr/>
          </p:nvSpPr>
          <p:spPr>
            <a:xfrm>
              <a:off x="3694099" y="5492154"/>
              <a:ext cx="260682" cy="359354"/>
            </a:xfrm>
            <a:prstGeom prst="rect">
              <a:avLst/>
            </a:prstGeom>
            <a:noFill/>
            <a:ln w="25400">
              <a:noFill/>
            </a:ln>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0</a:t>
              </a:r>
              <a:endParaRPr lang="zh-CN" altLang="en-US" sz="2000" dirty="0">
                <a:latin typeface="Times New Roman" panose="02020603050405020304" pitchFamily="18" charset="0"/>
                <a:cs typeface="Times New Roman" panose="02020603050405020304" pitchFamily="18" charset="0"/>
              </a:endParaRPr>
            </a:p>
          </p:txBody>
        </p:sp>
        <p:sp>
          <p:nvSpPr>
            <p:cNvPr id="135" name="文本框 134"/>
            <p:cNvSpPr txBox="1"/>
            <p:nvPr/>
          </p:nvSpPr>
          <p:spPr>
            <a:xfrm>
              <a:off x="3667945" y="6293721"/>
              <a:ext cx="458566" cy="359354"/>
            </a:xfrm>
            <a:prstGeom prst="rect">
              <a:avLst/>
            </a:prstGeom>
            <a:noFill/>
            <a:ln w="25400">
              <a:noFill/>
            </a:ln>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1</a:t>
              </a:r>
              <a:endParaRPr lang="zh-CN" altLang="en-US" sz="2000" dirty="0">
                <a:latin typeface="Times New Roman" panose="02020603050405020304" pitchFamily="18" charset="0"/>
                <a:cs typeface="Times New Roman" panose="02020603050405020304" pitchFamily="18" charset="0"/>
              </a:endParaRPr>
            </a:p>
          </p:txBody>
        </p:sp>
        <p:sp>
          <p:nvSpPr>
            <p:cNvPr id="136" name="文本框 135"/>
            <p:cNvSpPr txBox="1"/>
            <p:nvPr/>
          </p:nvSpPr>
          <p:spPr>
            <a:xfrm>
              <a:off x="3872461" y="5599309"/>
              <a:ext cx="582213" cy="995134"/>
            </a:xfrm>
            <a:prstGeom prst="rect">
              <a:avLst/>
            </a:prstGeom>
            <a:noFill/>
            <a:ln w="25400">
              <a:noFill/>
            </a:ln>
          </p:spPr>
          <p:txBody>
            <a:bodyPr wrap="none" rtlCol="0">
              <a:spAutoFit/>
            </a:bodyPr>
            <a:lstStyle/>
            <a:p>
              <a:r>
                <a:rPr lang="en-US" altLang="zh-CN" sz="2200" b="1" dirty="0">
                  <a:solidFill>
                    <a:srgbClr val="FF0000"/>
                  </a:solidFill>
                  <a:latin typeface="Times New Roman" panose="02020603050405020304" pitchFamily="18" charset="0"/>
                  <a:cs typeface="Times New Roman" panose="02020603050405020304" pitchFamily="18" charset="0"/>
                </a:rPr>
                <a:t>M</a:t>
              </a:r>
            </a:p>
            <a:p>
              <a:r>
                <a:rPr lang="en-US" altLang="zh-CN" sz="2200" b="1" dirty="0">
                  <a:solidFill>
                    <a:srgbClr val="FF0000"/>
                  </a:solidFill>
                  <a:latin typeface="Times New Roman" panose="02020603050405020304" pitchFamily="18" charset="0"/>
                  <a:cs typeface="Times New Roman" panose="02020603050405020304" pitchFamily="18" charset="0"/>
                </a:rPr>
                <a:t>U</a:t>
              </a:r>
            </a:p>
            <a:p>
              <a:r>
                <a:rPr lang="en-US" altLang="zh-CN" sz="2200" b="1" dirty="0">
                  <a:solidFill>
                    <a:srgbClr val="FF0000"/>
                  </a:solidFill>
                  <a:latin typeface="Times New Roman" panose="02020603050405020304" pitchFamily="18" charset="0"/>
                  <a:cs typeface="Times New Roman" panose="02020603050405020304" pitchFamily="18" charset="0"/>
                </a:rPr>
                <a:t>X</a:t>
              </a:r>
              <a:endParaRPr lang="zh-CN" altLang="en-US" sz="2200" b="1" dirty="0">
                <a:solidFill>
                  <a:srgbClr val="FF0000"/>
                </a:solidFill>
                <a:latin typeface="Times New Roman" panose="02020603050405020304" pitchFamily="18" charset="0"/>
                <a:cs typeface="Times New Roman" panose="02020603050405020304" pitchFamily="18" charset="0"/>
              </a:endParaRPr>
            </a:p>
          </p:txBody>
        </p:sp>
      </p:grpSp>
      <p:cxnSp>
        <p:nvCxnSpPr>
          <p:cNvPr id="150" name="直接连接符 149"/>
          <p:cNvCxnSpPr/>
          <p:nvPr/>
        </p:nvCxnSpPr>
        <p:spPr>
          <a:xfrm>
            <a:off x="8467453" y="4080723"/>
            <a:ext cx="264171" cy="341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a:off x="8448691" y="4539741"/>
            <a:ext cx="264171" cy="341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a:off x="9072796" y="4551430"/>
            <a:ext cx="31996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a:off x="9049936" y="5272892"/>
            <a:ext cx="347712"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10559282" y="4897279"/>
            <a:ext cx="23699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56" name="Mux 3"/>
          <p:cNvGrpSpPr/>
          <p:nvPr/>
        </p:nvGrpSpPr>
        <p:grpSpPr>
          <a:xfrm>
            <a:off x="6962315" y="3811111"/>
            <a:ext cx="637519" cy="1370073"/>
            <a:chOff x="3631044" y="5448299"/>
            <a:chExt cx="824237" cy="1230515"/>
          </a:xfrm>
        </p:grpSpPr>
        <p:sp>
          <p:nvSpPr>
            <p:cNvPr id="157" name="mux"/>
            <p:cNvSpPr/>
            <p:nvPr/>
          </p:nvSpPr>
          <p:spPr>
            <a:xfrm rot="5400000">
              <a:off x="3360534" y="5718809"/>
              <a:ext cx="1230515" cy="689495"/>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dirty="0">
                <a:latin typeface="Times New Roman" panose="02020603050405020304" pitchFamily="18" charset="0"/>
                <a:cs typeface="Times New Roman" panose="02020603050405020304" pitchFamily="18" charset="0"/>
              </a:endParaRPr>
            </a:p>
          </p:txBody>
        </p:sp>
        <p:sp>
          <p:nvSpPr>
            <p:cNvPr id="158" name="文本框 157"/>
            <p:cNvSpPr txBox="1"/>
            <p:nvPr/>
          </p:nvSpPr>
          <p:spPr>
            <a:xfrm>
              <a:off x="3694099" y="5492154"/>
              <a:ext cx="260682" cy="359354"/>
            </a:xfrm>
            <a:prstGeom prst="rect">
              <a:avLst/>
            </a:prstGeom>
            <a:noFill/>
            <a:ln w="25400">
              <a:noFill/>
            </a:ln>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0</a:t>
              </a:r>
              <a:endParaRPr lang="zh-CN" altLang="en-US" sz="2000" dirty="0">
                <a:latin typeface="Times New Roman" panose="02020603050405020304" pitchFamily="18" charset="0"/>
                <a:cs typeface="Times New Roman" panose="02020603050405020304" pitchFamily="18" charset="0"/>
              </a:endParaRPr>
            </a:p>
          </p:txBody>
        </p:sp>
        <p:sp>
          <p:nvSpPr>
            <p:cNvPr id="159" name="文本框 158"/>
            <p:cNvSpPr txBox="1"/>
            <p:nvPr/>
          </p:nvSpPr>
          <p:spPr>
            <a:xfrm>
              <a:off x="3667945" y="6293721"/>
              <a:ext cx="458566" cy="359354"/>
            </a:xfrm>
            <a:prstGeom prst="rect">
              <a:avLst/>
            </a:prstGeom>
            <a:noFill/>
            <a:ln w="25400">
              <a:noFill/>
            </a:ln>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1</a:t>
              </a:r>
              <a:endParaRPr lang="zh-CN" altLang="en-US" sz="2000" dirty="0">
                <a:latin typeface="Times New Roman" panose="02020603050405020304" pitchFamily="18" charset="0"/>
                <a:cs typeface="Times New Roman" panose="02020603050405020304" pitchFamily="18" charset="0"/>
              </a:endParaRPr>
            </a:p>
          </p:txBody>
        </p:sp>
        <p:sp>
          <p:nvSpPr>
            <p:cNvPr id="166" name="文本框 165"/>
            <p:cNvSpPr txBox="1"/>
            <p:nvPr/>
          </p:nvSpPr>
          <p:spPr>
            <a:xfrm>
              <a:off x="3872497" y="5599309"/>
              <a:ext cx="582784" cy="995134"/>
            </a:xfrm>
            <a:prstGeom prst="rect">
              <a:avLst/>
            </a:prstGeom>
            <a:noFill/>
            <a:ln w="25400">
              <a:noFill/>
            </a:ln>
          </p:spPr>
          <p:txBody>
            <a:bodyPr wrap="non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r>
                <a:rPr lang="en-US" altLang="zh-CN" sz="2200" b="1" dirty="0">
                  <a:solidFill>
                    <a:srgbClr val="FF0000"/>
                  </a:solidFill>
                </a:rPr>
                <a:t>M</a:t>
              </a:r>
            </a:p>
            <a:p>
              <a:r>
                <a:rPr lang="en-US" altLang="zh-CN" sz="2200" b="1" dirty="0">
                  <a:solidFill>
                    <a:srgbClr val="FF0000"/>
                  </a:solidFill>
                </a:rPr>
                <a:t>U</a:t>
              </a:r>
            </a:p>
            <a:p>
              <a:r>
                <a:rPr lang="en-US" altLang="zh-CN" sz="2200" b="1" dirty="0">
                  <a:solidFill>
                    <a:srgbClr val="FF0000"/>
                  </a:solidFill>
                </a:rPr>
                <a:t>X</a:t>
              </a:r>
              <a:endParaRPr lang="zh-CN" altLang="en-US" sz="2200" b="1" dirty="0">
                <a:solidFill>
                  <a:srgbClr val="FF0000"/>
                </a:solidFill>
              </a:endParaRPr>
            </a:p>
          </p:txBody>
        </p:sp>
      </p:grpSp>
      <p:cxnSp>
        <p:nvCxnSpPr>
          <p:cNvPr id="168" name="直接连接符 167"/>
          <p:cNvCxnSpPr/>
          <p:nvPr/>
        </p:nvCxnSpPr>
        <p:spPr>
          <a:xfrm flipV="1">
            <a:off x="936378" y="3686654"/>
            <a:ext cx="201733" cy="6"/>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直接连接符 170"/>
          <p:cNvCxnSpPr/>
          <p:nvPr/>
        </p:nvCxnSpPr>
        <p:spPr>
          <a:xfrm>
            <a:off x="2796391" y="2315364"/>
            <a:ext cx="29156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a:xfrm>
            <a:off x="1738069" y="2762500"/>
            <a:ext cx="21132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flipV="1">
            <a:off x="6508113" y="2291284"/>
            <a:ext cx="1123703" cy="860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a:off x="6779637" y="3223915"/>
            <a:ext cx="1851" cy="224006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a:off x="6508113" y="5463982"/>
            <a:ext cx="27986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a:off x="6508113" y="4161425"/>
            <a:ext cx="45420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a:off x="6773924" y="4930537"/>
            <a:ext cx="206873" cy="100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a:off x="6648487" y="5272891"/>
            <a:ext cx="208085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a:off x="6646043" y="4161425"/>
            <a:ext cx="2001" cy="1111466"/>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a:off x="9218251" y="4547252"/>
            <a:ext cx="0" cy="1253221"/>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a:off x="9218251" y="5789043"/>
            <a:ext cx="157802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1" name="直接连接符 270"/>
          <p:cNvCxnSpPr/>
          <p:nvPr/>
        </p:nvCxnSpPr>
        <p:spPr>
          <a:xfrm>
            <a:off x="11131493" y="5778981"/>
            <a:ext cx="213160"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3" name="直接连接符 272"/>
          <p:cNvCxnSpPr/>
          <p:nvPr/>
        </p:nvCxnSpPr>
        <p:spPr>
          <a:xfrm>
            <a:off x="7496601" y="4808821"/>
            <a:ext cx="18697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7" name="流程图: 延期 276"/>
          <p:cNvSpPr/>
          <p:nvPr/>
        </p:nvSpPr>
        <p:spPr>
          <a:xfrm>
            <a:off x="9398159" y="2791269"/>
            <a:ext cx="563270" cy="450446"/>
          </a:xfrm>
          <a:prstGeom prst="flowChartDelay">
            <a:avLst/>
          </a:prstGeom>
        </p:spPr>
        <p:style>
          <a:lnRef idx="2">
            <a:schemeClr val="dk1"/>
          </a:lnRef>
          <a:fillRef idx="1">
            <a:schemeClr val="lt1"/>
          </a:fillRef>
          <a:effectRef idx="0">
            <a:schemeClr val="dk1"/>
          </a:effectRef>
          <a:fontRef idx="minor">
            <a:schemeClr val="dk1"/>
          </a:fontRef>
        </p:style>
        <p:txBody>
          <a:bodyPr rtlCol="0" anchor="ctr">
            <a:scene3d>
              <a:camera prst="orthographicFront"/>
              <a:lightRig rig="threePt" dir="t"/>
            </a:scene3d>
          </a:bodyPr>
          <a:lstStyle/>
          <a:p>
            <a:pPr algn="ctr"/>
            <a:endParaRPr lang="zh-CN" altLang="en-US" sz="220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cxnSp>
        <p:nvCxnSpPr>
          <p:cNvPr id="278" name="直接连接符 277"/>
          <p:cNvCxnSpPr/>
          <p:nvPr/>
        </p:nvCxnSpPr>
        <p:spPr>
          <a:xfrm>
            <a:off x="9068500" y="4099665"/>
            <a:ext cx="149751"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80" name="直接连接符 279"/>
          <p:cNvCxnSpPr/>
          <p:nvPr/>
        </p:nvCxnSpPr>
        <p:spPr>
          <a:xfrm>
            <a:off x="9218251" y="3145494"/>
            <a:ext cx="0" cy="959821"/>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82" name="直接连接符 281"/>
          <p:cNvCxnSpPr/>
          <p:nvPr/>
        </p:nvCxnSpPr>
        <p:spPr>
          <a:xfrm>
            <a:off x="9209377" y="3137747"/>
            <a:ext cx="185287"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285" name="文本框 284"/>
          <p:cNvSpPr txBox="1"/>
          <p:nvPr/>
        </p:nvSpPr>
        <p:spPr>
          <a:xfrm>
            <a:off x="1566387" y="4259450"/>
            <a:ext cx="1407758" cy="489045"/>
          </a:xfrm>
          <a:prstGeom prst="rect">
            <a:avLst/>
          </a:prstGeom>
          <a:noFill/>
          <a:ln w="25400">
            <a:noFill/>
          </a:ln>
        </p:spPr>
        <p:txBody>
          <a:bodyPr wrap="square" rtlCol="0">
            <a:spAutoFit/>
          </a:bodyPr>
          <a:lstStyle/>
          <a:p>
            <a:pPr>
              <a:lnSpc>
                <a:spcPts val="1500"/>
              </a:lnSpc>
            </a:pPr>
            <a:r>
              <a:rPr lang="en-US" altLang="zh-CN" sz="2000" b="1" dirty="0">
                <a:solidFill>
                  <a:srgbClr val="FF0000"/>
                </a:solidFill>
                <a:latin typeface="Times New Roman" panose="02020603050405020304" pitchFamily="18" charset="0"/>
                <a:cs typeface="Times New Roman" panose="02020603050405020304" pitchFamily="18" charset="0"/>
              </a:rPr>
              <a:t>Instruction</a:t>
            </a:r>
          </a:p>
          <a:p>
            <a:pPr>
              <a:lnSpc>
                <a:spcPts val="1500"/>
              </a:lnSpc>
            </a:pPr>
            <a:r>
              <a:rPr lang="en-US" altLang="zh-CN" sz="2000" b="1" dirty="0">
                <a:solidFill>
                  <a:srgbClr val="FF0000"/>
                </a:solidFill>
                <a:latin typeface="Times New Roman" panose="02020603050405020304" pitchFamily="18" charset="0"/>
                <a:cs typeface="Times New Roman" panose="02020603050405020304" pitchFamily="18" charset="0"/>
              </a:rPr>
              <a:t> memory</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cxnSp>
        <p:nvCxnSpPr>
          <p:cNvPr id="291" name="直接连接符 290"/>
          <p:cNvCxnSpPr/>
          <p:nvPr/>
        </p:nvCxnSpPr>
        <p:spPr>
          <a:xfrm>
            <a:off x="8421611" y="1499398"/>
            <a:ext cx="0" cy="2320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3" name="直接连接符 292"/>
          <p:cNvCxnSpPr/>
          <p:nvPr/>
        </p:nvCxnSpPr>
        <p:spPr>
          <a:xfrm>
            <a:off x="8421611" y="1710809"/>
            <a:ext cx="30773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3" name="直接连接符 302"/>
          <p:cNvCxnSpPr/>
          <p:nvPr/>
        </p:nvCxnSpPr>
        <p:spPr>
          <a:xfrm>
            <a:off x="8573013" y="1762571"/>
            <a:ext cx="1" cy="415755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 name="直接连接符 310"/>
          <p:cNvCxnSpPr/>
          <p:nvPr/>
        </p:nvCxnSpPr>
        <p:spPr>
          <a:xfrm>
            <a:off x="6500444" y="6106132"/>
            <a:ext cx="220443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 name="直接连接符 313"/>
          <p:cNvCxnSpPr/>
          <p:nvPr/>
        </p:nvCxnSpPr>
        <p:spPr>
          <a:xfrm>
            <a:off x="8209661" y="4906000"/>
            <a:ext cx="0" cy="5765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 name="直接连接符 316"/>
          <p:cNvCxnSpPr/>
          <p:nvPr/>
        </p:nvCxnSpPr>
        <p:spPr>
          <a:xfrm>
            <a:off x="7590088" y="5483113"/>
            <a:ext cx="61957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0" name="直接连接符 319"/>
          <p:cNvCxnSpPr/>
          <p:nvPr/>
        </p:nvCxnSpPr>
        <p:spPr>
          <a:xfrm>
            <a:off x="9068500" y="6106132"/>
            <a:ext cx="1718252" cy="0"/>
          </a:xfrm>
          <a:prstGeom prst="line">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22" name="直接连接符 321"/>
          <p:cNvCxnSpPr/>
          <p:nvPr/>
        </p:nvCxnSpPr>
        <p:spPr>
          <a:xfrm>
            <a:off x="9082489" y="1416862"/>
            <a:ext cx="156825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3" name="直接连接符 322"/>
          <p:cNvCxnSpPr/>
          <p:nvPr/>
        </p:nvCxnSpPr>
        <p:spPr>
          <a:xfrm>
            <a:off x="10645863" y="1678012"/>
            <a:ext cx="167179"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4" name="直接连接符 323"/>
          <p:cNvCxnSpPr/>
          <p:nvPr/>
        </p:nvCxnSpPr>
        <p:spPr>
          <a:xfrm>
            <a:off x="10639950" y="1416862"/>
            <a:ext cx="1511" cy="2611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1" name="直接连接符 330"/>
          <p:cNvCxnSpPr/>
          <p:nvPr/>
        </p:nvCxnSpPr>
        <p:spPr>
          <a:xfrm>
            <a:off x="3760225" y="6591300"/>
            <a:ext cx="758442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2" name="直接连接符 331"/>
          <p:cNvCxnSpPr/>
          <p:nvPr/>
        </p:nvCxnSpPr>
        <p:spPr>
          <a:xfrm>
            <a:off x="11141019" y="6106132"/>
            <a:ext cx="2131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3" name="直接连接符 332"/>
          <p:cNvCxnSpPr/>
          <p:nvPr/>
        </p:nvCxnSpPr>
        <p:spPr>
          <a:xfrm>
            <a:off x="11344653" y="6106132"/>
            <a:ext cx="0" cy="48516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7" name="直接连接符 346"/>
          <p:cNvCxnSpPr/>
          <p:nvPr/>
        </p:nvCxnSpPr>
        <p:spPr>
          <a:xfrm>
            <a:off x="3760225" y="3807921"/>
            <a:ext cx="0" cy="278337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9" name="直接连接符 348"/>
          <p:cNvCxnSpPr/>
          <p:nvPr/>
        </p:nvCxnSpPr>
        <p:spPr>
          <a:xfrm flipV="1">
            <a:off x="3772422" y="3813938"/>
            <a:ext cx="287133" cy="4862"/>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1" name="直接连接符 360"/>
          <p:cNvCxnSpPr>
            <a:endCxn id="76" idx="3"/>
          </p:cNvCxnSpPr>
          <p:nvPr/>
        </p:nvCxnSpPr>
        <p:spPr>
          <a:xfrm flipV="1">
            <a:off x="11899812" y="5382643"/>
            <a:ext cx="117531" cy="9114"/>
          </a:xfrm>
          <a:prstGeom prst="line">
            <a:avLst/>
          </a:prstGeom>
          <a:ln w="25400">
            <a:noFill/>
          </a:ln>
        </p:spPr>
        <p:style>
          <a:lnRef idx="1">
            <a:schemeClr val="accent1"/>
          </a:lnRef>
          <a:fillRef idx="0">
            <a:schemeClr val="accent1"/>
          </a:fillRef>
          <a:effectRef idx="0">
            <a:schemeClr val="accent1"/>
          </a:effectRef>
          <a:fontRef idx="minor">
            <a:schemeClr val="tx1"/>
          </a:fontRef>
        </p:style>
      </p:cxnSp>
      <p:cxnSp>
        <p:nvCxnSpPr>
          <p:cNvPr id="362" name="直接连接符 361"/>
          <p:cNvCxnSpPr/>
          <p:nvPr/>
        </p:nvCxnSpPr>
        <p:spPr>
          <a:xfrm>
            <a:off x="12008197" y="5391757"/>
            <a:ext cx="0" cy="134241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5" name="直接连接符 364"/>
          <p:cNvCxnSpPr/>
          <p:nvPr/>
        </p:nvCxnSpPr>
        <p:spPr>
          <a:xfrm>
            <a:off x="3903100" y="6734175"/>
            <a:ext cx="811424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8" name="直接连接符 367"/>
          <p:cNvCxnSpPr/>
          <p:nvPr/>
        </p:nvCxnSpPr>
        <p:spPr>
          <a:xfrm>
            <a:off x="3894222" y="4438080"/>
            <a:ext cx="0" cy="229609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2" name="直接连接符 371"/>
          <p:cNvCxnSpPr/>
          <p:nvPr/>
        </p:nvCxnSpPr>
        <p:spPr>
          <a:xfrm>
            <a:off x="3884062" y="4445805"/>
            <a:ext cx="160320" cy="11306"/>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6" name="直接连接符 375"/>
          <p:cNvCxnSpPr/>
          <p:nvPr/>
        </p:nvCxnSpPr>
        <p:spPr>
          <a:xfrm>
            <a:off x="674350" y="285750"/>
            <a:ext cx="945794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7" name="直接连接符 376"/>
          <p:cNvCxnSpPr/>
          <p:nvPr/>
        </p:nvCxnSpPr>
        <p:spPr>
          <a:xfrm>
            <a:off x="3170131" y="438150"/>
            <a:ext cx="66029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8" name="直接连接符 377"/>
          <p:cNvCxnSpPr/>
          <p:nvPr/>
        </p:nvCxnSpPr>
        <p:spPr>
          <a:xfrm>
            <a:off x="4341706" y="631661"/>
            <a:ext cx="727331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0" name="直接连接符 379"/>
          <p:cNvCxnSpPr/>
          <p:nvPr/>
        </p:nvCxnSpPr>
        <p:spPr>
          <a:xfrm>
            <a:off x="666217" y="285750"/>
            <a:ext cx="16266" cy="27939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6" name="直接连接符 385"/>
          <p:cNvCxnSpPr/>
          <p:nvPr/>
        </p:nvCxnSpPr>
        <p:spPr>
          <a:xfrm>
            <a:off x="4341706" y="621091"/>
            <a:ext cx="0" cy="184978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8" name="直接连接符 387"/>
          <p:cNvCxnSpPr/>
          <p:nvPr/>
        </p:nvCxnSpPr>
        <p:spPr>
          <a:xfrm>
            <a:off x="103635" y="1417851"/>
            <a:ext cx="16266" cy="27939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9" name="直接连接符 388"/>
          <p:cNvCxnSpPr/>
          <p:nvPr/>
        </p:nvCxnSpPr>
        <p:spPr>
          <a:xfrm>
            <a:off x="103635" y="1416862"/>
            <a:ext cx="30664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0" name="直接连接符 389"/>
          <p:cNvCxnSpPr/>
          <p:nvPr/>
        </p:nvCxnSpPr>
        <p:spPr>
          <a:xfrm>
            <a:off x="3170131" y="438150"/>
            <a:ext cx="0" cy="101063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5" name="直接连接符 394"/>
          <p:cNvCxnSpPr/>
          <p:nvPr/>
        </p:nvCxnSpPr>
        <p:spPr>
          <a:xfrm>
            <a:off x="224033" y="3358313"/>
            <a:ext cx="219933" cy="5779"/>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7" name="直接连接符 396"/>
          <p:cNvCxnSpPr/>
          <p:nvPr/>
        </p:nvCxnSpPr>
        <p:spPr>
          <a:xfrm flipV="1">
            <a:off x="132271" y="4180475"/>
            <a:ext cx="307822"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0" name="直接连接符 399"/>
          <p:cNvCxnSpPr/>
          <p:nvPr/>
        </p:nvCxnSpPr>
        <p:spPr>
          <a:xfrm>
            <a:off x="9947010" y="3010989"/>
            <a:ext cx="18528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1" name="直接连接符 400"/>
          <p:cNvCxnSpPr/>
          <p:nvPr/>
        </p:nvCxnSpPr>
        <p:spPr>
          <a:xfrm flipH="1">
            <a:off x="10115777" y="285750"/>
            <a:ext cx="11140" cy="27327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4" name="直接连接符 403"/>
          <p:cNvCxnSpPr/>
          <p:nvPr/>
        </p:nvCxnSpPr>
        <p:spPr>
          <a:xfrm>
            <a:off x="9773036" y="438150"/>
            <a:ext cx="0" cy="220114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7" name="直接连接符 406"/>
          <p:cNvCxnSpPr/>
          <p:nvPr/>
        </p:nvCxnSpPr>
        <p:spPr>
          <a:xfrm flipV="1">
            <a:off x="9063072" y="2648681"/>
            <a:ext cx="727445" cy="606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9" name="直接连接符 408"/>
          <p:cNvCxnSpPr/>
          <p:nvPr/>
        </p:nvCxnSpPr>
        <p:spPr>
          <a:xfrm>
            <a:off x="11141019" y="1592287"/>
            <a:ext cx="49092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0" name="直接连接符 409"/>
          <p:cNvCxnSpPr/>
          <p:nvPr/>
        </p:nvCxnSpPr>
        <p:spPr>
          <a:xfrm>
            <a:off x="11631945" y="631661"/>
            <a:ext cx="0" cy="96623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6" name="直接连接符 415"/>
          <p:cNvCxnSpPr/>
          <p:nvPr/>
        </p:nvCxnSpPr>
        <p:spPr>
          <a:xfrm>
            <a:off x="11127743" y="1748348"/>
            <a:ext cx="4990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8" name="直接连接符 417"/>
          <p:cNvCxnSpPr>
            <a:endCxn id="73" idx="1"/>
          </p:cNvCxnSpPr>
          <p:nvPr/>
        </p:nvCxnSpPr>
        <p:spPr>
          <a:xfrm>
            <a:off x="11631945" y="1748348"/>
            <a:ext cx="0" cy="29121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2" name="直接连接符 421"/>
          <p:cNvCxnSpPr/>
          <p:nvPr/>
        </p:nvCxnSpPr>
        <p:spPr>
          <a:xfrm>
            <a:off x="10676112" y="1778875"/>
            <a:ext cx="0" cy="422304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flipV="1">
            <a:off x="9987994" y="5997660"/>
            <a:ext cx="688118" cy="426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8" name="直接连接符 427"/>
          <p:cNvCxnSpPr>
            <a:stCxn id="82" idx="2"/>
          </p:cNvCxnSpPr>
          <p:nvPr/>
        </p:nvCxnSpPr>
        <p:spPr>
          <a:xfrm>
            <a:off x="9978467" y="5620272"/>
            <a:ext cx="0" cy="41030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42" name="文本框 441"/>
          <p:cNvSpPr txBox="1"/>
          <p:nvPr/>
        </p:nvSpPr>
        <p:spPr>
          <a:xfrm>
            <a:off x="3130962" y="1229700"/>
            <a:ext cx="1292341" cy="400110"/>
          </a:xfrm>
          <a:prstGeom prst="rect">
            <a:avLst/>
          </a:prstGeom>
          <a:ln w="25400">
            <a:noFill/>
          </a:ln>
        </p:spPr>
        <p:style>
          <a:lnRef idx="1">
            <a:schemeClr val="accent1"/>
          </a:lnRef>
          <a:fillRef idx="0">
            <a:schemeClr val="accent1"/>
          </a:fillRef>
          <a:effectRef idx="0">
            <a:schemeClr val="accent1"/>
          </a:effectRef>
          <a:fontRef idx="minor">
            <a:schemeClr val="tx1"/>
          </a:fontRef>
        </p:style>
        <p:txBody>
          <a:bodyPr wrap="square" rtlCol="0">
            <a:spAutoFit/>
          </a:bodyPr>
          <a:lstStyle/>
          <a:p>
            <a:r>
              <a:rPr lang="en-US" altLang="zh-CN" sz="2000" dirty="0">
                <a:latin typeface="Times New Roman" panose="02020603050405020304" pitchFamily="18" charset="0"/>
                <a:cs typeface="Times New Roman" panose="02020603050405020304" pitchFamily="18" charset="0"/>
              </a:rPr>
              <a:t>Instruction</a:t>
            </a:r>
            <a:endParaRPr lang="zh-CN" altLang="en-US" sz="2000" dirty="0">
              <a:latin typeface="Times New Roman" panose="02020603050405020304" pitchFamily="18" charset="0"/>
              <a:cs typeface="Times New Roman" panose="02020603050405020304" pitchFamily="18" charset="0"/>
            </a:endParaRPr>
          </a:p>
        </p:txBody>
      </p:sp>
      <p:sp>
        <p:nvSpPr>
          <p:cNvPr id="443" name="文本框 442"/>
          <p:cNvSpPr txBox="1"/>
          <p:nvPr/>
        </p:nvSpPr>
        <p:spPr>
          <a:xfrm>
            <a:off x="3942104" y="5065224"/>
            <a:ext cx="1940654" cy="483081"/>
          </a:xfrm>
          <a:prstGeom prst="rect">
            <a:avLst/>
          </a:prstGeom>
          <a:noFill/>
          <a:ln w="25400">
            <a:noFill/>
          </a:ln>
        </p:spPr>
        <p:txBody>
          <a:bodyPr wrap="square" rtlCol="0">
            <a:spAutoFit/>
          </a:bodyPr>
          <a:lstStyle/>
          <a:p>
            <a:pPr>
              <a:lnSpc>
                <a:spcPts val="1500"/>
              </a:lnSpc>
            </a:pPr>
            <a:r>
              <a:rPr lang="en-US" altLang="zh-CN" sz="1600" dirty="0">
                <a:latin typeface="Times New Roman" panose="02020603050405020304" pitchFamily="18" charset="0"/>
                <a:cs typeface="Times New Roman" panose="02020603050405020304" pitchFamily="18" charset="0"/>
              </a:rPr>
              <a:t>Instruction</a:t>
            </a:r>
          </a:p>
          <a:p>
            <a:pPr>
              <a:lnSpc>
                <a:spcPts val="1500"/>
              </a:lnSpc>
            </a:pPr>
            <a:r>
              <a:rPr lang="en-US" altLang="zh-CN" sz="1600" dirty="0">
                <a:latin typeface="Times New Roman" panose="02020603050405020304" pitchFamily="18" charset="0"/>
                <a:cs typeface="Times New Roman" panose="02020603050405020304" pitchFamily="18" charset="0"/>
              </a:rPr>
              <a:t>[31-0]</a:t>
            </a:r>
            <a:endParaRPr lang="zh-CN" altLang="en-US" sz="1600" dirty="0">
              <a:latin typeface="Times New Roman" panose="02020603050405020304" pitchFamily="18" charset="0"/>
              <a:cs typeface="Times New Roman" panose="02020603050405020304" pitchFamily="18" charset="0"/>
            </a:endParaRPr>
          </a:p>
        </p:txBody>
      </p:sp>
      <p:sp>
        <p:nvSpPr>
          <p:cNvPr id="444" name="文本框 443"/>
          <p:cNvSpPr txBox="1"/>
          <p:nvPr/>
        </p:nvSpPr>
        <p:spPr>
          <a:xfrm>
            <a:off x="3979409" y="6112621"/>
            <a:ext cx="2194702" cy="284693"/>
          </a:xfrm>
          <a:prstGeom prst="rect">
            <a:avLst/>
          </a:prstGeom>
          <a:noFill/>
          <a:ln w="25400">
            <a:noFill/>
          </a:ln>
        </p:spPr>
        <p:txBody>
          <a:bodyPr wrap="square" rtlCol="0">
            <a:spAutoFit/>
          </a:bodyPr>
          <a:lstStyle/>
          <a:p>
            <a:pPr>
              <a:lnSpc>
                <a:spcPts val="1500"/>
              </a:lnSpc>
            </a:pPr>
            <a:r>
              <a:rPr lang="en-US" altLang="zh-CN" sz="1600" dirty="0">
                <a:latin typeface="Times New Roman" panose="02020603050405020304" pitchFamily="18" charset="0"/>
                <a:cs typeface="Times New Roman" panose="02020603050405020304" pitchFamily="18" charset="0"/>
              </a:rPr>
              <a:t>Instruction[11-7]</a:t>
            </a:r>
            <a:endParaRPr lang="zh-CN" altLang="en-US" sz="1600" dirty="0">
              <a:latin typeface="Times New Roman" panose="02020603050405020304" pitchFamily="18" charset="0"/>
              <a:cs typeface="Times New Roman" panose="02020603050405020304" pitchFamily="18" charset="0"/>
            </a:endParaRPr>
          </a:p>
        </p:txBody>
      </p:sp>
      <p:sp>
        <p:nvSpPr>
          <p:cNvPr id="445" name="文本框 444"/>
          <p:cNvSpPr txBox="1"/>
          <p:nvPr/>
        </p:nvSpPr>
        <p:spPr>
          <a:xfrm>
            <a:off x="3880283" y="5834874"/>
            <a:ext cx="2194702" cy="284693"/>
          </a:xfrm>
          <a:prstGeom prst="rect">
            <a:avLst/>
          </a:prstGeom>
          <a:noFill/>
          <a:ln w="25400">
            <a:noFill/>
          </a:ln>
        </p:spPr>
        <p:txBody>
          <a:bodyPr wrap="square" rtlCol="0">
            <a:spAutoFit/>
          </a:bodyPr>
          <a:lstStyle/>
          <a:p>
            <a:pPr>
              <a:lnSpc>
                <a:spcPts val="1500"/>
              </a:lnSpc>
            </a:pPr>
            <a:r>
              <a:rPr lang="en-US" altLang="zh-CN" sz="1600" dirty="0">
                <a:latin typeface="Times New Roman" panose="02020603050405020304" pitchFamily="18" charset="0"/>
                <a:cs typeface="Times New Roman" panose="02020603050405020304" pitchFamily="18" charset="0"/>
              </a:rPr>
              <a:t>Instruction[30, 14-12]</a:t>
            </a:r>
            <a:endParaRPr lang="zh-CN" altLang="en-US" sz="1600" dirty="0">
              <a:latin typeface="Times New Roman" panose="02020603050405020304" pitchFamily="18" charset="0"/>
              <a:cs typeface="Times New Roman" panose="02020603050405020304" pitchFamily="18" charset="0"/>
            </a:endParaRPr>
          </a:p>
        </p:txBody>
      </p:sp>
      <p:cxnSp>
        <p:nvCxnSpPr>
          <p:cNvPr id="448" name="直接连接符 447"/>
          <p:cNvCxnSpPr/>
          <p:nvPr/>
        </p:nvCxnSpPr>
        <p:spPr>
          <a:xfrm flipH="1">
            <a:off x="8426356" y="1895230"/>
            <a:ext cx="20198" cy="150273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0" name="直接连接符 449"/>
          <p:cNvCxnSpPr/>
          <p:nvPr/>
        </p:nvCxnSpPr>
        <p:spPr>
          <a:xfrm flipV="1">
            <a:off x="7223443" y="3381413"/>
            <a:ext cx="1198168" cy="213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2" name="直接连接符 451"/>
          <p:cNvCxnSpPr>
            <a:endCxn id="157" idx="1"/>
          </p:cNvCxnSpPr>
          <p:nvPr/>
        </p:nvCxnSpPr>
        <p:spPr>
          <a:xfrm>
            <a:off x="7228965" y="3388014"/>
            <a:ext cx="0" cy="42309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59" name="文本框 458"/>
          <p:cNvSpPr txBox="1"/>
          <p:nvPr/>
        </p:nvSpPr>
        <p:spPr>
          <a:xfrm>
            <a:off x="7523251" y="3112732"/>
            <a:ext cx="920875" cy="284693"/>
          </a:xfrm>
          <a:prstGeom prst="rect">
            <a:avLst/>
          </a:prstGeom>
          <a:noFill/>
          <a:ln w="25400">
            <a:noFill/>
          </a:ln>
        </p:spPr>
        <p:txBody>
          <a:bodyPr wrap="square" rtlCol="0">
            <a:spAutoFit/>
          </a:bodyPr>
          <a:lstStyle/>
          <a:p>
            <a:pPr>
              <a:lnSpc>
                <a:spcPts val="1500"/>
              </a:lnSpc>
            </a:pPr>
            <a:r>
              <a:rPr lang="en-US" altLang="zh-CN" sz="1600" dirty="0" err="1">
                <a:solidFill>
                  <a:srgbClr val="00B0F0"/>
                </a:solidFill>
                <a:latin typeface="Times New Roman" panose="02020603050405020304" pitchFamily="18" charset="0"/>
                <a:cs typeface="Times New Roman" panose="02020603050405020304" pitchFamily="18" charset="0"/>
              </a:rPr>
              <a:t>ALUSrc</a:t>
            </a:r>
            <a:endParaRPr lang="zh-CN" altLang="en-US" sz="1600" dirty="0">
              <a:solidFill>
                <a:srgbClr val="00B0F0"/>
              </a:solidFill>
              <a:latin typeface="Times New Roman" panose="02020603050405020304" pitchFamily="18" charset="0"/>
              <a:cs typeface="Times New Roman" panose="02020603050405020304" pitchFamily="18" charset="0"/>
            </a:endParaRPr>
          </a:p>
        </p:txBody>
      </p:sp>
      <p:sp>
        <p:nvSpPr>
          <p:cNvPr id="460" name="文本框 459"/>
          <p:cNvSpPr txBox="1"/>
          <p:nvPr/>
        </p:nvSpPr>
        <p:spPr>
          <a:xfrm>
            <a:off x="7790857" y="5687147"/>
            <a:ext cx="920875" cy="284693"/>
          </a:xfrm>
          <a:prstGeom prst="rect">
            <a:avLst/>
          </a:prstGeom>
          <a:noFill/>
          <a:ln w="25400">
            <a:noFill/>
          </a:ln>
        </p:spPr>
        <p:txBody>
          <a:bodyPr wrap="square" rtlCol="0">
            <a:spAutoFit/>
          </a:bodyPr>
          <a:lstStyle/>
          <a:p>
            <a:pPr>
              <a:lnSpc>
                <a:spcPts val="1500"/>
              </a:lnSpc>
            </a:pPr>
            <a:r>
              <a:rPr lang="en-US" altLang="zh-CN" sz="160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ALUOP</a:t>
            </a:r>
          </a:p>
        </p:txBody>
      </p:sp>
      <p:sp>
        <p:nvSpPr>
          <p:cNvPr id="468" name="文本框 467"/>
          <p:cNvSpPr txBox="1"/>
          <p:nvPr/>
        </p:nvSpPr>
        <p:spPr>
          <a:xfrm rot="16200000">
            <a:off x="9966935" y="2557844"/>
            <a:ext cx="1205809" cy="284693"/>
          </a:xfrm>
          <a:prstGeom prst="rect">
            <a:avLst/>
          </a:prstGeom>
          <a:noFill/>
          <a:ln w="25400">
            <a:noFill/>
          </a:ln>
        </p:spPr>
        <p:txBody>
          <a:bodyPr wrap="square" rtlCol="0">
            <a:spAutoFit/>
          </a:bodyPr>
          <a:lstStyle/>
          <a:p>
            <a:pPr>
              <a:lnSpc>
                <a:spcPts val="1500"/>
              </a:lnSpc>
            </a:pPr>
            <a:r>
              <a:rPr lang="en-US" altLang="zh-CN" sz="1600" dirty="0" err="1">
                <a:solidFill>
                  <a:schemeClr val="tx1"/>
                </a:solidFill>
                <a:latin typeface="Times New Roman" panose="02020603050405020304" pitchFamily="18" charset="0"/>
                <a:cs typeface="Times New Roman" panose="02020603050405020304" pitchFamily="18" charset="0"/>
              </a:rPr>
              <a:t>MemRead</a:t>
            </a:r>
          </a:p>
        </p:txBody>
      </p:sp>
      <p:sp>
        <p:nvSpPr>
          <p:cNvPr id="469" name="文本框 468"/>
          <p:cNvSpPr txBox="1"/>
          <p:nvPr/>
        </p:nvSpPr>
        <p:spPr>
          <a:xfrm rot="16200000">
            <a:off x="10881494" y="2700615"/>
            <a:ext cx="1205809" cy="284693"/>
          </a:xfrm>
          <a:prstGeom prst="rect">
            <a:avLst/>
          </a:prstGeom>
          <a:noFill/>
          <a:ln w="25400">
            <a:noFill/>
          </a:ln>
        </p:spPr>
        <p:txBody>
          <a:bodyPr wrap="square" rtlCol="0">
            <a:spAutoFit/>
          </a:bodyPr>
          <a:lstStyle/>
          <a:p>
            <a:pPr>
              <a:lnSpc>
                <a:spcPts val="1500"/>
              </a:lnSpc>
            </a:pPr>
            <a:r>
              <a:rPr lang="en-US" altLang="zh-CN" sz="1600" dirty="0" err="1">
                <a:solidFill>
                  <a:schemeClr val="tx1"/>
                </a:solidFill>
                <a:latin typeface="Times New Roman" panose="02020603050405020304" pitchFamily="18" charset="0"/>
                <a:cs typeface="Times New Roman" panose="02020603050405020304" pitchFamily="18" charset="0"/>
              </a:rPr>
              <a:t>MemtoReg</a:t>
            </a:r>
            <a:endParaRPr lang="en-US" altLang="zh-CN" sz="1600" dirty="0">
              <a:solidFill>
                <a:schemeClr val="tx1"/>
              </a:solidFill>
              <a:latin typeface="Times New Roman" panose="02020603050405020304" pitchFamily="18" charset="0"/>
              <a:cs typeface="Times New Roman" panose="02020603050405020304" pitchFamily="18" charset="0"/>
            </a:endParaRPr>
          </a:p>
        </p:txBody>
      </p:sp>
      <p:sp>
        <p:nvSpPr>
          <p:cNvPr id="470" name="文本框 469"/>
          <p:cNvSpPr txBox="1"/>
          <p:nvPr/>
        </p:nvSpPr>
        <p:spPr>
          <a:xfrm rot="16200000">
            <a:off x="3613209" y="1784636"/>
            <a:ext cx="1205809" cy="284693"/>
          </a:xfrm>
          <a:prstGeom prst="rect">
            <a:avLst/>
          </a:prstGeom>
          <a:noFill/>
          <a:ln w="25400">
            <a:noFill/>
          </a:ln>
        </p:spPr>
        <p:txBody>
          <a:bodyPr wrap="square" rtlCol="0">
            <a:spAutoFit/>
          </a:bodyPr>
          <a:lstStyle/>
          <a:p>
            <a:pPr>
              <a:lnSpc>
                <a:spcPts val="1500"/>
              </a:lnSpc>
            </a:pPr>
            <a:r>
              <a:rPr lang="en-US" altLang="zh-CN" sz="1600" dirty="0" err="1">
                <a:solidFill>
                  <a:schemeClr val="tx1"/>
                </a:solidFill>
                <a:latin typeface="Times New Roman" panose="02020603050405020304" pitchFamily="18" charset="0"/>
                <a:cs typeface="Times New Roman" panose="02020603050405020304" pitchFamily="18" charset="0"/>
              </a:rPr>
              <a:t>RegWrite</a:t>
            </a:r>
          </a:p>
        </p:txBody>
      </p:sp>
      <p:sp>
        <p:nvSpPr>
          <p:cNvPr id="28" name="文本框 27"/>
          <p:cNvSpPr txBox="1"/>
          <p:nvPr/>
        </p:nvSpPr>
        <p:spPr>
          <a:xfrm>
            <a:off x="1484801" y="2583799"/>
            <a:ext cx="228199" cy="369332"/>
          </a:xfrm>
          <a:prstGeom prst="rect">
            <a:avLst/>
          </a:prstGeom>
          <a:noFill/>
        </p:spPr>
        <p:txBody>
          <a:bodyPr wrap="square" rtlCol="0">
            <a:spAutoFit/>
          </a:bodyPr>
          <a:lstStyle/>
          <a:p>
            <a:r>
              <a:rPr lang="en-US" altLang="zh-CN" b="1" dirty="0"/>
              <a:t>4</a:t>
            </a:r>
            <a:endParaRPr lang="zh-CN" altLang="en-US" b="1" dirty="0"/>
          </a:p>
        </p:txBody>
      </p:sp>
      <p:sp>
        <p:nvSpPr>
          <p:cNvPr id="29" name="文本框 28"/>
          <p:cNvSpPr txBox="1"/>
          <p:nvPr/>
        </p:nvSpPr>
        <p:spPr>
          <a:xfrm>
            <a:off x="1289747" y="241300"/>
            <a:ext cx="969854" cy="400110"/>
          </a:xfrm>
          <a:prstGeom prst="rect">
            <a:avLst/>
          </a:prstGeom>
          <a:noFill/>
          <a:ln>
            <a:solidFill>
              <a:schemeClr val="bg1"/>
            </a:solidFill>
          </a:ln>
        </p:spPr>
        <p:txBody>
          <a:bodyPr wrap="square" rtlCol="0">
            <a:spAutoFit/>
          </a:bodyPr>
          <a:lstStyle/>
          <a:p>
            <a:r>
              <a:rPr lang="en-US" altLang="zh-CN" sz="2000" dirty="0" err="1">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PCSrc</a:t>
            </a:r>
          </a:p>
        </p:txBody>
      </p:sp>
      <p:cxnSp>
        <p:nvCxnSpPr>
          <p:cNvPr id="227" name="直接连接符 226"/>
          <p:cNvCxnSpPr/>
          <p:nvPr/>
        </p:nvCxnSpPr>
        <p:spPr>
          <a:xfrm flipV="1">
            <a:off x="6502510" y="1910773"/>
            <a:ext cx="1932603"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9" name="直接连接符 228"/>
          <p:cNvCxnSpPr/>
          <p:nvPr/>
        </p:nvCxnSpPr>
        <p:spPr>
          <a:xfrm flipV="1">
            <a:off x="6502510" y="1783774"/>
            <a:ext cx="2091724"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0" name="直接连接符 229"/>
          <p:cNvCxnSpPr/>
          <p:nvPr/>
        </p:nvCxnSpPr>
        <p:spPr>
          <a:xfrm>
            <a:off x="7757744" y="5921982"/>
            <a:ext cx="815967" cy="0"/>
          </a:xfrm>
          <a:prstGeom prst="line">
            <a:avLst/>
          </a:prstGeom>
          <a:ln w="254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9068500" y="1778875"/>
            <a:ext cx="160761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直接连接符 237"/>
          <p:cNvCxnSpPr/>
          <p:nvPr/>
        </p:nvCxnSpPr>
        <p:spPr>
          <a:xfrm>
            <a:off x="9210631" y="1880574"/>
            <a:ext cx="0" cy="959821"/>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40" name="直接连接符 239"/>
          <p:cNvCxnSpPr/>
          <p:nvPr/>
        </p:nvCxnSpPr>
        <p:spPr>
          <a:xfrm>
            <a:off x="9209377" y="2848187"/>
            <a:ext cx="185287"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43" name="直接连接符 242"/>
          <p:cNvCxnSpPr/>
          <p:nvPr/>
        </p:nvCxnSpPr>
        <p:spPr>
          <a:xfrm>
            <a:off x="9060880" y="1889865"/>
            <a:ext cx="149751"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44" name="直接连接符 243"/>
          <p:cNvCxnSpPr/>
          <p:nvPr/>
        </p:nvCxnSpPr>
        <p:spPr>
          <a:xfrm>
            <a:off x="9060880" y="1679815"/>
            <a:ext cx="13429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直接连接符 244"/>
          <p:cNvCxnSpPr/>
          <p:nvPr/>
        </p:nvCxnSpPr>
        <p:spPr>
          <a:xfrm>
            <a:off x="10386552" y="1672195"/>
            <a:ext cx="0" cy="202777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46" name="文本框 245"/>
          <p:cNvSpPr txBox="1"/>
          <p:nvPr/>
        </p:nvSpPr>
        <p:spPr>
          <a:xfrm rot="16200000">
            <a:off x="9707855" y="2557844"/>
            <a:ext cx="1205809" cy="284693"/>
          </a:xfrm>
          <a:prstGeom prst="rect">
            <a:avLst/>
          </a:prstGeom>
          <a:noFill/>
          <a:ln w="25400">
            <a:noFill/>
          </a:ln>
        </p:spPr>
        <p:txBody>
          <a:bodyPr wrap="square" rtlCol="0">
            <a:spAutoFit/>
          </a:bodyPr>
          <a:lstStyle/>
          <a:p>
            <a:pPr>
              <a:lnSpc>
                <a:spcPts val="1500"/>
              </a:lnSpc>
            </a:pPr>
            <a:r>
              <a:rPr lang="en-US" altLang="zh-CN" sz="1600" dirty="0" err="1">
                <a:solidFill>
                  <a:schemeClr val="tx1"/>
                </a:solidFill>
                <a:latin typeface="Times New Roman" panose="02020603050405020304" pitchFamily="18" charset="0"/>
                <a:cs typeface="Times New Roman" panose="02020603050405020304" pitchFamily="18" charset="0"/>
              </a:rPr>
              <a:t>MemWrite</a:t>
            </a:r>
          </a:p>
        </p:txBody>
      </p:sp>
      <p:cxnSp>
        <p:nvCxnSpPr>
          <p:cNvPr id="247" name="直接连接符 246"/>
          <p:cNvCxnSpPr>
            <a:endCxn id="76" idx="3"/>
          </p:cNvCxnSpPr>
          <p:nvPr/>
        </p:nvCxnSpPr>
        <p:spPr>
          <a:xfrm flipV="1">
            <a:off x="11922068" y="5382643"/>
            <a:ext cx="95275" cy="412"/>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09" name="文本框 208"/>
          <p:cNvSpPr txBox="1"/>
          <p:nvPr/>
        </p:nvSpPr>
        <p:spPr>
          <a:xfrm>
            <a:off x="9218014" y="3191350"/>
            <a:ext cx="925253" cy="400110"/>
          </a:xfrm>
          <a:prstGeom prst="rect">
            <a:avLst/>
          </a:prstGeom>
          <a:noFill/>
        </p:spPr>
        <p:txBody>
          <a:bodyPr wrap="none" rtlCol="0">
            <a:spAutoFit/>
            <a:scene3d>
              <a:camera prst="orthographicFront"/>
              <a:lightRig rig="threePt" dir="t"/>
            </a:scene3d>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Times New Roman" panose="02020603050405020304" pitchFamily="18" charset="0"/>
                <a:ea typeface="+mn-ea"/>
                <a:cs typeface="Times New Roman" panose="02020603050405020304" pitchFamily="18" charset="0"/>
              </a:rPr>
              <a:t>Branch</a:t>
            </a:r>
          </a:p>
        </p:txBody>
      </p:sp>
      <p:grpSp>
        <p:nvGrpSpPr>
          <p:cNvPr id="2" name="Control"/>
          <p:cNvGrpSpPr/>
          <p:nvPr/>
        </p:nvGrpSpPr>
        <p:grpSpPr>
          <a:xfrm>
            <a:off x="4608134" y="1275800"/>
            <a:ext cx="1122747" cy="637730"/>
            <a:chOff x="537061" y="1230121"/>
            <a:chExt cx="650808" cy="553190"/>
          </a:xfrm>
        </p:grpSpPr>
        <p:sp>
          <p:nvSpPr>
            <p:cNvPr id="3" name="椭圆 2"/>
            <p:cNvSpPr/>
            <p:nvPr/>
          </p:nvSpPr>
          <p:spPr>
            <a:xfrm>
              <a:off x="556261" y="1230121"/>
              <a:ext cx="624839" cy="553190"/>
            </a:xfrm>
            <a:prstGeom prst="ellipse">
              <a:avLst/>
            </a:prstGeom>
            <a:ln w="25400">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ltLang="zh-CN" sz="2200" dirty="0">
                <a:solidFill>
                  <a:srgbClr val="FF0000"/>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537061" y="1278597"/>
              <a:ext cx="650808" cy="373767"/>
            </a:xfrm>
            <a:prstGeom prst="rect">
              <a:avLst/>
            </a:prstGeom>
            <a:noFill/>
            <a:ln w="25400">
              <a:noFill/>
            </a:ln>
          </p:spPr>
          <p:txBody>
            <a:bodyPr wrap="square" rtlCol="0">
              <a:spAutoFit/>
            </a:bodyPr>
            <a:lstStyle/>
            <a:p>
              <a:r>
                <a:rPr lang="en-US" altLang="zh-CN" sz="2200" b="1" dirty="0">
                  <a:solidFill>
                    <a:srgbClr val="00B0F0"/>
                  </a:solidFill>
                  <a:latin typeface="Times New Roman" panose="02020603050405020304" pitchFamily="18" charset="0"/>
                  <a:cs typeface="Times New Roman" panose="02020603050405020304" pitchFamily="18" charset="0"/>
                </a:rPr>
                <a:t>Control</a:t>
              </a:r>
              <a:endParaRPr lang="zh-CN" altLang="en-US" sz="2200" b="1" dirty="0">
                <a:solidFill>
                  <a:srgbClr val="00B0F0"/>
                </a:solidFill>
                <a:latin typeface="Times New Roman" panose="02020603050405020304" pitchFamily="18" charset="0"/>
                <a:cs typeface="Times New Roman" panose="02020603050405020304" pitchFamily="18" charset="0"/>
              </a:endParaRPr>
            </a:p>
          </p:txBody>
        </p:sp>
      </p:grpSp>
      <p:cxnSp>
        <p:nvCxnSpPr>
          <p:cNvPr id="5" name="直接连接符 4"/>
          <p:cNvCxnSpPr/>
          <p:nvPr/>
        </p:nvCxnSpPr>
        <p:spPr>
          <a:xfrm>
            <a:off x="5703627" y="1511884"/>
            <a:ext cx="441909" cy="0"/>
          </a:xfrm>
          <a:prstGeom prst="line">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5180230" y="1275800"/>
            <a:ext cx="984925" cy="0"/>
          </a:xfrm>
          <a:prstGeom prst="line">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5670909" y="1769192"/>
            <a:ext cx="503202" cy="0"/>
          </a:xfrm>
          <a:prstGeom prst="line">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623065" y="5819672"/>
            <a:ext cx="2518661" cy="0"/>
          </a:xfrm>
          <a:prstGeom prst="line">
            <a:avLst/>
          </a:prstGeom>
          <a:ln w="25400">
            <a:solidFill>
              <a:srgbClr val="0000FF"/>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V="1">
            <a:off x="6499335" y="1520248"/>
            <a:ext cx="1932603" cy="1"/>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6520476" y="1210920"/>
            <a:ext cx="203798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8558464" y="1420037"/>
            <a:ext cx="167179" cy="0"/>
          </a:xfrm>
          <a:prstGeom prst="line">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8559975" y="1195305"/>
            <a:ext cx="0" cy="224732"/>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8424786" y="1502573"/>
            <a:ext cx="0" cy="23201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8424786" y="1713984"/>
            <a:ext cx="307731" cy="0"/>
          </a:xfrm>
          <a:prstGeom prst="line">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8566663" y="1756221"/>
            <a:ext cx="1" cy="415755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V="1">
            <a:off x="6496160" y="1777424"/>
            <a:ext cx="2091724" cy="1"/>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7764809" y="5920126"/>
            <a:ext cx="815967" cy="0"/>
          </a:xfrm>
          <a:prstGeom prst="line">
            <a:avLst/>
          </a:prstGeom>
          <a:ln w="2540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8420006" y="1898405"/>
            <a:ext cx="20198" cy="1502732"/>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V="1">
            <a:off x="7217093" y="3384588"/>
            <a:ext cx="1198168" cy="2136"/>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7222615" y="3391189"/>
            <a:ext cx="0" cy="42309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V="1">
            <a:off x="6496160" y="1913948"/>
            <a:ext cx="1932603" cy="1"/>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a:off x="8212836" y="4899650"/>
            <a:ext cx="0" cy="576516"/>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a:off x="7593263" y="5476763"/>
            <a:ext cx="619573"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115" name="矩形 114"/>
          <p:cNvSpPr/>
          <p:nvPr/>
        </p:nvSpPr>
        <p:spPr>
          <a:xfrm>
            <a:off x="6146047" y="1038456"/>
            <a:ext cx="358140" cy="296716"/>
          </a:xfrm>
          <a:prstGeom prst="rect">
            <a:avLst/>
          </a:prstGeom>
          <a:ln w="25400">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sp>
        <p:nvSpPr>
          <p:cNvPr id="116" name="矩形 115"/>
          <p:cNvSpPr/>
          <p:nvPr/>
        </p:nvSpPr>
        <p:spPr>
          <a:xfrm>
            <a:off x="6146047" y="1335636"/>
            <a:ext cx="358140" cy="296716"/>
          </a:xfrm>
          <a:prstGeom prst="rect">
            <a:avLst/>
          </a:prstGeom>
          <a:ln w="25400">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sp>
        <p:nvSpPr>
          <p:cNvPr id="118" name="矩形 117"/>
          <p:cNvSpPr/>
          <p:nvPr/>
        </p:nvSpPr>
        <p:spPr>
          <a:xfrm>
            <a:off x="6146047" y="1629641"/>
            <a:ext cx="358140" cy="296716"/>
          </a:xfrm>
          <a:prstGeom prst="rect">
            <a:avLst/>
          </a:prstGeom>
          <a:ln w="25400">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sp>
        <p:nvSpPr>
          <p:cNvPr id="98" name="文本框 97"/>
          <p:cNvSpPr txBox="1"/>
          <p:nvPr/>
        </p:nvSpPr>
        <p:spPr>
          <a:xfrm>
            <a:off x="6071227" y="1016728"/>
            <a:ext cx="514885" cy="338554"/>
          </a:xfrm>
          <a:prstGeom prst="rect">
            <a:avLst/>
          </a:prstGeom>
          <a:noFill/>
          <a:ln w="25400">
            <a:noFill/>
          </a:ln>
        </p:spPr>
        <p:txBody>
          <a:bodyPr wrap="square" rtlCol="0">
            <a:spAutoFit/>
          </a:bodyPr>
          <a:lstStyle/>
          <a:p>
            <a:r>
              <a:rPr lang="en-US" altLang="zh-CN" sz="1600" dirty="0">
                <a:solidFill>
                  <a:srgbClr val="00B0F0"/>
                </a:solidFill>
                <a:latin typeface="Times New Roman" panose="02020603050405020304" pitchFamily="18" charset="0"/>
                <a:cs typeface="Times New Roman" panose="02020603050405020304" pitchFamily="18" charset="0"/>
              </a:rPr>
              <a:t>WB</a:t>
            </a:r>
            <a:endParaRPr lang="zh-CN" altLang="en-US" sz="1600" dirty="0">
              <a:solidFill>
                <a:srgbClr val="00B0F0"/>
              </a:solidFill>
              <a:latin typeface="Times New Roman" panose="02020603050405020304" pitchFamily="18" charset="0"/>
              <a:cs typeface="Times New Roman" panose="02020603050405020304" pitchFamily="18" charset="0"/>
            </a:endParaRPr>
          </a:p>
        </p:txBody>
      </p:sp>
      <p:sp>
        <p:nvSpPr>
          <p:cNvPr id="99" name="文本框 98"/>
          <p:cNvSpPr txBox="1"/>
          <p:nvPr/>
        </p:nvSpPr>
        <p:spPr>
          <a:xfrm>
            <a:off x="6104188" y="1258597"/>
            <a:ext cx="412292" cy="400110"/>
          </a:xfrm>
          <a:prstGeom prst="rect">
            <a:avLst/>
          </a:prstGeom>
          <a:noFill/>
          <a:ln w="25400">
            <a:noFill/>
          </a:ln>
        </p:spPr>
        <p:txBody>
          <a:bodyPr wrap="none" rtlCol="0">
            <a:spAutoFit/>
          </a:bodyPr>
          <a:lstStyle/>
          <a:p>
            <a:r>
              <a:rPr lang="en-US" altLang="zh-CN" sz="2000" dirty="0">
                <a:solidFill>
                  <a:srgbClr val="00B0F0"/>
                </a:solidFill>
                <a:latin typeface="Times New Roman" panose="02020603050405020304" pitchFamily="18" charset="0"/>
                <a:cs typeface="Times New Roman" panose="02020603050405020304" pitchFamily="18" charset="0"/>
              </a:rPr>
              <a:t>M</a:t>
            </a:r>
            <a:endParaRPr lang="zh-CN" altLang="en-US" sz="2000" dirty="0">
              <a:solidFill>
                <a:srgbClr val="00B0F0"/>
              </a:solidFill>
              <a:latin typeface="Times New Roman" panose="02020603050405020304" pitchFamily="18" charset="0"/>
              <a:cs typeface="Times New Roman" panose="02020603050405020304" pitchFamily="18" charset="0"/>
            </a:endParaRPr>
          </a:p>
        </p:txBody>
      </p:sp>
      <p:sp>
        <p:nvSpPr>
          <p:cNvPr id="100" name="文本框 99"/>
          <p:cNvSpPr txBox="1"/>
          <p:nvPr/>
        </p:nvSpPr>
        <p:spPr>
          <a:xfrm>
            <a:off x="6076249" y="1563712"/>
            <a:ext cx="527709" cy="400110"/>
          </a:xfrm>
          <a:prstGeom prst="rect">
            <a:avLst/>
          </a:prstGeom>
          <a:noFill/>
          <a:ln w="25400">
            <a:noFill/>
          </a:ln>
        </p:spPr>
        <p:txBody>
          <a:bodyPr wrap="none" rtlCol="0">
            <a:spAutoFit/>
          </a:bodyPr>
          <a:lstStyle/>
          <a:p>
            <a:r>
              <a:rPr lang="en-US" altLang="zh-CN" sz="2000" dirty="0">
                <a:solidFill>
                  <a:srgbClr val="00B0F0"/>
                </a:solidFill>
                <a:latin typeface="Times New Roman" panose="02020603050405020304" pitchFamily="18" charset="0"/>
                <a:cs typeface="Times New Roman" panose="02020603050405020304" pitchFamily="18" charset="0"/>
              </a:rPr>
              <a:t>EX</a:t>
            </a:r>
            <a:endParaRPr lang="zh-CN" altLang="en-US" sz="2000" dirty="0">
              <a:solidFill>
                <a:srgbClr val="00B0F0"/>
              </a:solidFill>
              <a:latin typeface="Times New Roman" panose="02020603050405020304" pitchFamily="18" charset="0"/>
              <a:cs typeface="Times New Roman" panose="02020603050405020304" pitchFamily="18" charset="0"/>
            </a:endParaRPr>
          </a:p>
        </p:txBody>
      </p:sp>
      <p:cxnSp>
        <p:nvCxnSpPr>
          <p:cNvPr id="124" name="直接连接符 123"/>
          <p:cNvCxnSpPr/>
          <p:nvPr/>
        </p:nvCxnSpPr>
        <p:spPr>
          <a:xfrm>
            <a:off x="6510951" y="5829999"/>
            <a:ext cx="361399" cy="0"/>
          </a:xfrm>
          <a:prstGeom prst="line">
            <a:avLst/>
          </a:prstGeom>
          <a:ln w="254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7790856" y="5683818"/>
            <a:ext cx="920875" cy="284693"/>
          </a:xfrm>
          <a:prstGeom prst="rect">
            <a:avLst/>
          </a:prstGeom>
          <a:noFill/>
          <a:ln w="25400">
            <a:noFill/>
          </a:ln>
        </p:spPr>
        <p:txBody>
          <a:bodyPr wrap="square" rtlCol="0">
            <a:spAutoFit/>
          </a:bodyPr>
          <a:lstStyle/>
          <a:p>
            <a:pPr>
              <a:lnSpc>
                <a:spcPts val="1500"/>
              </a:lnSpc>
            </a:pPr>
            <a:r>
              <a:rPr lang="en-US" altLang="zh-CN" sz="1600" dirty="0">
                <a:solidFill>
                  <a:srgbClr val="00B0F0"/>
                </a:solidFill>
                <a:latin typeface="Times New Roman" panose="02020603050405020304" pitchFamily="18" charset="0"/>
                <a:cs typeface="Times New Roman" panose="02020603050405020304" pitchFamily="18" charset="0"/>
              </a:rPr>
              <a:t>ALUOP</a:t>
            </a:r>
            <a:endParaRPr lang="zh-CN" altLang="en-US" sz="1600" dirty="0">
              <a:solidFill>
                <a:srgbClr val="00B0F0"/>
              </a:solidFill>
              <a:latin typeface="Times New Roman" panose="02020603050405020304" pitchFamily="18" charset="0"/>
              <a:cs typeface="Times New Roman" panose="02020603050405020304" pitchFamily="18" charset="0"/>
            </a:endParaRPr>
          </a:p>
        </p:txBody>
      </p:sp>
      <p:cxnSp>
        <p:nvCxnSpPr>
          <p:cNvPr id="53" name="直接连接符 52"/>
          <p:cNvCxnSpPr/>
          <p:nvPr/>
        </p:nvCxnSpPr>
        <p:spPr>
          <a:xfrm>
            <a:off x="8467453" y="4080723"/>
            <a:ext cx="264171" cy="3411"/>
          </a:xfrm>
          <a:prstGeom prst="line">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20" name="矩形 119"/>
          <p:cNvSpPr/>
          <p:nvPr/>
        </p:nvSpPr>
        <p:spPr>
          <a:xfrm>
            <a:off x="8729339" y="1284164"/>
            <a:ext cx="330017" cy="316551"/>
          </a:xfrm>
          <a:prstGeom prst="rect">
            <a:avLst/>
          </a:prstGeom>
          <a:ln w="25400">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sp>
        <p:nvSpPr>
          <p:cNvPr id="126" name="矩形 125"/>
          <p:cNvSpPr/>
          <p:nvPr/>
        </p:nvSpPr>
        <p:spPr>
          <a:xfrm>
            <a:off x="8733149" y="1622024"/>
            <a:ext cx="330017" cy="316551"/>
          </a:xfrm>
          <a:prstGeom prst="rect">
            <a:avLst/>
          </a:prstGeom>
          <a:ln w="25400">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sp>
        <p:nvSpPr>
          <p:cNvPr id="148" name="文本框 147"/>
          <p:cNvSpPr txBox="1"/>
          <p:nvPr/>
        </p:nvSpPr>
        <p:spPr>
          <a:xfrm>
            <a:off x="8641352" y="1275526"/>
            <a:ext cx="514885" cy="338554"/>
          </a:xfrm>
          <a:prstGeom prst="rect">
            <a:avLst/>
          </a:prstGeom>
          <a:noFill/>
          <a:ln w="25400">
            <a:noFill/>
          </a:ln>
        </p:spPr>
        <p:txBody>
          <a:bodyPr wrap="square" rtlCol="0">
            <a:spAutoFit/>
          </a:bodyPr>
          <a:lstStyle/>
          <a:p>
            <a:r>
              <a:rPr lang="en-US" altLang="zh-CN" sz="160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WB</a:t>
            </a:r>
          </a:p>
        </p:txBody>
      </p:sp>
      <p:sp>
        <p:nvSpPr>
          <p:cNvPr id="131" name="文本框 130"/>
          <p:cNvSpPr txBox="1"/>
          <p:nvPr/>
        </p:nvSpPr>
        <p:spPr>
          <a:xfrm>
            <a:off x="8641987" y="1279336"/>
            <a:ext cx="514885" cy="338554"/>
          </a:xfrm>
          <a:prstGeom prst="rect">
            <a:avLst/>
          </a:prstGeom>
          <a:noFill/>
          <a:ln w="25400">
            <a:noFill/>
          </a:ln>
        </p:spPr>
        <p:txBody>
          <a:bodyPr wrap="square" rtlCol="0">
            <a:spAutoFit/>
          </a:bodyPr>
          <a:lstStyle/>
          <a:p>
            <a:r>
              <a:rPr lang="en-US" altLang="zh-CN" sz="1600" dirty="0">
                <a:solidFill>
                  <a:srgbClr val="00B0F0"/>
                </a:solidFill>
                <a:latin typeface="Times New Roman" panose="02020603050405020304" pitchFamily="18" charset="0"/>
                <a:cs typeface="Times New Roman" panose="02020603050405020304" pitchFamily="18" charset="0"/>
              </a:rPr>
              <a:t>WB</a:t>
            </a:r>
            <a:endParaRPr lang="zh-CN" altLang="en-US" sz="1600" dirty="0">
              <a:solidFill>
                <a:srgbClr val="00B0F0"/>
              </a:solidFill>
              <a:latin typeface="Times New Roman" panose="02020603050405020304" pitchFamily="18" charset="0"/>
              <a:cs typeface="Times New Roman" panose="02020603050405020304" pitchFamily="18" charset="0"/>
            </a:endParaRPr>
          </a:p>
        </p:txBody>
      </p:sp>
      <p:sp>
        <p:nvSpPr>
          <p:cNvPr id="149" name="文本框 148"/>
          <p:cNvSpPr txBox="1"/>
          <p:nvPr/>
        </p:nvSpPr>
        <p:spPr>
          <a:xfrm>
            <a:off x="8683625" y="1577975"/>
            <a:ext cx="429260" cy="398780"/>
          </a:xfrm>
          <a:prstGeom prst="rect">
            <a:avLst/>
          </a:prstGeom>
          <a:noFill/>
          <a:ln w="25400">
            <a:noFill/>
          </a:ln>
        </p:spPr>
        <p:txBody>
          <a:bodyPr wrap="square" rtlCol="0">
            <a:spAutoFit/>
            <a:scene3d>
              <a:camera prst="orthographicFront"/>
              <a:lightRig rig="threePt" dir="t"/>
            </a:scene3d>
          </a:bodyPr>
          <a:lstStyle/>
          <a:p>
            <a:r>
              <a:rPr lang="en-US" altLang="zh-CN" sz="2000" dirty="0">
                <a:solidFill>
                  <a:srgbClr val="00B0F0"/>
                </a:solidFill>
                <a:latin typeface="Times New Roman" panose="02020603050405020304" pitchFamily="18" charset="0"/>
                <a:cs typeface="Times New Roman" panose="02020603050405020304" pitchFamily="18" charset="0"/>
                <a:sym typeface="+mn-ea"/>
              </a:rPr>
              <a:t>M</a:t>
            </a:r>
            <a:endParaRPr lang="en-US" altLang="zh-CN" sz="2000"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193" name="流程图: 延期 192"/>
          <p:cNvSpPr/>
          <p:nvPr/>
        </p:nvSpPr>
        <p:spPr>
          <a:xfrm>
            <a:off x="9395619" y="2788729"/>
            <a:ext cx="563270" cy="450446"/>
          </a:xfrm>
          <a:prstGeom prst="flowChartDelay">
            <a:avLst/>
          </a:prstGeom>
          <a:ln w="25400">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200">
              <a:solidFill>
                <a:srgbClr val="FF0000"/>
              </a:solidFill>
              <a:latin typeface="Times New Roman" panose="02020603050405020304" pitchFamily="18" charset="0"/>
              <a:cs typeface="Times New Roman" panose="02020603050405020304" pitchFamily="18" charset="0"/>
            </a:endParaRPr>
          </a:p>
        </p:txBody>
      </p:sp>
      <p:sp>
        <p:nvSpPr>
          <p:cNvPr id="194" name="文本框 193"/>
          <p:cNvSpPr txBox="1"/>
          <p:nvPr/>
        </p:nvSpPr>
        <p:spPr>
          <a:xfrm>
            <a:off x="9215474" y="3188810"/>
            <a:ext cx="925253"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a:ln>
                  <a:noFill/>
                </a:ln>
                <a:solidFill>
                  <a:srgbClr val="00B0F0"/>
                </a:solidFill>
                <a:effectLst/>
                <a:uLnTx/>
                <a:uFillTx/>
                <a:latin typeface="Times New Roman" panose="02020603050405020304" pitchFamily="18" charset="0"/>
                <a:ea typeface="+mn-ea"/>
                <a:cs typeface="Times New Roman" panose="02020603050405020304" pitchFamily="18" charset="0"/>
              </a:rPr>
              <a:t>Branch</a:t>
            </a:r>
          </a:p>
        </p:txBody>
      </p:sp>
      <p:cxnSp>
        <p:nvCxnSpPr>
          <p:cNvPr id="207" name="直接连接符 206"/>
          <p:cNvCxnSpPr/>
          <p:nvPr/>
        </p:nvCxnSpPr>
        <p:spPr>
          <a:xfrm>
            <a:off x="674350" y="285750"/>
            <a:ext cx="9457947"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0" name="直接连接符 209"/>
          <p:cNvCxnSpPr/>
          <p:nvPr/>
        </p:nvCxnSpPr>
        <p:spPr>
          <a:xfrm>
            <a:off x="666217" y="285750"/>
            <a:ext cx="16266" cy="279399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flipH="1">
            <a:off x="10115777" y="285750"/>
            <a:ext cx="11140" cy="273272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214" name="文本框 213"/>
          <p:cNvSpPr txBox="1"/>
          <p:nvPr/>
        </p:nvSpPr>
        <p:spPr>
          <a:xfrm>
            <a:off x="1291017" y="241300"/>
            <a:ext cx="969854" cy="400110"/>
          </a:xfrm>
          <a:prstGeom prst="rect">
            <a:avLst/>
          </a:prstGeom>
          <a:noFill/>
        </p:spPr>
        <p:txBody>
          <a:bodyPr wrap="square" rtlCol="0">
            <a:spAutoFit/>
          </a:bodyPr>
          <a:lstStyle/>
          <a:p>
            <a:r>
              <a:rPr lang="en-US" altLang="zh-CN" sz="2000" dirty="0" err="1">
                <a:solidFill>
                  <a:srgbClr val="00B0F0"/>
                </a:solidFill>
                <a:latin typeface="Times New Roman" panose="02020603050405020304" pitchFamily="18" charset="0"/>
                <a:cs typeface="Times New Roman" panose="02020603050405020304" pitchFamily="18" charset="0"/>
              </a:rPr>
              <a:t>PCSrc</a:t>
            </a:r>
            <a:endParaRPr lang="zh-CN" altLang="en-US" sz="1600" dirty="0">
              <a:solidFill>
                <a:srgbClr val="00B0F0"/>
              </a:solidFill>
              <a:latin typeface="Times New Roman" panose="02020603050405020304" pitchFamily="18" charset="0"/>
              <a:cs typeface="Times New Roman" panose="02020603050405020304" pitchFamily="18" charset="0"/>
            </a:endParaRPr>
          </a:p>
        </p:txBody>
      </p:sp>
      <p:cxnSp>
        <p:nvCxnSpPr>
          <p:cNvPr id="217" name="直接连接符 216"/>
          <p:cNvCxnSpPr/>
          <p:nvPr/>
        </p:nvCxnSpPr>
        <p:spPr>
          <a:xfrm>
            <a:off x="9946375" y="3013529"/>
            <a:ext cx="185287" cy="0"/>
          </a:xfrm>
          <a:prstGeom prst="line">
            <a:avLst/>
          </a:prstGeom>
        </p:spPr>
        <p:style>
          <a:lnRef idx="3">
            <a:schemeClr val="accent5"/>
          </a:lnRef>
          <a:fillRef idx="0">
            <a:schemeClr val="accent5"/>
          </a:fillRef>
          <a:effectRef idx="2">
            <a:schemeClr val="accent5"/>
          </a:effectRef>
          <a:fontRef idx="minor">
            <a:schemeClr val="tx1"/>
          </a:fontRef>
        </p:style>
      </p:cxnSp>
      <p:cxnSp>
        <p:nvCxnSpPr>
          <p:cNvPr id="219" name="直接连接符 218"/>
          <p:cNvCxnSpPr/>
          <p:nvPr/>
        </p:nvCxnSpPr>
        <p:spPr>
          <a:xfrm>
            <a:off x="9085664" y="1416862"/>
            <a:ext cx="1568256"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0" name="直接连接符 219"/>
          <p:cNvCxnSpPr/>
          <p:nvPr/>
        </p:nvCxnSpPr>
        <p:spPr>
          <a:xfrm>
            <a:off x="10649038" y="1678012"/>
            <a:ext cx="167179" cy="0"/>
          </a:xfrm>
          <a:prstGeom prst="line">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21" name="直接连接符 220"/>
          <p:cNvCxnSpPr/>
          <p:nvPr/>
        </p:nvCxnSpPr>
        <p:spPr>
          <a:xfrm>
            <a:off x="10643125" y="1416862"/>
            <a:ext cx="1511" cy="26115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3" name="直接连接符 222"/>
          <p:cNvCxnSpPr/>
          <p:nvPr/>
        </p:nvCxnSpPr>
        <p:spPr>
          <a:xfrm>
            <a:off x="10676112" y="1778875"/>
            <a:ext cx="0" cy="4223048"/>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4" name="直接连接符 223"/>
          <p:cNvCxnSpPr/>
          <p:nvPr/>
        </p:nvCxnSpPr>
        <p:spPr>
          <a:xfrm flipV="1">
            <a:off x="9987994" y="5997660"/>
            <a:ext cx="688118" cy="4263"/>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5" name="直接连接符 224"/>
          <p:cNvCxnSpPr/>
          <p:nvPr/>
        </p:nvCxnSpPr>
        <p:spPr>
          <a:xfrm>
            <a:off x="9978467" y="5620272"/>
            <a:ext cx="0" cy="410309"/>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8" name="直接连接符 227"/>
          <p:cNvCxnSpPr/>
          <p:nvPr/>
        </p:nvCxnSpPr>
        <p:spPr>
          <a:xfrm>
            <a:off x="9068500" y="1778875"/>
            <a:ext cx="1607612"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5" name="直接连接符 234"/>
          <p:cNvCxnSpPr/>
          <p:nvPr/>
        </p:nvCxnSpPr>
        <p:spPr>
          <a:xfrm>
            <a:off x="9060880" y="1679815"/>
            <a:ext cx="1342905"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6" name="直接连接符 235"/>
          <p:cNvCxnSpPr/>
          <p:nvPr/>
        </p:nvCxnSpPr>
        <p:spPr>
          <a:xfrm>
            <a:off x="10386552" y="1672195"/>
            <a:ext cx="0" cy="2027779"/>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248" name="文本框 247"/>
          <p:cNvSpPr txBox="1"/>
          <p:nvPr/>
        </p:nvSpPr>
        <p:spPr>
          <a:xfrm rot="16200000">
            <a:off x="9970110" y="2561019"/>
            <a:ext cx="1205809" cy="284693"/>
          </a:xfrm>
          <a:prstGeom prst="rect">
            <a:avLst/>
          </a:prstGeom>
          <a:noFill/>
          <a:ln w="25400">
            <a:noFill/>
          </a:ln>
        </p:spPr>
        <p:txBody>
          <a:bodyPr wrap="square" rtlCol="0">
            <a:spAutoFit/>
          </a:bodyPr>
          <a:lstStyle/>
          <a:p>
            <a:pPr>
              <a:lnSpc>
                <a:spcPts val="1500"/>
              </a:lnSpc>
            </a:pPr>
            <a:r>
              <a:rPr lang="en-US" altLang="zh-CN" sz="1600" dirty="0" err="1">
                <a:solidFill>
                  <a:srgbClr val="00B0F0"/>
                </a:solidFill>
                <a:latin typeface="Times New Roman" panose="02020603050405020304" pitchFamily="18" charset="0"/>
                <a:cs typeface="Times New Roman" panose="02020603050405020304" pitchFamily="18" charset="0"/>
              </a:rPr>
              <a:t>MemRead</a:t>
            </a:r>
            <a:endParaRPr lang="zh-CN" altLang="en-US" sz="1600" dirty="0">
              <a:solidFill>
                <a:srgbClr val="00B0F0"/>
              </a:solidFill>
              <a:latin typeface="Times New Roman" panose="02020603050405020304" pitchFamily="18" charset="0"/>
              <a:cs typeface="Times New Roman" panose="02020603050405020304" pitchFamily="18" charset="0"/>
            </a:endParaRPr>
          </a:p>
        </p:txBody>
      </p:sp>
      <p:sp>
        <p:nvSpPr>
          <p:cNvPr id="249" name="文本框 248"/>
          <p:cNvSpPr txBox="1"/>
          <p:nvPr/>
        </p:nvSpPr>
        <p:spPr>
          <a:xfrm rot="16200000">
            <a:off x="9711030" y="2561019"/>
            <a:ext cx="1205809" cy="284693"/>
          </a:xfrm>
          <a:prstGeom prst="rect">
            <a:avLst/>
          </a:prstGeom>
          <a:noFill/>
          <a:ln w="25400">
            <a:noFill/>
          </a:ln>
        </p:spPr>
        <p:txBody>
          <a:bodyPr wrap="square" rtlCol="0">
            <a:spAutoFit/>
          </a:bodyPr>
          <a:lstStyle/>
          <a:p>
            <a:pPr>
              <a:lnSpc>
                <a:spcPts val="1500"/>
              </a:lnSpc>
            </a:pPr>
            <a:r>
              <a:rPr lang="en-US" altLang="zh-CN" sz="1600" dirty="0" err="1">
                <a:solidFill>
                  <a:srgbClr val="00B0F0"/>
                </a:solidFill>
                <a:latin typeface="Times New Roman" panose="02020603050405020304" pitchFamily="18" charset="0"/>
                <a:cs typeface="Times New Roman" panose="02020603050405020304" pitchFamily="18" charset="0"/>
              </a:rPr>
              <a:t>MemWrite</a:t>
            </a:r>
            <a:endParaRPr lang="zh-CN" altLang="en-US" sz="1600" dirty="0">
              <a:solidFill>
                <a:srgbClr val="00B0F0"/>
              </a:solidFill>
              <a:latin typeface="Times New Roman" panose="02020603050405020304" pitchFamily="18" charset="0"/>
              <a:cs typeface="Times New Roman" panose="02020603050405020304" pitchFamily="18" charset="0"/>
            </a:endParaRPr>
          </a:p>
        </p:txBody>
      </p:sp>
      <p:sp>
        <p:nvSpPr>
          <p:cNvPr id="257" name="矩形 256"/>
          <p:cNvSpPr/>
          <p:nvPr/>
        </p:nvSpPr>
        <p:spPr>
          <a:xfrm>
            <a:off x="10788659" y="1499398"/>
            <a:ext cx="340991" cy="305892"/>
          </a:xfrm>
          <a:prstGeom prst="rect">
            <a:avLst/>
          </a:prstGeom>
          <a:ln w="25400">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a:latin typeface="Times New Roman" panose="02020603050405020304" pitchFamily="18" charset="0"/>
              <a:cs typeface="Times New Roman" panose="02020603050405020304" pitchFamily="18" charset="0"/>
            </a:endParaRPr>
          </a:p>
        </p:txBody>
      </p:sp>
      <p:sp>
        <p:nvSpPr>
          <p:cNvPr id="258" name="文本框 257"/>
          <p:cNvSpPr txBox="1"/>
          <p:nvPr/>
        </p:nvSpPr>
        <p:spPr>
          <a:xfrm>
            <a:off x="10697574" y="1487187"/>
            <a:ext cx="514885" cy="338554"/>
          </a:xfrm>
          <a:prstGeom prst="rect">
            <a:avLst/>
          </a:prstGeom>
          <a:noFill/>
          <a:ln w="25400">
            <a:noFill/>
          </a:ln>
        </p:spPr>
        <p:txBody>
          <a:bodyPr wrap="none" rtlCol="0">
            <a:spAutoFit/>
          </a:bodyPr>
          <a:lstStyle/>
          <a:p>
            <a:r>
              <a:rPr lang="en-US" altLang="zh-CN" sz="1600" dirty="0">
                <a:solidFill>
                  <a:srgbClr val="00B0F0"/>
                </a:solidFill>
                <a:latin typeface="Times New Roman" panose="02020603050405020304" pitchFamily="18" charset="0"/>
                <a:cs typeface="Times New Roman" panose="02020603050405020304" pitchFamily="18" charset="0"/>
              </a:rPr>
              <a:t>WB</a:t>
            </a:r>
          </a:p>
        </p:txBody>
      </p:sp>
      <p:cxnSp>
        <p:nvCxnSpPr>
          <p:cNvPr id="259" name="直接连接符 258"/>
          <p:cNvCxnSpPr/>
          <p:nvPr/>
        </p:nvCxnSpPr>
        <p:spPr>
          <a:xfrm>
            <a:off x="4341706" y="631661"/>
            <a:ext cx="7273311"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60" name="直接连接符 259"/>
          <p:cNvCxnSpPr/>
          <p:nvPr/>
        </p:nvCxnSpPr>
        <p:spPr>
          <a:xfrm>
            <a:off x="4341706" y="621091"/>
            <a:ext cx="0" cy="1849783"/>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62" name="直接连接符 261"/>
          <p:cNvCxnSpPr/>
          <p:nvPr/>
        </p:nvCxnSpPr>
        <p:spPr>
          <a:xfrm>
            <a:off x="11141019" y="1592287"/>
            <a:ext cx="490926"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65" name="直接连接符 264"/>
          <p:cNvCxnSpPr/>
          <p:nvPr/>
        </p:nvCxnSpPr>
        <p:spPr>
          <a:xfrm>
            <a:off x="11631945" y="631661"/>
            <a:ext cx="0" cy="966233"/>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266" name="文本框 265"/>
          <p:cNvSpPr txBox="1"/>
          <p:nvPr/>
        </p:nvSpPr>
        <p:spPr>
          <a:xfrm rot="16200000">
            <a:off x="3613209" y="1783366"/>
            <a:ext cx="1205809" cy="284693"/>
          </a:xfrm>
          <a:prstGeom prst="rect">
            <a:avLst/>
          </a:prstGeom>
          <a:noFill/>
          <a:ln w="25400">
            <a:noFill/>
          </a:ln>
        </p:spPr>
        <p:txBody>
          <a:bodyPr wrap="square" rtlCol="0">
            <a:spAutoFit/>
          </a:bodyPr>
          <a:lstStyle/>
          <a:p>
            <a:pPr>
              <a:lnSpc>
                <a:spcPts val="1500"/>
              </a:lnSpc>
            </a:pPr>
            <a:r>
              <a:rPr lang="en-US" altLang="zh-CN" sz="1600" dirty="0" err="1">
                <a:solidFill>
                  <a:srgbClr val="00B0F0"/>
                </a:solidFill>
                <a:latin typeface="Times New Roman" panose="02020603050405020304" pitchFamily="18" charset="0"/>
                <a:cs typeface="Times New Roman" panose="02020603050405020304" pitchFamily="18" charset="0"/>
              </a:rPr>
              <a:t>RegWrite</a:t>
            </a:r>
            <a:endParaRPr lang="zh-CN" altLang="en-US" sz="1600" dirty="0">
              <a:solidFill>
                <a:srgbClr val="00B0F0"/>
              </a:solidFill>
              <a:latin typeface="Times New Roman" panose="02020603050405020304" pitchFamily="18" charset="0"/>
              <a:cs typeface="Times New Roman" panose="02020603050405020304" pitchFamily="18" charset="0"/>
            </a:endParaRPr>
          </a:p>
        </p:txBody>
      </p:sp>
      <p:cxnSp>
        <p:nvCxnSpPr>
          <p:cNvPr id="267" name="直接连接符 266"/>
          <p:cNvCxnSpPr/>
          <p:nvPr/>
        </p:nvCxnSpPr>
        <p:spPr>
          <a:xfrm>
            <a:off x="11127743" y="1748348"/>
            <a:ext cx="499002"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68" name="直接连接符 267"/>
          <p:cNvCxnSpPr/>
          <p:nvPr/>
        </p:nvCxnSpPr>
        <p:spPr>
          <a:xfrm>
            <a:off x="11631945" y="1748348"/>
            <a:ext cx="0" cy="291216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sp>
        <p:nvSpPr>
          <p:cNvPr id="269" name="文本框 268"/>
          <p:cNvSpPr txBox="1"/>
          <p:nvPr/>
        </p:nvSpPr>
        <p:spPr>
          <a:xfrm rot="16200000">
            <a:off x="10876155" y="2711384"/>
            <a:ext cx="1205809" cy="284693"/>
          </a:xfrm>
          <a:prstGeom prst="rect">
            <a:avLst/>
          </a:prstGeom>
          <a:noFill/>
          <a:ln w="25400">
            <a:noFill/>
          </a:ln>
        </p:spPr>
        <p:txBody>
          <a:bodyPr wrap="square" rtlCol="0">
            <a:spAutoFit/>
          </a:bodyPr>
          <a:lstStyle/>
          <a:p>
            <a:pPr>
              <a:lnSpc>
                <a:spcPts val="1500"/>
              </a:lnSpc>
            </a:pPr>
            <a:r>
              <a:rPr lang="en-US" altLang="zh-CN" sz="1600" dirty="0" err="1">
                <a:solidFill>
                  <a:srgbClr val="00B0F0"/>
                </a:solidFill>
                <a:latin typeface="Times New Roman" panose="02020603050405020304" pitchFamily="18" charset="0"/>
                <a:cs typeface="Times New Roman" panose="02020603050405020304" pitchFamily="18" charset="0"/>
              </a:rPr>
              <a:t>MemtoReg</a:t>
            </a:r>
            <a:endParaRPr lang="zh-CN" altLang="en-US" sz="1600" dirty="0">
              <a:solidFill>
                <a:srgbClr val="00B0F0"/>
              </a:solidFill>
              <a:latin typeface="Times New Roman" panose="02020603050405020304" pitchFamily="18" charset="0"/>
              <a:cs typeface="Times New Roman" panose="02020603050405020304" pitchFamily="18" charset="0"/>
            </a:endParaRPr>
          </a:p>
        </p:txBody>
      </p:sp>
      <p:grpSp>
        <p:nvGrpSpPr>
          <p:cNvPr id="283" name="组合 282">
            <a:extLst>
              <a:ext uri="{FF2B5EF4-FFF2-40B4-BE49-F238E27FC236}">
                <a16:creationId xmlns:a16="http://schemas.microsoft.com/office/drawing/2014/main" id="{30F86EC6-DD3E-4D4F-B236-1368E26D8A6C}"/>
              </a:ext>
            </a:extLst>
          </p:cNvPr>
          <p:cNvGrpSpPr/>
          <p:nvPr/>
        </p:nvGrpSpPr>
        <p:grpSpPr>
          <a:xfrm>
            <a:off x="3066850" y="6254542"/>
            <a:ext cx="635647" cy="606462"/>
            <a:chOff x="7319483" y="6149946"/>
            <a:chExt cx="635647" cy="606462"/>
          </a:xfrm>
        </p:grpSpPr>
        <p:sp>
          <p:nvSpPr>
            <p:cNvPr id="284" name="等腰三角形 283">
              <a:extLst>
                <a:ext uri="{FF2B5EF4-FFF2-40B4-BE49-F238E27FC236}">
                  <a16:creationId xmlns:a16="http://schemas.microsoft.com/office/drawing/2014/main" id="{B02EBA7E-C94A-4169-89A2-B1882EDD7F1F}"/>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86" name="直接连接符 285">
              <a:extLst>
                <a:ext uri="{FF2B5EF4-FFF2-40B4-BE49-F238E27FC236}">
                  <a16:creationId xmlns:a16="http://schemas.microsoft.com/office/drawing/2014/main" id="{93A0D422-88CD-4E1E-93C1-A9DA5327701D}"/>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287" name="文本框 286">
              <a:extLst>
                <a:ext uri="{FF2B5EF4-FFF2-40B4-BE49-F238E27FC236}">
                  <a16:creationId xmlns:a16="http://schemas.microsoft.com/office/drawing/2014/main" id="{33E36D26-1B02-446E-A362-5A6E5EF5C365}"/>
                </a:ext>
              </a:extLst>
            </p:cNvPr>
            <p:cNvSpPr txBox="1"/>
            <p:nvPr/>
          </p:nvSpPr>
          <p:spPr>
            <a:xfrm>
              <a:off x="7319483" y="62947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288" name="组合 287">
            <a:extLst>
              <a:ext uri="{FF2B5EF4-FFF2-40B4-BE49-F238E27FC236}">
                <a16:creationId xmlns:a16="http://schemas.microsoft.com/office/drawing/2014/main" id="{9DC6C921-F52A-45C6-BD88-402D33BF32B5}"/>
              </a:ext>
            </a:extLst>
          </p:cNvPr>
          <p:cNvGrpSpPr/>
          <p:nvPr/>
        </p:nvGrpSpPr>
        <p:grpSpPr>
          <a:xfrm>
            <a:off x="6281552" y="6241941"/>
            <a:ext cx="780736" cy="461665"/>
            <a:chOff x="7477067" y="6108930"/>
            <a:chExt cx="780736" cy="461665"/>
          </a:xfrm>
        </p:grpSpPr>
        <p:sp>
          <p:nvSpPr>
            <p:cNvPr id="289" name="等腰三角形 288">
              <a:extLst>
                <a:ext uri="{FF2B5EF4-FFF2-40B4-BE49-F238E27FC236}">
                  <a16:creationId xmlns:a16="http://schemas.microsoft.com/office/drawing/2014/main" id="{7E90AB81-0E26-4474-B90C-40345ADF7DE9}"/>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90" name="直接连接符 289">
              <a:extLst>
                <a:ext uri="{FF2B5EF4-FFF2-40B4-BE49-F238E27FC236}">
                  <a16:creationId xmlns:a16="http://schemas.microsoft.com/office/drawing/2014/main" id="{585A19EB-FCD7-4AF1-8A12-5816B3B682BE}"/>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292" name="文本框 291">
              <a:extLst>
                <a:ext uri="{FF2B5EF4-FFF2-40B4-BE49-F238E27FC236}">
                  <a16:creationId xmlns:a16="http://schemas.microsoft.com/office/drawing/2014/main" id="{8FC5DDF1-CA80-4E79-B763-DDBEE55E5DAE}"/>
                </a:ext>
              </a:extLst>
            </p:cNvPr>
            <p:cNvSpPr txBox="1"/>
            <p:nvPr/>
          </p:nvSpPr>
          <p:spPr>
            <a:xfrm>
              <a:off x="7622156" y="6108930"/>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294" name="组合 293">
            <a:extLst>
              <a:ext uri="{FF2B5EF4-FFF2-40B4-BE49-F238E27FC236}">
                <a16:creationId xmlns:a16="http://schemas.microsoft.com/office/drawing/2014/main" id="{E8DAE4B2-8291-4850-B9A2-848DDADB561A}"/>
              </a:ext>
            </a:extLst>
          </p:cNvPr>
          <p:cNvGrpSpPr/>
          <p:nvPr/>
        </p:nvGrpSpPr>
        <p:grpSpPr>
          <a:xfrm>
            <a:off x="8281714" y="6226066"/>
            <a:ext cx="657633" cy="461665"/>
            <a:chOff x="6899117" y="6089499"/>
            <a:chExt cx="657633" cy="461665"/>
          </a:xfrm>
        </p:grpSpPr>
        <p:sp>
          <p:nvSpPr>
            <p:cNvPr id="295" name="等腰三角形 294">
              <a:extLst>
                <a:ext uri="{FF2B5EF4-FFF2-40B4-BE49-F238E27FC236}">
                  <a16:creationId xmlns:a16="http://schemas.microsoft.com/office/drawing/2014/main" id="{BBED24DF-15E2-48D9-893E-0AC2C2820E95}"/>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296" name="直接连接符 295">
              <a:extLst>
                <a:ext uri="{FF2B5EF4-FFF2-40B4-BE49-F238E27FC236}">
                  <a16:creationId xmlns:a16="http://schemas.microsoft.com/office/drawing/2014/main" id="{ED886406-8F14-4513-B6AE-D328DD084878}"/>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297" name="文本框 296">
              <a:extLst>
                <a:ext uri="{FF2B5EF4-FFF2-40B4-BE49-F238E27FC236}">
                  <a16:creationId xmlns:a16="http://schemas.microsoft.com/office/drawing/2014/main" id="{46002420-2201-4340-9182-70B57CF8944C}"/>
                </a:ext>
              </a:extLst>
            </p:cNvPr>
            <p:cNvSpPr txBox="1"/>
            <p:nvPr/>
          </p:nvSpPr>
          <p:spPr>
            <a:xfrm>
              <a:off x="6899117" y="6089499"/>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298" name="组合 297">
            <a:extLst>
              <a:ext uri="{FF2B5EF4-FFF2-40B4-BE49-F238E27FC236}">
                <a16:creationId xmlns:a16="http://schemas.microsoft.com/office/drawing/2014/main" id="{1423F6E3-8A19-4165-BC25-8A6094D61D52}"/>
              </a:ext>
            </a:extLst>
          </p:cNvPr>
          <p:cNvGrpSpPr/>
          <p:nvPr/>
        </p:nvGrpSpPr>
        <p:grpSpPr>
          <a:xfrm>
            <a:off x="10322126" y="6239115"/>
            <a:ext cx="676255" cy="461665"/>
            <a:chOff x="6880495" y="6110157"/>
            <a:chExt cx="676255" cy="461665"/>
          </a:xfrm>
        </p:grpSpPr>
        <p:sp>
          <p:nvSpPr>
            <p:cNvPr id="299" name="等腰三角形 298">
              <a:extLst>
                <a:ext uri="{FF2B5EF4-FFF2-40B4-BE49-F238E27FC236}">
                  <a16:creationId xmlns:a16="http://schemas.microsoft.com/office/drawing/2014/main" id="{D24C6CAB-6622-46F1-9EE5-1D1D0197C58B}"/>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300" name="直接连接符 299">
              <a:extLst>
                <a:ext uri="{FF2B5EF4-FFF2-40B4-BE49-F238E27FC236}">
                  <a16:creationId xmlns:a16="http://schemas.microsoft.com/office/drawing/2014/main" id="{5EB3C886-0FB0-46AE-9078-16A12ED47671}"/>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301" name="文本框 300">
              <a:extLst>
                <a:ext uri="{FF2B5EF4-FFF2-40B4-BE49-F238E27FC236}">
                  <a16:creationId xmlns:a16="http://schemas.microsoft.com/office/drawing/2014/main" id="{7DD7264E-6517-4FCD-B289-6EB4F4C2CAFC}"/>
                </a:ext>
              </a:extLst>
            </p:cNvPr>
            <p:cNvSpPr txBox="1"/>
            <p:nvPr/>
          </p:nvSpPr>
          <p:spPr>
            <a:xfrm>
              <a:off x="6880495" y="6110157"/>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spTree>
    <p:extLst>
      <p:ext uri="{BB962C8B-B14F-4D97-AF65-F5344CB8AC3E}">
        <p14:creationId xmlns:p14="http://schemas.microsoft.com/office/powerpoint/2010/main" val="127299338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15"/>
                                        </p:tgtEl>
                                        <p:attrNameLst>
                                          <p:attrName>style.visibility</p:attrName>
                                        </p:attrNameLst>
                                      </p:cBhvr>
                                      <p:to>
                                        <p:strVal val="visible"/>
                                      </p:to>
                                    </p:set>
                                    <p:anim calcmode="lin" valueType="num">
                                      <p:cBhvr additive="base">
                                        <p:cTn id="29" dur="500" fill="hold"/>
                                        <p:tgtEl>
                                          <p:spTgt spid="115"/>
                                        </p:tgtEl>
                                        <p:attrNameLst>
                                          <p:attrName>ppt_x</p:attrName>
                                        </p:attrNameLst>
                                      </p:cBhvr>
                                      <p:tavLst>
                                        <p:tav tm="0">
                                          <p:val>
                                            <p:strVal val="#ppt_x"/>
                                          </p:val>
                                        </p:tav>
                                        <p:tav tm="100000">
                                          <p:val>
                                            <p:strVal val="#ppt_x"/>
                                          </p:val>
                                        </p:tav>
                                      </p:tavLst>
                                    </p:anim>
                                    <p:anim calcmode="lin" valueType="num">
                                      <p:cBhvr additive="base">
                                        <p:cTn id="30" dur="500" fill="hold"/>
                                        <p:tgtEl>
                                          <p:spTgt spid="115"/>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16"/>
                                        </p:tgtEl>
                                        <p:attrNameLst>
                                          <p:attrName>style.visibility</p:attrName>
                                        </p:attrNameLst>
                                      </p:cBhvr>
                                      <p:to>
                                        <p:strVal val="visible"/>
                                      </p:to>
                                    </p:set>
                                    <p:anim calcmode="lin" valueType="num">
                                      <p:cBhvr additive="base">
                                        <p:cTn id="33" dur="500" fill="hold"/>
                                        <p:tgtEl>
                                          <p:spTgt spid="116"/>
                                        </p:tgtEl>
                                        <p:attrNameLst>
                                          <p:attrName>ppt_x</p:attrName>
                                        </p:attrNameLst>
                                      </p:cBhvr>
                                      <p:tavLst>
                                        <p:tav tm="0">
                                          <p:val>
                                            <p:strVal val="#ppt_x"/>
                                          </p:val>
                                        </p:tav>
                                        <p:tav tm="100000">
                                          <p:val>
                                            <p:strVal val="#ppt_x"/>
                                          </p:val>
                                        </p:tav>
                                      </p:tavLst>
                                    </p:anim>
                                    <p:anim calcmode="lin" valueType="num">
                                      <p:cBhvr additive="base">
                                        <p:cTn id="34" dur="500" fill="hold"/>
                                        <p:tgtEl>
                                          <p:spTgt spid="116"/>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18"/>
                                        </p:tgtEl>
                                        <p:attrNameLst>
                                          <p:attrName>style.visibility</p:attrName>
                                        </p:attrNameLst>
                                      </p:cBhvr>
                                      <p:to>
                                        <p:strVal val="visible"/>
                                      </p:to>
                                    </p:set>
                                    <p:anim calcmode="lin" valueType="num">
                                      <p:cBhvr additive="base">
                                        <p:cTn id="37" dur="500" fill="hold"/>
                                        <p:tgtEl>
                                          <p:spTgt spid="118"/>
                                        </p:tgtEl>
                                        <p:attrNameLst>
                                          <p:attrName>ppt_x</p:attrName>
                                        </p:attrNameLst>
                                      </p:cBhvr>
                                      <p:tavLst>
                                        <p:tav tm="0">
                                          <p:val>
                                            <p:strVal val="#ppt_x"/>
                                          </p:val>
                                        </p:tav>
                                        <p:tav tm="100000">
                                          <p:val>
                                            <p:strVal val="#ppt_x"/>
                                          </p:val>
                                        </p:tav>
                                      </p:tavLst>
                                    </p:anim>
                                    <p:anim calcmode="lin" valueType="num">
                                      <p:cBhvr additive="base">
                                        <p:cTn id="38" dur="500" fill="hold"/>
                                        <p:tgtEl>
                                          <p:spTgt spid="118"/>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98"/>
                                        </p:tgtEl>
                                        <p:attrNameLst>
                                          <p:attrName>style.visibility</p:attrName>
                                        </p:attrNameLst>
                                      </p:cBhvr>
                                      <p:to>
                                        <p:strVal val="visible"/>
                                      </p:to>
                                    </p:set>
                                    <p:anim calcmode="lin" valueType="num">
                                      <p:cBhvr additive="base">
                                        <p:cTn id="41" dur="500" fill="hold"/>
                                        <p:tgtEl>
                                          <p:spTgt spid="98"/>
                                        </p:tgtEl>
                                        <p:attrNameLst>
                                          <p:attrName>ppt_x</p:attrName>
                                        </p:attrNameLst>
                                      </p:cBhvr>
                                      <p:tavLst>
                                        <p:tav tm="0">
                                          <p:val>
                                            <p:strVal val="#ppt_x"/>
                                          </p:val>
                                        </p:tav>
                                        <p:tav tm="100000">
                                          <p:val>
                                            <p:strVal val="#ppt_x"/>
                                          </p:val>
                                        </p:tav>
                                      </p:tavLst>
                                    </p:anim>
                                    <p:anim calcmode="lin" valueType="num">
                                      <p:cBhvr additive="base">
                                        <p:cTn id="42" dur="500" fill="hold"/>
                                        <p:tgtEl>
                                          <p:spTgt spid="98"/>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99"/>
                                        </p:tgtEl>
                                        <p:attrNameLst>
                                          <p:attrName>style.visibility</p:attrName>
                                        </p:attrNameLst>
                                      </p:cBhvr>
                                      <p:to>
                                        <p:strVal val="visible"/>
                                      </p:to>
                                    </p:set>
                                    <p:anim calcmode="lin" valueType="num">
                                      <p:cBhvr additive="base">
                                        <p:cTn id="45" dur="500" fill="hold"/>
                                        <p:tgtEl>
                                          <p:spTgt spid="99"/>
                                        </p:tgtEl>
                                        <p:attrNameLst>
                                          <p:attrName>ppt_x</p:attrName>
                                        </p:attrNameLst>
                                      </p:cBhvr>
                                      <p:tavLst>
                                        <p:tav tm="0">
                                          <p:val>
                                            <p:strVal val="#ppt_x"/>
                                          </p:val>
                                        </p:tav>
                                        <p:tav tm="100000">
                                          <p:val>
                                            <p:strVal val="#ppt_x"/>
                                          </p:val>
                                        </p:tav>
                                      </p:tavLst>
                                    </p:anim>
                                    <p:anim calcmode="lin" valueType="num">
                                      <p:cBhvr additive="base">
                                        <p:cTn id="46" dur="500" fill="hold"/>
                                        <p:tgtEl>
                                          <p:spTgt spid="99"/>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00"/>
                                        </p:tgtEl>
                                        <p:attrNameLst>
                                          <p:attrName>style.visibility</p:attrName>
                                        </p:attrNameLst>
                                      </p:cBhvr>
                                      <p:to>
                                        <p:strVal val="visible"/>
                                      </p:to>
                                    </p:set>
                                    <p:anim calcmode="lin" valueType="num">
                                      <p:cBhvr additive="base">
                                        <p:cTn id="49" dur="500" fill="hold"/>
                                        <p:tgtEl>
                                          <p:spTgt spid="100"/>
                                        </p:tgtEl>
                                        <p:attrNameLst>
                                          <p:attrName>ppt_x</p:attrName>
                                        </p:attrNameLst>
                                      </p:cBhvr>
                                      <p:tavLst>
                                        <p:tav tm="0">
                                          <p:val>
                                            <p:strVal val="#ppt_x"/>
                                          </p:val>
                                        </p:tav>
                                        <p:tav tm="100000">
                                          <p:val>
                                            <p:strVal val="#ppt_x"/>
                                          </p:val>
                                        </p:tav>
                                      </p:tavLst>
                                    </p:anim>
                                    <p:anim calcmode="lin" valueType="num">
                                      <p:cBhvr additive="base">
                                        <p:cTn id="50"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7"/>
                                        </p:tgtEl>
                                        <p:attrNameLst>
                                          <p:attrName>style.visibility</p:attrName>
                                        </p:attrNameLst>
                                      </p:cBhvr>
                                      <p:to>
                                        <p:strVal val="visible"/>
                                      </p:to>
                                    </p:set>
                                    <p:anim calcmode="lin" valueType="num">
                                      <p:cBhvr additive="base">
                                        <p:cTn id="55" dur="500" fill="hold"/>
                                        <p:tgtEl>
                                          <p:spTgt spid="27"/>
                                        </p:tgtEl>
                                        <p:attrNameLst>
                                          <p:attrName>ppt_x</p:attrName>
                                        </p:attrNameLst>
                                      </p:cBhvr>
                                      <p:tavLst>
                                        <p:tav tm="0">
                                          <p:val>
                                            <p:strVal val="#ppt_x"/>
                                          </p:val>
                                        </p:tav>
                                        <p:tav tm="100000">
                                          <p:val>
                                            <p:strVal val="#ppt_x"/>
                                          </p:val>
                                        </p:tav>
                                      </p:tavLst>
                                    </p:anim>
                                    <p:anim calcmode="lin" valueType="num">
                                      <p:cBhvr additive="base">
                                        <p:cTn id="56" dur="500" fill="hold"/>
                                        <p:tgtEl>
                                          <p:spTgt spid="27"/>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0"/>
                                        </p:tgtEl>
                                        <p:attrNameLst>
                                          <p:attrName>style.visibility</p:attrName>
                                        </p:attrNameLst>
                                      </p:cBhvr>
                                      <p:to>
                                        <p:strVal val="visible"/>
                                      </p:to>
                                    </p:set>
                                    <p:anim calcmode="lin" valueType="num">
                                      <p:cBhvr additive="base">
                                        <p:cTn id="59" dur="500" fill="hold"/>
                                        <p:tgtEl>
                                          <p:spTgt spid="30"/>
                                        </p:tgtEl>
                                        <p:attrNameLst>
                                          <p:attrName>ppt_x</p:attrName>
                                        </p:attrNameLst>
                                      </p:cBhvr>
                                      <p:tavLst>
                                        <p:tav tm="0">
                                          <p:val>
                                            <p:strVal val="#ppt_x"/>
                                          </p:val>
                                        </p:tav>
                                        <p:tav tm="100000">
                                          <p:val>
                                            <p:strVal val="#ppt_x"/>
                                          </p:val>
                                        </p:tav>
                                      </p:tavLst>
                                    </p:anim>
                                    <p:anim calcmode="lin" valueType="num">
                                      <p:cBhvr additive="base">
                                        <p:cTn id="60" dur="500" fill="hold"/>
                                        <p:tgtEl>
                                          <p:spTgt spid="30"/>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31"/>
                                        </p:tgtEl>
                                        <p:attrNameLst>
                                          <p:attrName>style.visibility</p:attrName>
                                        </p:attrNameLst>
                                      </p:cBhvr>
                                      <p:to>
                                        <p:strVal val="visible"/>
                                      </p:to>
                                    </p:set>
                                    <p:anim calcmode="lin" valueType="num">
                                      <p:cBhvr additive="base">
                                        <p:cTn id="63" dur="500" fill="hold"/>
                                        <p:tgtEl>
                                          <p:spTgt spid="31"/>
                                        </p:tgtEl>
                                        <p:attrNameLst>
                                          <p:attrName>ppt_x</p:attrName>
                                        </p:attrNameLst>
                                      </p:cBhvr>
                                      <p:tavLst>
                                        <p:tav tm="0">
                                          <p:val>
                                            <p:strVal val="#ppt_x"/>
                                          </p:val>
                                        </p:tav>
                                        <p:tav tm="100000">
                                          <p:val>
                                            <p:strVal val="#ppt_x"/>
                                          </p:val>
                                        </p:tav>
                                      </p:tavLst>
                                    </p:anim>
                                    <p:anim calcmode="lin" valueType="num">
                                      <p:cBhvr additive="base">
                                        <p:cTn id="64" dur="500" fill="hold"/>
                                        <p:tgtEl>
                                          <p:spTgt spid="31"/>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32"/>
                                        </p:tgtEl>
                                        <p:attrNameLst>
                                          <p:attrName>style.visibility</p:attrName>
                                        </p:attrNameLst>
                                      </p:cBhvr>
                                      <p:to>
                                        <p:strVal val="visible"/>
                                      </p:to>
                                    </p:set>
                                    <p:anim calcmode="lin" valueType="num">
                                      <p:cBhvr additive="base">
                                        <p:cTn id="67" dur="500" fill="hold"/>
                                        <p:tgtEl>
                                          <p:spTgt spid="32"/>
                                        </p:tgtEl>
                                        <p:attrNameLst>
                                          <p:attrName>ppt_x</p:attrName>
                                        </p:attrNameLst>
                                      </p:cBhvr>
                                      <p:tavLst>
                                        <p:tav tm="0">
                                          <p:val>
                                            <p:strVal val="#ppt_x"/>
                                          </p:val>
                                        </p:tav>
                                        <p:tav tm="100000">
                                          <p:val>
                                            <p:strVal val="#ppt_x"/>
                                          </p:val>
                                        </p:tav>
                                      </p:tavLst>
                                    </p:anim>
                                    <p:anim calcmode="lin" valueType="num">
                                      <p:cBhvr additive="base">
                                        <p:cTn id="68" dur="500" fill="hold"/>
                                        <p:tgtEl>
                                          <p:spTgt spid="32"/>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33"/>
                                        </p:tgtEl>
                                        <p:attrNameLst>
                                          <p:attrName>style.visibility</p:attrName>
                                        </p:attrNameLst>
                                      </p:cBhvr>
                                      <p:to>
                                        <p:strVal val="visible"/>
                                      </p:to>
                                    </p:set>
                                    <p:anim calcmode="lin" valueType="num">
                                      <p:cBhvr additive="base">
                                        <p:cTn id="71" dur="500" fill="hold"/>
                                        <p:tgtEl>
                                          <p:spTgt spid="33"/>
                                        </p:tgtEl>
                                        <p:attrNameLst>
                                          <p:attrName>ppt_x</p:attrName>
                                        </p:attrNameLst>
                                      </p:cBhvr>
                                      <p:tavLst>
                                        <p:tav tm="0">
                                          <p:val>
                                            <p:strVal val="#ppt_x"/>
                                          </p:val>
                                        </p:tav>
                                        <p:tav tm="100000">
                                          <p:val>
                                            <p:strVal val="#ppt_x"/>
                                          </p:val>
                                        </p:tav>
                                      </p:tavLst>
                                    </p:anim>
                                    <p:anim calcmode="lin" valueType="num">
                                      <p:cBhvr additive="base">
                                        <p:cTn id="72" dur="500" fill="hold"/>
                                        <p:tgtEl>
                                          <p:spTgt spid="33"/>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49"/>
                                        </p:tgtEl>
                                        <p:attrNameLst>
                                          <p:attrName>style.visibility</p:attrName>
                                        </p:attrNameLst>
                                      </p:cBhvr>
                                      <p:to>
                                        <p:strVal val="visible"/>
                                      </p:to>
                                    </p:set>
                                    <p:anim calcmode="lin" valueType="num">
                                      <p:cBhvr additive="base">
                                        <p:cTn id="75" dur="500" fill="hold"/>
                                        <p:tgtEl>
                                          <p:spTgt spid="49"/>
                                        </p:tgtEl>
                                        <p:attrNameLst>
                                          <p:attrName>ppt_x</p:attrName>
                                        </p:attrNameLst>
                                      </p:cBhvr>
                                      <p:tavLst>
                                        <p:tav tm="0">
                                          <p:val>
                                            <p:strVal val="#ppt_x"/>
                                          </p:val>
                                        </p:tav>
                                        <p:tav tm="100000">
                                          <p:val>
                                            <p:strVal val="#ppt_x"/>
                                          </p:val>
                                        </p:tav>
                                      </p:tavLst>
                                    </p:anim>
                                    <p:anim calcmode="lin" valueType="num">
                                      <p:cBhvr additive="base">
                                        <p:cTn id="76"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62"/>
                                        </p:tgtEl>
                                        <p:attrNameLst>
                                          <p:attrName>style.visibility</p:attrName>
                                        </p:attrNameLst>
                                      </p:cBhvr>
                                      <p:to>
                                        <p:strVal val="visible"/>
                                      </p:to>
                                    </p:set>
                                    <p:anim calcmode="lin" valueType="num">
                                      <p:cBhvr additive="base">
                                        <p:cTn id="81" dur="500" fill="hold"/>
                                        <p:tgtEl>
                                          <p:spTgt spid="62"/>
                                        </p:tgtEl>
                                        <p:attrNameLst>
                                          <p:attrName>ppt_x</p:attrName>
                                        </p:attrNameLst>
                                      </p:cBhvr>
                                      <p:tavLst>
                                        <p:tav tm="0">
                                          <p:val>
                                            <p:strVal val="#ppt_x"/>
                                          </p:val>
                                        </p:tav>
                                        <p:tav tm="100000">
                                          <p:val>
                                            <p:strVal val="#ppt_x"/>
                                          </p:val>
                                        </p:tav>
                                      </p:tavLst>
                                    </p:anim>
                                    <p:anim calcmode="lin" valueType="num">
                                      <p:cBhvr additive="base">
                                        <p:cTn id="82" dur="500" fill="hold"/>
                                        <p:tgtEl>
                                          <p:spTgt spid="62"/>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66"/>
                                        </p:tgtEl>
                                        <p:attrNameLst>
                                          <p:attrName>style.visibility</p:attrName>
                                        </p:attrNameLst>
                                      </p:cBhvr>
                                      <p:to>
                                        <p:strVal val="visible"/>
                                      </p:to>
                                    </p:set>
                                    <p:anim calcmode="lin" valueType="num">
                                      <p:cBhvr additive="base">
                                        <p:cTn id="85" dur="500" fill="hold"/>
                                        <p:tgtEl>
                                          <p:spTgt spid="66"/>
                                        </p:tgtEl>
                                        <p:attrNameLst>
                                          <p:attrName>ppt_x</p:attrName>
                                        </p:attrNameLst>
                                      </p:cBhvr>
                                      <p:tavLst>
                                        <p:tav tm="0">
                                          <p:val>
                                            <p:strVal val="#ppt_x"/>
                                          </p:val>
                                        </p:tav>
                                        <p:tav tm="100000">
                                          <p:val>
                                            <p:strVal val="#ppt_x"/>
                                          </p:val>
                                        </p:tav>
                                      </p:tavLst>
                                    </p:anim>
                                    <p:anim calcmode="lin" valueType="num">
                                      <p:cBhvr additive="base">
                                        <p:cTn id="86" dur="500" fill="hold"/>
                                        <p:tgtEl>
                                          <p:spTgt spid="66"/>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67"/>
                                        </p:tgtEl>
                                        <p:attrNameLst>
                                          <p:attrName>style.visibility</p:attrName>
                                        </p:attrNameLst>
                                      </p:cBhvr>
                                      <p:to>
                                        <p:strVal val="visible"/>
                                      </p:to>
                                    </p:set>
                                    <p:anim calcmode="lin" valueType="num">
                                      <p:cBhvr additive="base">
                                        <p:cTn id="89" dur="500" fill="hold"/>
                                        <p:tgtEl>
                                          <p:spTgt spid="67"/>
                                        </p:tgtEl>
                                        <p:attrNameLst>
                                          <p:attrName>ppt_x</p:attrName>
                                        </p:attrNameLst>
                                      </p:cBhvr>
                                      <p:tavLst>
                                        <p:tav tm="0">
                                          <p:val>
                                            <p:strVal val="#ppt_x"/>
                                          </p:val>
                                        </p:tav>
                                        <p:tav tm="100000">
                                          <p:val>
                                            <p:strVal val="#ppt_x"/>
                                          </p:val>
                                        </p:tav>
                                      </p:tavLst>
                                    </p:anim>
                                    <p:anim calcmode="lin" valueType="num">
                                      <p:cBhvr additive="base">
                                        <p:cTn id="90" dur="500" fill="hold"/>
                                        <p:tgtEl>
                                          <p:spTgt spid="67"/>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124"/>
                                        </p:tgtEl>
                                        <p:attrNameLst>
                                          <p:attrName>style.visibility</p:attrName>
                                        </p:attrNameLst>
                                      </p:cBhvr>
                                      <p:to>
                                        <p:strVal val="visible"/>
                                      </p:to>
                                    </p:set>
                                    <p:anim calcmode="lin" valueType="num">
                                      <p:cBhvr additive="base">
                                        <p:cTn id="93" dur="500" fill="hold"/>
                                        <p:tgtEl>
                                          <p:spTgt spid="124"/>
                                        </p:tgtEl>
                                        <p:attrNameLst>
                                          <p:attrName>ppt_x</p:attrName>
                                        </p:attrNameLst>
                                      </p:cBhvr>
                                      <p:tavLst>
                                        <p:tav tm="0">
                                          <p:val>
                                            <p:strVal val="#ppt_x"/>
                                          </p:val>
                                        </p:tav>
                                        <p:tav tm="100000">
                                          <p:val>
                                            <p:strVal val="#ppt_x"/>
                                          </p:val>
                                        </p:tav>
                                      </p:tavLst>
                                    </p:anim>
                                    <p:anim calcmode="lin" valueType="num">
                                      <p:cBhvr additive="base">
                                        <p:cTn id="94" dur="500" fill="hold"/>
                                        <p:tgtEl>
                                          <p:spTgt spid="124"/>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51"/>
                                        </p:tgtEl>
                                        <p:attrNameLst>
                                          <p:attrName>style.visibility</p:attrName>
                                        </p:attrNameLst>
                                      </p:cBhvr>
                                      <p:to>
                                        <p:strVal val="visible"/>
                                      </p:to>
                                    </p:set>
                                    <p:anim calcmode="lin" valueType="num">
                                      <p:cBhvr additive="base">
                                        <p:cTn id="97" dur="500" fill="hold"/>
                                        <p:tgtEl>
                                          <p:spTgt spid="51"/>
                                        </p:tgtEl>
                                        <p:attrNameLst>
                                          <p:attrName>ppt_x</p:attrName>
                                        </p:attrNameLst>
                                      </p:cBhvr>
                                      <p:tavLst>
                                        <p:tav tm="0">
                                          <p:val>
                                            <p:strVal val="#ppt_x"/>
                                          </p:val>
                                        </p:tav>
                                        <p:tav tm="100000">
                                          <p:val>
                                            <p:strVal val="#ppt_x"/>
                                          </p:val>
                                        </p:tav>
                                      </p:tavLst>
                                    </p:anim>
                                    <p:anim calcmode="lin" valueType="num">
                                      <p:cBhvr additive="base">
                                        <p:cTn id="9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93"/>
                                        </p:tgtEl>
                                        <p:attrNameLst>
                                          <p:attrName>style.visibility</p:attrName>
                                        </p:attrNameLst>
                                      </p:cBhvr>
                                      <p:to>
                                        <p:strVal val="visible"/>
                                      </p:to>
                                    </p:set>
                                    <p:anim calcmode="lin" valueType="num">
                                      <p:cBhvr additive="base">
                                        <p:cTn id="103" dur="500" fill="hold"/>
                                        <p:tgtEl>
                                          <p:spTgt spid="93"/>
                                        </p:tgtEl>
                                        <p:attrNameLst>
                                          <p:attrName>ppt_x</p:attrName>
                                        </p:attrNameLst>
                                      </p:cBhvr>
                                      <p:tavLst>
                                        <p:tav tm="0">
                                          <p:val>
                                            <p:strVal val="#ppt_x"/>
                                          </p:val>
                                        </p:tav>
                                        <p:tav tm="100000">
                                          <p:val>
                                            <p:strVal val="#ppt_x"/>
                                          </p:val>
                                        </p:tav>
                                      </p:tavLst>
                                    </p:anim>
                                    <p:anim calcmode="lin" valueType="num">
                                      <p:cBhvr additive="base">
                                        <p:cTn id="104" dur="500" fill="hold"/>
                                        <p:tgtEl>
                                          <p:spTgt spid="93"/>
                                        </p:tgtEl>
                                        <p:attrNameLst>
                                          <p:attrName>ppt_y</p:attrName>
                                        </p:attrNameLst>
                                      </p:cBhvr>
                                      <p:tavLst>
                                        <p:tav tm="0">
                                          <p:val>
                                            <p:strVal val="1+#ppt_h/2"/>
                                          </p:val>
                                        </p:tav>
                                        <p:tav tm="100000">
                                          <p:val>
                                            <p:strVal val="#ppt_y"/>
                                          </p:val>
                                        </p:tav>
                                      </p:tavLst>
                                    </p:anim>
                                  </p:childTnLst>
                                </p:cTn>
                              </p:par>
                              <p:par>
                                <p:cTn id="105" presetID="2" presetClass="entr" presetSubtype="4" fill="hold" nodeType="withEffect">
                                  <p:stCondLst>
                                    <p:cond delay="0"/>
                                  </p:stCondLst>
                                  <p:childTnLst>
                                    <p:set>
                                      <p:cBhvr>
                                        <p:cTn id="106" dur="1" fill="hold">
                                          <p:stCondLst>
                                            <p:cond delay="0"/>
                                          </p:stCondLst>
                                        </p:cTn>
                                        <p:tgtEl>
                                          <p:spTgt spid="94"/>
                                        </p:tgtEl>
                                        <p:attrNameLst>
                                          <p:attrName>style.visibility</p:attrName>
                                        </p:attrNameLst>
                                      </p:cBhvr>
                                      <p:to>
                                        <p:strVal val="visible"/>
                                      </p:to>
                                    </p:set>
                                    <p:anim calcmode="lin" valueType="num">
                                      <p:cBhvr additive="base">
                                        <p:cTn id="107" dur="500" fill="hold"/>
                                        <p:tgtEl>
                                          <p:spTgt spid="94"/>
                                        </p:tgtEl>
                                        <p:attrNameLst>
                                          <p:attrName>ppt_x</p:attrName>
                                        </p:attrNameLst>
                                      </p:cBhvr>
                                      <p:tavLst>
                                        <p:tav tm="0">
                                          <p:val>
                                            <p:strVal val="#ppt_x"/>
                                          </p:val>
                                        </p:tav>
                                        <p:tav tm="100000">
                                          <p:val>
                                            <p:strVal val="#ppt_x"/>
                                          </p:val>
                                        </p:tav>
                                      </p:tavLst>
                                    </p:anim>
                                    <p:anim calcmode="lin" valueType="num">
                                      <p:cBhvr additive="base">
                                        <p:cTn id="108" dur="500" fill="hold"/>
                                        <p:tgtEl>
                                          <p:spTgt spid="94"/>
                                        </p:tgtEl>
                                        <p:attrNameLst>
                                          <p:attrName>ppt_y</p:attrName>
                                        </p:attrNameLst>
                                      </p:cBhvr>
                                      <p:tavLst>
                                        <p:tav tm="0">
                                          <p:val>
                                            <p:strVal val="1+#ppt_h/2"/>
                                          </p:val>
                                        </p:tav>
                                        <p:tav tm="100000">
                                          <p:val>
                                            <p:strVal val="#ppt_y"/>
                                          </p:val>
                                        </p:tav>
                                      </p:tavLst>
                                    </p:anim>
                                  </p:childTnLst>
                                </p:cTn>
                              </p:par>
                              <p:par>
                                <p:cTn id="109" presetID="2" presetClass="entr" presetSubtype="4" fill="hold" nodeType="withEffect">
                                  <p:stCondLst>
                                    <p:cond delay="0"/>
                                  </p:stCondLst>
                                  <p:childTnLst>
                                    <p:set>
                                      <p:cBhvr>
                                        <p:cTn id="110" dur="1" fill="hold">
                                          <p:stCondLst>
                                            <p:cond delay="0"/>
                                          </p:stCondLst>
                                        </p:cTn>
                                        <p:tgtEl>
                                          <p:spTgt spid="80"/>
                                        </p:tgtEl>
                                        <p:attrNameLst>
                                          <p:attrName>style.visibility</p:attrName>
                                        </p:attrNameLst>
                                      </p:cBhvr>
                                      <p:to>
                                        <p:strVal val="visible"/>
                                      </p:to>
                                    </p:set>
                                    <p:anim calcmode="lin" valueType="num">
                                      <p:cBhvr additive="base">
                                        <p:cTn id="111" dur="500" fill="hold"/>
                                        <p:tgtEl>
                                          <p:spTgt spid="80"/>
                                        </p:tgtEl>
                                        <p:attrNameLst>
                                          <p:attrName>ppt_x</p:attrName>
                                        </p:attrNameLst>
                                      </p:cBhvr>
                                      <p:tavLst>
                                        <p:tav tm="0">
                                          <p:val>
                                            <p:strVal val="#ppt_x"/>
                                          </p:val>
                                        </p:tav>
                                        <p:tav tm="100000">
                                          <p:val>
                                            <p:strVal val="#ppt_x"/>
                                          </p:val>
                                        </p:tav>
                                      </p:tavLst>
                                    </p:anim>
                                    <p:anim calcmode="lin" valueType="num">
                                      <p:cBhvr additive="base">
                                        <p:cTn id="112" dur="500" fill="hold"/>
                                        <p:tgtEl>
                                          <p:spTgt spid="80"/>
                                        </p:tgtEl>
                                        <p:attrNameLst>
                                          <p:attrName>ppt_y</p:attrName>
                                        </p:attrNameLst>
                                      </p:cBhvr>
                                      <p:tavLst>
                                        <p:tav tm="0">
                                          <p:val>
                                            <p:strVal val="1+#ppt_h/2"/>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nodeType="clickEffect">
                                  <p:stCondLst>
                                    <p:cond delay="0"/>
                                  </p:stCondLst>
                                  <p:childTnLst>
                                    <p:set>
                                      <p:cBhvr>
                                        <p:cTn id="116" dur="1" fill="hold">
                                          <p:stCondLst>
                                            <p:cond delay="0"/>
                                          </p:stCondLst>
                                        </p:cTn>
                                        <p:tgtEl>
                                          <p:spTgt spid="81"/>
                                        </p:tgtEl>
                                        <p:attrNameLst>
                                          <p:attrName>style.visibility</p:attrName>
                                        </p:attrNameLst>
                                      </p:cBhvr>
                                      <p:to>
                                        <p:strVal val="visible"/>
                                      </p:to>
                                    </p:set>
                                    <p:anim calcmode="lin" valueType="num">
                                      <p:cBhvr additive="base">
                                        <p:cTn id="117" dur="500" fill="hold"/>
                                        <p:tgtEl>
                                          <p:spTgt spid="81"/>
                                        </p:tgtEl>
                                        <p:attrNameLst>
                                          <p:attrName>ppt_x</p:attrName>
                                        </p:attrNameLst>
                                      </p:cBhvr>
                                      <p:tavLst>
                                        <p:tav tm="0">
                                          <p:val>
                                            <p:strVal val="#ppt_x"/>
                                          </p:val>
                                        </p:tav>
                                        <p:tav tm="100000">
                                          <p:val>
                                            <p:strVal val="#ppt_x"/>
                                          </p:val>
                                        </p:tav>
                                      </p:tavLst>
                                    </p:anim>
                                    <p:anim calcmode="lin" valueType="num">
                                      <p:cBhvr additive="base">
                                        <p:cTn id="118" dur="500" fill="hold"/>
                                        <p:tgtEl>
                                          <p:spTgt spid="81"/>
                                        </p:tgtEl>
                                        <p:attrNameLst>
                                          <p:attrName>ppt_y</p:attrName>
                                        </p:attrNameLst>
                                      </p:cBhvr>
                                      <p:tavLst>
                                        <p:tav tm="0">
                                          <p:val>
                                            <p:strVal val="1+#ppt_h/2"/>
                                          </p:val>
                                        </p:tav>
                                        <p:tav tm="100000">
                                          <p:val>
                                            <p:strVal val="#ppt_y"/>
                                          </p:val>
                                        </p:tav>
                                      </p:tavLst>
                                    </p:anim>
                                  </p:childTnLst>
                                </p:cTn>
                              </p:par>
                              <p:par>
                                <p:cTn id="119" presetID="2" presetClass="entr" presetSubtype="4" fill="hold" nodeType="withEffect">
                                  <p:stCondLst>
                                    <p:cond delay="0"/>
                                  </p:stCondLst>
                                  <p:childTnLst>
                                    <p:set>
                                      <p:cBhvr>
                                        <p:cTn id="120" dur="1" fill="hold">
                                          <p:stCondLst>
                                            <p:cond delay="0"/>
                                          </p:stCondLst>
                                        </p:cTn>
                                        <p:tgtEl>
                                          <p:spTgt spid="85"/>
                                        </p:tgtEl>
                                        <p:attrNameLst>
                                          <p:attrName>style.visibility</p:attrName>
                                        </p:attrNameLst>
                                      </p:cBhvr>
                                      <p:to>
                                        <p:strVal val="visible"/>
                                      </p:to>
                                    </p:set>
                                    <p:anim calcmode="lin" valueType="num">
                                      <p:cBhvr additive="base">
                                        <p:cTn id="121" dur="500" fill="hold"/>
                                        <p:tgtEl>
                                          <p:spTgt spid="85"/>
                                        </p:tgtEl>
                                        <p:attrNameLst>
                                          <p:attrName>ppt_x</p:attrName>
                                        </p:attrNameLst>
                                      </p:cBhvr>
                                      <p:tavLst>
                                        <p:tav tm="0">
                                          <p:val>
                                            <p:strVal val="#ppt_x"/>
                                          </p:val>
                                        </p:tav>
                                        <p:tav tm="100000">
                                          <p:val>
                                            <p:strVal val="#ppt_x"/>
                                          </p:val>
                                        </p:tav>
                                      </p:tavLst>
                                    </p:anim>
                                    <p:anim calcmode="lin" valueType="num">
                                      <p:cBhvr additive="base">
                                        <p:cTn id="122" dur="500" fill="hold"/>
                                        <p:tgtEl>
                                          <p:spTgt spid="85"/>
                                        </p:tgtEl>
                                        <p:attrNameLst>
                                          <p:attrName>ppt_y</p:attrName>
                                        </p:attrNameLst>
                                      </p:cBhvr>
                                      <p:tavLst>
                                        <p:tav tm="0">
                                          <p:val>
                                            <p:strVal val="1+#ppt_h/2"/>
                                          </p:val>
                                        </p:tav>
                                        <p:tav tm="100000">
                                          <p:val>
                                            <p:strVal val="#ppt_y"/>
                                          </p:val>
                                        </p:tav>
                                      </p:tavLst>
                                    </p:anim>
                                  </p:childTnLst>
                                </p:cTn>
                              </p:par>
                              <p:par>
                                <p:cTn id="123" presetID="2" presetClass="entr" presetSubtype="4" fill="hold" nodeType="withEffect">
                                  <p:stCondLst>
                                    <p:cond delay="0"/>
                                  </p:stCondLst>
                                  <p:childTnLst>
                                    <p:set>
                                      <p:cBhvr>
                                        <p:cTn id="124" dur="1" fill="hold">
                                          <p:stCondLst>
                                            <p:cond delay="0"/>
                                          </p:stCondLst>
                                        </p:cTn>
                                        <p:tgtEl>
                                          <p:spTgt spid="86"/>
                                        </p:tgtEl>
                                        <p:attrNameLst>
                                          <p:attrName>style.visibility</p:attrName>
                                        </p:attrNameLst>
                                      </p:cBhvr>
                                      <p:to>
                                        <p:strVal val="visible"/>
                                      </p:to>
                                    </p:set>
                                    <p:anim calcmode="lin" valueType="num">
                                      <p:cBhvr additive="base">
                                        <p:cTn id="125" dur="500" fill="hold"/>
                                        <p:tgtEl>
                                          <p:spTgt spid="86"/>
                                        </p:tgtEl>
                                        <p:attrNameLst>
                                          <p:attrName>ppt_x</p:attrName>
                                        </p:attrNameLst>
                                      </p:cBhvr>
                                      <p:tavLst>
                                        <p:tav tm="0">
                                          <p:val>
                                            <p:strVal val="#ppt_x"/>
                                          </p:val>
                                        </p:tav>
                                        <p:tav tm="100000">
                                          <p:val>
                                            <p:strVal val="#ppt_x"/>
                                          </p:val>
                                        </p:tav>
                                      </p:tavLst>
                                    </p:anim>
                                    <p:anim calcmode="lin" valueType="num">
                                      <p:cBhvr additive="base">
                                        <p:cTn id="126" dur="500" fill="hold"/>
                                        <p:tgtEl>
                                          <p:spTgt spid="86"/>
                                        </p:tgtEl>
                                        <p:attrNameLst>
                                          <p:attrName>ppt_y</p:attrName>
                                        </p:attrNameLst>
                                      </p:cBhvr>
                                      <p:tavLst>
                                        <p:tav tm="0">
                                          <p:val>
                                            <p:strVal val="1+#ppt_h/2"/>
                                          </p:val>
                                        </p:tav>
                                        <p:tav tm="100000">
                                          <p:val>
                                            <p:strVal val="#ppt_y"/>
                                          </p:val>
                                        </p:tav>
                                      </p:tavLst>
                                    </p:anim>
                                  </p:childTnLst>
                                </p:cTn>
                              </p:par>
                              <p:par>
                                <p:cTn id="127" presetID="2" presetClass="entr" presetSubtype="4" fill="hold" nodeType="withEffect">
                                  <p:stCondLst>
                                    <p:cond delay="0"/>
                                  </p:stCondLst>
                                  <p:childTnLst>
                                    <p:set>
                                      <p:cBhvr>
                                        <p:cTn id="128" dur="1" fill="hold">
                                          <p:stCondLst>
                                            <p:cond delay="0"/>
                                          </p:stCondLst>
                                        </p:cTn>
                                        <p:tgtEl>
                                          <p:spTgt spid="89"/>
                                        </p:tgtEl>
                                        <p:attrNameLst>
                                          <p:attrName>style.visibility</p:attrName>
                                        </p:attrNameLst>
                                      </p:cBhvr>
                                      <p:to>
                                        <p:strVal val="visible"/>
                                      </p:to>
                                    </p:set>
                                    <p:anim calcmode="lin" valueType="num">
                                      <p:cBhvr additive="base">
                                        <p:cTn id="129" dur="500" fill="hold"/>
                                        <p:tgtEl>
                                          <p:spTgt spid="89"/>
                                        </p:tgtEl>
                                        <p:attrNameLst>
                                          <p:attrName>ppt_x</p:attrName>
                                        </p:attrNameLst>
                                      </p:cBhvr>
                                      <p:tavLst>
                                        <p:tav tm="0">
                                          <p:val>
                                            <p:strVal val="#ppt_x"/>
                                          </p:val>
                                        </p:tav>
                                        <p:tav tm="100000">
                                          <p:val>
                                            <p:strVal val="#ppt_x"/>
                                          </p:val>
                                        </p:tav>
                                      </p:tavLst>
                                    </p:anim>
                                    <p:anim calcmode="lin" valueType="num">
                                      <p:cBhvr additive="base">
                                        <p:cTn id="130" dur="500" fill="hold"/>
                                        <p:tgtEl>
                                          <p:spTgt spid="89"/>
                                        </p:tgtEl>
                                        <p:attrNameLst>
                                          <p:attrName>ppt_y</p:attrName>
                                        </p:attrNameLst>
                                      </p:cBhvr>
                                      <p:tavLst>
                                        <p:tav tm="0">
                                          <p:val>
                                            <p:strVal val="1+#ppt_h/2"/>
                                          </p:val>
                                        </p:tav>
                                        <p:tav tm="100000">
                                          <p:val>
                                            <p:strVal val="#ppt_y"/>
                                          </p:val>
                                        </p:tav>
                                      </p:tavLst>
                                    </p:anim>
                                  </p:childTnLst>
                                </p:cTn>
                              </p:par>
                              <p:par>
                                <p:cTn id="131" presetID="2" presetClass="entr" presetSubtype="4" fill="hold" grpId="0" nodeType="withEffect">
                                  <p:stCondLst>
                                    <p:cond delay="0"/>
                                  </p:stCondLst>
                                  <p:childTnLst>
                                    <p:set>
                                      <p:cBhvr>
                                        <p:cTn id="132" dur="1" fill="hold">
                                          <p:stCondLst>
                                            <p:cond delay="0"/>
                                          </p:stCondLst>
                                        </p:cTn>
                                        <p:tgtEl>
                                          <p:spTgt spid="459"/>
                                        </p:tgtEl>
                                        <p:attrNameLst>
                                          <p:attrName>style.visibility</p:attrName>
                                        </p:attrNameLst>
                                      </p:cBhvr>
                                      <p:to>
                                        <p:strVal val="visible"/>
                                      </p:to>
                                    </p:set>
                                    <p:anim calcmode="lin" valueType="num">
                                      <p:cBhvr additive="base">
                                        <p:cTn id="133" dur="500" fill="hold"/>
                                        <p:tgtEl>
                                          <p:spTgt spid="459"/>
                                        </p:tgtEl>
                                        <p:attrNameLst>
                                          <p:attrName>ppt_x</p:attrName>
                                        </p:attrNameLst>
                                      </p:cBhvr>
                                      <p:tavLst>
                                        <p:tav tm="0">
                                          <p:val>
                                            <p:strVal val="#ppt_x"/>
                                          </p:val>
                                        </p:tav>
                                        <p:tav tm="100000">
                                          <p:val>
                                            <p:strVal val="#ppt_x"/>
                                          </p:val>
                                        </p:tav>
                                      </p:tavLst>
                                    </p:anim>
                                    <p:anim calcmode="lin" valueType="num">
                                      <p:cBhvr additive="base">
                                        <p:cTn id="134" dur="500" fill="hold"/>
                                        <p:tgtEl>
                                          <p:spTgt spid="459"/>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nodeType="clickEffect">
                                  <p:stCondLst>
                                    <p:cond delay="0"/>
                                  </p:stCondLst>
                                  <p:childTnLst>
                                    <p:set>
                                      <p:cBhvr>
                                        <p:cTn id="138" dur="1" fill="hold">
                                          <p:stCondLst>
                                            <p:cond delay="0"/>
                                          </p:stCondLst>
                                        </p:cTn>
                                        <p:tgtEl>
                                          <p:spTgt spid="53"/>
                                        </p:tgtEl>
                                        <p:attrNameLst>
                                          <p:attrName>style.visibility</p:attrName>
                                        </p:attrNameLst>
                                      </p:cBhvr>
                                      <p:to>
                                        <p:strVal val="visible"/>
                                      </p:to>
                                    </p:set>
                                    <p:anim calcmode="lin" valueType="num">
                                      <p:cBhvr additive="base">
                                        <p:cTn id="139" dur="500" fill="hold"/>
                                        <p:tgtEl>
                                          <p:spTgt spid="53"/>
                                        </p:tgtEl>
                                        <p:attrNameLst>
                                          <p:attrName>ppt_x</p:attrName>
                                        </p:attrNameLst>
                                      </p:cBhvr>
                                      <p:tavLst>
                                        <p:tav tm="0">
                                          <p:val>
                                            <p:strVal val="#ppt_x"/>
                                          </p:val>
                                        </p:tav>
                                        <p:tav tm="100000">
                                          <p:val>
                                            <p:strVal val="#ppt_x"/>
                                          </p:val>
                                        </p:tav>
                                      </p:tavLst>
                                    </p:anim>
                                    <p:anim calcmode="lin" valueType="num">
                                      <p:cBhvr additive="base">
                                        <p:cTn id="140"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grpId="0" nodeType="clickEffect">
                                  <p:stCondLst>
                                    <p:cond delay="0"/>
                                  </p:stCondLst>
                                  <p:childTnLst>
                                    <p:set>
                                      <p:cBhvr>
                                        <p:cTn id="144" dur="1" fill="hold">
                                          <p:stCondLst>
                                            <p:cond delay="0"/>
                                          </p:stCondLst>
                                        </p:cTn>
                                        <p:tgtEl>
                                          <p:spTgt spid="131"/>
                                        </p:tgtEl>
                                        <p:attrNameLst>
                                          <p:attrName>style.visibility</p:attrName>
                                        </p:attrNameLst>
                                      </p:cBhvr>
                                      <p:to>
                                        <p:strVal val="visible"/>
                                      </p:to>
                                    </p:set>
                                    <p:anim calcmode="lin" valueType="num">
                                      <p:cBhvr additive="base">
                                        <p:cTn id="145" dur="500" fill="hold"/>
                                        <p:tgtEl>
                                          <p:spTgt spid="131"/>
                                        </p:tgtEl>
                                        <p:attrNameLst>
                                          <p:attrName>ppt_x</p:attrName>
                                        </p:attrNameLst>
                                      </p:cBhvr>
                                      <p:tavLst>
                                        <p:tav tm="0">
                                          <p:val>
                                            <p:strVal val="#ppt_x"/>
                                          </p:val>
                                        </p:tav>
                                        <p:tav tm="100000">
                                          <p:val>
                                            <p:strVal val="#ppt_x"/>
                                          </p:val>
                                        </p:tav>
                                      </p:tavLst>
                                    </p:anim>
                                    <p:anim calcmode="lin" valueType="num">
                                      <p:cBhvr additive="base">
                                        <p:cTn id="146" dur="500" fill="hold"/>
                                        <p:tgtEl>
                                          <p:spTgt spid="131"/>
                                        </p:tgtEl>
                                        <p:attrNameLst>
                                          <p:attrName>ppt_y</p:attrName>
                                        </p:attrNameLst>
                                      </p:cBhvr>
                                      <p:tavLst>
                                        <p:tav tm="0">
                                          <p:val>
                                            <p:strVal val="1+#ppt_h/2"/>
                                          </p:val>
                                        </p:tav>
                                        <p:tav tm="100000">
                                          <p:val>
                                            <p:strVal val="#ppt_y"/>
                                          </p:val>
                                        </p:tav>
                                      </p:tavLst>
                                    </p:anim>
                                  </p:childTnLst>
                                </p:cTn>
                              </p:par>
                              <p:par>
                                <p:cTn id="147" presetID="2" presetClass="entr" presetSubtype="4" fill="hold" grpId="0" nodeType="withEffect">
                                  <p:stCondLst>
                                    <p:cond delay="0"/>
                                  </p:stCondLst>
                                  <p:childTnLst>
                                    <p:set>
                                      <p:cBhvr>
                                        <p:cTn id="148" dur="1" fill="hold">
                                          <p:stCondLst>
                                            <p:cond delay="0"/>
                                          </p:stCondLst>
                                        </p:cTn>
                                        <p:tgtEl>
                                          <p:spTgt spid="149"/>
                                        </p:tgtEl>
                                        <p:attrNameLst>
                                          <p:attrName>style.visibility</p:attrName>
                                        </p:attrNameLst>
                                      </p:cBhvr>
                                      <p:to>
                                        <p:strVal val="visible"/>
                                      </p:to>
                                    </p:set>
                                    <p:anim calcmode="lin" valueType="num">
                                      <p:cBhvr additive="base">
                                        <p:cTn id="149" dur="500" fill="hold"/>
                                        <p:tgtEl>
                                          <p:spTgt spid="149"/>
                                        </p:tgtEl>
                                        <p:attrNameLst>
                                          <p:attrName>ppt_x</p:attrName>
                                        </p:attrNameLst>
                                      </p:cBhvr>
                                      <p:tavLst>
                                        <p:tav tm="0">
                                          <p:val>
                                            <p:strVal val="#ppt_x"/>
                                          </p:val>
                                        </p:tav>
                                        <p:tav tm="100000">
                                          <p:val>
                                            <p:strVal val="#ppt_x"/>
                                          </p:val>
                                        </p:tav>
                                      </p:tavLst>
                                    </p:anim>
                                    <p:anim calcmode="lin" valueType="num">
                                      <p:cBhvr additive="base">
                                        <p:cTn id="150" dur="500" fill="hold"/>
                                        <p:tgtEl>
                                          <p:spTgt spid="149"/>
                                        </p:tgtEl>
                                        <p:attrNameLst>
                                          <p:attrName>ppt_y</p:attrName>
                                        </p:attrNameLst>
                                      </p:cBhvr>
                                      <p:tavLst>
                                        <p:tav tm="0">
                                          <p:val>
                                            <p:strVal val="1+#ppt_h/2"/>
                                          </p:val>
                                        </p:tav>
                                        <p:tav tm="100000">
                                          <p:val>
                                            <p:strVal val="#ppt_y"/>
                                          </p:val>
                                        </p:tav>
                                      </p:tavLst>
                                    </p:anim>
                                  </p:childTnLst>
                                </p:cTn>
                              </p:par>
                              <p:par>
                                <p:cTn id="151" presetID="2" presetClass="entr" presetSubtype="4" fill="hold" grpId="0" nodeType="withEffect">
                                  <p:stCondLst>
                                    <p:cond delay="0"/>
                                  </p:stCondLst>
                                  <p:childTnLst>
                                    <p:set>
                                      <p:cBhvr>
                                        <p:cTn id="152" dur="1" fill="hold">
                                          <p:stCondLst>
                                            <p:cond delay="0"/>
                                          </p:stCondLst>
                                        </p:cTn>
                                        <p:tgtEl>
                                          <p:spTgt spid="120"/>
                                        </p:tgtEl>
                                        <p:attrNameLst>
                                          <p:attrName>style.visibility</p:attrName>
                                        </p:attrNameLst>
                                      </p:cBhvr>
                                      <p:to>
                                        <p:strVal val="visible"/>
                                      </p:to>
                                    </p:set>
                                    <p:anim calcmode="lin" valueType="num">
                                      <p:cBhvr additive="base">
                                        <p:cTn id="153" dur="500" fill="hold"/>
                                        <p:tgtEl>
                                          <p:spTgt spid="120"/>
                                        </p:tgtEl>
                                        <p:attrNameLst>
                                          <p:attrName>ppt_x</p:attrName>
                                        </p:attrNameLst>
                                      </p:cBhvr>
                                      <p:tavLst>
                                        <p:tav tm="0">
                                          <p:val>
                                            <p:strVal val="#ppt_x"/>
                                          </p:val>
                                        </p:tav>
                                        <p:tav tm="100000">
                                          <p:val>
                                            <p:strVal val="#ppt_x"/>
                                          </p:val>
                                        </p:tav>
                                      </p:tavLst>
                                    </p:anim>
                                    <p:anim calcmode="lin" valueType="num">
                                      <p:cBhvr additive="base">
                                        <p:cTn id="154" dur="500" fill="hold"/>
                                        <p:tgtEl>
                                          <p:spTgt spid="120"/>
                                        </p:tgtEl>
                                        <p:attrNameLst>
                                          <p:attrName>ppt_y</p:attrName>
                                        </p:attrNameLst>
                                      </p:cBhvr>
                                      <p:tavLst>
                                        <p:tav tm="0">
                                          <p:val>
                                            <p:strVal val="1+#ppt_h/2"/>
                                          </p:val>
                                        </p:tav>
                                        <p:tav tm="100000">
                                          <p:val>
                                            <p:strVal val="#ppt_y"/>
                                          </p:val>
                                        </p:tav>
                                      </p:tavLst>
                                    </p:anim>
                                  </p:childTnLst>
                                </p:cTn>
                              </p:par>
                              <p:par>
                                <p:cTn id="155" presetID="2" presetClass="entr" presetSubtype="4" fill="hold" grpId="0" nodeType="withEffect">
                                  <p:stCondLst>
                                    <p:cond delay="0"/>
                                  </p:stCondLst>
                                  <p:childTnLst>
                                    <p:set>
                                      <p:cBhvr>
                                        <p:cTn id="156" dur="1" fill="hold">
                                          <p:stCondLst>
                                            <p:cond delay="0"/>
                                          </p:stCondLst>
                                        </p:cTn>
                                        <p:tgtEl>
                                          <p:spTgt spid="126"/>
                                        </p:tgtEl>
                                        <p:attrNameLst>
                                          <p:attrName>style.visibility</p:attrName>
                                        </p:attrNameLst>
                                      </p:cBhvr>
                                      <p:to>
                                        <p:strVal val="visible"/>
                                      </p:to>
                                    </p:set>
                                    <p:anim calcmode="lin" valueType="num">
                                      <p:cBhvr additive="base">
                                        <p:cTn id="157" dur="500" fill="hold"/>
                                        <p:tgtEl>
                                          <p:spTgt spid="126"/>
                                        </p:tgtEl>
                                        <p:attrNameLst>
                                          <p:attrName>ppt_x</p:attrName>
                                        </p:attrNameLst>
                                      </p:cBhvr>
                                      <p:tavLst>
                                        <p:tav tm="0">
                                          <p:val>
                                            <p:strVal val="#ppt_x"/>
                                          </p:val>
                                        </p:tav>
                                        <p:tav tm="100000">
                                          <p:val>
                                            <p:strVal val="#ppt_x"/>
                                          </p:val>
                                        </p:tav>
                                      </p:tavLst>
                                    </p:anim>
                                    <p:anim calcmode="lin" valueType="num">
                                      <p:cBhvr additive="base">
                                        <p:cTn id="158" dur="500" fill="hold"/>
                                        <p:tgtEl>
                                          <p:spTgt spid="126"/>
                                        </p:tgtEl>
                                        <p:attrNameLst>
                                          <p:attrName>ppt_y</p:attrName>
                                        </p:attrNameLst>
                                      </p:cBhvr>
                                      <p:tavLst>
                                        <p:tav tm="0">
                                          <p:val>
                                            <p:strVal val="1+#ppt_h/2"/>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4" fill="hold" nodeType="clickEffect">
                                  <p:stCondLst>
                                    <p:cond delay="0"/>
                                  </p:stCondLst>
                                  <p:childTnLst>
                                    <p:set>
                                      <p:cBhvr>
                                        <p:cTn id="162" dur="1" fill="hold">
                                          <p:stCondLst>
                                            <p:cond delay="0"/>
                                          </p:stCondLst>
                                        </p:cTn>
                                        <p:tgtEl>
                                          <p:spTgt spid="243"/>
                                        </p:tgtEl>
                                        <p:attrNameLst>
                                          <p:attrName>style.visibility</p:attrName>
                                        </p:attrNameLst>
                                      </p:cBhvr>
                                      <p:to>
                                        <p:strVal val="visible"/>
                                      </p:to>
                                    </p:set>
                                    <p:anim calcmode="lin" valueType="num">
                                      <p:cBhvr additive="base">
                                        <p:cTn id="163" dur="500" fill="hold"/>
                                        <p:tgtEl>
                                          <p:spTgt spid="243"/>
                                        </p:tgtEl>
                                        <p:attrNameLst>
                                          <p:attrName>ppt_x</p:attrName>
                                        </p:attrNameLst>
                                      </p:cBhvr>
                                      <p:tavLst>
                                        <p:tav tm="0">
                                          <p:val>
                                            <p:strVal val="#ppt_x"/>
                                          </p:val>
                                        </p:tav>
                                        <p:tav tm="100000">
                                          <p:val>
                                            <p:strVal val="#ppt_x"/>
                                          </p:val>
                                        </p:tav>
                                      </p:tavLst>
                                    </p:anim>
                                    <p:anim calcmode="lin" valueType="num">
                                      <p:cBhvr additive="base">
                                        <p:cTn id="164" dur="500" fill="hold"/>
                                        <p:tgtEl>
                                          <p:spTgt spid="243"/>
                                        </p:tgtEl>
                                        <p:attrNameLst>
                                          <p:attrName>ppt_y</p:attrName>
                                        </p:attrNameLst>
                                      </p:cBhvr>
                                      <p:tavLst>
                                        <p:tav tm="0">
                                          <p:val>
                                            <p:strVal val="1+#ppt_h/2"/>
                                          </p:val>
                                        </p:tav>
                                        <p:tav tm="100000">
                                          <p:val>
                                            <p:strVal val="#ppt_y"/>
                                          </p:val>
                                        </p:tav>
                                      </p:tavLst>
                                    </p:anim>
                                  </p:childTnLst>
                                </p:cTn>
                              </p:par>
                              <p:par>
                                <p:cTn id="165" presetID="2" presetClass="entr" presetSubtype="4" fill="hold" nodeType="withEffect">
                                  <p:stCondLst>
                                    <p:cond delay="0"/>
                                  </p:stCondLst>
                                  <p:childTnLst>
                                    <p:set>
                                      <p:cBhvr>
                                        <p:cTn id="166" dur="1" fill="hold">
                                          <p:stCondLst>
                                            <p:cond delay="0"/>
                                          </p:stCondLst>
                                        </p:cTn>
                                        <p:tgtEl>
                                          <p:spTgt spid="238"/>
                                        </p:tgtEl>
                                        <p:attrNameLst>
                                          <p:attrName>style.visibility</p:attrName>
                                        </p:attrNameLst>
                                      </p:cBhvr>
                                      <p:to>
                                        <p:strVal val="visible"/>
                                      </p:to>
                                    </p:set>
                                    <p:anim calcmode="lin" valueType="num">
                                      <p:cBhvr additive="base">
                                        <p:cTn id="167" dur="500" fill="hold"/>
                                        <p:tgtEl>
                                          <p:spTgt spid="238"/>
                                        </p:tgtEl>
                                        <p:attrNameLst>
                                          <p:attrName>ppt_x</p:attrName>
                                        </p:attrNameLst>
                                      </p:cBhvr>
                                      <p:tavLst>
                                        <p:tav tm="0">
                                          <p:val>
                                            <p:strVal val="#ppt_x"/>
                                          </p:val>
                                        </p:tav>
                                        <p:tav tm="100000">
                                          <p:val>
                                            <p:strVal val="#ppt_x"/>
                                          </p:val>
                                        </p:tav>
                                      </p:tavLst>
                                    </p:anim>
                                    <p:anim calcmode="lin" valueType="num">
                                      <p:cBhvr additive="base">
                                        <p:cTn id="168" dur="500" fill="hold"/>
                                        <p:tgtEl>
                                          <p:spTgt spid="238"/>
                                        </p:tgtEl>
                                        <p:attrNameLst>
                                          <p:attrName>ppt_y</p:attrName>
                                        </p:attrNameLst>
                                      </p:cBhvr>
                                      <p:tavLst>
                                        <p:tav tm="0">
                                          <p:val>
                                            <p:strVal val="1+#ppt_h/2"/>
                                          </p:val>
                                        </p:tav>
                                        <p:tav tm="100000">
                                          <p:val>
                                            <p:strVal val="#ppt_y"/>
                                          </p:val>
                                        </p:tav>
                                      </p:tavLst>
                                    </p:anim>
                                  </p:childTnLst>
                                </p:cTn>
                              </p:par>
                              <p:par>
                                <p:cTn id="169" presetID="2" presetClass="entr" presetSubtype="4" fill="hold" nodeType="withEffect">
                                  <p:stCondLst>
                                    <p:cond delay="0"/>
                                  </p:stCondLst>
                                  <p:childTnLst>
                                    <p:set>
                                      <p:cBhvr>
                                        <p:cTn id="170" dur="1" fill="hold">
                                          <p:stCondLst>
                                            <p:cond delay="0"/>
                                          </p:stCondLst>
                                        </p:cTn>
                                        <p:tgtEl>
                                          <p:spTgt spid="240"/>
                                        </p:tgtEl>
                                        <p:attrNameLst>
                                          <p:attrName>style.visibility</p:attrName>
                                        </p:attrNameLst>
                                      </p:cBhvr>
                                      <p:to>
                                        <p:strVal val="visible"/>
                                      </p:to>
                                    </p:set>
                                    <p:anim calcmode="lin" valueType="num">
                                      <p:cBhvr additive="base">
                                        <p:cTn id="171" dur="500" fill="hold"/>
                                        <p:tgtEl>
                                          <p:spTgt spid="240"/>
                                        </p:tgtEl>
                                        <p:attrNameLst>
                                          <p:attrName>ppt_x</p:attrName>
                                        </p:attrNameLst>
                                      </p:cBhvr>
                                      <p:tavLst>
                                        <p:tav tm="0">
                                          <p:val>
                                            <p:strVal val="#ppt_x"/>
                                          </p:val>
                                        </p:tav>
                                        <p:tav tm="100000">
                                          <p:val>
                                            <p:strVal val="#ppt_x"/>
                                          </p:val>
                                        </p:tav>
                                      </p:tavLst>
                                    </p:anim>
                                    <p:anim calcmode="lin" valueType="num">
                                      <p:cBhvr additive="base">
                                        <p:cTn id="172" dur="500" fill="hold"/>
                                        <p:tgtEl>
                                          <p:spTgt spid="240"/>
                                        </p:tgtEl>
                                        <p:attrNameLst>
                                          <p:attrName>ppt_y</p:attrName>
                                        </p:attrNameLst>
                                      </p:cBhvr>
                                      <p:tavLst>
                                        <p:tav tm="0">
                                          <p:val>
                                            <p:strVal val="1+#ppt_h/2"/>
                                          </p:val>
                                        </p:tav>
                                        <p:tav tm="100000">
                                          <p:val>
                                            <p:strVal val="#ppt_y"/>
                                          </p:val>
                                        </p:tav>
                                      </p:tavLst>
                                    </p:anim>
                                  </p:childTnLst>
                                </p:cTn>
                              </p:par>
                              <p:par>
                                <p:cTn id="173" presetID="2" presetClass="entr" presetSubtype="4" fill="hold" nodeType="withEffect">
                                  <p:stCondLst>
                                    <p:cond delay="0"/>
                                  </p:stCondLst>
                                  <p:childTnLst>
                                    <p:set>
                                      <p:cBhvr>
                                        <p:cTn id="174" dur="1" fill="hold">
                                          <p:stCondLst>
                                            <p:cond delay="0"/>
                                          </p:stCondLst>
                                        </p:cTn>
                                        <p:tgtEl>
                                          <p:spTgt spid="282"/>
                                        </p:tgtEl>
                                        <p:attrNameLst>
                                          <p:attrName>style.visibility</p:attrName>
                                        </p:attrNameLst>
                                      </p:cBhvr>
                                      <p:to>
                                        <p:strVal val="visible"/>
                                      </p:to>
                                    </p:set>
                                    <p:anim calcmode="lin" valueType="num">
                                      <p:cBhvr additive="base">
                                        <p:cTn id="175" dur="500" fill="hold"/>
                                        <p:tgtEl>
                                          <p:spTgt spid="282"/>
                                        </p:tgtEl>
                                        <p:attrNameLst>
                                          <p:attrName>ppt_x</p:attrName>
                                        </p:attrNameLst>
                                      </p:cBhvr>
                                      <p:tavLst>
                                        <p:tav tm="0">
                                          <p:val>
                                            <p:strVal val="#ppt_x"/>
                                          </p:val>
                                        </p:tav>
                                        <p:tav tm="100000">
                                          <p:val>
                                            <p:strVal val="#ppt_x"/>
                                          </p:val>
                                        </p:tav>
                                      </p:tavLst>
                                    </p:anim>
                                    <p:anim calcmode="lin" valueType="num">
                                      <p:cBhvr additive="base">
                                        <p:cTn id="176" dur="500" fill="hold"/>
                                        <p:tgtEl>
                                          <p:spTgt spid="282"/>
                                        </p:tgtEl>
                                        <p:attrNameLst>
                                          <p:attrName>ppt_y</p:attrName>
                                        </p:attrNameLst>
                                      </p:cBhvr>
                                      <p:tavLst>
                                        <p:tav tm="0">
                                          <p:val>
                                            <p:strVal val="1+#ppt_h/2"/>
                                          </p:val>
                                        </p:tav>
                                        <p:tav tm="100000">
                                          <p:val>
                                            <p:strVal val="#ppt_y"/>
                                          </p:val>
                                        </p:tav>
                                      </p:tavLst>
                                    </p:anim>
                                  </p:childTnLst>
                                </p:cTn>
                              </p:par>
                              <p:par>
                                <p:cTn id="177" presetID="2" presetClass="entr" presetSubtype="4" fill="hold" nodeType="withEffect">
                                  <p:stCondLst>
                                    <p:cond delay="0"/>
                                  </p:stCondLst>
                                  <p:childTnLst>
                                    <p:set>
                                      <p:cBhvr>
                                        <p:cTn id="178" dur="1" fill="hold">
                                          <p:stCondLst>
                                            <p:cond delay="0"/>
                                          </p:stCondLst>
                                        </p:cTn>
                                        <p:tgtEl>
                                          <p:spTgt spid="280"/>
                                        </p:tgtEl>
                                        <p:attrNameLst>
                                          <p:attrName>style.visibility</p:attrName>
                                        </p:attrNameLst>
                                      </p:cBhvr>
                                      <p:to>
                                        <p:strVal val="visible"/>
                                      </p:to>
                                    </p:set>
                                    <p:anim calcmode="lin" valueType="num">
                                      <p:cBhvr additive="base">
                                        <p:cTn id="179" dur="500" fill="hold"/>
                                        <p:tgtEl>
                                          <p:spTgt spid="280"/>
                                        </p:tgtEl>
                                        <p:attrNameLst>
                                          <p:attrName>ppt_x</p:attrName>
                                        </p:attrNameLst>
                                      </p:cBhvr>
                                      <p:tavLst>
                                        <p:tav tm="0">
                                          <p:val>
                                            <p:strVal val="#ppt_x"/>
                                          </p:val>
                                        </p:tav>
                                        <p:tav tm="100000">
                                          <p:val>
                                            <p:strVal val="#ppt_x"/>
                                          </p:val>
                                        </p:tav>
                                      </p:tavLst>
                                    </p:anim>
                                    <p:anim calcmode="lin" valueType="num">
                                      <p:cBhvr additive="base">
                                        <p:cTn id="180" dur="500" fill="hold"/>
                                        <p:tgtEl>
                                          <p:spTgt spid="280"/>
                                        </p:tgtEl>
                                        <p:attrNameLst>
                                          <p:attrName>ppt_y</p:attrName>
                                        </p:attrNameLst>
                                      </p:cBhvr>
                                      <p:tavLst>
                                        <p:tav tm="0">
                                          <p:val>
                                            <p:strVal val="1+#ppt_h/2"/>
                                          </p:val>
                                        </p:tav>
                                        <p:tav tm="100000">
                                          <p:val>
                                            <p:strVal val="#ppt_y"/>
                                          </p:val>
                                        </p:tav>
                                      </p:tavLst>
                                    </p:anim>
                                  </p:childTnLst>
                                </p:cTn>
                              </p:par>
                              <p:par>
                                <p:cTn id="181" presetID="2" presetClass="entr" presetSubtype="4" fill="hold" nodeType="withEffect">
                                  <p:stCondLst>
                                    <p:cond delay="0"/>
                                  </p:stCondLst>
                                  <p:childTnLst>
                                    <p:set>
                                      <p:cBhvr>
                                        <p:cTn id="182" dur="1" fill="hold">
                                          <p:stCondLst>
                                            <p:cond delay="0"/>
                                          </p:stCondLst>
                                        </p:cTn>
                                        <p:tgtEl>
                                          <p:spTgt spid="278"/>
                                        </p:tgtEl>
                                        <p:attrNameLst>
                                          <p:attrName>style.visibility</p:attrName>
                                        </p:attrNameLst>
                                      </p:cBhvr>
                                      <p:to>
                                        <p:strVal val="visible"/>
                                      </p:to>
                                    </p:set>
                                    <p:anim calcmode="lin" valueType="num">
                                      <p:cBhvr additive="base">
                                        <p:cTn id="183" dur="500" fill="hold"/>
                                        <p:tgtEl>
                                          <p:spTgt spid="278"/>
                                        </p:tgtEl>
                                        <p:attrNameLst>
                                          <p:attrName>ppt_x</p:attrName>
                                        </p:attrNameLst>
                                      </p:cBhvr>
                                      <p:tavLst>
                                        <p:tav tm="0">
                                          <p:val>
                                            <p:strVal val="#ppt_x"/>
                                          </p:val>
                                        </p:tav>
                                        <p:tav tm="100000">
                                          <p:val>
                                            <p:strVal val="#ppt_x"/>
                                          </p:val>
                                        </p:tav>
                                      </p:tavLst>
                                    </p:anim>
                                    <p:anim calcmode="lin" valueType="num">
                                      <p:cBhvr additive="base">
                                        <p:cTn id="184" dur="500" fill="hold"/>
                                        <p:tgtEl>
                                          <p:spTgt spid="278"/>
                                        </p:tgtEl>
                                        <p:attrNameLst>
                                          <p:attrName>ppt_y</p:attrName>
                                        </p:attrNameLst>
                                      </p:cBhvr>
                                      <p:tavLst>
                                        <p:tav tm="0">
                                          <p:val>
                                            <p:strVal val="1+#ppt_h/2"/>
                                          </p:val>
                                        </p:tav>
                                        <p:tav tm="100000">
                                          <p:val>
                                            <p:strVal val="#ppt_y"/>
                                          </p:val>
                                        </p:tav>
                                      </p:tavLst>
                                    </p:anim>
                                  </p:childTnLst>
                                </p:cTn>
                              </p:par>
                              <p:par>
                                <p:cTn id="185" presetID="2" presetClass="entr" presetSubtype="4" fill="hold" grpId="0" nodeType="withEffect">
                                  <p:stCondLst>
                                    <p:cond delay="0"/>
                                  </p:stCondLst>
                                  <p:childTnLst>
                                    <p:set>
                                      <p:cBhvr>
                                        <p:cTn id="186" dur="1" fill="hold">
                                          <p:stCondLst>
                                            <p:cond delay="0"/>
                                          </p:stCondLst>
                                        </p:cTn>
                                        <p:tgtEl>
                                          <p:spTgt spid="193"/>
                                        </p:tgtEl>
                                        <p:attrNameLst>
                                          <p:attrName>style.visibility</p:attrName>
                                        </p:attrNameLst>
                                      </p:cBhvr>
                                      <p:to>
                                        <p:strVal val="visible"/>
                                      </p:to>
                                    </p:set>
                                    <p:anim calcmode="lin" valueType="num">
                                      <p:cBhvr additive="base">
                                        <p:cTn id="187" dur="500" fill="hold"/>
                                        <p:tgtEl>
                                          <p:spTgt spid="193"/>
                                        </p:tgtEl>
                                        <p:attrNameLst>
                                          <p:attrName>ppt_x</p:attrName>
                                        </p:attrNameLst>
                                      </p:cBhvr>
                                      <p:tavLst>
                                        <p:tav tm="0">
                                          <p:val>
                                            <p:strVal val="#ppt_x"/>
                                          </p:val>
                                        </p:tav>
                                        <p:tav tm="100000">
                                          <p:val>
                                            <p:strVal val="#ppt_x"/>
                                          </p:val>
                                        </p:tav>
                                      </p:tavLst>
                                    </p:anim>
                                    <p:anim calcmode="lin" valueType="num">
                                      <p:cBhvr additive="base">
                                        <p:cTn id="188" dur="500" fill="hold"/>
                                        <p:tgtEl>
                                          <p:spTgt spid="193"/>
                                        </p:tgtEl>
                                        <p:attrNameLst>
                                          <p:attrName>ppt_y</p:attrName>
                                        </p:attrNameLst>
                                      </p:cBhvr>
                                      <p:tavLst>
                                        <p:tav tm="0">
                                          <p:val>
                                            <p:strVal val="1+#ppt_h/2"/>
                                          </p:val>
                                        </p:tav>
                                        <p:tav tm="100000">
                                          <p:val>
                                            <p:strVal val="#ppt_y"/>
                                          </p:val>
                                        </p:tav>
                                      </p:tavLst>
                                    </p:anim>
                                  </p:childTnLst>
                                </p:cTn>
                              </p:par>
                              <p:par>
                                <p:cTn id="189" presetID="2" presetClass="entr" presetSubtype="4" fill="hold" grpId="0" nodeType="withEffect">
                                  <p:stCondLst>
                                    <p:cond delay="0"/>
                                  </p:stCondLst>
                                  <p:childTnLst>
                                    <p:set>
                                      <p:cBhvr>
                                        <p:cTn id="190" dur="1" fill="hold">
                                          <p:stCondLst>
                                            <p:cond delay="0"/>
                                          </p:stCondLst>
                                        </p:cTn>
                                        <p:tgtEl>
                                          <p:spTgt spid="194"/>
                                        </p:tgtEl>
                                        <p:attrNameLst>
                                          <p:attrName>style.visibility</p:attrName>
                                        </p:attrNameLst>
                                      </p:cBhvr>
                                      <p:to>
                                        <p:strVal val="visible"/>
                                      </p:to>
                                    </p:set>
                                    <p:anim calcmode="lin" valueType="num">
                                      <p:cBhvr additive="base">
                                        <p:cTn id="191" dur="500" fill="hold"/>
                                        <p:tgtEl>
                                          <p:spTgt spid="194"/>
                                        </p:tgtEl>
                                        <p:attrNameLst>
                                          <p:attrName>ppt_x</p:attrName>
                                        </p:attrNameLst>
                                      </p:cBhvr>
                                      <p:tavLst>
                                        <p:tav tm="0">
                                          <p:val>
                                            <p:strVal val="#ppt_x"/>
                                          </p:val>
                                        </p:tav>
                                        <p:tav tm="100000">
                                          <p:val>
                                            <p:strVal val="#ppt_x"/>
                                          </p:val>
                                        </p:tav>
                                      </p:tavLst>
                                    </p:anim>
                                    <p:anim calcmode="lin" valueType="num">
                                      <p:cBhvr additive="base">
                                        <p:cTn id="192" dur="500" fill="hold"/>
                                        <p:tgtEl>
                                          <p:spTgt spid="194"/>
                                        </p:tgtEl>
                                        <p:attrNameLst>
                                          <p:attrName>ppt_y</p:attrName>
                                        </p:attrNameLst>
                                      </p:cBhvr>
                                      <p:tavLst>
                                        <p:tav tm="0">
                                          <p:val>
                                            <p:strVal val="1+#ppt_h/2"/>
                                          </p:val>
                                        </p:tav>
                                        <p:tav tm="100000">
                                          <p:val>
                                            <p:strVal val="#ppt_y"/>
                                          </p:val>
                                        </p:tav>
                                      </p:tavLst>
                                    </p:anim>
                                  </p:childTnLst>
                                </p:cTn>
                              </p:par>
                            </p:childTnLst>
                          </p:cTn>
                        </p:par>
                      </p:childTnLst>
                    </p:cTn>
                  </p:par>
                  <p:par>
                    <p:cTn id="193" fill="hold">
                      <p:stCondLst>
                        <p:cond delay="indefinite"/>
                      </p:stCondLst>
                      <p:childTnLst>
                        <p:par>
                          <p:cTn id="194" fill="hold">
                            <p:stCondLst>
                              <p:cond delay="0"/>
                            </p:stCondLst>
                            <p:childTnLst>
                              <p:par>
                                <p:cTn id="195" presetID="2" presetClass="entr" presetSubtype="4" fill="hold" nodeType="clickEffect">
                                  <p:stCondLst>
                                    <p:cond delay="0"/>
                                  </p:stCondLst>
                                  <p:childTnLst>
                                    <p:set>
                                      <p:cBhvr>
                                        <p:cTn id="196" dur="1" fill="hold">
                                          <p:stCondLst>
                                            <p:cond delay="0"/>
                                          </p:stCondLst>
                                        </p:cTn>
                                        <p:tgtEl>
                                          <p:spTgt spid="217"/>
                                        </p:tgtEl>
                                        <p:attrNameLst>
                                          <p:attrName>style.visibility</p:attrName>
                                        </p:attrNameLst>
                                      </p:cBhvr>
                                      <p:to>
                                        <p:strVal val="visible"/>
                                      </p:to>
                                    </p:set>
                                    <p:anim calcmode="lin" valueType="num">
                                      <p:cBhvr additive="base">
                                        <p:cTn id="197" dur="500" fill="hold"/>
                                        <p:tgtEl>
                                          <p:spTgt spid="217"/>
                                        </p:tgtEl>
                                        <p:attrNameLst>
                                          <p:attrName>ppt_x</p:attrName>
                                        </p:attrNameLst>
                                      </p:cBhvr>
                                      <p:tavLst>
                                        <p:tav tm="0">
                                          <p:val>
                                            <p:strVal val="#ppt_x"/>
                                          </p:val>
                                        </p:tav>
                                        <p:tav tm="100000">
                                          <p:val>
                                            <p:strVal val="#ppt_x"/>
                                          </p:val>
                                        </p:tav>
                                      </p:tavLst>
                                    </p:anim>
                                    <p:anim calcmode="lin" valueType="num">
                                      <p:cBhvr additive="base">
                                        <p:cTn id="198" dur="500" fill="hold"/>
                                        <p:tgtEl>
                                          <p:spTgt spid="217"/>
                                        </p:tgtEl>
                                        <p:attrNameLst>
                                          <p:attrName>ppt_y</p:attrName>
                                        </p:attrNameLst>
                                      </p:cBhvr>
                                      <p:tavLst>
                                        <p:tav tm="0">
                                          <p:val>
                                            <p:strVal val="1+#ppt_h/2"/>
                                          </p:val>
                                        </p:tav>
                                        <p:tav tm="100000">
                                          <p:val>
                                            <p:strVal val="#ppt_y"/>
                                          </p:val>
                                        </p:tav>
                                      </p:tavLst>
                                    </p:anim>
                                  </p:childTnLst>
                                </p:cTn>
                              </p:par>
                              <p:par>
                                <p:cTn id="199" presetID="2" presetClass="entr" presetSubtype="4" fill="hold" nodeType="withEffect">
                                  <p:stCondLst>
                                    <p:cond delay="0"/>
                                  </p:stCondLst>
                                  <p:childTnLst>
                                    <p:set>
                                      <p:cBhvr>
                                        <p:cTn id="200" dur="1" fill="hold">
                                          <p:stCondLst>
                                            <p:cond delay="0"/>
                                          </p:stCondLst>
                                        </p:cTn>
                                        <p:tgtEl>
                                          <p:spTgt spid="212"/>
                                        </p:tgtEl>
                                        <p:attrNameLst>
                                          <p:attrName>style.visibility</p:attrName>
                                        </p:attrNameLst>
                                      </p:cBhvr>
                                      <p:to>
                                        <p:strVal val="visible"/>
                                      </p:to>
                                    </p:set>
                                    <p:anim calcmode="lin" valueType="num">
                                      <p:cBhvr additive="base">
                                        <p:cTn id="201" dur="500" fill="hold"/>
                                        <p:tgtEl>
                                          <p:spTgt spid="212"/>
                                        </p:tgtEl>
                                        <p:attrNameLst>
                                          <p:attrName>ppt_x</p:attrName>
                                        </p:attrNameLst>
                                      </p:cBhvr>
                                      <p:tavLst>
                                        <p:tav tm="0">
                                          <p:val>
                                            <p:strVal val="#ppt_x"/>
                                          </p:val>
                                        </p:tav>
                                        <p:tav tm="100000">
                                          <p:val>
                                            <p:strVal val="#ppt_x"/>
                                          </p:val>
                                        </p:tav>
                                      </p:tavLst>
                                    </p:anim>
                                    <p:anim calcmode="lin" valueType="num">
                                      <p:cBhvr additive="base">
                                        <p:cTn id="202" dur="500" fill="hold"/>
                                        <p:tgtEl>
                                          <p:spTgt spid="212"/>
                                        </p:tgtEl>
                                        <p:attrNameLst>
                                          <p:attrName>ppt_y</p:attrName>
                                        </p:attrNameLst>
                                      </p:cBhvr>
                                      <p:tavLst>
                                        <p:tav tm="0">
                                          <p:val>
                                            <p:strVal val="1+#ppt_h/2"/>
                                          </p:val>
                                        </p:tav>
                                        <p:tav tm="100000">
                                          <p:val>
                                            <p:strVal val="#ppt_y"/>
                                          </p:val>
                                        </p:tav>
                                      </p:tavLst>
                                    </p:anim>
                                  </p:childTnLst>
                                </p:cTn>
                              </p:par>
                              <p:par>
                                <p:cTn id="203" presetID="2" presetClass="entr" presetSubtype="4" fill="hold" grpId="0" nodeType="withEffect">
                                  <p:stCondLst>
                                    <p:cond delay="0"/>
                                  </p:stCondLst>
                                  <p:childTnLst>
                                    <p:set>
                                      <p:cBhvr>
                                        <p:cTn id="204" dur="1" fill="hold">
                                          <p:stCondLst>
                                            <p:cond delay="0"/>
                                          </p:stCondLst>
                                        </p:cTn>
                                        <p:tgtEl>
                                          <p:spTgt spid="214"/>
                                        </p:tgtEl>
                                        <p:attrNameLst>
                                          <p:attrName>style.visibility</p:attrName>
                                        </p:attrNameLst>
                                      </p:cBhvr>
                                      <p:to>
                                        <p:strVal val="visible"/>
                                      </p:to>
                                    </p:set>
                                    <p:anim calcmode="lin" valueType="num">
                                      <p:cBhvr additive="base">
                                        <p:cTn id="205" dur="500" fill="hold"/>
                                        <p:tgtEl>
                                          <p:spTgt spid="214"/>
                                        </p:tgtEl>
                                        <p:attrNameLst>
                                          <p:attrName>ppt_x</p:attrName>
                                        </p:attrNameLst>
                                      </p:cBhvr>
                                      <p:tavLst>
                                        <p:tav tm="0">
                                          <p:val>
                                            <p:strVal val="#ppt_x"/>
                                          </p:val>
                                        </p:tav>
                                        <p:tav tm="100000">
                                          <p:val>
                                            <p:strVal val="#ppt_x"/>
                                          </p:val>
                                        </p:tav>
                                      </p:tavLst>
                                    </p:anim>
                                    <p:anim calcmode="lin" valueType="num">
                                      <p:cBhvr additive="base">
                                        <p:cTn id="206" dur="500" fill="hold"/>
                                        <p:tgtEl>
                                          <p:spTgt spid="214"/>
                                        </p:tgtEl>
                                        <p:attrNameLst>
                                          <p:attrName>ppt_y</p:attrName>
                                        </p:attrNameLst>
                                      </p:cBhvr>
                                      <p:tavLst>
                                        <p:tav tm="0">
                                          <p:val>
                                            <p:strVal val="1+#ppt_h/2"/>
                                          </p:val>
                                        </p:tav>
                                        <p:tav tm="100000">
                                          <p:val>
                                            <p:strVal val="#ppt_y"/>
                                          </p:val>
                                        </p:tav>
                                      </p:tavLst>
                                    </p:anim>
                                  </p:childTnLst>
                                </p:cTn>
                              </p:par>
                              <p:par>
                                <p:cTn id="207" presetID="2" presetClass="entr" presetSubtype="4" fill="hold" nodeType="withEffect">
                                  <p:stCondLst>
                                    <p:cond delay="0"/>
                                  </p:stCondLst>
                                  <p:childTnLst>
                                    <p:set>
                                      <p:cBhvr>
                                        <p:cTn id="208" dur="1" fill="hold">
                                          <p:stCondLst>
                                            <p:cond delay="0"/>
                                          </p:stCondLst>
                                        </p:cTn>
                                        <p:tgtEl>
                                          <p:spTgt spid="207"/>
                                        </p:tgtEl>
                                        <p:attrNameLst>
                                          <p:attrName>style.visibility</p:attrName>
                                        </p:attrNameLst>
                                      </p:cBhvr>
                                      <p:to>
                                        <p:strVal val="visible"/>
                                      </p:to>
                                    </p:set>
                                    <p:anim calcmode="lin" valueType="num">
                                      <p:cBhvr additive="base">
                                        <p:cTn id="209" dur="500" fill="hold"/>
                                        <p:tgtEl>
                                          <p:spTgt spid="207"/>
                                        </p:tgtEl>
                                        <p:attrNameLst>
                                          <p:attrName>ppt_x</p:attrName>
                                        </p:attrNameLst>
                                      </p:cBhvr>
                                      <p:tavLst>
                                        <p:tav tm="0">
                                          <p:val>
                                            <p:strVal val="#ppt_x"/>
                                          </p:val>
                                        </p:tav>
                                        <p:tav tm="100000">
                                          <p:val>
                                            <p:strVal val="#ppt_x"/>
                                          </p:val>
                                        </p:tav>
                                      </p:tavLst>
                                    </p:anim>
                                    <p:anim calcmode="lin" valueType="num">
                                      <p:cBhvr additive="base">
                                        <p:cTn id="210" dur="500" fill="hold"/>
                                        <p:tgtEl>
                                          <p:spTgt spid="207"/>
                                        </p:tgtEl>
                                        <p:attrNameLst>
                                          <p:attrName>ppt_y</p:attrName>
                                        </p:attrNameLst>
                                      </p:cBhvr>
                                      <p:tavLst>
                                        <p:tav tm="0">
                                          <p:val>
                                            <p:strVal val="1+#ppt_h/2"/>
                                          </p:val>
                                        </p:tav>
                                        <p:tav tm="100000">
                                          <p:val>
                                            <p:strVal val="#ppt_y"/>
                                          </p:val>
                                        </p:tav>
                                      </p:tavLst>
                                    </p:anim>
                                  </p:childTnLst>
                                </p:cTn>
                              </p:par>
                              <p:par>
                                <p:cTn id="211" presetID="2" presetClass="entr" presetSubtype="4" fill="hold" nodeType="withEffect">
                                  <p:stCondLst>
                                    <p:cond delay="0"/>
                                  </p:stCondLst>
                                  <p:childTnLst>
                                    <p:set>
                                      <p:cBhvr>
                                        <p:cTn id="212" dur="1" fill="hold">
                                          <p:stCondLst>
                                            <p:cond delay="0"/>
                                          </p:stCondLst>
                                        </p:cTn>
                                        <p:tgtEl>
                                          <p:spTgt spid="210"/>
                                        </p:tgtEl>
                                        <p:attrNameLst>
                                          <p:attrName>style.visibility</p:attrName>
                                        </p:attrNameLst>
                                      </p:cBhvr>
                                      <p:to>
                                        <p:strVal val="visible"/>
                                      </p:to>
                                    </p:set>
                                    <p:anim calcmode="lin" valueType="num">
                                      <p:cBhvr additive="base">
                                        <p:cTn id="213" dur="500" fill="hold"/>
                                        <p:tgtEl>
                                          <p:spTgt spid="210"/>
                                        </p:tgtEl>
                                        <p:attrNameLst>
                                          <p:attrName>ppt_x</p:attrName>
                                        </p:attrNameLst>
                                      </p:cBhvr>
                                      <p:tavLst>
                                        <p:tav tm="0">
                                          <p:val>
                                            <p:strVal val="#ppt_x"/>
                                          </p:val>
                                        </p:tav>
                                        <p:tav tm="100000">
                                          <p:val>
                                            <p:strVal val="#ppt_x"/>
                                          </p:val>
                                        </p:tav>
                                      </p:tavLst>
                                    </p:anim>
                                    <p:anim calcmode="lin" valueType="num">
                                      <p:cBhvr additive="base">
                                        <p:cTn id="214" dur="500" fill="hold"/>
                                        <p:tgtEl>
                                          <p:spTgt spid="210"/>
                                        </p:tgtEl>
                                        <p:attrNameLst>
                                          <p:attrName>ppt_y</p:attrName>
                                        </p:attrNameLst>
                                      </p:cBhvr>
                                      <p:tavLst>
                                        <p:tav tm="0">
                                          <p:val>
                                            <p:strVal val="1+#ppt_h/2"/>
                                          </p:val>
                                        </p:tav>
                                        <p:tav tm="100000">
                                          <p:val>
                                            <p:strVal val="#ppt_y"/>
                                          </p:val>
                                        </p:tav>
                                      </p:tavLst>
                                    </p:anim>
                                  </p:childTnLst>
                                </p:cTn>
                              </p:par>
                            </p:childTnLst>
                          </p:cTn>
                        </p:par>
                      </p:childTnLst>
                    </p:cTn>
                  </p:par>
                  <p:par>
                    <p:cTn id="215" fill="hold">
                      <p:stCondLst>
                        <p:cond delay="indefinite"/>
                      </p:stCondLst>
                      <p:childTnLst>
                        <p:par>
                          <p:cTn id="216" fill="hold">
                            <p:stCondLst>
                              <p:cond delay="0"/>
                            </p:stCondLst>
                            <p:childTnLst>
                              <p:par>
                                <p:cTn id="217" presetID="2" presetClass="entr" presetSubtype="4" fill="hold" nodeType="clickEffect">
                                  <p:stCondLst>
                                    <p:cond delay="0"/>
                                  </p:stCondLst>
                                  <p:childTnLst>
                                    <p:set>
                                      <p:cBhvr>
                                        <p:cTn id="218" dur="1" fill="hold">
                                          <p:stCondLst>
                                            <p:cond delay="0"/>
                                          </p:stCondLst>
                                        </p:cTn>
                                        <p:tgtEl>
                                          <p:spTgt spid="220"/>
                                        </p:tgtEl>
                                        <p:attrNameLst>
                                          <p:attrName>style.visibility</p:attrName>
                                        </p:attrNameLst>
                                      </p:cBhvr>
                                      <p:to>
                                        <p:strVal val="visible"/>
                                      </p:to>
                                    </p:set>
                                    <p:anim calcmode="lin" valueType="num">
                                      <p:cBhvr additive="base">
                                        <p:cTn id="219" dur="500" fill="hold"/>
                                        <p:tgtEl>
                                          <p:spTgt spid="220"/>
                                        </p:tgtEl>
                                        <p:attrNameLst>
                                          <p:attrName>ppt_x</p:attrName>
                                        </p:attrNameLst>
                                      </p:cBhvr>
                                      <p:tavLst>
                                        <p:tav tm="0">
                                          <p:val>
                                            <p:strVal val="#ppt_x"/>
                                          </p:val>
                                        </p:tav>
                                        <p:tav tm="100000">
                                          <p:val>
                                            <p:strVal val="#ppt_x"/>
                                          </p:val>
                                        </p:tav>
                                      </p:tavLst>
                                    </p:anim>
                                    <p:anim calcmode="lin" valueType="num">
                                      <p:cBhvr additive="base">
                                        <p:cTn id="220" dur="500" fill="hold"/>
                                        <p:tgtEl>
                                          <p:spTgt spid="220"/>
                                        </p:tgtEl>
                                        <p:attrNameLst>
                                          <p:attrName>ppt_y</p:attrName>
                                        </p:attrNameLst>
                                      </p:cBhvr>
                                      <p:tavLst>
                                        <p:tav tm="0">
                                          <p:val>
                                            <p:strVal val="1+#ppt_h/2"/>
                                          </p:val>
                                        </p:tav>
                                        <p:tav tm="100000">
                                          <p:val>
                                            <p:strVal val="#ppt_y"/>
                                          </p:val>
                                        </p:tav>
                                      </p:tavLst>
                                    </p:anim>
                                  </p:childTnLst>
                                </p:cTn>
                              </p:par>
                              <p:par>
                                <p:cTn id="221" presetID="2" presetClass="entr" presetSubtype="4" fill="hold" nodeType="withEffect">
                                  <p:stCondLst>
                                    <p:cond delay="0"/>
                                  </p:stCondLst>
                                  <p:childTnLst>
                                    <p:set>
                                      <p:cBhvr>
                                        <p:cTn id="222" dur="1" fill="hold">
                                          <p:stCondLst>
                                            <p:cond delay="0"/>
                                          </p:stCondLst>
                                        </p:cTn>
                                        <p:tgtEl>
                                          <p:spTgt spid="221"/>
                                        </p:tgtEl>
                                        <p:attrNameLst>
                                          <p:attrName>style.visibility</p:attrName>
                                        </p:attrNameLst>
                                      </p:cBhvr>
                                      <p:to>
                                        <p:strVal val="visible"/>
                                      </p:to>
                                    </p:set>
                                    <p:anim calcmode="lin" valueType="num">
                                      <p:cBhvr additive="base">
                                        <p:cTn id="223" dur="500" fill="hold"/>
                                        <p:tgtEl>
                                          <p:spTgt spid="221"/>
                                        </p:tgtEl>
                                        <p:attrNameLst>
                                          <p:attrName>ppt_x</p:attrName>
                                        </p:attrNameLst>
                                      </p:cBhvr>
                                      <p:tavLst>
                                        <p:tav tm="0">
                                          <p:val>
                                            <p:strVal val="#ppt_x"/>
                                          </p:val>
                                        </p:tav>
                                        <p:tav tm="100000">
                                          <p:val>
                                            <p:strVal val="#ppt_x"/>
                                          </p:val>
                                        </p:tav>
                                      </p:tavLst>
                                    </p:anim>
                                    <p:anim calcmode="lin" valueType="num">
                                      <p:cBhvr additive="base">
                                        <p:cTn id="224" dur="500" fill="hold"/>
                                        <p:tgtEl>
                                          <p:spTgt spid="221"/>
                                        </p:tgtEl>
                                        <p:attrNameLst>
                                          <p:attrName>ppt_y</p:attrName>
                                        </p:attrNameLst>
                                      </p:cBhvr>
                                      <p:tavLst>
                                        <p:tav tm="0">
                                          <p:val>
                                            <p:strVal val="1+#ppt_h/2"/>
                                          </p:val>
                                        </p:tav>
                                        <p:tav tm="100000">
                                          <p:val>
                                            <p:strVal val="#ppt_y"/>
                                          </p:val>
                                        </p:tav>
                                      </p:tavLst>
                                    </p:anim>
                                  </p:childTnLst>
                                </p:cTn>
                              </p:par>
                              <p:par>
                                <p:cTn id="225" presetID="2" presetClass="entr" presetSubtype="4" fill="hold" nodeType="withEffect">
                                  <p:stCondLst>
                                    <p:cond delay="0"/>
                                  </p:stCondLst>
                                  <p:childTnLst>
                                    <p:set>
                                      <p:cBhvr>
                                        <p:cTn id="226" dur="1" fill="hold">
                                          <p:stCondLst>
                                            <p:cond delay="0"/>
                                          </p:stCondLst>
                                        </p:cTn>
                                        <p:tgtEl>
                                          <p:spTgt spid="219"/>
                                        </p:tgtEl>
                                        <p:attrNameLst>
                                          <p:attrName>style.visibility</p:attrName>
                                        </p:attrNameLst>
                                      </p:cBhvr>
                                      <p:to>
                                        <p:strVal val="visible"/>
                                      </p:to>
                                    </p:set>
                                    <p:anim calcmode="lin" valueType="num">
                                      <p:cBhvr additive="base">
                                        <p:cTn id="227" dur="500" fill="hold"/>
                                        <p:tgtEl>
                                          <p:spTgt spid="219"/>
                                        </p:tgtEl>
                                        <p:attrNameLst>
                                          <p:attrName>ppt_x</p:attrName>
                                        </p:attrNameLst>
                                      </p:cBhvr>
                                      <p:tavLst>
                                        <p:tav tm="0">
                                          <p:val>
                                            <p:strVal val="#ppt_x"/>
                                          </p:val>
                                        </p:tav>
                                        <p:tav tm="100000">
                                          <p:val>
                                            <p:strVal val="#ppt_x"/>
                                          </p:val>
                                        </p:tav>
                                      </p:tavLst>
                                    </p:anim>
                                    <p:anim calcmode="lin" valueType="num">
                                      <p:cBhvr additive="base">
                                        <p:cTn id="228" dur="500" fill="hold"/>
                                        <p:tgtEl>
                                          <p:spTgt spid="219"/>
                                        </p:tgtEl>
                                        <p:attrNameLst>
                                          <p:attrName>ppt_y</p:attrName>
                                        </p:attrNameLst>
                                      </p:cBhvr>
                                      <p:tavLst>
                                        <p:tav tm="0">
                                          <p:val>
                                            <p:strVal val="1+#ppt_h/2"/>
                                          </p:val>
                                        </p:tav>
                                        <p:tav tm="100000">
                                          <p:val>
                                            <p:strVal val="#ppt_y"/>
                                          </p:val>
                                        </p:tav>
                                      </p:tavLst>
                                    </p:anim>
                                  </p:childTnLst>
                                </p:cTn>
                              </p:par>
                              <p:par>
                                <p:cTn id="229" presetID="2" presetClass="entr" presetSubtype="4" fill="hold" nodeType="withEffect">
                                  <p:stCondLst>
                                    <p:cond delay="0"/>
                                  </p:stCondLst>
                                  <p:childTnLst>
                                    <p:set>
                                      <p:cBhvr>
                                        <p:cTn id="230" dur="1" fill="hold">
                                          <p:stCondLst>
                                            <p:cond delay="0"/>
                                          </p:stCondLst>
                                        </p:cTn>
                                        <p:tgtEl>
                                          <p:spTgt spid="235"/>
                                        </p:tgtEl>
                                        <p:attrNameLst>
                                          <p:attrName>style.visibility</p:attrName>
                                        </p:attrNameLst>
                                      </p:cBhvr>
                                      <p:to>
                                        <p:strVal val="visible"/>
                                      </p:to>
                                    </p:set>
                                    <p:anim calcmode="lin" valueType="num">
                                      <p:cBhvr additive="base">
                                        <p:cTn id="231" dur="500" fill="hold"/>
                                        <p:tgtEl>
                                          <p:spTgt spid="235"/>
                                        </p:tgtEl>
                                        <p:attrNameLst>
                                          <p:attrName>ppt_x</p:attrName>
                                        </p:attrNameLst>
                                      </p:cBhvr>
                                      <p:tavLst>
                                        <p:tav tm="0">
                                          <p:val>
                                            <p:strVal val="#ppt_x"/>
                                          </p:val>
                                        </p:tav>
                                        <p:tav tm="100000">
                                          <p:val>
                                            <p:strVal val="#ppt_x"/>
                                          </p:val>
                                        </p:tav>
                                      </p:tavLst>
                                    </p:anim>
                                    <p:anim calcmode="lin" valueType="num">
                                      <p:cBhvr additive="base">
                                        <p:cTn id="232" dur="500" fill="hold"/>
                                        <p:tgtEl>
                                          <p:spTgt spid="235"/>
                                        </p:tgtEl>
                                        <p:attrNameLst>
                                          <p:attrName>ppt_y</p:attrName>
                                        </p:attrNameLst>
                                      </p:cBhvr>
                                      <p:tavLst>
                                        <p:tav tm="0">
                                          <p:val>
                                            <p:strVal val="1+#ppt_h/2"/>
                                          </p:val>
                                        </p:tav>
                                        <p:tav tm="100000">
                                          <p:val>
                                            <p:strVal val="#ppt_y"/>
                                          </p:val>
                                        </p:tav>
                                      </p:tavLst>
                                    </p:anim>
                                  </p:childTnLst>
                                </p:cTn>
                              </p:par>
                              <p:par>
                                <p:cTn id="233" presetID="2" presetClass="entr" presetSubtype="4" fill="hold" nodeType="withEffect">
                                  <p:stCondLst>
                                    <p:cond delay="0"/>
                                  </p:stCondLst>
                                  <p:childTnLst>
                                    <p:set>
                                      <p:cBhvr>
                                        <p:cTn id="234" dur="1" fill="hold">
                                          <p:stCondLst>
                                            <p:cond delay="0"/>
                                          </p:stCondLst>
                                        </p:cTn>
                                        <p:tgtEl>
                                          <p:spTgt spid="236"/>
                                        </p:tgtEl>
                                        <p:attrNameLst>
                                          <p:attrName>style.visibility</p:attrName>
                                        </p:attrNameLst>
                                      </p:cBhvr>
                                      <p:to>
                                        <p:strVal val="visible"/>
                                      </p:to>
                                    </p:set>
                                    <p:anim calcmode="lin" valueType="num">
                                      <p:cBhvr additive="base">
                                        <p:cTn id="235" dur="500" fill="hold"/>
                                        <p:tgtEl>
                                          <p:spTgt spid="236"/>
                                        </p:tgtEl>
                                        <p:attrNameLst>
                                          <p:attrName>ppt_x</p:attrName>
                                        </p:attrNameLst>
                                      </p:cBhvr>
                                      <p:tavLst>
                                        <p:tav tm="0">
                                          <p:val>
                                            <p:strVal val="#ppt_x"/>
                                          </p:val>
                                        </p:tav>
                                        <p:tav tm="100000">
                                          <p:val>
                                            <p:strVal val="#ppt_x"/>
                                          </p:val>
                                        </p:tav>
                                      </p:tavLst>
                                    </p:anim>
                                    <p:anim calcmode="lin" valueType="num">
                                      <p:cBhvr additive="base">
                                        <p:cTn id="236" dur="500" fill="hold"/>
                                        <p:tgtEl>
                                          <p:spTgt spid="236"/>
                                        </p:tgtEl>
                                        <p:attrNameLst>
                                          <p:attrName>ppt_y</p:attrName>
                                        </p:attrNameLst>
                                      </p:cBhvr>
                                      <p:tavLst>
                                        <p:tav tm="0">
                                          <p:val>
                                            <p:strVal val="1+#ppt_h/2"/>
                                          </p:val>
                                        </p:tav>
                                        <p:tav tm="100000">
                                          <p:val>
                                            <p:strVal val="#ppt_y"/>
                                          </p:val>
                                        </p:tav>
                                      </p:tavLst>
                                    </p:anim>
                                  </p:childTnLst>
                                </p:cTn>
                              </p:par>
                              <p:par>
                                <p:cTn id="237" presetID="2" presetClass="entr" presetSubtype="4" fill="hold" nodeType="withEffect">
                                  <p:stCondLst>
                                    <p:cond delay="0"/>
                                  </p:stCondLst>
                                  <p:childTnLst>
                                    <p:set>
                                      <p:cBhvr>
                                        <p:cTn id="238" dur="1" fill="hold">
                                          <p:stCondLst>
                                            <p:cond delay="0"/>
                                          </p:stCondLst>
                                        </p:cTn>
                                        <p:tgtEl>
                                          <p:spTgt spid="228"/>
                                        </p:tgtEl>
                                        <p:attrNameLst>
                                          <p:attrName>style.visibility</p:attrName>
                                        </p:attrNameLst>
                                      </p:cBhvr>
                                      <p:to>
                                        <p:strVal val="visible"/>
                                      </p:to>
                                    </p:set>
                                    <p:anim calcmode="lin" valueType="num">
                                      <p:cBhvr additive="base">
                                        <p:cTn id="239" dur="500" fill="hold"/>
                                        <p:tgtEl>
                                          <p:spTgt spid="228"/>
                                        </p:tgtEl>
                                        <p:attrNameLst>
                                          <p:attrName>ppt_x</p:attrName>
                                        </p:attrNameLst>
                                      </p:cBhvr>
                                      <p:tavLst>
                                        <p:tav tm="0">
                                          <p:val>
                                            <p:strVal val="#ppt_x"/>
                                          </p:val>
                                        </p:tav>
                                        <p:tav tm="100000">
                                          <p:val>
                                            <p:strVal val="#ppt_x"/>
                                          </p:val>
                                        </p:tav>
                                      </p:tavLst>
                                    </p:anim>
                                    <p:anim calcmode="lin" valueType="num">
                                      <p:cBhvr additive="base">
                                        <p:cTn id="240" dur="500" fill="hold"/>
                                        <p:tgtEl>
                                          <p:spTgt spid="228"/>
                                        </p:tgtEl>
                                        <p:attrNameLst>
                                          <p:attrName>ppt_y</p:attrName>
                                        </p:attrNameLst>
                                      </p:cBhvr>
                                      <p:tavLst>
                                        <p:tav tm="0">
                                          <p:val>
                                            <p:strVal val="1+#ppt_h/2"/>
                                          </p:val>
                                        </p:tav>
                                        <p:tav tm="100000">
                                          <p:val>
                                            <p:strVal val="#ppt_y"/>
                                          </p:val>
                                        </p:tav>
                                      </p:tavLst>
                                    </p:anim>
                                  </p:childTnLst>
                                </p:cTn>
                              </p:par>
                              <p:par>
                                <p:cTn id="241" presetID="2" presetClass="entr" presetSubtype="4" fill="hold" nodeType="withEffect">
                                  <p:stCondLst>
                                    <p:cond delay="0"/>
                                  </p:stCondLst>
                                  <p:childTnLst>
                                    <p:set>
                                      <p:cBhvr>
                                        <p:cTn id="242" dur="1" fill="hold">
                                          <p:stCondLst>
                                            <p:cond delay="0"/>
                                          </p:stCondLst>
                                        </p:cTn>
                                        <p:tgtEl>
                                          <p:spTgt spid="223"/>
                                        </p:tgtEl>
                                        <p:attrNameLst>
                                          <p:attrName>style.visibility</p:attrName>
                                        </p:attrNameLst>
                                      </p:cBhvr>
                                      <p:to>
                                        <p:strVal val="visible"/>
                                      </p:to>
                                    </p:set>
                                    <p:anim calcmode="lin" valueType="num">
                                      <p:cBhvr additive="base">
                                        <p:cTn id="243" dur="500" fill="hold"/>
                                        <p:tgtEl>
                                          <p:spTgt spid="223"/>
                                        </p:tgtEl>
                                        <p:attrNameLst>
                                          <p:attrName>ppt_x</p:attrName>
                                        </p:attrNameLst>
                                      </p:cBhvr>
                                      <p:tavLst>
                                        <p:tav tm="0">
                                          <p:val>
                                            <p:strVal val="#ppt_x"/>
                                          </p:val>
                                        </p:tav>
                                        <p:tav tm="100000">
                                          <p:val>
                                            <p:strVal val="#ppt_x"/>
                                          </p:val>
                                        </p:tav>
                                      </p:tavLst>
                                    </p:anim>
                                    <p:anim calcmode="lin" valueType="num">
                                      <p:cBhvr additive="base">
                                        <p:cTn id="244" dur="500" fill="hold"/>
                                        <p:tgtEl>
                                          <p:spTgt spid="223"/>
                                        </p:tgtEl>
                                        <p:attrNameLst>
                                          <p:attrName>ppt_y</p:attrName>
                                        </p:attrNameLst>
                                      </p:cBhvr>
                                      <p:tavLst>
                                        <p:tav tm="0">
                                          <p:val>
                                            <p:strVal val="1+#ppt_h/2"/>
                                          </p:val>
                                        </p:tav>
                                        <p:tav tm="100000">
                                          <p:val>
                                            <p:strVal val="#ppt_y"/>
                                          </p:val>
                                        </p:tav>
                                      </p:tavLst>
                                    </p:anim>
                                  </p:childTnLst>
                                </p:cTn>
                              </p:par>
                              <p:par>
                                <p:cTn id="245" presetID="2" presetClass="entr" presetSubtype="4" fill="hold" nodeType="withEffect">
                                  <p:stCondLst>
                                    <p:cond delay="0"/>
                                  </p:stCondLst>
                                  <p:childTnLst>
                                    <p:set>
                                      <p:cBhvr>
                                        <p:cTn id="246" dur="1" fill="hold">
                                          <p:stCondLst>
                                            <p:cond delay="0"/>
                                          </p:stCondLst>
                                        </p:cTn>
                                        <p:tgtEl>
                                          <p:spTgt spid="224"/>
                                        </p:tgtEl>
                                        <p:attrNameLst>
                                          <p:attrName>style.visibility</p:attrName>
                                        </p:attrNameLst>
                                      </p:cBhvr>
                                      <p:to>
                                        <p:strVal val="visible"/>
                                      </p:to>
                                    </p:set>
                                    <p:anim calcmode="lin" valueType="num">
                                      <p:cBhvr additive="base">
                                        <p:cTn id="247" dur="500" fill="hold"/>
                                        <p:tgtEl>
                                          <p:spTgt spid="224"/>
                                        </p:tgtEl>
                                        <p:attrNameLst>
                                          <p:attrName>ppt_x</p:attrName>
                                        </p:attrNameLst>
                                      </p:cBhvr>
                                      <p:tavLst>
                                        <p:tav tm="0">
                                          <p:val>
                                            <p:strVal val="#ppt_x"/>
                                          </p:val>
                                        </p:tav>
                                        <p:tav tm="100000">
                                          <p:val>
                                            <p:strVal val="#ppt_x"/>
                                          </p:val>
                                        </p:tav>
                                      </p:tavLst>
                                    </p:anim>
                                    <p:anim calcmode="lin" valueType="num">
                                      <p:cBhvr additive="base">
                                        <p:cTn id="248" dur="500" fill="hold"/>
                                        <p:tgtEl>
                                          <p:spTgt spid="224"/>
                                        </p:tgtEl>
                                        <p:attrNameLst>
                                          <p:attrName>ppt_y</p:attrName>
                                        </p:attrNameLst>
                                      </p:cBhvr>
                                      <p:tavLst>
                                        <p:tav tm="0">
                                          <p:val>
                                            <p:strVal val="1+#ppt_h/2"/>
                                          </p:val>
                                        </p:tav>
                                        <p:tav tm="100000">
                                          <p:val>
                                            <p:strVal val="#ppt_y"/>
                                          </p:val>
                                        </p:tav>
                                      </p:tavLst>
                                    </p:anim>
                                  </p:childTnLst>
                                </p:cTn>
                              </p:par>
                              <p:par>
                                <p:cTn id="249" presetID="2" presetClass="entr" presetSubtype="4" fill="hold" nodeType="withEffect">
                                  <p:stCondLst>
                                    <p:cond delay="0"/>
                                  </p:stCondLst>
                                  <p:childTnLst>
                                    <p:set>
                                      <p:cBhvr>
                                        <p:cTn id="250" dur="1" fill="hold">
                                          <p:stCondLst>
                                            <p:cond delay="0"/>
                                          </p:stCondLst>
                                        </p:cTn>
                                        <p:tgtEl>
                                          <p:spTgt spid="225"/>
                                        </p:tgtEl>
                                        <p:attrNameLst>
                                          <p:attrName>style.visibility</p:attrName>
                                        </p:attrNameLst>
                                      </p:cBhvr>
                                      <p:to>
                                        <p:strVal val="visible"/>
                                      </p:to>
                                    </p:set>
                                    <p:anim calcmode="lin" valueType="num">
                                      <p:cBhvr additive="base">
                                        <p:cTn id="251" dur="500" fill="hold"/>
                                        <p:tgtEl>
                                          <p:spTgt spid="225"/>
                                        </p:tgtEl>
                                        <p:attrNameLst>
                                          <p:attrName>ppt_x</p:attrName>
                                        </p:attrNameLst>
                                      </p:cBhvr>
                                      <p:tavLst>
                                        <p:tav tm="0">
                                          <p:val>
                                            <p:strVal val="#ppt_x"/>
                                          </p:val>
                                        </p:tav>
                                        <p:tav tm="100000">
                                          <p:val>
                                            <p:strVal val="#ppt_x"/>
                                          </p:val>
                                        </p:tav>
                                      </p:tavLst>
                                    </p:anim>
                                    <p:anim calcmode="lin" valueType="num">
                                      <p:cBhvr additive="base">
                                        <p:cTn id="252" dur="500" fill="hold"/>
                                        <p:tgtEl>
                                          <p:spTgt spid="225"/>
                                        </p:tgtEl>
                                        <p:attrNameLst>
                                          <p:attrName>ppt_y</p:attrName>
                                        </p:attrNameLst>
                                      </p:cBhvr>
                                      <p:tavLst>
                                        <p:tav tm="0">
                                          <p:val>
                                            <p:strVal val="1+#ppt_h/2"/>
                                          </p:val>
                                        </p:tav>
                                        <p:tav tm="100000">
                                          <p:val>
                                            <p:strVal val="#ppt_y"/>
                                          </p:val>
                                        </p:tav>
                                      </p:tavLst>
                                    </p:anim>
                                  </p:childTnLst>
                                </p:cTn>
                              </p:par>
                              <p:par>
                                <p:cTn id="253" presetID="2" presetClass="entr" presetSubtype="4" fill="hold" grpId="0" nodeType="withEffect">
                                  <p:stCondLst>
                                    <p:cond delay="0"/>
                                  </p:stCondLst>
                                  <p:childTnLst>
                                    <p:set>
                                      <p:cBhvr>
                                        <p:cTn id="254" dur="1" fill="hold">
                                          <p:stCondLst>
                                            <p:cond delay="0"/>
                                          </p:stCondLst>
                                        </p:cTn>
                                        <p:tgtEl>
                                          <p:spTgt spid="249"/>
                                        </p:tgtEl>
                                        <p:attrNameLst>
                                          <p:attrName>style.visibility</p:attrName>
                                        </p:attrNameLst>
                                      </p:cBhvr>
                                      <p:to>
                                        <p:strVal val="visible"/>
                                      </p:to>
                                    </p:set>
                                    <p:anim calcmode="lin" valueType="num">
                                      <p:cBhvr additive="base">
                                        <p:cTn id="255" dur="500" fill="hold"/>
                                        <p:tgtEl>
                                          <p:spTgt spid="249"/>
                                        </p:tgtEl>
                                        <p:attrNameLst>
                                          <p:attrName>ppt_x</p:attrName>
                                        </p:attrNameLst>
                                      </p:cBhvr>
                                      <p:tavLst>
                                        <p:tav tm="0">
                                          <p:val>
                                            <p:strVal val="#ppt_x"/>
                                          </p:val>
                                        </p:tav>
                                        <p:tav tm="100000">
                                          <p:val>
                                            <p:strVal val="#ppt_x"/>
                                          </p:val>
                                        </p:tav>
                                      </p:tavLst>
                                    </p:anim>
                                    <p:anim calcmode="lin" valueType="num">
                                      <p:cBhvr additive="base">
                                        <p:cTn id="256" dur="500" fill="hold"/>
                                        <p:tgtEl>
                                          <p:spTgt spid="249"/>
                                        </p:tgtEl>
                                        <p:attrNameLst>
                                          <p:attrName>ppt_y</p:attrName>
                                        </p:attrNameLst>
                                      </p:cBhvr>
                                      <p:tavLst>
                                        <p:tav tm="0">
                                          <p:val>
                                            <p:strVal val="1+#ppt_h/2"/>
                                          </p:val>
                                        </p:tav>
                                        <p:tav tm="100000">
                                          <p:val>
                                            <p:strVal val="#ppt_y"/>
                                          </p:val>
                                        </p:tav>
                                      </p:tavLst>
                                    </p:anim>
                                  </p:childTnLst>
                                </p:cTn>
                              </p:par>
                              <p:par>
                                <p:cTn id="257" presetID="2" presetClass="entr" presetSubtype="4" fill="hold" grpId="0" nodeType="withEffect">
                                  <p:stCondLst>
                                    <p:cond delay="0"/>
                                  </p:stCondLst>
                                  <p:childTnLst>
                                    <p:set>
                                      <p:cBhvr>
                                        <p:cTn id="258" dur="1" fill="hold">
                                          <p:stCondLst>
                                            <p:cond delay="0"/>
                                          </p:stCondLst>
                                        </p:cTn>
                                        <p:tgtEl>
                                          <p:spTgt spid="248"/>
                                        </p:tgtEl>
                                        <p:attrNameLst>
                                          <p:attrName>style.visibility</p:attrName>
                                        </p:attrNameLst>
                                      </p:cBhvr>
                                      <p:to>
                                        <p:strVal val="visible"/>
                                      </p:to>
                                    </p:set>
                                    <p:anim calcmode="lin" valueType="num">
                                      <p:cBhvr additive="base">
                                        <p:cTn id="259" dur="500" fill="hold"/>
                                        <p:tgtEl>
                                          <p:spTgt spid="248"/>
                                        </p:tgtEl>
                                        <p:attrNameLst>
                                          <p:attrName>ppt_x</p:attrName>
                                        </p:attrNameLst>
                                      </p:cBhvr>
                                      <p:tavLst>
                                        <p:tav tm="0">
                                          <p:val>
                                            <p:strVal val="#ppt_x"/>
                                          </p:val>
                                        </p:tav>
                                        <p:tav tm="100000">
                                          <p:val>
                                            <p:strVal val="#ppt_x"/>
                                          </p:val>
                                        </p:tav>
                                      </p:tavLst>
                                    </p:anim>
                                    <p:anim calcmode="lin" valueType="num">
                                      <p:cBhvr additive="base">
                                        <p:cTn id="260" dur="500" fill="hold"/>
                                        <p:tgtEl>
                                          <p:spTgt spid="248"/>
                                        </p:tgtEl>
                                        <p:attrNameLst>
                                          <p:attrName>ppt_y</p:attrName>
                                        </p:attrNameLst>
                                      </p:cBhvr>
                                      <p:tavLst>
                                        <p:tav tm="0">
                                          <p:val>
                                            <p:strVal val="1+#ppt_h/2"/>
                                          </p:val>
                                        </p:tav>
                                        <p:tav tm="100000">
                                          <p:val>
                                            <p:strVal val="#ppt_y"/>
                                          </p:val>
                                        </p:tav>
                                      </p:tavLst>
                                    </p:anim>
                                  </p:childTnLst>
                                </p:cTn>
                              </p:par>
                            </p:childTnLst>
                          </p:cTn>
                        </p:par>
                      </p:childTnLst>
                    </p:cTn>
                  </p:par>
                  <p:par>
                    <p:cTn id="261" fill="hold">
                      <p:stCondLst>
                        <p:cond delay="indefinite"/>
                      </p:stCondLst>
                      <p:childTnLst>
                        <p:par>
                          <p:cTn id="262" fill="hold">
                            <p:stCondLst>
                              <p:cond delay="0"/>
                            </p:stCondLst>
                            <p:childTnLst>
                              <p:par>
                                <p:cTn id="263" presetID="2" presetClass="entr" presetSubtype="4" fill="hold" grpId="0" nodeType="clickEffect">
                                  <p:stCondLst>
                                    <p:cond delay="0"/>
                                  </p:stCondLst>
                                  <p:childTnLst>
                                    <p:set>
                                      <p:cBhvr>
                                        <p:cTn id="264" dur="1" fill="hold">
                                          <p:stCondLst>
                                            <p:cond delay="0"/>
                                          </p:stCondLst>
                                        </p:cTn>
                                        <p:tgtEl>
                                          <p:spTgt spid="257"/>
                                        </p:tgtEl>
                                        <p:attrNameLst>
                                          <p:attrName>style.visibility</p:attrName>
                                        </p:attrNameLst>
                                      </p:cBhvr>
                                      <p:to>
                                        <p:strVal val="visible"/>
                                      </p:to>
                                    </p:set>
                                    <p:anim calcmode="lin" valueType="num">
                                      <p:cBhvr additive="base">
                                        <p:cTn id="265" dur="500" fill="hold"/>
                                        <p:tgtEl>
                                          <p:spTgt spid="257"/>
                                        </p:tgtEl>
                                        <p:attrNameLst>
                                          <p:attrName>ppt_x</p:attrName>
                                        </p:attrNameLst>
                                      </p:cBhvr>
                                      <p:tavLst>
                                        <p:tav tm="0">
                                          <p:val>
                                            <p:strVal val="#ppt_x"/>
                                          </p:val>
                                        </p:tav>
                                        <p:tav tm="100000">
                                          <p:val>
                                            <p:strVal val="#ppt_x"/>
                                          </p:val>
                                        </p:tav>
                                      </p:tavLst>
                                    </p:anim>
                                    <p:anim calcmode="lin" valueType="num">
                                      <p:cBhvr additive="base">
                                        <p:cTn id="266" dur="500" fill="hold"/>
                                        <p:tgtEl>
                                          <p:spTgt spid="257"/>
                                        </p:tgtEl>
                                        <p:attrNameLst>
                                          <p:attrName>ppt_y</p:attrName>
                                        </p:attrNameLst>
                                      </p:cBhvr>
                                      <p:tavLst>
                                        <p:tav tm="0">
                                          <p:val>
                                            <p:strVal val="1+#ppt_h/2"/>
                                          </p:val>
                                        </p:tav>
                                        <p:tav tm="100000">
                                          <p:val>
                                            <p:strVal val="#ppt_y"/>
                                          </p:val>
                                        </p:tav>
                                      </p:tavLst>
                                    </p:anim>
                                  </p:childTnLst>
                                </p:cTn>
                              </p:par>
                              <p:par>
                                <p:cTn id="267" presetID="2" presetClass="entr" presetSubtype="4" fill="hold" grpId="0" nodeType="withEffect">
                                  <p:stCondLst>
                                    <p:cond delay="0"/>
                                  </p:stCondLst>
                                  <p:childTnLst>
                                    <p:set>
                                      <p:cBhvr>
                                        <p:cTn id="268" dur="1" fill="hold">
                                          <p:stCondLst>
                                            <p:cond delay="0"/>
                                          </p:stCondLst>
                                        </p:cTn>
                                        <p:tgtEl>
                                          <p:spTgt spid="258"/>
                                        </p:tgtEl>
                                        <p:attrNameLst>
                                          <p:attrName>style.visibility</p:attrName>
                                        </p:attrNameLst>
                                      </p:cBhvr>
                                      <p:to>
                                        <p:strVal val="visible"/>
                                      </p:to>
                                    </p:set>
                                    <p:anim calcmode="lin" valueType="num">
                                      <p:cBhvr additive="base">
                                        <p:cTn id="269" dur="500" fill="hold"/>
                                        <p:tgtEl>
                                          <p:spTgt spid="258"/>
                                        </p:tgtEl>
                                        <p:attrNameLst>
                                          <p:attrName>ppt_x</p:attrName>
                                        </p:attrNameLst>
                                      </p:cBhvr>
                                      <p:tavLst>
                                        <p:tav tm="0">
                                          <p:val>
                                            <p:strVal val="#ppt_x"/>
                                          </p:val>
                                        </p:tav>
                                        <p:tav tm="100000">
                                          <p:val>
                                            <p:strVal val="#ppt_x"/>
                                          </p:val>
                                        </p:tav>
                                      </p:tavLst>
                                    </p:anim>
                                    <p:anim calcmode="lin" valueType="num">
                                      <p:cBhvr additive="base">
                                        <p:cTn id="270" dur="500" fill="hold"/>
                                        <p:tgtEl>
                                          <p:spTgt spid="258"/>
                                        </p:tgtEl>
                                        <p:attrNameLst>
                                          <p:attrName>ppt_y</p:attrName>
                                        </p:attrNameLst>
                                      </p:cBhvr>
                                      <p:tavLst>
                                        <p:tav tm="0">
                                          <p:val>
                                            <p:strVal val="1+#ppt_h/2"/>
                                          </p:val>
                                        </p:tav>
                                        <p:tav tm="100000">
                                          <p:val>
                                            <p:strVal val="#ppt_y"/>
                                          </p:val>
                                        </p:tav>
                                      </p:tavLst>
                                    </p:anim>
                                  </p:childTnLst>
                                </p:cTn>
                              </p:par>
                            </p:childTnLst>
                          </p:cTn>
                        </p:par>
                      </p:childTnLst>
                    </p:cTn>
                  </p:par>
                  <p:par>
                    <p:cTn id="271" fill="hold">
                      <p:stCondLst>
                        <p:cond delay="indefinite"/>
                      </p:stCondLst>
                      <p:childTnLst>
                        <p:par>
                          <p:cTn id="272" fill="hold">
                            <p:stCondLst>
                              <p:cond delay="0"/>
                            </p:stCondLst>
                            <p:childTnLst>
                              <p:par>
                                <p:cTn id="273" presetID="2" presetClass="entr" presetSubtype="4" fill="hold" nodeType="clickEffect">
                                  <p:stCondLst>
                                    <p:cond delay="0"/>
                                  </p:stCondLst>
                                  <p:childTnLst>
                                    <p:set>
                                      <p:cBhvr>
                                        <p:cTn id="274" dur="1" fill="hold">
                                          <p:stCondLst>
                                            <p:cond delay="0"/>
                                          </p:stCondLst>
                                        </p:cTn>
                                        <p:tgtEl>
                                          <p:spTgt spid="259"/>
                                        </p:tgtEl>
                                        <p:attrNameLst>
                                          <p:attrName>style.visibility</p:attrName>
                                        </p:attrNameLst>
                                      </p:cBhvr>
                                      <p:to>
                                        <p:strVal val="visible"/>
                                      </p:to>
                                    </p:set>
                                    <p:anim calcmode="lin" valueType="num">
                                      <p:cBhvr additive="base">
                                        <p:cTn id="275" dur="500" fill="hold"/>
                                        <p:tgtEl>
                                          <p:spTgt spid="259"/>
                                        </p:tgtEl>
                                        <p:attrNameLst>
                                          <p:attrName>ppt_x</p:attrName>
                                        </p:attrNameLst>
                                      </p:cBhvr>
                                      <p:tavLst>
                                        <p:tav tm="0">
                                          <p:val>
                                            <p:strVal val="#ppt_x"/>
                                          </p:val>
                                        </p:tav>
                                        <p:tav tm="100000">
                                          <p:val>
                                            <p:strVal val="#ppt_x"/>
                                          </p:val>
                                        </p:tav>
                                      </p:tavLst>
                                    </p:anim>
                                    <p:anim calcmode="lin" valueType="num">
                                      <p:cBhvr additive="base">
                                        <p:cTn id="276" dur="500" fill="hold"/>
                                        <p:tgtEl>
                                          <p:spTgt spid="259"/>
                                        </p:tgtEl>
                                        <p:attrNameLst>
                                          <p:attrName>ppt_y</p:attrName>
                                        </p:attrNameLst>
                                      </p:cBhvr>
                                      <p:tavLst>
                                        <p:tav tm="0">
                                          <p:val>
                                            <p:strVal val="1+#ppt_h/2"/>
                                          </p:val>
                                        </p:tav>
                                        <p:tav tm="100000">
                                          <p:val>
                                            <p:strVal val="#ppt_y"/>
                                          </p:val>
                                        </p:tav>
                                      </p:tavLst>
                                    </p:anim>
                                  </p:childTnLst>
                                </p:cTn>
                              </p:par>
                              <p:par>
                                <p:cTn id="277" presetID="2" presetClass="entr" presetSubtype="4" fill="hold" nodeType="withEffect">
                                  <p:stCondLst>
                                    <p:cond delay="0"/>
                                  </p:stCondLst>
                                  <p:childTnLst>
                                    <p:set>
                                      <p:cBhvr>
                                        <p:cTn id="278" dur="1" fill="hold">
                                          <p:stCondLst>
                                            <p:cond delay="0"/>
                                          </p:stCondLst>
                                        </p:cTn>
                                        <p:tgtEl>
                                          <p:spTgt spid="260"/>
                                        </p:tgtEl>
                                        <p:attrNameLst>
                                          <p:attrName>style.visibility</p:attrName>
                                        </p:attrNameLst>
                                      </p:cBhvr>
                                      <p:to>
                                        <p:strVal val="visible"/>
                                      </p:to>
                                    </p:set>
                                    <p:anim calcmode="lin" valueType="num">
                                      <p:cBhvr additive="base">
                                        <p:cTn id="279" dur="500" fill="hold"/>
                                        <p:tgtEl>
                                          <p:spTgt spid="260"/>
                                        </p:tgtEl>
                                        <p:attrNameLst>
                                          <p:attrName>ppt_x</p:attrName>
                                        </p:attrNameLst>
                                      </p:cBhvr>
                                      <p:tavLst>
                                        <p:tav tm="0">
                                          <p:val>
                                            <p:strVal val="#ppt_x"/>
                                          </p:val>
                                        </p:tav>
                                        <p:tav tm="100000">
                                          <p:val>
                                            <p:strVal val="#ppt_x"/>
                                          </p:val>
                                        </p:tav>
                                      </p:tavLst>
                                    </p:anim>
                                    <p:anim calcmode="lin" valueType="num">
                                      <p:cBhvr additive="base">
                                        <p:cTn id="280" dur="500" fill="hold"/>
                                        <p:tgtEl>
                                          <p:spTgt spid="260"/>
                                        </p:tgtEl>
                                        <p:attrNameLst>
                                          <p:attrName>ppt_y</p:attrName>
                                        </p:attrNameLst>
                                      </p:cBhvr>
                                      <p:tavLst>
                                        <p:tav tm="0">
                                          <p:val>
                                            <p:strVal val="1+#ppt_h/2"/>
                                          </p:val>
                                        </p:tav>
                                        <p:tav tm="100000">
                                          <p:val>
                                            <p:strVal val="#ppt_y"/>
                                          </p:val>
                                        </p:tav>
                                      </p:tavLst>
                                    </p:anim>
                                  </p:childTnLst>
                                </p:cTn>
                              </p:par>
                              <p:par>
                                <p:cTn id="281" presetID="2" presetClass="entr" presetSubtype="4" fill="hold" nodeType="withEffect">
                                  <p:stCondLst>
                                    <p:cond delay="0"/>
                                  </p:stCondLst>
                                  <p:childTnLst>
                                    <p:set>
                                      <p:cBhvr>
                                        <p:cTn id="282" dur="1" fill="hold">
                                          <p:stCondLst>
                                            <p:cond delay="0"/>
                                          </p:stCondLst>
                                        </p:cTn>
                                        <p:tgtEl>
                                          <p:spTgt spid="262"/>
                                        </p:tgtEl>
                                        <p:attrNameLst>
                                          <p:attrName>style.visibility</p:attrName>
                                        </p:attrNameLst>
                                      </p:cBhvr>
                                      <p:to>
                                        <p:strVal val="visible"/>
                                      </p:to>
                                    </p:set>
                                    <p:anim calcmode="lin" valueType="num">
                                      <p:cBhvr additive="base">
                                        <p:cTn id="283" dur="500" fill="hold"/>
                                        <p:tgtEl>
                                          <p:spTgt spid="262"/>
                                        </p:tgtEl>
                                        <p:attrNameLst>
                                          <p:attrName>ppt_x</p:attrName>
                                        </p:attrNameLst>
                                      </p:cBhvr>
                                      <p:tavLst>
                                        <p:tav tm="0">
                                          <p:val>
                                            <p:strVal val="#ppt_x"/>
                                          </p:val>
                                        </p:tav>
                                        <p:tav tm="100000">
                                          <p:val>
                                            <p:strVal val="#ppt_x"/>
                                          </p:val>
                                        </p:tav>
                                      </p:tavLst>
                                    </p:anim>
                                    <p:anim calcmode="lin" valueType="num">
                                      <p:cBhvr additive="base">
                                        <p:cTn id="284" dur="500" fill="hold"/>
                                        <p:tgtEl>
                                          <p:spTgt spid="262"/>
                                        </p:tgtEl>
                                        <p:attrNameLst>
                                          <p:attrName>ppt_y</p:attrName>
                                        </p:attrNameLst>
                                      </p:cBhvr>
                                      <p:tavLst>
                                        <p:tav tm="0">
                                          <p:val>
                                            <p:strVal val="1+#ppt_h/2"/>
                                          </p:val>
                                        </p:tav>
                                        <p:tav tm="100000">
                                          <p:val>
                                            <p:strVal val="#ppt_y"/>
                                          </p:val>
                                        </p:tav>
                                      </p:tavLst>
                                    </p:anim>
                                  </p:childTnLst>
                                </p:cTn>
                              </p:par>
                              <p:par>
                                <p:cTn id="285" presetID="2" presetClass="entr" presetSubtype="4" fill="hold" nodeType="withEffect">
                                  <p:stCondLst>
                                    <p:cond delay="0"/>
                                  </p:stCondLst>
                                  <p:childTnLst>
                                    <p:set>
                                      <p:cBhvr>
                                        <p:cTn id="286" dur="1" fill="hold">
                                          <p:stCondLst>
                                            <p:cond delay="0"/>
                                          </p:stCondLst>
                                        </p:cTn>
                                        <p:tgtEl>
                                          <p:spTgt spid="265"/>
                                        </p:tgtEl>
                                        <p:attrNameLst>
                                          <p:attrName>style.visibility</p:attrName>
                                        </p:attrNameLst>
                                      </p:cBhvr>
                                      <p:to>
                                        <p:strVal val="visible"/>
                                      </p:to>
                                    </p:set>
                                    <p:anim calcmode="lin" valueType="num">
                                      <p:cBhvr additive="base">
                                        <p:cTn id="287" dur="500" fill="hold"/>
                                        <p:tgtEl>
                                          <p:spTgt spid="265"/>
                                        </p:tgtEl>
                                        <p:attrNameLst>
                                          <p:attrName>ppt_x</p:attrName>
                                        </p:attrNameLst>
                                      </p:cBhvr>
                                      <p:tavLst>
                                        <p:tav tm="0">
                                          <p:val>
                                            <p:strVal val="#ppt_x"/>
                                          </p:val>
                                        </p:tav>
                                        <p:tav tm="100000">
                                          <p:val>
                                            <p:strVal val="#ppt_x"/>
                                          </p:val>
                                        </p:tav>
                                      </p:tavLst>
                                    </p:anim>
                                    <p:anim calcmode="lin" valueType="num">
                                      <p:cBhvr additive="base">
                                        <p:cTn id="288" dur="500" fill="hold"/>
                                        <p:tgtEl>
                                          <p:spTgt spid="265"/>
                                        </p:tgtEl>
                                        <p:attrNameLst>
                                          <p:attrName>ppt_y</p:attrName>
                                        </p:attrNameLst>
                                      </p:cBhvr>
                                      <p:tavLst>
                                        <p:tav tm="0">
                                          <p:val>
                                            <p:strVal val="1+#ppt_h/2"/>
                                          </p:val>
                                        </p:tav>
                                        <p:tav tm="100000">
                                          <p:val>
                                            <p:strVal val="#ppt_y"/>
                                          </p:val>
                                        </p:tav>
                                      </p:tavLst>
                                    </p:anim>
                                  </p:childTnLst>
                                </p:cTn>
                              </p:par>
                              <p:par>
                                <p:cTn id="289" presetID="2" presetClass="entr" presetSubtype="4" fill="hold" grpId="0" nodeType="withEffect">
                                  <p:stCondLst>
                                    <p:cond delay="0"/>
                                  </p:stCondLst>
                                  <p:childTnLst>
                                    <p:set>
                                      <p:cBhvr>
                                        <p:cTn id="290" dur="1" fill="hold">
                                          <p:stCondLst>
                                            <p:cond delay="0"/>
                                          </p:stCondLst>
                                        </p:cTn>
                                        <p:tgtEl>
                                          <p:spTgt spid="266"/>
                                        </p:tgtEl>
                                        <p:attrNameLst>
                                          <p:attrName>style.visibility</p:attrName>
                                        </p:attrNameLst>
                                      </p:cBhvr>
                                      <p:to>
                                        <p:strVal val="visible"/>
                                      </p:to>
                                    </p:set>
                                    <p:anim calcmode="lin" valueType="num">
                                      <p:cBhvr additive="base">
                                        <p:cTn id="291" dur="500" fill="hold"/>
                                        <p:tgtEl>
                                          <p:spTgt spid="266"/>
                                        </p:tgtEl>
                                        <p:attrNameLst>
                                          <p:attrName>ppt_x</p:attrName>
                                        </p:attrNameLst>
                                      </p:cBhvr>
                                      <p:tavLst>
                                        <p:tav tm="0">
                                          <p:val>
                                            <p:strVal val="#ppt_x"/>
                                          </p:val>
                                        </p:tav>
                                        <p:tav tm="100000">
                                          <p:val>
                                            <p:strVal val="#ppt_x"/>
                                          </p:val>
                                        </p:tav>
                                      </p:tavLst>
                                    </p:anim>
                                    <p:anim calcmode="lin" valueType="num">
                                      <p:cBhvr additive="base">
                                        <p:cTn id="292" dur="500" fill="hold"/>
                                        <p:tgtEl>
                                          <p:spTgt spid="266"/>
                                        </p:tgtEl>
                                        <p:attrNameLst>
                                          <p:attrName>ppt_y</p:attrName>
                                        </p:attrNameLst>
                                      </p:cBhvr>
                                      <p:tavLst>
                                        <p:tav tm="0">
                                          <p:val>
                                            <p:strVal val="1+#ppt_h/2"/>
                                          </p:val>
                                        </p:tav>
                                        <p:tav tm="100000">
                                          <p:val>
                                            <p:strVal val="#ppt_y"/>
                                          </p:val>
                                        </p:tav>
                                      </p:tavLst>
                                    </p:anim>
                                  </p:childTnLst>
                                </p:cTn>
                              </p:par>
                              <p:par>
                                <p:cTn id="293" presetID="2" presetClass="entr" presetSubtype="4" fill="hold" nodeType="withEffect">
                                  <p:stCondLst>
                                    <p:cond delay="0"/>
                                  </p:stCondLst>
                                  <p:childTnLst>
                                    <p:set>
                                      <p:cBhvr>
                                        <p:cTn id="294" dur="1" fill="hold">
                                          <p:stCondLst>
                                            <p:cond delay="0"/>
                                          </p:stCondLst>
                                        </p:cTn>
                                        <p:tgtEl>
                                          <p:spTgt spid="267"/>
                                        </p:tgtEl>
                                        <p:attrNameLst>
                                          <p:attrName>style.visibility</p:attrName>
                                        </p:attrNameLst>
                                      </p:cBhvr>
                                      <p:to>
                                        <p:strVal val="visible"/>
                                      </p:to>
                                    </p:set>
                                    <p:anim calcmode="lin" valueType="num">
                                      <p:cBhvr additive="base">
                                        <p:cTn id="295" dur="500" fill="hold"/>
                                        <p:tgtEl>
                                          <p:spTgt spid="267"/>
                                        </p:tgtEl>
                                        <p:attrNameLst>
                                          <p:attrName>ppt_x</p:attrName>
                                        </p:attrNameLst>
                                      </p:cBhvr>
                                      <p:tavLst>
                                        <p:tav tm="0">
                                          <p:val>
                                            <p:strVal val="#ppt_x"/>
                                          </p:val>
                                        </p:tav>
                                        <p:tav tm="100000">
                                          <p:val>
                                            <p:strVal val="#ppt_x"/>
                                          </p:val>
                                        </p:tav>
                                      </p:tavLst>
                                    </p:anim>
                                    <p:anim calcmode="lin" valueType="num">
                                      <p:cBhvr additive="base">
                                        <p:cTn id="296" dur="500" fill="hold"/>
                                        <p:tgtEl>
                                          <p:spTgt spid="267"/>
                                        </p:tgtEl>
                                        <p:attrNameLst>
                                          <p:attrName>ppt_y</p:attrName>
                                        </p:attrNameLst>
                                      </p:cBhvr>
                                      <p:tavLst>
                                        <p:tav tm="0">
                                          <p:val>
                                            <p:strVal val="1+#ppt_h/2"/>
                                          </p:val>
                                        </p:tav>
                                        <p:tav tm="100000">
                                          <p:val>
                                            <p:strVal val="#ppt_y"/>
                                          </p:val>
                                        </p:tav>
                                      </p:tavLst>
                                    </p:anim>
                                  </p:childTnLst>
                                </p:cTn>
                              </p:par>
                              <p:par>
                                <p:cTn id="297" presetID="2" presetClass="entr" presetSubtype="4" fill="hold" nodeType="withEffect">
                                  <p:stCondLst>
                                    <p:cond delay="0"/>
                                  </p:stCondLst>
                                  <p:childTnLst>
                                    <p:set>
                                      <p:cBhvr>
                                        <p:cTn id="298" dur="1" fill="hold">
                                          <p:stCondLst>
                                            <p:cond delay="0"/>
                                          </p:stCondLst>
                                        </p:cTn>
                                        <p:tgtEl>
                                          <p:spTgt spid="268"/>
                                        </p:tgtEl>
                                        <p:attrNameLst>
                                          <p:attrName>style.visibility</p:attrName>
                                        </p:attrNameLst>
                                      </p:cBhvr>
                                      <p:to>
                                        <p:strVal val="visible"/>
                                      </p:to>
                                    </p:set>
                                    <p:anim calcmode="lin" valueType="num">
                                      <p:cBhvr additive="base">
                                        <p:cTn id="299" dur="500" fill="hold"/>
                                        <p:tgtEl>
                                          <p:spTgt spid="268"/>
                                        </p:tgtEl>
                                        <p:attrNameLst>
                                          <p:attrName>ppt_x</p:attrName>
                                        </p:attrNameLst>
                                      </p:cBhvr>
                                      <p:tavLst>
                                        <p:tav tm="0">
                                          <p:val>
                                            <p:strVal val="#ppt_x"/>
                                          </p:val>
                                        </p:tav>
                                        <p:tav tm="100000">
                                          <p:val>
                                            <p:strVal val="#ppt_x"/>
                                          </p:val>
                                        </p:tav>
                                      </p:tavLst>
                                    </p:anim>
                                    <p:anim calcmode="lin" valueType="num">
                                      <p:cBhvr additive="base">
                                        <p:cTn id="300" dur="500" fill="hold"/>
                                        <p:tgtEl>
                                          <p:spTgt spid="268"/>
                                        </p:tgtEl>
                                        <p:attrNameLst>
                                          <p:attrName>ppt_y</p:attrName>
                                        </p:attrNameLst>
                                      </p:cBhvr>
                                      <p:tavLst>
                                        <p:tav tm="0">
                                          <p:val>
                                            <p:strVal val="1+#ppt_h/2"/>
                                          </p:val>
                                        </p:tav>
                                        <p:tav tm="100000">
                                          <p:val>
                                            <p:strVal val="#ppt_y"/>
                                          </p:val>
                                        </p:tav>
                                      </p:tavLst>
                                    </p:anim>
                                  </p:childTnLst>
                                </p:cTn>
                              </p:par>
                              <p:par>
                                <p:cTn id="301" presetID="2" presetClass="entr" presetSubtype="4" fill="hold" grpId="0" nodeType="withEffect">
                                  <p:stCondLst>
                                    <p:cond delay="0"/>
                                  </p:stCondLst>
                                  <p:childTnLst>
                                    <p:set>
                                      <p:cBhvr>
                                        <p:cTn id="302" dur="1" fill="hold">
                                          <p:stCondLst>
                                            <p:cond delay="0"/>
                                          </p:stCondLst>
                                        </p:cTn>
                                        <p:tgtEl>
                                          <p:spTgt spid="269"/>
                                        </p:tgtEl>
                                        <p:attrNameLst>
                                          <p:attrName>style.visibility</p:attrName>
                                        </p:attrNameLst>
                                      </p:cBhvr>
                                      <p:to>
                                        <p:strVal val="visible"/>
                                      </p:to>
                                    </p:set>
                                    <p:anim calcmode="lin" valueType="num">
                                      <p:cBhvr additive="base">
                                        <p:cTn id="303" dur="500" fill="hold"/>
                                        <p:tgtEl>
                                          <p:spTgt spid="269"/>
                                        </p:tgtEl>
                                        <p:attrNameLst>
                                          <p:attrName>ppt_x</p:attrName>
                                        </p:attrNameLst>
                                      </p:cBhvr>
                                      <p:tavLst>
                                        <p:tav tm="0">
                                          <p:val>
                                            <p:strVal val="#ppt_x"/>
                                          </p:val>
                                        </p:tav>
                                        <p:tav tm="100000">
                                          <p:val>
                                            <p:strVal val="#ppt_x"/>
                                          </p:val>
                                        </p:tav>
                                      </p:tavLst>
                                    </p:anim>
                                    <p:anim calcmode="lin" valueType="num">
                                      <p:cBhvr additive="base">
                                        <p:cTn id="304" dur="500" fill="hold"/>
                                        <p:tgtEl>
                                          <p:spTgt spid="2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9" grpId="0"/>
      <p:bldP spid="459" grpId="1"/>
      <p:bldP spid="115" grpId="0" bldLvl="0" animBg="1"/>
      <p:bldP spid="116" grpId="0" bldLvl="0" animBg="1"/>
      <p:bldP spid="118" grpId="0" bldLvl="0" animBg="1"/>
      <p:bldP spid="98" grpId="0"/>
      <p:bldP spid="99" grpId="0"/>
      <p:bldP spid="100" grpId="0"/>
      <p:bldP spid="51" grpId="0"/>
      <p:bldP spid="51" grpId="1"/>
      <p:bldP spid="120" grpId="0" bldLvl="0" animBg="1"/>
      <p:bldP spid="120" grpId="1" animBg="1"/>
      <p:bldP spid="126" grpId="0" bldLvl="0" animBg="1"/>
      <p:bldP spid="126" grpId="1" animBg="1"/>
      <p:bldP spid="131" grpId="0"/>
      <p:bldP spid="131" grpId="1"/>
      <p:bldP spid="149" grpId="0"/>
      <p:bldP spid="149" grpId="1"/>
      <p:bldP spid="193" grpId="0" bldLvl="0" animBg="1"/>
      <p:bldP spid="193" grpId="1" animBg="1"/>
      <p:bldP spid="194" grpId="0"/>
      <p:bldP spid="194" grpId="1"/>
      <p:bldP spid="214" grpId="0"/>
      <p:bldP spid="214" grpId="1"/>
      <p:bldP spid="248" grpId="0"/>
      <p:bldP spid="248" grpId="1"/>
      <p:bldP spid="249" grpId="0"/>
      <p:bldP spid="249" grpId="1"/>
      <p:bldP spid="257" grpId="0" bldLvl="0" animBg="1"/>
      <p:bldP spid="257" grpId="1" animBg="1"/>
      <p:bldP spid="258" grpId="0"/>
      <p:bldP spid="258" grpId="1"/>
      <p:bldP spid="266" grpId="0"/>
      <p:bldP spid="266" grpId="1"/>
      <p:bldP spid="269" grpId="0"/>
      <p:bldP spid="269" grpId="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38200" y="1595755"/>
            <a:ext cx="10515600" cy="4944110"/>
          </a:xfrm>
        </p:spPr>
        <p:txBody>
          <a:bodyPr>
            <a:normAutofit/>
          </a:bodyPr>
          <a:lstStyle/>
          <a:p>
            <a:pPr>
              <a:spcBef>
                <a:spcPct val="0"/>
              </a:spcBef>
            </a:pPr>
            <a:r>
              <a:rPr lang="zh-CN" altLang="en-US" dirty="0"/>
              <a:t>流水线概述</a:t>
            </a:r>
            <a:endParaRPr lang="en-US" altLang="zh-CN" dirty="0"/>
          </a:p>
          <a:p>
            <a:pPr>
              <a:spcBef>
                <a:spcPct val="0"/>
              </a:spcBef>
            </a:pPr>
            <a:r>
              <a:rPr lang="zh-CN" altLang="en-US" dirty="0"/>
              <a:t>流水线数据通路和控制</a:t>
            </a:r>
            <a:endParaRPr lang="en-US" altLang="zh-CN" dirty="0"/>
          </a:p>
          <a:p>
            <a:pPr>
              <a:spcBef>
                <a:spcPct val="0"/>
              </a:spcBef>
            </a:pPr>
            <a:r>
              <a:rPr lang="zh-CN" altLang="en-US" b="1" dirty="0"/>
              <a:t>数据冒险：前递与停顿</a:t>
            </a:r>
            <a:endParaRPr lang="en-US" altLang="zh-CN" b="1" dirty="0"/>
          </a:p>
          <a:p>
            <a:pPr>
              <a:spcBef>
                <a:spcPct val="0"/>
              </a:spcBef>
            </a:pPr>
            <a:r>
              <a:rPr lang="zh-CN" altLang="en-US" dirty="0"/>
              <a:t>控制冒险</a:t>
            </a:r>
            <a:endParaRPr lang="en-US" altLang="zh-CN" dirty="0"/>
          </a:p>
          <a:p>
            <a:pPr>
              <a:spcBef>
                <a:spcPct val="0"/>
              </a:spcBef>
            </a:pPr>
            <a:r>
              <a:rPr lang="zh-CN" altLang="en-US" dirty="0"/>
              <a:t>例外</a:t>
            </a:r>
            <a:endParaRPr lang="en-US" altLang="zh-CN" dirty="0"/>
          </a:p>
        </p:txBody>
      </p:sp>
      <p:sp>
        <p:nvSpPr>
          <p:cNvPr id="3" name="标题 2"/>
          <p:cNvSpPr>
            <a:spLocks noGrp="1"/>
          </p:cNvSpPr>
          <p:nvPr>
            <p:ph type="title"/>
          </p:nvPr>
        </p:nvSpPr>
        <p:spPr/>
        <p:txBody>
          <a:bodyPr/>
          <a:lstStyle/>
          <a:p>
            <a:r>
              <a:rPr lang="zh-CN" altLang="en-US" dirty="0"/>
              <a:t>第五章</a:t>
            </a:r>
          </a:p>
        </p:txBody>
      </p:sp>
      <p:sp>
        <p:nvSpPr>
          <p:cNvPr id="6" name="灯片编号占位符 5"/>
          <p:cNvSpPr>
            <a:spLocks noGrp="1"/>
          </p:cNvSpPr>
          <p:nvPr>
            <p:ph type="sldNum" sz="quarter" idx="12"/>
          </p:nvPr>
        </p:nvSpPr>
        <p:spPr/>
        <p:txBody>
          <a:bodyPr/>
          <a:lstStyle/>
          <a:p>
            <a:fld id="{8EE8E787-E6FE-45D8-9039-788B45E44EE7}" type="slidenum">
              <a:rPr lang="zh-CN" altLang="en-US" smtClean="0"/>
              <a:t>47</a:t>
            </a:fld>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3"/>
          <p:cNvSpPr>
            <a:spLocks noGrp="1" noChangeArrowheads="1"/>
          </p:cNvSpPr>
          <p:nvPr>
            <p:ph idx="1"/>
          </p:nvPr>
        </p:nvSpPr>
        <p:spPr/>
        <p:txBody>
          <a:bodyPr>
            <a:normAutofit fontScale="97500" lnSpcReduction="10000"/>
          </a:bodyPr>
          <a:lstStyle/>
          <a:p>
            <a:pPr eaLnBrk="1" hangingPunct="1">
              <a:lnSpc>
                <a:spcPct val="120000"/>
              </a:lnSpc>
              <a:spcAft>
                <a:spcPts val="0"/>
              </a:spcAft>
            </a:pPr>
            <a:r>
              <a:rPr lang="zh-CN" altLang="en-US" dirty="0">
                <a:latin typeface="Times New Roman" panose="02020603050405020304" pitchFamily="18" charset="0"/>
                <a:cs typeface="Times New Roman" panose="02020603050405020304" pitchFamily="18" charset="0"/>
              </a:rPr>
              <a:t>考虑以下指令序列</a:t>
            </a:r>
            <a:r>
              <a:rPr lang="en-US" altLang="en-US" dirty="0">
                <a:latin typeface="Times New Roman" panose="02020603050405020304" pitchFamily="18" charset="0"/>
                <a:cs typeface="Times New Roman" panose="02020603050405020304" pitchFamily="18" charset="0"/>
              </a:rPr>
              <a:t>:</a:t>
            </a:r>
          </a:p>
          <a:p>
            <a:pPr lvl="1" eaLnBrk="1" hangingPunct="1">
              <a:lnSpc>
                <a:spcPct val="120000"/>
              </a:lnSpc>
              <a:spcAft>
                <a:spcPts val="0"/>
              </a:spcAft>
              <a:buFont typeface="Wingdings" panose="05000000000000000000" pitchFamily="2" charset="2"/>
              <a:buNone/>
            </a:pPr>
            <a:r>
              <a:rPr lang="en-AU" altLang="en-US" dirty="0">
                <a:latin typeface="Times New Roman" panose="02020603050405020304" pitchFamily="18" charset="0"/>
                <a:cs typeface="Times New Roman" panose="02020603050405020304" pitchFamily="18" charset="0"/>
              </a:rPr>
              <a:t>	</a:t>
            </a:r>
            <a:r>
              <a:rPr lang="en-AU" altLang="en-US" sz="3100" dirty="0">
                <a:latin typeface="Times New Roman" panose="02020603050405020304" pitchFamily="18" charset="0"/>
                <a:cs typeface="Times New Roman" panose="02020603050405020304" pitchFamily="18" charset="0"/>
              </a:rPr>
              <a:t>sub  </a:t>
            </a:r>
            <a:r>
              <a:rPr lang="en-AU" altLang="en-US" sz="3100" dirty="0">
                <a:solidFill>
                  <a:srgbClr val="0000FF"/>
                </a:solidFill>
                <a:latin typeface="Times New Roman" panose="02020603050405020304" pitchFamily="18" charset="0"/>
                <a:cs typeface="Times New Roman" panose="02020603050405020304" pitchFamily="18" charset="0"/>
              </a:rPr>
              <a:t>x2</a:t>
            </a:r>
            <a:r>
              <a:rPr lang="en-AU" altLang="en-US" sz="3100" dirty="0">
                <a:latin typeface="Times New Roman" panose="02020603050405020304" pitchFamily="18" charset="0"/>
                <a:cs typeface="Times New Roman" panose="02020603050405020304" pitchFamily="18" charset="0"/>
              </a:rPr>
              <a:t>,   x1, x3</a:t>
            </a:r>
            <a:br>
              <a:rPr lang="en-AU" altLang="en-US" sz="3100" dirty="0">
                <a:latin typeface="Times New Roman" panose="02020603050405020304" pitchFamily="18" charset="0"/>
                <a:cs typeface="Times New Roman" panose="02020603050405020304" pitchFamily="18" charset="0"/>
              </a:rPr>
            </a:br>
            <a:r>
              <a:rPr lang="en-AU" altLang="en-US" sz="3100" dirty="0">
                <a:latin typeface="Times New Roman" panose="02020603050405020304" pitchFamily="18" charset="0"/>
                <a:cs typeface="Times New Roman" panose="02020603050405020304" pitchFamily="18" charset="0"/>
              </a:rPr>
              <a:t>and  x12, </a:t>
            </a:r>
            <a:r>
              <a:rPr lang="en-AU" altLang="en-US" sz="3100" dirty="0">
                <a:solidFill>
                  <a:srgbClr val="0000FF"/>
                </a:solidFill>
                <a:latin typeface="Times New Roman" panose="02020603050405020304" pitchFamily="18" charset="0"/>
                <a:cs typeface="Times New Roman" panose="02020603050405020304" pitchFamily="18" charset="0"/>
              </a:rPr>
              <a:t>x2</a:t>
            </a:r>
            <a:r>
              <a:rPr lang="en-AU" altLang="en-US" sz="3100" dirty="0">
                <a:latin typeface="Times New Roman" panose="02020603050405020304" pitchFamily="18" charset="0"/>
                <a:cs typeface="Times New Roman" panose="02020603050405020304" pitchFamily="18" charset="0"/>
              </a:rPr>
              <a:t>, x5</a:t>
            </a:r>
            <a:br>
              <a:rPr lang="en-AU" altLang="en-US" sz="3100" dirty="0">
                <a:latin typeface="Times New Roman" panose="02020603050405020304" pitchFamily="18" charset="0"/>
                <a:cs typeface="Times New Roman" panose="02020603050405020304" pitchFamily="18" charset="0"/>
              </a:rPr>
            </a:br>
            <a:r>
              <a:rPr lang="en-AU" altLang="en-US" sz="3100" dirty="0">
                <a:latin typeface="Times New Roman" panose="02020603050405020304" pitchFamily="18" charset="0"/>
                <a:cs typeface="Times New Roman" panose="02020603050405020304" pitchFamily="18" charset="0"/>
              </a:rPr>
              <a:t>or    x13, x6,  </a:t>
            </a:r>
            <a:r>
              <a:rPr lang="en-AU" altLang="en-US" sz="3100" dirty="0">
                <a:solidFill>
                  <a:srgbClr val="0000FF"/>
                </a:solidFill>
                <a:latin typeface="Times New Roman" panose="02020603050405020304" pitchFamily="18" charset="0"/>
                <a:cs typeface="Times New Roman" panose="02020603050405020304" pitchFamily="18" charset="0"/>
              </a:rPr>
              <a:t>x2</a:t>
            </a:r>
            <a:br>
              <a:rPr lang="en-AU" altLang="en-US" sz="3100" dirty="0">
                <a:latin typeface="Times New Roman" panose="02020603050405020304" pitchFamily="18" charset="0"/>
                <a:cs typeface="Times New Roman" panose="02020603050405020304" pitchFamily="18" charset="0"/>
              </a:rPr>
            </a:br>
            <a:r>
              <a:rPr lang="en-AU" altLang="en-US" sz="3100" dirty="0">
                <a:latin typeface="Times New Roman" panose="02020603050405020304" pitchFamily="18" charset="0"/>
                <a:cs typeface="Times New Roman" panose="02020603050405020304" pitchFamily="18" charset="0"/>
              </a:rPr>
              <a:t>add  x14, </a:t>
            </a:r>
            <a:r>
              <a:rPr lang="en-AU" altLang="en-US" sz="3100" dirty="0">
                <a:solidFill>
                  <a:srgbClr val="0000FF"/>
                </a:solidFill>
                <a:latin typeface="Times New Roman" panose="02020603050405020304" pitchFamily="18" charset="0"/>
                <a:cs typeface="Times New Roman" panose="02020603050405020304" pitchFamily="18" charset="0"/>
              </a:rPr>
              <a:t>x2</a:t>
            </a:r>
            <a:r>
              <a:rPr lang="en-AU" altLang="en-US" sz="3100" dirty="0">
                <a:latin typeface="Times New Roman" panose="02020603050405020304" pitchFamily="18" charset="0"/>
                <a:cs typeface="Times New Roman" panose="02020603050405020304" pitchFamily="18" charset="0"/>
              </a:rPr>
              <a:t>,  </a:t>
            </a:r>
            <a:r>
              <a:rPr lang="en-AU" altLang="en-US" sz="3100" dirty="0">
                <a:solidFill>
                  <a:srgbClr val="0000FF"/>
                </a:solidFill>
                <a:latin typeface="Times New Roman" panose="02020603050405020304" pitchFamily="18" charset="0"/>
                <a:cs typeface="Times New Roman" panose="02020603050405020304" pitchFamily="18" charset="0"/>
              </a:rPr>
              <a:t>x2</a:t>
            </a:r>
            <a:br>
              <a:rPr lang="en-AU" altLang="en-US" sz="3100" dirty="0">
                <a:latin typeface="Times New Roman" panose="02020603050405020304" pitchFamily="18" charset="0"/>
                <a:cs typeface="Times New Roman" panose="02020603050405020304" pitchFamily="18" charset="0"/>
              </a:rPr>
            </a:br>
            <a:r>
              <a:rPr lang="en-AU" altLang="en-US" sz="3100" dirty="0" err="1">
                <a:latin typeface="Times New Roman" panose="02020603050405020304" pitchFamily="18" charset="0"/>
                <a:cs typeface="Times New Roman" panose="02020603050405020304" pitchFamily="18" charset="0"/>
              </a:rPr>
              <a:t>sd</a:t>
            </a:r>
            <a:r>
              <a:rPr lang="en-AU" altLang="en-US" sz="3100" dirty="0">
                <a:latin typeface="Times New Roman" panose="02020603050405020304" pitchFamily="18" charset="0"/>
                <a:cs typeface="Times New Roman" panose="02020603050405020304" pitchFamily="18" charset="0"/>
              </a:rPr>
              <a:t>    x15, 100(</a:t>
            </a:r>
            <a:r>
              <a:rPr lang="en-AU" altLang="en-US" sz="3100" dirty="0">
                <a:solidFill>
                  <a:srgbClr val="0000FF"/>
                </a:solidFill>
                <a:latin typeface="Times New Roman" panose="02020603050405020304" pitchFamily="18" charset="0"/>
                <a:cs typeface="Times New Roman" panose="02020603050405020304" pitchFamily="18" charset="0"/>
              </a:rPr>
              <a:t>x2</a:t>
            </a:r>
            <a:r>
              <a:rPr lang="en-AU" altLang="en-US" sz="3100" dirty="0">
                <a:latin typeface="Times New Roman" panose="02020603050405020304" pitchFamily="18" charset="0"/>
                <a:cs typeface="Times New Roman" panose="02020603050405020304" pitchFamily="18" charset="0"/>
              </a:rPr>
              <a:t>)</a:t>
            </a:r>
            <a:endParaRPr lang="en-AU" altLang="en-US" dirty="0">
              <a:latin typeface="Times New Roman" panose="02020603050405020304" pitchFamily="18" charset="0"/>
              <a:cs typeface="Times New Roman" panose="02020603050405020304" pitchFamily="18" charset="0"/>
            </a:endParaRPr>
          </a:p>
          <a:p>
            <a:pPr marL="0" indent="0" eaLnBrk="1" hangingPunct="1">
              <a:lnSpc>
                <a:spcPct val="120000"/>
              </a:lnSpc>
              <a:spcAft>
                <a:spcPts val="0"/>
              </a:spcAft>
              <a:buNone/>
            </a:pPr>
            <a:endParaRPr lang="en-US" altLang="en-US" dirty="0">
              <a:latin typeface="Times New Roman" panose="02020603050405020304" pitchFamily="18" charset="0"/>
              <a:cs typeface="Times New Roman" panose="02020603050405020304" pitchFamily="18" charset="0"/>
            </a:endParaRPr>
          </a:p>
          <a:p>
            <a:pPr eaLnBrk="1" hangingPunct="1">
              <a:lnSpc>
                <a:spcPct val="120000"/>
              </a:lnSpc>
              <a:spcAft>
                <a:spcPts val="0"/>
              </a:spcAft>
            </a:pPr>
            <a:r>
              <a:rPr lang="zh-CN" altLang="en-US" dirty="0">
                <a:latin typeface="Times New Roman" panose="02020603050405020304" pitchFamily="18" charset="0"/>
                <a:cs typeface="Times New Roman" panose="02020603050405020304" pitchFamily="18" charset="0"/>
              </a:rPr>
              <a:t>通过前递来解决这些冒险</a:t>
            </a:r>
            <a:endParaRPr lang="en-US" altLang="zh-CN" dirty="0">
              <a:latin typeface="Times New Roman" panose="02020603050405020304" pitchFamily="18" charset="0"/>
              <a:cs typeface="Times New Roman" panose="02020603050405020304" pitchFamily="18" charset="0"/>
            </a:endParaRPr>
          </a:p>
          <a:p>
            <a:pPr lvl="1" eaLnBrk="1" hangingPunct="1">
              <a:lnSpc>
                <a:spcPct val="120000"/>
              </a:lnSpc>
              <a:spcAft>
                <a:spcPts val="0"/>
              </a:spcAft>
            </a:pPr>
            <a:r>
              <a:rPr lang="zh-CN" altLang="en-US" dirty="0">
                <a:latin typeface="Times New Roman" panose="02020603050405020304" pitchFamily="18" charset="0"/>
                <a:cs typeface="Times New Roman" panose="02020603050405020304" pitchFamily="18" charset="0"/>
              </a:rPr>
              <a:t>那么如何发现何时该前递？</a:t>
            </a:r>
            <a:endParaRPr lang="en-US" altLang="en-US" dirty="0">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8EE8E787-E6FE-45D8-9039-788B45E44EE7}" type="slidenum">
              <a:rPr lang="zh-CN" altLang="en-US" smtClean="0"/>
              <a:t>48</a:t>
            </a:fld>
            <a:endParaRPr lang="zh-CN" altLang="en-US" dirty="0"/>
          </a:p>
        </p:txBody>
      </p:sp>
      <p:sp>
        <p:nvSpPr>
          <p:cNvPr id="4" name="标题 3"/>
          <p:cNvSpPr>
            <a:spLocks noGrp="1"/>
          </p:cNvSpPr>
          <p:nvPr>
            <p:ph type="title"/>
          </p:nvPr>
        </p:nvSpPr>
        <p:spPr/>
        <p:txBody>
          <a:bodyPr/>
          <a:lstStyle/>
          <a:p>
            <a:r>
              <a:rPr lang="en-AU" altLang="en-US" dirty="0">
                <a:latin typeface="Times New Roman" panose="02020603050405020304" pitchFamily="18" charset="0"/>
                <a:cs typeface="Times New Roman" panose="02020603050405020304" pitchFamily="18" charset="0"/>
              </a:rPr>
              <a:t>ALU</a:t>
            </a:r>
            <a:r>
              <a:rPr lang="zh-CN" altLang="en-US" dirty="0">
                <a:latin typeface="Times New Roman" panose="02020603050405020304" pitchFamily="18" charset="0"/>
                <a:cs typeface="Times New Roman" panose="02020603050405020304" pitchFamily="18" charset="0"/>
              </a:rPr>
              <a:t>相关指令中的数据冒险</a:t>
            </a:r>
          </a:p>
        </p:txBody>
      </p:sp>
      <p:sp>
        <p:nvSpPr>
          <p:cNvPr id="3" name="文本框 2"/>
          <p:cNvSpPr txBox="1"/>
          <p:nvPr/>
        </p:nvSpPr>
        <p:spPr>
          <a:xfrm>
            <a:off x="8016240" y="1581785"/>
            <a:ext cx="3337560" cy="1076325"/>
          </a:xfrm>
          <a:prstGeom prst="rect">
            <a:avLst/>
          </a:prstGeom>
          <a:noFill/>
        </p:spPr>
        <p:txBody>
          <a:bodyPr wrap="square" rtlCol="0" anchor="t">
            <a:spAutoFit/>
          </a:bodyPr>
          <a:lstStyle/>
          <a:p>
            <a:r>
              <a:rPr lang="en-AU" altLang="en-US" sz="3200" dirty="0">
                <a:solidFill>
                  <a:schemeClr val="tx1"/>
                </a:solidFill>
                <a:latin typeface="Times New Roman" panose="02020603050405020304" pitchFamily="18" charset="0"/>
                <a:cs typeface="Times New Roman" panose="02020603050405020304" pitchFamily="18" charset="0"/>
                <a:sym typeface="+mn-ea"/>
              </a:rPr>
              <a:t>x2</a:t>
            </a:r>
            <a:r>
              <a:rPr lang="en-US" altLang="zh-CN" sz="3200" dirty="0">
                <a:solidFill>
                  <a:schemeClr val="tx1"/>
                </a:solidFill>
                <a:latin typeface="Times New Roman" panose="02020603050405020304" pitchFamily="18" charset="0"/>
                <a:cs typeface="Times New Roman" panose="02020603050405020304" pitchFamily="18" charset="0"/>
                <a:sym typeface="+mn-ea"/>
              </a:rPr>
              <a:t>: 10 (before)</a:t>
            </a:r>
          </a:p>
          <a:p>
            <a:r>
              <a:rPr lang="en-AU" altLang="en-US" sz="3200" dirty="0">
                <a:solidFill>
                  <a:schemeClr val="tx1"/>
                </a:solidFill>
                <a:latin typeface="Times New Roman" panose="02020603050405020304" pitchFamily="18" charset="0"/>
                <a:cs typeface="Times New Roman" panose="02020603050405020304" pitchFamily="18" charset="0"/>
                <a:sym typeface="+mn-ea"/>
              </a:rPr>
              <a:t>x2</a:t>
            </a:r>
            <a:r>
              <a:rPr lang="en-US" altLang="zh-CN" sz="3200" dirty="0">
                <a:solidFill>
                  <a:schemeClr val="tx1"/>
                </a:solidFill>
                <a:latin typeface="Times New Roman" panose="02020603050405020304" pitchFamily="18" charset="0"/>
                <a:cs typeface="Times New Roman" panose="02020603050405020304" pitchFamily="18" charset="0"/>
                <a:sym typeface="+mn-ea"/>
              </a:rPr>
              <a:t>: -20 (after)</a:t>
            </a:r>
          </a:p>
        </p:txBody>
      </p:sp>
      <p:pic>
        <p:nvPicPr>
          <p:cNvPr id="5" name="图片 4"/>
          <p:cNvPicPr>
            <a:picLocks noChangeAspect="1"/>
          </p:cNvPicPr>
          <p:nvPr/>
        </p:nvPicPr>
        <p:blipFill>
          <a:blip r:embed="rId3"/>
          <a:stretch>
            <a:fillRect/>
          </a:stretch>
        </p:blipFill>
        <p:spPr>
          <a:xfrm>
            <a:off x="5790523" y="5486718"/>
            <a:ext cx="610953" cy="785812"/>
          </a:xfrm>
          <a:prstGeom prst="rect">
            <a:avLst/>
          </a:prstGeom>
        </p:spPr>
      </p:pic>
    </p:spTree>
    <p:extLst>
      <p:ext uri="{BB962C8B-B14F-4D97-AF65-F5344CB8AC3E}">
        <p14:creationId xmlns:p14="http://schemas.microsoft.com/office/powerpoint/2010/main" val="2235320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24">
                                            <p:txEl>
                                              <p:pRg st="3" end="3"/>
                                            </p:txEl>
                                          </p:spTgt>
                                        </p:tgtEl>
                                        <p:attrNameLst>
                                          <p:attrName>style.visibility</p:attrName>
                                        </p:attrNameLst>
                                      </p:cBhvr>
                                      <p:to>
                                        <p:strVal val="visible"/>
                                      </p:to>
                                    </p:set>
                                    <p:animEffect transition="in" filter="fade">
                                      <p:cBhvr>
                                        <p:cTn id="7" dur="500"/>
                                        <p:tgtEl>
                                          <p:spTgt spid="5124">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24">
                                            <p:txEl>
                                              <p:pRg st="4" end="4"/>
                                            </p:txEl>
                                          </p:spTgt>
                                        </p:tgtEl>
                                        <p:attrNameLst>
                                          <p:attrName>style.visibility</p:attrName>
                                        </p:attrNameLst>
                                      </p:cBhvr>
                                      <p:to>
                                        <p:strVal val="visible"/>
                                      </p:to>
                                    </p:set>
                                    <p:animEffect transition="in" filter="fade">
                                      <p:cBhvr>
                                        <p:cTn id="12" dur="500"/>
                                        <p:tgtEl>
                                          <p:spTgt spid="5124">
                                            <p:txEl>
                                              <p:pRg st="4" end="4"/>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Rectangle 3"/>
          <p:cNvSpPr>
            <a:spLocks noGrp="1" noChangeArrowheads="1"/>
          </p:cNvSpPr>
          <p:nvPr>
            <p:ph idx="1"/>
          </p:nvPr>
        </p:nvSpPr>
        <p:spPr>
          <a:xfrm>
            <a:off x="838200" y="902009"/>
            <a:ext cx="10515600" cy="5263515"/>
          </a:xfrm>
        </p:spPr>
        <p:txBody>
          <a:bodyPr>
            <a:normAutofit/>
          </a:bodyPr>
          <a:lstStyle/>
          <a:p>
            <a:pPr eaLnBrk="1" hangingPunct="1">
              <a:lnSpc>
                <a:spcPct val="90000"/>
              </a:lnSpc>
            </a:pPr>
            <a:r>
              <a:rPr lang="zh-CN" altLang="en-US" sz="2800" dirty="0"/>
              <a:t>显示了给定周期中流水线的状态</a:t>
            </a:r>
            <a:endParaRPr lang="en-US" altLang="zh-CN" sz="2800" dirty="0"/>
          </a:p>
          <a:p>
            <a:pPr lvl="1" eaLnBrk="1" hangingPunct="1">
              <a:lnSpc>
                <a:spcPct val="90000"/>
              </a:lnSpc>
            </a:pPr>
            <a:r>
              <a:rPr lang="zh-CN" altLang="en-US" sz="2400" dirty="0"/>
              <a:t>单时钟周期图是多时钟周期图里一个时钟周期的垂直切片</a:t>
            </a:r>
            <a:endParaRPr lang="en-AU" altLang="en-US" sz="2400" dirty="0"/>
          </a:p>
        </p:txBody>
      </p:sp>
      <p:sp>
        <p:nvSpPr>
          <p:cNvPr id="121" name="标题 3"/>
          <p:cNvSpPr>
            <a:spLocks noGrp="1"/>
          </p:cNvSpPr>
          <p:nvPr>
            <p:ph type="title"/>
          </p:nvPr>
        </p:nvSpPr>
        <p:spPr/>
        <p:txBody>
          <a:bodyPr/>
          <a:lstStyle/>
          <a:p>
            <a:r>
              <a:rPr lang="zh-CN" altLang="en-US" dirty="0"/>
              <a:t>一个时钟周期下的流水线图</a:t>
            </a:r>
          </a:p>
        </p:txBody>
      </p:sp>
      <p:grpSp>
        <p:nvGrpSpPr>
          <p:cNvPr id="138" name="组合 137"/>
          <p:cNvGrpSpPr/>
          <p:nvPr/>
        </p:nvGrpSpPr>
        <p:grpSpPr>
          <a:xfrm>
            <a:off x="634468" y="2363436"/>
            <a:ext cx="11253523" cy="4358440"/>
            <a:chOff x="634468" y="2363436"/>
            <a:chExt cx="11253523" cy="4358440"/>
          </a:xfrm>
        </p:grpSpPr>
        <p:grpSp>
          <p:nvGrpSpPr>
            <p:cNvPr id="139" name="Instruction memory"/>
            <p:cNvGrpSpPr/>
            <p:nvPr/>
          </p:nvGrpSpPr>
          <p:grpSpPr>
            <a:xfrm>
              <a:off x="2190719" y="4138365"/>
              <a:ext cx="1142439" cy="1017764"/>
              <a:chOff x="2263385" y="3407372"/>
              <a:chExt cx="1470915" cy="1193839"/>
            </a:xfrm>
          </p:grpSpPr>
          <p:sp>
            <p:nvSpPr>
              <p:cNvPr id="407" name="矩形 406"/>
              <p:cNvSpPr/>
              <p:nvPr/>
            </p:nvSpPr>
            <p:spPr>
              <a:xfrm>
                <a:off x="2333823" y="3448051"/>
                <a:ext cx="1400477" cy="11531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08" name="文本框 407"/>
              <p:cNvSpPr txBox="1"/>
              <p:nvPr/>
            </p:nvSpPr>
            <p:spPr>
              <a:xfrm>
                <a:off x="2263385" y="3407372"/>
                <a:ext cx="1319245"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15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40" name="PC"/>
            <p:cNvGrpSpPr/>
            <p:nvPr/>
          </p:nvGrpSpPr>
          <p:grpSpPr>
            <a:xfrm>
              <a:off x="1612553" y="3940651"/>
              <a:ext cx="508932" cy="707887"/>
              <a:chOff x="792726" y="4754327"/>
              <a:chExt cx="1018662" cy="607761"/>
            </a:xfrm>
          </p:grpSpPr>
          <p:sp>
            <p:nvSpPr>
              <p:cNvPr id="405" name="矩形 404"/>
              <p:cNvSpPr/>
              <p:nvPr/>
            </p:nvSpPr>
            <p:spPr>
              <a:xfrm>
                <a:off x="887030" y="4800600"/>
                <a:ext cx="639939" cy="50292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06" name="文本框 405"/>
              <p:cNvSpPr txBox="1"/>
              <p:nvPr/>
            </p:nvSpPr>
            <p:spPr>
              <a:xfrm>
                <a:off x="792726" y="4754327"/>
                <a:ext cx="1018662" cy="607761"/>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PC</a:t>
                </a:r>
                <a:endParaRPr kumimoji="0" lang="zh-CN" alt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41" name="Add"/>
            <p:cNvGrpSpPr/>
            <p:nvPr/>
          </p:nvGrpSpPr>
          <p:grpSpPr>
            <a:xfrm>
              <a:off x="2449297" y="2889823"/>
              <a:ext cx="655949" cy="822349"/>
              <a:chOff x="4656246" y="4140786"/>
              <a:chExt cx="743403" cy="964617"/>
            </a:xfrm>
          </p:grpSpPr>
          <p:sp>
            <p:nvSpPr>
              <p:cNvPr id="403" name="梯形 402"/>
              <p:cNvSpPr/>
              <p:nvPr/>
            </p:nvSpPr>
            <p:spPr>
              <a:xfrm rot="5400000">
                <a:off x="4538209" y="4329347"/>
                <a:ext cx="964617" cy="587495"/>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04" name="文本框 403"/>
              <p:cNvSpPr txBox="1"/>
              <p:nvPr/>
            </p:nvSpPr>
            <p:spPr>
              <a:xfrm>
                <a:off x="4656246" y="4371481"/>
                <a:ext cx="743403" cy="46933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42" name="IF/ID"/>
            <p:cNvGrpSpPr/>
            <p:nvPr/>
          </p:nvGrpSpPr>
          <p:grpSpPr>
            <a:xfrm>
              <a:off x="3299900" y="2439254"/>
              <a:ext cx="797013" cy="4114272"/>
              <a:chOff x="116128" y="450828"/>
              <a:chExt cx="955165" cy="5944486"/>
            </a:xfrm>
          </p:grpSpPr>
          <p:sp>
            <p:nvSpPr>
              <p:cNvPr id="401" name="矩形 400"/>
              <p:cNvSpPr/>
              <p:nvPr/>
            </p:nvSpPr>
            <p:spPr>
              <a:xfrm>
                <a:off x="358141" y="937259"/>
                <a:ext cx="358140" cy="5458055"/>
              </a:xfrm>
              <a:prstGeom prst="rect">
                <a:avLst/>
              </a:prstGeom>
              <a:solidFill>
                <a:srgbClr val="9CDCF9"/>
              </a:solidFill>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02" name="文本框 401"/>
              <p:cNvSpPr txBox="1"/>
              <p:nvPr/>
            </p:nvSpPr>
            <p:spPr>
              <a:xfrm>
                <a:off x="116128" y="450828"/>
                <a:ext cx="955165" cy="578097"/>
              </a:xfrm>
              <a:prstGeom prst="rect">
                <a:avLst/>
              </a:prstGeom>
              <a:ln w="25400">
                <a:noFill/>
              </a:ln>
            </p:spPr>
            <p:style>
              <a:lnRef idx="1">
                <a:schemeClr val="accent1"/>
              </a:lnRef>
              <a:fillRef idx="0">
                <a:schemeClr val="accent1"/>
              </a:fillRef>
              <a:effectRef idx="0">
                <a:schemeClr val="accent1"/>
              </a:effectRef>
              <a:fontRef idx="minor">
                <a:schemeClr val="tx1"/>
              </a:fontRef>
            </p:style>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IF/ID</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77" name="Registers"/>
            <p:cNvGrpSpPr/>
            <p:nvPr/>
          </p:nvGrpSpPr>
          <p:grpSpPr>
            <a:xfrm>
              <a:off x="4430052" y="3199918"/>
              <a:ext cx="1726163" cy="2568442"/>
              <a:chOff x="1920262" y="241327"/>
              <a:chExt cx="3106114" cy="3344105"/>
            </a:xfrm>
          </p:grpSpPr>
          <p:sp>
            <p:nvSpPr>
              <p:cNvPr id="393" name="矩形 392"/>
              <p:cNvSpPr/>
              <p:nvPr/>
            </p:nvSpPr>
            <p:spPr>
              <a:xfrm>
                <a:off x="2026387" y="320244"/>
                <a:ext cx="2772304" cy="3265188"/>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4" name="文本框 393"/>
              <p:cNvSpPr txBox="1"/>
              <p:nvPr/>
            </p:nvSpPr>
            <p:spPr>
              <a:xfrm>
                <a:off x="2121631" y="1515410"/>
                <a:ext cx="2149527" cy="52094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Registers</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5" name="文本框 394"/>
              <p:cNvSpPr txBox="1"/>
              <p:nvPr/>
            </p:nvSpPr>
            <p:spPr>
              <a:xfrm>
                <a:off x="1920789" y="241327"/>
                <a:ext cx="2611979"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6" name="文本框 395"/>
              <p:cNvSpPr txBox="1"/>
              <p:nvPr/>
            </p:nvSpPr>
            <p:spPr>
              <a:xfrm>
                <a:off x="1920262" y="740405"/>
                <a:ext cx="2450645"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reg2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7" name="文本框 396"/>
              <p:cNvSpPr txBox="1"/>
              <p:nvPr/>
            </p:nvSpPr>
            <p:spPr>
              <a:xfrm>
                <a:off x="1925707" y="2479303"/>
                <a:ext cx="2199198"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reg</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8" name="文本框 397"/>
              <p:cNvSpPr txBox="1"/>
              <p:nvPr/>
            </p:nvSpPr>
            <p:spPr>
              <a:xfrm>
                <a:off x="1938951" y="2943791"/>
                <a:ext cx="2364242"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9" name="文本框 398"/>
              <p:cNvSpPr txBox="1"/>
              <p:nvPr/>
            </p:nvSpPr>
            <p:spPr>
              <a:xfrm>
                <a:off x="2467221" y="1159239"/>
                <a:ext cx="2524881" cy="52094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1</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400" name="文本框 399"/>
              <p:cNvSpPr txBox="1"/>
              <p:nvPr/>
            </p:nvSpPr>
            <p:spPr>
              <a:xfrm>
                <a:off x="2431051" y="1920895"/>
                <a:ext cx="2595325" cy="520942"/>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 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78" name="Imm Gen"/>
            <p:cNvGrpSpPr/>
            <p:nvPr/>
          </p:nvGrpSpPr>
          <p:grpSpPr>
            <a:xfrm>
              <a:off x="5227674" y="5936049"/>
              <a:ext cx="658095" cy="538474"/>
              <a:chOff x="4868693" y="6172575"/>
              <a:chExt cx="992993" cy="1215294"/>
            </a:xfrm>
          </p:grpSpPr>
          <p:sp>
            <p:nvSpPr>
              <p:cNvPr id="391" name="椭圆 390"/>
              <p:cNvSpPr/>
              <p:nvPr/>
            </p:nvSpPr>
            <p:spPr>
              <a:xfrm>
                <a:off x="4868693" y="6172575"/>
                <a:ext cx="984044" cy="1146747"/>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2" name="文本框 391"/>
              <p:cNvSpPr txBox="1"/>
              <p:nvPr/>
            </p:nvSpPr>
            <p:spPr>
              <a:xfrm>
                <a:off x="4895397" y="6339596"/>
                <a:ext cx="966289" cy="104827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err="1">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Imm</a:t>
                </a: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Gen</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79" name="Add Sum"/>
            <p:cNvGrpSpPr/>
            <p:nvPr/>
          </p:nvGrpSpPr>
          <p:grpSpPr>
            <a:xfrm>
              <a:off x="7719467" y="3017293"/>
              <a:ext cx="655949" cy="768090"/>
              <a:chOff x="5634620" y="2480764"/>
              <a:chExt cx="1081993" cy="1475010"/>
            </a:xfrm>
          </p:grpSpPr>
          <p:sp>
            <p:nvSpPr>
              <p:cNvPr id="389" name="梯形 388"/>
              <p:cNvSpPr/>
              <p:nvPr/>
            </p:nvSpPr>
            <p:spPr>
              <a:xfrm rot="5400000">
                <a:off x="5424366" y="2770445"/>
                <a:ext cx="1475010" cy="895647"/>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90" name="文本框 389"/>
              <p:cNvSpPr txBox="1"/>
              <p:nvPr/>
            </p:nvSpPr>
            <p:spPr>
              <a:xfrm>
                <a:off x="5634620" y="2851177"/>
                <a:ext cx="1081993" cy="939143"/>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Add</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Sum</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80" name="ALU"/>
            <p:cNvGrpSpPr/>
            <p:nvPr/>
          </p:nvGrpSpPr>
          <p:grpSpPr>
            <a:xfrm>
              <a:off x="7646391" y="4044546"/>
              <a:ext cx="880667" cy="1454509"/>
              <a:chOff x="6023805" y="3618922"/>
              <a:chExt cx="1295157" cy="1704463"/>
            </a:xfrm>
          </p:grpSpPr>
          <p:sp>
            <p:nvSpPr>
              <p:cNvPr id="385" name="梯形 384"/>
              <p:cNvSpPr/>
              <p:nvPr/>
            </p:nvSpPr>
            <p:spPr>
              <a:xfrm rot="5400000">
                <a:off x="5805450" y="3911167"/>
                <a:ext cx="1704463" cy="1119974"/>
              </a:xfrm>
              <a:prstGeom prst="trapezoid">
                <a:avLst>
                  <a:gd name="adj" fmla="val 43158"/>
                </a:avLst>
              </a:prstGeom>
              <a:solidFill>
                <a:schemeClr val="bg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6" name="文本框 385"/>
              <p:cNvSpPr txBox="1"/>
              <p:nvPr/>
            </p:nvSpPr>
            <p:spPr>
              <a:xfrm>
                <a:off x="6023805" y="3779478"/>
                <a:ext cx="1070760"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ALU</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7" name="文本框 386"/>
              <p:cNvSpPr txBox="1"/>
              <p:nvPr/>
            </p:nvSpPr>
            <p:spPr>
              <a:xfrm>
                <a:off x="6212840" y="4596488"/>
                <a:ext cx="1106122" cy="347668"/>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result</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8" name="文本框 387"/>
              <p:cNvSpPr txBox="1"/>
              <p:nvPr/>
            </p:nvSpPr>
            <p:spPr>
              <a:xfrm>
                <a:off x="6276821" y="4080452"/>
                <a:ext cx="983534" cy="46886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Zero</a:t>
                </a: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81" name="shift left 1"/>
            <p:cNvGrpSpPr/>
            <p:nvPr/>
          </p:nvGrpSpPr>
          <p:grpSpPr>
            <a:xfrm>
              <a:off x="6667688" y="3169261"/>
              <a:ext cx="774571" cy="682474"/>
              <a:chOff x="6107415" y="4133981"/>
              <a:chExt cx="1189523" cy="1146746"/>
            </a:xfrm>
          </p:grpSpPr>
          <p:sp>
            <p:nvSpPr>
              <p:cNvPr id="383" name="椭圆 382"/>
              <p:cNvSpPr/>
              <p:nvPr/>
            </p:nvSpPr>
            <p:spPr>
              <a:xfrm>
                <a:off x="6161866" y="4133981"/>
                <a:ext cx="984043" cy="1146746"/>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4" name="文本框 383"/>
              <p:cNvSpPr txBox="1"/>
              <p:nvPr/>
            </p:nvSpPr>
            <p:spPr>
              <a:xfrm>
                <a:off x="6107415" y="4371720"/>
                <a:ext cx="1189523" cy="821732"/>
              </a:xfrm>
              <a:prstGeom prst="rect">
                <a:avLst/>
              </a:prstGeom>
              <a:noFill/>
              <a:ln w="25400">
                <a:noFill/>
              </a:ln>
            </p:spPr>
            <p:txBody>
              <a:bodyPr wrap="none" rtlCol="0">
                <a:spAutoFit/>
              </a:bodyP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Shift </a:t>
                </a: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left 1</a:t>
                </a:r>
                <a:endPar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82" name="Mux 3"/>
            <p:cNvGrpSpPr/>
            <p:nvPr/>
          </p:nvGrpSpPr>
          <p:grpSpPr>
            <a:xfrm>
              <a:off x="11213520" y="5106295"/>
              <a:ext cx="596486" cy="1168007"/>
              <a:chOff x="3628473" y="5448300"/>
              <a:chExt cx="839025" cy="1230515"/>
            </a:xfrm>
          </p:grpSpPr>
          <p:sp>
            <p:nvSpPr>
              <p:cNvPr id="379" name="mux"/>
              <p:cNvSpPr/>
              <p:nvPr/>
            </p:nvSpPr>
            <p:spPr>
              <a:xfrm rot="5400000">
                <a:off x="3386121" y="5744398"/>
                <a:ext cx="1230515" cy="638319"/>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0" name="文本框 379"/>
              <p:cNvSpPr txBox="1"/>
              <p:nvPr/>
            </p:nvSpPr>
            <p:spPr>
              <a:xfrm>
                <a:off x="3628473" y="5492154"/>
                <a:ext cx="260679"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1" name="文本框 380"/>
              <p:cNvSpPr txBox="1"/>
              <p:nvPr/>
            </p:nvSpPr>
            <p:spPr>
              <a:xfrm>
                <a:off x="3641695" y="6293721"/>
                <a:ext cx="404061" cy="35667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82" name="文本框 381"/>
              <p:cNvSpPr txBox="1"/>
              <p:nvPr/>
            </p:nvSpPr>
            <p:spPr>
              <a:xfrm>
                <a:off x="3867268" y="5599309"/>
                <a:ext cx="600230" cy="1070017"/>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283" name="Data memory"/>
            <p:cNvGrpSpPr/>
            <p:nvPr/>
          </p:nvGrpSpPr>
          <p:grpSpPr>
            <a:xfrm>
              <a:off x="9233814" y="4289030"/>
              <a:ext cx="1417516" cy="1635472"/>
              <a:chOff x="14770965" y="4726326"/>
              <a:chExt cx="3011394" cy="3362560"/>
            </a:xfrm>
          </p:grpSpPr>
          <p:sp>
            <p:nvSpPr>
              <p:cNvPr id="374" name="矩形 373"/>
              <p:cNvSpPr/>
              <p:nvPr/>
            </p:nvSpPr>
            <p:spPr>
              <a:xfrm>
                <a:off x="14919092" y="4726326"/>
                <a:ext cx="2551866" cy="3362560"/>
              </a:xfrm>
              <a:prstGeom prst="rect">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75" name="文本框 374"/>
              <p:cNvSpPr txBox="1"/>
              <p:nvPr/>
            </p:nvSpPr>
            <p:spPr>
              <a:xfrm>
                <a:off x="14893548" y="4778415"/>
                <a:ext cx="2622003" cy="100548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Data </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memory</a:t>
                </a:r>
              </a:p>
            </p:txBody>
          </p:sp>
          <p:sp>
            <p:nvSpPr>
              <p:cNvPr id="376" name="文本框 375"/>
              <p:cNvSpPr txBox="1"/>
              <p:nvPr/>
            </p:nvSpPr>
            <p:spPr>
              <a:xfrm>
                <a:off x="14776597" y="5875439"/>
                <a:ext cx="2291814"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Address</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77" name="文本框 376"/>
              <p:cNvSpPr txBox="1"/>
              <p:nvPr/>
            </p:nvSpPr>
            <p:spPr>
              <a:xfrm>
                <a:off x="14770965" y="7263927"/>
                <a:ext cx="2654424"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Write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78" name="文本框 377"/>
              <p:cNvSpPr txBox="1"/>
              <p:nvPr/>
            </p:nvSpPr>
            <p:spPr>
              <a:xfrm>
                <a:off x="15110098" y="6521639"/>
                <a:ext cx="2672261" cy="822633"/>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Read data</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sp>
          <p:nvSpPr>
            <p:cNvPr id="372" name="矩形 371"/>
            <p:cNvSpPr/>
            <p:nvPr/>
          </p:nvSpPr>
          <p:spPr>
            <a:xfrm>
              <a:off x="6335104" y="2783569"/>
              <a:ext cx="316009" cy="3769417"/>
            </a:xfrm>
            <a:prstGeom prst="rect">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70" name="矩形 369"/>
            <p:cNvSpPr/>
            <p:nvPr/>
          </p:nvSpPr>
          <p:spPr>
            <a:xfrm>
              <a:off x="8712849" y="2788319"/>
              <a:ext cx="291194" cy="3754340"/>
            </a:xfrm>
            <a:prstGeom prst="rect">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68" name="矩形 367"/>
            <p:cNvSpPr/>
            <p:nvPr/>
          </p:nvSpPr>
          <p:spPr>
            <a:xfrm>
              <a:off x="10714680" y="2774884"/>
              <a:ext cx="300877" cy="3767775"/>
            </a:xfrm>
            <a:prstGeom prst="rect">
              <a:avLst/>
            </a:prstGeom>
            <a:solidFill>
              <a:srgbClr val="9CDCF9"/>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287" name="直接连接符 286"/>
            <p:cNvCxnSpPr/>
            <p:nvPr/>
          </p:nvCxnSpPr>
          <p:spPr>
            <a:xfrm flipV="1">
              <a:off x="3800682" y="3099097"/>
              <a:ext cx="2534421" cy="109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8" name="直接连接符 287"/>
            <p:cNvCxnSpPr/>
            <p:nvPr/>
          </p:nvCxnSpPr>
          <p:spPr>
            <a:xfrm>
              <a:off x="1979387" y="4301121"/>
              <a:ext cx="25830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9" name="直接连接符 288"/>
            <p:cNvCxnSpPr>
              <a:stCxn id="407" idx="3"/>
              <a:endCxn id="401" idx="1"/>
            </p:cNvCxnSpPr>
            <p:nvPr/>
          </p:nvCxnSpPr>
          <p:spPr>
            <a:xfrm>
              <a:off x="3333158" y="4664587"/>
              <a:ext cx="168684" cy="1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0" name="直接连接符 289"/>
            <p:cNvCxnSpPr>
              <a:stCxn id="403" idx="0"/>
            </p:cNvCxnSpPr>
            <p:nvPr/>
          </p:nvCxnSpPr>
          <p:spPr>
            <a:xfrm flipV="1">
              <a:off x="3029909" y="3299110"/>
              <a:ext cx="82559" cy="18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1" name="直接连接符 290"/>
            <p:cNvCxnSpPr/>
            <p:nvPr/>
          </p:nvCxnSpPr>
          <p:spPr>
            <a:xfrm>
              <a:off x="2067991" y="3026005"/>
              <a:ext cx="43729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2" name="直接连接符 291"/>
            <p:cNvCxnSpPr/>
            <p:nvPr/>
          </p:nvCxnSpPr>
          <p:spPr>
            <a:xfrm flipH="1">
              <a:off x="2067991" y="3017293"/>
              <a:ext cx="3782" cy="1271738"/>
            </a:xfrm>
            <a:prstGeom prst="line">
              <a:avLst/>
            </a:prstGeom>
            <a:ln w="25400">
              <a:solidFill>
                <a:schemeClr val="tx1"/>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293" name="直接连接符 292"/>
            <p:cNvCxnSpPr/>
            <p:nvPr/>
          </p:nvCxnSpPr>
          <p:spPr>
            <a:xfrm>
              <a:off x="3103590" y="2609191"/>
              <a:ext cx="0" cy="68991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4" name="直接连接符 293"/>
            <p:cNvCxnSpPr>
              <a:stCxn id="389" idx="0"/>
            </p:cNvCxnSpPr>
            <p:nvPr/>
          </p:nvCxnSpPr>
          <p:spPr>
            <a:xfrm flipV="1">
              <a:off x="8310605" y="3401338"/>
              <a:ext cx="404306"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5" name="直接连接符 294"/>
            <p:cNvCxnSpPr/>
            <p:nvPr/>
          </p:nvCxnSpPr>
          <p:spPr>
            <a:xfrm>
              <a:off x="814466" y="2609191"/>
              <a:ext cx="229800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6" name="直接连接符 295"/>
            <p:cNvCxnSpPr/>
            <p:nvPr/>
          </p:nvCxnSpPr>
          <p:spPr>
            <a:xfrm>
              <a:off x="814466" y="2609191"/>
              <a:ext cx="0" cy="138695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7" name="直接连接符 296"/>
            <p:cNvCxnSpPr/>
            <p:nvPr/>
          </p:nvCxnSpPr>
          <p:spPr>
            <a:xfrm>
              <a:off x="4108924" y="3431061"/>
              <a:ext cx="409392"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8" name="直接连接符 297"/>
            <p:cNvCxnSpPr/>
            <p:nvPr/>
          </p:nvCxnSpPr>
          <p:spPr>
            <a:xfrm>
              <a:off x="4095667" y="3783912"/>
              <a:ext cx="395373"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299" name="直接连接符 298"/>
            <p:cNvCxnSpPr/>
            <p:nvPr/>
          </p:nvCxnSpPr>
          <p:spPr>
            <a:xfrm>
              <a:off x="6034275" y="4239432"/>
              <a:ext cx="30542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0" name="直接连接符 299"/>
            <p:cNvCxnSpPr/>
            <p:nvPr/>
          </p:nvCxnSpPr>
          <p:spPr>
            <a:xfrm>
              <a:off x="6034276" y="4680814"/>
              <a:ext cx="295816"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1" name="直接连接符 300"/>
            <p:cNvCxnSpPr/>
            <p:nvPr/>
          </p:nvCxnSpPr>
          <p:spPr>
            <a:xfrm flipV="1">
              <a:off x="5882233" y="6173833"/>
              <a:ext cx="457463" cy="719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2" name="直接连接符 301"/>
            <p:cNvCxnSpPr/>
            <p:nvPr/>
          </p:nvCxnSpPr>
          <p:spPr>
            <a:xfrm>
              <a:off x="7373377" y="3523831"/>
              <a:ext cx="36100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3" name="直接连接符 302"/>
            <p:cNvCxnSpPr/>
            <p:nvPr/>
          </p:nvCxnSpPr>
          <p:spPr>
            <a:xfrm>
              <a:off x="6659620" y="4264963"/>
              <a:ext cx="103718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04" name="Mux 3"/>
            <p:cNvGrpSpPr/>
            <p:nvPr/>
          </p:nvGrpSpPr>
          <p:grpSpPr>
            <a:xfrm>
              <a:off x="944642" y="3784693"/>
              <a:ext cx="615567" cy="1168007"/>
              <a:chOff x="3339670" y="5460516"/>
              <a:chExt cx="901073" cy="1230515"/>
            </a:xfrm>
          </p:grpSpPr>
          <p:sp>
            <p:nvSpPr>
              <p:cNvPr id="364" name="mux"/>
              <p:cNvSpPr/>
              <p:nvPr/>
            </p:nvSpPr>
            <p:spPr>
              <a:xfrm rot="5400000">
                <a:off x="3140776" y="5731027"/>
                <a:ext cx="1230515" cy="689494"/>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65" name="文本框 364"/>
              <p:cNvSpPr txBox="1"/>
              <p:nvPr/>
            </p:nvSpPr>
            <p:spPr>
              <a:xfrm>
                <a:off x="3365437" y="5514581"/>
                <a:ext cx="260684"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66" name="文本框 365"/>
              <p:cNvSpPr txBox="1"/>
              <p:nvPr/>
            </p:nvSpPr>
            <p:spPr>
              <a:xfrm>
                <a:off x="3339670" y="6240974"/>
                <a:ext cx="324022" cy="35667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67" name="文本框 366"/>
              <p:cNvSpPr txBox="1"/>
              <p:nvPr/>
            </p:nvSpPr>
            <p:spPr>
              <a:xfrm>
                <a:off x="3616106" y="5588478"/>
                <a:ext cx="624637" cy="1070018"/>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305" name="直接连接符 304"/>
            <p:cNvCxnSpPr/>
            <p:nvPr/>
          </p:nvCxnSpPr>
          <p:spPr>
            <a:xfrm>
              <a:off x="8465220" y="5003334"/>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6" name="直接连接符 305"/>
            <p:cNvCxnSpPr/>
            <p:nvPr/>
          </p:nvCxnSpPr>
          <p:spPr>
            <a:xfrm>
              <a:off x="9015906" y="5013299"/>
              <a:ext cx="28232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7" name="直接连接符 306"/>
            <p:cNvCxnSpPr/>
            <p:nvPr/>
          </p:nvCxnSpPr>
          <p:spPr>
            <a:xfrm>
              <a:off x="8995735" y="5628356"/>
              <a:ext cx="3068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8" name="直接连接符 307"/>
            <p:cNvCxnSpPr/>
            <p:nvPr/>
          </p:nvCxnSpPr>
          <p:spPr>
            <a:xfrm>
              <a:off x="10513961" y="5308140"/>
              <a:ext cx="209115"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09" name="Mux 3"/>
            <p:cNvGrpSpPr/>
            <p:nvPr/>
          </p:nvGrpSpPr>
          <p:grpSpPr>
            <a:xfrm>
              <a:off x="7010916" y="4382167"/>
              <a:ext cx="482064" cy="1168006"/>
              <a:chOff x="3558568" y="5448300"/>
              <a:chExt cx="706348" cy="1230515"/>
            </a:xfrm>
          </p:grpSpPr>
          <p:sp>
            <p:nvSpPr>
              <p:cNvPr id="360" name="mux"/>
              <p:cNvSpPr/>
              <p:nvPr/>
            </p:nvSpPr>
            <p:spPr>
              <a:xfrm rot="5400000">
                <a:off x="3332723" y="5746622"/>
                <a:ext cx="1230515" cy="633871"/>
              </a:xfrm>
              <a:prstGeom prst="flowChartTerminator">
                <a:avLst/>
              </a:prstGeom>
              <a:solidFill>
                <a:schemeClr val="bg1"/>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61" name="文本框 360"/>
              <p:cNvSpPr txBox="1"/>
              <p:nvPr/>
            </p:nvSpPr>
            <p:spPr>
              <a:xfrm>
                <a:off x="3571052" y="5580627"/>
                <a:ext cx="260683" cy="342932"/>
              </a:xfrm>
              <a:prstGeom prst="rect">
                <a:avLst/>
              </a:prstGeom>
              <a:noFill/>
              <a:ln w="25400">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0</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62" name="文本框 361"/>
              <p:cNvSpPr txBox="1"/>
              <p:nvPr/>
            </p:nvSpPr>
            <p:spPr>
              <a:xfrm>
                <a:off x="3558568" y="6264229"/>
                <a:ext cx="408929" cy="342932"/>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1</a:t>
                </a:r>
                <a:endParaRPr kumimoji="0" lang="zh-C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63" name="文本框 362"/>
              <p:cNvSpPr txBox="1"/>
              <p:nvPr/>
            </p:nvSpPr>
            <p:spPr>
              <a:xfrm>
                <a:off x="3747999" y="5579240"/>
                <a:ext cx="462611" cy="1070019"/>
              </a:xfrm>
              <a:prstGeom prst="rect">
                <a:avLst/>
              </a:prstGeom>
              <a:noFill/>
              <a:ln w="25400">
                <a:noFill/>
              </a:ln>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X</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cxnSp>
          <p:nvCxnSpPr>
            <p:cNvPr id="310" name="直接连接符 309"/>
            <p:cNvCxnSpPr/>
            <p:nvPr/>
          </p:nvCxnSpPr>
          <p:spPr>
            <a:xfrm flipV="1">
              <a:off x="1472741" y="4294728"/>
              <a:ext cx="178001" cy="5"/>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1" name="直接连接符 310"/>
            <p:cNvCxnSpPr/>
            <p:nvPr/>
          </p:nvCxnSpPr>
          <p:spPr>
            <a:xfrm>
              <a:off x="2310755" y="3488211"/>
              <a:ext cx="18646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2" name="直接连接符 311"/>
            <p:cNvCxnSpPr/>
            <p:nvPr/>
          </p:nvCxnSpPr>
          <p:spPr>
            <a:xfrm>
              <a:off x="6659620" y="3093825"/>
              <a:ext cx="1083649" cy="7422"/>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3" name="直接连接符 312"/>
            <p:cNvCxnSpPr/>
            <p:nvPr/>
          </p:nvCxnSpPr>
          <p:spPr>
            <a:xfrm flipH="1">
              <a:off x="6882298" y="3836012"/>
              <a:ext cx="22498" cy="19552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4" name="直接连接符 313"/>
            <p:cNvCxnSpPr/>
            <p:nvPr/>
          </p:nvCxnSpPr>
          <p:spPr>
            <a:xfrm>
              <a:off x="6659620" y="5791262"/>
              <a:ext cx="24517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 name="直接连接符 314"/>
            <p:cNvCxnSpPr/>
            <p:nvPr/>
          </p:nvCxnSpPr>
          <p:spPr>
            <a:xfrm>
              <a:off x="6659620" y="4680814"/>
              <a:ext cx="400771"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6" name="直接连接符 315"/>
            <p:cNvCxnSpPr/>
            <p:nvPr/>
          </p:nvCxnSpPr>
          <p:spPr>
            <a:xfrm>
              <a:off x="6894161" y="5336493"/>
              <a:ext cx="182537" cy="853"/>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17" name="直接连接符 316"/>
            <p:cNvCxnSpPr/>
            <p:nvPr/>
          </p:nvCxnSpPr>
          <p:spPr>
            <a:xfrm>
              <a:off x="6781324" y="5628354"/>
              <a:ext cx="1931532" cy="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8" name="直接连接符 317"/>
            <p:cNvCxnSpPr/>
            <p:nvPr/>
          </p:nvCxnSpPr>
          <p:spPr>
            <a:xfrm>
              <a:off x="6781324" y="4680814"/>
              <a:ext cx="1766" cy="947540"/>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319" name="直接连接符 318"/>
            <p:cNvCxnSpPr/>
            <p:nvPr/>
          </p:nvCxnSpPr>
          <p:spPr>
            <a:xfrm>
              <a:off x="9116257" y="5009737"/>
              <a:ext cx="0" cy="1068388"/>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320" name="直接连接符 319"/>
            <p:cNvCxnSpPr/>
            <p:nvPr/>
          </p:nvCxnSpPr>
          <p:spPr>
            <a:xfrm flipV="1">
              <a:off x="9116257" y="6072326"/>
              <a:ext cx="1599091" cy="5721"/>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1" name="直接连接符 320"/>
            <p:cNvCxnSpPr/>
            <p:nvPr/>
          </p:nvCxnSpPr>
          <p:spPr>
            <a:xfrm>
              <a:off x="11006223" y="6061861"/>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2" name="直接连接符 321"/>
            <p:cNvCxnSpPr/>
            <p:nvPr/>
          </p:nvCxnSpPr>
          <p:spPr>
            <a:xfrm>
              <a:off x="7492981" y="5146566"/>
              <a:ext cx="213404"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3" name="文本框 322"/>
            <p:cNvSpPr txBox="1"/>
            <p:nvPr/>
          </p:nvSpPr>
          <p:spPr>
            <a:xfrm>
              <a:off x="2047898" y="4689544"/>
              <a:ext cx="1500650" cy="489045"/>
            </a:xfrm>
            <a:prstGeom prst="rect">
              <a:avLst/>
            </a:prstGeom>
            <a:noFill/>
            <a:ln w="25400">
              <a:noFill/>
            </a:ln>
          </p:spPr>
          <p:txBody>
            <a:bodyPr wrap="square" rtlCol="0">
              <a:spAutoFit/>
            </a:bodyPr>
            <a:lstStyle/>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p>
            <a:p>
              <a:pPr marL="0" marR="0" lvl="0" indent="0" algn="ctr" defTabSz="914400" rtl="0" eaLnBrk="1" fontAlgn="auto" latinLnBrk="0" hangingPunct="1">
                <a:lnSpc>
                  <a:spcPts val="15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rPr>
                <a:t> memory</a:t>
              </a:r>
              <a:endParaRPr kumimoji="0" lang="zh-CN" alt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324" name="直接连接符 323"/>
            <p:cNvCxnSpPr>
              <a:endCxn id="382" idx="3"/>
            </p:cNvCxnSpPr>
            <p:nvPr/>
          </p:nvCxnSpPr>
          <p:spPr>
            <a:xfrm>
              <a:off x="11677318" y="5729690"/>
              <a:ext cx="132688" cy="27775"/>
            </a:xfrm>
            <a:prstGeom prst="line">
              <a:avLst/>
            </a:prstGeom>
            <a:ln w="25400">
              <a:noFill/>
            </a:ln>
          </p:spPr>
          <p:style>
            <a:lnRef idx="1">
              <a:schemeClr val="accent1"/>
            </a:lnRef>
            <a:fillRef idx="0">
              <a:schemeClr val="accent1"/>
            </a:fillRef>
            <a:effectRef idx="0">
              <a:schemeClr val="accent1"/>
            </a:effectRef>
            <a:fontRef idx="minor">
              <a:schemeClr val="tx1"/>
            </a:fontRef>
          </p:style>
        </p:cxnSp>
        <p:cxnSp>
          <p:nvCxnSpPr>
            <p:cNvPr id="325" name="直接连接符 324"/>
            <p:cNvCxnSpPr/>
            <p:nvPr/>
          </p:nvCxnSpPr>
          <p:spPr>
            <a:xfrm flipH="1">
              <a:off x="11873585" y="5711600"/>
              <a:ext cx="14406" cy="9965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6" name="直接连接符 325"/>
            <p:cNvCxnSpPr/>
            <p:nvPr/>
          </p:nvCxnSpPr>
          <p:spPr>
            <a:xfrm>
              <a:off x="4241624" y="5413265"/>
              <a:ext cx="0" cy="13086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7" name="直接连接符 326"/>
            <p:cNvCxnSpPr/>
            <p:nvPr/>
          </p:nvCxnSpPr>
          <p:spPr>
            <a:xfrm>
              <a:off x="4238265" y="5413265"/>
              <a:ext cx="247455" cy="4814"/>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8" name="直接连接符 327"/>
            <p:cNvCxnSpPr/>
            <p:nvPr/>
          </p:nvCxnSpPr>
          <p:spPr>
            <a:xfrm>
              <a:off x="643799" y="2363436"/>
              <a:ext cx="898997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9" name="直接连接符 328"/>
            <p:cNvCxnSpPr/>
            <p:nvPr/>
          </p:nvCxnSpPr>
          <p:spPr>
            <a:xfrm>
              <a:off x="643799" y="2372479"/>
              <a:ext cx="0" cy="23336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0" name="直接连接符 329"/>
            <p:cNvCxnSpPr/>
            <p:nvPr/>
          </p:nvCxnSpPr>
          <p:spPr>
            <a:xfrm>
              <a:off x="802048" y="3994540"/>
              <a:ext cx="165348" cy="6537"/>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1" name="直接连接符 330"/>
            <p:cNvCxnSpPr/>
            <p:nvPr/>
          </p:nvCxnSpPr>
          <p:spPr>
            <a:xfrm>
              <a:off x="634468" y="4701765"/>
              <a:ext cx="332520"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2" name="直接连接符 331"/>
            <p:cNvCxnSpPr/>
            <p:nvPr/>
          </p:nvCxnSpPr>
          <p:spPr>
            <a:xfrm>
              <a:off x="9633770" y="2363436"/>
              <a:ext cx="0" cy="10197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3" name="直接连接符 332"/>
            <p:cNvCxnSpPr/>
            <p:nvPr/>
          </p:nvCxnSpPr>
          <p:spPr>
            <a:xfrm flipV="1">
              <a:off x="9007326" y="3391179"/>
              <a:ext cx="641869" cy="517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34" name="文本框 333"/>
            <p:cNvSpPr txBox="1"/>
            <p:nvPr/>
          </p:nvSpPr>
          <p:spPr>
            <a:xfrm>
              <a:off x="2030131" y="3297765"/>
              <a:ext cx="20135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rPr>
                <a:t>4</a:t>
              </a:r>
              <a:endParaRPr kumimoji="0" lang="zh-CN" altLang="en-US" sz="2000" b="1" i="0" u="none" strike="noStrike" kern="1200" cap="none" spc="0" normalizeH="0" baseline="0" noProof="0" dirty="0">
                <a:ln>
                  <a:noFill/>
                </a:ln>
                <a:solidFill>
                  <a:prstClr val="black"/>
                </a:solidFill>
                <a:effectLst/>
                <a:uLnTx/>
                <a:uFillTx/>
                <a:latin typeface="等线" panose="02010600030101010101" charset="-122"/>
                <a:ea typeface="等线" panose="02010600030101010101" charset="-122"/>
                <a:cs typeface="+mn-cs"/>
              </a:endParaRPr>
            </a:p>
          </p:txBody>
        </p:sp>
        <p:cxnSp>
          <p:nvCxnSpPr>
            <p:cNvPr id="335" name="直接连接符 334"/>
            <p:cNvCxnSpPr/>
            <p:nvPr/>
          </p:nvCxnSpPr>
          <p:spPr>
            <a:xfrm>
              <a:off x="11725910" y="5711600"/>
              <a:ext cx="16208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36" name="直接连接符 335"/>
            <p:cNvCxnSpPr/>
            <p:nvPr/>
          </p:nvCxnSpPr>
          <p:spPr>
            <a:xfrm>
              <a:off x="4086929" y="3429000"/>
              <a:ext cx="0" cy="27611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7" name="直接连接符 336"/>
            <p:cNvCxnSpPr/>
            <p:nvPr/>
          </p:nvCxnSpPr>
          <p:spPr>
            <a:xfrm>
              <a:off x="8465220" y="4602738"/>
              <a:ext cx="233094" cy="2908"/>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8" name="直接连接符 337"/>
            <p:cNvCxnSpPr/>
            <p:nvPr/>
          </p:nvCxnSpPr>
          <p:spPr>
            <a:xfrm>
              <a:off x="9006397" y="4602781"/>
              <a:ext cx="185943"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9" name="连接符: 肘形 338"/>
            <p:cNvCxnSpPr/>
            <p:nvPr/>
          </p:nvCxnSpPr>
          <p:spPr>
            <a:xfrm flipV="1">
              <a:off x="2081957" y="3110011"/>
              <a:ext cx="1431289" cy="730238"/>
            </a:xfrm>
            <a:prstGeom prst="bentConnector3">
              <a:avLst>
                <a:gd name="adj1" fmla="val 82595"/>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340" name="文本框 339"/>
            <p:cNvSpPr txBox="1"/>
            <p:nvPr/>
          </p:nvSpPr>
          <p:spPr>
            <a:xfrm rot="10800000">
              <a:off x="3728559" y="2891210"/>
              <a:ext cx="430887" cy="1436503"/>
            </a:xfrm>
            <a:prstGeom prst="rect">
              <a:avLst/>
            </a:prstGeom>
            <a:noFill/>
          </p:spPr>
          <p:txBody>
            <a:bodyPr vert="eaVert"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Instruction</a:t>
              </a: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41" name="文本框 340"/>
            <p:cNvSpPr txBox="1"/>
            <p:nvPr/>
          </p:nvSpPr>
          <p:spPr>
            <a:xfrm>
              <a:off x="4657416" y="6204105"/>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32</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342" name="文本框 341"/>
            <p:cNvSpPr txBox="1"/>
            <p:nvPr/>
          </p:nvSpPr>
          <p:spPr>
            <a:xfrm>
              <a:off x="5883301" y="6175828"/>
              <a:ext cx="44410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64</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cxnSp>
          <p:nvCxnSpPr>
            <p:cNvPr id="343" name="直接连接符 342"/>
            <p:cNvCxnSpPr/>
            <p:nvPr/>
          </p:nvCxnSpPr>
          <p:spPr>
            <a:xfrm>
              <a:off x="4784174" y="6117706"/>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4" name="直接连接符 343"/>
            <p:cNvCxnSpPr/>
            <p:nvPr/>
          </p:nvCxnSpPr>
          <p:spPr>
            <a:xfrm>
              <a:off x="6012756" y="6112229"/>
              <a:ext cx="102637" cy="144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5" name="直接连接符 344"/>
            <p:cNvCxnSpPr/>
            <p:nvPr/>
          </p:nvCxnSpPr>
          <p:spPr>
            <a:xfrm flipV="1">
              <a:off x="4228170" y="6708122"/>
              <a:ext cx="7659820" cy="1375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6" name="直接连接符 345"/>
            <p:cNvCxnSpPr/>
            <p:nvPr/>
          </p:nvCxnSpPr>
          <p:spPr>
            <a:xfrm>
              <a:off x="11015554" y="5314205"/>
              <a:ext cx="223907"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7" name="直接连接符 346"/>
            <p:cNvCxnSpPr/>
            <p:nvPr/>
          </p:nvCxnSpPr>
          <p:spPr>
            <a:xfrm>
              <a:off x="3800682" y="4672713"/>
              <a:ext cx="286247" cy="8101"/>
            </a:xfrm>
            <a:prstGeom prst="line">
              <a:avLst/>
            </a:prstGeom>
            <a:ln w="2540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348" name="直接连接符 347"/>
            <p:cNvCxnSpPr/>
            <p:nvPr/>
          </p:nvCxnSpPr>
          <p:spPr>
            <a:xfrm>
              <a:off x="4086929" y="6190349"/>
              <a:ext cx="1143140" cy="0"/>
            </a:xfrm>
            <a:prstGeom prst="line">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49" name="直接连接符 348"/>
            <p:cNvCxnSpPr/>
            <p:nvPr/>
          </p:nvCxnSpPr>
          <p:spPr>
            <a:xfrm>
              <a:off x="3941685" y="5072519"/>
              <a:ext cx="544035" cy="0"/>
            </a:xfrm>
            <a:prstGeom prst="line">
              <a:avLst/>
            </a:prstGeom>
            <a:ln w="254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50" name="直接连接符 349"/>
            <p:cNvCxnSpPr/>
            <p:nvPr/>
          </p:nvCxnSpPr>
          <p:spPr>
            <a:xfrm>
              <a:off x="4085932" y="6190100"/>
              <a:ext cx="0" cy="25778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1" name="直接箭头连接符 350"/>
            <p:cNvCxnSpPr/>
            <p:nvPr/>
          </p:nvCxnSpPr>
          <p:spPr>
            <a:xfrm>
              <a:off x="4085932" y="6447889"/>
              <a:ext cx="224029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2" name="直接箭头连接符 351"/>
            <p:cNvCxnSpPr/>
            <p:nvPr/>
          </p:nvCxnSpPr>
          <p:spPr>
            <a:xfrm>
              <a:off x="6658814" y="6441029"/>
              <a:ext cx="203950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3" name="直接箭头连接符 352"/>
            <p:cNvCxnSpPr/>
            <p:nvPr/>
          </p:nvCxnSpPr>
          <p:spPr>
            <a:xfrm>
              <a:off x="9015906" y="6436332"/>
              <a:ext cx="168174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4" name="直接连接符 353"/>
            <p:cNvCxnSpPr/>
            <p:nvPr/>
          </p:nvCxnSpPr>
          <p:spPr>
            <a:xfrm flipV="1">
              <a:off x="11024432" y="6447889"/>
              <a:ext cx="236174"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5" name="直接连接符 354"/>
            <p:cNvCxnSpPr/>
            <p:nvPr/>
          </p:nvCxnSpPr>
          <p:spPr>
            <a:xfrm>
              <a:off x="11250223" y="6440530"/>
              <a:ext cx="0" cy="20123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6" name="直接箭头连接符 355"/>
            <p:cNvCxnSpPr/>
            <p:nvPr/>
          </p:nvCxnSpPr>
          <p:spPr>
            <a:xfrm flipH="1">
              <a:off x="3941685" y="6641769"/>
              <a:ext cx="7318921" cy="0"/>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7" name="直接连接符 356"/>
            <p:cNvCxnSpPr/>
            <p:nvPr/>
          </p:nvCxnSpPr>
          <p:spPr>
            <a:xfrm>
              <a:off x="3954246" y="5072519"/>
              <a:ext cx="0" cy="15808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3" name="文本框 142"/>
          <p:cNvSpPr txBox="1"/>
          <p:nvPr/>
        </p:nvSpPr>
        <p:spPr>
          <a:xfrm>
            <a:off x="6044404" y="2444255"/>
            <a:ext cx="889000" cy="39878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ID/EX</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4" name="文本框 143"/>
          <p:cNvSpPr txBox="1"/>
          <p:nvPr/>
        </p:nvSpPr>
        <p:spPr>
          <a:xfrm>
            <a:off x="8230017" y="2391629"/>
            <a:ext cx="1256030" cy="39878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EX/MEM</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sp>
        <p:nvSpPr>
          <p:cNvPr id="145" name="文本框 144"/>
          <p:cNvSpPr txBox="1"/>
          <p:nvPr/>
        </p:nvSpPr>
        <p:spPr>
          <a:xfrm>
            <a:off x="10208057" y="2405575"/>
            <a:ext cx="1326515" cy="398780"/>
          </a:xfrm>
          <a:prstGeom prst="rect">
            <a:avLst/>
          </a:prstGeom>
          <a:noFill/>
          <a:ln w="25400">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rPr>
              <a:t>MEM/WB</a:t>
            </a:r>
            <a:endPar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nvGrpSpPr>
          <p:cNvPr id="542" name="组合 541"/>
          <p:cNvGrpSpPr/>
          <p:nvPr/>
        </p:nvGrpSpPr>
        <p:grpSpPr>
          <a:xfrm>
            <a:off x="589782" y="1909675"/>
            <a:ext cx="11782694" cy="638487"/>
            <a:chOff x="1613177" y="1713218"/>
            <a:chExt cx="7803298" cy="638487"/>
          </a:xfrm>
        </p:grpSpPr>
        <p:cxnSp>
          <p:nvCxnSpPr>
            <p:cNvPr id="543" name="直接连接符 542"/>
            <p:cNvCxnSpPr/>
            <p:nvPr/>
          </p:nvCxnSpPr>
          <p:spPr>
            <a:xfrm>
              <a:off x="1659668"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4" name="直接连接符 543"/>
            <p:cNvCxnSpPr/>
            <p:nvPr/>
          </p:nvCxnSpPr>
          <p:spPr>
            <a:xfrm>
              <a:off x="3648092"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5" name="直接连接符 544"/>
            <p:cNvCxnSpPr/>
            <p:nvPr/>
          </p:nvCxnSpPr>
          <p:spPr>
            <a:xfrm>
              <a:off x="1659668" y="1838984"/>
              <a:ext cx="19856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46" name="文本框 545"/>
            <p:cNvSpPr txBox="1"/>
            <p:nvPr/>
          </p:nvSpPr>
          <p:spPr>
            <a:xfrm>
              <a:off x="8082892" y="1951595"/>
              <a:ext cx="1333583" cy="400110"/>
            </a:xfrm>
            <a:prstGeom prst="rect">
              <a:avLst/>
            </a:prstGeom>
            <a:noFill/>
          </p:spPr>
          <p:txBody>
            <a:bodyPr wrap="square" rtlCol="0">
              <a:spAutoFit/>
            </a:bodyPr>
            <a:lstStyle/>
            <a:p>
              <a:pPr lvl="0" algn="ctr">
                <a:defRPr/>
              </a:pPr>
              <a:r>
                <a:rPr lang="en-AU" altLang="en-US" sz="2000" dirty="0">
                  <a:latin typeface="Times New Roman" panose="02020603050405020304" pitchFamily="18" charset="0"/>
                  <a:cs typeface="Times New Roman" panose="02020603050405020304" pitchFamily="18" charset="0"/>
                </a:rPr>
                <a:t>sub  </a:t>
              </a:r>
              <a:r>
                <a:rPr lang="en-AU" altLang="en-US" sz="2000" dirty="0">
                  <a:solidFill>
                    <a:schemeClr val="hlink"/>
                  </a:solidFill>
                  <a:latin typeface="Times New Roman" panose="02020603050405020304" pitchFamily="18" charset="0"/>
                  <a:cs typeface="Times New Roman" panose="02020603050405020304" pitchFamily="18" charset="0"/>
                </a:rPr>
                <a:t>x2</a:t>
              </a:r>
              <a:r>
                <a:rPr lang="en-AU" altLang="en-US" sz="2000" dirty="0">
                  <a:latin typeface="Times New Roman" panose="02020603050405020304" pitchFamily="18" charset="0"/>
                  <a:cs typeface="Times New Roman" panose="02020603050405020304" pitchFamily="18" charset="0"/>
                </a:rPr>
                <a:t>,   x1, x3</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 </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47" name="文本框 546"/>
            <p:cNvSpPr txBox="1"/>
            <p:nvPr/>
          </p:nvSpPr>
          <p:spPr>
            <a:xfrm>
              <a:off x="1613177" y="1805797"/>
              <a:ext cx="203218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rPr>
                <a:t>Instruction fetch</a:t>
              </a:r>
              <a:endPar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grpSp>
        <p:nvGrpSpPr>
          <p:cNvPr id="548" name="组合 547"/>
          <p:cNvGrpSpPr/>
          <p:nvPr/>
        </p:nvGrpSpPr>
        <p:grpSpPr>
          <a:xfrm>
            <a:off x="3602184" y="1676459"/>
            <a:ext cx="7233692" cy="725905"/>
            <a:chOff x="1613177" y="1480002"/>
            <a:chExt cx="5214405" cy="725905"/>
          </a:xfrm>
        </p:grpSpPr>
        <p:cxnSp>
          <p:nvCxnSpPr>
            <p:cNvPr id="549" name="直接连接符 548"/>
            <p:cNvCxnSpPr/>
            <p:nvPr/>
          </p:nvCxnSpPr>
          <p:spPr>
            <a:xfrm>
              <a:off x="1659668"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0" name="直接连接符 549"/>
            <p:cNvCxnSpPr/>
            <p:nvPr/>
          </p:nvCxnSpPr>
          <p:spPr>
            <a:xfrm>
              <a:off x="3648092"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1" name="直接连接符 550"/>
            <p:cNvCxnSpPr/>
            <p:nvPr/>
          </p:nvCxnSpPr>
          <p:spPr>
            <a:xfrm>
              <a:off x="1659668" y="1838984"/>
              <a:ext cx="19856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52" name="文本框 551"/>
            <p:cNvSpPr txBox="1"/>
            <p:nvPr/>
          </p:nvSpPr>
          <p:spPr>
            <a:xfrm>
              <a:off x="5457588" y="1480002"/>
              <a:ext cx="1369994" cy="400110"/>
            </a:xfrm>
            <a:prstGeom prst="rect">
              <a:avLst/>
            </a:prstGeom>
            <a:noFill/>
          </p:spPr>
          <p:txBody>
            <a:bodyPr wrap="square" rtlCol="0">
              <a:spAutoFit/>
            </a:bodyPr>
            <a:lstStyle/>
            <a:p>
              <a:pPr lvl="0" algn="ctr">
                <a:defRPr/>
              </a:pPr>
              <a:r>
                <a:rPr lang="en-AU" altLang="en-US" sz="2000" dirty="0">
                  <a:latin typeface="Times New Roman" panose="02020603050405020304" pitchFamily="18" charset="0"/>
                  <a:cs typeface="Times New Roman" panose="02020603050405020304" pitchFamily="18" charset="0"/>
                </a:rPr>
                <a:t>and  x12, </a:t>
              </a:r>
              <a:r>
                <a:rPr lang="en-AU" altLang="en-US" sz="2000" dirty="0">
                  <a:solidFill>
                    <a:schemeClr val="hlink"/>
                  </a:solidFill>
                  <a:latin typeface="Times New Roman" panose="02020603050405020304" pitchFamily="18" charset="0"/>
                  <a:cs typeface="Times New Roman" panose="02020603050405020304" pitchFamily="18" charset="0"/>
                </a:rPr>
                <a:t>x2</a:t>
              </a:r>
              <a:r>
                <a:rPr lang="en-AU" altLang="en-US" sz="2000" dirty="0">
                  <a:latin typeface="Times New Roman" panose="02020603050405020304" pitchFamily="18" charset="0"/>
                  <a:cs typeface="Times New Roman" panose="02020603050405020304" pitchFamily="18" charset="0"/>
                </a:rPr>
                <a:t>, x5</a:t>
              </a:r>
              <a:endPar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53" name="文本框 552"/>
            <p:cNvSpPr txBox="1"/>
            <p:nvPr/>
          </p:nvSpPr>
          <p:spPr>
            <a:xfrm>
              <a:off x="1613177" y="1805797"/>
              <a:ext cx="203218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rPr>
                <a:t>Instruction decode</a:t>
              </a:r>
              <a:endPar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grpSp>
        <p:nvGrpSpPr>
          <p:cNvPr id="554" name="组合 553"/>
          <p:cNvGrpSpPr/>
          <p:nvPr/>
        </p:nvGrpSpPr>
        <p:grpSpPr>
          <a:xfrm>
            <a:off x="6363591" y="1665088"/>
            <a:ext cx="2501725" cy="737276"/>
            <a:chOff x="1613177" y="1468631"/>
            <a:chExt cx="2034915" cy="737276"/>
          </a:xfrm>
        </p:grpSpPr>
        <p:cxnSp>
          <p:nvCxnSpPr>
            <p:cNvPr id="555" name="直接连接符 554"/>
            <p:cNvCxnSpPr/>
            <p:nvPr/>
          </p:nvCxnSpPr>
          <p:spPr>
            <a:xfrm>
              <a:off x="1659668"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6" name="直接连接符 555"/>
            <p:cNvCxnSpPr/>
            <p:nvPr/>
          </p:nvCxnSpPr>
          <p:spPr>
            <a:xfrm>
              <a:off x="3648092"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7" name="直接连接符 556"/>
            <p:cNvCxnSpPr/>
            <p:nvPr/>
          </p:nvCxnSpPr>
          <p:spPr>
            <a:xfrm>
              <a:off x="1659668" y="1838984"/>
              <a:ext cx="19856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58" name="文本框 557"/>
            <p:cNvSpPr txBox="1"/>
            <p:nvPr/>
          </p:nvSpPr>
          <p:spPr>
            <a:xfrm>
              <a:off x="1879301" y="1468631"/>
              <a:ext cx="1655882" cy="400110"/>
            </a:xfrm>
            <a:prstGeom prst="rect">
              <a:avLst/>
            </a:prstGeom>
            <a:noFill/>
          </p:spPr>
          <p:txBody>
            <a:bodyPr wrap="square" rtlCol="0">
              <a:spAutoFit/>
            </a:bodyPr>
            <a:lstStyle/>
            <a:p>
              <a:pPr lvl="0">
                <a:defRPr/>
              </a:pPr>
              <a:r>
                <a:rPr lang="en-AU" altLang="en-US" sz="2000" dirty="0">
                  <a:latin typeface="Times New Roman" panose="02020603050405020304" pitchFamily="18" charset="0"/>
                  <a:cs typeface="Times New Roman" panose="02020603050405020304" pitchFamily="18" charset="0"/>
                </a:rPr>
                <a:t>or    x13, x6,  </a:t>
              </a:r>
              <a:r>
                <a:rPr lang="en-AU" altLang="en-US" sz="2000" dirty="0">
                  <a:solidFill>
                    <a:schemeClr val="hlink"/>
                  </a:solidFill>
                  <a:latin typeface="Times New Roman" panose="02020603050405020304" pitchFamily="18" charset="0"/>
                  <a:cs typeface="Times New Roman" panose="02020603050405020304" pitchFamily="18" charset="0"/>
                </a:rPr>
                <a:t>x2</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59" name="文本框 558"/>
            <p:cNvSpPr txBox="1"/>
            <p:nvPr/>
          </p:nvSpPr>
          <p:spPr>
            <a:xfrm>
              <a:off x="1613177" y="1805797"/>
              <a:ext cx="203218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rPr>
                <a:t>Execution</a:t>
              </a:r>
              <a:endPar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grpSp>
        <p:nvGrpSpPr>
          <p:cNvPr id="560" name="组合 559"/>
          <p:cNvGrpSpPr/>
          <p:nvPr/>
        </p:nvGrpSpPr>
        <p:grpSpPr>
          <a:xfrm>
            <a:off x="4048426" y="1645354"/>
            <a:ext cx="6777551" cy="757010"/>
            <a:chOff x="-3196724" y="1448897"/>
            <a:chExt cx="6844816" cy="757010"/>
          </a:xfrm>
        </p:grpSpPr>
        <p:cxnSp>
          <p:nvCxnSpPr>
            <p:cNvPr id="561" name="直接连接符 560"/>
            <p:cNvCxnSpPr/>
            <p:nvPr/>
          </p:nvCxnSpPr>
          <p:spPr>
            <a:xfrm>
              <a:off x="1659668"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2" name="直接连接符 561"/>
            <p:cNvCxnSpPr/>
            <p:nvPr/>
          </p:nvCxnSpPr>
          <p:spPr>
            <a:xfrm>
              <a:off x="3648092"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3" name="直接连接符 562"/>
            <p:cNvCxnSpPr/>
            <p:nvPr/>
          </p:nvCxnSpPr>
          <p:spPr>
            <a:xfrm>
              <a:off x="1659668" y="1838984"/>
              <a:ext cx="19856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64" name="文本框 563"/>
            <p:cNvSpPr txBox="1"/>
            <p:nvPr/>
          </p:nvSpPr>
          <p:spPr>
            <a:xfrm>
              <a:off x="-3196724" y="1448897"/>
              <a:ext cx="2065446" cy="400110"/>
            </a:xfrm>
            <a:prstGeom prst="rect">
              <a:avLst/>
            </a:prstGeom>
            <a:noFill/>
          </p:spPr>
          <p:txBody>
            <a:bodyPr wrap="square" rtlCol="0">
              <a:spAutoFit/>
            </a:bodyPr>
            <a:lstStyle/>
            <a:p>
              <a:pPr lvl="0">
                <a:defRPr/>
              </a:pPr>
              <a:r>
                <a:rPr lang="en-AU" altLang="en-US" sz="2000" dirty="0">
                  <a:latin typeface="Times New Roman" panose="02020603050405020304" pitchFamily="18" charset="0"/>
                  <a:cs typeface="Times New Roman" panose="02020603050405020304" pitchFamily="18" charset="0"/>
                </a:rPr>
                <a:t>add  x14, </a:t>
              </a:r>
              <a:r>
                <a:rPr lang="en-AU" altLang="en-US" sz="2000" dirty="0">
                  <a:solidFill>
                    <a:schemeClr val="hlink"/>
                  </a:solidFill>
                  <a:latin typeface="Times New Roman" panose="02020603050405020304" pitchFamily="18" charset="0"/>
                  <a:cs typeface="Times New Roman" panose="02020603050405020304" pitchFamily="18" charset="0"/>
                </a:rPr>
                <a:t>x2</a:t>
              </a:r>
              <a:r>
                <a:rPr lang="en-AU" altLang="en-US" sz="2000" dirty="0">
                  <a:latin typeface="Times New Roman" panose="02020603050405020304" pitchFamily="18" charset="0"/>
                  <a:cs typeface="Times New Roman" panose="02020603050405020304" pitchFamily="18" charset="0"/>
                </a:rPr>
                <a:t>,  </a:t>
              </a:r>
              <a:r>
                <a:rPr lang="en-AU" altLang="en-US" sz="2000" dirty="0">
                  <a:solidFill>
                    <a:schemeClr val="hlink"/>
                  </a:solidFill>
                  <a:latin typeface="Times New Roman" panose="02020603050405020304" pitchFamily="18" charset="0"/>
                  <a:cs typeface="Times New Roman" panose="02020603050405020304" pitchFamily="18" charset="0"/>
                </a:rPr>
                <a:t>x2</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65" name="文本框 564"/>
            <p:cNvSpPr txBox="1"/>
            <p:nvPr/>
          </p:nvSpPr>
          <p:spPr>
            <a:xfrm>
              <a:off x="1613177" y="1805797"/>
              <a:ext cx="2032187"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rPr>
                <a:t>Memory</a:t>
              </a:r>
              <a:endParaRPr kumimoji="0" lang="zh-CN" altLang="en-US" sz="20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grpSp>
      <p:grpSp>
        <p:nvGrpSpPr>
          <p:cNvPr id="566" name="组合 565"/>
          <p:cNvGrpSpPr/>
          <p:nvPr/>
        </p:nvGrpSpPr>
        <p:grpSpPr>
          <a:xfrm>
            <a:off x="1231751" y="1665530"/>
            <a:ext cx="10765938" cy="706056"/>
            <a:chOff x="-14524650" y="1469073"/>
            <a:chExt cx="18172742" cy="706056"/>
          </a:xfrm>
        </p:grpSpPr>
        <p:cxnSp>
          <p:nvCxnSpPr>
            <p:cNvPr id="567" name="直接连接符 566"/>
            <p:cNvCxnSpPr/>
            <p:nvPr/>
          </p:nvCxnSpPr>
          <p:spPr>
            <a:xfrm>
              <a:off x="1659668"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8" name="直接连接符 567"/>
            <p:cNvCxnSpPr/>
            <p:nvPr/>
          </p:nvCxnSpPr>
          <p:spPr>
            <a:xfrm>
              <a:off x="3648092" y="1713218"/>
              <a:ext cx="0" cy="2574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9" name="直接连接符 568"/>
            <p:cNvCxnSpPr/>
            <p:nvPr/>
          </p:nvCxnSpPr>
          <p:spPr>
            <a:xfrm>
              <a:off x="1659668" y="1838984"/>
              <a:ext cx="198569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70" name="文本框 569"/>
            <p:cNvSpPr txBox="1"/>
            <p:nvPr/>
          </p:nvSpPr>
          <p:spPr>
            <a:xfrm>
              <a:off x="-14524650" y="1469073"/>
              <a:ext cx="3155990" cy="646331"/>
            </a:xfrm>
            <a:prstGeom prst="rect">
              <a:avLst/>
            </a:prstGeom>
            <a:noFill/>
          </p:spPr>
          <p:txBody>
            <a:bodyPr wrap="square" rtlCol="0">
              <a:spAutoFit/>
            </a:bodyPr>
            <a:lstStyle/>
            <a:p>
              <a:pPr>
                <a:defRPr/>
              </a:pPr>
              <a:r>
                <a:rPr lang="en-AU" altLang="en-US" dirty="0" err="1">
                  <a:latin typeface="Times New Roman" panose="02020603050405020304" pitchFamily="18" charset="0"/>
                  <a:cs typeface="Times New Roman" panose="02020603050405020304" pitchFamily="18" charset="0"/>
                </a:rPr>
                <a:t>sd</a:t>
              </a:r>
              <a:r>
                <a:rPr lang="en-AU" altLang="en-US" dirty="0">
                  <a:latin typeface="Times New Roman" panose="02020603050405020304" pitchFamily="18" charset="0"/>
                  <a:cs typeface="Times New Roman" panose="02020603050405020304" pitchFamily="18" charset="0"/>
                </a:rPr>
                <a:t> x15, 100(</a:t>
              </a:r>
              <a:r>
                <a:rPr lang="en-AU" altLang="en-US" dirty="0">
                  <a:solidFill>
                    <a:schemeClr val="hlink"/>
                  </a:solidFill>
                  <a:latin typeface="Times New Roman" panose="02020603050405020304" pitchFamily="18" charset="0"/>
                  <a:cs typeface="Times New Roman" panose="02020603050405020304" pitchFamily="18" charset="0"/>
                </a:rPr>
                <a:t>x2</a:t>
              </a:r>
              <a:r>
                <a:rPr lang="en-AU" altLang="en-US" dirty="0">
                  <a:latin typeface="Times New Roman" panose="02020603050405020304" pitchFamily="18" charset="0"/>
                  <a:cs typeface="Times New Roman" panose="02020603050405020304" pitchFamily="18"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571" name="文本框 570"/>
            <p:cNvSpPr txBox="1"/>
            <p:nvPr/>
          </p:nvSpPr>
          <p:spPr>
            <a:xfrm>
              <a:off x="1613177" y="1805797"/>
              <a:ext cx="20321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rPr>
                <a:t>Write-back</a:t>
              </a:r>
              <a:endParaRPr kumimoji="0" lang="zh-CN" altLang="en-US" sz="1800" b="0" i="0" u="none" strike="noStrike" kern="1200" cap="none" spc="0" normalizeH="0" baseline="0" noProof="0" dirty="0">
                <a:ln>
                  <a:noFill/>
                </a:ln>
                <a:solidFill>
                  <a:srgbClr val="0000FF"/>
                </a:solidFill>
                <a:effectLst/>
                <a:uLnTx/>
                <a:uFillTx/>
                <a:latin typeface="Times New Roman" panose="02020603050405020304" pitchFamily="18" charset="0"/>
                <a:ea typeface="等线" panose="02010600030101010101" charset="-122"/>
                <a:cs typeface="Times New Roman" panose="02020603050405020304" pitchFamily="18" charset="0"/>
              </a:endParaRPr>
            </a:p>
          </p:txBody>
        </p:sp>
      </p:grpSp>
      <p:grpSp>
        <p:nvGrpSpPr>
          <p:cNvPr id="166" name="组合 165">
            <a:extLst>
              <a:ext uri="{FF2B5EF4-FFF2-40B4-BE49-F238E27FC236}">
                <a16:creationId xmlns:a16="http://schemas.microsoft.com/office/drawing/2014/main" id="{3F3B9EAD-9B2D-42E3-B86C-62E7599DD3F1}"/>
              </a:ext>
            </a:extLst>
          </p:cNvPr>
          <p:cNvGrpSpPr/>
          <p:nvPr/>
        </p:nvGrpSpPr>
        <p:grpSpPr>
          <a:xfrm>
            <a:off x="2991627" y="6314774"/>
            <a:ext cx="7911942" cy="569312"/>
            <a:chOff x="2933649" y="5559064"/>
            <a:chExt cx="7911942" cy="569312"/>
          </a:xfrm>
        </p:grpSpPr>
        <p:grpSp>
          <p:nvGrpSpPr>
            <p:cNvPr id="167" name="组合 166">
              <a:extLst>
                <a:ext uri="{FF2B5EF4-FFF2-40B4-BE49-F238E27FC236}">
                  <a16:creationId xmlns:a16="http://schemas.microsoft.com/office/drawing/2014/main" id="{BAEB8A01-FA70-4CCC-9EE6-61C3AB0FEE99}"/>
                </a:ext>
              </a:extLst>
            </p:cNvPr>
            <p:cNvGrpSpPr/>
            <p:nvPr/>
          </p:nvGrpSpPr>
          <p:grpSpPr>
            <a:xfrm>
              <a:off x="2933649" y="5666711"/>
              <a:ext cx="704320" cy="461665"/>
              <a:chOff x="6852430" y="6111959"/>
              <a:chExt cx="704320" cy="461665"/>
            </a:xfrm>
          </p:grpSpPr>
          <p:sp>
            <p:nvSpPr>
              <p:cNvPr id="180" name="等腰三角形 179">
                <a:extLst>
                  <a:ext uri="{FF2B5EF4-FFF2-40B4-BE49-F238E27FC236}">
                    <a16:creationId xmlns:a16="http://schemas.microsoft.com/office/drawing/2014/main" id="{61C79C00-5794-404A-BB02-01E5042B19B7}"/>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81" name="直接连接符 180">
                <a:extLst>
                  <a:ext uri="{FF2B5EF4-FFF2-40B4-BE49-F238E27FC236}">
                    <a16:creationId xmlns:a16="http://schemas.microsoft.com/office/drawing/2014/main" id="{B02108BA-3167-4F3B-926A-F6DFF40E1DE4}"/>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82" name="文本框 181">
                <a:extLst>
                  <a:ext uri="{FF2B5EF4-FFF2-40B4-BE49-F238E27FC236}">
                    <a16:creationId xmlns:a16="http://schemas.microsoft.com/office/drawing/2014/main" id="{734E53D2-117E-4921-9527-4B358A2D0359}"/>
                  </a:ext>
                </a:extLst>
              </p:cNvPr>
              <p:cNvSpPr txBox="1"/>
              <p:nvPr/>
            </p:nvSpPr>
            <p:spPr>
              <a:xfrm>
                <a:off x="6852430" y="6111959"/>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68" name="组合 167">
              <a:extLst>
                <a:ext uri="{FF2B5EF4-FFF2-40B4-BE49-F238E27FC236}">
                  <a16:creationId xmlns:a16="http://schemas.microsoft.com/office/drawing/2014/main" id="{FC18D4E2-7623-4CD1-B83C-61970A5861CA}"/>
                </a:ext>
              </a:extLst>
            </p:cNvPr>
            <p:cNvGrpSpPr/>
            <p:nvPr/>
          </p:nvGrpSpPr>
          <p:grpSpPr>
            <a:xfrm>
              <a:off x="6396597" y="5559064"/>
              <a:ext cx="788177" cy="461665"/>
              <a:chOff x="7477067" y="6010643"/>
              <a:chExt cx="788177" cy="461665"/>
            </a:xfrm>
          </p:grpSpPr>
          <p:sp>
            <p:nvSpPr>
              <p:cNvPr id="177" name="等腰三角形 176">
                <a:extLst>
                  <a:ext uri="{FF2B5EF4-FFF2-40B4-BE49-F238E27FC236}">
                    <a16:creationId xmlns:a16="http://schemas.microsoft.com/office/drawing/2014/main" id="{370976C9-335F-4DA3-8026-368524FCE7A0}"/>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8" name="直接连接符 177">
                <a:extLst>
                  <a:ext uri="{FF2B5EF4-FFF2-40B4-BE49-F238E27FC236}">
                    <a16:creationId xmlns:a16="http://schemas.microsoft.com/office/drawing/2014/main" id="{3D30CC51-7D5A-451A-A06D-8A60BDD89A4F}"/>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79" name="文本框 178">
                <a:extLst>
                  <a:ext uri="{FF2B5EF4-FFF2-40B4-BE49-F238E27FC236}">
                    <a16:creationId xmlns:a16="http://schemas.microsoft.com/office/drawing/2014/main" id="{76C480C1-E344-47BF-A64F-D3C487165D64}"/>
                  </a:ext>
                </a:extLst>
              </p:cNvPr>
              <p:cNvSpPr txBox="1"/>
              <p:nvPr/>
            </p:nvSpPr>
            <p:spPr>
              <a:xfrm>
                <a:off x="7629597" y="6010643"/>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69" name="组合 168">
              <a:extLst>
                <a:ext uri="{FF2B5EF4-FFF2-40B4-BE49-F238E27FC236}">
                  <a16:creationId xmlns:a16="http://schemas.microsoft.com/office/drawing/2014/main" id="{8CEAC8C4-7E9A-438F-ACD0-EB487DD21A02}"/>
                </a:ext>
              </a:extLst>
            </p:cNvPr>
            <p:cNvGrpSpPr/>
            <p:nvPr/>
          </p:nvGrpSpPr>
          <p:grpSpPr>
            <a:xfrm>
              <a:off x="8158160" y="5582758"/>
              <a:ext cx="683324" cy="461665"/>
              <a:chOff x="6873426" y="6042078"/>
              <a:chExt cx="683324" cy="461665"/>
            </a:xfrm>
          </p:grpSpPr>
          <p:sp>
            <p:nvSpPr>
              <p:cNvPr id="174" name="等腰三角形 173">
                <a:extLst>
                  <a:ext uri="{FF2B5EF4-FFF2-40B4-BE49-F238E27FC236}">
                    <a16:creationId xmlns:a16="http://schemas.microsoft.com/office/drawing/2014/main" id="{8138471B-D47B-43F8-812D-A2E262AACA1F}"/>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5" name="直接连接符 174">
                <a:extLst>
                  <a:ext uri="{FF2B5EF4-FFF2-40B4-BE49-F238E27FC236}">
                    <a16:creationId xmlns:a16="http://schemas.microsoft.com/office/drawing/2014/main" id="{25228F49-39A2-475A-813C-0050D99D8F7F}"/>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76" name="文本框 175">
                <a:extLst>
                  <a:ext uri="{FF2B5EF4-FFF2-40B4-BE49-F238E27FC236}">
                    <a16:creationId xmlns:a16="http://schemas.microsoft.com/office/drawing/2014/main" id="{971F06FF-571A-4895-A5F2-3C4F1E900A69}"/>
                  </a:ext>
                </a:extLst>
              </p:cNvPr>
              <p:cNvSpPr txBox="1"/>
              <p:nvPr/>
            </p:nvSpPr>
            <p:spPr>
              <a:xfrm>
                <a:off x="6873426" y="6042078"/>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nvGrpSpPr>
            <p:cNvPr id="170" name="组合 169">
              <a:extLst>
                <a:ext uri="{FF2B5EF4-FFF2-40B4-BE49-F238E27FC236}">
                  <a16:creationId xmlns:a16="http://schemas.microsoft.com/office/drawing/2014/main" id="{3FBE8CF0-BA14-4841-900A-E2E5B9B9BDEB}"/>
                </a:ext>
              </a:extLst>
            </p:cNvPr>
            <p:cNvGrpSpPr/>
            <p:nvPr/>
          </p:nvGrpSpPr>
          <p:grpSpPr>
            <a:xfrm>
              <a:off x="10150079" y="5578378"/>
              <a:ext cx="695512" cy="461665"/>
              <a:chOff x="6861238" y="6032632"/>
              <a:chExt cx="695512" cy="461665"/>
            </a:xfrm>
          </p:grpSpPr>
          <p:sp>
            <p:nvSpPr>
              <p:cNvPr id="171" name="等腰三角形 170">
                <a:extLst>
                  <a:ext uri="{FF2B5EF4-FFF2-40B4-BE49-F238E27FC236}">
                    <a16:creationId xmlns:a16="http://schemas.microsoft.com/office/drawing/2014/main" id="{81EBD4BD-7E0E-4622-8612-DF85C43DCFD1}"/>
                  </a:ext>
                </a:extLst>
              </p:cNvPr>
              <p:cNvSpPr/>
              <p:nvPr/>
            </p:nvSpPr>
            <p:spPr>
              <a:xfrm>
                <a:off x="7477067" y="6149946"/>
                <a:ext cx="79683" cy="100763"/>
              </a:xfrm>
              <a:prstGeom prst="triangle">
                <a:avLst/>
              </a:prstGeom>
              <a:noFill/>
              <a:ln w="19050"/>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a:ea typeface="宋体" panose="02010600030101010101" pitchFamily="2" charset="-122"/>
                  <a:cs typeface="+mn-cs"/>
                </a:endParaRPr>
              </a:p>
            </p:txBody>
          </p:sp>
          <p:cxnSp>
            <p:nvCxnSpPr>
              <p:cNvPr id="172" name="直接连接符 171">
                <a:extLst>
                  <a:ext uri="{FF2B5EF4-FFF2-40B4-BE49-F238E27FC236}">
                    <a16:creationId xmlns:a16="http://schemas.microsoft.com/office/drawing/2014/main" id="{AD450621-7251-4659-A591-81C4AF844255}"/>
                  </a:ext>
                </a:extLst>
              </p:cNvPr>
              <p:cNvCxnSpPr>
                <a:cxnSpLocks/>
              </p:cNvCxnSpPr>
              <p:nvPr/>
            </p:nvCxnSpPr>
            <p:spPr>
              <a:xfrm>
                <a:off x="7516908" y="6250709"/>
                <a:ext cx="0" cy="132031"/>
              </a:xfrm>
              <a:prstGeom prst="line">
                <a:avLst/>
              </a:prstGeom>
            </p:spPr>
            <p:style>
              <a:lnRef idx="3">
                <a:schemeClr val="dk1"/>
              </a:lnRef>
              <a:fillRef idx="0">
                <a:schemeClr val="dk1"/>
              </a:fillRef>
              <a:effectRef idx="2">
                <a:schemeClr val="dk1"/>
              </a:effectRef>
              <a:fontRef idx="minor">
                <a:schemeClr val="tx1"/>
              </a:fontRef>
            </p:style>
          </p:cxnSp>
          <p:sp>
            <p:nvSpPr>
              <p:cNvPr id="173" name="文本框 172">
                <a:extLst>
                  <a:ext uri="{FF2B5EF4-FFF2-40B4-BE49-F238E27FC236}">
                    <a16:creationId xmlns:a16="http://schemas.microsoft.com/office/drawing/2014/main" id="{86F07294-2E98-4F7A-9E58-81B9DAC6F363}"/>
                  </a:ext>
                </a:extLst>
              </p:cNvPr>
              <p:cNvSpPr txBox="1"/>
              <p:nvPr/>
            </p:nvSpPr>
            <p:spPr>
              <a:xfrm>
                <a:off x="6861238" y="6032632"/>
                <a:ext cx="635647"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rPr>
                  <a:t>clk</a:t>
                </a:r>
                <a:endParaRPr kumimoji="0" lang="zh-CN" altLang="en-US" sz="2400" b="1" i="0" u="none" strike="noStrike" kern="1200" cap="none" spc="0" normalizeH="0" baseline="0" noProof="0" dirty="0">
                  <a:ln>
                    <a:noFill/>
                  </a:ln>
                  <a:solidFill>
                    <a:prstClr val="black"/>
                  </a:solidFill>
                  <a:effectLst/>
                  <a:uLnTx/>
                  <a:uFillTx/>
                  <a:latin typeface="Times New Roman" panose="02020603050405020304"/>
                  <a:ea typeface="宋体" panose="02010600030101010101" pitchFamily="2" charset="-122"/>
                  <a:cs typeface="+mn-cs"/>
                </a:endParaRPr>
              </a:p>
            </p:txBody>
          </p:sp>
        </p:grpSp>
      </p:grpSp>
    </p:spTree>
    <p:extLst>
      <p:ext uri="{BB962C8B-B14F-4D97-AF65-F5344CB8AC3E}">
        <p14:creationId xmlns:p14="http://schemas.microsoft.com/office/powerpoint/2010/main" val="833921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8EE8E787-E6FE-45D8-9039-788B45E44EE7}" type="slidenum">
              <a:rPr lang="zh-CN" altLang="en-US" smtClean="0"/>
              <a:t>50</a:t>
            </a:fld>
            <a:endParaRPr lang="zh-CN" altLang="en-US" dirty="0"/>
          </a:p>
        </p:txBody>
      </p:sp>
      <p:sp>
        <p:nvSpPr>
          <p:cNvPr id="4" name="文本框 3"/>
          <p:cNvSpPr txBox="1"/>
          <p:nvPr/>
        </p:nvSpPr>
        <p:spPr>
          <a:xfrm>
            <a:off x="7901497" y="1817727"/>
            <a:ext cx="4179545" cy="2123658"/>
          </a:xfrm>
          <a:prstGeom prst="rect">
            <a:avLst/>
          </a:prstGeom>
          <a:solidFill>
            <a:schemeClr val="accent1">
              <a:lumMod val="20000"/>
              <a:lumOff val="80000"/>
            </a:schemeClr>
          </a:solidFill>
        </p:spPr>
        <p:txBody>
          <a:bodyPr wrap="square" rtlCol="0">
            <a:spAutoFit/>
          </a:bodyPr>
          <a:lstStyle/>
          <a:p>
            <a:pPr marL="342900" indent="-342900">
              <a:buFont typeface="Arial" panose="020B0604020202020204" pitchFamily="34" charset="0"/>
              <a:buChar char="•"/>
            </a:pPr>
            <a:r>
              <a:rPr lang="zh-CN" altLang="en-US" sz="2200" dirty="0">
                <a:solidFill>
                  <a:srgbClr val="0000FF"/>
                </a:solidFill>
                <a:latin typeface="宋体" panose="02010600030101010101" pitchFamily="2" charset="-122"/>
                <a:ea typeface="宋体" panose="02010600030101010101" pitchFamily="2" charset="-122"/>
              </a:rPr>
              <a:t>寄存器堆的硬件实现：</a:t>
            </a:r>
            <a:r>
              <a:rPr lang="zh-CN" altLang="en-US" sz="2200" dirty="0">
                <a:latin typeface="宋体" panose="02010600030101010101" pitchFamily="2" charset="-122"/>
                <a:ea typeface="宋体" panose="02010600030101010101" pitchFamily="2" charset="-122"/>
              </a:rPr>
              <a:t>寄存器一个周期内先写后读，若写操作发生在前半时钟周期，而读操作后半时钟周期，那么读操作会得到本周期内被写入的值。</a:t>
            </a:r>
            <a:endParaRPr lang="en-US" altLang="zh-CN" sz="2200" dirty="0">
              <a:latin typeface="宋体" panose="02010600030101010101" pitchFamily="2" charset="-122"/>
              <a:ea typeface="宋体" panose="02010600030101010101" pitchFamily="2" charset="-122"/>
            </a:endParaRPr>
          </a:p>
          <a:p>
            <a:pPr marL="342900" indent="-342900">
              <a:buFont typeface="Arial" panose="020B0604020202020204" pitchFamily="34" charset="0"/>
              <a:buChar char="•"/>
            </a:pPr>
            <a:r>
              <a:rPr lang="en-US" altLang="zh-CN" sz="2200" dirty="0">
                <a:solidFill>
                  <a:srgbClr val="0000FF"/>
                </a:solidFill>
                <a:latin typeface="宋体" panose="02010600030101010101" pitchFamily="2" charset="-122"/>
                <a:ea typeface="宋体" panose="02010600030101010101" pitchFamily="2" charset="-122"/>
              </a:rPr>
              <a:t>add</a:t>
            </a:r>
            <a:r>
              <a:rPr lang="zh-CN" altLang="en-US" sz="2200" dirty="0">
                <a:solidFill>
                  <a:srgbClr val="0000FF"/>
                </a:solidFill>
                <a:latin typeface="宋体" panose="02010600030101010101" pitchFamily="2" charset="-122"/>
                <a:ea typeface="宋体" panose="02010600030101010101" pitchFamily="2" charset="-122"/>
              </a:rPr>
              <a:t>指令无需停顿</a:t>
            </a:r>
          </a:p>
        </p:txBody>
      </p:sp>
      <p:sp>
        <p:nvSpPr>
          <p:cNvPr id="7" name="标题 6"/>
          <p:cNvSpPr>
            <a:spLocks noGrp="1"/>
          </p:cNvSpPr>
          <p:nvPr>
            <p:ph type="title"/>
          </p:nvPr>
        </p:nvSpPr>
        <p:spPr/>
        <p:txBody>
          <a:bodyPr/>
          <a:lstStyle/>
          <a:p>
            <a:r>
              <a:rPr lang="zh-CN" altLang="en-US" dirty="0"/>
              <a:t>依赖关系与前递</a:t>
            </a:r>
          </a:p>
        </p:txBody>
      </p:sp>
      <p:grpSp>
        <p:nvGrpSpPr>
          <p:cNvPr id="264" name="组合 263"/>
          <p:cNvGrpSpPr/>
          <p:nvPr/>
        </p:nvGrpSpPr>
        <p:grpSpPr>
          <a:xfrm>
            <a:off x="-4841" y="2402827"/>
            <a:ext cx="3236430" cy="3932711"/>
            <a:chOff x="-136952" y="2758261"/>
            <a:chExt cx="3236430" cy="3932711"/>
          </a:xfrm>
        </p:grpSpPr>
        <p:grpSp>
          <p:nvGrpSpPr>
            <p:cNvPr id="265" name="Program"/>
            <p:cNvGrpSpPr/>
            <p:nvPr/>
          </p:nvGrpSpPr>
          <p:grpSpPr>
            <a:xfrm>
              <a:off x="-136952" y="2758261"/>
              <a:ext cx="3212268" cy="3746414"/>
              <a:chOff x="-539913" y="3063080"/>
              <a:chExt cx="3212268" cy="3746414"/>
            </a:xfrm>
          </p:grpSpPr>
          <p:cxnSp>
            <p:nvCxnSpPr>
              <p:cNvPr id="269" name="直接箭头连接符 268"/>
              <p:cNvCxnSpPr/>
              <p:nvPr/>
            </p:nvCxnSpPr>
            <p:spPr>
              <a:xfrm>
                <a:off x="908204" y="3285024"/>
                <a:ext cx="0" cy="352447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270" name="文本框 269"/>
              <p:cNvSpPr txBox="1"/>
              <p:nvPr/>
            </p:nvSpPr>
            <p:spPr>
              <a:xfrm>
                <a:off x="-539913" y="3119259"/>
                <a:ext cx="2046532" cy="1323439"/>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Program execution </a:t>
                </a:r>
              </a:p>
              <a:p>
                <a:r>
                  <a:rPr lang="en-US" altLang="zh-CN" sz="2000" dirty="0">
                    <a:latin typeface="Times New Roman" panose="02020603050405020304" pitchFamily="18" charset="0"/>
                    <a:cs typeface="Times New Roman" panose="02020603050405020304" pitchFamily="18" charset="0"/>
                  </a:rPr>
                  <a:t>order  (in </a:t>
                </a:r>
              </a:p>
              <a:p>
                <a:r>
                  <a:rPr lang="en-US" altLang="zh-CN" sz="2000" dirty="0">
                    <a:latin typeface="Times New Roman" panose="02020603050405020304" pitchFamily="18" charset="0"/>
                    <a:cs typeface="Times New Roman" panose="02020603050405020304" pitchFamily="18" charset="0"/>
                  </a:rPr>
                  <a:t>instructions)</a:t>
                </a:r>
                <a:endParaRPr lang="zh-CN" altLang="en-US" sz="2000" dirty="0">
                  <a:latin typeface="Times New Roman" panose="02020603050405020304" pitchFamily="18" charset="0"/>
                  <a:cs typeface="Times New Roman" panose="02020603050405020304" pitchFamily="18" charset="0"/>
                </a:endParaRPr>
              </a:p>
            </p:txBody>
          </p:sp>
          <p:sp>
            <p:nvSpPr>
              <p:cNvPr id="271" name="文本框 270"/>
              <p:cNvSpPr txBox="1"/>
              <p:nvPr/>
            </p:nvSpPr>
            <p:spPr>
              <a:xfrm>
                <a:off x="1112337" y="3063080"/>
                <a:ext cx="1560018"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sub </a:t>
                </a:r>
                <a:r>
                  <a:rPr lang="en-US" altLang="zh-CN" dirty="0">
                    <a:solidFill>
                      <a:srgbClr val="0000FF"/>
                    </a:solidFill>
                    <a:latin typeface="Times New Roman" panose="02020603050405020304" pitchFamily="18" charset="0"/>
                    <a:cs typeface="Times New Roman" panose="02020603050405020304" pitchFamily="18" charset="0"/>
                  </a:rPr>
                  <a:t>x2</a:t>
                </a:r>
                <a:r>
                  <a:rPr lang="en-US" altLang="zh-CN" dirty="0">
                    <a:latin typeface="Times New Roman" panose="02020603050405020304" pitchFamily="18" charset="0"/>
                    <a:cs typeface="Times New Roman" panose="02020603050405020304" pitchFamily="18" charset="0"/>
                  </a:rPr>
                  <a:t>,x1,x3</a:t>
                </a:r>
                <a:endParaRPr lang="zh-CN" altLang="en-US" dirty="0">
                  <a:latin typeface="Times New Roman" panose="02020603050405020304" pitchFamily="18" charset="0"/>
                  <a:cs typeface="Times New Roman" panose="02020603050405020304" pitchFamily="18" charset="0"/>
                </a:endParaRPr>
              </a:p>
            </p:txBody>
          </p:sp>
          <p:sp>
            <p:nvSpPr>
              <p:cNvPr id="272" name="文本框 271"/>
              <p:cNvSpPr txBox="1"/>
              <p:nvPr/>
            </p:nvSpPr>
            <p:spPr>
              <a:xfrm>
                <a:off x="1076462" y="3928380"/>
                <a:ext cx="1560018"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and x12,</a:t>
                </a:r>
                <a:r>
                  <a:rPr lang="en-US" altLang="zh-CN" dirty="0">
                    <a:solidFill>
                      <a:srgbClr val="0000FF"/>
                    </a:solidFill>
                    <a:latin typeface="Times New Roman" panose="02020603050405020304" pitchFamily="18" charset="0"/>
                    <a:cs typeface="Times New Roman" panose="02020603050405020304" pitchFamily="18" charset="0"/>
                  </a:rPr>
                  <a:t>x2</a:t>
                </a:r>
                <a:r>
                  <a:rPr lang="en-US" altLang="zh-CN" dirty="0">
                    <a:latin typeface="Times New Roman" panose="02020603050405020304" pitchFamily="18" charset="0"/>
                    <a:cs typeface="Times New Roman" panose="02020603050405020304" pitchFamily="18" charset="0"/>
                  </a:rPr>
                  <a:t>,x5</a:t>
                </a:r>
                <a:endParaRPr lang="zh-CN" altLang="en-US" dirty="0">
                  <a:latin typeface="Times New Roman" panose="02020603050405020304" pitchFamily="18" charset="0"/>
                  <a:cs typeface="Times New Roman" panose="02020603050405020304" pitchFamily="18" charset="0"/>
                </a:endParaRPr>
              </a:p>
            </p:txBody>
          </p:sp>
        </p:grpSp>
        <p:sp>
          <p:nvSpPr>
            <p:cNvPr id="266" name="文本框 265"/>
            <p:cNvSpPr txBox="1"/>
            <p:nvPr/>
          </p:nvSpPr>
          <p:spPr>
            <a:xfrm>
              <a:off x="1506099" y="4541677"/>
              <a:ext cx="1560018"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or x13,x6,</a:t>
              </a:r>
              <a:r>
                <a:rPr lang="en-US" altLang="zh-CN" dirty="0">
                  <a:solidFill>
                    <a:srgbClr val="0000FF"/>
                  </a:solidFill>
                  <a:latin typeface="Times New Roman" panose="02020603050405020304" pitchFamily="18" charset="0"/>
                  <a:cs typeface="Times New Roman" panose="02020603050405020304" pitchFamily="18" charset="0"/>
                </a:rPr>
                <a:t>x2</a:t>
              </a:r>
              <a:endParaRPr lang="zh-CN" altLang="en-US" dirty="0">
                <a:solidFill>
                  <a:srgbClr val="0000FF"/>
                </a:solidFill>
                <a:latin typeface="Times New Roman" panose="02020603050405020304" pitchFamily="18" charset="0"/>
                <a:cs typeface="Times New Roman" panose="02020603050405020304" pitchFamily="18" charset="0"/>
              </a:endParaRPr>
            </a:p>
          </p:txBody>
        </p:sp>
        <p:sp>
          <p:nvSpPr>
            <p:cNvPr id="267" name="文本框 266"/>
            <p:cNvSpPr txBox="1"/>
            <p:nvPr/>
          </p:nvSpPr>
          <p:spPr>
            <a:xfrm>
              <a:off x="1518950" y="5445681"/>
              <a:ext cx="1560018"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add x14,</a:t>
              </a:r>
              <a:r>
                <a:rPr lang="en-US" altLang="zh-CN" dirty="0">
                  <a:solidFill>
                    <a:srgbClr val="0000FF"/>
                  </a:solidFill>
                  <a:latin typeface="Times New Roman" panose="02020603050405020304" pitchFamily="18" charset="0"/>
                  <a:cs typeface="Times New Roman" panose="02020603050405020304" pitchFamily="18" charset="0"/>
                </a:rPr>
                <a:t>x2</a:t>
              </a:r>
              <a:r>
                <a:rPr lang="en-US" altLang="zh-CN" dirty="0">
                  <a:solidFill>
                    <a:srgbClr val="54C9F5"/>
                  </a:solidFill>
                  <a:latin typeface="Times New Roman" panose="02020603050405020304" pitchFamily="18" charset="0"/>
                  <a:cs typeface="Times New Roman" panose="02020603050405020304" pitchFamily="18" charset="0"/>
                </a:rPr>
                <a:t>,</a:t>
              </a:r>
              <a:r>
                <a:rPr lang="en-US" altLang="zh-CN" dirty="0">
                  <a:solidFill>
                    <a:srgbClr val="0000FF"/>
                  </a:solidFill>
                  <a:latin typeface="Times New Roman" panose="02020603050405020304" pitchFamily="18" charset="0"/>
                  <a:cs typeface="Times New Roman" panose="02020603050405020304" pitchFamily="18" charset="0"/>
                </a:rPr>
                <a:t>x2</a:t>
              </a:r>
              <a:endParaRPr lang="zh-CN" altLang="en-US" dirty="0">
                <a:solidFill>
                  <a:srgbClr val="0000FF"/>
                </a:solidFill>
                <a:latin typeface="Times New Roman" panose="02020603050405020304" pitchFamily="18" charset="0"/>
                <a:cs typeface="Times New Roman" panose="02020603050405020304" pitchFamily="18" charset="0"/>
              </a:endParaRPr>
            </a:p>
          </p:txBody>
        </p:sp>
        <p:sp>
          <p:nvSpPr>
            <p:cNvPr id="268" name="文本框 267"/>
            <p:cNvSpPr txBox="1"/>
            <p:nvPr/>
          </p:nvSpPr>
          <p:spPr>
            <a:xfrm>
              <a:off x="1539460" y="6321640"/>
              <a:ext cx="1560018" cy="369332"/>
            </a:xfrm>
            <a:prstGeom prst="rect">
              <a:avLst/>
            </a:prstGeom>
            <a:noFill/>
          </p:spPr>
          <p:txBody>
            <a:bodyPr wrap="square" rtlCol="0">
              <a:spAutoFit/>
            </a:bodyPr>
            <a:lstStyle/>
            <a:p>
              <a:r>
                <a:rPr lang="en-US" altLang="zh-CN" dirty="0" err="1">
                  <a:latin typeface="Times New Roman" panose="02020603050405020304" pitchFamily="18" charset="0"/>
                  <a:cs typeface="Times New Roman" panose="02020603050405020304" pitchFamily="18" charset="0"/>
                </a:rPr>
                <a:t>sd</a:t>
              </a:r>
              <a:r>
                <a:rPr lang="en-US" altLang="zh-CN" dirty="0">
                  <a:latin typeface="Times New Roman" panose="02020603050405020304" pitchFamily="18" charset="0"/>
                  <a:cs typeface="Times New Roman" panose="02020603050405020304" pitchFamily="18" charset="0"/>
                </a:rPr>
                <a:t> x15,100(</a:t>
              </a:r>
              <a:r>
                <a:rPr lang="en-US" altLang="zh-CN" dirty="0">
                  <a:solidFill>
                    <a:srgbClr val="0000FF"/>
                  </a:solidFill>
                  <a:latin typeface="Times New Roman" panose="02020603050405020304" pitchFamily="18" charset="0"/>
                  <a:cs typeface="Times New Roman" panose="02020603050405020304" pitchFamily="18" charset="0"/>
                </a:rPr>
                <a:t>x2</a:t>
              </a: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grpSp>
      <p:grpSp>
        <p:nvGrpSpPr>
          <p:cNvPr id="273" name="指令"/>
          <p:cNvGrpSpPr/>
          <p:nvPr/>
        </p:nvGrpSpPr>
        <p:grpSpPr>
          <a:xfrm>
            <a:off x="6663819" y="5685835"/>
            <a:ext cx="4200124" cy="848518"/>
            <a:chOff x="3708787" y="2899251"/>
            <a:chExt cx="4562188" cy="1058188"/>
          </a:xfrm>
        </p:grpSpPr>
        <p:grpSp>
          <p:nvGrpSpPr>
            <p:cNvPr id="274" name="指令"/>
            <p:cNvGrpSpPr/>
            <p:nvPr/>
          </p:nvGrpSpPr>
          <p:grpSpPr>
            <a:xfrm>
              <a:off x="3751739" y="2899251"/>
              <a:ext cx="4403588" cy="1058188"/>
              <a:chOff x="4036219" y="4360386"/>
              <a:chExt cx="2411301" cy="579439"/>
            </a:xfrm>
          </p:grpSpPr>
          <p:grpSp>
            <p:nvGrpSpPr>
              <p:cNvPr id="280" name="组合 279"/>
              <p:cNvGrpSpPr/>
              <p:nvPr/>
            </p:nvGrpSpPr>
            <p:grpSpPr>
              <a:xfrm>
                <a:off x="4036219" y="4536600"/>
                <a:ext cx="233362" cy="230981"/>
                <a:chOff x="3459957" y="3198019"/>
                <a:chExt cx="233362" cy="230981"/>
              </a:xfrm>
            </p:grpSpPr>
            <p:sp>
              <p:nvSpPr>
                <p:cNvPr id="321" name="矩形 320"/>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2" name="矩形 321"/>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1" name="矩形 280"/>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2" name="直接连接符 281"/>
              <p:cNvCxnSpPr>
                <a:stCxn id="322"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3" name="组合 282"/>
              <p:cNvGrpSpPr/>
              <p:nvPr/>
            </p:nvGrpSpPr>
            <p:grpSpPr>
              <a:xfrm>
                <a:off x="4583677" y="4531622"/>
                <a:ext cx="224066" cy="235402"/>
                <a:chOff x="3971697" y="3537291"/>
                <a:chExt cx="224066" cy="235402"/>
              </a:xfrm>
            </p:grpSpPr>
            <p:sp>
              <p:nvSpPr>
                <p:cNvPr id="314" name="矩形 313"/>
                <p:cNvSpPr/>
                <p:nvPr/>
              </p:nvSpPr>
              <p:spPr>
                <a:xfrm>
                  <a:off x="4071938" y="3541712"/>
                  <a:ext cx="121444" cy="230981"/>
                </a:xfrm>
                <a:prstGeom prst="rect">
                  <a:avLst/>
                </a:prstGeom>
                <a:solidFill>
                  <a:srgbClr val="9CD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15" name="直接连接符 314"/>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16" name="直接连接符 315"/>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17" name="直接连接符 316"/>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18" name="直接连接符 317"/>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9" name="直接连接符 318"/>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0" name="直接连接符 319"/>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84" name="直接连接符 283"/>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5" name="任意多边形: 形状 284"/>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6" name="矩形 285"/>
              <p:cNvSpPr/>
              <p:nvPr/>
            </p:nvSpPr>
            <p:spPr>
              <a:xfrm>
                <a:off x="4939315"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7" name="矩形 286"/>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88" name="组合 287"/>
              <p:cNvGrpSpPr/>
              <p:nvPr/>
            </p:nvGrpSpPr>
            <p:grpSpPr>
              <a:xfrm>
                <a:off x="5688014" y="4536601"/>
                <a:ext cx="233362" cy="230981"/>
                <a:chOff x="3459957" y="3198019"/>
                <a:chExt cx="233362" cy="230981"/>
              </a:xfrm>
            </p:grpSpPr>
            <p:sp>
              <p:nvSpPr>
                <p:cNvPr id="312" name="矩形 311"/>
                <p:cNvSpPr/>
                <p:nvPr/>
              </p:nvSpPr>
              <p:spPr>
                <a:xfrm>
                  <a:off x="3465601"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3" name="矩形 312"/>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9" name="矩形 288"/>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0" name="组合 289"/>
              <p:cNvGrpSpPr/>
              <p:nvPr/>
            </p:nvGrpSpPr>
            <p:grpSpPr>
              <a:xfrm rot="10800000">
                <a:off x="6224134" y="4529592"/>
                <a:ext cx="223386" cy="232211"/>
                <a:chOff x="3970449" y="3542809"/>
                <a:chExt cx="223386" cy="232211"/>
              </a:xfrm>
            </p:grpSpPr>
            <p:cxnSp>
              <p:nvCxnSpPr>
                <p:cNvPr id="306" name="直接连接符 305"/>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07" name="直接连接符 306"/>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08" name="直接连接符 307"/>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09" name="直接连接符 308"/>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 name="直接连接符 309"/>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 name="直接连接符 310"/>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91" name="直接连接符 290"/>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2" name="直接连接符 291"/>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3" name="直接连接符 292"/>
              <p:cNvCxnSpPr/>
              <p:nvPr/>
            </p:nvCxnSpPr>
            <p:spPr>
              <a:xfrm>
                <a:off x="4802980" y="4561286"/>
                <a:ext cx="132558" cy="0"/>
              </a:xfrm>
              <a:prstGeom prst="line">
                <a:avLst/>
              </a:prstGeom>
              <a:ln w="15875">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294" name="直接连接符 293"/>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5" name="直接连接符 294"/>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6" name="直接连接符 295"/>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7" name="直接连接符 296"/>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8" name="直接连接符 297"/>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9" name="直接连接符 298"/>
              <p:cNvCxnSpPr>
                <a:stCxn id="313" idx="3"/>
                <a:endCxn id="289"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0" name="直接连接符 299"/>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1" name="直接连接符 300"/>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2" name="直接连接符 301"/>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3" name="直接连接符 302"/>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4" name="直接连接符 303"/>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5" name="文本框 274"/>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276" name="文本框 275"/>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277" name="文本框 276"/>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278" name="文本框 277"/>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279" name="文本框 278"/>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323" name="指令"/>
          <p:cNvGrpSpPr/>
          <p:nvPr/>
        </p:nvGrpSpPr>
        <p:grpSpPr>
          <a:xfrm>
            <a:off x="3872726" y="3027954"/>
            <a:ext cx="4200124" cy="848518"/>
            <a:chOff x="3708787" y="2899251"/>
            <a:chExt cx="4562188" cy="1058188"/>
          </a:xfrm>
        </p:grpSpPr>
        <p:grpSp>
          <p:nvGrpSpPr>
            <p:cNvPr id="324" name="指令"/>
            <p:cNvGrpSpPr/>
            <p:nvPr/>
          </p:nvGrpSpPr>
          <p:grpSpPr>
            <a:xfrm>
              <a:off x="3751739" y="2899251"/>
              <a:ext cx="4403588" cy="1058188"/>
              <a:chOff x="4036219" y="4360386"/>
              <a:chExt cx="2411301" cy="579439"/>
            </a:xfrm>
          </p:grpSpPr>
          <p:grpSp>
            <p:nvGrpSpPr>
              <p:cNvPr id="330" name="组合 329"/>
              <p:cNvGrpSpPr/>
              <p:nvPr/>
            </p:nvGrpSpPr>
            <p:grpSpPr>
              <a:xfrm>
                <a:off x="4036219" y="4536600"/>
                <a:ext cx="233362" cy="230981"/>
                <a:chOff x="3459957" y="3198019"/>
                <a:chExt cx="233362" cy="230981"/>
              </a:xfrm>
            </p:grpSpPr>
            <p:sp>
              <p:nvSpPr>
                <p:cNvPr id="369" name="矩形 368"/>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0" name="矩形 369"/>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1" name="矩形 330"/>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2" name="直接连接符 331"/>
              <p:cNvCxnSpPr>
                <a:stCxn id="370"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33" name="组合 332"/>
              <p:cNvGrpSpPr/>
              <p:nvPr/>
            </p:nvGrpSpPr>
            <p:grpSpPr>
              <a:xfrm>
                <a:off x="4583677" y="4531622"/>
                <a:ext cx="224066" cy="235402"/>
                <a:chOff x="3971697" y="3537291"/>
                <a:chExt cx="224066" cy="235402"/>
              </a:xfrm>
            </p:grpSpPr>
            <p:sp>
              <p:nvSpPr>
                <p:cNvPr id="362" name="矩形 361"/>
                <p:cNvSpPr/>
                <p:nvPr/>
              </p:nvSpPr>
              <p:spPr>
                <a:xfrm>
                  <a:off x="4071938" y="3541712"/>
                  <a:ext cx="121444" cy="230981"/>
                </a:xfrm>
                <a:prstGeom prst="rect">
                  <a:avLst/>
                </a:prstGeom>
                <a:solidFill>
                  <a:srgbClr val="9CD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63" name="直接连接符 362"/>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64" name="直接连接符 363"/>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65" name="直接连接符 364"/>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66" name="直接连接符 365"/>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7" name="直接连接符 366"/>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8" name="直接连接符 367"/>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34" name="直接连接符 333"/>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35" name="任意多边形: 形状 334"/>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6" name="矩形 335"/>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7" name="矩形 336"/>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8" name="矩形 337"/>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9" name="矩形 338"/>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0" name="组合 339"/>
              <p:cNvGrpSpPr/>
              <p:nvPr/>
            </p:nvGrpSpPr>
            <p:grpSpPr>
              <a:xfrm rot="10800000">
                <a:off x="6224134" y="4529592"/>
                <a:ext cx="223386" cy="233308"/>
                <a:chOff x="3970449" y="3541712"/>
                <a:chExt cx="223386" cy="233308"/>
              </a:xfrm>
            </p:grpSpPr>
            <p:sp>
              <p:nvSpPr>
                <p:cNvPr id="355" name="矩形 354"/>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56" name="直接连接符 355"/>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57" name="直接连接符 356"/>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58" name="直接连接符 357"/>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59" name="直接连接符 358"/>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0" name="直接连接符 359"/>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1" name="直接连接符 360"/>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41" name="直接连接符 340"/>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2" name="直接连接符 341"/>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3" name="直接连接符 342"/>
              <p:cNvCxnSpPr/>
              <p:nvPr/>
            </p:nvCxnSpPr>
            <p:spPr>
              <a:xfrm>
                <a:off x="4802980" y="4561286"/>
                <a:ext cx="132558" cy="0"/>
              </a:xfrm>
              <a:prstGeom prst="line">
                <a:avLst/>
              </a:prstGeom>
              <a:ln w="15875">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344" name="直接连接符 343"/>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5" name="直接连接符 344"/>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6" name="直接连接符 345"/>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7" name="直接连接符 346"/>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8" name="直接连接符 347"/>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9" name="直接连接符 348"/>
              <p:cNvCxnSpPr>
                <a:stCxn id="338" idx="3"/>
                <a:endCxn id="339"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0" name="直接连接符 349"/>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1" name="直接连接符 350"/>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2" name="直接连接符 351"/>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3" name="直接连接符 352"/>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4" name="直接连接符 353"/>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5" name="文本框 324"/>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326" name="文本框 325"/>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327" name="文本框 326"/>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328" name="文本框 327"/>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329" name="文本框 328"/>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8" name="指令"/>
          <p:cNvGrpSpPr/>
          <p:nvPr/>
        </p:nvGrpSpPr>
        <p:grpSpPr>
          <a:xfrm>
            <a:off x="2940241" y="2155045"/>
            <a:ext cx="4200124" cy="848518"/>
            <a:chOff x="3708787" y="2899251"/>
            <a:chExt cx="4562188" cy="1058188"/>
          </a:xfrm>
        </p:grpSpPr>
        <p:grpSp>
          <p:nvGrpSpPr>
            <p:cNvPr id="9" name="指令"/>
            <p:cNvGrpSpPr/>
            <p:nvPr/>
          </p:nvGrpSpPr>
          <p:grpSpPr>
            <a:xfrm>
              <a:off x="3751739" y="2899251"/>
              <a:ext cx="4403588" cy="1058188"/>
              <a:chOff x="4036219" y="4360386"/>
              <a:chExt cx="2411301" cy="579439"/>
            </a:xfrm>
          </p:grpSpPr>
          <p:grpSp>
            <p:nvGrpSpPr>
              <p:cNvPr id="15" name="组合 14"/>
              <p:cNvGrpSpPr/>
              <p:nvPr/>
            </p:nvGrpSpPr>
            <p:grpSpPr>
              <a:xfrm>
                <a:off x="4036219" y="4536600"/>
                <a:ext cx="233362" cy="230981"/>
                <a:chOff x="3459957" y="3198019"/>
                <a:chExt cx="233362" cy="230981"/>
              </a:xfrm>
            </p:grpSpPr>
            <p:sp>
              <p:nvSpPr>
                <p:cNvPr id="56" name="矩形 55"/>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 name="矩形 56"/>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15"/>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a:stCxn id="57"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4583677" y="4531622"/>
                <a:ext cx="224066" cy="235402"/>
                <a:chOff x="3971697" y="3537291"/>
                <a:chExt cx="224066" cy="235402"/>
              </a:xfrm>
            </p:grpSpPr>
            <p:sp>
              <p:nvSpPr>
                <p:cNvPr id="49" name="矩形 48"/>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0" name="直接连接符 49"/>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9" name="直接连接符 18"/>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任意多边形: 形状 19"/>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 name="矩形 47"/>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p:nvGrpSpPr>
            <p:grpSpPr>
              <a:xfrm rot="10800000">
                <a:off x="6224134" y="4529592"/>
                <a:ext cx="223386" cy="233308"/>
                <a:chOff x="3970449" y="3541712"/>
                <a:chExt cx="223386" cy="233308"/>
              </a:xfrm>
            </p:grpSpPr>
            <p:sp>
              <p:nvSpPr>
                <p:cNvPr id="40" name="矩形 39"/>
                <p:cNvSpPr/>
                <p:nvPr/>
              </p:nvSpPr>
              <p:spPr>
                <a:xfrm>
                  <a:off x="4071938" y="3541712"/>
                  <a:ext cx="121444" cy="230981"/>
                </a:xfrm>
                <a:prstGeom prst="rect">
                  <a:avLst/>
                </a:prstGeom>
                <a:solidFill>
                  <a:srgbClr val="9CD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1" name="直接连接符 40"/>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6" name="直接连接符 25"/>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48" idx="3"/>
                <a:endCxn id="24"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文本框 9"/>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11" name="文本框 10"/>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12" name="文本框 11"/>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13" name="文本框 12"/>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14" name="文本框 13"/>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371" name="指令"/>
          <p:cNvGrpSpPr/>
          <p:nvPr/>
        </p:nvGrpSpPr>
        <p:grpSpPr>
          <a:xfrm>
            <a:off x="4802738" y="3904907"/>
            <a:ext cx="4200124" cy="848518"/>
            <a:chOff x="3708787" y="2899251"/>
            <a:chExt cx="4562188" cy="1058188"/>
          </a:xfrm>
        </p:grpSpPr>
        <p:grpSp>
          <p:nvGrpSpPr>
            <p:cNvPr id="372" name="指令"/>
            <p:cNvGrpSpPr/>
            <p:nvPr/>
          </p:nvGrpSpPr>
          <p:grpSpPr>
            <a:xfrm>
              <a:off x="3751739" y="2899251"/>
              <a:ext cx="4403588" cy="1058188"/>
              <a:chOff x="4036219" y="4360386"/>
              <a:chExt cx="2411301" cy="579439"/>
            </a:xfrm>
          </p:grpSpPr>
          <p:grpSp>
            <p:nvGrpSpPr>
              <p:cNvPr id="378" name="组合 377"/>
              <p:cNvGrpSpPr/>
              <p:nvPr/>
            </p:nvGrpSpPr>
            <p:grpSpPr>
              <a:xfrm>
                <a:off x="4036219" y="4536600"/>
                <a:ext cx="233362" cy="230981"/>
                <a:chOff x="3459957" y="3198019"/>
                <a:chExt cx="233362" cy="230981"/>
              </a:xfrm>
            </p:grpSpPr>
            <p:sp>
              <p:nvSpPr>
                <p:cNvPr id="417" name="矩形 416"/>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8" name="矩形 417"/>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79" name="矩形 378"/>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0" name="直接连接符 379"/>
              <p:cNvCxnSpPr>
                <a:stCxn id="418"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81" name="组合 380"/>
              <p:cNvGrpSpPr/>
              <p:nvPr/>
            </p:nvGrpSpPr>
            <p:grpSpPr>
              <a:xfrm>
                <a:off x="4583677" y="4531622"/>
                <a:ext cx="224066" cy="235402"/>
                <a:chOff x="3971697" y="3537291"/>
                <a:chExt cx="224066" cy="235402"/>
              </a:xfrm>
            </p:grpSpPr>
            <p:sp>
              <p:nvSpPr>
                <p:cNvPr id="410" name="矩形 409"/>
                <p:cNvSpPr/>
                <p:nvPr/>
              </p:nvSpPr>
              <p:spPr>
                <a:xfrm>
                  <a:off x="4071938" y="3541712"/>
                  <a:ext cx="121444" cy="230981"/>
                </a:xfrm>
                <a:prstGeom prst="rect">
                  <a:avLst/>
                </a:prstGeom>
                <a:solidFill>
                  <a:srgbClr val="9CD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11" name="直接连接符 410"/>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12" name="直接连接符 411"/>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13" name="直接连接符 412"/>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14" name="直接连接符 413"/>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5" name="直接连接符 414"/>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6" name="直接连接符 415"/>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82" name="直接连接符 381"/>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83" name="任意多边形: 形状 382"/>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4" name="矩形 383"/>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5" name="矩形 384"/>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6" name="矩形 385"/>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7" name="矩形 386"/>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8" name="组合 387"/>
              <p:cNvGrpSpPr/>
              <p:nvPr/>
            </p:nvGrpSpPr>
            <p:grpSpPr>
              <a:xfrm rot="10800000">
                <a:off x="6224134" y="4529592"/>
                <a:ext cx="223386" cy="233308"/>
                <a:chOff x="3970449" y="3541712"/>
                <a:chExt cx="223386" cy="233308"/>
              </a:xfrm>
            </p:grpSpPr>
            <p:sp>
              <p:nvSpPr>
                <p:cNvPr id="403" name="矩形 402"/>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04" name="直接连接符 403"/>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05" name="直接连接符 404"/>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06" name="直接连接符 405"/>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07" name="直接连接符 406"/>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8" name="直接连接符 407"/>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9" name="直接连接符 408"/>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89" name="直接连接符 388"/>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0" name="直接连接符 389"/>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1" name="直接连接符 390"/>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2" name="直接连接符 391"/>
              <p:cNvCxnSpPr/>
              <p:nvPr/>
            </p:nvCxnSpPr>
            <p:spPr>
              <a:xfrm>
                <a:off x="4802980" y="4717734"/>
                <a:ext cx="132558" cy="0"/>
              </a:xfrm>
              <a:prstGeom prst="line">
                <a:avLst/>
              </a:prstGeom>
              <a:ln w="15875">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393" name="直接连接符 392"/>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4" name="直接连接符 393"/>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5" name="直接连接符 394"/>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6" name="直接连接符 395"/>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7" name="直接连接符 396"/>
              <p:cNvCxnSpPr>
                <a:stCxn id="386" idx="3"/>
                <a:endCxn id="387"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8" name="直接连接符 397"/>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9" name="直接连接符 398"/>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0" name="直接连接符 399"/>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1" name="直接连接符 400"/>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2" name="直接连接符 401"/>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3" name="文本框 372"/>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374" name="文本框 373"/>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375" name="文本框 374"/>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376" name="文本框 375"/>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377" name="文本框 376"/>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419" name="指令"/>
          <p:cNvGrpSpPr/>
          <p:nvPr/>
        </p:nvGrpSpPr>
        <p:grpSpPr>
          <a:xfrm>
            <a:off x="5734608" y="4782693"/>
            <a:ext cx="4200124" cy="848518"/>
            <a:chOff x="3708787" y="2899251"/>
            <a:chExt cx="4562188" cy="1058188"/>
          </a:xfrm>
        </p:grpSpPr>
        <p:grpSp>
          <p:nvGrpSpPr>
            <p:cNvPr id="420" name="指令"/>
            <p:cNvGrpSpPr/>
            <p:nvPr/>
          </p:nvGrpSpPr>
          <p:grpSpPr>
            <a:xfrm>
              <a:off x="3751739" y="2899251"/>
              <a:ext cx="4403588" cy="1058188"/>
              <a:chOff x="4036219" y="4360386"/>
              <a:chExt cx="2411301" cy="579439"/>
            </a:xfrm>
          </p:grpSpPr>
          <p:grpSp>
            <p:nvGrpSpPr>
              <p:cNvPr id="426" name="组合 425"/>
              <p:cNvGrpSpPr/>
              <p:nvPr/>
            </p:nvGrpSpPr>
            <p:grpSpPr>
              <a:xfrm>
                <a:off x="4036219" y="4536600"/>
                <a:ext cx="233362" cy="230981"/>
                <a:chOff x="3459957" y="3198019"/>
                <a:chExt cx="233362" cy="230981"/>
              </a:xfrm>
            </p:grpSpPr>
            <p:sp>
              <p:nvSpPr>
                <p:cNvPr id="465" name="矩形 464"/>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6" name="矩形 465"/>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27" name="矩形 426"/>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28" name="直接连接符 427"/>
              <p:cNvCxnSpPr>
                <a:stCxn id="466"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29" name="组合 428"/>
              <p:cNvGrpSpPr/>
              <p:nvPr/>
            </p:nvGrpSpPr>
            <p:grpSpPr>
              <a:xfrm>
                <a:off x="4583677" y="4531622"/>
                <a:ext cx="224066" cy="235402"/>
                <a:chOff x="3971697" y="3537291"/>
                <a:chExt cx="224066" cy="235402"/>
              </a:xfrm>
            </p:grpSpPr>
            <p:sp>
              <p:nvSpPr>
                <p:cNvPr id="458" name="矩形 457"/>
                <p:cNvSpPr/>
                <p:nvPr/>
              </p:nvSpPr>
              <p:spPr>
                <a:xfrm>
                  <a:off x="4071938" y="3541712"/>
                  <a:ext cx="121444" cy="230981"/>
                </a:xfrm>
                <a:prstGeom prst="rect">
                  <a:avLst/>
                </a:prstGeom>
                <a:solidFill>
                  <a:srgbClr val="9CD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59" name="直接连接符 458"/>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60" name="直接连接符 459"/>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61" name="直接连接符 460"/>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62" name="直接连接符 461"/>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3" name="直接连接符 462"/>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4" name="直接连接符 463"/>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30" name="直接连接符 429"/>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31" name="任意多边形: 形状 430"/>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2" name="矩形 431"/>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3" name="矩形 432"/>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4" name="矩形 433"/>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5" name="矩形 434"/>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36" name="组合 435"/>
              <p:cNvGrpSpPr/>
              <p:nvPr/>
            </p:nvGrpSpPr>
            <p:grpSpPr>
              <a:xfrm rot="10800000">
                <a:off x="6224134" y="4529592"/>
                <a:ext cx="223386" cy="233308"/>
                <a:chOff x="3970449" y="3541712"/>
                <a:chExt cx="223386" cy="233308"/>
              </a:xfrm>
            </p:grpSpPr>
            <p:sp>
              <p:nvSpPr>
                <p:cNvPr id="451" name="矩形 450"/>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52" name="直接连接符 451"/>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53" name="直接连接符 452"/>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54" name="直接连接符 453"/>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55" name="直接连接符 454"/>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6" name="直接连接符 455"/>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7" name="直接连接符 456"/>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37" name="直接连接符 436"/>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8" name="直接连接符 437"/>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9" name="直接连接符 438"/>
              <p:cNvCxnSpPr/>
              <p:nvPr/>
            </p:nvCxnSpPr>
            <p:spPr>
              <a:xfrm>
                <a:off x="4802980" y="4561286"/>
                <a:ext cx="132558" cy="0"/>
              </a:xfrm>
              <a:prstGeom prst="line">
                <a:avLst/>
              </a:prstGeom>
              <a:ln w="15875">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440" name="直接连接符 439"/>
              <p:cNvCxnSpPr/>
              <p:nvPr/>
            </p:nvCxnSpPr>
            <p:spPr>
              <a:xfrm>
                <a:off x="4802980" y="4717734"/>
                <a:ext cx="132558" cy="0"/>
              </a:xfrm>
              <a:prstGeom prst="line">
                <a:avLst/>
              </a:prstGeom>
              <a:ln w="15875">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441" name="直接连接符 440"/>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2" name="直接连接符 441"/>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3" name="直接连接符 442"/>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4" name="直接连接符 443"/>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5" name="直接连接符 444"/>
              <p:cNvCxnSpPr>
                <a:stCxn id="434" idx="3"/>
                <a:endCxn id="435"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6" name="直接连接符 445"/>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7" name="直接连接符 446"/>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8" name="直接连接符 447"/>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9" name="直接连接符 448"/>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0" name="直接连接符 449"/>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21" name="文本框 420"/>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422" name="文本框 421"/>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423" name="文本框 422"/>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424" name="文本框 423"/>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425" name="文本框 424"/>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cxnSp>
        <p:nvCxnSpPr>
          <p:cNvPr id="5" name="直接连接符 4"/>
          <p:cNvCxnSpPr>
            <a:stCxn id="326" idx="0"/>
            <a:endCxn id="12" idx="2"/>
          </p:cNvCxnSpPr>
          <p:nvPr/>
        </p:nvCxnSpPr>
        <p:spPr>
          <a:xfrm flipV="1">
            <a:off x="5055960" y="2708516"/>
            <a:ext cx="1797714" cy="550944"/>
          </a:xfrm>
          <a:prstGeom prst="line">
            <a:avLst/>
          </a:prstGeom>
          <a:ln w="25400">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7168" name="直接连接符 7167"/>
          <p:cNvCxnSpPr>
            <a:stCxn id="374" idx="0"/>
            <a:endCxn id="12" idx="2"/>
          </p:cNvCxnSpPr>
          <p:nvPr/>
        </p:nvCxnSpPr>
        <p:spPr>
          <a:xfrm flipV="1">
            <a:off x="5985972" y="2708516"/>
            <a:ext cx="867702" cy="1427897"/>
          </a:xfrm>
          <a:prstGeom prst="line">
            <a:avLst/>
          </a:prstGeom>
          <a:ln w="25400">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7171" name="直接连接符 7170"/>
          <p:cNvCxnSpPr>
            <a:stCxn id="422" idx="0"/>
            <a:endCxn id="12" idx="2"/>
          </p:cNvCxnSpPr>
          <p:nvPr/>
        </p:nvCxnSpPr>
        <p:spPr>
          <a:xfrm flipH="1" flipV="1">
            <a:off x="6853674" y="2708516"/>
            <a:ext cx="64168" cy="2305683"/>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175" name="直接连接符 7174"/>
          <p:cNvCxnSpPr>
            <a:stCxn id="276" idx="0"/>
            <a:endCxn id="12" idx="2"/>
          </p:cNvCxnSpPr>
          <p:nvPr/>
        </p:nvCxnSpPr>
        <p:spPr>
          <a:xfrm flipH="1" flipV="1">
            <a:off x="6853674" y="2708516"/>
            <a:ext cx="993379" cy="3208825"/>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grpSp>
        <p:nvGrpSpPr>
          <p:cNvPr id="7177" name="组合 7176"/>
          <p:cNvGrpSpPr/>
          <p:nvPr/>
        </p:nvGrpSpPr>
        <p:grpSpPr>
          <a:xfrm>
            <a:off x="667423" y="892514"/>
            <a:ext cx="10402784" cy="944251"/>
            <a:chOff x="417106" y="970613"/>
            <a:chExt cx="10402784" cy="944251"/>
          </a:xfrm>
        </p:grpSpPr>
        <p:grpSp>
          <p:nvGrpSpPr>
            <p:cNvPr id="252" name="时间轴"/>
            <p:cNvGrpSpPr/>
            <p:nvPr/>
          </p:nvGrpSpPr>
          <p:grpSpPr>
            <a:xfrm>
              <a:off x="738559" y="970613"/>
              <a:ext cx="10081331" cy="943621"/>
              <a:chOff x="1190706" y="1910020"/>
              <a:chExt cx="10081331" cy="943621"/>
            </a:xfrm>
          </p:grpSpPr>
          <p:cxnSp>
            <p:nvCxnSpPr>
              <p:cNvPr id="253" name="直接箭头连接符 252"/>
              <p:cNvCxnSpPr/>
              <p:nvPr/>
            </p:nvCxnSpPr>
            <p:spPr>
              <a:xfrm>
                <a:off x="3629769" y="2185186"/>
                <a:ext cx="7510315"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sp>
            <p:nvSpPr>
              <p:cNvPr id="254" name="文本框 253"/>
              <p:cNvSpPr txBox="1"/>
              <p:nvPr/>
            </p:nvSpPr>
            <p:spPr>
              <a:xfrm>
                <a:off x="3047727" y="2207282"/>
                <a:ext cx="714286" cy="646331"/>
              </a:xfrm>
              <a:prstGeom prst="rect">
                <a:avLst/>
              </a:prstGeom>
              <a:noFill/>
            </p:spPr>
            <p:txBody>
              <a:bodyPr wrap="square" rtlCol="0">
                <a:spAutoFit/>
              </a:bodyPr>
              <a:lstStyle/>
              <a:p>
                <a:r>
                  <a:rPr lang="en-US" altLang="zh-CN" dirty="0"/>
                  <a:t>CC 1</a:t>
                </a:r>
              </a:p>
              <a:p>
                <a:r>
                  <a:rPr lang="en-US" altLang="zh-CN" dirty="0"/>
                  <a:t>  10</a:t>
                </a:r>
                <a:endParaRPr lang="zh-CN" altLang="en-US" dirty="0"/>
              </a:p>
            </p:txBody>
          </p:sp>
          <p:sp>
            <p:nvSpPr>
              <p:cNvPr id="255" name="文本框 254"/>
              <p:cNvSpPr txBox="1"/>
              <p:nvPr/>
            </p:nvSpPr>
            <p:spPr>
              <a:xfrm>
                <a:off x="3981073" y="2204602"/>
                <a:ext cx="714286" cy="646331"/>
              </a:xfrm>
              <a:prstGeom prst="rect">
                <a:avLst/>
              </a:prstGeom>
              <a:noFill/>
            </p:spPr>
            <p:txBody>
              <a:bodyPr wrap="square" rtlCol="0">
                <a:spAutoFit/>
              </a:bodyPr>
              <a:lstStyle/>
              <a:p>
                <a:r>
                  <a:rPr lang="en-US" altLang="zh-CN" dirty="0"/>
                  <a:t>CC 2</a:t>
                </a:r>
              </a:p>
              <a:p>
                <a:r>
                  <a:rPr lang="en-US" altLang="zh-CN" dirty="0"/>
                  <a:t>  10</a:t>
                </a:r>
                <a:endParaRPr lang="zh-CN" altLang="en-US" dirty="0"/>
              </a:p>
            </p:txBody>
          </p:sp>
          <p:sp>
            <p:nvSpPr>
              <p:cNvPr id="256" name="文本框 255"/>
              <p:cNvSpPr txBox="1"/>
              <p:nvPr/>
            </p:nvSpPr>
            <p:spPr>
              <a:xfrm>
                <a:off x="6506732" y="2207196"/>
                <a:ext cx="944744" cy="646331"/>
              </a:xfrm>
              <a:prstGeom prst="rect">
                <a:avLst/>
              </a:prstGeom>
              <a:noFill/>
            </p:spPr>
            <p:txBody>
              <a:bodyPr wrap="square" rtlCol="0">
                <a:spAutoFit/>
              </a:bodyPr>
              <a:lstStyle/>
              <a:p>
                <a:pPr algn="ctr"/>
                <a:r>
                  <a:rPr lang="en-US" altLang="zh-CN" dirty="0"/>
                  <a:t>CC 5</a:t>
                </a:r>
              </a:p>
              <a:p>
                <a:pPr algn="ctr"/>
                <a:r>
                  <a:rPr lang="en-US" altLang="zh-CN" dirty="0"/>
                  <a:t> 10/-20</a:t>
                </a:r>
                <a:endParaRPr lang="zh-CN" altLang="en-US" dirty="0"/>
              </a:p>
            </p:txBody>
          </p:sp>
          <p:sp>
            <p:nvSpPr>
              <p:cNvPr id="257" name="文本框 256"/>
              <p:cNvSpPr txBox="1"/>
              <p:nvPr/>
            </p:nvSpPr>
            <p:spPr>
              <a:xfrm>
                <a:off x="4946527" y="2201889"/>
                <a:ext cx="714286" cy="646331"/>
              </a:xfrm>
              <a:prstGeom prst="rect">
                <a:avLst/>
              </a:prstGeom>
              <a:noFill/>
            </p:spPr>
            <p:txBody>
              <a:bodyPr wrap="square" rtlCol="0">
                <a:spAutoFit/>
              </a:bodyPr>
              <a:lstStyle/>
              <a:p>
                <a:r>
                  <a:rPr lang="en-US" altLang="zh-CN" dirty="0"/>
                  <a:t>CC 3</a:t>
                </a:r>
              </a:p>
              <a:p>
                <a:r>
                  <a:rPr lang="en-US" altLang="zh-CN" dirty="0"/>
                  <a:t>  10</a:t>
                </a:r>
                <a:endParaRPr lang="zh-CN" altLang="en-US" dirty="0"/>
              </a:p>
            </p:txBody>
          </p:sp>
          <p:sp>
            <p:nvSpPr>
              <p:cNvPr id="258" name="文本框 257"/>
              <p:cNvSpPr txBox="1"/>
              <p:nvPr/>
            </p:nvSpPr>
            <p:spPr>
              <a:xfrm>
                <a:off x="7682194" y="2207310"/>
                <a:ext cx="714286" cy="646331"/>
              </a:xfrm>
              <a:prstGeom prst="rect">
                <a:avLst/>
              </a:prstGeom>
              <a:noFill/>
            </p:spPr>
            <p:txBody>
              <a:bodyPr wrap="square" rtlCol="0">
                <a:spAutoFit/>
              </a:bodyPr>
              <a:lstStyle/>
              <a:p>
                <a:r>
                  <a:rPr lang="en-US" altLang="zh-CN" dirty="0"/>
                  <a:t>CC 6</a:t>
                </a:r>
              </a:p>
              <a:p>
                <a:r>
                  <a:rPr lang="en-US" altLang="zh-CN" dirty="0"/>
                  <a:t> -20</a:t>
                </a:r>
                <a:endParaRPr lang="zh-CN" altLang="en-US" dirty="0"/>
              </a:p>
            </p:txBody>
          </p:sp>
          <p:sp>
            <p:nvSpPr>
              <p:cNvPr id="259" name="文本框 258"/>
              <p:cNvSpPr txBox="1"/>
              <p:nvPr/>
            </p:nvSpPr>
            <p:spPr>
              <a:xfrm>
                <a:off x="5827526" y="2202034"/>
                <a:ext cx="908292" cy="646331"/>
              </a:xfrm>
              <a:prstGeom prst="rect">
                <a:avLst/>
              </a:prstGeom>
              <a:noFill/>
            </p:spPr>
            <p:txBody>
              <a:bodyPr wrap="square" rtlCol="0">
                <a:spAutoFit/>
              </a:bodyPr>
              <a:lstStyle/>
              <a:p>
                <a:r>
                  <a:rPr lang="en-US" altLang="zh-CN" dirty="0"/>
                  <a:t>CC 4</a:t>
                </a:r>
              </a:p>
              <a:p>
                <a:r>
                  <a:rPr lang="en-US" altLang="zh-CN" dirty="0"/>
                  <a:t>  10</a:t>
                </a:r>
                <a:endParaRPr lang="zh-CN" altLang="en-US" dirty="0"/>
              </a:p>
            </p:txBody>
          </p:sp>
          <p:sp>
            <p:nvSpPr>
              <p:cNvPr id="260" name="文本框 259"/>
              <p:cNvSpPr txBox="1"/>
              <p:nvPr/>
            </p:nvSpPr>
            <p:spPr>
              <a:xfrm>
                <a:off x="9543787" y="2203075"/>
                <a:ext cx="714286" cy="646331"/>
              </a:xfrm>
              <a:prstGeom prst="rect">
                <a:avLst/>
              </a:prstGeom>
              <a:noFill/>
            </p:spPr>
            <p:txBody>
              <a:bodyPr wrap="square" rtlCol="0">
                <a:spAutoFit/>
              </a:bodyPr>
              <a:lstStyle/>
              <a:p>
                <a:r>
                  <a:rPr lang="en-US" altLang="zh-CN" dirty="0"/>
                  <a:t>CC 8</a:t>
                </a:r>
              </a:p>
              <a:p>
                <a:r>
                  <a:rPr lang="en-US" altLang="zh-CN" dirty="0"/>
                  <a:t> -20</a:t>
                </a:r>
                <a:endParaRPr lang="zh-CN" altLang="en-US" dirty="0"/>
              </a:p>
            </p:txBody>
          </p:sp>
          <p:sp>
            <p:nvSpPr>
              <p:cNvPr id="261" name="文本框 260"/>
              <p:cNvSpPr txBox="1"/>
              <p:nvPr/>
            </p:nvSpPr>
            <p:spPr>
              <a:xfrm>
                <a:off x="8644891" y="2203075"/>
                <a:ext cx="714286" cy="646331"/>
              </a:xfrm>
              <a:prstGeom prst="rect">
                <a:avLst/>
              </a:prstGeom>
              <a:noFill/>
            </p:spPr>
            <p:txBody>
              <a:bodyPr wrap="square" rtlCol="0">
                <a:spAutoFit/>
              </a:bodyPr>
              <a:lstStyle/>
              <a:p>
                <a:r>
                  <a:rPr lang="en-US" altLang="zh-CN" dirty="0"/>
                  <a:t>CC 7</a:t>
                </a:r>
              </a:p>
              <a:p>
                <a:r>
                  <a:rPr lang="en-US" altLang="zh-CN" dirty="0"/>
                  <a:t> -20</a:t>
                </a:r>
                <a:endParaRPr lang="zh-CN" altLang="en-US" dirty="0"/>
              </a:p>
            </p:txBody>
          </p:sp>
          <p:sp>
            <p:nvSpPr>
              <p:cNvPr id="262" name="文本框 261"/>
              <p:cNvSpPr txBox="1"/>
              <p:nvPr/>
            </p:nvSpPr>
            <p:spPr>
              <a:xfrm>
                <a:off x="10557751" y="2201889"/>
                <a:ext cx="714286" cy="646331"/>
              </a:xfrm>
              <a:prstGeom prst="rect">
                <a:avLst/>
              </a:prstGeom>
              <a:noFill/>
            </p:spPr>
            <p:txBody>
              <a:bodyPr wrap="square" rtlCol="0">
                <a:spAutoFit/>
              </a:bodyPr>
              <a:lstStyle/>
              <a:p>
                <a:r>
                  <a:rPr lang="en-US" altLang="zh-CN" dirty="0"/>
                  <a:t>CC 9</a:t>
                </a:r>
              </a:p>
              <a:p>
                <a:r>
                  <a:rPr lang="en-US" altLang="zh-CN" dirty="0"/>
                  <a:t> -20</a:t>
                </a:r>
                <a:endParaRPr lang="zh-CN" altLang="en-US" dirty="0"/>
              </a:p>
            </p:txBody>
          </p:sp>
          <p:sp>
            <p:nvSpPr>
              <p:cNvPr id="263" name="文本框 262"/>
              <p:cNvSpPr txBox="1"/>
              <p:nvPr/>
            </p:nvSpPr>
            <p:spPr>
              <a:xfrm>
                <a:off x="1190706" y="1910020"/>
                <a:ext cx="2399921" cy="400110"/>
              </a:xfrm>
              <a:prstGeom prst="rect">
                <a:avLst/>
              </a:prstGeom>
              <a:noFill/>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r>
                  <a:rPr lang="en-US" altLang="zh-CN" dirty="0"/>
                  <a:t>Time (in clock cycles)</a:t>
                </a:r>
                <a:endParaRPr lang="zh-CN" altLang="en-US" dirty="0"/>
              </a:p>
            </p:txBody>
          </p:sp>
        </p:grpSp>
        <p:sp>
          <p:nvSpPr>
            <p:cNvPr id="7176" name="文本框 7175"/>
            <p:cNvSpPr txBox="1"/>
            <p:nvPr/>
          </p:nvSpPr>
          <p:spPr>
            <a:xfrm>
              <a:off x="417106" y="1514754"/>
              <a:ext cx="2266216" cy="400110"/>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Value of register x2:</a:t>
              </a:r>
              <a:endParaRPr lang="zh-CN" altLang="en-US" sz="2000" dirty="0">
                <a:latin typeface="Times New Roman" panose="02020603050405020304" pitchFamily="18" charset="0"/>
                <a:cs typeface="Times New Roman" panose="02020603050405020304" pitchFamily="18" charset="0"/>
              </a:endParaRPr>
            </a:p>
          </p:txBody>
        </p:sp>
      </p:grpSp>
      <p:sp>
        <p:nvSpPr>
          <p:cNvPr id="525" name="椭圆 524"/>
          <p:cNvSpPr/>
          <p:nvPr/>
        </p:nvSpPr>
        <p:spPr>
          <a:xfrm>
            <a:off x="6791474" y="2695432"/>
            <a:ext cx="100396" cy="100396"/>
          </a:xfrm>
          <a:prstGeom prst="ellipse">
            <a:avLst/>
          </a:prstGeom>
          <a:solidFill>
            <a:srgbClr val="54C9F5"/>
          </a:solidFill>
          <a:ln>
            <a:solidFill>
              <a:srgbClr val="54C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6" name="椭圆 525"/>
          <p:cNvSpPr/>
          <p:nvPr/>
        </p:nvSpPr>
        <p:spPr>
          <a:xfrm>
            <a:off x="4991729" y="3209372"/>
            <a:ext cx="100396" cy="100396"/>
          </a:xfrm>
          <a:prstGeom prst="ellipse">
            <a:avLst/>
          </a:prstGeom>
          <a:solidFill>
            <a:srgbClr val="54C9F5"/>
          </a:solidFill>
          <a:ln>
            <a:solidFill>
              <a:srgbClr val="54C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7" name="椭圆 526"/>
          <p:cNvSpPr/>
          <p:nvPr/>
        </p:nvSpPr>
        <p:spPr>
          <a:xfrm>
            <a:off x="5954189" y="4095527"/>
            <a:ext cx="100396" cy="100396"/>
          </a:xfrm>
          <a:prstGeom prst="ellipse">
            <a:avLst/>
          </a:prstGeom>
          <a:solidFill>
            <a:srgbClr val="54C9F5"/>
          </a:solidFill>
          <a:ln>
            <a:solidFill>
              <a:srgbClr val="54C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8" name="椭圆 527"/>
          <p:cNvSpPr/>
          <p:nvPr/>
        </p:nvSpPr>
        <p:spPr>
          <a:xfrm>
            <a:off x="6857970" y="4991046"/>
            <a:ext cx="100396" cy="100396"/>
          </a:xfrm>
          <a:prstGeom prst="ellipse">
            <a:avLst/>
          </a:prstGeom>
          <a:solidFill>
            <a:srgbClr val="54C9F5"/>
          </a:solidFill>
          <a:ln>
            <a:solidFill>
              <a:srgbClr val="54C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9" name="椭圆 528"/>
          <p:cNvSpPr/>
          <p:nvPr/>
        </p:nvSpPr>
        <p:spPr>
          <a:xfrm>
            <a:off x="7792886" y="5846530"/>
            <a:ext cx="100396" cy="100396"/>
          </a:xfrm>
          <a:prstGeom prst="ellipse">
            <a:avLst/>
          </a:prstGeom>
          <a:solidFill>
            <a:srgbClr val="54C9F5"/>
          </a:solidFill>
          <a:ln>
            <a:solidFill>
              <a:srgbClr val="54C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3261234" y="5073679"/>
            <a:ext cx="2297544" cy="904863"/>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pPr marL="0" lvl="1">
              <a:lnSpc>
                <a:spcPct val="120000"/>
              </a:lnSpc>
            </a:pPr>
            <a:r>
              <a:rPr lang="zh-CN" altLang="en-US" sz="2200" dirty="0">
                <a:latin typeface="Times New Roman" panose="02020603050405020304" pitchFamily="18" charset="0"/>
                <a:cs typeface="Times New Roman" panose="02020603050405020304" pitchFamily="18" charset="0"/>
              </a:rPr>
              <a:t>那么如何发现何时该前递？</a:t>
            </a:r>
            <a:endParaRPr lang="en-US" altLang="en-US" sz="2200" dirty="0">
              <a:latin typeface="Times New Roman" panose="02020603050405020304" pitchFamily="18" charset="0"/>
              <a:cs typeface="Times New Roman" panose="02020603050405020304" pitchFamily="18" charset="0"/>
            </a:endParaRPr>
          </a:p>
        </p:txBody>
      </p:sp>
      <p:cxnSp>
        <p:nvCxnSpPr>
          <p:cNvPr id="6" name="直接连接符 5">
            <a:extLst>
              <a:ext uri="{FF2B5EF4-FFF2-40B4-BE49-F238E27FC236}">
                <a16:creationId xmlns:a16="http://schemas.microsoft.com/office/drawing/2014/main" id="{A0B211BF-D139-3063-3F7B-5CA94BFFE70B}"/>
              </a:ext>
            </a:extLst>
          </p:cNvPr>
          <p:cNvCxnSpPr/>
          <p:nvPr/>
        </p:nvCxnSpPr>
        <p:spPr>
          <a:xfrm flipH="1" flipV="1">
            <a:off x="5479842" y="2672165"/>
            <a:ext cx="148682" cy="64088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1E1EA5C3-D34E-CEEC-2F1B-CC8E2D5CB7F0}"/>
              </a:ext>
            </a:extLst>
          </p:cNvPr>
          <p:cNvCxnSpPr/>
          <p:nvPr/>
        </p:nvCxnSpPr>
        <p:spPr>
          <a:xfrm flipH="1" flipV="1">
            <a:off x="6462986" y="2553141"/>
            <a:ext cx="117475" cy="187388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7" name="椭圆 46">
            <a:extLst>
              <a:ext uri="{FF2B5EF4-FFF2-40B4-BE49-F238E27FC236}">
                <a16:creationId xmlns:a16="http://schemas.microsoft.com/office/drawing/2014/main" id="{33A7D90D-66DE-6325-63BA-EDF20061CF63}"/>
              </a:ext>
            </a:extLst>
          </p:cNvPr>
          <p:cNvSpPr/>
          <p:nvPr/>
        </p:nvSpPr>
        <p:spPr>
          <a:xfrm>
            <a:off x="5428575" y="2657464"/>
            <a:ext cx="100396" cy="10039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a:extLst>
              <a:ext uri="{FF2B5EF4-FFF2-40B4-BE49-F238E27FC236}">
                <a16:creationId xmlns:a16="http://schemas.microsoft.com/office/drawing/2014/main" id="{09538469-8FFC-CFAF-E92E-51A898F9E355}"/>
              </a:ext>
            </a:extLst>
          </p:cNvPr>
          <p:cNvSpPr/>
          <p:nvPr/>
        </p:nvSpPr>
        <p:spPr>
          <a:xfrm>
            <a:off x="5582662" y="3257527"/>
            <a:ext cx="100396" cy="10039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a:extLst>
              <a:ext uri="{FF2B5EF4-FFF2-40B4-BE49-F238E27FC236}">
                <a16:creationId xmlns:a16="http://schemas.microsoft.com/office/drawing/2014/main" id="{B5E02DFE-ABC2-6AB3-35A1-F30740ED3571}"/>
              </a:ext>
            </a:extLst>
          </p:cNvPr>
          <p:cNvSpPr/>
          <p:nvPr/>
        </p:nvSpPr>
        <p:spPr>
          <a:xfrm>
            <a:off x="6382125" y="2515050"/>
            <a:ext cx="100396" cy="10039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a:extLst>
              <a:ext uri="{FF2B5EF4-FFF2-40B4-BE49-F238E27FC236}">
                <a16:creationId xmlns:a16="http://schemas.microsoft.com/office/drawing/2014/main" id="{2BD9DC12-BCA8-10D3-5CE8-0CCDF1E93553}"/>
              </a:ext>
            </a:extLst>
          </p:cNvPr>
          <p:cNvSpPr/>
          <p:nvPr/>
        </p:nvSpPr>
        <p:spPr>
          <a:xfrm>
            <a:off x="6514625" y="4335046"/>
            <a:ext cx="100396" cy="10039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P spid="47" grpId="0" animBg="1"/>
      <p:bldP spid="58" grpId="0" animBg="1"/>
      <p:bldP spid="59" grpId="0" animBg="1"/>
      <p:bldP spid="60"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3"/>
          <p:cNvSpPr>
            <a:spLocks noGrp="1" noChangeArrowheads="1"/>
          </p:cNvSpPr>
          <p:nvPr>
            <p:ph idx="1"/>
          </p:nvPr>
        </p:nvSpPr>
        <p:spPr/>
        <p:txBody>
          <a:bodyPr>
            <a:normAutofit/>
          </a:bodyPr>
          <a:lstStyle/>
          <a:p>
            <a:pPr eaLnBrk="1" hangingPunct="1">
              <a:lnSpc>
                <a:spcPct val="100000"/>
              </a:lnSpc>
              <a:spcAft>
                <a:spcPts val="0"/>
              </a:spcAft>
            </a:pPr>
            <a:r>
              <a:rPr lang="zh-CN" altLang="en-US" sz="2400" dirty="0">
                <a:latin typeface="Times New Roman" panose="02020603050405020304" pitchFamily="18" charset="0"/>
                <a:cs typeface="Times New Roman" panose="02020603050405020304" pitchFamily="18" charset="0"/>
              </a:rPr>
              <a:t>命名流水线寄存器字段</a:t>
            </a:r>
            <a:endParaRPr lang="en-US" altLang="zh-CN" sz="2400" dirty="0">
              <a:latin typeface="Times New Roman" panose="02020603050405020304" pitchFamily="18" charset="0"/>
              <a:cs typeface="Times New Roman" panose="02020603050405020304" pitchFamily="18" charset="0"/>
            </a:endParaRPr>
          </a:p>
          <a:p>
            <a:pPr lvl="1"/>
            <a:r>
              <a:rPr lang="zh-CN" altLang="en-US" sz="2000" dirty="0">
                <a:latin typeface="Times New Roman" panose="02020603050405020304" pitchFamily="18" charset="0"/>
                <a:cs typeface="Times New Roman" panose="02020603050405020304" pitchFamily="18" charset="0"/>
              </a:rPr>
              <a:t>例：</a:t>
            </a:r>
            <a:r>
              <a:rPr lang="en-US" altLang="en-US" sz="2000" dirty="0">
                <a:latin typeface="Times New Roman" panose="02020603050405020304" pitchFamily="18" charset="0"/>
                <a:cs typeface="Times New Roman" panose="02020603050405020304" pitchFamily="18" charset="0"/>
              </a:rPr>
              <a:t>ID/EX.RegisterRs1 </a:t>
            </a:r>
            <a:r>
              <a:rPr lang="zh-CN" altLang="en-US" sz="2000" dirty="0">
                <a:latin typeface="Times New Roman" panose="02020603050405020304" pitchFamily="18" charset="0"/>
                <a:cs typeface="Times New Roman" panose="02020603050405020304" pitchFamily="18" charset="0"/>
              </a:rPr>
              <a:t>代表 </a:t>
            </a:r>
            <a:r>
              <a:rPr lang="en-US" altLang="zh-CN" sz="2000" dirty="0">
                <a:latin typeface="Times New Roman" panose="02020603050405020304" pitchFamily="18" charset="0"/>
                <a:cs typeface="Times New Roman" panose="02020603050405020304" pitchFamily="18" charset="0"/>
              </a:rPr>
              <a:t>ID/EX</a:t>
            </a:r>
            <a:r>
              <a:rPr lang="zh-CN" altLang="en-US" sz="2000" dirty="0">
                <a:latin typeface="Times New Roman" panose="02020603050405020304" pitchFamily="18" charset="0"/>
                <a:cs typeface="Times New Roman" panose="02020603050405020304" pitchFamily="18" charset="0"/>
              </a:rPr>
              <a:t>流水线寄存器中，存放寄存器字段的编号</a:t>
            </a:r>
            <a:r>
              <a:rPr lang="en-US" altLang="zh-CN" sz="2000" dirty="0">
                <a:latin typeface="Times New Roman" panose="02020603050405020304" pitchFamily="18" charset="0"/>
                <a:cs typeface="Times New Roman" panose="02020603050405020304" pitchFamily="18" charset="0"/>
              </a:rPr>
              <a:t>Rs1</a:t>
            </a:r>
            <a:endParaRPr lang="en-US" altLang="en-US" sz="2000" dirty="0">
              <a:latin typeface="Times New Roman" panose="02020603050405020304" pitchFamily="18" charset="0"/>
              <a:cs typeface="Times New Roman" panose="02020603050405020304" pitchFamily="18" charset="0"/>
            </a:endParaRPr>
          </a:p>
          <a:p>
            <a:pPr eaLnBrk="1" hangingPunct="1">
              <a:lnSpc>
                <a:spcPct val="100000"/>
              </a:lnSpc>
              <a:spcAft>
                <a:spcPts val="0"/>
              </a:spcAft>
            </a:pPr>
            <a:r>
              <a:rPr lang="en-US" altLang="zh-CN" sz="2400" dirty="0">
                <a:latin typeface="Times New Roman" panose="02020603050405020304" pitchFamily="18" charset="0"/>
                <a:cs typeface="Times New Roman" panose="02020603050405020304" pitchFamily="18" charset="0"/>
              </a:rPr>
              <a:t>EX</a:t>
            </a:r>
            <a:r>
              <a:rPr lang="zh-CN" altLang="en-US" sz="2400" dirty="0">
                <a:latin typeface="Times New Roman" panose="02020603050405020304" pitchFamily="18" charset="0"/>
                <a:cs typeface="Times New Roman" panose="02020603050405020304" pitchFamily="18" charset="0"/>
              </a:rPr>
              <a:t>阶段中，</a:t>
            </a:r>
            <a:r>
              <a:rPr lang="en-US" altLang="zh-CN" sz="2400" dirty="0">
                <a:latin typeface="Times New Roman" panose="02020603050405020304" pitchFamily="18" charset="0"/>
                <a:cs typeface="Times New Roman" panose="02020603050405020304" pitchFamily="18" charset="0"/>
              </a:rPr>
              <a:t>ALU</a:t>
            </a:r>
            <a:r>
              <a:rPr lang="zh-CN" altLang="en-US" sz="2400" dirty="0">
                <a:latin typeface="Times New Roman" panose="02020603050405020304" pitchFamily="18" charset="0"/>
                <a:cs typeface="Times New Roman" panose="02020603050405020304" pitchFamily="18" charset="0"/>
              </a:rPr>
              <a:t>操作数寄存器字段名称分别是：</a:t>
            </a:r>
            <a:endParaRPr lang="en-US" altLang="en-US" sz="2400" dirty="0">
              <a:latin typeface="Times New Roman" panose="02020603050405020304" pitchFamily="18" charset="0"/>
              <a:cs typeface="Times New Roman" panose="02020603050405020304" pitchFamily="18" charset="0"/>
            </a:endParaRPr>
          </a:p>
          <a:p>
            <a:pPr lvl="1" eaLnBrk="1" hangingPunct="1">
              <a:lnSpc>
                <a:spcPct val="100000"/>
              </a:lnSpc>
              <a:spcAft>
                <a:spcPts val="0"/>
              </a:spcAft>
            </a:pPr>
            <a:r>
              <a:rPr lang="en-US" altLang="en-US" sz="2000" dirty="0">
                <a:latin typeface="Times New Roman" panose="02020603050405020304" pitchFamily="18" charset="0"/>
                <a:cs typeface="Times New Roman" panose="02020603050405020304" pitchFamily="18" charset="0"/>
              </a:rPr>
              <a:t>ID/EX.RegisterRs1, ID/EX.RegisterRs2</a:t>
            </a:r>
          </a:p>
          <a:p>
            <a:pPr eaLnBrk="1" hangingPunct="1">
              <a:lnSpc>
                <a:spcPct val="100000"/>
              </a:lnSpc>
              <a:spcAft>
                <a:spcPts val="0"/>
              </a:spcAft>
            </a:pPr>
            <a:r>
              <a:rPr lang="zh-CN" altLang="en-US" sz="2400" dirty="0">
                <a:latin typeface="Times New Roman" panose="02020603050405020304" pitchFamily="18" charset="0"/>
                <a:cs typeface="Times New Roman" panose="02020603050405020304" pitchFamily="18" charset="0"/>
              </a:rPr>
              <a:t>两组数据冒险：</a:t>
            </a:r>
            <a:r>
              <a:rPr lang="en-US" altLang="zh-CN" sz="2400" dirty="0">
                <a:latin typeface="Times New Roman" panose="02020603050405020304" pitchFamily="18" charset="0"/>
                <a:cs typeface="Times New Roman" panose="02020603050405020304" pitchFamily="18" charset="0"/>
              </a:rPr>
              <a:t>EX</a:t>
            </a:r>
            <a:r>
              <a:rPr lang="zh-CN" altLang="en-US" sz="2400" dirty="0">
                <a:latin typeface="Times New Roman" panose="02020603050405020304" pitchFamily="18" charset="0"/>
                <a:cs typeface="Times New Roman" panose="02020603050405020304" pitchFamily="18" charset="0"/>
              </a:rPr>
              <a:t>冒险和</a:t>
            </a:r>
            <a:r>
              <a:rPr lang="en-US" altLang="zh-CN" sz="2400" dirty="0">
                <a:latin typeface="Times New Roman" panose="02020603050405020304" pitchFamily="18" charset="0"/>
                <a:cs typeface="Times New Roman" panose="02020603050405020304" pitchFamily="18" charset="0"/>
              </a:rPr>
              <a:t>MEM</a:t>
            </a:r>
            <a:r>
              <a:rPr lang="zh-CN" altLang="en-US" sz="2400" dirty="0">
                <a:latin typeface="Times New Roman" panose="02020603050405020304" pitchFamily="18" charset="0"/>
                <a:cs typeface="Times New Roman" panose="02020603050405020304" pitchFamily="18" charset="0"/>
              </a:rPr>
              <a:t>冒险</a:t>
            </a:r>
            <a:endParaRPr lang="en-US" altLang="en-US" sz="2400" dirty="0">
              <a:latin typeface="Times New Roman" panose="02020603050405020304" pitchFamily="18" charset="0"/>
              <a:cs typeface="Times New Roman" panose="02020603050405020304" pitchFamily="18" charset="0"/>
            </a:endParaRPr>
          </a:p>
          <a:p>
            <a:pPr lvl="1" eaLnBrk="1" hangingPunct="1">
              <a:lnSpc>
                <a:spcPct val="100000"/>
              </a:lnSpc>
              <a:spcAft>
                <a:spcPts val="0"/>
              </a:spcAft>
              <a:buFont typeface="Wingdings" panose="05000000000000000000" pitchFamily="2" charset="2"/>
              <a:buNone/>
            </a:pPr>
            <a:r>
              <a:rPr lang="en-US" altLang="en-US" sz="2000" dirty="0">
                <a:solidFill>
                  <a:schemeClr val="hlink"/>
                </a:solidFill>
                <a:latin typeface="Times New Roman" panose="02020603050405020304" pitchFamily="18" charset="0"/>
                <a:cs typeface="Times New Roman" panose="02020603050405020304" pitchFamily="18" charset="0"/>
              </a:rPr>
              <a:t>1a.</a:t>
            </a:r>
            <a:r>
              <a:rPr lang="en-US" altLang="en-US" sz="2000" dirty="0">
                <a:latin typeface="Times New Roman" panose="02020603050405020304" pitchFamily="18" charset="0"/>
                <a:cs typeface="Times New Roman" panose="02020603050405020304" pitchFamily="18" charset="0"/>
              </a:rPr>
              <a:t> </a:t>
            </a:r>
            <a:r>
              <a:rPr lang="en-US" altLang="en-US" sz="2000" dirty="0">
                <a:solidFill>
                  <a:srgbClr val="0000FF"/>
                </a:solidFill>
                <a:latin typeface="Times New Roman" panose="02020603050405020304" pitchFamily="18" charset="0"/>
                <a:cs typeface="Times New Roman" panose="02020603050405020304" pitchFamily="18" charset="0"/>
              </a:rPr>
              <a:t>EX/</a:t>
            </a:r>
            <a:r>
              <a:rPr lang="en-US" altLang="en-US" sz="2000" dirty="0" err="1">
                <a:solidFill>
                  <a:srgbClr val="0000FF"/>
                </a:solidFill>
                <a:latin typeface="Times New Roman" panose="02020603050405020304" pitchFamily="18" charset="0"/>
                <a:cs typeface="Times New Roman" panose="02020603050405020304" pitchFamily="18" charset="0"/>
              </a:rPr>
              <a:t>MEM</a:t>
            </a:r>
            <a:r>
              <a:rPr lang="en-US" altLang="en-US" sz="2000" dirty="0" err="1">
                <a:latin typeface="Times New Roman" panose="02020603050405020304" pitchFamily="18" charset="0"/>
                <a:cs typeface="Times New Roman" panose="02020603050405020304" pitchFamily="18" charset="0"/>
              </a:rPr>
              <a:t>.Register</a:t>
            </a:r>
            <a:r>
              <a:rPr lang="en-US" altLang="en-US" sz="2000" dirty="0" err="1">
                <a:solidFill>
                  <a:srgbClr val="0000FF"/>
                </a:solidFill>
                <a:latin typeface="Times New Roman" panose="02020603050405020304" pitchFamily="18" charset="0"/>
                <a:cs typeface="Times New Roman" panose="02020603050405020304" pitchFamily="18" charset="0"/>
              </a:rPr>
              <a:t>Rd</a:t>
            </a:r>
            <a:r>
              <a:rPr lang="en-US" altLang="en-US" sz="2000" dirty="0">
                <a:latin typeface="Times New Roman" panose="02020603050405020304" pitchFamily="18" charset="0"/>
                <a:cs typeface="Times New Roman" panose="02020603050405020304" pitchFamily="18" charset="0"/>
              </a:rPr>
              <a:t> = </a:t>
            </a:r>
            <a:r>
              <a:rPr lang="en-US" altLang="en-US" sz="2000" dirty="0">
                <a:solidFill>
                  <a:srgbClr val="FF0000"/>
                </a:solidFill>
                <a:latin typeface="Times New Roman" panose="02020603050405020304" pitchFamily="18" charset="0"/>
                <a:cs typeface="Times New Roman" panose="02020603050405020304" pitchFamily="18" charset="0"/>
              </a:rPr>
              <a:t>ID/EX</a:t>
            </a:r>
            <a:r>
              <a:rPr lang="en-US" altLang="en-US" sz="2000" dirty="0">
                <a:latin typeface="Times New Roman" panose="02020603050405020304" pitchFamily="18" charset="0"/>
                <a:cs typeface="Times New Roman" panose="02020603050405020304" pitchFamily="18" charset="0"/>
              </a:rPr>
              <a:t>.Register</a:t>
            </a:r>
            <a:r>
              <a:rPr lang="en-US" altLang="en-US" sz="2000" dirty="0">
                <a:solidFill>
                  <a:srgbClr val="FF0000"/>
                </a:solidFill>
                <a:latin typeface="Times New Roman" panose="02020603050405020304" pitchFamily="18" charset="0"/>
                <a:cs typeface="Times New Roman" panose="02020603050405020304" pitchFamily="18" charset="0"/>
              </a:rPr>
              <a:t>Rs1</a:t>
            </a:r>
          </a:p>
          <a:p>
            <a:pPr lvl="1" eaLnBrk="1" hangingPunct="1">
              <a:lnSpc>
                <a:spcPct val="100000"/>
              </a:lnSpc>
              <a:spcAft>
                <a:spcPts val="0"/>
              </a:spcAft>
              <a:buFont typeface="Wingdings" panose="05000000000000000000" pitchFamily="2" charset="2"/>
              <a:buNone/>
            </a:pPr>
            <a:r>
              <a:rPr lang="en-US" altLang="en-US" sz="2000" dirty="0">
                <a:solidFill>
                  <a:schemeClr val="hlink"/>
                </a:solidFill>
                <a:latin typeface="Times New Roman" panose="02020603050405020304" pitchFamily="18" charset="0"/>
                <a:cs typeface="Times New Roman" panose="02020603050405020304" pitchFamily="18" charset="0"/>
              </a:rPr>
              <a:t>1b.</a:t>
            </a:r>
            <a:r>
              <a:rPr lang="en-US" altLang="en-US" sz="2000" dirty="0">
                <a:latin typeface="Times New Roman" panose="02020603050405020304" pitchFamily="18" charset="0"/>
                <a:cs typeface="Times New Roman" panose="02020603050405020304" pitchFamily="18" charset="0"/>
              </a:rPr>
              <a:t> </a:t>
            </a:r>
            <a:r>
              <a:rPr lang="en-US" altLang="en-US" sz="2000" dirty="0">
                <a:solidFill>
                  <a:srgbClr val="0000FF"/>
                </a:solidFill>
                <a:latin typeface="Times New Roman" panose="02020603050405020304" pitchFamily="18" charset="0"/>
                <a:cs typeface="Times New Roman" panose="02020603050405020304" pitchFamily="18" charset="0"/>
              </a:rPr>
              <a:t>EX/</a:t>
            </a:r>
            <a:r>
              <a:rPr lang="en-US" altLang="en-US" sz="2000" dirty="0" err="1">
                <a:solidFill>
                  <a:srgbClr val="0000FF"/>
                </a:solidFill>
                <a:latin typeface="Times New Roman" panose="02020603050405020304" pitchFamily="18" charset="0"/>
                <a:cs typeface="Times New Roman" panose="02020603050405020304" pitchFamily="18" charset="0"/>
              </a:rPr>
              <a:t>MEM</a:t>
            </a:r>
            <a:r>
              <a:rPr lang="en-US" altLang="en-US" sz="2000" dirty="0" err="1">
                <a:latin typeface="Times New Roman" panose="02020603050405020304" pitchFamily="18" charset="0"/>
                <a:cs typeface="Times New Roman" panose="02020603050405020304" pitchFamily="18" charset="0"/>
              </a:rPr>
              <a:t>.Register</a:t>
            </a:r>
            <a:r>
              <a:rPr lang="en-US" altLang="en-US" sz="2000" dirty="0" err="1">
                <a:solidFill>
                  <a:srgbClr val="0000FF"/>
                </a:solidFill>
                <a:latin typeface="Times New Roman" panose="02020603050405020304" pitchFamily="18" charset="0"/>
                <a:cs typeface="Times New Roman" panose="02020603050405020304" pitchFamily="18" charset="0"/>
              </a:rPr>
              <a:t>Rd</a:t>
            </a:r>
            <a:r>
              <a:rPr lang="en-US" altLang="en-US" sz="2000" dirty="0">
                <a:latin typeface="Times New Roman" panose="02020603050405020304" pitchFamily="18" charset="0"/>
                <a:cs typeface="Times New Roman" panose="02020603050405020304" pitchFamily="18" charset="0"/>
              </a:rPr>
              <a:t> = </a:t>
            </a:r>
            <a:r>
              <a:rPr lang="en-US" altLang="en-US" sz="2000" dirty="0">
                <a:solidFill>
                  <a:srgbClr val="FF0000"/>
                </a:solidFill>
                <a:latin typeface="Times New Roman" panose="02020603050405020304" pitchFamily="18" charset="0"/>
                <a:cs typeface="Times New Roman" panose="02020603050405020304" pitchFamily="18" charset="0"/>
              </a:rPr>
              <a:t>ID/EX</a:t>
            </a:r>
            <a:r>
              <a:rPr lang="en-US" altLang="en-US" sz="2000" dirty="0">
                <a:latin typeface="Times New Roman" panose="02020603050405020304" pitchFamily="18" charset="0"/>
                <a:cs typeface="Times New Roman" panose="02020603050405020304" pitchFamily="18" charset="0"/>
              </a:rPr>
              <a:t>.Register</a:t>
            </a:r>
            <a:r>
              <a:rPr lang="en-US" altLang="en-US" sz="2000" dirty="0">
                <a:solidFill>
                  <a:srgbClr val="FF0000"/>
                </a:solidFill>
                <a:latin typeface="Times New Roman" panose="02020603050405020304" pitchFamily="18" charset="0"/>
                <a:cs typeface="Times New Roman" panose="02020603050405020304" pitchFamily="18" charset="0"/>
              </a:rPr>
              <a:t>Rs2</a:t>
            </a:r>
          </a:p>
          <a:p>
            <a:pPr lvl="1" eaLnBrk="1" hangingPunct="1">
              <a:lnSpc>
                <a:spcPct val="100000"/>
              </a:lnSpc>
              <a:spcAft>
                <a:spcPts val="0"/>
              </a:spcAft>
              <a:buFont typeface="Wingdings" panose="05000000000000000000" pitchFamily="2" charset="2"/>
              <a:buNone/>
            </a:pPr>
            <a:r>
              <a:rPr lang="en-US" altLang="en-US" sz="2000" dirty="0">
                <a:solidFill>
                  <a:schemeClr val="hlink"/>
                </a:solidFill>
                <a:latin typeface="Times New Roman" panose="02020603050405020304" pitchFamily="18" charset="0"/>
                <a:cs typeface="Times New Roman" panose="02020603050405020304" pitchFamily="18" charset="0"/>
              </a:rPr>
              <a:t>2a.</a:t>
            </a:r>
            <a:r>
              <a:rPr lang="en-US" altLang="en-US" sz="2000" dirty="0">
                <a:latin typeface="Times New Roman" panose="02020603050405020304" pitchFamily="18" charset="0"/>
                <a:cs typeface="Times New Roman" panose="02020603050405020304" pitchFamily="18" charset="0"/>
              </a:rPr>
              <a:t> </a:t>
            </a:r>
            <a:r>
              <a:rPr lang="en-US" altLang="en-US" sz="2000" dirty="0">
                <a:solidFill>
                  <a:srgbClr val="0000FF"/>
                </a:solidFill>
                <a:latin typeface="Times New Roman" panose="02020603050405020304" pitchFamily="18" charset="0"/>
                <a:cs typeface="Times New Roman" panose="02020603050405020304" pitchFamily="18" charset="0"/>
              </a:rPr>
              <a:t>MEM/</a:t>
            </a:r>
            <a:r>
              <a:rPr lang="en-US" altLang="en-US" sz="2000" dirty="0" err="1">
                <a:solidFill>
                  <a:srgbClr val="0000FF"/>
                </a:solidFill>
                <a:latin typeface="Times New Roman" panose="02020603050405020304" pitchFamily="18" charset="0"/>
                <a:cs typeface="Times New Roman" panose="02020603050405020304" pitchFamily="18" charset="0"/>
              </a:rPr>
              <a:t>WB</a:t>
            </a:r>
            <a:r>
              <a:rPr lang="en-US" altLang="en-US" sz="2000" dirty="0" err="1">
                <a:latin typeface="Times New Roman" panose="02020603050405020304" pitchFamily="18" charset="0"/>
                <a:cs typeface="Times New Roman" panose="02020603050405020304" pitchFamily="18" charset="0"/>
              </a:rPr>
              <a:t>.Register</a:t>
            </a:r>
            <a:r>
              <a:rPr lang="en-US" altLang="en-US" sz="2000" dirty="0" err="1">
                <a:solidFill>
                  <a:srgbClr val="0000FF"/>
                </a:solidFill>
                <a:latin typeface="Times New Roman" panose="02020603050405020304" pitchFamily="18" charset="0"/>
                <a:cs typeface="Times New Roman" panose="02020603050405020304" pitchFamily="18" charset="0"/>
              </a:rPr>
              <a:t>Rd</a:t>
            </a:r>
            <a:r>
              <a:rPr lang="en-US" altLang="en-US" sz="2000" dirty="0">
                <a:solidFill>
                  <a:srgbClr val="0000FF"/>
                </a:solidFill>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 </a:t>
            </a:r>
            <a:r>
              <a:rPr lang="en-US" altLang="en-US" sz="2000" dirty="0">
                <a:solidFill>
                  <a:srgbClr val="FF0000"/>
                </a:solidFill>
                <a:latin typeface="Times New Roman" panose="02020603050405020304" pitchFamily="18" charset="0"/>
                <a:cs typeface="Times New Roman" panose="02020603050405020304" pitchFamily="18" charset="0"/>
              </a:rPr>
              <a:t>ID/EX</a:t>
            </a:r>
            <a:r>
              <a:rPr lang="en-US" altLang="en-US" sz="2000" dirty="0">
                <a:latin typeface="Times New Roman" panose="02020603050405020304" pitchFamily="18" charset="0"/>
                <a:cs typeface="Times New Roman" panose="02020603050405020304" pitchFamily="18" charset="0"/>
              </a:rPr>
              <a:t>.Register</a:t>
            </a:r>
            <a:r>
              <a:rPr lang="en-US" altLang="en-US" sz="2000" dirty="0">
                <a:solidFill>
                  <a:srgbClr val="FF0000"/>
                </a:solidFill>
                <a:latin typeface="Times New Roman" panose="02020603050405020304" pitchFamily="18" charset="0"/>
                <a:cs typeface="Times New Roman" panose="02020603050405020304" pitchFamily="18" charset="0"/>
              </a:rPr>
              <a:t>Rs1</a:t>
            </a:r>
          </a:p>
          <a:p>
            <a:pPr lvl="1" eaLnBrk="1" hangingPunct="1">
              <a:lnSpc>
                <a:spcPct val="100000"/>
              </a:lnSpc>
              <a:spcAft>
                <a:spcPts val="0"/>
              </a:spcAft>
              <a:buFont typeface="Wingdings" panose="05000000000000000000" pitchFamily="2" charset="2"/>
              <a:buNone/>
            </a:pPr>
            <a:r>
              <a:rPr lang="en-US" altLang="en-US" sz="2000" dirty="0">
                <a:solidFill>
                  <a:schemeClr val="hlink"/>
                </a:solidFill>
                <a:latin typeface="Times New Roman" panose="02020603050405020304" pitchFamily="18" charset="0"/>
                <a:cs typeface="Times New Roman" panose="02020603050405020304" pitchFamily="18" charset="0"/>
              </a:rPr>
              <a:t>2b.</a:t>
            </a:r>
            <a:r>
              <a:rPr lang="en-US" altLang="en-US" sz="2000" dirty="0">
                <a:latin typeface="Times New Roman" panose="02020603050405020304" pitchFamily="18" charset="0"/>
                <a:cs typeface="Times New Roman" panose="02020603050405020304" pitchFamily="18" charset="0"/>
              </a:rPr>
              <a:t> </a:t>
            </a:r>
            <a:r>
              <a:rPr lang="en-US" altLang="en-US" sz="2000" dirty="0">
                <a:solidFill>
                  <a:srgbClr val="0000FF"/>
                </a:solidFill>
                <a:latin typeface="Times New Roman" panose="02020603050405020304" pitchFamily="18" charset="0"/>
                <a:cs typeface="Times New Roman" panose="02020603050405020304" pitchFamily="18" charset="0"/>
              </a:rPr>
              <a:t>MEM/</a:t>
            </a:r>
            <a:r>
              <a:rPr lang="en-US" altLang="en-US" sz="2000" dirty="0" err="1">
                <a:solidFill>
                  <a:srgbClr val="0000FF"/>
                </a:solidFill>
                <a:latin typeface="Times New Roman" panose="02020603050405020304" pitchFamily="18" charset="0"/>
                <a:cs typeface="Times New Roman" panose="02020603050405020304" pitchFamily="18" charset="0"/>
              </a:rPr>
              <a:t>WB</a:t>
            </a:r>
            <a:r>
              <a:rPr lang="en-US" altLang="en-US" sz="2000" dirty="0" err="1">
                <a:latin typeface="Times New Roman" panose="02020603050405020304" pitchFamily="18" charset="0"/>
                <a:cs typeface="Times New Roman" panose="02020603050405020304" pitchFamily="18" charset="0"/>
              </a:rPr>
              <a:t>.Register</a:t>
            </a:r>
            <a:r>
              <a:rPr lang="en-US" altLang="en-US" sz="2000" dirty="0" err="1">
                <a:solidFill>
                  <a:srgbClr val="0000FF"/>
                </a:solidFill>
                <a:latin typeface="Times New Roman" panose="02020603050405020304" pitchFamily="18" charset="0"/>
                <a:cs typeface="Times New Roman" panose="02020603050405020304" pitchFamily="18" charset="0"/>
              </a:rPr>
              <a:t>Rd</a:t>
            </a:r>
            <a:r>
              <a:rPr lang="en-US" altLang="en-US" sz="2000" dirty="0">
                <a:latin typeface="Times New Roman" panose="02020603050405020304" pitchFamily="18" charset="0"/>
                <a:cs typeface="Times New Roman" panose="02020603050405020304" pitchFamily="18" charset="0"/>
              </a:rPr>
              <a:t> = </a:t>
            </a:r>
            <a:r>
              <a:rPr lang="en-US" altLang="en-US" sz="2000" dirty="0">
                <a:solidFill>
                  <a:srgbClr val="FF0000"/>
                </a:solidFill>
                <a:latin typeface="Times New Roman" panose="02020603050405020304" pitchFamily="18" charset="0"/>
                <a:cs typeface="Times New Roman" panose="02020603050405020304" pitchFamily="18" charset="0"/>
              </a:rPr>
              <a:t>ID/EX</a:t>
            </a:r>
            <a:r>
              <a:rPr lang="en-US" altLang="en-US" sz="2000" dirty="0">
                <a:latin typeface="Times New Roman" panose="02020603050405020304" pitchFamily="18" charset="0"/>
                <a:cs typeface="Times New Roman" panose="02020603050405020304" pitchFamily="18" charset="0"/>
              </a:rPr>
              <a:t>.Register</a:t>
            </a:r>
            <a:r>
              <a:rPr lang="en-US" altLang="en-US" sz="2000" dirty="0">
                <a:solidFill>
                  <a:srgbClr val="FF0000"/>
                </a:solidFill>
                <a:latin typeface="Times New Roman" panose="02020603050405020304" pitchFamily="18" charset="0"/>
                <a:cs typeface="Times New Roman" panose="02020603050405020304" pitchFamily="18" charset="0"/>
              </a:rPr>
              <a:t>Rs2</a:t>
            </a:r>
          </a:p>
        </p:txBody>
      </p:sp>
      <p:sp>
        <p:nvSpPr>
          <p:cNvPr id="2" name="灯片编号占位符 1"/>
          <p:cNvSpPr>
            <a:spLocks noGrp="1"/>
          </p:cNvSpPr>
          <p:nvPr>
            <p:ph type="sldNum" sz="quarter" idx="12"/>
          </p:nvPr>
        </p:nvSpPr>
        <p:spPr/>
        <p:txBody>
          <a:bodyPr/>
          <a:lstStyle/>
          <a:p>
            <a:fld id="{8EE8E787-E6FE-45D8-9039-788B45E44EE7}" type="slidenum">
              <a:rPr lang="zh-CN" altLang="en-US" sz="1600" smtClean="0"/>
              <a:t>51</a:t>
            </a:fld>
            <a:endParaRPr lang="zh-CN" altLang="en-US" sz="1600" dirty="0"/>
          </a:p>
        </p:txBody>
      </p:sp>
      <p:sp>
        <p:nvSpPr>
          <p:cNvPr id="6" name="标题 5"/>
          <p:cNvSpPr>
            <a:spLocks noGrp="1"/>
          </p:cNvSpPr>
          <p:nvPr>
            <p:ph type="title"/>
          </p:nvPr>
        </p:nvSpPr>
        <p:spPr/>
        <p:txBody>
          <a:bodyPr/>
          <a:lstStyle/>
          <a:p>
            <a:r>
              <a:rPr lang="zh-CN" altLang="en-US" dirty="0"/>
              <a:t>检测前递发生</a:t>
            </a:r>
          </a:p>
        </p:txBody>
      </p:sp>
      <p:grpSp>
        <p:nvGrpSpPr>
          <p:cNvPr id="3" name="组合 2"/>
          <p:cNvGrpSpPr/>
          <p:nvPr/>
        </p:nvGrpSpPr>
        <p:grpSpPr>
          <a:xfrm>
            <a:off x="5142495" y="4664257"/>
            <a:ext cx="5947407" cy="776605"/>
            <a:chOff x="6412006" y="3536790"/>
            <a:chExt cx="5947407" cy="776605"/>
          </a:xfrm>
        </p:grpSpPr>
        <p:sp>
          <p:nvSpPr>
            <p:cNvPr id="10" name="矩形 9"/>
            <p:cNvSpPr/>
            <p:nvPr/>
          </p:nvSpPr>
          <p:spPr>
            <a:xfrm>
              <a:off x="6412006" y="353869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取指令</a:t>
              </a:r>
              <a:endParaRPr lang="en-US" altLang="zh-CN" sz="2000" dirty="0">
                <a:latin typeface="Times New Roman" panose="02020603050405020304" pitchFamily="18" charset="0"/>
                <a:cs typeface="Times New Roman" panose="02020603050405020304" pitchFamily="18" charset="0"/>
              </a:endParaRPr>
            </a:p>
          </p:txBody>
        </p:sp>
        <p:sp>
          <p:nvSpPr>
            <p:cNvPr id="12" name="矩形 11"/>
            <p:cNvSpPr/>
            <p:nvPr/>
          </p:nvSpPr>
          <p:spPr>
            <a:xfrm>
              <a:off x="9385711" y="353869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访存</a:t>
              </a:r>
              <a:endParaRPr lang="en-US" altLang="zh-CN" sz="2000" dirty="0">
                <a:latin typeface="Times New Roman" panose="02020603050405020304" pitchFamily="18" charset="0"/>
                <a:cs typeface="Times New Roman" panose="02020603050405020304" pitchFamily="18" charset="0"/>
              </a:endParaRPr>
            </a:p>
          </p:txBody>
        </p:sp>
        <p:sp>
          <p:nvSpPr>
            <p:cNvPr id="13" name="矩形 12"/>
            <p:cNvSpPr/>
            <p:nvPr/>
          </p:nvSpPr>
          <p:spPr>
            <a:xfrm>
              <a:off x="8394475" y="353742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执行</a:t>
              </a:r>
              <a:endParaRPr lang="en-US" altLang="zh-CN" sz="2000" dirty="0">
                <a:latin typeface="Times New Roman" panose="02020603050405020304" pitchFamily="18" charset="0"/>
                <a:cs typeface="Times New Roman" panose="02020603050405020304" pitchFamily="18" charset="0"/>
              </a:endParaRPr>
            </a:p>
          </p:txBody>
        </p:sp>
        <p:sp>
          <p:nvSpPr>
            <p:cNvPr id="15" name="矩形 14"/>
            <p:cNvSpPr/>
            <p:nvPr/>
          </p:nvSpPr>
          <p:spPr>
            <a:xfrm>
              <a:off x="7403240" y="353742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译码</a:t>
              </a:r>
              <a:endParaRPr lang="en-US" altLang="zh-CN" sz="2000" dirty="0"/>
            </a:p>
          </p:txBody>
        </p:sp>
        <p:sp>
          <p:nvSpPr>
            <p:cNvPr id="16" name="矩形 15"/>
            <p:cNvSpPr/>
            <p:nvPr/>
          </p:nvSpPr>
          <p:spPr>
            <a:xfrm>
              <a:off x="10376944" y="353679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写回</a:t>
              </a:r>
              <a:endParaRPr lang="en-US" altLang="zh-CN" sz="2000" dirty="0">
                <a:latin typeface="Times New Roman" panose="02020603050405020304" pitchFamily="18" charset="0"/>
                <a:cs typeface="Times New Roman" panose="02020603050405020304" pitchFamily="18" charset="0"/>
              </a:endParaRPr>
            </a:p>
          </p:txBody>
        </p:sp>
        <p:sp>
          <p:nvSpPr>
            <p:cNvPr id="17" name="矩形 16"/>
            <p:cNvSpPr/>
            <p:nvPr/>
          </p:nvSpPr>
          <p:spPr>
            <a:xfrm>
              <a:off x="7403240" y="392604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取指令</a:t>
              </a:r>
              <a:endParaRPr lang="en-US" altLang="zh-CN" sz="2000" dirty="0">
                <a:latin typeface="Times New Roman" panose="02020603050405020304" pitchFamily="18" charset="0"/>
                <a:cs typeface="Times New Roman" panose="02020603050405020304" pitchFamily="18" charset="0"/>
              </a:endParaRPr>
            </a:p>
          </p:txBody>
        </p:sp>
        <p:sp>
          <p:nvSpPr>
            <p:cNvPr id="18" name="矩形 17"/>
            <p:cNvSpPr/>
            <p:nvPr/>
          </p:nvSpPr>
          <p:spPr>
            <a:xfrm>
              <a:off x="10376945" y="392604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访存</a:t>
              </a:r>
              <a:endParaRPr lang="en-US" altLang="zh-CN" sz="2000" dirty="0">
                <a:latin typeface="Times New Roman" panose="02020603050405020304" pitchFamily="18" charset="0"/>
                <a:cs typeface="Times New Roman" panose="02020603050405020304" pitchFamily="18" charset="0"/>
              </a:endParaRPr>
            </a:p>
          </p:txBody>
        </p:sp>
        <p:sp>
          <p:nvSpPr>
            <p:cNvPr id="19" name="矩形 18"/>
            <p:cNvSpPr/>
            <p:nvPr/>
          </p:nvSpPr>
          <p:spPr>
            <a:xfrm>
              <a:off x="9385709" y="392477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执行</a:t>
              </a:r>
              <a:endParaRPr lang="en-US" altLang="zh-CN" sz="2000" dirty="0">
                <a:latin typeface="Times New Roman" panose="02020603050405020304" pitchFamily="18" charset="0"/>
                <a:cs typeface="Times New Roman" panose="02020603050405020304" pitchFamily="18" charset="0"/>
              </a:endParaRPr>
            </a:p>
          </p:txBody>
        </p:sp>
        <p:sp>
          <p:nvSpPr>
            <p:cNvPr id="20" name="矩形 19"/>
            <p:cNvSpPr/>
            <p:nvPr/>
          </p:nvSpPr>
          <p:spPr>
            <a:xfrm>
              <a:off x="8394474" y="392477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译码</a:t>
              </a:r>
              <a:endParaRPr lang="en-US" altLang="zh-CN" sz="2000" dirty="0"/>
            </a:p>
          </p:txBody>
        </p:sp>
        <p:sp>
          <p:nvSpPr>
            <p:cNvPr id="21" name="矩形 20"/>
            <p:cNvSpPr/>
            <p:nvPr/>
          </p:nvSpPr>
          <p:spPr>
            <a:xfrm>
              <a:off x="11368178" y="392414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写回</a:t>
              </a:r>
              <a:endParaRPr lang="en-US" altLang="zh-CN" sz="2000" dirty="0">
                <a:latin typeface="Times New Roman" panose="02020603050405020304" pitchFamily="18" charset="0"/>
                <a:cs typeface="Times New Roman" panose="02020603050405020304" pitchFamily="18" charset="0"/>
              </a:endParaRPr>
            </a:p>
          </p:txBody>
        </p:sp>
        <p:sp>
          <p:nvSpPr>
            <p:cNvPr id="22" name="矩形 21"/>
            <p:cNvSpPr/>
            <p:nvPr/>
          </p:nvSpPr>
          <p:spPr>
            <a:xfrm>
              <a:off x="9366657" y="3536790"/>
              <a:ext cx="45719" cy="774700"/>
            </a:xfrm>
            <a:prstGeom prst="rect">
              <a:avLst/>
            </a:prstGeom>
            <a:solidFill>
              <a:srgbClr val="FF0000">
                <a:alpha val="7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grpSp>
        <p:nvGrpSpPr>
          <p:cNvPr id="24" name="组合 23"/>
          <p:cNvGrpSpPr/>
          <p:nvPr/>
        </p:nvGrpSpPr>
        <p:grpSpPr>
          <a:xfrm>
            <a:off x="5169161" y="5584703"/>
            <a:ext cx="6938641" cy="1166495"/>
            <a:chOff x="2276471" y="4581525"/>
            <a:chExt cx="6938641" cy="1166495"/>
          </a:xfrm>
        </p:grpSpPr>
        <p:sp>
          <p:nvSpPr>
            <p:cNvPr id="26" name="矩形 25"/>
            <p:cNvSpPr/>
            <p:nvPr/>
          </p:nvSpPr>
          <p:spPr>
            <a:xfrm>
              <a:off x="2276471" y="458343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取指令</a:t>
              </a:r>
              <a:endParaRPr lang="en-US" altLang="zh-CN" sz="2000" dirty="0">
                <a:latin typeface="Times New Roman" panose="02020603050405020304" pitchFamily="18" charset="0"/>
                <a:cs typeface="Times New Roman" panose="02020603050405020304" pitchFamily="18" charset="0"/>
              </a:endParaRPr>
            </a:p>
          </p:txBody>
        </p:sp>
        <p:sp>
          <p:nvSpPr>
            <p:cNvPr id="27" name="矩形 26"/>
            <p:cNvSpPr/>
            <p:nvPr/>
          </p:nvSpPr>
          <p:spPr>
            <a:xfrm>
              <a:off x="5250176" y="458343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访存</a:t>
              </a:r>
              <a:endParaRPr lang="en-US" altLang="zh-CN" sz="2000" dirty="0">
                <a:latin typeface="Times New Roman" panose="02020603050405020304" pitchFamily="18" charset="0"/>
                <a:cs typeface="Times New Roman" panose="02020603050405020304" pitchFamily="18" charset="0"/>
              </a:endParaRPr>
            </a:p>
          </p:txBody>
        </p:sp>
        <p:sp>
          <p:nvSpPr>
            <p:cNvPr id="28" name="矩形 27"/>
            <p:cNvSpPr/>
            <p:nvPr/>
          </p:nvSpPr>
          <p:spPr>
            <a:xfrm>
              <a:off x="4258940" y="458216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执行</a:t>
              </a:r>
              <a:endParaRPr lang="en-US" altLang="zh-CN" sz="2000" dirty="0">
                <a:latin typeface="Times New Roman" panose="02020603050405020304" pitchFamily="18" charset="0"/>
                <a:cs typeface="Times New Roman" panose="02020603050405020304" pitchFamily="18" charset="0"/>
              </a:endParaRPr>
            </a:p>
          </p:txBody>
        </p:sp>
        <p:sp>
          <p:nvSpPr>
            <p:cNvPr id="29" name="矩形 28"/>
            <p:cNvSpPr/>
            <p:nvPr/>
          </p:nvSpPr>
          <p:spPr>
            <a:xfrm>
              <a:off x="3267705" y="458216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译码</a:t>
              </a:r>
              <a:endParaRPr lang="en-US" altLang="zh-CN" sz="2000" dirty="0"/>
            </a:p>
          </p:txBody>
        </p:sp>
        <p:sp>
          <p:nvSpPr>
            <p:cNvPr id="30" name="矩形 29"/>
            <p:cNvSpPr/>
            <p:nvPr/>
          </p:nvSpPr>
          <p:spPr>
            <a:xfrm>
              <a:off x="6241409" y="458152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写回</a:t>
              </a:r>
              <a:endParaRPr lang="en-US" altLang="zh-CN" sz="2000" dirty="0">
                <a:latin typeface="Times New Roman" panose="02020603050405020304" pitchFamily="18" charset="0"/>
                <a:cs typeface="Times New Roman" panose="02020603050405020304" pitchFamily="18" charset="0"/>
              </a:endParaRPr>
            </a:p>
          </p:txBody>
        </p:sp>
        <p:sp>
          <p:nvSpPr>
            <p:cNvPr id="31" name="矩形 30"/>
            <p:cNvSpPr/>
            <p:nvPr/>
          </p:nvSpPr>
          <p:spPr>
            <a:xfrm>
              <a:off x="3267705" y="497078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取指令</a:t>
              </a:r>
              <a:endParaRPr lang="en-US" altLang="zh-CN" sz="2000" dirty="0">
                <a:latin typeface="Times New Roman" panose="02020603050405020304" pitchFamily="18" charset="0"/>
                <a:cs typeface="Times New Roman" panose="02020603050405020304" pitchFamily="18" charset="0"/>
              </a:endParaRPr>
            </a:p>
          </p:txBody>
        </p:sp>
        <p:sp>
          <p:nvSpPr>
            <p:cNvPr id="32" name="矩形 31"/>
            <p:cNvSpPr/>
            <p:nvPr/>
          </p:nvSpPr>
          <p:spPr>
            <a:xfrm>
              <a:off x="6241410" y="497078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访存</a:t>
              </a:r>
              <a:endParaRPr lang="en-US" altLang="zh-CN" sz="2000" dirty="0">
                <a:latin typeface="Times New Roman" panose="02020603050405020304" pitchFamily="18" charset="0"/>
                <a:cs typeface="Times New Roman" panose="02020603050405020304" pitchFamily="18" charset="0"/>
              </a:endParaRPr>
            </a:p>
          </p:txBody>
        </p:sp>
        <p:sp>
          <p:nvSpPr>
            <p:cNvPr id="33" name="矩形 32"/>
            <p:cNvSpPr/>
            <p:nvPr/>
          </p:nvSpPr>
          <p:spPr>
            <a:xfrm>
              <a:off x="5250174" y="496951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执行</a:t>
              </a:r>
              <a:endParaRPr lang="en-US" altLang="zh-CN" sz="2000" dirty="0">
                <a:latin typeface="Times New Roman" panose="02020603050405020304" pitchFamily="18" charset="0"/>
                <a:cs typeface="Times New Roman" panose="02020603050405020304" pitchFamily="18" charset="0"/>
              </a:endParaRPr>
            </a:p>
          </p:txBody>
        </p:sp>
        <p:sp>
          <p:nvSpPr>
            <p:cNvPr id="34" name="矩形 33"/>
            <p:cNvSpPr/>
            <p:nvPr/>
          </p:nvSpPr>
          <p:spPr>
            <a:xfrm>
              <a:off x="6196555" y="4586605"/>
              <a:ext cx="46040" cy="381635"/>
            </a:xfrm>
            <a:prstGeom prst="rect">
              <a:avLst/>
            </a:prstGeom>
            <a:solidFill>
              <a:srgbClr val="FF0000">
                <a:alpha val="70000"/>
              </a:srgbClr>
            </a:solidFill>
            <a:effectLst>
              <a:reflection endPos="0" dist="50800" dir="5400000" sy="-100000" algn="bl" rotWithShape="0"/>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800" dirty="0"/>
            </a:p>
          </p:txBody>
        </p:sp>
        <p:sp>
          <p:nvSpPr>
            <p:cNvPr id="35" name="矩形 34"/>
            <p:cNvSpPr/>
            <p:nvPr/>
          </p:nvSpPr>
          <p:spPr>
            <a:xfrm>
              <a:off x="4258939" y="496951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译码</a:t>
              </a:r>
              <a:endParaRPr lang="en-US" altLang="zh-CN" sz="2000" dirty="0"/>
            </a:p>
          </p:txBody>
        </p:sp>
        <p:sp>
          <p:nvSpPr>
            <p:cNvPr id="36" name="矩形 35"/>
            <p:cNvSpPr/>
            <p:nvPr/>
          </p:nvSpPr>
          <p:spPr>
            <a:xfrm>
              <a:off x="7232643" y="496887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写回</a:t>
              </a:r>
              <a:endParaRPr lang="en-US" altLang="zh-CN" sz="2000" dirty="0">
                <a:latin typeface="Times New Roman" panose="02020603050405020304" pitchFamily="18" charset="0"/>
                <a:cs typeface="Times New Roman" panose="02020603050405020304" pitchFamily="18" charset="0"/>
              </a:endParaRPr>
            </a:p>
          </p:txBody>
        </p:sp>
        <p:sp>
          <p:nvSpPr>
            <p:cNvPr id="37" name="矩形 36"/>
            <p:cNvSpPr/>
            <p:nvPr/>
          </p:nvSpPr>
          <p:spPr>
            <a:xfrm>
              <a:off x="4258939" y="536067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取指令</a:t>
              </a:r>
              <a:endParaRPr lang="en-US" altLang="zh-CN" sz="2000" dirty="0">
                <a:latin typeface="Times New Roman" panose="02020603050405020304" pitchFamily="18" charset="0"/>
                <a:cs typeface="Times New Roman" panose="02020603050405020304" pitchFamily="18" charset="0"/>
              </a:endParaRPr>
            </a:p>
          </p:txBody>
        </p:sp>
        <p:sp>
          <p:nvSpPr>
            <p:cNvPr id="38" name="矩形 37"/>
            <p:cNvSpPr/>
            <p:nvPr/>
          </p:nvSpPr>
          <p:spPr>
            <a:xfrm>
              <a:off x="7232644" y="536067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访存</a:t>
              </a:r>
              <a:endParaRPr lang="en-US" altLang="zh-CN" sz="2000" dirty="0">
                <a:latin typeface="Times New Roman" panose="02020603050405020304" pitchFamily="18" charset="0"/>
                <a:cs typeface="Times New Roman" panose="02020603050405020304" pitchFamily="18" charset="0"/>
              </a:endParaRPr>
            </a:p>
          </p:txBody>
        </p:sp>
        <p:sp>
          <p:nvSpPr>
            <p:cNvPr id="39" name="矩形 38"/>
            <p:cNvSpPr/>
            <p:nvPr/>
          </p:nvSpPr>
          <p:spPr>
            <a:xfrm>
              <a:off x="6241408" y="535940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执行</a:t>
              </a:r>
              <a:endParaRPr lang="en-US" altLang="zh-CN" sz="2000" dirty="0">
                <a:latin typeface="Times New Roman" panose="02020603050405020304" pitchFamily="18" charset="0"/>
                <a:cs typeface="Times New Roman" panose="02020603050405020304" pitchFamily="18" charset="0"/>
              </a:endParaRPr>
            </a:p>
          </p:txBody>
        </p:sp>
        <p:sp>
          <p:nvSpPr>
            <p:cNvPr id="40" name="矩形 39"/>
            <p:cNvSpPr/>
            <p:nvPr/>
          </p:nvSpPr>
          <p:spPr>
            <a:xfrm>
              <a:off x="5250173" y="535940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译码</a:t>
              </a:r>
              <a:endParaRPr lang="en-US" altLang="zh-CN" sz="2000" dirty="0"/>
            </a:p>
          </p:txBody>
        </p:sp>
        <p:sp>
          <p:nvSpPr>
            <p:cNvPr id="41" name="矩形 40"/>
            <p:cNvSpPr/>
            <p:nvPr/>
          </p:nvSpPr>
          <p:spPr>
            <a:xfrm>
              <a:off x="8223877" y="535876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写回</a:t>
              </a:r>
              <a:endParaRPr lang="en-US" altLang="zh-CN" sz="2000" dirty="0">
                <a:latin typeface="Times New Roman" panose="02020603050405020304" pitchFamily="18" charset="0"/>
                <a:cs typeface="Times New Roman" panose="02020603050405020304" pitchFamily="18" charset="0"/>
              </a:endParaRPr>
            </a:p>
          </p:txBody>
        </p:sp>
        <p:sp>
          <p:nvSpPr>
            <p:cNvPr id="42" name="矩形 41"/>
            <p:cNvSpPr/>
            <p:nvPr/>
          </p:nvSpPr>
          <p:spPr>
            <a:xfrm>
              <a:off x="6222677" y="5364480"/>
              <a:ext cx="46040" cy="381635"/>
            </a:xfrm>
            <a:prstGeom prst="rect">
              <a:avLst/>
            </a:prstGeom>
            <a:solidFill>
              <a:srgbClr val="FF0000">
                <a:alpha val="70000"/>
              </a:srgbClr>
            </a:solidFill>
            <a:effectLst>
              <a:reflection endPos="0" dist="50800" dir="5400000" sy="-100000" algn="bl" rotWithShape="0"/>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800"/>
            </a:p>
          </p:txBody>
        </p:sp>
      </p:grpSp>
      <p:pic>
        <p:nvPicPr>
          <p:cNvPr id="7" name="图片 6"/>
          <p:cNvPicPr>
            <a:picLocks noChangeAspect="1"/>
          </p:cNvPicPr>
          <p:nvPr/>
        </p:nvPicPr>
        <p:blipFill>
          <a:blip r:embed="rId3"/>
          <a:stretch>
            <a:fillRect/>
          </a:stretch>
        </p:blipFill>
        <p:spPr>
          <a:xfrm>
            <a:off x="6480142" y="2270681"/>
            <a:ext cx="5307911" cy="2311661"/>
          </a:xfrm>
          <a:prstGeom prst="rect">
            <a:avLst/>
          </a:prstGeom>
          <a:ln w="28575"/>
        </p:spPr>
        <p:style>
          <a:lnRef idx="2">
            <a:schemeClr val="accent5"/>
          </a:lnRef>
          <a:fillRef idx="1">
            <a:schemeClr val="lt1"/>
          </a:fillRef>
          <a:effectRef idx="0">
            <a:schemeClr val="accent5"/>
          </a:effectRef>
          <a:fontRef idx="minor">
            <a:schemeClr val="dk1"/>
          </a:fontRef>
        </p:style>
      </p:pic>
      <p:sp>
        <p:nvSpPr>
          <p:cNvPr id="43" name="文本框 42"/>
          <p:cNvSpPr txBox="1"/>
          <p:nvPr/>
        </p:nvSpPr>
        <p:spPr>
          <a:xfrm>
            <a:off x="3487988" y="4664257"/>
            <a:ext cx="1560018"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sub </a:t>
            </a:r>
            <a:r>
              <a:rPr lang="en-US" altLang="zh-CN" dirty="0">
                <a:solidFill>
                  <a:srgbClr val="54C9F5"/>
                </a:solidFill>
                <a:latin typeface="Times New Roman" panose="02020603050405020304" pitchFamily="18" charset="0"/>
                <a:cs typeface="Times New Roman" panose="02020603050405020304" pitchFamily="18" charset="0"/>
              </a:rPr>
              <a:t>x2</a:t>
            </a:r>
            <a:r>
              <a:rPr lang="en-US" altLang="zh-CN" dirty="0">
                <a:latin typeface="Times New Roman" panose="02020603050405020304" pitchFamily="18" charset="0"/>
                <a:cs typeface="Times New Roman" panose="02020603050405020304" pitchFamily="18" charset="0"/>
              </a:rPr>
              <a:t>,x1,x3</a:t>
            </a:r>
            <a:endParaRPr lang="zh-CN" altLang="en-US" dirty="0">
              <a:latin typeface="Times New Roman" panose="02020603050405020304" pitchFamily="18" charset="0"/>
              <a:cs typeface="Times New Roman" panose="02020603050405020304" pitchFamily="18" charset="0"/>
            </a:endParaRPr>
          </a:p>
        </p:txBody>
      </p:sp>
      <p:sp>
        <p:nvSpPr>
          <p:cNvPr id="44" name="文本框 43"/>
          <p:cNvSpPr txBox="1"/>
          <p:nvPr/>
        </p:nvSpPr>
        <p:spPr>
          <a:xfrm>
            <a:off x="3487988" y="5069625"/>
            <a:ext cx="1560018"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and x12,</a:t>
            </a:r>
            <a:r>
              <a:rPr lang="en-US" altLang="zh-CN" dirty="0">
                <a:solidFill>
                  <a:srgbClr val="54C9F5"/>
                </a:solidFill>
                <a:latin typeface="Times New Roman" panose="02020603050405020304" pitchFamily="18" charset="0"/>
                <a:cs typeface="Times New Roman" panose="02020603050405020304" pitchFamily="18" charset="0"/>
              </a:rPr>
              <a:t>x2</a:t>
            </a:r>
            <a:r>
              <a:rPr lang="en-US" altLang="zh-CN" dirty="0">
                <a:latin typeface="Times New Roman" panose="02020603050405020304" pitchFamily="18" charset="0"/>
                <a:cs typeface="Times New Roman" panose="02020603050405020304" pitchFamily="18" charset="0"/>
              </a:rPr>
              <a:t>,x5</a:t>
            </a:r>
            <a:endParaRPr lang="zh-CN" altLang="en-US" dirty="0">
              <a:latin typeface="Times New Roman" panose="02020603050405020304" pitchFamily="18" charset="0"/>
              <a:cs typeface="Times New Roman" panose="02020603050405020304" pitchFamily="18" charset="0"/>
            </a:endParaRPr>
          </a:p>
        </p:txBody>
      </p:sp>
      <p:sp>
        <p:nvSpPr>
          <p:cNvPr id="45" name="文本框 44"/>
          <p:cNvSpPr txBox="1"/>
          <p:nvPr/>
        </p:nvSpPr>
        <p:spPr>
          <a:xfrm>
            <a:off x="3514654" y="6071203"/>
            <a:ext cx="1560018"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and x12,</a:t>
            </a:r>
            <a:r>
              <a:rPr lang="en-US" altLang="zh-CN" dirty="0">
                <a:solidFill>
                  <a:srgbClr val="54C9F5"/>
                </a:solidFill>
                <a:latin typeface="Times New Roman" panose="02020603050405020304" pitchFamily="18" charset="0"/>
                <a:cs typeface="Times New Roman" panose="02020603050405020304" pitchFamily="18" charset="0"/>
              </a:rPr>
              <a:t>x2</a:t>
            </a:r>
            <a:r>
              <a:rPr lang="en-US" altLang="zh-CN" dirty="0">
                <a:latin typeface="Times New Roman" panose="02020603050405020304" pitchFamily="18" charset="0"/>
                <a:cs typeface="Times New Roman" panose="02020603050405020304" pitchFamily="18" charset="0"/>
              </a:rPr>
              <a:t>,x5</a:t>
            </a:r>
            <a:endParaRPr lang="zh-CN" altLang="en-US" dirty="0">
              <a:latin typeface="Times New Roman" panose="02020603050405020304" pitchFamily="18" charset="0"/>
              <a:cs typeface="Times New Roman" panose="02020603050405020304" pitchFamily="18" charset="0"/>
            </a:endParaRPr>
          </a:p>
        </p:txBody>
      </p:sp>
      <p:sp>
        <p:nvSpPr>
          <p:cNvPr id="46" name="文本框 45"/>
          <p:cNvSpPr txBox="1"/>
          <p:nvPr/>
        </p:nvSpPr>
        <p:spPr>
          <a:xfrm>
            <a:off x="3541319" y="5671077"/>
            <a:ext cx="1560018"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sub </a:t>
            </a:r>
            <a:r>
              <a:rPr lang="en-US" altLang="zh-CN" dirty="0">
                <a:solidFill>
                  <a:srgbClr val="54C9F5"/>
                </a:solidFill>
                <a:latin typeface="Times New Roman" panose="02020603050405020304" pitchFamily="18" charset="0"/>
                <a:cs typeface="Times New Roman" panose="02020603050405020304" pitchFamily="18" charset="0"/>
              </a:rPr>
              <a:t>x2</a:t>
            </a:r>
            <a:r>
              <a:rPr lang="en-US" altLang="zh-CN" dirty="0">
                <a:latin typeface="Times New Roman" panose="02020603050405020304" pitchFamily="18" charset="0"/>
                <a:cs typeface="Times New Roman" panose="02020603050405020304" pitchFamily="18" charset="0"/>
              </a:rPr>
              <a:t>,x1,x3</a:t>
            </a:r>
            <a:endParaRPr lang="zh-CN" altLang="en-US" dirty="0">
              <a:latin typeface="Times New Roman" panose="02020603050405020304" pitchFamily="18" charset="0"/>
              <a:cs typeface="Times New Roman" panose="02020603050405020304" pitchFamily="18" charset="0"/>
            </a:endParaRPr>
          </a:p>
        </p:txBody>
      </p:sp>
      <p:sp>
        <p:nvSpPr>
          <p:cNvPr id="47" name="文本框 46"/>
          <p:cNvSpPr txBox="1"/>
          <p:nvPr/>
        </p:nvSpPr>
        <p:spPr>
          <a:xfrm>
            <a:off x="3541319" y="6436294"/>
            <a:ext cx="1560018"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or x13,x6,</a:t>
            </a:r>
            <a:r>
              <a:rPr lang="en-US" altLang="zh-CN" dirty="0">
                <a:solidFill>
                  <a:srgbClr val="54C9F5"/>
                </a:solidFill>
                <a:latin typeface="Times New Roman" panose="02020603050405020304" pitchFamily="18" charset="0"/>
                <a:cs typeface="Times New Roman" panose="02020603050405020304" pitchFamily="18" charset="0"/>
              </a:rPr>
              <a:t>x2</a:t>
            </a:r>
            <a:endParaRPr lang="zh-CN" altLang="en-US" dirty="0">
              <a:solidFill>
                <a:srgbClr val="54C9F5"/>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20">
                                            <p:txEl>
                                              <p:pRg st="2" end="2"/>
                                            </p:txEl>
                                          </p:spTgt>
                                        </p:tgtEl>
                                        <p:attrNameLst>
                                          <p:attrName>style.visibility</p:attrName>
                                        </p:attrNameLst>
                                      </p:cBhvr>
                                      <p:to>
                                        <p:strVal val="visible"/>
                                      </p:to>
                                    </p:set>
                                    <p:animEffect transition="in" filter="fade">
                                      <p:cBhvr>
                                        <p:cTn id="7" dur="500"/>
                                        <p:tgtEl>
                                          <p:spTgt spid="9220">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220">
                                            <p:txEl>
                                              <p:pRg st="3" end="3"/>
                                            </p:txEl>
                                          </p:spTgt>
                                        </p:tgtEl>
                                        <p:attrNameLst>
                                          <p:attrName>style.visibility</p:attrName>
                                        </p:attrNameLst>
                                      </p:cBhvr>
                                      <p:to>
                                        <p:strVal val="visible"/>
                                      </p:to>
                                    </p:set>
                                    <p:animEffect transition="in" filter="fade">
                                      <p:cBhvr>
                                        <p:cTn id="10" dur="500"/>
                                        <p:tgtEl>
                                          <p:spTgt spid="9220">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220">
                                            <p:txEl>
                                              <p:pRg st="4" end="4"/>
                                            </p:txEl>
                                          </p:spTgt>
                                        </p:tgtEl>
                                        <p:attrNameLst>
                                          <p:attrName>style.visibility</p:attrName>
                                        </p:attrNameLst>
                                      </p:cBhvr>
                                      <p:to>
                                        <p:strVal val="visible"/>
                                      </p:to>
                                    </p:set>
                                    <p:animEffect transition="in" filter="fade">
                                      <p:cBhvr>
                                        <p:cTn id="15" dur="500"/>
                                        <p:tgtEl>
                                          <p:spTgt spid="9220">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220">
                                            <p:txEl>
                                              <p:pRg st="5" end="5"/>
                                            </p:txEl>
                                          </p:spTgt>
                                        </p:tgtEl>
                                        <p:attrNameLst>
                                          <p:attrName>style.visibility</p:attrName>
                                        </p:attrNameLst>
                                      </p:cBhvr>
                                      <p:to>
                                        <p:strVal val="visible"/>
                                      </p:to>
                                    </p:set>
                                    <p:animEffect transition="in" filter="fade">
                                      <p:cBhvr>
                                        <p:cTn id="20" dur="500"/>
                                        <p:tgtEl>
                                          <p:spTgt spid="9220">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9220">
                                            <p:txEl>
                                              <p:pRg st="6" end="6"/>
                                            </p:txEl>
                                          </p:spTgt>
                                        </p:tgtEl>
                                        <p:attrNameLst>
                                          <p:attrName>style.visibility</p:attrName>
                                        </p:attrNameLst>
                                      </p:cBhvr>
                                      <p:to>
                                        <p:strVal val="visible"/>
                                      </p:to>
                                    </p:set>
                                    <p:animEffect transition="in" filter="fade">
                                      <p:cBhvr>
                                        <p:cTn id="23" dur="500"/>
                                        <p:tgtEl>
                                          <p:spTgt spid="9220">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9220">
                                            <p:txEl>
                                              <p:pRg st="7" end="7"/>
                                            </p:txEl>
                                          </p:spTgt>
                                        </p:tgtEl>
                                        <p:attrNameLst>
                                          <p:attrName>style.visibility</p:attrName>
                                        </p:attrNameLst>
                                      </p:cBhvr>
                                      <p:to>
                                        <p:strVal val="visible"/>
                                      </p:to>
                                    </p:set>
                                    <p:animEffect transition="in" filter="fade">
                                      <p:cBhvr>
                                        <p:cTn id="28" dur="500"/>
                                        <p:tgtEl>
                                          <p:spTgt spid="9220">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9220">
                                            <p:txEl>
                                              <p:pRg st="8" end="8"/>
                                            </p:txEl>
                                          </p:spTgt>
                                        </p:tgtEl>
                                        <p:attrNameLst>
                                          <p:attrName>style.visibility</p:attrName>
                                        </p:attrNameLst>
                                      </p:cBhvr>
                                      <p:to>
                                        <p:strVal val="visible"/>
                                      </p:to>
                                    </p:set>
                                    <p:animEffect transition="in" filter="fade">
                                      <p:cBhvr>
                                        <p:cTn id="31" dur="500"/>
                                        <p:tgtEl>
                                          <p:spTgt spid="9220">
                                            <p:txEl>
                                              <p:pRg st="8" end="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fade">
                                      <p:cBhvr>
                                        <p:cTn id="36" dur="500"/>
                                        <p:tgtEl>
                                          <p:spTgt spid="3"/>
                                        </p:tgtEl>
                                      </p:cBhvr>
                                    </p:animEffect>
                                  </p:childTnLst>
                                </p:cTn>
                              </p:par>
                              <p:par>
                                <p:cTn id="37" presetID="2" presetClass="entr" presetSubtype="4"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anim calcmode="lin" valueType="num">
                                      <p:cBhvr additive="base">
                                        <p:cTn id="39" dur="500" fill="hold"/>
                                        <p:tgtEl>
                                          <p:spTgt spid="43"/>
                                        </p:tgtEl>
                                        <p:attrNameLst>
                                          <p:attrName>ppt_x</p:attrName>
                                        </p:attrNameLst>
                                      </p:cBhvr>
                                      <p:tavLst>
                                        <p:tav tm="0">
                                          <p:val>
                                            <p:strVal val="#ppt_x"/>
                                          </p:val>
                                        </p:tav>
                                        <p:tav tm="100000">
                                          <p:val>
                                            <p:strVal val="#ppt_x"/>
                                          </p:val>
                                        </p:tav>
                                      </p:tavLst>
                                    </p:anim>
                                    <p:anim calcmode="lin" valueType="num">
                                      <p:cBhvr additive="base">
                                        <p:cTn id="40" dur="500" fill="hold"/>
                                        <p:tgtEl>
                                          <p:spTgt spid="43"/>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4"/>
                                        </p:tgtEl>
                                        <p:attrNameLst>
                                          <p:attrName>style.visibility</p:attrName>
                                        </p:attrNameLst>
                                      </p:cBhvr>
                                      <p:to>
                                        <p:strVal val="visible"/>
                                      </p:to>
                                    </p:set>
                                    <p:anim calcmode="lin" valueType="num">
                                      <p:cBhvr additive="base">
                                        <p:cTn id="43" dur="500" fill="hold"/>
                                        <p:tgtEl>
                                          <p:spTgt spid="44"/>
                                        </p:tgtEl>
                                        <p:attrNameLst>
                                          <p:attrName>ppt_x</p:attrName>
                                        </p:attrNameLst>
                                      </p:cBhvr>
                                      <p:tavLst>
                                        <p:tav tm="0">
                                          <p:val>
                                            <p:strVal val="#ppt_x"/>
                                          </p:val>
                                        </p:tav>
                                        <p:tav tm="100000">
                                          <p:val>
                                            <p:strVal val="#ppt_x"/>
                                          </p:val>
                                        </p:tav>
                                      </p:tavLst>
                                    </p:anim>
                                    <p:anim calcmode="lin" valueType="num">
                                      <p:cBhvr additive="base">
                                        <p:cTn id="44"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500"/>
                                        <p:tgtEl>
                                          <p:spTgt spid="24"/>
                                        </p:tgtEl>
                                      </p:cBhvr>
                                    </p:animEffect>
                                  </p:childTnLst>
                                </p:cTn>
                              </p:par>
                              <p:par>
                                <p:cTn id="50" presetID="2" presetClass="entr" presetSubtype="4" fill="hold" grpId="0" nodeType="withEffect">
                                  <p:stCondLst>
                                    <p:cond delay="0"/>
                                  </p:stCondLst>
                                  <p:childTnLst>
                                    <p:set>
                                      <p:cBhvr>
                                        <p:cTn id="51" dur="1" fill="hold">
                                          <p:stCondLst>
                                            <p:cond delay="0"/>
                                          </p:stCondLst>
                                        </p:cTn>
                                        <p:tgtEl>
                                          <p:spTgt spid="46"/>
                                        </p:tgtEl>
                                        <p:attrNameLst>
                                          <p:attrName>style.visibility</p:attrName>
                                        </p:attrNameLst>
                                      </p:cBhvr>
                                      <p:to>
                                        <p:strVal val="visible"/>
                                      </p:to>
                                    </p:set>
                                    <p:anim calcmode="lin" valueType="num">
                                      <p:cBhvr additive="base">
                                        <p:cTn id="52" dur="500" fill="hold"/>
                                        <p:tgtEl>
                                          <p:spTgt spid="46"/>
                                        </p:tgtEl>
                                        <p:attrNameLst>
                                          <p:attrName>ppt_x</p:attrName>
                                        </p:attrNameLst>
                                      </p:cBhvr>
                                      <p:tavLst>
                                        <p:tav tm="0">
                                          <p:val>
                                            <p:strVal val="#ppt_x"/>
                                          </p:val>
                                        </p:tav>
                                        <p:tav tm="100000">
                                          <p:val>
                                            <p:strVal val="#ppt_x"/>
                                          </p:val>
                                        </p:tav>
                                      </p:tavLst>
                                    </p:anim>
                                    <p:anim calcmode="lin" valueType="num">
                                      <p:cBhvr additive="base">
                                        <p:cTn id="53" dur="500" fill="hold"/>
                                        <p:tgtEl>
                                          <p:spTgt spid="46"/>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45"/>
                                        </p:tgtEl>
                                        <p:attrNameLst>
                                          <p:attrName>style.visibility</p:attrName>
                                        </p:attrNameLst>
                                      </p:cBhvr>
                                      <p:to>
                                        <p:strVal val="visible"/>
                                      </p:to>
                                    </p:set>
                                    <p:anim calcmode="lin" valueType="num">
                                      <p:cBhvr additive="base">
                                        <p:cTn id="56" dur="500" fill="hold"/>
                                        <p:tgtEl>
                                          <p:spTgt spid="45"/>
                                        </p:tgtEl>
                                        <p:attrNameLst>
                                          <p:attrName>ppt_x</p:attrName>
                                        </p:attrNameLst>
                                      </p:cBhvr>
                                      <p:tavLst>
                                        <p:tav tm="0">
                                          <p:val>
                                            <p:strVal val="#ppt_x"/>
                                          </p:val>
                                        </p:tav>
                                        <p:tav tm="100000">
                                          <p:val>
                                            <p:strVal val="#ppt_x"/>
                                          </p:val>
                                        </p:tav>
                                      </p:tavLst>
                                    </p:anim>
                                    <p:anim calcmode="lin" valueType="num">
                                      <p:cBhvr additive="base">
                                        <p:cTn id="57" dur="500" fill="hold"/>
                                        <p:tgtEl>
                                          <p:spTgt spid="45"/>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47"/>
                                        </p:tgtEl>
                                        <p:attrNameLst>
                                          <p:attrName>style.visibility</p:attrName>
                                        </p:attrNameLst>
                                      </p:cBhvr>
                                      <p:to>
                                        <p:strVal val="visible"/>
                                      </p:to>
                                    </p:set>
                                    <p:anim calcmode="lin" valueType="num">
                                      <p:cBhvr additive="base">
                                        <p:cTn id="60" dur="500" fill="hold"/>
                                        <p:tgtEl>
                                          <p:spTgt spid="47"/>
                                        </p:tgtEl>
                                        <p:attrNameLst>
                                          <p:attrName>ppt_x</p:attrName>
                                        </p:attrNameLst>
                                      </p:cBhvr>
                                      <p:tavLst>
                                        <p:tav tm="0">
                                          <p:val>
                                            <p:strVal val="#ppt_x"/>
                                          </p:val>
                                        </p:tav>
                                        <p:tav tm="100000">
                                          <p:val>
                                            <p:strVal val="#ppt_x"/>
                                          </p:val>
                                        </p:tav>
                                      </p:tavLst>
                                    </p:anim>
                                    <p:anim calcmode="lin" valueType="num">
                                      <p:cBhvr additive="base">
                                        <p:cTn id="61"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P spid="46" grpId="0"/>
      <p:bldP spid="4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3"/>
          <p:cNvSpPr>
            <a:spLocks noGrp="1" noChangeArrowheads="1"/>
          </p:cNvSpPr>
          <p:nvPr>
            <p:ph idx="1"/>
          </p:nvPr>
        </p:nvSpPr>
        <p:spPr>
          <a:xfrm>
            <a:off x="241852" y="960774"/>
            <a:ext cx="10515600" cy="5263515"/>
          </a:xfrm>
        </p:spPr>
        <p:txBody>
          <a:bodyPr>
            <a:normAutofit/>
          </a:bodyPr>
          <a:lstStyle/>
          <a:p>
            <a:pPr eaLnBrk="1" hangingPunct="1"/>
            <a:r>
              <a:rPr lang="zh-CN" altLang="en-US" dirty="0">
                <a:latin typeface="Times New Roman" panose="02020603050405020304" pitchFamily="18" charset="0"/>
                <a:cs typeface="Times New Roman" panose="02020603050405020304" pitchFamily="18" charset="0"/>
              </a:rPr>
              <a:t>并不是所有指令都会写回寄存器，在前递的时候还应：</a:t>
            </a:r>
            <a:endParaRPr lang="en-US" altLang="zh-CN"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检查</a:t>
            </a:r>
            <a:r>
              <a:rPr lang="en-US" altLang="zh-CN" dirty="0" err="1">
                <a:latin typeface="Times New Roman" panose="02020603050405020304" pitchFamily="18" charset="0"/>
                <a:cs typeface="Times New Roman" panose="02020603050405020304" pitchFamily="18" charset="0"/>
              </a:rPr>
              <a:t>RegWrite</a:t>
            </a:r>
            <a:r>
              <a:rPr lang="zh-CN" altLang="en-US" dirty="0">
                <a:latin typeface="Times New Roman" panose="02020603050405020304" pitchFamily="18" charset="0"/>
                <a:cs typeface="Times New Roman" panose="02020603050405020304" pitchFamily="18" charset="0"/>
              </a:rPr>
              <a:t>信号是否有效 </a:t>
            </a:r>
            <a:endParaRPr lang="en-US" altLang="zh-CN" dirty="0">
              <a:latin typeface="Times New Roman" panose="02020603050405020304" pitchFamily="18" charset="0"/>
              <a:cs typeface="Times New Roman" panose="02020603050405020304" pitchFamily="18" charset="0"/>
            </a:endParaRPr>
          </a:p>
          <a:p>
            <a:pPr lvl="2"/>
            <a:r>
              <a:rPr lang="en-US" altLang="zh-CN" dirty="0">
                <a:latin typeface="Times New Roman" panose="02020603050405020304" pitchFamily="18" charset="0"/>
                <a:cs typeface="Times New Roman" panose="02020603050405020304" pitchFamily="18" charset="0"/>
              </a:rPr>
              <a:t>EX</a:t>
            </a:r>
            <a:r>
              <a:rPr lang="zh-CN" altLang="en-US" dirty="0">
                <a:latin typeface="Times New Roman" panose="02020603050405020304" pitchFamily="18" charset="0"/>
                <a:cs typeface="Times New Roman" panose="02020603050405020304" pitchFamily="18" charset="0"/>
              </a:rPr>
              <a:t>冒险：</a:t>
            </a:r>
            <a:r>
              <a:rPr lang="en-US" altLang="en-US" dirty="0">
                <a:latin typeface="Times New Roman" panose="02020603050405020304" pitchFamily="18" charset="0"/>
                <a:cs typeface="Times New Roman" panose="02020603050405020304" pitchFamily="18" charset="0"/>
              </a:rPr>
              <a:t>EX/</a:t>
            </a:r>
            <a:r>
              <a:rPr lang="en-US" altLang="en-US" dirty="0" err="1">
                <a:latin typeface="Times New Roman" panose="02020603050405020304" pitchFamily="18" charset="0"/>
                <a:cs typeface="Times New Roman" panose="02020603050405020304" pitchFamily="18" charset="0"/>
              </a:rPr>
              <a:t>MEM.RegWrite</a:t>
            </a:r>
            <a:r>
              <a:rPr lang="en-US" altLang="en-US" dirty="0">
                <a:latin typeface="Times New Roman" panose="02020603050405020304" pitchFamily="18" charset="0"/>
                <a:cs typeface="Times New Roman" panose="02020603050405020304" pitchFamily="18" charset="0"/>
              </a:rPr>
              <a:t> ≠ 0</a:t>
            </a:r>
          </a:p>
          <a:p>
            <a:pPr lvl="2"/>
            <a:r>
              <a:rPr lang="en-US" altLang="zh-CN" dirty="0">
                <a:latin typeface="Times New Roman" panose="02020603050405020304" pitchFamily="18" charset="0"/>
                <a:cs typeface="Times New Roman" panose="02020603050405020304" pitchFamily="18" charset="0"/>
              </a:rPr>
              <a:t>MEM</a:t>
            </a:r>
            <a:r>
              <a:rPr lang="zh-CN" altLang="en-US" dirty="0">
                <a:latin typeface="Times New Roman" panose="02020603050405020304" pitchFamily="18" charset="0"/>
                <a:cs typeface="Times New Roman" panose="02020603050405020304" pitchFamily="18" charset="0"/>
              </a:rPr>
              <a:t>冒险：</a:t>
            </a:r>
            <a:r>
              <a:rPr lang="en-US" altLang="en-US" dirty="0">
                <a:latin typeface="Times New Roman" panose="02020603050405020304" pitchFamily="18" charset="0"/>
                <a:cs typeface="Times New Roman" panose="02020603050405020304" pitchFamily="18" charset="0"/>
              </a:rPr>
              <a:t>MEM/</a:t>
            </a:r>
            <a:r>
              <a:rPr lang="en-US" altLang="en-US" dirty="0" err="1">
                <a:latin typeface="Times New Roman" panose="02020603050405020304" pitchFamily="18" charset="0"/>
                <a:cs typeface="Times New Roman" panose="02020603050405020304" pitchFamily="18" charset="0"/>
              </a:rPr>
              <a:t>WB.RegWrite</a:t>
            </a:r>
            <a:r>
              <a:rPr lang="en-US" altLang="en-US" dirty="0">
                <a:latin typeface="Times New Roman" panose="02020603050405020304" pitchFamily="18" charset="0"/>
                <a:cs typeface="Times New Roman" panose="02020603050405020304" pitchFamily="18" charset="0"/>
              </a:rPr>
              <a:t> ≠ 0</a:t>
            </a:r>
          </a:p>
          <a:p>
            <a:r>
              <a:rPr lang="zh-CN" altLang="en-US" dirty="0">
                <a:latin typeface="Times New Roman" panose="02020603050405020304" pitchFamily="18" charset="0"/>
                <a:cs typeface="Times New Roman" panose="02020603050405020304" pitchFamily="18" charset="0"/>
              </a:rPr>
              <a:t>冒险的检测条件仍然不完全</a:t>
            </a:r>
          </a:p>
          <a:p>
            <a:pPr lvl="1"/>
            <a:r>
              <a:rPr lang="en-US" altLang="zh-CN" sz="2800" dirty="0">
                <a:latin typeface="Times New Roman" panose="02020603050405020304" pitchFamily="18" charset="0"/>
                <a:cs typeface="Times New Roman" panose="02020603050405020304" pitchFamily="18" charset="0"/>
                <a:sym typeface="+mn-ea"/>
              </a:rPr>
              <a:t>Rd=x0</a:t>
            </a:r>
            <a:r>
              <a:rPr lang="zh-CN" altLang="en-US" sz="2800" dirty="0">
                <a:latin typeface="Times New Roman" panose="02020603050405020304" pitchFamily="18" charset="0"/>
                <a:cs typeface="Times New Roman" panose="02020603050405020304" pitchFamily="18" charset="0"/>
                <a:sym typeface="+mn-ea"/>
              </a:rPr>
              <a:t>？</a:t>
            </a:r>
            <a:endParaRPr lang="en-US" altLang="zh-CN" sz="2800" dirty="0">
              <a:latin typeface="Times New Roman" panose="02020603050405020304" pitchFamily="18" charset="0"/>
              <a:cs typeface="Times New Roman" panose="02020603050405020304" pitchFamily="18" charset="0"/>
            </a:endParaRPr>
          </a:p>
          <a:p>
            <a:pPr lvl="2"/>
            <a:r>
              <a:rPr lang="en-US" altLang="zh-CN" sz="2800" dirty="0">
                <a:latin typeface="Times New Roman" panose="02020603050405020304" pitchFamily="18" charset="0"/>
                <a:cs typeface="Times New Roman" panose="02020603050405020304" pitchFamily="18" charset="0"/>
                <a:sym typeface="+mn-ea"/>
              </a:rPr>
              <a:t>EX</a:t>
            </a:r>
            <a:r>
              <a:rPr lang="zh-CN" altLang="en-US" sz="2800" dirty="0">
                <a:latin typeface="Times New Roman" panose="02020603050405020304" pitchFamily="18" charset="0"/>
                <a:cs typeface="Times New Roman" panose="02020603050405020304" pitchFamily="18" charset="0"/>
                <a:sym typeface="+mn-ea"/>
              </a:rPr>
              <a:t>冒险：</a:t>
            </a:r>
            <a:r>
              <a:rPr lang="en-US" altLang="en-US" sz="2800" dirty="0">
                <a:latin typeface="Times New Roman" panose="02020603050405020304" pitchFamily="18" charset="0"/>
                <a:cs typeface="Times New Roman" panose="02020603050405020304" pitchFamily="18" charset="0"/>
                <a:sym typeface="+mn-ea"/>
              </a:rPr>
              <a:t>EX/MEM. </a:t>
            </a:r>
            <a:r>
              <a:rPr lang="en-US" altLang="en-US" sz="2800" dirty="0" err="1">
                <a:latin typeface="Times New Roman" panose="02020603050405020304" pitchFamily="18" charset="0"/>
                <a:cs typeface="Times New Roman" panose="02020603050405020304" pitchFamily="18" charset="0"/>
                <a:sym typeface="+mn-ea"/>
              </a:rPr>
              <a:t>RegisterRd</a:t>
            </a:r>
            <a:r>
              <a:rPr lang="en-US" altLang="en-US" sz="2800" dirty="0">
                <a:latin typeface="Times New Roman" panose="02020603050405020304" pitchFamily="18" charset="0"/>
                <a:cs typeface="Times New Roman" panose="02020603050405020304" pitchFamily="18" charset="0"/>
                <a:sym typeface="+mn-ea"/>
              </a:rPr>
              <a:t> ≠ 0</a:t>
            </a:r>
            <a:endParaRPr lang="en-US" altLang="en-US" sz="2800" dirty="0">
              <a:latin typeface="Times New Roman" panose="02020603050405020304" pitchFamily="18" charset="0"/>
              <a:cs typeface="Times New Roman" panose="02020603050405020304" pitchFamily="18" charset="0"/>
            </a:endParaRPr>
          </a:p>
          <a:p>
            <a:pPr lvl="2"/>
            <a:r>
              <a:rPr lang="en-US" altLang="zh-CN" sz="2800" dirty="0">
                <a:latin typeface="Times New Roman" panose="02020603050405020304" pitchFamily="18" charset="0"/>
                <a:cs typeface="Times New Roman" panose="02020603050405020304" pitchFamily="18" charset="0"/>
                <a:sym typeface="+mn-ea"/>
              </a:rPr>
              <a:t>MEM</a:t>
            </a:r>
            <a:r>
              <a:rPr lang="zh-CN" altLang="en-US" sz="2800" dirty="0">
                <a:latin typeface="Times New Roman" panose="02020603050405020304" pitchFamily="18" charset="0"/>
                <a:cs typeface="Times New Roman" panose="02020603050405020304" pitchFamily="18" charset="0"/>
                <a:sym typeface="+mn-ea"/>
              </a:rPr>
              <a:t>冒险：</a:t>
            </a:r>
            <a:r>
              <a:rPr lang="en-US" altLang="en-US" sz="2800" dirty="0">
                <a:latin typeface="Times New Roman" panose="02020603050405020304" pitchFamily="18" charset="0"/>
                <a:cs typeface="Times New Roman" panose="02020603050405020304" pitchFamily="18" charset="0"/>
                <a:sym typeface="+mn-ea"/>
              </a:rPr>
              <a:t>MEM/WB. </a:t>
            </a:r>
            <a:r>
              <a:rPr lang="en-US" altLang="en-US" sz="2800" dirty="0" err="1">
                <a:latin typeface="Times New Roman" panose="02020603050405020304" pitchFamily="18" charset="0"/>
                <a:cs typeface="Times New Roman" panose="02020603050405020304" pitchFamily="18" charset="0"/>
                <a:sym typeface="+mn-ea"/>
              </a:rPr>
              <a:t>RegisterRd</a:t>
            </a:r>
            <a:r>
              <a:rPr lang="en-US" altLang="en-US" sz="2800" dirty="0">
                <a:latin typeface="Times New Roman" panose="02020603050405020304" pitchFamily="18" charset="0"/>
                <a:cs typeface="Times New Roman" panose="02020603050405020304" pitchFamily="18" charset="0"/>
                <a:sym typeface="+mn-ea"/>
              </a:rPr>
              <a:t> ≠ 0</a:t>
            </a:r>
            <a:endParaRPr lang="en-US" altLang="zh-CN" sz="2800" dirty="0">
              <a:latin typeface="Times New Roman" panose="02020603050405020304" pitchFamily="18" charset="0"/>
              <a:cs typeface="Times New Roman" panose="02020603050405020304" pitchFamily="18" charset="0"/>
            </a:endParaRPr>
          </a:p>
          <a:p>
            <a:pPr lvl="1"/>
            <a:r>
              <a:rPr lang="zh-CN" altLang="en-US" sz="2800" dirty="0">
                <a:latin typeface="Times New Roman" panose="02020603050405020304" pitchFamily="18" charset="0"/>
                <a:cs typeface="Times New Roman" panose="02020603050405020304" pitchFamily="18" charset="0"/>
              </a:rPr>
              <a:t>二次冒险</a:t>
            </a:r>
            <a:endParaRPr lang="en-US" altLang="en-US" sz="2800" dirty="0">
              <a:latin typeface="Times New Roman" panose="02020603050405020304" pitchFamily="18" charset="0"/>
              <a:cs typeface="Times New Roman" panose="02020603050405020304" pitchFamily="18" charset="0"/>
            </a:endParaRPr>
          </a:p>
          <a:p>
            <a:pPr lvl="1"/>
            <a:endParaRPr lang="en-US" altLang="en-US" dirty="0">
              <a:latin typeface="Times New Roman" panose="02020603050405020304" pitchFamily="18" charset="0"/>
              <a:cs typeface="Times New Roman" panose="02020603050405020304" pitchFamily="18" charset="0"/>
            </a:endParaRPr>
          </a:p>
          <a:p>
            <a:pPr marL="0" indent="0" eaLnBrk="1" hangingPunct="1">
              <a:buNone/>
            </a:pPr>
            <a:endParaRPr lang="en-US" altLang="en-US" dirty="0">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8EE8E787-E6FE-45D8-9039-788B45E44EE7}" type="slidenum">
              <a:rPr lang="zh-CN" altLang="en-US" smtClean="0"/>
              <a:t>52</a:t>
            </a:fld>
            <a:endParaRPr lang="zh-CN" altLang="en-US" dirty="0"/>
          </a:p>
        </p:txBody>
      </p:sp>
      <p:sp>
        <p:nvSpPr>
          <p:cNvPr id="4" name="标题 3"/>
          <p:cNvSpPr>
            <a:spLocks noGrp="1"/>
          </p:cNvSpPr>
          <p:nvPr>
            <p:ph type="title"/>
          </p:nvPr>
        </p:nvSpPr>
        <p:spPr/>
        <p:txBody>
          <a:bodyPr/>
          <a:lstStyle/>
          <a:p>
            <a:r>
              <a:rPr lang="zh-CN" altLang="en-US" dirty="0"/>
              <a:t>检测前递发生</a:t>
            </a:r>
          </a:p>
        </p:txBody>
      </p:sp>
      <p:sp>
        <p:nvSpPr>
          <p:cNvPr id="3" name="文本框 2"/>
          <p:cNvSpPr txBox="1"/>
          <p:nvPr/>
        </p:nvSpPr>
        <p:spPr>
          <a:xfrm>
            <a:off x="8093821" y="1649134"/>
            <a:ext cx="3154680" cy="953135"/>
          </a:xfrm>
          <a:prstGeom prst="rect">
            <a:avLst/>
          </a:prstGeom>
          <a:noFill/>
        </p:spPr>
        <p:txBody>
          <a:bodyPr wrap="square" rtlCol="0">
            <a:spAutoFit/>
          </a:bodyPr>
          <a:lstStyle/>
          <a:p>
            <a:r>
              <a:rPr lang="en-US" altLang="zh-CN" sz="2800" dirty="0" err="1">
                <a:latin typeface="Times New Roman" panose="02020603050405020304" pitchFamily="18" charset="0"/>
                <a:cs typeface="Times New Roman" panose="02020603050405020304" pitchFamily="18" charset="0"/>
              </a:rPr>
              <a:t>sd</a:t>
            </a:r>
            <a:r>
              <a:rPr lang="en-US" altLang="zh-CN" sz="2800" dirty="0">
                <a:latin typeface="Times New Roman" panose="02020603050405020304" pitchFamily="18" charset="0"/>
                <a:cs typeface="Times New Roman" panose="02020603050405020304" pitchFamily="18" charset="0"/>
              </a:rPr>
              <a:t>     x1, </a:t>
            </a:r>
            <a:r>
              <a:rPr lang="en-US" altLang="zh-CN" sz="2800" b="1" dirty="0">
                <a:solidFill>
                  <a:srgbClr val="0000FF"/>
                </a:solidFill>
                <a:latin typeface="Times New Roman" panose="02020603050405020304" pitchFamily="18" charset="0"/>
                <a:cs typeface="Times New Roman" panose="02020603050405020304" pitchFamily="18" charset="0"/>
              </a:rPr>
              <a:t>8</a:t>
            </a:r>
            <a:r>
              <a:rPr lang="en-US" altLang="zh-CN" sz="2800" dirty="0">
                <a:latin typeface="Times New Roman" panose="02020603050405020304" pitchFamily="18" charset="0"/>
                <a:cs typeface="Times New Roman" panose="02020603050405020304" pitchFamily="18" charset="0"/>
              </a:rPr>
              <a:t>(x2) </a:t>
            </a:r>
          </a:p>
          <a:p>
            <a:r>
              <a:rPr lang="en-US" altLang="zh-CN" sz="2800" dirty="0">
                <a:latin typeface="Times New Roman" panose="02020603050405020304" pitchFamily="18" charset="0"/>
                <a:cs typeface="Times New Roman" panose="02020603050405020304" pitchFamily="18" charset="0"/>
              </a:rPr>
              <a:t>add   x3, </a:t>
            </a:r>
            <a:r>
              <a:rPr lang="en-US" altLang="zh-CN" sz="2800" b="1" dirty="0">
                <a:solidFill>
                  <a:srgbClr val="0000FF"/>
                </a:solidFill>
                <a:latin typeface="Times New Roman" panose="02020603050405020304" pitchFamily="18" charset="0"/>
                <a:cs typeface="Times New Roman" panose="02020603050405020304" pitchFamily="18" charset="0"/>
              </a:rPr>
              <a:t>x8</a:t>
            </a:r>
            <a:r>
              <a:rPr lang="en-US" altLang="zh-CN" sz="2800" dirty="0">
                <a:latin typeface="Times New Roman" panose="02020603050405020304" pitchFamily="18" charset="0"/>
                <a:cs typeface="Times New Roman" panose="02020603050405020304" pitchFamily="18" charset="0"/>
              </a:rPr>
              <a:t>, x2</a:t>
            </a:r>
          </a:p>
        </p:txBody>
      </p:sp>
      <p:sp>
        <p:nvSpPr>
          <p:cNvPr id="5" name="文本框 4"/>
          <p:cNvSpPr txBox="1"/>
          <p:nvPr/>
        </p:nvSpPr>
        <p:spPr>
          <a:xfrm>
            <a:off x="6593951" y="2805488"/>
            <a:ext cx="2999740" cy="1124585"/>
          </a:xfrm>
          <a:prstGeom prst="rect">
            <a:avLst/>
          </a:prstGeom>
          <a:noFill/>
        </p:spPr>
        <p:txBody>
          <a:bodyPr wrap="square" rtlCol="0" anchor="t">
            <a:spAutoFit/>
          </a:bodyPr>
          <a:lstStyle/>
          <a:p>
            <a:pPr lvl="1" eaLnBrk="1" hangingPunct="1">
              <a:lnSpc>
                <a:spcPct val="120000"/>
              </a:lnSpc>
              <a:spcAft>
                <a:spcPts val="0"/>
              </a:spcAft>
              <a:buFont typeface="Wingdings" panose="05000000000000000000" pitchFamily="2" charset="2"/>
              <a:buNone/>
            </a:pPr>
            <a:r>
              <a:rPr lang="en-AU" altLang="en-US" sz="2800" dirty="0">
                <a:latin typeface="Times New Roman" panose="02020603050405020304" pitchFamily="18" charset="0"/>
                <a:cs typeface="Times New Roman" panose="02020603050405020304" pitchFamily="18" charset="0"/>
                <a:sym typeface="+mn-ea"/>
              </a:rPr>
              <a:t>sub  </a:t>
            </a:r>
            <a:r>
              <a:rPr lang="en-AU" altLang="en-US" sz="2800" b="1" dirty="0">
                <a:solidFill>
                  <a:srgbClr val="0000FF"/>
                </a:solidFill>
                <a:latin typeface="Times New Roman" panose="02020603050405020304" pitchFamily="18" charset="0"/>
                <a:cs typeface="Times New Roman" panose="02020603050405020304" pitchFamily="18" charset="0"/>
                <a:sym typeface="+mn-ea"/>
              </a:rPr>
              <a:t>x</a:t>
            </a:r>
            <a:r>
              <a:rPr lang="en-US" altLang="en-AU" sz="2800" b="1" dirty="0">
                <a:solidFill>
                  <a:srgbClr val="0000FF"/>
                </a:solidFill>
                <a:latin typeface="Times New Roman" panose="02020603050405020304" pitchFamily="18" charset="0"/>
                <a:cs typeface="Times New Roman" panose="02020603050405020304" pitchFamily="18" charset="0"/>
                <a:sym typeface="+mn-ea"/>
              </a:rPr>
              <a:t>0</a:t>
            </a:r>
            <a:r>
              <a:rPr lang="en-AU" altLang="en-US" sz="2800" dirty="0">
                <a:latin typeface="Times New Roman" panose="02020603050405020304" pitchFamily="18" charset="0"/>
                <a:cs typeface="Times New Roman" panose="02020603050405020304" pitchFamily="18" charset="0"/>
                <a:sym typeface="+mn-ea"/>
              </a:rPr>
              <a:t>,   x1, x3</a:t>
            </a:r>
            <a:br>
              <a:rPr lang="en-AU" altLang="en-US" sz="2800" dirty="0">
                <a:latin typeface="Times New Roman" panose="02020603050405020304" pitchFamily="18" charset="0"/>
                <a:cs typeface="Times New Roman" panose="02020603050405020304" pitchFamily="18" charset="0"/>
                <a:sym typeface="+mn-ea"/>
              </a:rPr>
            </a:br>
            <a:r>
              <a:rPr lang="en-AU" altLang="en-US" sz="2800" dirty="0">
                <a:latin typeface="Times New Roman" panose="02020603050405020304" pitchFamily="18" charset="0"/>
                <a:cs typeface="Times New Roman" panose="02020603050405020304" pitchFamily="18" charset="0"/>
                <a:sym typeface="+mn-ea"/>
              </a:rPr>
              <a:t>and  x12, </a:t>
            </a:r>
            <a:r>
              <a:rPr lang="en-AU" altLang="en-US" sz="2800" b="1" dirty="0">
                <a:solidFill>
                  <a:srgbClr val="0000FF"/>
                </a:solidFill>
                <a:latin typeface="Times New Roman" panose="02020603050405020304" pitchFamily="18" charset="0"/>
                <a:cs typeface="Times New Roman" panose="02020603050405020304" pitchFamily="18" charset="0"/>
                <a:sym typeface="+mn-ea"/>
              </a:rPr>
              <a:t>x</a:t>
            </a:r>
            <a:r>
              <a:rPr lang="en-US" altLang="en-AU" sz="2800" b="1" dirty="0">
                <a:solidFill>
                  <a:srgbClr val="0000FF"/>
                </a:solidFill>
                <a:latin typeface="Times New Roman" panose="02020603050405020304" pitchFamily="18" charset="0"/>
                <a:cs typeface="Times New Roman" panose="02020603050405020304" pitchFamily="18" charset="0"/>
                <a:sym typeface="+mn-ea"/>
              </a:rPr>
              <a:t>0</a:t>
            </a:r>
            <a:r>
              <a:rPr lang="en-AU" altLang="en-US" sz="2800" dirty="0">
                <a:latin typeface="Times New Roman" panose="02020603050405020304" pitchFamily="18" charset="0"/>
                <a:cs typeface="Times New Roman" panose="02020603050405020304" pitchFamily="18" charset="0"/>
                <a:sym typeface="+mn-ea"/>
              </a:rPr>
              <a:t>, x5</a:t>
            </a:r>
          </a:p>
        </p:txBody>
      </p:sp>
      <p:cxnSp>
        <p:nvCxnSpPr>
          <p:cNvPr id="6" name="直接箭头连接符 5"/>
          <p:cNvCxnSpPr/>
          <p:nvPr/>
        </p:nvCxnSpPr>
        <p:spPr>
          <a:xfrm flipV="1">
            <a:off x="2964180" y="3279913"/>
            <a:ext cx="3854063" cy="305933"/>
          </a:xfrm>
          <a:prstGeom prst="straightConnector1">
            <a:avLst/>
          </a:prstGeom>
          <a:ln w="25400">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1612459" y="5337810"/>
            <a:ext cx="2944495" cy="1383665"/>
          </a:xfrm>
          <a:prstGeom prst="rect">
            <a:avLst/>
          </a:prstGeom>
          <a:noFill/>
        </p:spPr>
        <p:txBody>
          <a:bodyPr wrap="none" rtlCol="0" anchor="t">
            <a:spAutoFit/>
          </a:bodyPr>
          <a:lstStyle/>
          <a:p>
            <a:pPr lvl="2"/>
            <a:r>
              <a:rPr lang="en-US" altLang="en-US" sz="2800" dirty="0">
                <a:latin typeface="Times New Roman" panose="02020603050405020304" pitchFamily="18" charset="0"/>
                <a:cs typeface="Times New Roman" panose="02020603050405020304" pitchFamily="18" charset="0"/>
                <a:sym typeface="+mn-ea"/>
              </a:rPr>
              <a:t>add </a:t>
            </a:r>
            <a:r>
              <a:rPr lang="en-US" altLang="en-US" sz="2800" dirty="0">
                <a:solidFill>
                  <a:srgbClr val="0000FF"/>
                </a:solidFill>
                <a:latin typeface="Times New Roman" panose="02020603050405020304" pitchFamily="18" charset="0"/>
                <a:cs typeface="Times New Roman" panose="02020603050405020304" pitchFamily="18" charset="0"/>
                <a:sym typeface="+mn-ea"/>
              </a:rPr>
              <a:t>x1</a:t>
            </a:r>
            <a:r>
              <a:rPr lang="en-US" altLang="en-US" sz="2800" dirty="0">
                <a:latin typeface="Times New Roman" panose="02020603050405020304" pitchFamily="18" charset="0"/>
                <a:cs typeface="Times New Roman" panose="02020603050405020304" pitchFamily="18" charset="0"/>
                <a:sym typeface="+mn-ea"/>
              </a:rPr>
              <a:t>,x1,x2</a:t>
            </a:r>
            <a:br>
              <a:rPr lang="en-US" altLang="en-US" sz="2800" dirty="0">
                <a:latin typeface="Times New Roman" panose="02020603050405020304" pitchFamily="18" charset="0"/>
                <a:cs typeface="Times New Roman" panose="02020603050405020304" pitchFamily="18" charset="0"/>
                <a:sym typeface="+mn-ea"/>
              </a:rPr>
            </a:br>
            <a:r>
              <a:rPr lang="en-US" altLang="en-US" sz="2800" dirty="0">
                <a:latin typeface="Times New Roman" panose="02020603050405020304" pitchFamily="18" charset="0"/>
                <a:cs typeface="Times New Roman" panose="02020603050405020304" pitchFamily="18" charset="0"/>
                <a:sym typeface="+mn-ea"/>
              </a:rPr>
              <a:t>add </a:t>
            </a:r>
            <a:r>
              <a:rPr lang="en-US" altLang="en-US" sz="2800" dirty="0">
                <a:solidFill>
                  <a:srgbClr val="0000FF"/>
                </a:solidFill>
                <a:latin typeface="Times New Roman" panose="02020603050405020304" pitchFamily="18" charset="0"/>
                <a:cs typeface="Times New Roman" panose="02020603050405020304" pitchFamily="18" charset="0"/>
                <a:sym typeface="+mn-ea"/>
              </a:rPr>
              <a:t>x1</a:t>
            </a:r>
            <a:r>
              <a:rPr lang="en-US" altLang="en-US" sz="2800" dirty="0">
                <a:latin typeface="Times New Roman" panose="02020603050405020304" pitchFamily="18" charset="0"/>
                <a:cs typeface="Times New Roman" panose="02020603050405020304" pitchFamily="18" charset="0"/>
                <a:sym typeface="+mn-ea"/>
              </a:rPr>
              <a:t>,</a:t>
            </a:r>
            <a:r>
              <a:rPr lang="en-US" altLang="en-US" sz="2800" dirty="0">
                <a:solidFill>
                  <a:srgbClr val="0000FF"/>
                </a:solidFill>
                <a:latin typeface="Times New Roman" panose="02020603050405020304" pitchFamily="18" charset="0"/>
                <a:cs typeface="Times New Roman" panose="02020603050405020304" pitchFamily="18" charset="0"/>
                <a:sym typeface="+mn-ea"/>
              </a:rPr>
              <a:t>x1</a:t>
            </a:r>
            <a:r>
              <a:rPr lang="en-US" altLang="en-US" sz="2800" dirty="0">
                <a:latin typeface="Times New Roman" panose="02020603050405020304" pitchFamily="18" charset="0"/>
                <a:cs typeface="Times New Roman" panose="02020603050405020304" pitchFamily="18" charset="0"/>
                <a:sym typeface="+mn-ea"/>
              </a:rPr>
              <a:t>,x3</a:t>
            </a:r>
            <a:br>
              <a:rPr lang="en-US" altLang="en-US" sz="2800" dirty="0">
                <a:latin typeface="Times New Roman" panose="02020603050405020304" pitchFamily="18" charset="0"/>
                <a:cs typeface="Times New Roman" panose="02020603050405020304" pitchFamily="18" charset="0"/>
                <a:sym typeface="+mn-ea"/>
              </a:rPr>
            </a:br>
            <a:r>
              <a:rPr lang="en-US" altLang="en-US" sz="2800" dirty="0">
                <a:latin typeface="Times New Roman" panose="02020603050405020304" pitchFamily="18" charset="0"/>
                <a:cs typeface="Times New Roman" panose="02020603050405020304" pitchFamily="18" charset="0"/>
                <a:sym typeface="+mn-ea"/>
              </a:rPr>
              <a:t>add x1,</a:t>
            </a:r>
            <a:r>
              <a:rPr lang="en-US" altLang="en-US" sz="2800" dirty="0">
                <a:solidFill>
                  <a:srgbClr val="0000FF"/>
                </a:solidFill>
                <a:latin typeface="Times New Roman" panose="02020603050405020304" pitchFamily="18" charset="0"/>
                <a:cs typeface="Times New Roman" panose="02020603050405020304" pitchFamily="18" charset="0"/>
                <a:sym typeface="+mn-ea"/>
              </a:rPr>
              <a:t>x1</a:t>
            </a:r>
            <a:r>
              <a:rPr lang="en-US" altLang="en-US" sz="2800" dirty="0">
                <a:latin typeface="Times New Roman" panose="02020603050405020304" pitchFamily="18" charset="0"/>
                <a:cs typeface="Times New Roman" panose="02020603050405020304" pitchFamily="18" charset="0"/>
                <a:sym typeface="+mn-ea"/>
              </a:rPr>
              <a:t>,x4</a:t>
            </a:r>
          </a:p>
        </p:txBody>
      </p:sp>
      <p:pic>
        <p:nvPicPr>
          <p:cNvPr id="9" name="图片 8"/>
          <p:cNvPicPr>
            <a:picLocks noChangeAspect="1"/>
          </p:cNvPicPr>
          <p:nvPr/>
        </p:nvPicPr>
        <p:blipFill>
          <a:blip r:embed="rId3"/>
          <a:stretch>
            <a:fillRect/>
          </a:stretch>
        </p:blipFill>
        <p:spPr>
          <a:xfrm>
            <a:off x="7315200" y="4082316"/>
            <a:ext cx="4689879" cy="2557024"/>
          </a:xfrm>
          <a:prstGeom prst="rect">
            <a:avLst/>
          </a:prstGeom>
          <a:ln w="28575"/>
        </p:spPr>
        <p:style>
          <a:lnRef idx="2">
            <a:schemeClr val="accent4"/>
          </a:lnRef>
          <a:fillRef idx="1">
            <a:schemeClr val="lt1"/>
          </a:fillRef>
          <a:effectRef idx="0">
            <a:schemeClr val="accent4"/>
          </a:effectRef>
          <a:fontRef idx="minor">
            <a:schemeClr val="dk1"/>
          </a:fontRef>
        </p:style>
      </p:pic>
    </p:spTree>
    <p:extLst>
      <p:ext uri="{BB962C8B-B14F-4D97-AF65-F5344CB8AC3E}">
        <p14:creationId xmlns:p14="http://schemas.microsoft.com/office/powerpoint/2010/main" val="318948918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1268">
                                            <p:txEl>
                                              <p:pRg st="1" end="1"/>
                                            </p:txEl>
                                          </p:spTgt>
                                        </p:tgtEl>
                                        <p:attrNameLst>
                                          <p:attrName>style.visibility</p:attrName>
                                        </p:attrNameLst>
                                      </p:cBhvr>
                                      <p:to>
                                        <p:strVal val="visible"/>
                                      </p:to>
                                    </p:set>
                                    <p:animEffect transition="in" filter="fade">
                                      <p:cBhvr>
                                        <p:cTn id="13" dur="500"/>
                                        <p:tgtEl>
                                          <p:spTgt spid="11268">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1268">
                                            <p:txEl>
                                              <p:pRg st="2" end="2"/>
                                            </p:txEl>
                                          </p:spTgt>
                                        </p:tgtEl>
                                        <p:attrNameLst>
                                          <p:attrName>style.visibility</p:attrName>
                                        </p:attrNameLst>
                                      </p:cBhvr>
                                      <p:to>
                                        <p:strVal val="visible"/>
                                      </p:to>
                                    </p:set>
                                    <p:animEffect transition="in" filter="fade">
                                      <p:cBhvr>
                                        <p:cTn id="16" dur="500"/>
                                        <p:tgtEl>
                                          <p:spTgt spid="11268">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1268">
                                            <p:txEl>
                                              <p:pRg st="3" end="3"/>
                                            </p:txEl>
                                          </p:spTgt>
                                        </p:tgtEl>
                                        <p:attrNameLst>
                                          <p:attrName>style.visibility</p:attrName>
                                        </p:attrNameLst>
                                      </p:cBhvr>
                                      <p:to>
                                        <p:strVal val="visible"/>
                                      </p:to>
                                    </p:set>
                                    <p:animEffect transition="in" filter="fade">
                                      <p:cBhvr>
                                        <p:cTn id="19" dur="500"/>
                                        <p:tgtEl>
                                          <p:spTgt spid="11268">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268">
                                            <p:txEl>
                                              <p:pRg st="4" end="4"/>
                                            </p:txEl>
                                          </p:spTgt>
                                        </p:tgtEl>
                                        <p:attrNameLst>
                                          <p:attrName>style.visibility</p:attrName>
                                        </p:attrNameLst>
                                      </p:cBhvr>
                                      <p:to>
                                        <p:strVal val="visible"/>
                                      </p:to>
                                    </p:set>
                                    <p:animEffect transition="in" filter="fade">
                                      <p:cBhvr>
                                        <p:cTn id="29" dur="500"/>
                                        <p:tgtEl>
                                          <p:spTgt spid="11268">
                                            <p:txEl>
                                              <p:pRg st="4" end="4"/>
                                            </p:txEl>
                                          </p:spTgt>
                                        </p:tgtEl>
                                      </p:cBhvr>
                                    </p:animEffect>
                                  </p:childTnLst>
                                </p:cTn>
                              </p:par>
                              <p:par>
                                <p:cTn id="30" presetID="2" presetClass="entr" presetSubtype="4" fill="hold" nodeType="with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500" fill="hold"/>
                                        <p:tgtEl>
                                          <p:spTgt spid="6"/>
                                        </p:tgtEl>
                                        <p:attrNameLst>
                                          <p:attrName>ppt_x</p:attrName>
                                        </p:attrNameLst>
                                      </p:cBhvr>
                                      <p:tavLst>
                                        <p:tav tm="0">
                                          <p:val>
                                            <p:strVal val="#ppt_x"/>
                                          </p:val>
                                        </p:tav>
                                        <p:tav tm="100000">
                                          <p:val>
                                            <p:strVal val="#ppt_x"/>
                                          </p:val>
                                        </p:tav>
                                      </p:tavLst>
                                    </p:anim>
                                    <p:anim calcmode="lin" valueType="num">
                                      <p:cBhvr additive="base">
                                        <p:cTn id="33" dur="500" fill="hold"/>
                                        <p:tgtEl>
                                          <p:spTgt spid="6"/>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additive="base">
                                        <p:cTn id="36" dur="500" fill="hold"/>
                                        <p:tgtEl>
                                          <p:spTgt spid="5"/>
                                        </p:tgtEl>
                                        <p:attrNameLst>
                                          <p:attrName>ppt_x</p:attrName>
                                        </p:attrNameLst>
                                      </p:cBhvr>
                                      <p:tavLst>
                                        <p:tav tm="0">
                                          <p:val>
                                            <p:strVal val="#ppt_x"/>
                                          </p:val>
                                        </p:tav>
                                        <p:tav tm="100000">
                                          <p:val>
                                            <p:strVal val="#ppt_x"/>
                                          </p:val>
                                        </p:tav>
                                      </p:tavLst>
                                    </p:anim>
                                    <p:anim calcmode="lin" valueType="num">
                                      <p:cBhvr additive="base">
                                        <p:cTn id="37" dur="500" fill="hold"/>
                                        <p:tgtEl>
                                          <p:spTgt spid="5"/>
                                        </p:tgtEl>
                                        <p:attrNameLst>
                                          <p:attrName>ppt_y</p:attrName>
                                        </p:attrNameLst>
                                      </p:cBhvr>
                                      <p:tavLst>
                                        <p:tav tm="0">
                                          <p:val>
                                            <p:strVal val="1+#ppt_h/2"/>
                                          </p:val>
                                        </p:tav>
                                        <p:tav tm="100000">
                                          <p:val>
                                            <p:strVal val="#ppt_y"/>
                                          </p:val>
                                        </p:tav>
                                      </p:tavLst>
                                    </p:anim>
                                  </p:childTnLst>
                                </p:cTn>
                              </p:par>
                              <p:par>
                                <p:cTn id="38" presetID="10" presetClass="entr" presetSubtype="0" fill="hold" nodeType="withEffect">
                                  <p:stCondLst>
                                    <p:cond delay="0"/>
                                  </p:stCondLst>
                                  <p:childTnLst>
                                    <p:set>
                                      <p:cBhvr>
                                        <p:cTn id="39" dur="1" fill="hold">
                                          <p:stCondLst>
                                            <p:cond delay="0"/>
                                          </p:stCondLst>
                                        </p:cTn>
                                        <p:tgtEl>
                                          <p:spTgt spid="11268">
                                            <p:txEl>
                                              <p:pRg st="5" end="5"/>
                                            </p:txEl>
                                          </p:spTgt>
                                        </p:tgtEl>
                                        <p:attrNameLst>
                                          <p:attrName>style.visibility</p:attrName>
                                        </p:attrNameLst>
                                      </p:cBhvr>
                                      <p:to>
                                        <p:strVal val="visible"/>
                                      </p:to>
                                    </p:set>
                                    <p:animEffect transition="in" filter="fade">
                                      <p:cBhvr>
                                        <p:cTn id="40" dur="500"/>
                                        <p:tgtEl>
                                          <p:spTgt spid="11268">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1268">
                                            <p:txEl>
                                              <p:pRg st="6" end="6"/>
                                            </p:txEl>
                                          </p:spTgt>
                                        </p:tgtEl>
                                        <p:attrNameLst>
                                          <p:attrName>style.visibility</p:attrName>
                                        </p:attrNameLst>
                                      </p:cBhvr>
                                      <p:to>
                                        <p:strVal val="visible"/>
                                      </p:to>
                                    </p:set>
                                    <p:animEffect transition="in" filter="fade">
                                      <p:cBhvr>
                                        <p:cTn id="45" dur="500"/>
                                        <p:tgtEl>
                                          <p:spTgt spid="11268">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1268">
                                            <p:txEl>
                                              <p:pRg st="7" end="7"/>
                                            </p:txEl>
                                          </p:spTgt>
                                        </p:tgtEl>
                                        <p:attrNameLst>
                                          <p:attrName>style.visibility</p:attrName>
                                        </p:attrNameLst>
                                      </p:cBhvr>
                                      <p:to>
                                        <p:strVal val="visible"/>
                                      </p:to>
                                    </p:set>
                                    <p:animEffect transition="in" filter="fade">
                                      <p:cBhvr>
                                        <p:cTn id="50" dur="500"/>
                                        <p:tgtEl>
                                          <p:spTgt spid="11268">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1268">
                                            <p:txEl>
                                              <p:pRg st="8" end="8"/>
                                            </p:txEl>
                                          </p:spTgt>
                                        </p:tgtEl>
                                        <p:attrNameLst>
                                          <p:attrName>style.visibility</p:attrName>
                                        </p:attrNameLst>
                                      </p:cBhvr>
                                      <p:to>
                                        <p:strVal val="visible"/>
                                      </p:to>
                                    </p:set>
                                    <p:animEffect transition="in" filter="fade">
                                      <p:cBhvr>
                                        <p:cTn id="55" dur="500"/>
                                        <p:tgtEl>
                                          <p:spTgt spid="11268">
                                            <p:txEl>
                                              <p:pRg st="8" end="8"/>
                                            </p:txEl>
                                          </p:spTgt>
                                        </p:tgtEl>
                                      </p:cBhvr>
                                    </p:animEffect>
                                  </p:childTnLst>
                                </p:cTn>
                              </p:par>
                              <p:par>
                                <p:cTn id="56" presetID="2" presetClass="entr" presetSubtype="4" fill="hold" grpId="0" nodeType="withEffect">
                                  <p:stCondLst>
                                    <p:cond delay="0"/>
                                  </p:stCondLst>
                                  <p:childTnLst>
                                    <p:set>
                                      <p:cBhvr>
                                        <p:cTn id="57" dur="1" fill="hold">
                                          <p:stCondLst>
                                            <p:cond delay="0"/>
                                          </p:stCondLst>
                                        </p:cTn>
                                        <p:tgtEl>
                                          <p:spTgt spid="7"/>
                                        </p:tgtEl>
                                        <p:attrNameLst>
                                          <p:attrName>style.visibility</p:attrName>
                                        </p:attrNameLst>
                                      </p:cBhvr>
                                      <p:to>
                                        <p:strVal val="visible"/>
                                      </p:to>
                                    </p:set>
                                    <p:anim calcmode="lin" valueType="num">
                                      <p:cBhvr additive="base">
                                        <p:cTn id="58" dur="500" fill="hold"/>
                                        <p:tgtEl>
                                          <p:spTgt spid="7"/>
                                        </p:tgtEl>
                                        <p:attrNameLst>
                                          <p:attrName>ppt_x</p:attrName>
                                        </p:attrNameLst>
                                      </p:cBhvr>
                                      <p:tavLst>
                                        <p:tav tm="0">
                                          <p:val>
                                            <p:strVal val="#ppt_x"/>
                                          </p:val>
                                        </p:tav>
                                        <p:tav tm="100000">
                                          <p:val>
                                            <p:strVal val="#ppt_x"/>
                                          </p:val>
                                        </p:tav>
                                      </p:tavLst>
                                    </p:anim>
                                    <p:anim calcmode="lin" valueType="num">
                                      <p:cBhvr additive="base">
                                        <p:cTn id="5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依赖关系的变化</a:t>
            </a:r>
          </a:p>
        </p:txBody>
      </p:sp>
      <p:sp>
        <p:nvSpPr>
          <p:cNvPr id="4" name="灯片编号占位符 3"/>
          <p:cNvSpPr>
            <a:spLocks noGrp="1"/>
          </p:cNvSpPr>
          <p:nvPr>
            <p:ph type="sldNum" sz="quarter" idx="12"/>
          </p:nvPr>
        </p:nvSpPr>
        <p:spPr/>
        <p:txBody>
          <a:bodyPr/>
          <a:lstStyle/>
          <a:p>
            <a:fld id="{8EE8E787-E6FE-45D8-9039-788B45E44EE7}" type="slidenum">
              <a:rPr lang="zh-CN" altLang="en-US" smtClean="0"/>
              <a:t>53</a:t>
            </a:fld>
            <a:endParaRPr lang="zh-CN" altLang="en-US" dirty="0"/>
          </a:p>
        </p:txBody>
      </p:sp>
      <p:grpSp>
        <p:nvGrpSpPr>
          <p:cNvPr id="7" name="组合 6"/>
          <p:cNvGrpSpPr/>
          <p:nvPr/>
        </p:nvGrpSpPr>
        <p:grpSpPr>
          <a:xfrm>
            <a:off x="837910" y="984667"/>
            <a:ext cx="10985034" cy="5549686"/>
            <a:chOff x="91679" y="984667"/>
            <a:chExt cx="10985034" cy="5549686"/>
          </a:xfrm>
        </p:grpSpPr>
        <p:sp>
          <p:nvSpPr>
            <p:cNvPr id="527" name="矩形 526"/>
            <p:cNvSpPr/>
            <p:nvPr/>
          </p:nvSpPr>
          <p:spPr>
            <a:xfrm rot="10800000">
              <a:off x="10397815" y="5932293"/>
              <a:ext cx="204183" cy="338243"/>
            </a:xfrm>
            <a:prstGeom prst="rect">
              <a:avLst/>
            </a:prstGeom>
            <a:solidFill>
              <a:srgbClr val="B2B3B6"/>
            </a:solidFill>
            <a:ln>
              <a:solidFill>
                <a:srgbClr val="B2B3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48" name="组合 247"/>
            <p:cNvGrpSpPr/>
            <p:nvPr/>
          </p:nvGrpSpPr>
          <p:grpSpPr>
            <a:xfrm>
              <a:off x="91679" y="1874806"/>
              <a:ext cx="3948820" cy="4503420"/>
              <a:chOff x="-40432" y="2230240"/>
              <a:chExt cx="3948820" cy="4503420"/>
            </a:xfrm>
          </p:grpSpPr>
          <p:grpSp>
            <p:nvGrpSpPr>
              <p:cNvPr id="249" name="Program"/>
              <p:cNvGrpSpPr/>
              <p:nvPr/>
            </p:nvGrpSpPr>
            <p:grpSpPr>
              <a:xfrm>
                <a:off x="-40432" y="2230240"/>
                <a:ext cx="3234393" cy="4316345"/>
                <a:chOff x="-443393" y="2535059"/>
                <a:chExt cx="3234393" cy="4316345"/>
              </a:xfrm>
            </p:grpSpPr>
            <p:cxnSp>
              <p:nvCxnSpPr>
                <p:cNvPr id="253" name="直接箭头连接符 252"/>
                <p:cNvCxnSpPr/>
                <p:nvPr/>
              </p:nvCxnSpPr>
              <p:spPr>
                <a:xfrm>
                  <a:off x="129059" y="3326934"/>
                  <a:ext cx="0" cy="352447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254" name="文本框 253"/>
                <p:cNvSpPr txBox="1"/>
                <p:nvPr/>
              </p:nvSpPr>
              <p:spPr>
                <a:xfrm>
                  <a:off x="-443393" y="2535059"/>
                  <a:ext cx="2647950" cy="706755"/>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Program execution </a:t>
                  </a:r>
                </a:p>
                <a:p>
                  <a:r>
                    <a:rPr lang="en-US" altLang="zh-CN" sz="2000" dirty="0">
                      <a:latin typeface="Times New Roman" panose="02020603050405020304" pitchFamily="18" charset="0"/>
                      <a:cs typeface="Times New Roman" panose="02020603050405020304" pitchFamily="18" charset="0"/>
                    </a:rPr>
                    <a:t>order  (in instructions)</a:t>
                  </a:r>
                  <a:endParaRPr lang="zh-CN" altLang="en-US" sz="2000" dirty="0">
                    <a:latin typeface="Times New Roman" panose="02020603050405020304" pitchFamily="18" charset="0"/>
                    <a:cs typeface="Times New Roman" panose="02020603050405020304" pitchFamily="18" charset="0"/>
                  </a:endParaRPr>
                </a:p>
              </p:txBody>
            </p:sp>
            <p:sp>
              <p:nvSpPr>
                <p:cNvPr id="255" name="文本框 254"/>
                <p:cNvSpPr txBox="1"/>
                <p:nvPr/>
              </p:nvSpPr>
              <p:spPr>
                <a:xfrm>
                  <a:off x="489712" y="3200539"/>
                  <a:ext cx="2143125" cy="46037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sub </a:t>
                  </a:r>
                  <a:r>
                    <a:rPr lang="en-US" altLang="zh-CN" sz="2400" dirty="0">
                      <a:solidFill>
                        <a:srgbClr val="0000FF"/>
                      </a:solidFill>
                      <a:latin typeface="Times New Roman" panose="02020603050405020304" pitchFamily="18" charset="0"/>
                      <a:cs typeface="Times New Roman" panose="02020603050405020304" pitchFamily="18" charset="0"/>
                    </a:rPr>
                    <a:t>x2</a:t>
                  </a:r>
                  <a:r>
                    <a:rPr lang="en-US" altLang="zh-CN" sz="2400" dirty="0">
                      <a:latin typeface="Times New Roman" panose="02020603050405020304" pitchFamily="18" charset="0"/>
                      <a:cs typeface="Times New Roman" panose="02020603050405020304" pitchFamily="18" charset="0"/>
                    </a:rPr>
                    <a:t>,x1,x3</a:t>
                  </a:r>
                </a:p>
              </p:txBody>
            </p:sp>
            <p:sp>
              <p:nvSpPr>
                <p:cNvPr id="256" name="文本框 255"/>
                <p:cNvSpPr txBox="1"/>
                <p:nvPr/>
              </p:nvSpPr>
              <p:spPr>
                <a:xfrm>
                  <a:off x="489582" y="4013974"/>
                  <a:ext cx="2301418" cy="46037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and x12,</a:t>
                  </a:r>
                  <a:r>
                    <a:rPr lang="en-US" altLang="zh-CN" sz="2400" dirty="0">
                      <a:solidFill>
                        <a:srgbClr val="0000FF"/>
                      </a:solidFill>
                      <a:latin typeface="Times New Roman" panose="02020603050405020304" pitchFamily="18" charset="0"/>
                      <a:cs typeface="Times New Roman" panose="02020603050405020304" pitchFamily="18" charset="0"/>
                    </a:rPr>
                    <a:t>x2</a:t>
                  </a:r>
                  <a:r>
                    <a:rPr lang="en-US" altLang="zh-CN" sz="2400" dirty="0">
                      <a:latin typeface="Times New Roman" panose="02020603050405020304" pitchFamily="18" charset="0"/>
                      <a:cs typeface="Times New Roman" panose="02020603050405020304" pitchFamily="18" charset="0"/>
                    </a:rPr>
                    <a:t>,x5</a:t>
                  </a:r>
                </a:p>
              </p:txBody>
            </p:sp>
          </p:grpSp>
          <p:sp>
            <p:nvSpPr>
              <p:cNvPr id="250" name="文本框 249"/>
              <p:cNvSpPr txBox="1"/>
              <p:nvPr/>
            </p:nvSpPr>
            <p:spPr>
              <a:xfrm>
                <a:off x="942756" y="4469885"/>
                <a:ext cx="2491823" cy="46037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or   x13,x6,</a:t>
                </a:r>
                <a:r>
                  <a:rPr lang="en-US" altLang="zh-CN" sz="2400" dirty="0">
                    <a:solidFill>
                      <a:srgbClr val="0000FF"/>
                    </a:solidFill>
                    <a:latin typeface="Times New Roman" panose="02020603050405020304" pitchFamily="18" charset="0"/>
                    <a:cs typeface="Times New Roman" panose="02020603050405020304" pitchFamily="18" charset="0"/>
                  </a:rPr>
                  <a:t>x2</a:t>
                </a:r>
              </a:p>
            </p:txBody>
          </p:sp>
          <p:sp>
            <p:nvSpPr>
              <p:cNvPr id="251" name="文本框 250"/>
              <p:cNvSpPr txBox="1"/>
              <p:nvPr/>
            </p:nvSpPr>
            <p:spPr>
              <a:xfrm>
                <a:off x="986396" y="5462390"/>
                <a:ext cx="2692603" cy="46037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add x14,</a:t>
                </a:r>
                <a:r>
                  <a:rPr lang="en-US" altLang="zh-CN" sz="2400" dirty="0">
                    <a:solidFill>
                      <a:srgbClr val="0000FF"/>
                    </a:solidFill>
                    <a:latin typeface="Times New Roman" panose="02020603050405020304" pitchFamily="18" charset="0"/>
                    <a:cs typeface="Times New Roman" panose="02020603050405020304" pitchFamily="18" charset="0"/>
                  </a:rPr>
                  <a:t>x2,x2</a:t>
                </a:r>
              </a:p>
            </p:txBody>
          </p:sp>
          <p:sp>
            <p:nvSpPr>
              <p:cNvPr id="252" name="文本框 251"/>
              <p:cNvSpPr txBox="1"/>
              <p:nvPr/>
            </p:nvSpPr>
            <p:spPr>
              <a:xfrm>
                <a:off x="986558" y="6273285"/>
                <a:ext cx="2921830" cy="460375"/>
              </a:xfrm>
              <a:prstGeom prst="rect">
                <a:avLst/>
              </a:prstGeom>
              <a:noFill/>
            </p:spPr>
            <p:txBody>
              <a:bodyPr wrap="square" rtlCol="0">
                <a:spAutoFit/>
              </a:bodyPr>
              <a:lstStyle/>
              <a:p>
                <a:r>
                  <a:rPr lang="en-US" altLang="zh-CN" sz="2400" dirty="0" err="1">
                    <a:latin typeface="Times New Roman" panose="02020603050405020304" pitchFamily="18" charset="0"/>
                    <a:cs typeface="Times New Roman" panose="02020603050405020304" pitchFamily="18" charset="0"/>
                  </a:rPr>
                  <a:t>sd</a:t>
                </a:r>
                <a:r>
                  <a:rPr lang="en-US" altLang="zh-CN" sz="2400" dirty="0">
                    <a:latin typeface="Times New Roman" panose="02020603050405020304" pitchFamily="18" charset="0"/>
                    <a:cs typeface="Times New Roman" panose="02020603050405020304" pitchFamily="18" charset="0"/>
                  </a:rPr>
                  <a:t> x15,100(</a:t>
                </a:r>
                <a:r>
                  <a:rPr lang="en-US" altLang="zh-CN" sz="2400" dirty="0">
                    <a:solidFill>
                      <a:srgbClr val="0000FF"/>
                    </a:solidFill>
                    <a:latin typeface="Times New Roman" panose="02020603050405020304" pitchFamily="18" charset="0"/>
                    <a:cs typeface="Times New Roman" panose="02020603050405020304" pitchFamily="18" charset="0"/>
                  </a:rPr>
                  <a:t>x2</a:t>
                </a:r>
                <a:r>
                  <a:rPr lang="en-US" altLang="zh-CN" sz="2400" dirty="0">
                    <a:latin typeface="Times New Roman" panose="02020603050405020304" pitchFamily="18" charset="0"/>
                    <a:cs typeface="Times New Roman" panose="02020603050405020304" pitchFamily="18" charset="0"/>
                  </a:rPr>
                  <a:t>)</a:t>
                </a:r>
              </a:p>
            </p:txBody>
          </p:sp>
        </p:grpSp>
        <p:grpSp>
          <p:nvGrpSpPr>
            <p:cNvPr id="257" name="指令"/>
            <p:cNvGrpSpPr/>
            <p:nvPr/>
          </p:nvGrpSpPr>
          <p:grpSpPr>
            <a:xfrm>
              <a:off x="6663819" y="5685835"/>
              <a:ext cx="4200124" cy="848518"/>
              <a:chOff x="3708787" y="2899251"/>
              <a:chExt cx="4562188" cy="1058188"/>
            </a:xfrm>
          </p:grpSpPr>
          <p:grpSp>
            <p:nvGrpSpPr>
              <p:cNvPr id="258" name="指令"/>
              <p:cNvGrpSpPr/>
              <p:nvPr/>
            </p:nvGrpSpPr>
            <p:grpSpPr>
              <a:xfrm>
                <a:off x="3751739" y="2899251"/>
                <a:ext cx="4403588" cy="1058188"/>
                <a:chOff x="4036219" y="4360386"/>
                <a:chExt cx="2411301" cy="579439"/>
              </a:xfrm>
            </p:grpSpPr>
            <p:grpSp>
              <p:nvGrpSpPr>
                <p:cNvPr id="264" name="组合 263"/>
                <p:cNvGrpSpPr/>
                <p:nvPr/>
              </p:nvGrpSpPr>
              <p:grpSpPr>
                <a:xfrm>
                  <a:off x="4036219" y="4536600"/>
                  <a:ext cx="233362" cy="230981"/>
                  <a:chOff x="3459957" y="3198019"/>
                  <a:chExt cx="233362" cy="230981"/>
                </a:xfrm>
              </p:grpSpPr>
              <p:sp>
                <p:nvSpPr>
                  <p:cNvPr id="304" name="矩形 303"/>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5" name="矩形 304"/>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5" name="矩形 264"/>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6" name="直接连接符 265"/>
                <p:cNvCxnSpPr>
                  <a:stCxn id="305"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67" name="组合 266"/>
                <p:cNvGrpSpPr/>
                <p:nvPr/>
              </p:nvGrpSpPr>
              <p:grpSpPr>
                <a:xfrm>
                  <a:off x="4583677" y="4531622"/>
                  <a:ext cx="224066" cy="235402"/>
                  <a:chOff x="3971697" y="3537291"/>
                  <a:chExt cx="224066" cy="235402"/>
                </a:xfrm>
              </p:grpSpPr>
              <p:sp>
                <p:nvSpPr>
                  <p:cNvPr id="297" name="矩形 296"/>
                  <p:cNvSpPr/>
                  <p:nvPr/>
                </p:nvSpPr>
                <p:spPr>
                  <a:xfrm>
                    <a:off x="4071938" y="3541712"/>
                    <a:ext cx="121444" cy="230981"/>
                  </a:xfrm>
                  <a:prstGeom prst="rect">
                    <a:avLst/>
                  </a:prstGeom>
                  <a:solidFill>
                    <a:srgbClr val="9CD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98" name="直接连接符 297"/>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99" name="直接连接符 298"/>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00" name="直接连接符 299"/>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01" name="直接连接符 300"/>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2" name="直接连接符 301"/>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3" name="直接连接符 302"/>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68" name="直接连接符 267"/>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9" name="任意多边形: 形状 268"/>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0" name="矩形 269"/>
                <p:cNvSpPr/>
                <p:nvPr/>
              </p:nvSpPr>
              <p:spPr>
                <a:xfrm>
                  <a:off x="4939315"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1" name="矩形 270"/>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72" name="组合 271"/>
                <p:cNvGrpSpPr/>
                <p:nvPr/>
              </p:nvGrpSpPr>
              <p:grpSpPr>
                <a:xfrm>
                  <a:off x="5688014" y="4536601"/>
                  <a:ext cx="233362" cy="230981"/>
                  <a:chOff x="3459957" y="3198019"/>
                  <a:chExt cx="233362" cy="230981"/>
                </a:xfrm>
              </p:grpSpPr>
              <p:sp>
                <p:nvSpPr>
                  <p:cNvPr id="295" name="矩形 294"/>
                  <p:cNvSpPr/>
                  <p:nvPr/>
                </p:nvSpPr>
                <p:spPr>
                  <a:xfrm>
                    <a:off x="3465601"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6" name="矩形 295"/>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3" name="矩形 272"/>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74" name="组合 273"/>
                <p:cNvGrpSpPr/>
                <p:nvPr/>
              </p:nvGrpSpPr>
              <p:grpSpPr>
                <a:xfrm rot="10800000">
                  <a:off x="6224134" y="4529592"/>
                  <a:ext cx="223386" cy="232211"/>
                  <a:chOff x="3970449" y="3542809"/>
                  <a:chExt cx="223386" cy="232211"/>
                </a:xfrm>
              </p:grpSpPr>
              <p:cxnSp>
                <p:nvCxnSpPr>
                  <p:cNvPr id="289" name="直接连接符 288"/>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90" name="直接连接符 289"/>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91" name="直接连接符 290"/>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92" name="直接连接符 291"/>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3" name="直接连接符 292"/>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4" name="直接连接符 293"/>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75" name="直接连接符 274"/>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6" name="直接连接符 275"/>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7" name="直接连接符 276"/>
                <p:cNvCxnSpPr/>
                <p:nvPr/>
              </p:nvCxnSpPr>
              <p:spPr>
                <a:xfrm>
                  <a:off x="4802980" y="4561286"/>
                  <a:ext cx="132558" cy="0"/>
                </a:xfrm>
                <a:prstGeom prst="line">
                  <a:avLst/>
                </a:prstGeom>
                <a:ln w="15875">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278" name="直接连接符 277"/>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9" name="直接连接符 278"/>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0" name="直接连接符 279"/>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1" name="直接连接符 280"/>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2" name="直接连接符 281"/>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3" name="直接连接符 282"/>
                <p:cNvCxnSpPr>
                  <a:stCxn id="296" idx="3"/>
                  <a:endCxn id="273"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4" name="直接连接符 283"/>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5" name="直接连接符 284"/>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6" name="直接连接符 285"/>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7" name="直接连接符 286"/>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8" name="直接连接符 287"/>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59" name="文本框 258"/>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260" name="文本框 259"/>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261" name="文本框 260"/>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262" name="文本框 261"/>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263" name="文本框 262"/>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306" name="指令"/>
            <p:cNvGrpSpPr/>
            <p:nvPr/>
          </p:nvGrpSpPr>
          <p:grpSpPr>
            <a:xfrm>
              <a:off x="3872726" y="3027954"/>
              <a:ext cx="4200124" cy="848518"/>
              <a:chOff x="3708787" y="2899251"/>
              <a:chExt cx="4562188" cy="1058188"/>
            </a:xfrm>
          </p:grpSpPr>
          <p:grpSp>
            <p:nvGrpSpPr>
              <p:cNvPr id="307" name="指令"/>
              <p:cNvGrpSpPr/>
              <p:nvPr/>
            </p:nvGrpSpPr>
            <p:grpSpPr>
              <a:xfrm>
                <a:off x="3751739" y="2899251"/>
                <a:ext cx="4403588" cy="1058188"/>
                <a:chOff x="4036219" y="4360386"/>
                <a:chExt cx="2411301" cy="579439"/>
              </a:xfrm>
            </p:grpSpPr>
            <p:grpSp>
              <p:nvGrpSpPr>
                <p:cNvPr id="313" name="组合 312"/>
                <p:cNvGrpSpPr/>
                <p:nvPr/>
              </p:nvGrpSpPr>
              <p:grpSpPr>
                <a:xfrm>
                  <a:off x="4036219" y="4536600"/>
                  <a:ext cx="233362" cy="230981"/>
                  <a:chOff x="3459957" y="3198019"/>
                  <a:chExt cx="233362" cy="230981"/>
                </a:xfrm>
              </p:grpSpPr>
              <p:sp>
                <p:nvSpPr>
                  <p:cNvPr id="352" name="矩形 351"/>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3" name="矩形 352"/>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4" name="矩形 313"/>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5" name="直接连接符 314"/>
                <p:cNvCxnSpPr>
                  <a:stCxn id="353"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16" name="组合 315"/>
                <p:cNvGrpSpPr/>
                <p:nvPr/>
              </p:nvGrpSpPr>
              <p:grpSpPr>
                <a:xfrm>
                  <a:off x="4583677" y="4531622"/>
                  <a:ext cx="224066" cy="235402"/>
                  <a:chOff x="3971697" y="3537291"/>
                  <a:chExt cx="224066" cy="235402"/>
                </a:xfrm>
              </p:grpSpPr>
              <p:sp>
                <p:nvSpPr>
                  <p:cNvPr id="345" name="矩形 344"/>
                  <p:cNvSpPr/>
                  <p:nvPr/>
                </p:nvSpPr>
                <p:spPr>
                  <a:xfrm>
                    <a:off x="4071938" y="3541712"/>
                    <a:ext cx="121444" cy="230981"/>
                  </a:xfrm>
                  <a:prstGeom prst="rect">
                    <a:avLst/>
                  </a:prstGeom>
                  <a:solidFill>
                    <a:srgbClr val="9CD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46" name="直接连接符 345"/>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47" name="直接连接符 346"/>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48" name="直接连接符 347"/>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49" name="直接连接符 348"/>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0" name="直接连接符 349"/>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1" name="直接连接符 350"/>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17" name="直接连接符 316"/>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18" name="任意多边形: 形状 317"/>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9" name="矩形 318"/>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0" name="矩形 319"/>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1" name="矩形 320"/>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2" name="矩形 321"/>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23" name="组合 322"/>
                <p:cNvGrpSpPr/>
                <p:nvPr/>
              </p:nvGrpSpPr>
              <p:grpSpPr>
                <a:xfrm rot="10800000">
                  <a:off x="6224134" y="4529592"/>
                  <a:ext cx="223386" cy="233308"/>
                  <a:chOff x="3970449" y="3541712"/>
                  <a:chExt cx="223386" cy="233308"/>
                </a:xfrm>
              </p:grpSpPr>
              <p:sp>
                <p:nvSpPr>
                  <p:cNvPr id="338" name="矩形 337"/>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39" name="直接连接符 338"/>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40" name="直接连接符 339"/>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41" name="直接连接符 340"/>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42" name="直接连接符 341"/>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3" name="直接连接符 342"/>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4" name="直接连接符 343"/>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24" name="直接连接符 323"/>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5" name="直接连接符 324"/>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6" name="直接连接符 325"/>
                <p:cNvCxnSpPr/>
                <p:nvPr/>
              </p:nvCxnSpPr>
              <p:spPr>
                <a:xfrm>
                  <a:off x="4802980" y="4561286"/>
                  <a:ext cx="132558" cy="0"/>
                </a:xfrm>
                <a:prstGeom prst="line">
                  <a:avLst/>
                </a:prstGeom>
                <a:ln w="15875">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327" name="直接连接符 326"/>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8" name="直接连接符 327"/>
                <p:cNvCxnSpPr/>
                <p:nvPr/>
              </p:nvCxnSpPr>
              <p:spPr>
                <a:xfrm>
                  <a:off x="5009356" y="4561286"/>
                  <a:ext cx="126207" cy="0"/>
                </a:xfrm>
                <a:prstGeom prst="line">
                  <a:avLst/>
                </a:prstGeom>
                <a:ln w="15875">
                  <a:solidFill>
                    <a:srgbClr val="54C9F5"/>
                  </a:solidFill>
                </a:ln>
              </p:spPr>
              <p:style>
                <a:lnRef idx="1">
                  <a:schemeClr val="accent1"/>
                </a:lnRef>
                <a:fillRef idx="0">
                  <a:schemeClr val="accent1"/>
                </a:fillRef>
                <a:effectRef idx="0">
                  <a:schemeClr val="accent1"/>
                </a:effectRef>
                <a:fontRef idx="minor">
                  <a:schemeClr val="tx1"/>
                </a:fontRef>
              </p:style>
            </p:cxnSp>
            <p:cxnSp>
              <p:nvCxnSpPr>
                <p:cNvPr id="329" name="直接连接符 328"/>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0" name="直接连接符 329"/>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1" name="直接连接符 330"/>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2" name="直接连接符 331"/>
                <p:cNvCxnSpPr>
                  <a:stCxn id="321" idx="3"/>
                  <a:endCxn id="322"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3" name="直接连接符 332"/>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4" name="直接连接符 333"/>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5" name="直接连接符 334"/>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6" name="直接连接符 335"/>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7" name="直接连接符 336"/>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08" name="文本框 307"/>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309" name="文本框 308"/>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310" name="文本框 309"/>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311" name="文本框 310"/>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312" name="文本框 311"/>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354" name="指令"/>
            <p:cNvGrpSpPr/>
            <p:nvPr/>
          </p:nvGrpSpPr>
          <p:grpSpPr>
            <a:xfrm>
              <a:off x="2940241" y="2155045"/>
              <a:ext cx="4200124" cy="848518"/>
              <a:chOff x="3708787" y="2899251"/>
              <a:chExt cx="4562188" cy="1058188"/>
            </a:xfrm>
          </p:grpSpPr>
          <p:grpSp>
            <p:nvGrpSpPr>
              <p:cNvPr id="355" name="指令"/>
              <p:cNvGrpSpPr/>
              <p:nvPr/>
            </p:nvGrpSpPr>
            <p:grpSpPr>
              <a:xfrm>
                <a:off x="3751739" y="2899251"/>
                <a:ext cx="4403588" cy="1058188"/>
                <a:chOff x="4036219" y="4360386"/>
                <a:chExt cx="2411301" cy="579439"/>
              </a:xfrm>
            </p:grpSpPr>
            <p:grpSp>
              <p:nvGrpSpPr>
                <p:cNvPr id="361" name="组合 360"/>
                <p:cNvGrpSpPr/>
                <p:nvPr/>
              </p:nvGrpSpPr>
              <p:grpSpPr>
                <a:xfrm>
                  <a:off x="4036219" y="4536600"/>
                  <a:ext cx="233362" cy="230981"/>
                  <a:chOff x="3459957" y="3198019"/>
                  <a:chExt cx="233362" cy="230981"/>
                </a:xfrm>
              </p:grpSpPr>
              <p:sp>
                <p:nvSpPr>
                  <p:cNvPr id="400" name="矩形 399"/>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1" name="矩形 400"/>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2" name="矩形 361"/>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3" name="直接连接符 362"/>
                <p:cNvCxnSpPr>
                  <a:stCxn id="401"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64" name="组合 363"/>
                <p:cNvGrpSpPr/>
                <p:nvPr/>
              </p:nvGrpSpPr>
              <p:grpSpPr>
                <a:xfrm>
                  <a:off x="4583677" y="4531622"/>
                  <a:ext cx="224066" cy="235402"/>
                  <a:chOff x="3971697" y="3537291"/>
                  <a:chExt cx="224066" cy="235402"/>
                </a:xfrm>
              </p:grpSpPr>
              <p:sp>
                <p:nvSpPr>
                  <p:cNvPr id="393" name="矩形 392"/>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94" name="直接连接符 393"/>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95" name="直接连接符 394"/>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96" name="直接连接符 395"/>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97" name="直接连接符 396"/>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8" name="直接连接符 397"/>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9" name="直接连接符 398"/>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65" name="直接连接符 364"/>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66" name="任意多边形: 形状 365"/>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7" name="矩形 366"/>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8" name="矩形 367"/>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9" name="矩形 368"/>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0" name="矩形 369"/>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71" name="组合 370"/>
                <p:cNvGrpSpPr/>
                <p:nvPr/>
              </p:nvGrpSpPr>
              <p:grpSpPr>
                <a:xfrm rot="10800000">
                  <a:off x="6224134" y="4529592"/>
                  <a:ext cx="223386" cy="233308"/>
                  <a:chOff x="3970449" y="3541712"/>
                  <a:chExt cx="223386" cy="233308"/>
                </a:xfrm>
              </p:grpSpPr>
              <p:sp>
                <p:nvSpPr>
                  <p:cNvPr id="386" name="矩形 385"/>
                  <p:cNvSpPr/>
                  <p:nvPr/>
                </p:nvSpPr>
                <p:spPr>
                  <a:xfrm>
                    <a:off x="4071938" y="3541712"/>
                    <a:ext cx="121444" cy="230981"/>
                  </a:xfrm>
                  <a:prstGeom prst="rect">
                    <a:avLst/>
                  </a:prstGeom>
                  <a:solidFill>
                    <a:srgbClr val="9CD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387" name="直接连接符 386"/>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88" name="直接连接符 387"/>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89" name="直接连接符 388"/>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90" name="直接连接符 389"/>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1" name="直接连接符 390"/>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2" name="直接连接符 391"/>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72" name="直接连接符 371"/>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3" name="直接连接符 372"/>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4" name="直接连接符 373"/>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5" name="直接连接符 374"/>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6" name="直接连接符 375"/>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7" name="直接连接符 376"/>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8" name="直接连接符 377"/>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9" name="直接连接符 378"/>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0" name="直接连接符 379"/>
                <p:cNvCxnSpPr>
                  <a:stCxn id="369" idx="3"/>
                  <a:endCxn id="370"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1" name="直接连接符 380"/>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2" name="直接连接符 381"/>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3" name="直接连接符 382"/>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4" name="直接连接符 383"/>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5" name="直接连接符 384"/>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56" name="文本框 355"/>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357" name="文本框 356"/>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358" name="文本框 357"/>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359" name="文本框 358"/>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360" name="文本框 359"/>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402" name="指令"/>
            <p:cNvGrpSpPr/>
            <p:nvPr/>
          </p:nvGrpSpPr>
          <p:grpSpPr>
            <a:xfrm>
              <a:off x="4802738" y="3904907"/>
              <a:ext cx="4200124" cy="848518"/>
              <a:chOff x="3708787" y="2899251"/>
              <a:chExt cx="4562188" cy="1058188"/>
            </a:xfrm>
          </p:grpSpPr>
          <p:grpSp>
            <p:nvGrpSpPr>
              <p:cNvPr id="403" name="指令"/>
              <p:cNvGrpSpPr/>
              <p:nvPr/>
            </p:nvGrpSpPr>
            <p:grpSpPr>
              <a:xfrm>
                <a:off x="3751739" y="2899251"/>
                <a:ext cx="4403588" cy="1058188"/>
                <a:chOff x="4036219" y="4360386"/>
                <a:chExt cx="2411301" cy="579439"/>
              </a:xfrm>
            </p:grpSpPr>
            <p:grpSp>
              <p:nvGrpSpPr>
                <p:cNvPr id="409" name="组合 408"/>
                <p:cNvGrpSpPr/>
                <p:nvPr/>
              </p:nvGrpSpPr>
              <p:grpSpPr>
                <a:xfrm>
                  <a:off x="4036219" y="4536600"/>
                  <a:ext cx="233362" cy="230981"/>
                  <a:chOff x="3459957" y="3198019"/>
                  <a:chExt cx="233362" cy="230981"/>
                </a:xfrm>
              </p:grpSpPr>
              <p:sp>
                <p:nvSpPr>
                  <p:cNvPr id="448" name="矩形 447"/>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9" name="矩形 448"/>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0" name="矩形 409"/>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11" name="直接连接符 410"/>
                <p:cNvCxnSpPr>
                  <a:stCxn id="449"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12" name="组合 411"/>
                <p:cNvGrpSpPr/>
                <p:nvPr/>
              </p:nvGrpSpPr>
              <p:grpSpPr>
                <a:xfrm>
                  <a:off x="4583677" y="4531622"/>
                  <a:ext cx="224066" cy="235402"/>
                  <a:chOff x="3971697" y="3537291"/>
                  <a:chExt cx="224066" cy="235402"/>
                </a:xfrm>
              </p:grpSpPr>
              <p:sp>
                <p:nvSpPr>
                  <p:cNvPr id="441" name="矩形 440"/>
                  <p:cNvSpPr/>
                  <p:nvPr/>
                </p:nvSpPr>
                <p:spPr>
                  <a:xfrm>
                    <a:off x="4071938" y="3541712"/>
                    <a:ext cx="121444" cy="230981"/>
                  </a:xfrm>
                  <a:prstGeom prst="rect">
                    <a:avLst/>
                  </a:prstGeom>
                  <a:solidFill>
                    <a:srgbClr val="9CD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42" name="直接连接符 441"/>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43" name="直接连接符 442"/>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44" name="直接连接符 443"/>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45" name="直接连接符 444"/>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6" name="直接连接符 445"/>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7" name="直接连接符 446"/>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3" name="直接连接符 412"/>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14" name="任意多边形: 形状 413"/>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5" name="矩形 414"/>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6" name="矩形 415"/>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7" name="矩形 416"/>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8" name="矩形 417"/>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9" name="组合 418"/>
                <p:cNvGrpSpPr/>
                <p:nvPr/>
              </p:nvGrpSpPr>
              <p:grpSpPr>
                <a:xfrm rot="10800000">
                  <a:off x="6224134" y="4529592"/>
                  <a:ext cx="223386" cy="233308"/>
                  <a:chOff x="3970449" y="3541712"/>
                  <a:chExt cx="223386" cy="233308"/>
                </a:xfrm>
              </p:grpSpPr>
              <p:sp>
                <p:nvSpPr>
                  <p:cNvPr id="434" name="矩形 433"/>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35" name="直接连接符 434"/>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36" name="直接连接符 435"/>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37" name="直接连接符 436"/>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38" name="直接连接符 437"/>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9" name="直接连接符 438"/>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0" name="直接连接符 439"/>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20" name="直接连接符 419"/>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1" name="直接连接符 420"/>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2" name="直接连接符 421"/>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3" name="直接连接符 422"/>
                <p:cNvCxnSpPr/>
                <p:nvPr/>
              </p:nvCxnSpPr>
              <p:spPr>
                <a:xfrm>
                  <a:off x="4802980" y="4717734"/>
                  <a:ext cx="132558" cy="0"/>
                </a:xfrm>
                <a:prstGeom prst="line">
                  <a:avLst/>
                </a:prstGeom>
                <a:ln w="15875">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424" name="直接连接符 423"/>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a:off x="5009356" y="4722496"/>
                  <a:ext cx="132558" cy="0"/>
                </a:xfrm>
                <a:prstGeom prst="line">
                  <a:avLst/>
                </a:prstGeom>
                <a:ln w="15875">
                  <a:solidFill>
                    <a:srgbClr val="54C9F5"/>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7" name="直接连接符 426"/>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8" name="直接连接符 427"/>
                <p:cNvCxnSpPr>
                  <a:stCxn id="417" idx="3"/>
                  <a:endCxn id="418"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9" name="直接连接符 428"/>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0" name="直接连接符 429"/>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1" name="直接连接符 430"/>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2" name="直接连接符 431"/>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3" name="直接连接符 432"/>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04" name="文本框 403"/>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405" name="文本框 404"/>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406" name="文本框 405"/>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407" name="文本框 406"/>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408" name="文本框 407"/>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450" name="指令"/>
            <p:cNvGrpSpPr/>
            <p:nvPr/>
          </p:nvGrpSpPr>
          <p:grpSpPr>
            <a:xfrm>
              <a:off x="5734608" y="4782693"/>
              <a:ext cx="4200124" cy="848518"/>
              <a:chOff x="3708787" y="2899251"/>
              <a:chExt cx="4562188" cy="1058188"/>
            </a:xfrm>
          </p:grpSpPr>
          <p:grpSp>
            <p:nvGrpSpPr>
              <p:cNvPr id="451" name="指令"/>
              <p:cNvGrpSpPr/>
              <p:nvPr/>
            </p:nvGrpSpPr>
            <p:grpSpPr>
              <a:xfrm>
                <a:off x="3751739" y="2899251"/>
                <a:ext cx="4403588" cy="1058188"/>
                <a:chOff x="4036219" y="4360386"/>
                <a:chExt cx="2411301" cy="579439"/>
              </a:xfrm>
            </p:grpSpPr>
            <p:grpSp>
              <p:nvGrpSpPr>
                <p:cNvPr id="457" name="组合 456"/>
                <p:cNvGrpSpPr/>
                <p:nvPr/>
              </p:nvGrpSpPr>
              <p:grpSpPr>
                <a:xfrm>
                  <a:off x="4036219" y="4536600"/>
                  <a:ext cx="233362" cy="230981"/>
                  <a:chOff x="3459957" y="3198019"/>
                  <a:chExt cx="233362" cy="230981"/>
                </a:xfrm>
              </p:grpSpPr>
              <p:sp>
                <p:nvSpPr>
                  <p:cNvPr id="496" name="矩形 495"/>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97" name="矩形 496"/>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8" name="矩形 457"/>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59" name="直接连接符 458"/>
                <p:cNvCxnSpPr>
                  <a:stCxn id="497"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60" name="组合 459"/>
                <p:cNvGrpSpPr/>
                <p:nvPr/>
              </p:nvGrpSpPr>
              <p:grpSpPr>
                <a:xfrm>
                  <a:off x="4583677" y="4531622"/>
                  <a:ext cx="224066" cy="235402"/>
                  <a:chOff x="3971697" y="3537291"/>
                  <a:chExt cx="224066" cy="235402"/>
                </a:xfrm>
              </p:grpSpPr>
              <p:sp>
                <p:nvSpPr>
                  <p:cNvPr id="489" name="矩形 488"/>
                  <p:cNvSpPr/>
                  <p:nvPr/>
                </p:nvSpPr>
                <p:spPr>
                  <a:xfrm>
                    <a:off x="4071938" y="3541712"/>
                    <a:ext cx="121444" cy="230981"/>
                  </a:xfrm>
                  <a:prstGeom prst="rect">
                    <a:avLst/>
                  </a:prstGeom>
                  <a:solidFill>
                    <a:srgbClr val="9CD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90" name="直接连接符 489"/>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91" name="直接连接符 490"/>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92" name="直接连接符 491"/>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93" name="直接连接符 492"/>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4" name="直接连接符 493"/>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5" name="直接连接符 494"/>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1" name="直接连接符 460"/>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62" name="任意多边形: 形状 461"/>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3" name="矩形 462"/>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4" name="矩形 463"/>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5" name="矩形 464"/>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6" name="矩形 465"/>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67" name="组合 466"/>
                <p:cNvGrpSpPr/>
                <p:nvPr/>
              </p:nvGrpSpPr>
              <p:grpSpPr>
                <a:xfrm rot="10800000">
                  <a:off x="6224134" y="4529592"/>
                  <a:ext cx="223386" cy="233308"/>
                  <a:chOff x="3970449" y="3541712"/>
                  <a:chExt cx="223386" cy="233308"/>
                </a:xfrm>
              </p:grpSpPr>
              <p:sp>
                <p:nvSpPr>
                  <p:cNvPr id="482" name="矩形 481"/>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83" name="直接连接符 482"/>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84" name="直接连接符 483"/>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85" name="直接连接符 484"/>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86" name="直接连接符 485"/>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7" name="直接连接符 486"/>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8" name="直接连接符 487"/>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8" name="直接连接符 467"/>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9" name="直接连接符 468"/>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0" name="直接连接符 469"/>
                <p:cNvCxnSpPr/>
                <p:nvPr/>
              </p:nvCxnSpPr>
              <p:spPr>
                <a:xfrm>
                  <a:off x="4802980" y="4561286"/>
                  <a:ext cx="132558" cy="0"/>
                </a:xfrm>
                <a:prstGeom prst="line">
                  <a:avLst/>
                </a:prstGeom>
                <a:ln w="15875">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471" name="直接连接符 470"/>
                <p:cNvCxnSpPr/>
                <p:nvPr/>
              </p:nvCxnSpPr>
              <p:spPr>
                <a:xfrm>
                  <a:off x="4802980" y="4717734"/>
                  <a:ext cx="132558" cy="0"/>
                </a:xfrm>
                <a:prstGeom prst="line">
                  <a:avLst/>
                </a:prstGeom>
                <a:ln w="15875">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472" name="直接连接符 471"/>
                <p:cNvCxnSpPr/>
                <p:nvPr/>
              </p:nvCxnSpPr>
              <p:spPr>
                <a:xfrm>
                  <a:off x="5009356" y="4561286"/>
                  <a:ext cx="126207" cy="0"/>
                </a:xfrm>
                <a:prstGeom prst="line">
                  <a:avLst/>
                </a:prstGeom>
                <a:ln w="15875">
                  <a:solidFill>
                    <a:srgbClr val="54C9F5"/>
                  </a:solidFill>
                </a:ln>
              </p:spPr>
              <p:style>
                <a:lnRef idx="1">
                  <a:schemeClr val="accent1"/>
                </a:lnRef>
                <a:fillRef idx="0">
                  <a:schemeClr val="accent1"/>
                </a:fillRef>
                <a:effectRef idx="0">
                  <a:schemeClr val="accent1"/>
                </a:effectRef>
                <a:fontRef idx="minor">
                  <a:schemeClr val="tx1"/>
                </a:fontRef>
              </p:style>
            </p:cxnSp>
            <p:cxnSp>
              <p:nvCxnSpPr>
                <p:cNvPr id="473" name="直接连接符 472"/>
                <p:cNvCxnSpPr/>
                <p:nvPr/>
              </p:nvCxnSpPr>
              <p:spPr>
                <a:xfrm>
                  <a:off x="5009356" y="4722496"/>
                  <a:ext cx="132558" cy="0"/>
                </a:xfrm>
                <a:prstGeom prst="line">
                  <a:avLst/>
                </a:prstGeom>
                <a:ln w="15875">
                  <a:solidFill>
                    <a:srgbClr val="54C9F5"/>
                  </a:solidFill>
                </a:ln>
              </p:spPr>
              <p:style>
                <a:lnRef idx="1">
                  <a:schemeClr val="accent1"/>
                </a:lnRef>
                <a:fillRef idx="0">
                  <a:schemeClr val="accent1"/>
                </a:fillRef>
                <a:effectRef idx="0">
                  <a:schemeClr val="accent1"/>
                </a:effectRef>
                <a:fontRef idx="minor">
                  <a:schemeClr val="tx1"/>
                </a:fontRef>
              </p:style>
            </p:cxnSp>
            <p:cxnSp>
              <p:nvCxnSpPr>
                <p:cNvPr id="474" name="直接连接符 473"/>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5" name="直接连接符 474"/>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6" name="直接连接符 475"/>
                <p:cNvCxnSpPr>
                  <a:stCxn id="465" idx="3"/>
                  <a:endCxn id="466"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7" name="直接连接符 476"/>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8" name="直接连接符 477"/>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9" name="直接连接符 478"/>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0" name="直接连接符 479"/>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1" name="直接连接符 480"/>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52" name="文本框 451"/>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453" name="文本框 452"/>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454" name="文本框 453"/>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455" name="文本框 454"/>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456" name="文本框 455"/>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498" name="组合 497"/>
            <p:cNvGrpSpPr/>
            <p:nvPr/>
          </p:nvGrpSpPr>
          <p:grpSpPr>
            <a:xfrm>
              <a:off x="282207" y="984667"/>
              <a:ext cx="10794506" cy="919914"/>
              <a:chOff x="25384" y="994320"/>
              <a:chExt cx="10794506" cy="919914"/>
            </a:xfrm>
          </p:grpSpPr>
          <p:grpSp>
            <p:nvGrpSpPr>
              <p:cNvPr id="499" name="时间轴"/>
              <p:cNvGrpSpPr/>
              <p:nvPr/>
            </p:nvGrpSpPr>
            <p:grpSpPr>
              <a:xfrm>
                <a:off x="25384" y="994320"/>
                <a:ext cx="10794506" cy="919914"/>
                <a:chOff x="477531" y="1933727"/>
                <a:chExt cx="10794506" cy="919914"/>
              </a:xfrm>
            </p:grpSpPr>
            <p:cxnSp>
              <p:nvCxnSpPr>
                <p:cNvPr id="501" name="直接箭头连接符 500"/>
                <p:cNvCxnSpPr/>
                <p:nvPr/>
              </p:nvCxnSpPr>
              <p:spPr>
                <a:xfrm>
                  <a:off x="3629769" y="2185186"/>
                  <a:ext cx="7510315"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sp>
              <p:nvSpPr>
                <p:cNvPr id="502" name="文本框 501"/>
                <p:cNvSpPr txBox="1"/>
                <p:nvPr/>
              </p:nvSpPr>
              <p:spPr>
                <a:xfrm>
                  <a:off x="3047727" y="2207282"/>
                  <a:ext cx="714286" cy="646331"/>
                </a:xfrm>
                <a:prstGeom prst="rect">
                  <a:avLst/>
                </a:prstGeom>
                <a:noFill/>
              </p:spPr>
              <p:txBody>
                <a:bodyPr wrap="square" rtlCol="0">
                  <a:spAutoFit/>
                </a:bodyPr>
                <a:lstStyle/>
                <a:p>
                  <a:r>
                    <a:rPr lang="en-US" altLang="zh-CN" dirty="0"/>
                    <a:t>CC 1</a:t>
                  </a:r>
                </a:p>
                <a:p>
                  <a:r>
                    <a:rPr lang="en-US" altLang="zh-CN" dirty="0"/>
                    <a:t>  10</a:t>
                  </a:r>
                  <a:endParaRPr lang="zh-CN" altLang="en-US" dirty="0"/>
                </a:p>
              </p:txBody>
            </p:sp>
            <p:sp>
              <p:nvSpPr>
                <p:cNvPr id="503" name="文本框 502"/>
                <p:cNvSpPr txBox="1"/>
                <p:nvPr/>
              </p:nvSpPr>
              <p:spPr>
                <a:xfrm>
                  <a:off x="3981073" y="2204602"/>
                  <a:ext cx="714286" cy="646331"/>
                </a:xfrm>
                <a:prstGeom prst="rect">
                  <a:avLst/>
                </a:prstGeom>
                <a:noFill/>
              </p:spPr>
              <p:txBody>
                <a:bodyPr wrap="square" rtlCol="0">
                  <a:spAutoFit/>
                </a:bodyPr>
                <a:lstStyle/>
                <a:p>
                  <a:r>
                    <a:rPr lang="en-US" altLang="zh-CN" dirty="0"/>
                    <a:t>CC 2</a:t>
                  </a:r>
                </a:p>
                <a:p>
                  <a:r>
                    <a:rPr lang="en-US" altLang="zh-CN" dirty="0"/>
                    <a:t>  10</a:t>
                  </a:r>
                  <a:endParaRPr lang="zh-CN" altLang="en-US" dirty="0"/>
                </a:p>
              </p:txBody>
            </p:sp>
            <p:sp>
              <p:nvSpPr>
                <p:cNvPr id="504" name="文本框 503"/>
                <p:cNvSpPr txBox="1"/>
                <p:nvPr/>
              </p:nvSpPr>
              <p:spPr>
                <a:xfrm>
                  <a:off x="6512628" y="2207196"/>
                  <a:ext cx="938848" cy="646331"/>
                </a:xfrm>
                <a:prstGeom prst="rect">
                  <a:avLst/>
                </a:prstGeom>
                <a:noFill/>
              </p:spPr>
              <p:txBody>
                <a:bodyPr wrap="square" rtlCol="0">
                  <a:spAutoFit/>
                </a:bodyPr>
                <a:lstStyle/>
                <a:p>
                  <a:pPr algn="ctr"/>
                  <a:r>
                    <a:rPr lang="en-US" altLang="zh-CN" dirty="0"/>
                    <a:t>CC 5</a:t>
                  </a:r>
                </a:p>
                <a:p>
                  <a:pPr algn="ctr"/>
                  <a:r>
                    <a:rPr lang="en-US" altLang="zh-CN" dirty="0"/>
                    <a:t> 10/-20</a:t>
                  </a:r>
                  <a:endParaRPr lang="zh-CN" altLang="en-US" dirty="0"/>
                </a:p>
              </p:txBody>
            </p:sp>
            <p:sp>
              <p:nvSpPr>
                <p:cNvPr id="505" name="文本框 504"/>
                <p:cNvSpPr txBox="1"/>
                <p:nvPr/>
              </p:nvSpPr>
              <p:spPr>
                <a:xfrm>
                  <a:off x="4946527" y="2201889"/>
                  <a:ext cx="714286" cy="646331"/>
                </a:xfrm>
                <a:prstGeom prst="rect">
                  <a:avLst/>
                </a:prstGeom>
                <a:noFill/>
              </p:spPr>
              <p:txBody>
                <a:bodyPr wrap="square" rtlCol="0">
                  <a:spAutoFit/>
                </a:bodyPr>
                <a:lstStyle/>
                <a:p>
                  <a:r>
                    <a:rPr lang="en-US" altLang="zh-CN" dirty="0"/>
                    <a:t>CC 3</a:t>
                  </a:r>
                </a:p>
                <a:p>
                  <a:r>
                    <a:rPr lang="en-US" altLang="zh-CN" dirty="0"/>
                    <a:t>  10</a:t>
                  </a:r>
                  <a:endParaRPr lang="zh-CN" altLang="en-US" dirty="0"/>
                </a:p>
              </p:txBody>
            </p:sp>
            <p:sp>
              <p:nvSpPr>
                <p:cNvPr id="506" name="文本框 505"/>
                <p:cNvSpPr txBox="1"/>
                <p:nvPr/>
              </p:nvSpPr>
              <p:spPr>
                <a:xfrm>
                  <a:off x="7682194" y="2207310"/>
                  <a:ext cx="714286" cy="646331"/>
                </a:xfrm>
                <a:prstGeom prst="rect">
                  <a:avLst/>
                </a:prstGeom>
                <a:noFill/>
              </p:spPr>
              <p:txBody>
                <a:bodyPr wrap="square" rtlCol="0">
                  <a:spAutoFit/>
                </a:bodyPr>
                <a:lstStyle/>
                <a:p>
                  <a:r>
                    <a:rPr lang="en-US" altLang="zh-CN" dirty="0"/>
                    <a:t>CC 6</a:t>
                  </a:r>
                </a:p>
                <a:p>
                  <a:r>
                    <a:rPr lang="en-US" altLang="zh-CN" dirty="0"/>
                    <a:t> -20</a:t>
                  </a:r>
                  <a:endParaRPr lang="zh-CN" altLang="en-US" dirty="0"/>
                </a:p>
              </p:txBody>
            </p:sp>
            <p:sp>
              <p:nvSpPr>
                <p:cNvPr id="507" name="文本框 506"/>
                <p:cNvSpPr txBox="1"/>
                <p:nvPr/>
              </p:nvSpPr>
              <p:spPr>
                <a:xfrm>
                  <a:off x="5827526" y="2202034"/>
                  <a:ext cx="908292" cy="646331"/>
                </a:xfrm>
                <a:prstGeom prst="rect">
                  <a:avLst/>
                </a:prstGeom>
                <a:noFill/>
              </p:spPr>
              <p:txBody>
                <a:bodyPr wrap="square" rtlCol="0">
                  <a:spAutoFit/>
                </a:bodyPr>
                <a:lstStyle/>
                <a:p>
                  <a:r>
                    <a:rPr lang="en-US" altLang="zh-CN" dirty="0"/>
                    <a:t>CC 4</a:t>
                  </a:r>
                </a:p>
                <a:p>
                  <a:r>
                    <a:rPr lang="en-US" altLang="zh-CN" dirty="0"/>
                    <a:t>  10</a:t>
                  </a:r>
                  <a:endParaRPr lang="zh-CN" altLang="en-US" dirty="0"/>
                </a:p>
              </p:txBody>
            </p:sp>
            <p:sp>
              <p:nvSpPr>
                <p:cNvPr id="508" name="文本框 507"/>
                <p:cNvSpPr txBox="1"/>
                <p:nvPr/>
              </p:nvSpPr>
              <p:spPr>
                <a:xfrm>
                  <a:off x="9543787" y="2203075"/>
                  <a:ext cx="714286" cy="646331"/>
                </a:xfrm>
                <a:prstGeom prst="rect">
                  <a:avLst/>
                </a:prstGeom>
                <a:noFill/>
              </p:spPr>
              <p:txBody>
                <a:bodyPr wrap="square" rtlCol="0">
                  <a:spAutoFit/>
                </a:bodyPr>
                <a:lstStyle/>
                <a:p>
                  <a:r>
                    <a:rPr lang="en-US" altLang="zh-CN" dirty="0"/>
                    <a:t>CC 8</a:t>
                  </a:r>
                </a:p>
                <a:p>
                  <a:r>
                    <a:rPr lang="en-US" altLang="zh-CN" dirty="0"/>
                    <a:t> -20</a:t>
                  </a:r>
                  <a:endParaRPr lang="zh-CN" altLang="en-US" dirty="0"/>
                </a:p>
              </p:txBody>
            </p:sp>
            <p:sp>
              <p:nvSpPr>
                <p:cNvPr id="509" name="文本框 508"/>
                <p:cNvSpPr txBox="1"/>
                <p:nvPr/>
              </p:nvSpPr>
              <p:spPr>
                <a:xfrm>
                  <a:off x="8644891" y="2203075"/>
                  <a:ext cx="714286" cy="646331"/>
                </a:xfrm>
                <a:prstGeom prst="rect">
                  <a:avLst/>
                </a:prstGeom>
                <a:noFill/>
              </p:spPr>
              <p:txBody>
                <a:bodyPr wrap="square" rtlCol="0">
                  <a:spAutoFit/>
                </a:bodyPr>
                <a:lstStyle/>
                <a:p>
                  <a:r>
                    <a:rPr lang="en-US" altLang="zh-CN" dirty="0"/>
                    <a:t>CC 7</a:t>
                  </a:r>
                </a:p>
                <a:p>
                  <a:r>
                    <a:rPr lang="en-US" altLang="zh-CN" dirty="0"/>
                    <a:t> -20</a:t>
                  </a:r>
                  <a:endParaRPr lang="zh-CN" altLang="en-US" dirty="0"/>
                </a:p>
              </p:txBody>
            </p:sp>
            <p:sp>
              <p:nvSpPr>
                <p:cNvPr id="510" name="文本框 509"/>
                <p:cNvSpPr txBox="1"/>
                <p:nvPr/>
              </p:nvSpPr>
              <p:spPr>
                <a:xfrm>
                  <a:off x="10557751" y="2201889"/>
                  <a:ext cx="714286" cy="646331"/>
                </a:xfrm>
                <a:prstGeom prst="rect">
                  <a:avLst/>
                </a:prstGeom>
                <a:noFill/>
              </p:spPr>
              <p:txBody>
                <a:bodyPr wrap="square" rtlCol="0">
                  <a:spAutoFit/>
                </a:bodyPr>
                <a:lstStyle/>
                <a:p>
                  <a:r>
                    <a:rPr lang="en-US" altLang="zh-CN" dirty="0"/>
                    <a:t>CC 9</a:t>
                  </a:r>
                </a:p>
                <a:p>
                  <a:r>
                    <a:rPr lang="en-US" altLang="zh-CN" dirty="0"/>
                    <a:t> -20</a:t>
                  </a:r>
                  <a:endParaRPr lang="zh-CN" altLang="en-US" dirty="0"/>
                </a:p>
              </p:txBody>
            </p:sp>
            <p:sp>
              <p:nvSpPr>
                <p:cNvPr id="511" name="文本框 510"/>
                <p:cNvSpPr txBox="1"/>
                <p:nvPr/>
              </p:nvSpPr>
              <p:spPr>
                <a:xfrm>
                  <a:off x="477531" y="1933727"/>
                  <a:ext cx="2527589" cy="400110"/>
                </a:xfrm>
                <a:prstGeom prst="rect">
                  <a:avLst/>
                </a:prstGeom>
                <a:noFill/>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r>
                    <a:rPr lang="en-US" altLang="zh-CN" dirty="0"/>
                    <a:t>Time (in clock cycles)</a:t>
                  </a:r>
                  <a:endParaRPr lang="zh-CN" altLang="en-US" dirty="0"/>
                </a:p>
              </p:txBody>
            </p:sp>
          </p:grpSp>
          <p:sp>
            <p:nvSpPr>
              <p:cNvPr id="500" name="文本框 499"/>
              <p:cNvSpPr txBox="1"/>
              <p:nvPr/>
            </p:nvSpPr>
            <p:spPr>
              <a:xfrm>
                <a:off x="370441" y="1491212"/>
                <a:ext cx="2266216" cy="369332"/>
              </a:xfrm>
              <a:prstGeom prst="rect">
                <a:avLst/>
              </a:prstGeom>
              <a:noFill/>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r>
                  <a:rPr lang="en-US" altLang="zh-CN" dirty="0"/>
                  <a:t>Value of register x2:</a:t>
                </a:r>
                <a:endParaRPr lang="zh-CN" altLang="en-US" dirty="0"/>
              </a:p>
            </p:txBody>
          </p:sp>
        </p:grpSp>
        <p:cxnSp>
          <p:nvCxnSpPr>
            <p:cNvPr id="512" name="直接连接符 511"/>
            <p:cNvCxnSpPr/>
            <p:nvPr/>
          </p:nvCxnSpPr>
          <p:spPr>
            <a:xfrm flipH="1" flipV="1">
              <a:off x="5498830" y="2700299"/>
              <a:ext cx="148682" cy="640885"/>
            </a:xfrm>
            <a:prstGeom prst="line">
              <a:avLst/>
            </a:prstGeom>
            <a:ln w="25400">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517" name="直接连接符 516"/>
            <p:cNvCxnSpPr>
              <a:endCxn id="370" idx="3"/>
            </p:cNvCxnSpPr>
            <p:nvPr/>
          </p:nvCxnSpPr>
          <p:spPr>
            <a:xfrm flipH="1" flipV="1">
              <a:off x="6481974" y="2581275"/>
              <a:ext cx="117475" cy="1873885"/>
            </a:xfrm>
            <a:prstGeom prst="line">
              <a:avLst/>
            </a:prstGeom>
            <a:ln w="25400">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519" name="直接连接符 518"/>
            <p:cNvCxnSpPr>
              <a:stCxn id="453" idx="0"/>
            </p:cNvCxnSpPr>
            <p:nvPr/>
          </p:nvCxnSpPr>
          <p:spPr>
            <a:xfrm flipH="1" flipV="1">
              <a:off x="6829214" y="2698797"/>
              <a:ext cx="88628" cy="2315402"/>
            </a:xfrm>
            <a:prstGeom prst="line">
              <a:avLst/>
            </a:prstGeom>
            <a:ln w="25400">
              <a:solidFill>
                <a:srgbClr val="62CEF6"/>
              </a:solidFill>
            </a:ln>
          </p:spPr>
          <p:style>
            <a:lnRef idx="1">
              <a:schemeClr val="accent1"/>
            </a:lnRef>
            <a:fillRef idx="0">
              <a:schemeClr val="accent1"/>
            </a:fillRef>
            <a:effectRef idx="0">
              <a:schemeClr val="accent1"/>
            </a:effectRef>
            <a:fontRef idx="minor">
              <a:schemeClr val="tx1"/>
            </a:fontRef>
          </p:style>
        </p:cxnSp>
        <p:sp>
          <p:nvSpPr>
            <p:cNvPr id="521" name="椭圆 520"/>
            <p:cNvSpPr/>
            <p:nvPr/>
          </p:nvSpPr>
          <p:spPr>
            <a:xfrm>
              <a:off x="5447563" y="2685598"/>
              <a:ext cx="100396" cy="100396"/>
            </a:xfrm>
            <a:prstGeom prst="ellipse">
              <a:avLst/>
            </a:prstGeom>
            <a:solidFill>
              <a:srgbClr val="54C9F5"/>
            </a:solidFill>
            <a:ln>
              <a:solidFill>
                <a:srgbClr val="54C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2" name="椭圆 521"/>
            <p:cNvSpPr/>
            <p:nvPr/>
          </p:nvSpPr>
          <p:spPr>
            <a:xfrm>
              <a:off x="5601650" y="3285661"/>
              <a:ext cx="100396" cy="100396"/>
            </a:xfrm>
            <a:prstGeom prst="ellipse">
              <a:avLst/>
            </a:prstGeom>
            <a:solidFill>
              <a:srgbClr val="54C9F5"/>
            </a:solidFill>
            <a:ln>
              <a:solidFill>
                <a:srgbClr val="54C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3" name="椭圆 522"/>
            <p:cNvSpPr/>
            <p:nvPr/>
          </p:nvSpPr>
          <p:spPr>
            <a:xfrm>
              <a:off x="6401113" y="2543184"/>
              <a:ext cx="100396" cy="100396"/>
            </a:xfrm>
            <a:prstGeom prst="ellipse">
              <a:avLst/>
            </a:prstGeom>
            <a:solidFill>
              <a:srgbClr val="54C9F5"/>
            </a:solidFill>
            <a:ln>
              <a:solidFill>
                <a:srgbClr val="54C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4" name="椭圆 523"/>
            <p:cNvSpPr/>
            <p:nvPr/>
          </p:nvSpPr>
          <p:spPr>
            <a:xfrm>
              <a:off x="6533613" y="4363180"/>
              <a:ext cx="100396" cy="100396"/>
            </a:xfrm>
            <a:prstGeom prst="ellipse">
              <a:avLst/>
            </a:prstGeom>
            <a:solidFill>
              <a:srgbClr val="54C9F5"/>
            </a:solidFill>
            <a:ln>
              <a:solidFill>
                <a:srgbClr val="54C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5" name="椭圆 524"/>
            <p:cNvSpPr/>
            <p:nvPr/>
          </p:nvSpPr>
          <p:spPr>
            <a:xfrm>
              <a:off x="6848655" y="4963132"/>
              <a:ext cx="100396" cy="100396"/>
            </a:xfrm>
            <a:prstGeom prst="ellipse">
              <a:avLst/>
            </a:prstGeom>
            <a:solidFill>
              <a:srgbClr val="54C9F5"/>
            </a:solidFill>
            <a:ln>
              <a:solidFill>
                <a:srgbClr val="54C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6" name="椭圆 525"/>
            <p:cNvSpPr/>
            <p:nvPr/>
          </p:nvSpPr>
          <p:spPr>
            <a:xfrm>
              <a:off x="6791474" y="2695432"/>
              <a:ext cx="100396" cy="100396"/>
            </a:xfrm>
            <a:prstGeom prst="ellipse">
              <a:avLst/>
            </a:prstGeom>
            <a:solidFill>
              <a:srgbClr val="54C9F5"/>
            </a:solidFill>
            <a:ln>
              <a:solidFill>
                <a:srgbClr val="54C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13" name="文本框 512"/>
          <p:cNvSpPr txBox="1"/>
          <p:nvPr/>
        </p:nvSpPr>
        <p:spPr>
          <a:xfrm>
            <a:off x="8819081" y="1963362"/>
            <a:ext cx="3292951" cy="144655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200" b="1" dirty="0">
                <a:sym typeface="+mn-ea"/>
              </a:rPr>
              <a:t>EX</a:t>
            </a:r>
            <a:r>
              <a:rPr lang="zh-CN" altLang="en-US" sz="2200" b="1" dirty="0">
                <a:sym typeface="+mn-ea"/>
              </a:rPr>
              <a:t>冒险：</a:t>
            </a:r>
            <a:r>
              <a:rPr lang="zh-CN" altLang="en-US" sz="2200" dirty="0">
                <a:sym typeface="+mn-ea"/>
              </a:rPr>
              <a:t>从</a:t>
            </a:r>
            <a:r>
              <a:rPr lang="en-US" altLang="zh-CN" sz="2200" dirty="0">
                <a:sym typeface="+mn-ea"/>
              </a:rPr>
              <a:t>EX/MEM</a:t>
            </a:r>
            <a:r>
              <a:rPr lang="zh-CN" altLang="en-US" sz="2200" dirty="0">
                <a:sym typeface="+mn-ea"/>
              </a:rPr>
              <a:t>流水线寄存器中获取。</a:t>
            </a:r>
            <a:endParaRPr lang="en-US" altLang="zh-CN" sz="2200"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sz="2200" b="1" dirty="0">
                <a:sym typeface="+mn-ea"/>
              </a:rPr>
              <a:t>MEM</a:t>
            </a:r>
            <a:r>
              <a:rPr lang="zh-CN" altLang="en-US" sz="2200" b="1" dirty="0">
                <a:sym typeface="+mn-ea"/>
              </a:rPr>
              <a:t>冒险：</a:t>
            </a:r>
            <a:r>
              <a:rPr lang="zh-CN" altLang="en-US" sz="2200" dirty="0">
                <a:sym typeface="+mn-ea"/>
              </a:rPr>
              <a:t>从</a:t>
            </a:r>
            <a:r>
              <a:rPr lang="en-US" altLang="zh-CN" sz="2200" dirty="0">
                <a:sym typeface="+mn-ea"/>
              </a:rPr>
              <a:t>MEM/WB</a:t>
            </a:r>
            <a:r>
              <a:rPr lang="zh-CN" altLang="en-US" sz="2200" dirty="0">
                <a:sym typeface="+mn-ea"/>
              </a:rPr>
              <a:t>流水线寄存器中获取。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3"/>
                                        </p:tgtEl>
                                        <p:attrNameLst>
                                          <p:attrName>style.visibility</p:attrName>
                                        </p:attrNameLst>
                                      </p:cBhvr>
                                      <p:to>
                                        <p:strVal val="visible"/>
                                      </p:to>
                                    </p:set>
                                    <p:anim calcmode="lin" valueType="num">
                                      <p:cBhvr additive="base">
                                        <p:cTn id="7" dur="500" fill="hold"/>
                                        <p:tgtEl>
                                          <p:spTgt spid="513"/>
                                        </p:tgtEl>
                                        <p:attrNameLst>
                                          <p:attrName>ppt_x</p:attrName>
                                        </p:attrNameLst>
                                      </p:cBhvr>
                                      <p:tavLst>
                                        <p:tav tm="0">
                                          <p:val>
                                            <p:strVal val="#ppt_x"/>
                                          </p:val>
                                        </p:tav>
                                        <p:tav tm="100000">
                                          <p:val>
                                            <p:strVal val="#ppt_x"/>
                                          </p:val>
                                        </p:tav>
                                      </p:tavLst>
                                    </p:anim>
                                    <p:anim calcmode="lin" valueType="num">
                                      <p:cBhvr additive="base">
                                        <p:cTn id="8" dur="500" fill="hold"/>
                                        <p:tgtEl>
                                          <p:spTgt spid="5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组合 60"/>
          <p:cNvGrpSpPr/>
          <p:nvPr/>
        </p:nvGrpSpPr>
        <p:grpSpPr>
          <a:xfrm>
            <a:off x="2127884" y="1504566"/>
            <a:ext cx="7849935" cy="4085942"/>
            <a:chOff x="1533800" y="2051103"/>
            <a:chExt cx="7849935" cy="4085942"/>
          </a:xfrm>
        </p:grpSpPr>
        <p:sp>
          <p:nvSpPr>
            <p:cNvPr id="5" name="矩形 4"/>
            <p:cNvSpPr/>
            <p:nvPr/>
          </p:nvSpPr>
          <p:spPr bwMode="auto">
            <a:xfrm>
              <a:off x="2162808" y="3205201"/>
              <a:ext cx="1247399" cy="1190122"/>
            </a:xfrm>
            <a:prstGeom prst="rect">
              <a:avLst/>
            </a:pr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r>
                <a:rPr lang="en-US" altLang="zh-CN"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Registers</a:t>
              </a:r>
              <a:endPar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6" name="直接连接符 5"/>
            <p:cNvCxnSpPr/>
            <p:nvPr/>
          </p:nvCxnSpPr>
          <p:spPr bwMode="auto">
            <a:xfrm flipV="1">
              <a:off x="3410207" y="3505211"/>
              <a:ext cx="353440" cy="8873"/>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接连接符 6"/>
            <p:cNvCxnSpPr/>
            <p:nvPr/>
          </p:nvCxnSpPr>
          <p:spPr bwMode="auto">
            <a:xfrm>
              <a:off x="3410207" y="4131247"/>
              <a:ext cx="353440"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 name="组合 7"/>
            <p:cNvGrpSpPr/>
            <p:nvPr/>
          </p:nvGrpSpPr>
          <p:grpSpPr>
            <a:xfrm>
              <a:off x="3274053" y="2051103"/>
              <a:ext cx="1189355" cy="4085942"/>
              <a:chOff x="2318152" y="1783812"/>
              <a:chExt cx="1189355" cy="4085942"/>
            </a:xfrm>
          </p:grpSpPr>
          <p:sp>
            <p:nvSpPr>
              <p:cNvPr id="36" name="矩形 35"/>
              <p:cNvSpPr/>
              <p:nvPr/>
            </p:nvSpPr>
            <p:spPr bwMode="auto">
              <a:xfrm>
                <a:off x="2825423" y="2269754"/>
                <a:ext cx="241656" cy="3600000"/>
              </a:xfrm>
              <a:prstGeom prst="rect">
                <a:avLst/>
              </a:pr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文本框 36"/>
              <p:cNvSpPr txBox="1"/>
              <p:nvPr/>
            </p:nvSpPr>
            <p:spPr>
              <a:xfrm>
                <a:off x="2318152" y="1783812"/>
                <a:ext cx="1189355" cy="460375"/>
              </a:xfrm>
              <a:prstGeom prst="rect">
                <a:avLst/>
              </a:prstGeom>
              <a:noFill/>
            </p:spPr>
            <p:txBody>
              <a:bodyPr wrap="square" rtlCol="0">
                <a:spAutoFit/>
              </a:bodyPr>
              <a:lstStyle/>
              <a:p>
                <a:pPr algn="ctr"/>
                <a:r>
                  <a:rPr lang="en-US" altLang="zh-CN" sz="2400" dirty="0">
                    <a:latin typeface="Times New Roman" panose="02020603050405020304" pitchFamily="18" charset="0"/>
                    <a:cs typeface="Times New Roman" panose="02020603050405020304" pitchFamily="18" charset="0"/>
                  </a:rPr>
                  <a:t>ID/EX</a:t>
                </a:r>
              </a:p>
            </p:txBody>
          </p:sp>
        </p:grpSp>
        <p:grpSp>
          <p:nvGrpSpPr>
            <p:cNvPr id="9" name="Add Sum"/>
            <p:cNvGrpSpPr/>
            <p:nvPr/>
          </p:nvGrpSpPr>
          <p:grpSpPr>
            <a:xfrm>
              <a:off x="4819028" y="3205200"/>
              <a:ext cx="654556" cy="1190122"/>
              <a:chOff x="5666744" y="2480765"/>
              <a:chExt cx="1035679" cy="1475010"/>
            </a:xfrm>
          </p:grpSpPr>
          <p:sp>
            <p:nvSpPr>
              <p:cNvPr id="34" name="梯形 33"/>
              <p:cNvSpPr/>
              <p:nvPr/>
            </p:nvSpPr>
            <p:spPr>
              <a:xfrm rot="5400000">
                <a:off x="5470730" y="2724082"/>
                <a:ext cx="1475010" cy="988376"/>
              </a:xfrm>
              <a:prstGeom prst="trapezoid">
                <a:avLst>
                  <a:gd name="adj" fmla="val 43158"/>
                </a:avLst>
              </a:prstGeom>
              <a:ln w="25400">
                <a:solidFill>
                  <a:schemeClr val="tx1"/>
                </a:solidFill>
              </a:ln>
            </p:spPr>
            <p:style>
              <a:lnRef idx="2">
                <a:schemeClr val="dk1"/>
              </a:lnRef>
              <a:fillRef idx="1">
                <a:schemeClr val="lt1"/>
              </a:fillRef>
              <a:effectRef idx="0">
                <a:schemeClr val="dk1"/>
              </a:effectRef>
              <a:fontRef idx="minor">
                <a:schemeClr val="dk1"/>
              </a:fontRef>
            </p:style>
            <p:txBody>
              <a:bodyPr vert="vert270" rtlCol="0" anchor="ctr"/>
              <a:lstStyle/>
              <a:p>
                <a:pPr algn="ctr"/>
                <a:r>
                  <a:rPr lang="en-US" altLang="zh-CN" sz="2000" b="1" dirty="0">
                    <a:solidFill>
                      <a:srgbClr val="FF0000"/>
                    </a:solidFill>
                    <a:latin typeface="Times New Roman" panose="02020603050405020304" pitchFamily="18" charset="0"/>
                    <a:cs typeface="Times New Roman" panose="02020603050405020304" pitchFamily="18" charset="0"/>
                  </a:rPr>
                  <a:t>A</a:t>
                </a:r>
              </a:p>
              <a:p>
                <a:pPr algn="ctr"/>
                <a:r>
                  <a:rPr lang="en-US" altLang="zh-CN" sz="2000" b="1" dirty="0">
                    <a:solidFill>
                      <a:srgbClr val="FF0000"/>
                    </a:solidFill>
                    <a:latin typeface="Times New Roman" panose="02020603050405020304" pitchFamily="18" charset="0"/>
                    <a:cs typeface="Times New Roman" panose="02020603050405020304" pitchFamily="18" charset="0"/>
                  </a:rPr>
                  <a:t>L</a:t>
                </a:r>
              </a:p>
              <a:p>
                <a:pPr algn="ctr"/>
                <a:r>
                  <a:rPr lang="en-US" altLang="zh-CN" sz="2000" b="1" dirty="0">
                    <a:solidFill>
                      <a:srgbClr val="FF0000"/>
                    </a:solidFill>
                    <a:latin typeface="Times New Roman" panose="02020603050405020304" pitchFamily="18" charset="0"/>
                    <a:cs typeface="Times New Roman" panose="02020603050405020304" pitchFamily="18" charset="0"/>
                  </a:rPr>
                  <a:t>U</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sp>
            <p:nvSpPr>
              <p:cNvPr id="35" name="文本框 34"/>
              <p:cNvSpPr txBox="1"/>
              <p:nvPr/>
            </p:nvSpPr>
            <p:spPr>
              <a:xfrm>
                <a:off x="5666744" y="2869097"/>
                <a:ext cx="268868" cy="495683"/>
              </a:xfrm>
              <a:prstGeom prst="rect">
                <a:avLst/>
              </a:prstGeom>
              <a:noFill/>
              <a:ln w="25400">
                <a:noFill/>
              </a:ln>
            </p:spPr>
            <p:txBody>
              <a:bodyPr wrap="none" rtlCol="0">
                <a:spAutoFit/>
              </a:bodyPr>
              <a:lstStyle/>
              <a:p>
                <a:pPr>
                  <a:lnSpc>
                    <a:spcPts val="1500"/>
                  </a:lnSpc>
                </a:pPr>
                <a:endParaRPr lang="en-US" altLang="zh-CN" sz="2200" b="1" dirty="0">
                  <a:solidFill>
                    <a:srgbClr val="FF0000"/>
                  </a:solidFill>
                  <a:latin typeface="Times New Roman" panose="02020603050405020304" pitchFamily="18" charset="0"/>
                  <a:cs typeface="Times New Roman" panose="02020603050405020304" pitchFamily="18" charset="0"/>
                </a:endParaRPr>
              </a:p>
            </p:txBody>
          </p:sp>
        </p:grpSp>
        <p:cxnSp>
          <p:nvCxnSpPr>
            <p:cNvPr id="10" name="直接连接符 9"/>
            <p:cNvCxnSpPr/>
            <p:nvPr/>
          </p:nvCxnSpPr>
          <p:spPr bwMode="auto">
            <a:xfrm>
              <a:off x="4014181" y="3514084"/>
              <a:ext cx="843284"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连接符 10"/>
            <p:cNvCxnSpPr/>
            <p:nvPr/>
          </p:nvCxnSpPr>
          <p:spPr bwMode="auto">
            <a:xfrm>
              <a:off x="4014181" y="4107866"/>
              <a:ext cx="843284"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连接符 11"/>
            <p:cNvCxnSpPr>
              <a:stCxn id="34" idx="0"/>
            </p:cNvCxnSpPr>
            <p:nvPr/>
          </p:nvCxnSpPr>
          <p:spPr bwMode="auto">
            <a:xfrm flipV="1">
              <a:off x="5473584" y="3795499"/>
              <a:ext cx="444195" cy="4762"/>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3" name="组合 12"/>
            <p:cNvGrpSpPr/>
            <p:nvPr/>
          </p:nvGrpSpPr>
          <p:grpSpPr>
            <a:xfrm>
              <a:off x="5184659" y="2075926"/>
              <a:ext cx="1657350" cy="4061119"/>
              <a:chOff x="4673463" y="1783224"/>
              <a:chExt cx="1657350" cy="4061119"/>
            </a:xfrm>
          </p:grpSpPr>
          <p:sp>
            <p:nvSpPr>
              <p:cNvPr id="32" name="矩形 31"/>
              <p:cNvSpPr/>
              <p:nvPr/>
            </p:nvSpPr>
            <p:spPr bwMode="auto">
              <a:xfrm>
                <a:off x="5403567" y="2244343"/>
                <a:ext cx="241656" cy="3600000"/>
              </a:xfrm>
              <a:prstGeom prst="rect">
                <a:avLst/>
              </a:pr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3" name="文本框 32"/>
              <p:cNvSpPr txBox="1"/>
              <p:nvPr/>
            </p:nvSpPr>
            <p:spPr>
              <a:xfrm>
                <a:off x="4673463" y="1783224"/>
                <a:ext cx="1657350" cy="460375"/>
              </a:xfrm>
              <a:prstGeom prst="rect">
                <a:avLst/>
              </a:prstGeom>
              <a:noFill/>
            </p:spPr>
            <p:txBody>
              <a:bodyPr wrap="square" rtlCol="0">
                <a:spAutoFit/>
              </a:bodyPr>
              <a:lstStyle/>
              <a:p>
                <a:pPr algn="ctr"/>
                <a:r>
                  <a:rPr lang="en-US" altLang="zh-CN" sz="2400" dirty="0">
                    <a:latin typeface="Times New Roman" panose="02020603050405020304" pitchFamily="18" charset="0"/>
                    <a:cs typeface="Times New Roman" panose="02020603050405020304" pitchFamily="18" charset="0"/>
                  </a:rPr>
                  <a:t>EX/MEM</a:t>
                </a:r>
              </a:p>
            </p:txBody>
          </p:sp>
        </p:grpSp>
        <p:grpSp>
          <p:nvGrpSpPr>
            <p:cNvPr id="14" name="组合 13"/>
            <p:cNvGrpSpPr/>
            <p:nvPr/>
          </p:nvGrpSpPr>
          <p:grpSpPr>
            <a:xfrm>
              <a:off x="7372005" y="2071779"/>
              <a:ext cx="1799590" cy="4065266"/>
              <a:chOff x="6661287" y="1783812"/>
              <a:chExt cx="1799590" cy="4065266"/>
            </a:xfrm>
          </p:grpSpPr>
          <p:sp>
            <p:nvSpPr>
              <p:cNvPr id="30" name="矩形 29"/>
              <p:cNvSpPr/>
              <p:nvPr/>
            </p:nvSpPr>
            <p:spPr bwMode="auto">
              <a:xfrm>
                <a:off x="7464473" y="2249078"/>
                <a:ext cx="241656" cy="3600000"/>
              </a:xfrm>
              <a:prstGeom prst="rect">
                <a:avLst/>
              </a:pr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1" name="文本框 30"/>
              <p:cNvSpPr txBox="1"/>
              <p:nvPr/>
            </p:nvSpPr>
            <p:spPr>
              <a:xfrm>
                <a:off x="6661287" y="1783812"/>
                <a:ext cx="1799590" cy="460375"/>
              </a:xfrm>
              <a:prstGeom prst="rect">
                <a:avLst/>
              </a:prstGeom>
              <a:noFill/>
            </p:spPr>
            <p:txBody>
              <a:bodyPr wrap="square" rtlCol="0">
                <a:spAutoFit/>
              </a:bodyPr>
              <a:lstStyle/>
              <a:p>
                <a:pPr algn="ctr"/>
                <a:r>
                  <a:rPr lang="en-US" altLang="zh-CN" sz="2400" dirty="0">
                    <a:latin typeface="Times New Roman" panose="02020603050405020304" pitchFamily="18" charset="0"/>
                    <a:cs typeface="Times New Roman" panose="02020603050405020304" pitchFamily="18" charset="0"/>
                  </a:rPr>
                  <a:t>MEM/WB</a:t>
                </a:r>
              </a:p>
            </p:txBody>
          </p:sp>
        </p:grpSp>
        <p:cxnSp>
          <p:nvCxnSpPr>
            <p:cNvPr id="15" name="连接符: 肘形 14"/>
            <p:cNvCxnSpPr/>
            <p:nvPr/>
          </p:nvCxnSpPr>
          <p:spPr>
            <a:xfrm>
              <a:off x="4385569" y="4107866"/>
              <a:ext cx="1529194" cy="637192"/>
            </a:xfrm>
            <a:prstGeom prst="bentConnector3">
              <a:avLst>
                <a:gd name="adj1" fmla="val 74"/>
              </a:avLst>
            </a:prstGeom>
            <a:ln w="25400">
              <a:headEnd type="oval"/>
              <a:tailEnd type="triangle"/>
            </a:ln>
          </p:spPr>
          <p:style>
            <a:lnRef idx="1">
              <a:schemeClr val="dk1"/>
            </a:lnRef>
            <a:fillRef idx="0">
              <a:schemeClr val="dk1"/>
            </a:fillRef>
            <a:effectRef idx="0">
              <a:schemeClr val="dk1"/>
            </a:effectRef>
            <a:fontRef idx="minor">
              <a:schemeClr val="tx1"/>
            </a:fontRef>
          </p:style>
        </p:cxnSp>
        <p:sp>
          <p:nvSpPr>
            <p:cNvPr id="16" name="矩形 15"/>
            <p:cNvSpPr/>
            <p:nvPr/>
          </p:nvSpPr>
          <p:spPr bwMode="auto">
            <a:xfrm>
              <a:off x="6713333" y="3606634"/>
              <a:ext cx="1139063" cy="1304313"/>
            </a:xfrm>
            <a:prstGeom prst="rect">
              <a:avLst/>
            </a:pr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r>
                <a:rPr lang="en-US" altLang="zh-CN"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Data</a:t>
              </a:r>
            </a:p>
            <a:p>
              <a:pPr algn="ctr" fontAlgn="base">
                <a:spcBef>
                  <a:spcPct val="0"/>
                </a:spcBef>
                <a:spcAft>
                  <a:spcPct val="0"/>
                </a:spcAft>
              </a:pPr>
              <a:r>
                <a:rPr lang="en-US" altLang="zh-CN"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memory</a:t>
              </a:r>
              <a:endPar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7" name="直接连接符 16"/>
            <p:cNvCxnSpPr/>
            <p:nvPr/>
          </p:nvCxnSpPr>
          <p:spPr bwMode="auto">
            <a:xfrm>
              <a:off x="6157160" y="3795682"/>
              <a:ext cx="564973"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连接符 17"/>
            <p:cNvCxnSpPr/>
            <p:nvPr/>
          </p:nvCxnSpPr>
          <p:spPr bwMode="auto">
            <a:xfrm>
              <a:off x="6139486" y="4745058"/>
              <a:ext cx="573848"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接连接符 18"/>
            <p:cNvCxnSpPr>
              <a:stCxn id="16" idx="3"/>
            </p:cNvCxnSpPr>
            <p:nvPr/>
          </p:nvCxnSpPr>
          <p:spPr bwMode="auto">
            <a:xfrm flipV="1">
              <a:off x="7852396" y="4242511"/>
              <a:ext cx="322795" cy="1628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连接符: 肘形 19"/>
            <p:cNvCxnSpPr/>
            <p:nvPr/>
          </p:nvCxnSpPr>
          <p:spPr>
            <a:xfrm>
              <a:off x="6445188" y="3795499"/>
              <a:ext cx="1723142" cy="1560159"/>
            </a:xfrm>
            <a:prstGeom prst="bentConnector3">
              <a:avLst>
                <a:gd name="adj1" fmla="val 25"/>
              </a:avLst>
            </a:prstGeom>
            <a:ln w="25400">
              <a:headEnd type="oval"/>
              <a:tailEnd type="triangle"/>
            </a:ln>
          </p:spPr>
          <p:style>
            <a:lnRef idx="1">
              <a:schemeClr val="dk1"/>
            </a:lnRef>
            <a:fillRef idx="0">
              <a:schemeClr val="dk1"/>
            </a:fillRef>
            <a:effectRef idx="0">
              <a:schemeClr val="dk1"/>
            </a:effectRef>
            <a:fontRef idx="minor">
              <a:schemeClr val="tx1"/>
            </a:fontRef>
          </p:style>
        </p:cxnSp>
        <p:grpSp>
          <p:nvGrpSpPr>
            <p:cNvPr id="21" name="Mux 3"/>
            <p:cNvGrpSpPr/>
            <p:nvPr/>
          </p:nvGrpSpPr>
          <p:grpSpPr>
            <a:xfrm>
              <a:off x="8888012" y="4103158"/>
              <a:ext cx="471157" cy="1107995"/>
              <a:chOff x="3631044" y="5683680"/>
              <a:chExt cx="609151" cy="995134"/>
            </a:xfrm>
          </p:grpSpPr>
          <p:sp>
            <p:nvSpPr>
              <p:cNvPr id="28" name="mux"/>
              <p:cNvSpPr/>
              <p:nvPr/>
            </p:nvSpPr>
            <p:spPr>
              <a:xfrm rot="5400000">
                <a:off x="3424868" y="5889856"/>
                <a:ext cx="995134" cy="582782"/>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dirty="0">
                  <a:latin typeface="Times New Roman" panose="02020603050405020304" pitchFamily="18" charset="0"/>
                  <a:cs typeface="Times New Roman" panose="02020603050405020304" pitchFamily="18" charset="0"/>
                </a:endParaRPr>
              </a:p>
            </p:txBody>
          </p:sp>
          <p:sp>
            <p:nvSpPr>
              <p:cNvPr id="29" name="文本框 28"/>
              <p:cNvSpPr txBox="1"/>
              <p:nvPr/>
            </p:nvSpPr>
            <p:spPr>
              <a:xfrm>
                <a:off x="3688496" y="5726678"/>
                <a:ext cx="551699" cy="912207"/>
              </a:xfrm>
              <a:prstGeom prst="rect">
                <a:avLst/>
              </a:prstGeom>
              <a:noFill/>
              <a:ln w="25400">
                <a:noFill/>
              </a:ln>
            </p:spPr>
            <p:txBody>
              <a:bodyPr wrap="non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r>
                  <a:rPr lang="en-US" altLang="zh-CN" b="1" dirty="0">
                    <a:solidFill>
                      <a:srgbClr val="FF0000"/>
                    </a:solidFill>
                  </a:rPr>
                  <a:t>M</a:t>
                </a:r>
              </a:p>
              <a:p>
                <a:r>
                  <a:rPr lang="en-US" altLang="zh-CN" b="1" dirty="0">
                    <a:solidFill>
                      <a:srgbClr val="FF0000"/>
                    </a:solidFill>
                  </a:rPr>
                  <a:t>U</a:t>
                </a:r>
              </a:p>
              <a:p>
                <a:r>
                  <a:rPr lang="en-US" altLang="zh-CN" b="1" dirty="0">
                    <a:solidFill>
                      <a:srgbClr val="FF0000"/>
                    </a:solidFill>
                  </a:rPr>
                  <a:t>X</a:t>
                </a:r>
                <a:endParaRPr lang="zh-CN" altLang="en-US" b="1" dirty="0">
                  <a:solidFill>
                    <a:srgbClr val="FF0000"/>
                  </a:solidFill>
                </a:endParaRPr>
              </a:p>
            </p:txBody>
          </p:sp>
        </p:grpSp>
        <p:cxnSp>
          <p:nvCxnSpPr>
            <p:cNvPr id="22" name="直接连接符 21"/>
            <p:cNvCxnSpPr/>
            <p:nvPr/>
          </p:nvCxnSpPr>
          <p:spPr bwMode="auto">
            <a:xfrm>
              <a:off x="8416847" y="4242511"/>
              <a:ext cx="464308"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连接符: 肘形 22"/>
            <p:cNvCxnSpPr/>
            <p:nvPr/>
          </p:nvCxnSpPr>
          <p:spPr>
            <a:xfrm flipH="1" flipV="1">
              <a:off x="2160509" y="4267883"/>
              <a:ext cx="7223226" cy="344824"/>
            </a:xfrm>
            <a:prstGeom prst="bentConnector5">
              <a:avLst>
                <a:gd name="adj1" fmla="val -3165"/>
                <a:gd name="adj2" fmla="val -568991"/>
                <a:gd name="adj3" fmla="val 107207"/>
              </a:avLst>
            </a:prstGeom>
            <a:ln w="25400">
              <a:tailEnd type="triangle"/>
            </a:ln>
          </p:spPr>
          <p:style>
            <a:lnRef idx="1">
              <a:schemeClr val="dk1"/>
            </a:lnRef>
            <a:fillRef idx="0">
              <a:schemeClr val="dk1"/>
            </a:fillRef>
            <a:effectRef idx="0">
              <a:schemeClr val="dk1"/>
            </a:effectRef>
            <a:fontRef idx="minor">
              <a:schemeClr val="tx1"/>
            </a:fontRef>
          </p:style>
        </p:cxnSp>
        <p:cxnSp>
          <p:nvCxnSpPr>
            <p:cNvPr id="24" name="直接连接符 23"/>
            <p:cNvCxnSpPr/>
            <p:nvPr/>
          </p:nvCxnSpPr>
          <p:spPr bwMode="auto">
            <a:xfrm>
              <a:off x="1533801" y="3505211"/>
              <a:ext cx="626707"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接连接符 24"/>
            <p:cNvCxnSpPr/>
            <p:nvPr/>
          </p:nvCxnSpPr>
          <p:spPr bwMode="auto">
            <a:xfrm>
              <a:off x="1533800" y="3698383"/>
              <a:ext cx="626707"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25"/>
            <p:cNvCxnSpPr/>
            <p:nvPr/>
          </p:nvCxnSpPr>
          <p:spPr bwMode="auto">
            <a:xfrm>
              <a:off x="1533801" y="3333761"/>
              <a:ext cx="626707"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连接符: 肘形 26"/>
            <p:cNvCxnSpPr/>
            <p:nvPr/>
          </p:nvCxnSpPr>
          <p:spPr>
            <a:xfrm rot="10800000" flipV="1">
              <a:off x="8416650" y="4809706"/>
              <a:ext cx="486000" cy="540000"/>
            </a:xfrm>
            <a:prstGeom prst="bentConnector3">
              <a:avLst>
                <a:gd name="adj1" fmla="val 50000"/>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sp>
        <p:nvSpPr>
          <p:cNvPr id="38" name="标题 2"/>
          <p:cNvSpPr>
            <a:spLocks noGrp="1"/>
          </p:cNvSpPr>
          <p:nvPr>
            <p:ph type="title"/>
          </p:nvPr>
        </p:nvSpPr>
        <p:spPr/>
        <p:txBody>
          <a:bodyPr/>
          <a:lstStyle/>
          <a:p>
            <a:r>
              <a:rPr lang="zh-CN" altLang="en-US" dirty="0"/>
              <a:t>添加前递前</a:t>
            </a:r>
          </a:p>
        </p:txBody>
      </p:sp>
      <p:sp>
        <p:nvSpPr>
          <p:cNvPr id="39" name="灯片编号占位符 3"/>
          <p:cNvSpPr>
            <a:spLocks noGrp="1"/>
          </p:cNvSpPr>
          <p:nvPr>
            <p:ph type="sldNum" sz="quarter" idx="12"/>
          </p:nvPr>
        </p:nvSpPr>
        <p:spPr>
          <a:xfrm>
            <a:off x="8610600" y="6356350"/>
            <a:ext cx="2743200" cy="365125"/>
          </a:xfrm>
        </p:spPr>
        <p:txBody>
          <a:bodyPr/>
          <a:lstStyle/>
          <a:p>
            <a:fld id="{8EE8E787-E6FE-45D8-9039-788B45E44EE7}" type="slidenum">
              <a:rPr lang="zh-CN" altLang="en-US" smtClean="0"/>
              <a:t>54</a:t>
            </a:fld>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8" name="直接箭头连接符 27">
            <a:extLst>
              <a:ext uri="{FF2B5EF4-FFF2-40B4-BE49-F238E27FC236}">
                <a16:creationId xmlns:a16="http://schemas.microsoft.com/office/drawing/2014/main" id="{C3CB3814-7533-FC9F-5E66-3F139E9E7C22}"/>
              </a:ext>
            </a:extLst>
          </p:cNvPr>
          <p:cNvCxnSpPr>
            <a:cxnSpLocks/>
          </p:cNvCxnSpPr>
          <p:nvPr/>
        </p:nvCxnSpPr>
        <p:spPr>
          <a:xfrm flipV="1">
            <a:off x="2952116" y="6011367"/>
            <a:ext cx="2374910" cy="8313"/>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90" name="文本框 189"/>
          <p:cNvSpPr txBox="1"/>
          <p:nvPr/>
        </p:nvSpPr>
        <p:spPr>
          <a:xfrm rot="16200000">
            <a:off x="5392809" y="4242158"/>
            <a:ext cx="912429" cy="307777"/>
          </a:xfrm>
          <a:prstGeom prst="rect">
            <a:avLst/>
          </a:prstGeom>
          <a:noFill/>
        </p:spPr>
        <p:txBody>
          <a:bodyPr wrap="none" rtlCol="0">
            <a:spAutoFit/>
          </a:bodyPr>
          <a:lstStyle/>
          <a:p>
            <a:r>
              <a:rPr lang="en-US" sz="1400" dirty="0" err="1">
                <a:solidFill>
                  <a:srgbClr val="0000FF"/>
                </a:solidFill>
                <a:latin typeface="Times New Roman" panose="02020603050405020304" pitchFamily="18" charset="0"/>
                <a:cs typeface="Times New Roman" panose="02020603050405020304" pitchFamily="18" charset="0"/>
              </a:rPr>
              <a:t>ForwardB</a:t>
            </a:r>
            <a:endParaRPr lang="en-US" sz="1400" dirty="0">
              <a:solidFill>
                <a:srgbClr val="0000FF"/>
              </a:solidFill>
              <a:latin typeface="Times New Roman" panose="02020603050405020304" pitchFamily="18" charset="0"/>
              <a:cs typeface="Times New Roman" panose="02020603050405020304" pitchFamily="18" charset="0"/>
            </a:endParaRPr>
          </a:p>
        </p:txBody>
      </p:sp>
      <p:sp>
        <p:nvSpPr>
          <p:cNvPr id="3" name="灯片编号占位符 2"/>
          <p:cNvSpPr>
            <a:spLocks noGrp="1"/>
          </p:cNvSpPr>
          <p:nvPr>
            <p:ph type="sldNum" sz="quarter" idx="12"/>
          </p:nvPr>
        </p:nvSpPr>
        <p:spPr>
          <a:xfrm>
            <a:off x="9329791" y="6356350"/>
            <a:ext cx="2743200" cy="365125"/>
          </a:xfrm>
        </p:spPr>
        <p:txBody>
          <a:bodyPr/>
          <a:lstStyle/>
          <a:p>
            <a:fld id="{8EE8E787-E6FE-45D8-9039-788B45E44EE7}" type="slidenum">
              <a:rPr lang="zh-CN" altLang="en-US" smtClean="0"/>
              <a:t>55</a:t>
            </a:fld>
            <a:endParaRPr lang="zh-CN" altLang="en-US" dirty="0"/>
          </a:p>
        </p:txBody>
      </p:sp>
      <p:sp>
        <p:nvSpPr>
          <p:cNvPr id="4" name="文本框 3"/>
          <p:cNvSpPr txBox="1"/>
          <p:nvPr/>
        </p:nvSpPr>
        <p:spPr>
          <a:xfrm>
            <a:off x="980224" y="6137339"/>
            <a:ext cx="10027104" cy="523220"/>
          </a:xfrm>
          <a:prstGeom prst="rect">
            <a:avLst/>
          </a:prstGeom>
          <a:solidFill>
            <a:schemeClr val="accent1">
              <a:lumMod val="40000"/>
              <a:lumOff val="60000"/>
            </a:schemeClr>
          </a:solidFill>
          <a:ln>
            <a:solidFill>
              <a:schemeClr val="accent1">
                <a:lumMod val="20000"/>
                <a:lumOff val="80000"/>
              </a:schemeClr>
            </a:solidFill>
          </a:ln>
        </p:spPr>
        <p:txBody>
          <a:bodyPr wrap="none" rtlCol="0">
            <a:spAutoFit/>
          </a:bodyPr>
          <a:lstStyle/>
          <a:p>
            <a:r>
              <a:rPr lang="zh-CN" altLang="en-US" sz="2800" dirty="0"/>
              <a:t>加入前递之后，</a:t>
            </a:r>
            <a:r>
              <a:rPr lang="en-US" altLang="zh-CN" sz="2800" dirty="0"/>
              <a:t>Rs1</a:t>
            </a:r>
            <a:r>
              <a:rPr lang="zh-CN" altLang="en-US" sz="2800" dirty="0"/>
              <a:t>和</a:t>
            </a:r>
            <a:r>
              <a:rPr lang="en-US" altLang="zh-CN" sz="2800" dirty="0"/>
              <a:t>Rs2</a:t>
            </a:r>
            <a:r>
              <a:rPr lang="zh-CN" altLang="en-US" sz="2800" dirty="0"/>
              <a:t>字段也要添加到</a:t>
            </a:r>
            <a:r>
              <a:rPr lang="en-US" altLang="zh-CN" sz="2800" dirty="0"/>
              <a:t>ID/EX</a:t>
            </a:r>
            <a:r>
              <a:rPr lang="zh-CN" altLang="en-US" sz="2800" dirty="0"/>
              <a:t>流水线寄存器中</a:t>
            </a:r>
          </a:p>
        </p:txBody>
      </p:sp>
      <p:sp>
        <p:nvSpPr>
          <p:cNvPr id="7" name="标题 6"/>
          <p:cNvSpPr>
            <a:spLocks noGrp="1"/>
          </p:cNvSpPr>
          <p:nvPr>
            <p:ph type="title"/>
          </p:nvPr>
        </p:nvSpPr>
        <p:spPr/>
        <p:txBody>
          <a:bodyPr/>
          <a:lstStyle/>
          <a:p>
            <a:r>
              <a:rPr lang="zh-CN" altLang="en-US" dirty="0">
                <a:solidFill>
                  <a:srgbClr val="FF0000"/>
                </a:solidFill>
              </a:rPr>
              <a:t>添加前递所需硬件</a:t>
            </a:r>
          </a:p>
        </p:txBody>
      </p:sp>
      <p:sp>
        <p:nvSpPr>
          <p:cNvPr id="2" name="矩形 1"/>
          <p:cNvSpPr/>
          <p:nvPr/>
        </p:nvSpPr>
        <p:spPr>
          <a:xfrm>
            <a:off x="3142616" y="1743075"/>
            <a:ext cx="1108085" cy="1533525"/>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solidFill>
                <a:srgbClr val="FF0000"/>
              </a:solidFill>
              <a:latin typeface="Times New Roman" panose="02020603050405020304" pitchFamily="18" charset="0"/>
              <a:cs typeface="Times New Roman" panose="02020603050405020304" pitchFamily="18" charset="0"/>
            </a:endParaRPr>
          </a:p>
        </p:txBody>
      </p:sp>
      <p:sp>
        <p:nvSpPr>
          <p:cNvPr id="10" name="矩形 9"/>
          <p:cNvSpPr/>
          <p:nvPr/>
        </p:nvSpPr>
        <p:spPr>
          <a:xfrm>
            <a:off x="4565026" y="1532235"/>
            <a:ext cx="277814" cy="3439815"/>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12" name="矩形 11"/>
          <p:cNvSpPr/>
          <p:nvPr/>
        </p:nvSpPr>
        <p:spPr>
          <a:xfrm>
            <a:off x="7355851" y="1532235"/>
            <a:ext cx="277814" cy="3439815"/>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13" name="矩形 12"/>
          <p:cNvSpPr/>
          <p:nvPr/>
        </p:nvSpPr>
        <p:spPr>
          <a:xfrm>
            <a:off x="9346576" y="1532235"/>
            <a:ext cx="277814" cy="3439815"/>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grpSp>
        <p:nvGrpSpPr>
          <p:cNvPr id="17" name="组合 16"/>
          <p:cNvGrpSpPr/>
          <p:nvPr/>
        </p:nvGrpSpPr>
        <p:grpSpPr>
          <a:xfrm>
            <a:off x="5550392" y="1476095"/>
            <a:ext cx="504609" cy="943308"/>
            <a:chOff x="4973300" y="1570335"/>
            <a:chExt cx="412292" cy="845980"/>
          </a:xfrm>
        </p:grpSpPr>
        <p:sp>
          <p:nvSpPr>
            <p:cNvPr id="14" name="流程图: 终止 13"/>
            <p:cNvSpPr/>
            <p:nvPr/>
          </p:nvSpPr>
          <p:spPr>
            <a:xfrm rot="5400000">
              <a:off x="4759326" y="1856085"/>
              <a:ext cx="819150" cy="247650"/>
            </a:xfrm>
            <a:prstGeom prst="flowChartTermina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文本框 15"/>
            <p:cNvSpPr txBox="1"/>
            <p:nvPr/>
          </p:nvSpPr>
          <p:spPr>
            <a:xfrm>
              <a:off x="4973300" y="1629112"/>
              <a:ext cx="412292" cy="787203"/>
            </a:xfrm>
            <a:prstGeom prst="rect">
              <a:avLst/>
            </a:prstGeom>
            <a:noFill/>
          </p:spPr>
          <p:txBody>
            <a:bodyPr wrap="none" rtlCol="0">
              <a:spAutoFit/>
            </a:bodyPr>
            <a:lstStyle/>
            <a:p>
              <a:pPr algn="ctr">
                <a:lnSpc>
                  <a:spcPts val="1800"/>
                </a:lnSpc>
              </a:pPr>
              <a:r>
                <a:rPr lang="en-US" sz="2000"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sz="2000"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sz="2000" dirty="0">
                  <a:solidFill>
                    <a:srgbClr val="FF0000"/>
                  </a:solidFill>
                  <a:latin typeface="Times New Roman" panose="02020603050405020304" pitchFamily="18" charset="0"/>
                  <a:cs typeface="Times New Roman" panose="02020603050405020304" pitchFamily="18" charset="0"/>
                </a:rPr>
                <a:t>X</a:t>
              </a:r>
            </a:p>
          </p:txBody>
        </p:sp>
      </p:grpSp>
      <p:grpSp>
        <p:nvGrpSpPr>
          <p:cNvPr id="19" name="组合 18"/>
          <p:cNvGrpSpPr/>
          <p:nvPr/>
        </p:nvGrpSpPr>
        <p:grpSpPr>
          <a:xfrm>
            <a:off x="10080126" y="2912718"/>
            <a:ext cx="547686" cy="1042077"/>
            <a:chOff x="4962755" y="1570335"/>
            <a:chExt cx="412292" cy="861283"/>
          </a:xfrm>
        </p:grpSpPr>
        <p:sp>
          <p:nvSpPr>
            <p:cNvPr id="20" name="流程图: 终止 19"/>
            <p:cNvSpPr/>
            <p:nvPr/>
          </p:nvSpPr>
          <p:spPr>
            <a:xfrm rot="5400000">
              <a:off x="4759326" y="1856085"/>
              <a:ext cx="819150" cy="247650"/>
            </a:xfrm>
            <a:prstGeom prst="flowChartTermina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文本框 20"/>
            <p:cNvSpPr txBox="1"/>
            <p:nvPr/>
          </p:nvSpPr>
          <p:spPr>
            <a:xfrm>
              <a:off x="4962755" y="1644415"/>
              <a:ext cx="412292" cy="787203"/>
            </a:xfrm>
            <a:prstGeom prst="rect">
              <a:avLst/>
            </a:prstGeom>
            <a:noFill/>
          </p:spPr>
          <p:txBody>
            <a:bodyPr wrap="none" rtlCol="0">
              <a:spAutoFit/>
            </a:bodyPr>
            <a:lstStyle/>
            <a:p>
              <a:pPr algn="ctr">
                <a:lnSpc>
                  <a:spcPts val="1800"/>
                </a:lnSpc>
              </a:pPr>
              <a:r>
                <a:rPr lang="en-US" sz="2000"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sz="2000"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sz="2000" dirty="0">
                  <a:solidFill>
                    <a:srgbClr val="FF0000"/>
                  </a:solidFill>
                  <a:latin typeface="Times New Roman" panose="02020603050405020304" pitchFamily="18" charset="0"/>
                  <a:cs typeface="Times New Roman" panose="02020603050405020304" pitchFamily="18" charset="0"/>
                </a:rPr>
                <a:t>X</a:t>
              </a:r>
            </a:p>
          </p:txBody>
        </p:sp>
      </p:grpSp>
      <p:grpSp>
        <p:nvGrpSpPr>
          <p:cNvPr id="22" name="组合 21"/>
          <p:cNvGrpSpPr/>
          <p:nvPr/>
        </p:nvGrpSpPr>
        <p:grpSpPr>
          <a:xfrm>
            <a:off x="5533766" y="2657273"/>
            <a:ext cx="554922" cy="1004192"/>
            <a:chOff x="4958563" y="1570335"/>
            <a:chExt cx="412292" cy="865460"/>
          </a:xfrm>
        </p:grpSpPr>
        <p:sp>
          <p:nvSpPr>
            <p:cNvPr id="23" name="流程图: 终止 22"/>
            <p:cNvSpPr/>
            <p:nvPr/>
          </p:nvSpPr>
          <p:spPr>
            <a:xfrm rot="5400000">
              <a:off x="4759326" y="1856085"/>
              <a:ext cx="819150" cy="247650"/>
            </a:xfrm>
            <a:prstGeom prst="flowChartTermina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文本框 23"/>
            <p:cNvSpPr txBox="1"/>
            <p:nvPr/>
          </p:nvSpPr>
          <p:spPr>
            <a:xfrm>
              <a:off x="4958563" y="1648592"/>
              <a:ext cx="412292" cy="787203"/>
            </a:xfrm>
            <a:prstGeom prst="rect">
              <a:avLst/>
            </a:prstGeom>
            <a:noFill/>
          </p:spPr>
          <p:txBody>
            <a:bodyPr wrap="none" rtlCol="0">
              <a:spAutoFit/>
            </a:bodyPr>
            <a:lstStyle/>
            <a:p>
              <a:pPr algn="ctr">
                <a:lnSpc>
                  <a:spcPts val="1800"/>
                </a:lnSpc>
              </a:pPr>
              <a:r>
                <a:rPr lang="en-US" sz="2000"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sz="2000"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sz="2000" dirty="0">
                  <a:solidFill>
                    <a:srgbClr val="FF0000"/>
                  </a:solidFill>
                  <a:latin typeface="Times New Roman" panose="02020603050405020304" pitchFamily="18" charset="0"/>
                  <a:cs typeface="Times New Roman" panose="02020603050405020304" pitchFamily="18" charset="0"/>
                </a:rPr>
                <a:t>X</a:t>
              </a:r>
            </a:p>
          </p:txBody>
        </p:sp>
      </p:grpSp>
      <p:grpSp>
        <p:nvGrpSpPr>
          <p:cNvPr id="26" name="组合 25"/>
          <p:cNvGrpSpPr/>
          <p:nvPr/>
        </p:nvGrpSpPr>
        <p:grpSpPr>
          <a:xfrm>
            <a:off x="6260478" y="5040187"/>
            <a:ext cx="1380506" cy="763445"/>
            <a:chOff x="-65463" y="4561662"/>
            <a:chExt cx="941701" cy="588976"/>
          </a:xfrm>
        </p:grpSpPr>
        <p:sp>
          <p:nvSpPr>
            <p:cNvPr id="18" name="流程图: 终止 17"/>
            <p:cNvSpPr/>
            <p:nvPr/>
          </p:nvSpPr>
          <p:spPr>
            <a:xfrm>
              <a:off x="-27422" y="4561662"/>
              <a:ext cx="865622" cy="523220"/>
            </a:xfrm>
            <a:prstGeom prst="flowChartTerminator">
              <a:avLst/>
            </a:prstGeom>
            <a:solidFill>
              <a:schemeClr val="bg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FF"/>
                </a:solidFill>
              </a:endParaRPr>
            </a:p>
          </p:txBody>
        </p:sp>
        <p:sp>
          <p:nvSpPr>
            <p:cNvPr id="25" name="文本框 24"/>
            <p:cNvSpPr txBox="1"/>
            <p:nvPr/>
          </p:nvSpPr>
          <p:spPr>
            <a:xfrm>
              <a:off x="-65463" y="4604524"/>
              <a:ext cx="941701" cy="546114"/>
            </a:xfrm>
            <a:prstGeom prst="rect">
              <a:avLst/>
            </a:prstGeom>
            <a:noFill/>
          </p:spPr>
          <p:txBody>
            <a:bodyPr wrap="none" rtlCol="0">
              <a:spAutoFit/>
            </a:bodyPr>
            <a:lstStyle/>
            <a:p>
              <a:pPr algn="ctr"/>
              <a:r>
                <a:rPr lang="en-US" sz="2000" dirty="0">
                  <a:solidFill>
                    <a:srgbClr val="0000FF"/>
                  </a:solidFill>
                  <a:latin typeface="Times New Roman" panose="02020603050405020304" pitchFamily="18" charset="0"/>
                  <a:cs typeface="Times New Roman" panose="02020603050405020304" pitchFamily="18" charset="0"/>
                </a:rPr>
                <a:t>Forwarding</a:t>
              </a:r>
            </a:p>
            <a:p>
              <a:pPr algn="ctr"/>
              <a:r>
                <a:rPr lang="en-US" sz="2000" dirty="0">
                  <a:solidFill>
                    <a:srgbClr val="0000FF"/>
                  </a:solidFill>
                  <a:latin typeface="Times New Roman" panose="02020603050405020304" pitchFamily="18" charset="0"/>
                  <a:cs typeface="Times New Roman" panose="02020603050405020304" pitchFamily="18" charset="0"/>
                </a:rPr>
                <a:t>unit</a:t>
              </a:r>
            </a:p>
          </p:txBody>
        </p:sp>
      </p:grpSp>
      <p:grpSp>
        <p:nvGrpSpPr>
          <p:cNvPr id="30" name="组合 29"/>
          <p:cNvGrpSpPr/>
          <p:nvPr/>
        </p:nvGrpSpPr>
        <p:grpSpPr>
          <a:xfrm>
            <a:off x="8019517" y="2450445"/>
            <a:ext cx="1095173" cy="1514475"/>
            <a:chOff x="10453549" y="2440920"/>
            <a:chExt cx="1095173" cy="1514475"/>
          </a:xfrm>
        </p:grpSpPr>
        <p:sp>
          <p:nvSpPr>
            <p:cNvPr id="27" name="矩形 26"/>
            <p:cNvSpPr/>
            <p:nvPr/>
          </p:nvSpPr>
          <p:spPr>
            <a:xfrm>
              <a:off x="10567749" y="2440920"/>
              <a:ext cx="866775" cy="1514475"/>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文本框 28"/>
            <p:cNvSpPr txBox="1"/>
            <p:nvPr/>
          </p:nvSpPr>
          <p:spPr>
            <a:xfrm>
              <a:off x="10453549" y="2874991"/>
              <a:ext cx="1095173" cy="707886"/>
            </a:xfrm>
            <a:prstGeom prst="rect">
              <a:avLst/>
            </a:prstGeom>
            <a:noFill/>
          </p:spPr>
          <p:txBody>
            <a:bodyPr wrap="none" rtlCol="0">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Data</a:t>
              </a:r>
            </a:p>
            <a:p>
              <a:pPr algn="ctr"/>
              <a:r>
                <a:rPr lang="en-US" sz="2000" b="1" dirty="0">
                  <a:solidFill>
                    <a:srgbClr val="FF0000"/>
                  </a:solidFill>
                  <a:latin typeface="Times New Roman" panose="02020603050405020304" pitchFamily="18" charset="0"/>
                  <a:cs typeface="Times New Roman" panose="02020603050405020304" pitchFamily="18" charset="0"/>
                </a:rPr>
                <a:t>memory</a:t>
              </a:r>
            </a:p>
          </p:txBody>
        </p:sp>
      </p:grpSp>
      <p:cxnSp>
        <p:nvCxnSpPr>
          <p:cNvPr id="32" name="直接箭头连接符 31"/>
          <p:cNvCxnSpPr/>
          <p:nvPr/>
        </p:nvCxnSpPr>
        <p:spPr>
          <a:xfrm>
            <a:off x="2887148" y="1895475"/>
            <a:ext cx="26193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a:off x="2887148" y="2047875"/>
            <a:ext cx="26193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2887148" y="2200275"/>
            <a:ext cx="26193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连接符 46"/>
          <p:cNvCxnSpPr>
            <a:cxnSpLocks/>
          </p:cNvCxnSpPr>
          <p:nvPr/>
        </p:nvCxnSpPr>
        <p:spPr>
          <a:xfrm flipH="1">
            <a:off x="5327026" y="6019680"/>
            <a:ext cx="5370644" cy="0"/>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V="1">
            <a:off x="2952116" y="2999085"/>
            <a:ext cx="0" cy="302059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a:off x="2952116" y="2999085"/>
            <a:ext cx="19697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a:off x="4250701" y="2028825"/>
            <a:ext cx="31432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a:off x="4241176" y="3009900"/>
            <a:ext cx="31432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V="1">
            <a:off x="5327026" y="1979910"/>
            <a:ext cx="0" cy="4039770"/>
          </a:xfrm>
          <a:prstGeom prst="line">
            <a:avLst/>
          </a:prstGeom>
          <a:ln w="25400">
            <a:solidFill>
              <a:schemeClr val="accent5">
                <a:lumMod val="75000"/>
              </a:schemeClr>
            </a:solidFill>
            <a:headEnd type="oval"/>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a:off x="5327026" y="1990725"/>
            <a:ext cx="292101" cy="0"/>
          </a:xfrm>
          <a:prstGeom prst="straightConnector1">
            <a:avLst/>
          </a:prstGeom>
          <a:ln w="254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313" name="直接箭头连接符 13312"/>
          <p:cNvCxnSpPr/>
          <p:nvPr/>
        </p:nvCxnSpPr>
        <p:spPr>
          <a:xfrm>
            <a:off x="4842840" y="2999085"/>
            <a:ext cx="776287"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15" name="直接箭头连接符 13314"/>
          <p:cNvCxnSpPr/>
          <p:nvPr/>
        </p:nvCxnSpPr>
        <p:spPr>
          <a:xfrm>
            <a:off x="5327026" y="3276600"/>
            <a:ext cx="292101" cy="0"/>
          </a:xfrm>
          <a:prstGeom prst="straightConnector1">
            <a:avLst/>
          </a:prstGeom>
          <a:ln w="25400">
            <a:solidFill>
              <a:schemeClr val="accent5">
                <a:lumMod val="75000"/>
              </a:schemeClr>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3318" name="直接箭头连接符 13317"/>
          <p:cNvCxnSpPr/>
          <p:nvPr/>
        </p:nvCxnSpPr>
        <p:spPr>
          <a:xfrm>
            <a:off x="5460376" y="3530847"/>
            <a:ext cx="158751" cy="0"/>
          </a:xfrm>
          <a:prstGeom prst="straightConnector1">
            <a:avLst/>
          </a:prstGeom>
          <a:ln w="25400">
            <a:solidFill>
              <a:srgbClr val="FFC000"/>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3322" name="直接连接符 13321"/>
          <p:cNvCxnSpPr/>
          <p:nvPr/>
        </p:nvCxnSpPr>
        <p:spPr>
          <a:xfrm>
            <a:off x="5473076" y="2200275"/>
            <a:ext cx="0" cy="3581400"/>
          </a:xfrm>
          <a:prstGeom prst="line">
            <a:avLst/>
          </a:prstGeom>
          <a:ln w="25400">
            <a:solidFill>
              <a:srgbClr val="FFC000"/>
            </a:solidFill>
          </a:ln>
        </p:spPr>
        <p:style>
          <a:lnRef idx="1">
            <a:schemeClr val="dk1"/>
          </a:lnRef>
          <a:fillRef idx="0">
            <a:schemeClr val="dk1"/>
          </a:fillRef>
          <a:effectRef idx="0">
            <a:schemeClr val="dk1"/>
          </a:effectRef>
          <a:fontRef idx="minor">
            <a:schemeClr val="tx1"/>
          </a:fontRef>
        </p:style>
      </p:cxnSp>
      <p:cxnSp>
        <p:nvCxnSpPr>
          <p:cNvPr id="13324" name="直接连接符 13323"/>
          <p:cNvCxnSpPr/>
          <p:nvPr/>
        </p:nvCxnSpPr>
        <p:spPr>
          <a:xfrm>
            <a:off x="5473076" y="5781675"/>
            <a:ext cx="2397125"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326" name="直接连接符 13325"/>
          <p:cNvCxnSpPr/>
          <p:nvPr/>
        </p:nvCxnSpPr>
        <p:spPr>
          <a:xfrm>
            <a:off x="7870201" y="2552532"/>
            <a:ext cx="0" cy="3229143"/>
          </a:xfrm>
          <a:prstGeom prst="line">
            <a:avLst/>
          </a:prstGeom>
          <a:ln w="25400">
            <a:solidFill>
              <a:srgbClr val="FFC000"/>
            </a:solidFill>
            <a:headEnd type="oval"/>
          </a:ln>
        </p:spPr>
        <p:style>
          <a:lnRef idx="1">
            <a:schemeClr val="accent1"/>
          </a:lnRef>
          <a:fillRef idx="0">
            <a:schemeClr val="accent1"/>
          </a:fillRef>
          <a:effectRef idx="0">
            <a:schemeClr val="accent1"/>
          </a:effectRef>
          <a:fontRef idx="minor">
            <a:schemeClr val="tx1"/>
          </a:fontRef>
        </p:style>
      </p:cxnSp>
      <p:cxnSp>
        <p:nvCxnSpPr>
          <p:cNvPr id="13328" name="直接连接符 13327"/>
          <p:cNvCxnSpPr/>
          <p:nvPr/>
        </p:nvCxnSpPr>
        <p:spPr>
          <a:xfrm>
            <a:off x="4842840" y="4438650"/>
            <a:ext cx="35956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30" name="直接连接符 13329"/>
          <p:cNvCxnSpPr/>
          <p:nvPr/>
        </p:nvCxnSpPr>
        <p:spPr>
          <a:xfrm>
            <a:off x="4842840" y="4623682"/>
            <a:ext cx="20796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32" name="直接连接符 13331"/>
          <p:cNvCxnSpPr/>
          <p:nvPr/>
        </p:nvCxnSpPr>
        <p:spPr>
          <a:xfrm flipH="1">
            <a:off x="5036067" y="4623682"/>
            <a:ext cx="844" cy="93315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34" name="直接连接符 13333"/>
          <p:cNvCxnSpPr/>
          <p:nvPr/>
        </p:nvCxnSpPr>
        <p:spPr>
          <a:xfrm>
            <a:off x="5192883" y="4438650"/>
            <a:ext cx="0" cy="89421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36" name="直接箭头连接符 13335"/>
          <p:cNvCxnSpPr/>
          <p:nvPr/>
        </p:nvCxnSpPr>
        <p:spPr>
          <a:xfrm>
            <a:off x="4842840" y="4794061"/>
            <a:ext cx="251301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38" name="直接箭头连接符 13337"/>
          <p:cNvCxnSpPr/>
          <p:nvPr/>
        </p:nvCxnSpPr>
        <p:spPr>
          <a:xfrm>
            <a:off x="5941341" y="1960872"/>
            <a:ext cx="666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40" name="直接箭头连接符 13339"/>
          <p:cNvCxnSpPr/>
          <p:nvPr/>
        </p:nvCxnSpPr>
        <p:spPr>
          <a:xfrm>
            <a:off x="5983531" y="3184347"/>
            <a:ext cx="638895" cy="214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45" name="直接箭头连接符 13344"/>
          <p:cNvCxnSpPr/>
          <p:nvPr/>
        </p:nvCxnSpPr>
        <p:spPr>
          <a:xfrm>
            <a:off x="5036911" y="5545515"/>
            <a:ext cx="126241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49" name="直接箭头连接符 13348"/>
          <p:cNvCxnSpPr/>
          <p:nvPr/>
        </p:nvCxnSpPr>
        <p:spPr>
          <a:xfrm>
            <a:off x="5183358" y="5332860"/>
            <a:ext cx="111596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54" name="直接箭头连接符 13353"/>
          <p:cNvCxnSpPr/>
          <p:nvPr/>
        </p:nvCxnSpPr>
        <p:spPr>
          <a:xfrm>
            <a:off x="4842840" y="1743075"/>
            <a:ext cx="776287"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57" name="直接箭头连接符 13356"/>
          <p:cNvCxnSpPr/>
          <p:nvPr/>
        </p:nvCxnSpPr>
        <p:spPr>
          <a:xfrm>
            <a:off x="5473076" y="2200275"/>
            <a:ext cx="146051" cy="0"/>
          </a:xfrm>
          <a:prstGeom prst="straightConnector1">
            <a:avLst/>
          </a:prstGeom>
          <a:ln w="254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3360" name="梯形 13359"/>
          <p:cNvSpPr/>
          <p:nvPr/>
        </p:nvSpPr>
        <p:spPr>
          <a:xfrm rot="5400000">
            <a:off x="5973739" y="2308670"/>
            <a:ext cx="1781175" cy="487722"/>
          </a:xfrm>
          <a:prstGeom prst="trapezoid">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3362" name="直接箭头连接符 13361"/>
          <p:cNvCxnSpPr>
            <a:stCxn id="13360" idx="0"/>
          </p:cNvCxnSpPr>
          <p:nvPr/>
        </p:nvCxnSpPr>
        <p:spPr>
          <a:xfrm>
            <a:off x="7108188" y="2552532"/>
            <a:ext cx="24766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364" name="文本框 13363"/>
          <p:cNvSpPr txBox="1"/>
          <p:nvPr/>
        </p:nvSpPr>
        <p:spPr>
          <a:xfrm>
            <a:off x="6678683" y="2101766"/>
            <a:ext cx="370614" cy="1015663"/>
          </a:xfrm>
          <a:prstGeom prst="rect">
            <a:avLst/>
          </a:prstGeom>
          <a:noFill/>
        </p:spPr>
        <p:txBody>
          <a:bodyPr wrap="none" rtlCol="0">
            <a:spAutoFit/>
          </a:bodyPr>
          <a:lstStyle/>
          <a:p>
            <a:r>
              <a:rPr lang="en-US" sz="2000" b="1" dirty="0">
                <a:solidFill>
                  <a:srgbClr val="FF0000"/>
                </a:solidFill>
                <a:latin typeface="Times New Roman" panose="02020603050405020304" pitchFamily="18" charset="0"/>
                <a:cs typeface="Times New Roman" panose="02020603050405020304" pitchFamily="18" charset="0"/>
              </a:rPr>
              <a:t>A</a:t>
            </a:r>
          </a:p>
          <a:p>
            <a:r>
              <a:rPr lang="en-US" sz="2000" b="1" dirty="0">
                <a:solidFill>
                  <a:srgbClr val="FF0000"/>
                </a:solidFill>
                <a:latin typeface="Times New Roman" panose="02020603050405020304" pitchFamily="18" charset="0"/>
                <a:cs typeface="Times New Roman" panose="02020603050405020304" pitchFamily="18" charset="0"/>
              </a:rPr>
              <a:t>L</a:t>
            </a:r>
          </a:p>
          <a:p>
            <a:r>
              <a:rPr lang="en-US" sz="2000" b="1" dirty="0">
                <a:solidFill>
                  <a:srgbClr val="FF0000"/>
                </a:solidFill>
                <a:latin typeface="Times New Roman" panose="02020603050405020304" pitchFamily="18" charset="0"/>
                <a:cs typeface="Times New Roman" panose="02020603050405020304" pitchFamily="18" charset="0"/>
              </a:rPr>
              <a:t>U</a:t>
            </a:r>
            <a:endParaRPr lang="en-US" sz="1600" b="1" dirty="0">
              <a:solidFill>
                <a:srgbClr val="FF0000"/>
              </a:solidFill>
              <a:latin typeface="Times New Roman" panose="02020603050405020304" pitchFamily="18" charset="0"/>
              <a:cs typeface="Times New Roman" panose="02020603050405020304" pitchFamily="18" charset="0"/>
            </a:endParaRPr>
          </a:p>
        </p:txBody>
      </p:sp>
      <p:cxnSp>
        <p:nvCxnSpPr>
          <p:cNvPr id="13366" name="直接连接符 13365"/>
          <p:cNvCxnSpPr/>
          <p:nvPr/>
        </p:nvCxnSpPr>
        <p:spPr>
          <a:xfrm>
            <a:off x="6366502" y="3186490"/>
            <a:ext cx="0" cy="587930"/>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3368" name="直接箭头连接符 13367"/>
          <p:cNvCxnSpPr/>
          <p:nvPr/>
        </p:nvCxnSpPr>
        <p:spPr>
          <a:xfrm>
            <a:off x="6366502" y="3774420"/>
            <a:ext cx="98934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71" name="直接箭头连接符 13370"/>
          <p:cNvCxnSpPr/>
          <p:nvPr/>
        </p:nvCxnSpPr>
        <p:spPr>
          <a:xfrm flipV="1">
            <a:off x="5816870" y="3617259"/>
            <a:ext cx="0" cy="347661"/>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3373" name="直接连接符 13372"/>
          <p:cNvCxnSpPr/>
          <p:nvPr/>
        </p:nvCxnSpPr>
        <p:spPr>
          <a:xfrm>
            <a:off x="5744105" y="2612370"/>
            <a:ext cx="440171"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3376" name="直接连接符 13375"/>
          <p:cNvCxnSpPr/>
          <p:nvPr/>
        </p:nvCxnSpPr>
        <p:spPr>
          <a:xfrm>
            <a:off x="5993776" y="3964920"/>
            <a:ext cx="0" cy="124525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3378" name="直接连接符 13377"/>
          <p:cNvCxnSpPr/>
          <p:nvPr/>
        </p:nvCxnSpPr>
        <p:spPr>
          <a:xfrm>
            <a:off x="5993776" y="5200650"/>
            <a:ext cx="305546"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31" name="直接箭头连接符 130"/>
          <p:cNvCxnSpPr/>
          <p:nvPr/>
        </p:nvCxnSpPr>
        <p:spPr>
          <a:xfrm flipV="1">
            <a:off x="5744105" y="2398059"/>
            <a:ext cx="1" cy="212536"/>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a:off x="5816870" y="3964920"/>
            <a:ext cx="176906"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3383" name="直接连接符 13382"/>
          <p:cNvCxnSpPr/>
          <p:nvPr/>
        </p:nvCxnSpPr>
        <p:spPr>
          <a:xfrm>
            <a:off x="6184276" y="2610595"/>
            <a:ext cx="0" cy="246065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3385" name="直接连接符 13384"/>
          <p:cNvCxnSpPr/>
          <p:nvPr/>
        </p:nvCxnSpPr>
        <p:spPr>
          <a:xfrm>
            <a:off x="6184276" y="5071250"/>
            <a:ext cx="182226"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3387" name="直接箭头连接符 13386"/>
          <p:cNvCxnSpPr/>
          <p:nvPr/>
        </p:nvCxnSpPr>
        <p:spPr>
          <a:xfrm>
            <a:off x="7633665" y="2552700"/>
            <a:ext cx="50005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91" name="直接箭头连接符 13390"/>
          <p:cNvCxnSpPr/>
          <p:nvPr/>
        </p:nvCxnSpPr>
        <p:spPr>
          <a:xfrm>
            <a:off x="7633665" y="3774420"/>
            <a:ext cx="50005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95" name="直接箭头连接符 13394"/>
          <p:cNvCxnSpPr/>
          <p:nvPr/>
        </p:nvCxnSpPr>
        <p:spPr>
          <a:xfrm>
            <a:off x="9000492" y="3184347"/>
            <a:ext cx="34608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99" name="直接箭头连接符 13398"/>
          <p:cNvCxnSpPr/>
          <p:nvPr/>
        </p:nvCxnSpPr>
        <p:spPr>
          <a:xfrm>
            <a:off x="7881328" y="4326979"/>
            <a:ext cx="146524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401" name="直接箭头连接符 13400"/>
          <p:cNvCxnSpPr/>
          <p:nvPr/>
        </p:nvCxnSpPr>
        <p:spPr>
          <a:xfrm>
            <a:off x="7633665" y="4794061"/>
            <a:ext cx="171291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403" name="直接连接符 13402"/>
          <p:cNvCxnSpPr/>
          <p:nvPr/>
        </p:nvCxnSpPr>
        <p:spPr>
          <a:xfrm>
            <a:off x="7803526" y="4794061"/>
            <a:ext cx="0" cy="416114"/>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3405" name="直接箭头连接符 13404"/>
          <p:cNvCxnSpPr/>
          <p:nvPr/>
        </p:nvCxnSpPr>
        <p:spPr>
          <a:xfrm flipH="1">
            <a:off x="7585222" y="5210175"/>
            <a:ext cx="2183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407" name="直接连接符 13406"/>
          <p:cNvCxnSpPr/>
          <p:nvPr/>
        </p:nvCxnSpPr>
        <p:spPr>
          <a:xfrm>
            <a:off x="9624390" y="4794061"/>
            <a:ext cx="21748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09" name="直接连接符 13408"/>
          <p:cNvCxnSpPr/>
          <p:nvPr/>
        </p:nvCxnSpPr>
        <p:spPr>
          <a:xfrm>
            <a:off x="9841876" y="4794061"/>
            <a:ext cx="0" cy="72287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11" name="直接箭头连接符 13410"/>
          <p:cNvCxnSpPr/>
          <p:nvPr/>
        </p:nvCxnSpPr>
        <p:spPr>
          <a:xfrm flipH="1">
            <a:off x="7585222" y="5516940"/>
            <a:ext cx="225665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416" name="直接箭头连接符 13415"/>
          <p:cNvCxnSpPr/>
          <p:nvPr/>
        </p:nvCxnSpPr>
        <p:spPr>
          <a:xfrm flipV="1">
            <a:off x="9624390" y="3184584"/>
            <a:ext cx="547687" cy="8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418" name="直接连接符 13417"/>
          <p:cNvCxnSpPr/>
          <p:nvPr/>
        </p:nvCxnSpPr>
        <p:spPr>
          <a:xfrm>
            <a:off x="9624390" y="4326979"/>
            <a:ext cx="21748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20" name="直接连接符 13419"/>
          <p:cNvCxnSpPr/>
          <p:nvPr/>
        </p:nvCxnSpPr>
        <p:spPr>
          <a:xfrm flipV="1">
            <a:off x="9841876" y="3607733"/>
            <a:ext cx="0" cy="71924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22" name="直接箭头连接符 13421"/>
          <p:cNvCxnSpPr/>
          <p:nvPr/>
        </p:nvCxnSpPr>
        <p:spPr>
          <a:xfrm>
            <a:off x="9841876" y="3607733"/>
            <a:ext cx="33020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429" name="直接连接符 13428"/>
          <p:cNvCxnSpPr/>
          <p:nvPr/>
        </p:nvCxnSpPr>
        <p:spPr>
          <a:xfrm flipH="1">
            <a:off x="10519406" y="3396992"/>
            <a:ext cx="17826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433" name="文本框 13432"/>
          <p:cNvSpPr txBox="1"/>
          <p:nvPr/>
        </p:nvSpPr>
        <p:spPr>
          <a:xfrm>
            <a:off x="7788091" y="4503386"/>
            <a:ext cx="1757212" cy="307777"/>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EX/</a:t>
            </a:r>
            <a:r>
              <a:rPr lang="en-US" sz="1400" dirty="0" err="1">
                <a:latin typeface="Times New Roman" panose="02020603050405020304" pitchFamily="18" charset="0"/>
                <a:cs typeface="Times New Roman" panose="02020603050405020304" pitchFamily="18" charset="0"/>
              </a:rPr>
              <a:t>MEM.RegisterRd</a:t>
            </a:r>
            <a:endParaRPr lang="en-US" sz="1400" dirty="0">
              <a:latin typeface="Times New Roman" panose="02020603050405020304" pitchFamily="18" charset="0"/>
              <a:cs typeface="Times New Roman" panose="02020603050405020304" pitchFamily="18" charset="0"/>
            </a:endParaRPr>
          </a:p>
        </p:txBody>
      </p:sp>
      <p:sp>
        <p:nvSpPr>
          <p:cNvPr id="188" name="文本框 187"/>
          <p:cNvSpPr txBox="1"/>
          <p:nvPr/>
        </p:nvSpPr>
        <p:spPr>
          <a:xfrm>
            <a:off x="7851151" y="5227286"/>
            <a:ext cx="2039341" cy="338554"/>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MEM/</a:t>
            </a:r>
            <a:r>
              <a:rPr lang="en-US" sz="1600" dirty="0" err="1">
                <a:latin typeface="Times New Roman" panose="02020603050405020304" pitchFamily="18" charset="0"/>
                <a:cs typeface="Times New Roman" panose="02020603050405020304" pitchFamily="18" charset="0"/>
              </a:rPr>
              <a:t>WB.RegisterRd</a:t>
            </a:r>
            <a:endParaRPr lang="en-US" sz="1600" dirty="0">
              <a:latin typeface="Times New Roman" panose="02020603050405020304" pitchFamily="18" charset="0"/>
              <a:cs typeface="Times New Roman" panose="02020603050405020304" pitchFamily="18" charset="0"/>
            </a:endParaRPr>
          </a:p>
        </p:txBody>
      </p:sp>
      <p:sp>
        <p:nvSpPr>
          <p:cNvPr id="189" name="文本框 188"/>
          <p:cNvSpPr txBox="1"/>
          <p:nvPr/>
        </p:nvSpPr>
        <p:spPr>
          <a:xfrm>
            <a:off x="5690572" y="2310146"/>
            <a:ext cx="1027845" cy="338554"/>
          </a:xfrm>
          <a:prstGeom prst="rect">
            <a:avLst/>
          </a:prstGeom>
          <a:noFill/>
        </p:spPr>
        <p:txBody>
          <a:bodyPr wrap="none" rtlCol="0">
            <a:spAutoFit/>
          </a:bodyPr>
          <a:lstStyle/>
          <a:p>
            <a:r>
              <a:rPr lang="en-US" sz="1600" dirty="0" err="1">
                <a:solidFill>
                  <a:srgbClr val="0000FF"/>
                </a:solidFill>
                <a:latin typeface="Times New Roman" panose="02020603050405020304" pitchFamily="18" charset="0"/>
                <a:cs typeface="Times New Roman" panose="02020603050405020304" pitchFamily="18" charset="0"/>
              </a:rPr>
              <a:t>ForwardA</a:t>
            </a:r>
            <a:endParaRPr lang="en-US" sz="1600" dirty="0">
              <a:solidFill>
                <a:srgbClr val="0000FF"/>
              </a:solidFill>
              <a:latin typeface="Times New Roman" panose="02020603050405020304" pitchFamily="18" charset="0"/>
              <a:cs typeface="Times New Roman" panose="02020603050405020304" pitchFamily="18" charset="0"/>
            </a:endParaRPr>
          </a:p>
        </p:txBody>
      </p:sp>
      <p:sp>
        <p:nvSpPr>
          <p:cNvPr id="191" name="文本框 190"/>
          <p:cNvSpPr txBox="1"/>
          <p:nvPr/>
        </p:nvSpPr>
        <p:spPr>
          <a:xfrm>
            <a:off x="4062861" y="4141156"/>
            <a:ext cx="583814"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Rs1</a:t>
            </a:r>
          </a:p>
        </p:txBody>
      </p:sp>
      <p:sp>
        <p:nvSpPr>
          <p:cNvPr id="192" name="文本框 191"/>
          <p:cNvSpPr txBox="1"/>
          <p:nvPr/>
        </p:nvSpPr>
        <p:spPr>
          <a:xfrm>
            <a:off x="4058465" y="4404943"/>
            <a:ext cx="583814"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Rs2</a:t>
            </a:r>
          </a:p>
        </p:txBody>
      </p:sp>
      <p:sp>
        <p:nvSpPr>
          <p:cNvPr id="193" name="文本框 192"/>
          <p:cNvSpPr txBox="1"/>
          <p:nvPr/>
        </p:nvSpPr>
        <p:spPr>
          <a:xfrm>
            <a:off x="4069452" y="4650541"/>
            <a:ext cx="484428"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Rd</a:t>
            </a:r>
          </a:p>
        </p:txBody>
      </p:sp>
      <p:cxnSp>
        <p:nvCxnSpPr>
          <p:cNvPr id="13436" name="直接连接符 13435"/>
          <p:cNvCxnSpPr/>
          <p:nvPr/>
        </p:nvCxnSpPr>
        <p:spPr>
          <a:xfrm>
            <a:off x="10697670" y="3388679"/>
            <a:ext cx="0" cy="2622688"/>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3438" name="文本框 13437"/>
          <p:cNvSpPr txBox="1"/>
          <p:nvPr/>
        </p:nvSpPr>
        <p:spPr>
          <a:xfrm>
            <a:off x="4268603" y="1199506"/>
            <a:ext cx="869149"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ID/EX</a:t>
            </a:r>
          </a:p>
        </p:txBody>
      </p:sp>
      <p:sp>
        <p:nvSpPr>
          <p:cNvPr id="199" name="文本框 198"/>
          <p:cNvSpPr txBox="1"/>
          <p:nvPr/>
        </p:nvSpPr>
        <p:spPr>
          <a:xfrm>
            <a:off x="6953153" y="1201629"/>
            <a:ext cx="1210588"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EX/MEM</a:t>
            </a:r>
          </a:p>
        </p:txBody>
      </p:sp>
      <p:sp>
        <p:nvSpPr>
          <p:cNvPr id="200" name="文本框 199"/>
          <p:cNvSpPr txBox="1"/>
          <p:nvPr/>
        </p:nvSpPr>
        <p:spPr>
          <a:xfrm>
            <a:off x="8925357" y="1201407"/>
            <a:ext cx="1281120" cy="40011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MEM/WB</a:t>
            </a:r>
          </a:p>
        </p:txBody>
      </p:sp>
      <p:sp>
        <p:nvSpPr>
          <p:cNvPr id="6" name="文本框 5"/>
          <p:cNvSpPr txBox="1"/>
          <p:nvPr/>
        </p:nvSpPr>
        <p:spPr>
          <a:xfrm>
            <a:off x="3121501" y="2309782"/>
            <a:ext cx="1194558" cy="400110"/>
          </a:xfrm>
          <a:prstGeom prst="rect">
            <a:avLst/>
          </a:prstGeom>
          <a:noFill/>
        </p:spPr>
        <p:txBody>
          <a:bodyPr wrap="none" rtlCol="0">
            <a:spAutoFit/>
          </a:bodyPr>
          <a:lstStyle/>
          <a:p>
            <a:r>
              <a:rPr lang="en-US" altLang="zh-CN" sz="2000" b="1" dirty="0">
                <a:solidFill>
                  <a:srgbClr val="FF0000"/>
                </a:solidFill>
                <a:latin typeface="Times New Roman" panose="02020603050405020304" pitchFamily="18" charset="0"/>
                <a:cs typeface="Times New Roman" panose="02020603050405020304" pitchFamily="18" charset="0"/>
              </a:rPr>
              <a:t>Registers</a:t>
            </a:r>
            <a:endParaRPr lang="zh-CN" altLang="en-US" sz="2000" dirty="0"/>
          </a:p>
        </p:txBody>
      </p:sp>
      <p:pic>
        <p:nvPicPr>
          <p:cNvPr id="5" name="图片 4"/>
          <p:cNvPicPr>
            <a:picLocks noChangeAspect="1"/>
          </p:cNvPicPr>
          <p:nvPr/>
        </p:nvPicPr>
        <p:blipFill>
          <a:blip r:embed="rId3"/>
          <a:stretch>
            <a:fillRect/>
          </a:stretch>
        </p:blipFill>
        <p:spPr>
          <a:xfrm>
            <a:off x="128842" y="95250"/>
            <a:ext cx="2956926" cy="1637018"/>
          </a:xfrm>
          <a:prstGeom prst="rect">
            <a:avLst/>
          </a:prstGeom>
          <a:ln w="28575"/>
        </p:spPr>
        <p:style>
          <a:lnRef idx="2">
            <a:schemeClr val="accent5"/>
          </a:lnRef>
          <a:fillRef idx="1">
            <a:schemeClr val="lt1"/>
          </a:fillRef>
          <a:effectRef idx="0">
            <a:schemeClr val="accent5"/>
          </a:effectRef>
          <a:fontRef idx="minor">
            <a:schemeClr val="dk1"/>
          </a:fontRef>
        </p:style>
      </p:pic>
      <p:sp>
        <p:nvSpPr>
          <p:cNvPr id="8" name="矩形 7"/>
          <p:cNvSpPr/>
          <p:nvPr/>
        </p:nvSpPr>
        <p:spPr>
          <a:xfrm>
            <a:off x="94390" y="2446361"/>
            <a:ext cx="2542925" cy="2400657"/>
          </a:xfrm>
          <a:prstGeom prst="rect">
            <a:avLst/>
          </a:prstGeom>
          <a:ln w="28575"/>
        </p:spPr>
        <p:style>
          <a:lnRef idx="2">
            <a:schemeClr val="accent5"/>
          </a:lnRef>
          <a:fillRef idx="1">
            <a:schemeClr val="lt1"/>
          </a:fillRef>
          <a:effectRef idx="0">
            <a:schemeClr val="accent5"/>
          </a:effectRef>
          <a:fontRef idx="minor">
            <a:schemeClr val="dk1"/>
          </a:fontRef>
        </p:style>
        <p:txBody>
          <a:bodyPr wrap="square">
            <a:spAutoFit/>
          </a:bodyPr>
          <a:lstStyle/>
          <a:p>
            <a:pPr marL="0" lvl="1">
              <a:lnSpc>
                <a:spcPct val="120000"/>
              </a:lnSpc>
            </a:pPr>
            <a:r>
              <a:rPr lang="en-AU" altLang="en-US" sz="2500" dirty="0">
                <a:latin typeface="Times New Roman" panose="02020603050405020304" pitchFamily="18" charset="0"/>
                <a:cs typeface="Times New Roman" panose="02020603050405020304" pitchFamily="18" charset="0"/>
              </a:rPr>
              <a:t>sub  </a:t>
            </a:r>
            <a:r>
              <a:rPr lang="en-AU" altLang="en-US" sz="2500" dirty="0">
                <a:solidFill>
                  <a:schemeClr val="hlink"/>
                </a:solidFill>
                <a:latin typeface="Times New Roman" panose="02020603050405020304" pitchFamily="18" charset="0"/>
                <a:cs typeface="Times New Roman" panose="02020603050405020304" pitchFamily="18" charset="0"/>
              </a:rPr>
              <a:t>x2</a:t>
            </a:r>
            <a:r>
              <a:rPr lang="en-AU" altLang="en-US" sz="2500" dirty="0">
                <a:latin typeface="Times New Roman" panose="02020603050405020304" pitchFamily="18" charset="0"/>
                <a:cs typeface="Times New Roman" panose="02020603050405020304" pitchFamily="18" charset="0"/>
              </a:rPr>
              <a:t>,   x1, x3</a:t>
            </a:r>
            <a:br>
              <a:rPr lang="en-AU" altLang="en-US" sz="2500" dirty="0">
                <a:latin typeface="Times New Roman" panose="02020603050405020304" pitchFamily="18" charset="0"/>
                <a:cs typeface="Times New Roman" panose="02020603050405020304" pitchFamily="18" charset="0"/>
              </a:rPr>
            </a:br>
            <a:r>
              <a:rPr lang="en-AU" altLang="en-US" sz="2500" dirty="0">
                <a:latin typeface="Times New Roman" panose="02020603050405020304" pitchFamily="18" charset="0"/>
                <a:cs typeface="Times New Roman" panose="02020603050405020304" pitchFamily="18" charset="0"/>
              </a:rPr>
              <a:t>and  x12, </a:t>
            </a:r>
            <a:r>
              <a:rPr lang="en-AU" altLang="en-US" sz="2500" dirty="0">
                <a:solidFill>
                  <a:schemeClr val="hlink"/>
                </a:solidFill>
                <a:latin typeface="Times New Roman" panose="02020603050405020304" pitchFamily="18" charset="0"/>
                <a:cs typeface="Times New Roman" panose="02020603050405020304" pitchFamily="18" charset="0"/>
              </a:rPr>
              <a:t>x2</a:t>
            </a:r>
            <a:r>
              <a:rPr lang="en-AU" altLang="en-US" sz="2500" dirty="0">
                <a:latin typeface="Times New Roman" panose="02020603050405020304" pitchFamily="18" charset="0"/>
                <a:cs typeface="Times New Roman" panose="02020603050405020304" pitchFamily="18" charset="0"/>
              </a:rPr>
              <a:t>, x5</a:t>
            </a:r>
            <a:br>
              <a:rPr lang="en-AU" altLang="en-US" sz="2500" dirty="0">
                <a:latin typeface="Times New Roman" panose="02020603050405020304" pitchFamily="18" charset="0"/>
                <a:cs typeface="Times New Roman" panose="02020603050405020304" pitchFamily="18" charset="0"/>
              </a:rPr>
            </a:br>
            <a:r>
              <a:rPr lang="en-AU" altLang="en-US" sz="2500" dirty="0">
                <a:latin typeface="Times New Roman" panose="02020603050405020304" pitchFamily="18" charset="0"/>
                <a:cs typeface="Times New Roman" panose="02020603050405020304" pitchFamily="18" charset="0"/>
              </a:rPr>
              <a:t>or    x13, x6,  </a:t>
            </a:r>
            <a:r>
              <a:rPr lang="en-AU" altLang="en-US" sz="2500" dirty="0">
                <a:solidFill>
                  <a:schemeClr val="hlink"/>
                </a:solidFill>
                <a:latin typeface="Times New Roman" panose="02020603050405020304" pitchFamily="18" charset="0"/>
                <a:cs typeface="Times New Roman" panose="02020603050405020304" pitchFamily="18" charset="0"/>
              </a:rPr>
              <a:t>x2</a:t>
            </a:r>
            <a:br>
              <a:rPr lang="en-AU" altLang="en-US" sz="2500" dirty="0">
                <a:latin typeface="Times New Roman" panose="02020603050405020304" pitchFamily="18" charset="0"/>
                <a:cs typeface="Times New Roman" panose="02020603050405020304" pitchFamily="18" charset="0"/>
              </a:rPr>
            </a:br>
            <a:r>
              <a:rPr lang="en-AU" altLang="en-US" sz="2500" dirty="0">
                <a:latin typeface="Times New Roman" panose="02020603050405020304" pitchFamily="18" charset="0"/>
                <a:cs typeface="Times New Roman" panose="02020603050405020304" pitchFamily="18" charset="0"/>
              </a:rPr>
              <a:t>add  x14, </a:t>
            </a:r>
            <a:r>
              <a:rPr lang="en-AU" altLang="en-US" sz="2500" dirty="0">
                <a:solidFill>
                  <a:schemeClr val="hlink"/>
                </a:solidFill>
                <a:latin typeface="Times New Roman" panose="02020603050405020304" pitchFamily="18" charset="0"/>
                <a:cs typeface="Times New Roman" panose="02020603050405020304" pitchFamily="18" charset="0"/>
              </a:rPr>
              <a:t>x2</a:t>
            </a:r>
            <a:r>
              <a:rPr lang="en-AU" altLang="en-US" sz="2500" dirty="0">
                <a:latin typeface="Times New Roman" panose="02020603050405020304" pitchFamily="18" charset="0"/>
                <a:cs typeface="Times New Roman" panose="02020603050405020304" pitchFamily="18" charset="0"/>
              </a:rPr>
              <a:t>,  </a:t>
            </a:r>
            <a:r>
              <a:rPr lang="en-AU" altLang="en-US" sz="2500" dirty="0">
                <a:solidFill>
                  <a:schemeClr val="hlink"/>
                </a:solidFill>
                <a:latin typeface="Times New Roman" panose="02020603050405020304" pitchFamily="18" charset="0"/>
                <a:cs typeface="Times New Roman" panose="02020603050405020304" pitchFamily="18" charset="0"/>
              </a:rPr>
              <a:t>x2</a:t>
            </a:r>
            <a:br>
              <a:rPr lang="en-AU" altLang="en-US" sz="2500" dirty="0">
                <a:latin typeface="Times New Roman" panose="02020603050405020304" pitchFamily="18" charset="0"/>
                <a:cs typeface="Times New Roman" panose="02020603050405020304" pitchFamily="18" charset="0"/>
              </a:rPr>
            </a:br>
            <a:r>
              <a:rPr lang="en-AU" altLang="en-US" sz="2500" dirty="0" err="1">
                <a:latin typeface="Times New Roman" panose="02020603050405020304" pitchFamily="18" charset="0"/>
                <a:cs typeface="Times New Roman" panose="02020603050405020304" pitchFamily="18" charset="0"/>
              </a:rPr>
              <a:t>sd</a:t>
            </a:r>
            <a:r>
              <a:rPr lang="en-AU" altLang="en-US" sz="2500" dirty="0">
                <a:latin typeface="Times New Roman" panose="02020603050405020304" pitchFamily="18" charset="0"/>
                <a:cs typeface="Times New Roman" panose="02020603050405020304" pitchFamily="18" charset="0"/>
              </a:rPr>
              <a:t>    x15, 100(</a:t>
            </a:r>
            <a:r>
              <a:rPr lang="en-AU" altLang="en-US" sz="2500" dirty="0">
                <a:solidFill>
                  <a:schemeClr val="hlink"/>
                </a:solidFill>
                <a:latin typeface="Times New Roman" panose="02020603050405020304" pitchFamily="18" charset="0"/>
                <a:cs typeface="Times New Roman" panose="02020603050405020304" pitchFamily="18" charset="0"/>
              </a:rPr>
              <a:t>x2</a:t>
            </a:r>
            <a:r>
              <a:rPr lang="en-AU" altLang="en-US" sz="2500" dirty="0">
                <a:latin typeface="Times New Roman" panose="02020603050405020304" pitchFamily="18" charset="0"/>
                <a:cs typeface="Times New Roman" panose="02020603050405020304" pitchFamily="18" charset="0"/>
              </a:rPr>
              <a:t>)</a:t>
            </a:r>
          </a:p>
        </p:txBody>
      </p:sp>
      <p:sp>
        <p:nvSpPr>
          <p:cNvPr id="9" name="矩形 8"/>
          <p:cNvSpPr/>
          <p:nvPr/>
        </p:nvSpPr>
        <p:spPr>
          <a:xfrm>
            <a:off x="7788091" y="925821"/>
            <a:ext cx="1757212" cy="369332"/>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AU" altLang="en-US" dirty="0">
                <a:latin typeface="Times New Roman" panose="02020603050405020304" pitchFamily="18" charset="0"/>
                <a:cs typeface="Times New Roman" panose="02020603050405020304" pitchFamily="18" charset="0"/>
              </a:rPr>
              <a:t>sub  </a:t>
            </a:r>
            <a:r>
              <a:rPr lang="en-AU" altLang="en-US" dirty="0">
                <a:solidFill>
                  <a:schemeClr val="hlink"/>
                </a:solidFill>
                <a:latin typeface="Times New Roman" panose="02020603050405020304" pitchFamily="18" charset="0"/>
                <a:cs typeface="Times New Roman" panose="02020603050405020304" pitchFamily="18" charset="0"/>
              </a:rPr>
              <a:t>x2</a:t>
            </a:r>
            <a:r>
              <a:rPr lang="en-AU" altLang="en-US" dirty="0">
                <a:latin typeface="Times New Roman" panose="02020603050405020304" pitchFamily="18" charset="0"/>
                <a:cs typeface="Times New Roman" panose="02020603050405020304" pitchFamily="18" charset="0"/>
              </a:rPr>
              <a:t>,   x1, x3</a:t>
            </a:r>
            <a:endParaRPr lang="zh-CN" altLang="en-US" dirty="0"/>
          </a:p>
        </p:txBody>
      </p:sp>
      <p:sp>
        <p:nvSpPr>
          <p:cNvPr id="11" name="矩形 10"/>
          <p:cNvSpPr/>
          <p:nvPr/>
        </p:nvSpPr>
        <p:spPr>
          <a:xfrm>
            <a:off x="5218874" y="962753"/>
            <a:ext cx="1672253" cy="369332"/>
          </a:xfrm>
          <a:prstGeom prst="rect">
            <a:avLst/>
          </a:prstGeom>
        </p:spPr>
        <p:style>
          <a:lnRef idx="1">
            <a:schemeClr val="accent4"/>
          </a:lnRef>
          <a:fillRef idx="2">
            <a:schemeClr val="accent4"/>
          </a:fillRef>
          <a:effectRef idx="1">
            <a:schemeClr val="accent4"/>
          </a:effectRef>
          <a:fontRef idx="minor">
            <a:schemeClr val="dk1"/>
          </a:fontRef>
        </p:style>
        <p:txBody>
          <a:bodyPr wrap="none">
            <a:spAutoFit/>
          </a:bodyPr>
          <a:lstStyle/>
          <a:p>
            <a:r>
              <a:rPr lang="en-AU" altLang="en-US" dirty="0">
                <a:latin typeface="Times New Roman" panose="02020603050405020304" pitchFamily="18" charset="0"/>
                <a:cs typeface="Times New Roman" panose="02020603050405020304" pitchFamily="18" charset="0"/>
              </a:rPr>
              <a:t>and  x12, </a:t>
            </a:r>
            <a:r>
              <a:rPr lang="en-AU" altLang="en-US" dirty="0">
                <a:solidFill>
                  <a:schemeClr val="hlink"/>
                </a:solidFill>
                <a:latin typeface="Times New Roman" panose="02020603050405020304" pitchFamily="18" charset="0"/>
                <a:cs typeface="Times New Roman" panose="02020603050405020304" pitchFamily="18" charset="0"/>
              </a:rPr>
              <a:t>x2</a:t>
            </a:r>
            <a:r>
              <a:rPr lang="en-AU" altLang="en-US" dirty="0">
                <a:latin typeface="Times New Roman" panose="02020603050405020304" pitchFamily="18" charset="0"/>
                <a:cs typeface="Times New Roman" panose="02020603050405020304" pitchFamily="18" charset="0"/>
              </a:rPr>
              <a:t>, x5</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1"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9232900" y="6356831"/>
            <a:ext cx="2743200" cy="365125"/>
          </a:xfrm>
        </p:spPr>
        <p:txBody>
          <a:bodyPr/>
          <a:lstStyle/>
          <a:p>
            <a:fld id="{8EE8E787-E6FE-45D8-9039-788B45E44EE7}" type="slidenum">
              <a:rPr lang="zh-CN" altLang="en-US" smtClean="0"/>
              <a:t>56</a:t>
            </a:fld>
            <a:endParaRPr lang="zh-CN" altLang="en-US" dirty="0"/>
          </a:p>
        </p:txBody>
      </p:sp>
      <p:graphicFrame>
        <p:nvGraphicFramePr>
          <p:cNvPr id="3" name="Table 2"/>
          <p:cNvGraphicFramePr>
            <a:graphicFrameLocks noGrp="1"/>
          </p:cNvGraphicFramePr>
          <p:nvPr>
            <p:custDataLst>
              <p:tags r:id="rId1"/>
            </p:custDataLst>
            <p:extLst>
              <p:ext uri="{D42A27DB-BD31-4B8C-83A1-F6EECF244321}">
                <p14:modId xmlns:p14="http://schemas.microsoft.com/office/powerpoint/2010/main" val="2428377340"/>
              </p:ext>
            </p:extLst>
          </p:nvPr>
        </p:nvGraphicFramePr>
        <p:xfrm>
          <a:off x="194495" y="4435822"/>
          <a:ext cx="10872627" cy="2103571"/>
        </p:xfrm>
        <a:graphic>
          <a:graphicData uri="http://schemas.openxmlformats.org/drawingml/2006/table">
            <a:tbl>
              <a:tblPr firstRow="1" bandRow="1">
                <a:tableStyleId>{5C22544A-7EE6-4342-B048-85BDC9FD1C3A}</a:tableStyleId>
              </a:tblPr>
              <a:tblGrid>
                <a:gridCol w="1878981">
                  <a:extLst>
                    <a:ext uri="{9D8B030D-6E8A-4147-A177-3AD203B41FA5}">
                      <a16:colId xmlns:a16="http://schemas.microsoft.com/office/drawing/2014/main" val="20000"/>
                    </a:ext>
                  </a:extLst>
                </a:gridCol>
                <a:gridCol w="1667435">
                  <a:extLst>
                    <a:ext uri="{9D8B030D-6E8A-4147-A177-3AD203B41FA5}">
                      <a16:colId xmlns:a16="http://schemas.microsoft.com/office/drawing/2014/main" val="20001"/>
                    </a:ext>
                  </a:extLst>
                </a:gridCol>
                <a:gridCol w="7326211">
                  <a:extLst>
                    <a:ext uri="{9D8B030D-6E8A-4147-A177-3AD203B41FA5}">
                      <a16:colId xmlns:a16="http://schemas.microsoft.com/office/drawing/2014/main" val="20002"/>
                    </a:ext>
                  </a:extLst>
                </a:gridCol>
              </a:tblGrid>
              <a:tr h="396240">
                <a:tc>
                  <a:txBody>
                    <a:bodyPr/>
                    <a:lstStyle/>
                    <a:p>
                      <a:pPr algn="l"/>
                      <a:r>
                        <a:rPr lang="en-US" altLang="zh-CN" sz="2400" dirty="0" err="1">
                          <a:latin typeface="Times New Roman" panose="02020603050405020304" pitchFamily="18" charset="0"/>
                          <a:cs typeface="Times New Roman" panose="02020603050405020304" pitchFamily="18" charset="0"/>
                        </a:rPr>
                        <a:t>ForwardA</a:t>
                      </a:r>
                      <a:endParaRPr lang="en-US" sz="2400" dirty="0">
                        <a:latin typeface="Times New Roman" panose="02020603050405020304" pitchFamily="18" charset="0"/>
                        <a:cs typeface="Times New Roman" panose="02020603050405020304" pitchFamily="18" charset="0"/>
                      </a:endParaRPr>
                    </a:p>
                  </a:txBody>
                  <a:tcPr marL="91433" marR="91433" marT="45724" marB="45724"/>
                </a:tc>
                <a:tc>
                  <a:txBody>
                    <a:bodyPr/>
                    <a:lstStyle/>
                    <a:p>
                      <a:pPr algn="l"/>
                      <a:r>
                        <a:rPr lang="en-US" sz="2400">
                          <a:latin typeface="Times New Roman" panose="02020603050405020304" pitchFamily="18" charset="0"/>
                          <a:cs typeface="Times New Roman" panose="02020603050405020304" pitchFamily="18" charset="0"/>
                        </a:rPr>
                        <a:t>Source</a:t>
                      </a:r>
                    </a:p>
                  </a:txBody>
                  <a:tcPr marL="91433" marR="91433" marT="45724" marB="45724"/>
                </a:tc>
                <a:tc>
                  <a:txBody>
                    <a:bodyPr/>
                    <a:lstStyle/>
                    <a:p>
                      <a:pPr algn="l"/>
                      <a:r>
                        <a:rPr lang="en-US" sz="2400" dirty="0">
                          <a:latin typeface="Times New Roman" panose="02020603050405020304" pitchFamily="18" charset="0"/>
                          <a:cs typeface="Times New Roman" panose="02020603050405020304" pitchFamily="18" charset="0"/>
                        </a:rPr>
                        <a:t>Explanation</a:t>
                      </a:r>
                    </a:p>
                  </a:txBody>
                  <a:tcPr marL="91433" marR="91433" marT="45724" marB="45724"/>
                </a:tc>
                <a:extLst>
                  <a:ext uri="{0D108BD9-81ED-4DB2-BD59-A6C34878D82A}">
                    <a16:rowId xmlns:a16="http://schemas.microsoft.com/office/drawing/2014/main" val="10000"/>
                  </a:ext>
                </a:extLst>
              </a:tr>
              <a:tr h="457627">
                <a:tc>
                  <a:txBody>
                    <a:bodyPr/>
                    <a:lstStyle/>
                    <a:p>
                      <a:pPr algn="l"/>
                      <a:r>
                        <a:rPr lang="en-US" sz="2200" dirty="0">
                          <a:latin typeface="Times New Roman" panose="02020603050405020304" pitchFamily="18" charset="0"/>
                          <a:cs typeface="Times New Roman" panose="02020603050405020304" pitchFamily="18" charset="0"/>
                        </a:rPr>
                        <a:t>00</a:t>
                      </a:r>
                    </a:p>
                  </a:txBody>
                  <a:tcPr marL="91433" marR="91433" marT="45724" marB="45724"/>
                </a:tc>
                <a:tc>
                  <a:txBody>
                    <a:bodyPr/>
                    <a:lstStyle/>
                    <a:p>
                      <a:pPr algn="l"/>
                      <a:r>
                        <a:rPr lang="en-US" sz="2200" dirty="0">
                          <a:latin typeface="Times New Roman" panose="02020603050405020304" pitchFamily="18" charset="0"/>
                          <a:cs typeface="Times New Roman" panose="02020603050405020304" pitchFamily="18" charset="0"/>
                        </a:rPr>
                        <a:t>ID/EX</a:t>
                      </a:r>
                    </a:p>
                  </a:txBody>
                  <a:tcPr marL="91433" marR="91433" marT="45724" marB="45724"/>
                </a:tc>
                <a:tc>
                  <a:txBody>
                    <a:bodyPr/>
                    <a:lstStyle/>
                    <a:p>
                      <a:pPr algn="l"/>
                      <a:r>
                        <a:rPr lang="en-US" altLang="zh-CN" sz="2200" kern="1200" dirty="0">
                          <a:solidFill>
                            <a:schemeClr val="dk1"/>
                          </a:solidFill>
                          <a:latin typeface="Times New Roman" panose="02020603050405020304" pitchFamily="18" charset="0"/>
                          <a:ea typeface="+mn-ea"/>
                          <a:cs typeface="Times New Roman" panose="02020603050405020304" pitchFamily="18" charset="0"/>
                        </a:rPr>
                        <a:t>ALU</a:t>
                      </a:r>
                      <a:r>
                        <a:rPr lang="zh-CN" altLang="en-US" sz="2200" b="0" i="0" u="none" strike="noStrike" kern="1200" baseline="0" dirty="0">
                          <a:solidFill>
                            <a:schemeClr val="dk1"/>
                          </a:solidFill>
                          <a:latin typeface="+mn-lt"/>
                          <a:ea typeface="+mn-ea"/>
                          <a:cs typeface="+mn-cs"/>
                        </a:rPr>
                        <a:t>的第一个操作数来自寄存器堆</a:t>
                      </a:r>
                      <a:endParaRPr lang="en-US" sz="2200" dirty="0"/>
                    </a:p>
                  </a:txBody>
                  <a:tcPr marL="91433" marR="91433" marT="45724" marB="45724"/>
                </a:tc>
                <a:extLst>
                  <a:ext uri="{0D108BD9-81ED-4DB2-BD59-A6C34878D82A}">
                    <a16:rowId xmlns:a16="http://schemas.microsoft.com/office/drawing/2014/main" val="10001"/>
                  </a:ext>
                </a:extLst>
              </a:tr>
              <a:tr h="421831">
                <a:tc>
                  <a:txBody>
                    <a:bodyPr/>
                    <a:lstStyle/>
                    <a:p>
                      <a:pPr algn="l"/>
                      <a:r>
                        <a:rPr lang="en-US" sz="2200" b="0" i="0" u="none" strike="noStrike" kern="1200" baseline="0" dirty="0">
                          <a:solidFill>
                            <a:schemeClr val="dk1"/>
                          </a:solidFill>
                          <a:latin typeface="Times New Roman" panose="02020603050405020304" pitchFamily="18" charset="0"/>
                          <a:ea typeface="+mn-ea"/>
                          <a:cs typeface="Times New Roman" panose="02020603050405020304" pitchFamily="18" charset="0"/>
                        </a:rPr>
                        <a:t>10</a:t>
                      </a:r>
                      <a:endParaRPr lang="en-US" sz="2200" dirty="0">
                        <a:latin typeface="Times New Roman" panose="02020603050405020304" pitchFamily="18" charset="0"/>
                        <a:cs typeface="Times New Roman" panose="02020603050405020304" pitchFamily="18" charset="0"/>
                      </a:endParaRPr>
                    </a:p>
                  </a:txBody>
                  <a:tcPr marL="91433" marR="91433" marT="45724" marB="45724"/>
                </a:tc>
                <a:tc>
                  <a:txBody>
                    <a:bodyPr/>
                    <a:lstStyle/>
                    <a:p>
                      <a:pPr algn="l"/>
                      <a:r>
                        <a:rPr lang="en-US" sz="2200" b="0" i="0" u="none" strike="noStrike" kern="1200" baseline="0" dirty="0">
                          <a:solidFill>
                            <a:schemeClr val="dk1"/>
                          </a:solidFill>
                          <a:latin typeface="Times New Roman" panose="02020603050405020304" pitchFamily="18" charset="0"/>
                          <a:ea typeface="+mn-ea"/>
                          <a:cs typeface="Times New Roman" panose="02020603050405020304" pitchFamily="18" charset="0"/>
                        </a:rPr>
                        <a:t>EX/MEM</a:t>
                      </a:r>
                      <a:endParaRPr lang="en-US" sz="2200" dirty="0">
                        <a:latin typeface="Times New Roman" panose="02020603050405020304" pitchFamily="18" charset="0"/>
                        <a:cs typeface="Times New Roman" panose="02020603050405020304" pitchFamily="18" charset="0"/>
                      </a:endParaRPr>
                    </a:p>
                  </a:txBody>
                  <a:tcPr marL="91433" marR="91433" marT="45724" marB="45724"/>
                </a:tc>
                <a:tc>
                  <a:txBody>
                    <a:bodyPr/>
                    <a:lstStyle/>
                    <a:p>
                      <a:pPr algn="l"/>
                      <a:r>
                        <a:rPr lang="en-US" altLang="zh-CN" sz="2200" kern="1200" dirty="0">
                          <a:solidFill>
                            <a:schemeClr val="dk1"/>
                          </a:solidFill>
                          <a:latin typeface="Times New Roman" panose="02020603050405020304" pitchFamily="18" charset="0"/>
                          <a:ea typeface="+mn-ea"/>
                          <a:cs typeface="Times New Roman" panose="02020603050405020304" pitchFamily="18" charset="0"/>
                        </a:rPr>
                        <a:t>ALU</a:t>
                      </a:r>
                      <a:r>
                        <a:rPr lang="zh-CN" altLang="en-US" sz="2200" b="0" i="0" u="none" strike="noStrike" kern="1200" baseline="0" dirty="0">
                          <a:solidFill>
                            <a:schemeClr val="dk1"/>
                          </a:solidFill>
                          <a:latin typeface="+mn-lt"/>
                          <a:ea typeface="+mn-ea"/>
                          <a:cs typeface="+mn-cs"/>
                        </a:rPr>
                        <a:t>的第一个操作数来自上一个</a:t>
                      </a:r>
                      <a:r>
                        <a:rPr lang="en-US" altLang="zh-CN" sz="2200" kern="1200" dirty="0">
                          <a:solidFill>
                            <a:schemeClr val="dk1"/>
                          </a:solidFill>
                          <a:latin typeface="Times New Roman" panose="02020603050405020304" pitchFamily="18" charset="0"/>
                          <a:ea typeface="+mn-ea"/>
                          <a:cs typeface="Times New Roman" panose="02020603050405020304" pitchFamily="18" charset="0"/>
                        </a:rPr>
                        <a:t>ALU</a:t>
                      </a:r>
                      <a:r>
                        <a:rPr lang="zh-CN" altLang="en-US" sz="2200" b="0" i="0" u="none" strike="noStrike" kern="1200" baseline="0" dirty="0">
                          <a:solidFill>
                            <a:schemeClr val="dk1"/>
                          </a:solidFill>
                          <a:latin typeface="+mn-lt"/>
                          <a:ea typeface="+mn-ea"/>
                          <a:cs typeface="+mn-cs"/>
                        </a:rPr>
                        <a:t>计算结果的前递</a:t>
                      </a:r>
                      <a:endParaRPr lang="en-US" altLang="zh-CN" sz="2200" dirty="0"/>
                    </a:p>
                  </a:txBody>
                  <a:tcPr marL="91433" marR="91433" marT="45724" marB="45724"/>
                </a:tc>
                <a:extLst>
                  <a:ext uri="{0D108BD9-81ED-4DB2-BD59-A6C34878D82A}">
                    <a16:rowId xmlns:a16="http://schemas.microsoft.com/office/drawing/2014/main" val="10002"/>
                  </a:ext>
                </a:extLst>
              </a:tr>
              <a:tr h="735269">
                <a:tc>
                  <a:txBody>
                    <a:bodyPr/>
                    <a:lstStyle/>
                    <a:p>
                      <a:pPr algn="l"/>
                      <a:r>
                        <a:rPr lang="en-US" sz="2200" b="0" i="0" u="none" strike="noStrike" kern="1200" baseline="0" dirty="0">
                          <a:solidFill>
                            <a:schemeClr val="dk1"/>
                          </a:solidFill>
                          <a:latin typeface="Times New Roman" panose="02020603050405020304" pitchFamily="18" charset="0"/>
                          <a:ea typeface="+mn-ea"/>
                          <a:cs typeface="Times New Roman" panose="02020603050405020304" pitchFamily="18" charset="0"/>
                        </a:rPr>
                        <a:t>01</a:t>
                      </a:r>
                      <a:endParaRPr lang="en-US" sz="2200" dirty="0">
                        <a:latin typeface="Times New Roman" panose="02020603050405020304" pitchFamily="18" charset="0"/>
                        <a:cs typeface="Times New Roman" panose="02020603050405020304" pitchFamily="18" charset="0"/>
                      </a:endParaRPr>
                    </a:p>
                  </a:txBody>
                  <a:tcPr marL="91433" marR="91433" marT="45724" marB="45724"/>
                </a:tc>
                <a:tc>
                  <a:txBody>
                    <a:bodyPr/>
                    <a:lstStyle/>
                    <a:p>
                      <a:pPr algn="l"/>
                      <a:r>
                        <a:rPr lang="en-US" sz="2200" b="0" i="0" u="none" strike="noStrike" kern="1200" baseline="0" dirty="0">
                          <a:solidFill>
                            <a:schemeClr val="dk1"/>
                          </a:solidFill>
                          <a:latin typeface="Times New Roman" panose="02020603050405020304" pitchFamily="18" charset="0"/>
                          <a:ea typeface="+mn-ea"/>
                          <a:cs typeface="Times New Roman" panose="02020603050405020304" pitchFamily="18" charset="0"/>
                        </a:rPr>
                        <a:t>MEM/WB</a:t>
                      </a:r>
                      <a:endParaRPr lang="en-US" sz="2200" dirty="0">
                        <a:latin typeface="Times New Roman" panose="02020603050405020304" pitchFamily="18" charset="0"/>
                        <a:cs typeface="Times New Roman" panose="02020603050405020304" pitchFamily="18" charset="0"/>
                      </a:endParaRPr>
                    </a:p>
                  </a:txBody>
                  <a:tcPr marL="91433" marR="91433" marT="45724" marB="45724"/>
                </a:tc>
                <a:tc>
                  <a:txBody>
                    <a:bodyPr/>
                    <a:lstStyle/>
                    <a:p>
                      <a:pPr algn="l"/>
                      <a:r>
                        <a:rPr lang="en-US" altLang="zh-CN" sz="2200" kern="1200" dirty="0">
                          <a:solidFill>
                            <a:schemeClr val="dk1"/>
                          </a:solidFill>
                          <a:latin typeface="Times New Roman" panose="02020603050405020304" pitchFamily="18" charset="0"/>
                          <a:ea typeface="+mn-ea"/>
                          <a:cs typeface="Times New Roman" panose="02020603050405020304" pitchFamily="18" charset="0"/>
                        </a:rPr>
                        <a:t>ALU</a:t>
                      </a:r>
                      <a:r>
                        <a:rPr lang="zh-CN" altLang="en-US" sz="2200" b="0" i="0" u="none" strike="noStrike" kern="1200" baseline="0" dirty="0">
                          <a:solidFill>
                            <a:schemeClr val="dk1"/>
                          </a:solidFill>
                          <a:latin typeface="+mn-lt"/>
                          <a:ea typeface="+mn-ea"/>
                          <a:cs typeface="+mn-cs"/>
                        </a:rPr>
                        <a:t>的第一个操作数来自数据</a:t>
                      </a:r>
                      <a:r>
                        <a:rPr lang="zh-CN" altLang="en-US" sz="2200"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存储器</a:t>
                      </a:r>
                      <a:r>
                        <a:rPr lang="zh-CN" altLang="en-US" sz="2200" b="0" i="0" u="none" strike="noStrike" kern="1200" baseline="0" dirty="0">
                          <a:solidFill>
                            <a:schemeClr val="dk1"/>
                          </a:solidFill>
                          <a:latin typeface="+mn-lt"/>
                          <a:ea typeface="+mn-ea"/>
                          <a:cs typeface="+mn-cs"/>
                        </a:rPr>
                        <a:t>或者</a:t>
                      </a:r>
                      <a:r>
                        <a:rPr lang="zh-CN" altLang="en-US" sz="2200"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更早的</a:t>
                      </a:r>
                      <a:r>
                        <a:rPr lang="en-US" altLang="zh-CN" sz="2200" kern="1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ALU</a:t>
                      </a:r>
                      <a:r>
                        <a:rPr lang="zh-CN" altLang="en-US" sz="2200" b="0" i="0" u="none" strike="noStrike" kern="1200" baseline="0" dirty="0">
                          <a:solidFill>
                            <a:schemeClr val="dk1"/>
                          </a:solidFill>
                          <a:latin typeface="+mn-lt"/>
                          <a:ea typeface="+mn-ea"/>
                          <a:cs typeface="+mn-cs"/>
                        </a:rPr>
                        <a:t>计算结果的前递</a:t>
                      </a:r>
                      <a:endParaRPr lang="en-US" altLang="zh-CN" sz="2200" dirty="0"/>
                    </a:p>
                  </a:txBody>
                  <a:tcPr marL="91433" marR="91433" marT="45724" marB="45724"/>
                </a:tc>
                <a:extLst>
                  <a:ext uri="{0D108BD9-81ED-4DB2-BD59-A6C34878D82A}">
                    <a16:rowId xmlns:a16="http://schemas.microsoft.com/office/drawing/2014/main" val="10003"/>
                  </a:ext>
                </a:extLst>
              </a:tr>
            </a:tbl>
          </a:graphicData>
        </a:graphic>
      </p:graphicFrame>
      <p:sp>
        <p:nvSpPr>
          <p:cNvPr id="7" name="标题 6"/>
          <p:cNvSpPr>
            <a:spLocks noGrp="1"/>
          </p:cNvSpPr>
          <p:nvPr>
            <p:ph type="title"/>
          </p:nvPr>
        </p:nvSpPr>
        <p:spPr/>
        <p:txBody>
          <a:bodyPr/>
          <a:lstStyle/>
          <a:p>
            <a:r>
              <a:rPr lang="zh-CN" altLang="en-US" dirty="0"/>
              <a:t>前递硬件中，多选器的控制值</a:t>
            </a:r>
          </a:p>
        </p:txBody>
      </p:sp>
      <p:pic>
        <p:nvPicPr>
          <p:cNvPr id="2" name="图片 1"/>
          <p:cNvPicPr>
            <a:picLocks noChangeAspect="1"/>
          </p:cNvPicPr>
          <p:nvPr/>
        </p:nvPicPr>
        <p:blipFill>
          <a:blip r:embed="rId4"/>
          <a:stretch>
            <a:fillRect/>
          </a:stretch>
        </p:blipFill>
        <p:spPr>
          <a:xfrm>
            <a:off x="37718" y="937851"/>
            <a:ext cx="5416957" cy="3383004"/>
          </a:xfrm>
          <a:prstGeom prst="rect">
            <a:avLst/>
          </a:prstGeom>
        </p:spPr>
      </p:pic>
      <p:graphicFrame>
        <p:nvGraphicFramePr>
          <p:cNvPr id="6" name="表格 5"/>
          <p:cNvGraphicFramePr>
            <a:graphicFrameLocks noGrp="1"/>
          </p:cNvGraphicFramePr>
          <p:nvPr>
            <p:extLst>
              <p:ext uri="{D42A27DB-BD31-4B8C-83A1-F6EECF244321}">
                <p14:modId xmlns:p14="http://schemas.microsoft.com/office/powerpoint/2010/main" val="184021508"/>
              </p:ext>
            </p:extLst>
          </p:nvPr>
        </p:nvGraphicFramePr>
        <p:xfrm>
          <a:off x="5454675" y="1057432"/>
          <a:ext cx="6627734" cy="3078512"/>
        </p:xfrm>
        <a:graphic>
          <a:graphicData uri="http://schemas.openxmlformats.org/drawingml/2006/table">
            <a:tbl>
              <a:tblPr firstRow="1" bandRow="1">
                <a:tableStyleId>{5C22544A-7EE6-4342-B048-85BDC9FD1C3A}</a:tableStyleId>
              </a:tblPr>
              <a:tblGrid>
                <a:gridCol w="1593397">
                  <a:extLst>
                    <a:ext uri="{9D8B030D-6E8A-4147-A177-3AD203B41FA5}">
                      <a16:colId xmlns:a16="http://schemas.microsoft.com/office/drawing/2014/main" val="2719895019"/>
                    </a:ext>
                  </a:extLst>
                </a:gridCol>
                <a:gridCol w="1519753">
                  <a:extLst>
                    <a:ext uri="{9D8B030D-6E8A-4147-A177-3AD203B41FA5}">
                      <a16:colId xmlns:a16="http://schemas.microsoft.com/office/drawing/2014/main" val="1615958302"/>
                    </a:ext>
                  </a:extLst>
                </a:gridCol>
                <a:gridCol w="3514584">
                  <a:extLst>
                    <a:ext uri="{9D8B030D-6E8A-4147-A177-3AD203B41FA5}">
                      <a16:colId xmlns:a16="http://schemas.microsoft.com/office/drawing/2014/main" val="1332651659"/>
                    </a:ext>
                  </a:extLst>
                </a:gridCol>
              </a:tblGrid>
              <a:tr h="0">
                <a:tc>
                  <a:txBody>
                    <a:bodyPr/>
                    <a:lstStyle/>
                    <a:p>
                      <a:pPr algn="l"/>
                      <a:r>
                        <a:rPr lang="en-US" altLang="zh-CN" sz="2400" dirty="0" err="1">
                          <a:latin typeface="Times New Roman" panose="02020603050405020304" pitchFamily="18" charset="0"/>
                          <a:cs typeface="Times New Roman" panose="02020603050405020304" pitchFamily="18" charset="0"/>
                        </a:rPr>
                        <a:t>ForwardB</a:t>
                      </a:r>
                      <a:endParaRPr lang="en-US" sz="2400" dirty="0">
                        <a:latin typeface="Times New Roman" panose="02020603050405020304" pitchFamily="18" charset="0"/>
                        <a:cs typeface="Times New Roman" panose="02020603050405020304" pitchFamily="18" charset="0"/>
                      </a:endParaRPr>
                    </a:p>
                  </a:txBody>
                  <a:tcPr marL="91433" marR="91433" marT="45724" marB="45724"/>
                </a:tc>
                <a:tc>
                  <a:txBody>
                    <a:bodyPr/>
                    <a:lstStyle/>
                    <a:p>
                      <a:pPr algn="l"/>
                      <a:r>
                        <a:rPr lang="en-US" sz="2400">
                          <a:latin typeface="Times New Roman" panose="02020603050405020304" pitchFamily="18" charset="0"/>
                          <a:cs typeface="Times New Roman" panose="02020603050405020304" pitchFamily="18" charset="0"/>
                        </a:rPr>
                        <a:t>Source</a:t>
                      </a:r>
                    </a:p>
                  </a:txBody>
                  <a:tcPr marL="91433" marR="91433" marT="45724" marB="45724"/>
                </a:tc>
                <a:tc>
                  <a:txBody>
                    <a:bodyPr/>
                    <a:lstStyle/>
                    <a:p>
                      <a:pPr algn="l"/>
                      <a:r>
                        <a:rPr lang="en-US" sz="2400" dirty="0">
                          <a:latin typeface="Times New Roman" panose="02020603050405020304" pitchFamily="18" charset="0"/>
                          <a:cs typeface="Times New Roman" panose="02020603050405020304" pitchFamily="18" charset="0"/>
                        </a:rPr>
                        <a:t>Explanation</a:t>
                      </a:r>
                    </a:p>
                  </a:txBody>
                  <a:tcPr marL="91433" marR="91433" marT="45724" marB="45724"/>
                </a:tc>
                <a:extLst>
                  <a:ext uri="{0D108BD9-81ED-4DB2-BD59-A6C34878D82A}">
                    <a16:rowId xmlns:a16="http://schemas.microsoft.com/office/drawing/2014/main" val="4243749275"/>
                  </a:ext>
                </a:extLst>
              </a:tr>
              <a:tr h="459105">
                <a:tc>
                  <a:txBody>
                    <a:bodyPr/>
                    <a:lstStyle/>
                    <a:p>
                      <a:pPr algn="l"/>
                      <a:r>
                        <a:rPr lang="en-US" sz="2200" b="0" i="0" u="none" strike="noStrike" kern="1200" baseline="0" dirty="0">
                          <a:solidFill>
                            <a:schemeClr val="dk1"/>
                          </a:solidFill>
                          <a:latin typeface="Times New Roman" panose="02020603050405020304" pitchFamily="18" charset="0"/>
                          <a:ea typeface="+mn-ea"/>
                          <a:cs typeface="Times New Roman" panose="02020603050405020304" pitchFamily="18" charset="0"/>
                        </a:rPr>
                        <a:t>00</a:t>
                      </a:r>
                      <a:endParaRPr lang="en-US" sz="2200" dirty="0">
                        <a:latin typeface="Times New Roman" panose="02020603050405020304" pitchFamily="18" charset="0"/>
                        <a:cs typeface="Times New Roman" panose="02020603050405020304" pitchFamily="18" charset="0"/>
                      </a:endParaRPr>
                    </a:p>
                  </a:txBody>
                  <a:tcPr marL="91433" marR="91433" marT="45724" marB="45724"/>
                </a:tc>
                <a:tc>
                  <a:txBody>
                    <a:bodyPr/>
                    <a:lstStyle/>
                    <a:p>
                      <a:pPr algn="l"/>
                      <a:r>
                        <a:rPr lang="en-US" sz="2200" b="0" i="0" u="none" strike="noStrike" kern="1200" baseline="0" dirty="0">
                          <a:solidFill>
                            <a:schemeClr val="dk1"/>
                          </a:solidFill>
                          <a:latin typeface="Times New Roman" panose="02020603050405020304" pitchFamily="18" charset="0"/>
                          <a:ea typeface="+mn-ea"/>
                          <a:cs typeface="Times New Roman" panose="02020603050405020304" pitchFamily="18" charset="0"/>
                        </a:rPr>
                        <a:t>ID/EX</a:t>
                      </a:r>
                      <a:endParaRPr lang="en-US" sz="2200" dirty="0">
                        <a:latin typeface="Times New Roman" panose="02020603050405020304" pitchFamily="18" charset="0"/>
                        <a:cs typeface="Times New Roman" panose="02020603050405020304" pitchFamily="18" charset="0"/>
                      </a:endParaRPr>
                    </a:p>
                  </a:txBody>
                  <a:tcPr marL="91433" marR="91433" marT="45724" marB="45724"/>
                </a:tc>
                <a:tc>
                  <a:txBody>
                    <a:bodyPr/>
                    <a:lstStyle/>
                    <a:p>
                      <a:pPr algn="l"/>
                      <a:r>
                        <a:rPr lang="en-US" altLang="zh-CN" sz="2200" kern="1200" dirty="0">
                          <a:solidFill>
                            <a:schemeClr val="dk1"/>
                          </a:solidFill>
                          <a:latin typeface="Times New Roman" panose="02020603050405020304" pitchFamily="18" charset="0"/>
                          <a:ea typeface="+mn-ea"/>
                          <a:cs typeface="Times New Roman" panose="02020603050405020304" pitchFamily="18" charset="0"/>
                        </a:rPr>
                        <a:t>ALU</a:t>
                      </a:r>
                      <a:r>
                        <a:rPr lang="zh-CN" altLang="en-US" sz="2200" b="0" i="0" u="none" strike="noStrike" kern="1200" baseline="0" dirty="0">
                          <a:solidFill>
                            <a:schemeClr val="dk1"/>
                          </a:solidFill>
                          <a:latin typeface="+mn-lt"/>
                          <a:ea typeface="+mn-ea"/>
                          <a:cs typeface="+mn-cs"/>
                        </a:rPr>
                        <a:t>的第二个操作数来自寄存器堆</a:t>
                      </a:r>
                      <a:endParaRPr lang="en-US" altLang="zh-CN" sz="2200" dirty="0"/>
                    </a:p>
                  </a:txBody>
                  <a:tcPr marL="91433" marR="91433" marT="45724" marB="45724"/>
                </a:tc>
                <a:extLst>
                  <a:ext uri="{0D108BD9-81ED-4DB2-BD59-A6C34878D82A}">
                    <a16:rowId xmlns:a16="http://schemas.microsoft.com/office/drawing/2014/main" val="2225012518"/>
                  </a:ext>
                </a:extLst>
              </a:tr>
              <a:tr h="616585">
                <a:tc>
                  <a:txBody>
                    <a:bodyPr/>
                    <a:lstStyle/>
                    <a:p>
                      <a:pPr algn="l"/>
                      <a:r>
                        <a:rPr lang="en-US" sz="2200" b="0" i="0" u="none" strike="noStrike" kern="1200" baseline="0" dirty="0">
                          <a:solidFill>
                            <a:schemeClr val="dk1"/>
                          </a:solidFill>
                          <a:latin typeface="Times New Roman" panose="02020603050405020304" pitchFamily="18" charset="0"/>
                          <a:ea typeface="+mn-ea"/>
                          <a:cs typeface="Times New Roman" panose="02020603050405020304" pitchFamily="18" charset="0"/>
                        </a:rPr>
                        <a:t>10</a:t>
                      </a:r>
                      <a:endParaRPr lang="en-US" sz="2200" dirty="0">
                        <a:latin typeface="Times New Roman" panose="02020603050405020304" pitchFamily="18" charset="0"/>
                        <a:cs typeface="Times New Roman" panose="02020603050405020304" pitchFamily="18" charset="0"/>
                      </a:endParaRPr>
                    </a:p>
                  </a:txBody>
                  <a:tcPr marL="91433" marR="91433" marT="45724" marB="45724"/>
                </a:tc>
                <a:tc>
                  <a:txBody>
                    <a:bodyPr/>
                    <a:lstStyle/>
                    <a:p>
                      <a:pPr algn="l"/>
                      <a:r>
                        <a:rPr lang="en-US" sz="2200" b="0" i="0" u="none" strike="noStrike" kern="1200" baseline="0" dirty="0">
                          <a:solidFill>
                            <a:schemeClr val="dk1"/>
                          </a:solidFill>
                          <a:latin typeface="Times New Roman" panose="02020603050405020304" pitchFamily="18" charset="0"/>
                          <a:ea typeface="+mn-ea"/>
                          <a:cs typeface="Times New Roman" panose="02020603050405020304" pitchFamily="18" charset="0"/>
                        </a:rPr>
                        <a:t>EX/MEM</a:t>
                      </a:r>
                      <a:endParaRPr lang="en-US" sz="2200" dirty="0">
                        <a:latin typeface="Times New Roman" panose="02020603050405020304" pitchFamily="18" charset="0"/>
                        <a:cs typeface="Times New Roman" panose="02020603050405020304" pitchFamily="18" charset="0"/>
                      </a:endParaRPr>
                    </a:p>
                  </a:txBody>
                  <a:tcPr marL="91433" marR="91433" marT="45724" marB="45724"/>
                </a:tc>
                <a:tc>
                  <a:txBody>
                    <a:bodyPr/>
                    <a:lstStyle/>
                    <a:p>
                      <a:pPr algn="l"/>
                      <a:r>
                        <a:rPr lang="en-US" altLang="zh-CN" sz="2200" kern="1200" dirty="0">
                          <a:solidFill>
                            <a:schemeClr val="dk1"/>
                          </a:solidFill>
                          <a:latin typeface="Times New Roman" panose="02020603050405020304" pitchFamily="18" charset="0"/>
                          <a:ea typeface="+mn-ea"/>
                          <a:cs typeface="Times New Roman" panose="02020603050405020304" pitchFamily="18" charset="0"/>
                        </a:rPr>
                        <a:t>ALU</a:t>
                      </a:r>
                      <a:r>
                        <a:rPr lang="zh-CN" altLang="en-US" sz="2200" b="0" i="0" u="none" strike="noStrike" kern="1200" baseline="0" dirty="0">
                          <a:solidFill>
                            <a:schemeClr val="dk1"/>
                          </a:solidFill>
                          <a:latin typeface="+mn-lt"/>
                          <a:ea typeface="+mn-ea"/>
                          <a:cs typeface="+mn-cs"/>
                        </a:rPr>
                        <a:t>第二个操作数来自上一个</a:t>
                      </a:r>
                      <a:r>
                        <a:rPr lang="en-US" altLang="zh-CN" sz="2200" kern="1200" dirty="0">
                          <a:solidFill>
                            <a:schemeClr val="dk1"/>
                          </a:solidFill>
                          <a:latin typeface="Times New Roman" panose="02020603050405020304" pitchFamily="18" charset="0"/>
                          <a:ea typeface="+mn-ea"/>
                          <a:cs typeface="Times New Roman" panose="02020603050405020304" pitchFamily="18" charset="0"/>
                        </a:rPr>
                        <a:t>ALU</a:t>
                      </a:r>
                      <a:r>
                        <a:rPr lang="zh-CN" altLang="en-US" sz="2200" b="0" i="0" u="none" strike="noStrike" kern="1200" baseline="0" dirty="0">
                          <a:solidFill>
                            <a:schemeClr val="dk1"/>
                          </a:solidFill>
                          <a:latin typeface="+mn-lt"/>
                          <a:ea typeface="+mn-ea"/>
                          <a:cs typeface="+mn-cs"/>
                        </a:rPr>
                        <a:t>计算结果的前递</a:t>
                      </a:r>
                      <a:endParaRPr lang="en-US" altLang="zh-CN" sz="2200" dirty="0"/>
                    </a:p>
                  </a:txBody>
                  <a:tcPr marL="91433" marR="91433" marT="45724" marB="45724"/>
                </a:tc>
                <a:extLst>
                  <a:ext uri="{0D108BD9-81ED-4DB2-BD59-A6C34878D82A}">
                    <a16:rowId xmlns:a16="http://schemas.microsoft.com/office/drawing/2014/main" val="911338190"/>
                  </a:ext>
                </a:extLst>
              </a:tr>
              <a:tr h="894715">
                <a:tc>
                  <a:txBody>
                    <a:bodyPr/>
                    <a:lstStyle/>
                    <a:p>
                      <a:pPr algn="l"/>
                      <a:r>
                        <a:rPr lang="en-US" sz="2200" b="0" i="0" u="none" strike="noStrike" kern="1200" baseline="0" dirty="0">
                          <a:solidFill>
                            <a:schemeClr val="dk1"/>
                          </a:solidFill>
                          <a:latin typeface="Times New Roman" panose="02020603050405020304" pitchFamily="18" charset="0"/>
                          <a:ea typeface="+mn-ea"/>
                          <a:cs typeface="Times New Roman" panose="02020603050405020304" pitchFamily="18" charset="0"/>
                        </a:rPr>
                        <a:t>01</a:t>
                      </a:r>
                      <a:endParaRPr lang="en-US" sz="2200" dirty="0">
                        <a:latin typeface="Times New Roman" panose="02020603050405020304" pitchFamily="18" charset="0"/>
                        <a:cs typeface="Times New Roman" panose="02020603050405020304" pitchFamily="18" charset="0"/>
                      </a:endParaRPr>
                    </a:p>
                  </a:txBody>
                  <a:tcPr marL="91433" marR="91433" marT="45724" marB="45724"/>
                </a:tc>
                <a:tc>
                  <a:txBody>
                    <a:bodyPr/>
                    <a:lstStyle/>
                    <a:p>
                      <a:pPr algn="l"/>
                      <a:r>
                        <a:rPr lang="en-US" sz="2200" b="0" i="0" u="none" strike="noStrike" kern="1200" baseline="0" dirty="0">
                          <a:solidFill>
                            <a:schemeClr val="dk1"/>
                          </a:solidFill>
                          <a:latin typeface="Times New Roman" panose="02020603050405020304" pitchFamily="18" charset="0"/>
                          <a:ea typeface="+mn-ea"/>
                          <a:cs typeface="Times New Roman" panose="02020603050405020304" pitchFamily="18" charset="0"/>
                        </a:rPr>
                        <a:t>MEM/WB</a:t>
                      </a:r>
                      <a:endParaRPr lang="en-US" sz="2200" dirty="0">
                        <a:latin typeface="Times New Roman" panose="02020603050405020304" pitchFamily="18" charset="0"/>
                        <a:cs typeface="Times New Roman" panose="02020603050405020304" pitchFamily="18" charset="0"/>
                      </a:endParaRPr>
                    </a:p>
                  </a:txBody>
                  <a:tcPr marL="91433" marR="91433" marT="45724" marB="45724"/>
                </a:tc>
                <a:tc>
                  <a:txBody>
                    <a:bodyPr/>
                    <a:lstStyle/>
                    <a:p>
                      <a:pPr algn="l"/>
                      <a:r>
                        <a:rPr lang="en-US" altLang="zh-CN" sz="2200" kern="1200" dirty="0">
                          <a:solidFill>
                            <a:schemeClr val="dk1"/>
                          </a:solidFill>
                          <a:latin typeface="Times New Roman" panose="02020603050405020304" pitchFamily="18" charset="0"/>
                          <a:ea typeface="+mn-ea"/>
                          <a:cs typeface="Times New Roman" panose="02020603050405020304" pitchFamily="18" charset="0"/>
                        </a:rPr>
                        <a:t>ALU</a:t>
                      </a:r>
                      <a:r>
                        <a:rPr lang="zh-CN" altLang="en-US" sz="2200" b="0" i="0" u="none" strike="noStrike" kern="1200" baseline="0" dirty="0">
                          <a:solidFill>
                            <a:schemeClr val="dk1"/>
                          </a:solidFill>
                          <a:latin typeface="+mn-lt"/>
                          <a:ea typeface="+mn-ea"/>
                          <a:cs typeface="+mn-cs"/>
                        </a:rPr>
                        <a:t>的第二个操作数来自数据</a:t>
                      </a:r>
                      <a:r>
                        <a:rPr lang="zh-CN" altLang="en-US" sz="2200" b="0" i="0" u="none" strike="noStrike" kern="1200" baseline="0" dirty="0">
                          <a:solidFill>
                            <a:srgbClr val="FF0000"/>
                          </a:solidFill>
                          <a:latin typeface="+mn-lt"/>
                          <a:ea typeface="+mn-ea"/>
                          <a:cs typeface="+mn-cs"/>
                        </a:rPr>
                        <a:t>存储器</a:t>
                      </a:r>
                      <a:r>
                        <a:rPr lang="zh-CN" altLang="en-US" sz="2200" b="0" i="0" u="none" strike="noStrike" kern="1200" baseline="0" dirty="0">
                          <a:solidFill>
                            <a:schemeClr val="dk1"/>
                          </a:solidFill>
                          <a:latin typeface="+mn-lt"/>
                          <a:ea typeface="+mn-ea"/>
                          <a:cs typeface="+mn-cs"/>
                        </a:rPr>
                        <a:t>或者</a:t>
                      </a:r>
                      <a:r>
                        <a:rPr lang="zh-CN" altLang="en-US" sz="2200" b="0" i="0" u="none" strike="noStrike" kern="1200" baseline="0" dirty="0">
                          <a:solidFill>
                            <a:srgbClr val="FF0000"/>
                          </a:solidFill>
                          <a:latin typeface="+mn-lt"/>
                          <a:ea typeface="+mn-ea"/>
                          <a:cs typeface="+mn-cs"/>
                        </a:rPr>
                        <a:t>更早的</a:t>
                      </a:r>
                      <a:r>
                        <a:rPr lang="en-US" altLang="zh-CN" sz="2200" kern="1200" dirty="0">
                          <a:solidFill>
                            <a:srgbClr val="FF0000"/>
                          </a:solidFill>
                          <a:latin typeface="Times New Roman" panose="02020603050405020304" pitchFamily="18" charset="0"/>
                          <a:ea typeface="+mn-ea"/>
                          <a:cs typeface="Times New Roman" panose="02020603050405020304" pitchFamily="18" charset="0"/>
                        </a:rPr>
                        <a:t>ALU</a:t>
                      </a:r>
                      <a:r>
                        <a:rPr lang="zh-CN" altLang="en-US" sz="2200" b="0" i="0" u="none" strike="noStrike" kern="1200" baseline="0" dirty="0">
                          <a:solidFill>
                            <a:schemeClr val="dk1"/>
                          </a:solidFill>
                          <a:latin typeface="+mn-lt"/>
                          <a:ea typeface="+mn-ea"/>
                          <a:cs typeface="+mn-cs"/>
                        </a:rPr>
                        <a:t>计算结果的前递</a:t>
                      </a:r>
                      <a:endParaRPr lang="en-US" altLang="zh-CN" sz="2200" dirty="0"/>
                    </a:p>
                  </a:txBody>
                  <a:tcPr marL="91433" marR="91433" marT="45724" marB="45724"/>
                </a:tc>
                <a:extLst>
                  <a:ext uri="{0D108BD9-81ED-4DB2-BD59-A6C34878D82A}">
                    <a16:rowId xmlns:a16="http://schemas.microsoft.com/office/drawing/2014/main" val="185436538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3"/>
          <p:cNvSpPr>
            <a:spLocks noGrp="1" noChangeArrowheads="1"/>
          </p:cNvSpPr>
          <p:nvPr>
            <p:ph idx="1"/>
          </p:nvPr>
        </p:nvSpPr>
        <p:spPr/>
        <p:txBody>
          <a:bodyPr>
            <a:normAutofit/>
          </a:bodyPr>
          <a:lstStyle/>
          <a:p>
            <a:pPr eaLnBrk="1" hangingPunct="1">
              <a:lnSpc>
                <a:spcPct val="150000"/>
              </a:lnSpc>
            </a:pPr>
            <a:r>
              <a:rPr lang="en-US" altLang="en-US" dirty="0">
                <a:latin typeface="Times New Roman" panose="02020603050405020304" pitchFamily="18" charset="0"/>
                <a:cs typeface="Times New Roman" panose="02020603050405020304" pitchFamily="18" charset="0"/>
              </a:rPr>
              <a:t>EX </a:t>
            </a:r>
            <a:r>
              <a:rPr lang="zh-CN" altLang="en-US" dirty="0">
                <a:latin typeface="Times New Roman" panose="02020603050405020304" pitchFamily="18" charset="0"/>
                <a:cs typeface="Times New Roman" panose="02020603050405020304" pitchFamily="18" charset="0"/>
              </a:rPr>
              <a:t>冒险</a:t>
            </a:r>
            <a:endParaRPr lang="en-US" altLang="en-US" dirty="0">
              <a:latin typeface="Times New Roman" panose="02020603050405020304" pitchFamily="18" charset="0"/>
              <a:cs typeface="Times New Roman" panose="02020603050405020304" pitchFamily="18" charset="0"/>
            </a:endParaRPr>
          </a:p>
          <a:p>
            <a:pPr marL="628650" lvl="1" indent="-342900" eaLnBrk="1" hangingPunct="1">
              <a:lnSpc>
                <a:spcPct val="150000"/>
              </a:lnSpc>
            </a:pPr>
            <a:r>
              <a:rPr lang="en-AU" altLang="en-US" dirty="0">
                <a:latin typeface="Times New Roman" panose="02020603050405020304" pitchFamily="18" charset="0"/>
                <a:cs typeface="Times New Roman" panose="02020603050405020304" pitchFamily="18" charset="0"/>
              </a:rPr>
              <a:t>if   (EX/</a:t>
            </a:r>
            <a:r>
              <a:rPr lang="en-AU" altLang="en-US" dirty="0" err="1">
                <a:latin typeface="Times New Roman" panose="02020603050405020304" pitchFamily="18" charset="0"/>
                <a:cs typeface="Times New Roman" panose="02020603050405020304" pitchFamily="18" charset="0"/>
              </a:rPr>
              <a:t>MEM.RegWrite  </a:t>
            </a:r>
            <a:r>
              <a:rPr lang="en-AU" altLang="en-US" b="1" dirty="0">
                <a:latin typeface="Times New Roman" panose="02020603050405020304" pitchFamily="18" charset="0"/>
                <a:cs typeface="Times New Roman" panose="02020603050405020304" pitchFamily="18" charset="0"/>
              </a:rPr>
              <a:t>and</a:t>
            </a:r>
            <a:r>
              <a:rPr lang="en-AU" altLang="en-US" dirty="0">
                <a:latin typeface="Times New Roman" panose="02020603050405020304" pitchFamily="18" charset="0"/>
                <a:cs typeface="Times New Roman" panose="02020603050405020304" pitchFamily="18" charset="0"/>
              </a:rPr>
              <a:t> (EX/</a:t>
            </a:r>
            <a:r>
              <a:rPr lang="en-AU" altLang="en-US" dirty="0" err="1">
                <a:latin typeface="Times New Roman" panose="02020603050405020304" pitchFamily="18" charset="0"/>
                <a:cs typeface="Times New Roman" panose="02020603050405020304" pitchFamily="18" charset="0"/>
              </a:rPr>
              <a:t>MEM.RegisterRd</a:t>
            </a:r>
            <a:r>
              <a:rPr lang="en-AU" altLang="en-US" dirty="0">
                <a:latin typeface="Times New Roman" panose="02020603050405020304" pitchFamily="18" charset="0"/>
                <a:cs typeface="Times New Roman" panose="02020603050405020304" pitchFamily="18" charset="0"/>
              </a:rPr>
              <a:t> ≠ 0)</a:t>
            </a:r>
          </a:p>
          <a:p>
            <a:pPr marL="628650" lvl="1" indent="-342900" eaLnBrk="1" hangingPunct="1">
              <a:lnSpc>
                <a:spcPct val="150000"/>
              </a:lnSpc>
              <a:buNone/>
            </a:pPr>
            <a:r>
              <a:rPr lang="en-AU" altLang="en-US" dirty="0">
                <a:latin typeface="Times New Roman" panose="02020603050405020304" pitchFamily="18" charset="0"/>
                <a:cs typeface="Times New Roman" panose="02020603050405020304" pitchFamily="18" charset="0"/>
              </a:rPr>
              <a:t>	</a:t>
            </a:r>
            <a:r>
              <a:rPr lang="en-US" altLang="en-AU" dirty="0">
                <a:latin typeface="Times New Roman" panose="02020603050405020304" pitchFamily="18" charset="0"/>
                <a:cs typeface="Times New Roman" panose="02020603050405020304" pitchFamily="18" charset="0"/>
              </a:rPr>
              <a:t>		       </a:t>
            </a:r>
            <a:r>
              <a:rPr lang="en-AU" altLang="en-US" b="1" dirty="0">
                <a:latin typeface="Times New Roman" panose="02020603050405020304" pitchFamily="18" charset="0"/>
                <a:cs typeface="Times New Roman" panose="02020603050405020304" pitchFamily="18" charset="0"/>
              </a:rPr>
              <a:t>and </a:t>
            </a:r>
            <a:r>
              <a:rPr lang="en-AU" altLang="en-US" dirty="0">
                <a:latin typeface="Times New Roman" panose="02020603050405020304" pitchFamily="18" charset="0"/>
                <a:cs typeface="Times New Roman" panose="02020603050405020304" pitchFamily="18" charset="0"/>
              </a:rPr>
              <a:t>(EX/</a:t>
            </a:r>
            <a:r>
              <a:rPr lang="en-AU" altLang="en-US" dirty="0" err="1">
                <a:latin typeface="Times New Roman" panose="02020603050405020304" pitchFamily="18" charset="0"/>
                <a:cs typeface="Times New Roman" panose="02020603050405020304" pitchFamily="18" charset="0"/>
              </a:rPr>
              <a:t>MEM.RegisterRd</a:t>
            </a:r>
            <a:r>
              <a:rPr lang="en-AU" altLang="en-US" dirty="0">
                <a:latin typeface="Times New Roman" panose="02020603050405020304" pitchFamily="18" charset="0"/>
                <a:cs typeface="Times New Roman" panose="02020603050405020304" pitchFamily="18" charset="0"/>
              </a:rPr>
              <a:t> = </a:t>
            </a:r>
            <a:r>
              <a:rPr lang="en-AU" altLang="en-US" dirty="0">
                <a:solidFill>
                  <a:srgbClr val="CC3399"/>
                </a:solidFill>
                <a:latin typeface="Times New Roman" panose="02020603050405020304" pitchFamily="18" charset="0"/>
                <a:cs typeface="Times New Roman" panose="02020603050405020304" pitchFamily="18" charset="0"/>
              </a:rPr>
              <a:t>ID/EX.RegisterRs1</a:t>
            </a:r>
            <a:r>
              <a:rPr lang="en-AU" altLang="en-US" dirty="0">
                <a:latin typeface="Times New Roman" panose="02020603050405020304" pitchFamily="18" charset="0"/>
                <a:cs typeface="Times New Roman" panose="02020603050405020304" pitchFamily="18" charset="0"/>
              </a:rPr>
              <a:t>)) </a:t>
            </a:r>
          </a:p>
          <a:p>
            <a:pPr marL="628650" lvl="1" indent="-342900" eaLnBrk="1" hangingPunct="1">
              <a:lnSpc>
                <a:spcPct val="150000"/>
              </a:lnSpc>
              <a:buNone/>
            </a:pPr>
            <a:r>
              <a:rPr lang="en-AU" altLang="en-US" dirty="0">
                <a:latin typeface="Times New Roman" panose="02020603050405020304" pitchFamily="18" charset="0"/>
                <a:cs typeface="Times New Roman" panose="02020603050405020304" pitchFamily="18" charset="0"/>
              </a:rPr>
              <a:t> </a:t>
            </a:r>
            <a:r>
              <a:rPr lang="en-US" altLang="en-AU" dirty="0">
                <a:latin typeface="Times New Roman" panose="02020603050405020304" pitchFamily="18" charset="0"/>
                <a:cs typeface="Times New Roman" panose="02020603050405020304" pitchFamily="18" charset="0"/>
              </a:rPr>
              <a:t>			</a:t>
            </a:r>
            <a:r>
              <a:rPr lang="en-AU" altLang="en-US" dirty="0" err="1">
                <a:latin typeface="Times New Roman" panose="02020603050405020304" pitchFamily="18" charset="0"/>
                <a:cs typeface="Times New Roman" panose="02020603050405020304" pitchFamily="18" charset="0"/>
              </a:rPr>
              <a:t>ForwardA</a:t>
            </a:r>
            <a:r>
              <a:rPr lang="en-AU" altLang="en-US" dirty="0">
                <a:latin typeface="Times New Roman" panose="02020603050405020304" pitchFamily="18" charset="0"/>
                <a:cs typeface="Times New Roman" panose="02020603050405020304" pitchFamily="18" charset="0"/>
              </a:rPr>
              <a:t> = 10</a:t>
            </a:r>
          </a:p>
          <a:p>
            <a:pPr marL="628650" lvl="1" indent="-342900" eaLnBrk="1" hangingPunct="1">
              <a:lnSpc>
                <a:spcPct val="150000"/>
              </a:lnSpc>
            </a:pPr>
            <a:r>
              <a:rPr lang="en-AU" altLang="en-US" dirty="0">
                <a:latin typeface="Times New Roman" panose="02020603050405020304" pitchFamily="18" charset="0"/>
                <a:cs typeface="Times New Roman" panose="02020603050405020304" pitchFamily="18" charset="0"/>
              </a:rPr>
              <a:t>if  (EX/</a:t>
            </a:r>
            <a:r>
              <a:rPr lang="en-AU" altLang="en-US" dirty="0" err="1">
                <a:latin typeface="Times New Roman" panose="02020603050405020304" pitchFamily="18" charset="0"/>
                <a:cs typeface="Times New Roman" panose="02020603050405020304" pitchFamily="18" charset="0"/>
              </a:rPr>
              <a:t>MEM.RegWrite </a:t>
            </a:r>
            <a:r>
              <a:rPr lang="en-AU" altLang="en-US" b="1" dirty="0">
                <a:latin typeface="Times New Roman" panose="02020603050405020304" pitchFamily="18" charset="0"/>
                <a:cs typeface="Times New Roman" panose="02020603050405020304" pitchFamily="18" charset="0"/>
              </a:rPr>
              <a:t>and</a:t>
            </a:r>
            <a:r>
              <a:rPr lang="en-AU" altLang="en-US" dirty="0">
                <a:latin typeface="Times New Roman" panose="02020603050405020304" pitchFamily="18" charset="0"/>
                <a:cs typeface="Times New Roman" panose="02020603050405020304" pitchFamily="18" charset="0"/>
              </a:rPr>
              <a:t> (EX/</a:t>
            </a:r>
            <a:r>
              <a:rPr lang="en-AU" altLang="en-US" dirty="0" err="1">
                <a:latin typeface="Times New Roman" panose="02020603050405020304" pitchFamily="18" charset="0"/>
                <a:cs typeface="Times New Roman" panose="02020603050405020304" pitchFamily="18" charset="0"/>
              </a:rPr>
              <a:t>MEM.RegisterRd</a:t>
            </a:r>
            <a:r>
              <a:rPr lang="en-AU" altLang="en-US" dirty="0">
                <a:latin typeface="Times New Roman" panose="02020603050405020304" pitchFamily="18" charset="0"/>
                <a:cs typeface="Times New Roman" panose="02020603050405020304" pitchFamily="18" charset="0"/>
              </a:rPr>
              <a:t> ≠ 0)</a:t>
            </a:r>
          </a:p>
          <a:p>
            <a:pPr marL="628650" lvl="1" indent="-342900" eaLnBrk="1" hangingPunct="1">
              <a:lnSpc>
                <a:spcPct val="150000"/>
              </a:lnSpc>
              <a:buNone/>
            </a:pPr>
            <a:r>
              <a:rPr lang="en-AU" altLang="en-US" dirty="0">
                <a:latin typeface="Times New Roman" panose="02020603050405020304" pitchFamily="18" charset="0"/>
                <a:cs typeface="Times New Roman" panose="02020603050405020304" pitchFamily="18" charset="0"/>
              </a:rPr>
              <a:t>	</a:t>
            </a:r>
            <a:r>
              <a:rPr lang="en-AU" altLang="en-US" b="1" dirty="0">
                <a:latin typeface="Times New Roman" panose="02020603050405020304" pitchFamily="18" charset="0"/>
                <a:cs typeface="Times New Roman" panose="02020603050405020304" pitchFamily="18" charset="0"/>
              </a:rPr>
              <a:t>and </a:t>
            </a:r>
            <a:r>
              <a:rPr lang="en-AU" altLang="en-US" dirty="0">
                <a:latin typeface="Times New Roman" panose="02020603050405020304" pitchFamily="18" charset="0"/>
                <a:cs typeface="Times New Roman" panose="02020603050405020304" pitchFamily="18" charset="0"/>
              </a:rPr>
              <a:t>(EX/</a:t>
            </a:r>
            <a:r>
              <a:rPr lang="en-AU" altLang="en-US" dirty="0" err="1">
                <a:latin typeface="Times New Roman" panose="02020603050405020304" pitchFamily="18" charset="0"/>
                <a:cs typeface="Times New Roman" panose="02020603050405020304" pitchFamily="18" charset="0"/>
              </a:rPr>
              <a:t>MEM.RegisterRd</a:t>
            </a:r>
            <a:r>
              <a:rPr lang="en-AU" altLang="en-US" dirty="0">
                <a:latin typeface="Times New Roman" panose="02020603050405020304" pitchFamily="18" charset="0"/>
                <a:cs typeface="Times New Roman" panose="02020603050405020304" pitchFamily="18" charset="0"/>
              </a:rPr>
              <a:t> = </a:t>
            </a:r>
            <a:r>
              <a:rPr lang="en-AU" altLang="en-US" dirty="0">
                <a:solidFill>
                  <a:srgbClr val="CC3399"/>
                </a:solidFill>
                <a:latin typeface="Times New Roman" panose="02020603050405020304" pitchFamily="18" charset="0"/>
                <a:cs typeface="Times New Roman" panose="02020603050405020304" pitchFamily="18" charset="0"/>
              </a:rPr>
              <a:t>ID/EX.RegisterRs2</a:t>
            </a:r>
            <a:r>
              <a:rPr lang="en-AU" altLang="en-US" dirty="0">
                <a:latin typeface="Times New Roman" panose="02020603050405020304" pitchFamily="18" charset="0"/>
                <a:cs typeface="Times New Roman" panose="02020603050405020304" pitchFamily="18" charset="0"/>
              </a:rPr>
              <a:t>)) </a:t>
            </a:r>
          </a:p>
          <a:p>
            <a:pPr marL="628650" lvl="1" indent="-342900" eaLnBrk="1" hangingPunct="1">
              <a:lnSpc>
                <a:spcPct val="150000"/>
              </a:lnSpc>
              <a:buNone/>
            </a:pPr>
            <a:r>
              <a:rPr lang="en-US" altLang="en-AU" dirty="0">
                <a:latin typeface="Times New Roman" panose="02020603050405020304" pitchFamily="18" charset="0"/>
                <a:cs typeface="Times New Roman" panose="02020603050405020304" pitchFamily="18" charset="0"/>
              </a:rPr>
              <a:t>			</a:t>
            </a:r>
            <a:r>
              <a:rPr lang="en-AU" altLang="en-US" dirty="0" err="1">
                <a:latin typeface="Times New Roman" panose="02020603050405020304" pitchFamily="18" charset="0"/>
                <a:cs typeface="Times New Roman" panose="02020603050405020304" pitchFamily="18" charset="0"/>
              </a:rPr>
              <a:t>Forward</a:t>
            </a:r>
            <a:r>
              <a:rPr lang="en-US" altLang="en-AU" dirty="0" err="1">
                <a:latin typeface="Times New Roman" panose="02020603050405020304" pitchFamily="18" charset="0"/>
                <a:cs typeface="Times New Roman" panose="02020603050405020304" pitchFamily="18" charset="0"/>
              </a:rPr>
              <a:t>B</a:t>
            </a:r>
            <a:r>
              <a:rPr lang="en-AU" altLang="en-US" dirty="0">
                <a:latin typeface="Times New Roman" panose="02020603050405020304" pitchFamily="18" charset="0"/>
                <a:cs typeface="Times New Roman" panose="02020603050405020304" pitchFamily="18" charset="0"/>
              </a:rPr>
              <a:t> = 10</a:t>
            </a:r>
            <a:endParaRPr lang="en-AU" altLang="en-US" sz="2000" dirty="0">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8EE8E787-E6FE-45D8-9039-788B45E44EE7}" type="slidenum">
              <a:rPr lang="zh-CN" altLang="en-US" smtClean="0"/>
              <a:t>57</a:t>
            </a:fld>
            <a:endParaRPr lang="zh-CN" altLang="en-US" dirty="0"/>
          </a:p>
        </p:txBody>
      </p:sp>
      <p:sp>
        <p:nvSpPr>
          <p:cNvPr id="6" name="标题 5"/>
          <p:cNvSpPr>
            <a:spLocks noGrp="1"/>
          </p:cNvSpPr>
          <p:nvPr>
            <p:ph type="title"/>
          </p:nvPr>
        </p:nvSpPr>
        <p:spPr/>
        <p:txBody>
          <a:bodyPr/>
          <a:lstStyle/>
          <a:p>
            <a:r>
              <a:rPr lang="zh-CN" altLang="en-US" dirty="0"/>
              <a:t>检测</a:t>
            </a:r>
            <a:r>
              <a:rPr lang="en-US" altLang="zh-CN" dirty="0"/>
              <a:t>EX</a:t>
            </a:r>
            <a:r>
              <a:rPr lang="zh-CN" altLang="en-US" dirty="0"/>
              <a:t>冒险的条件、相应的前递控制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60">
                                            <p:txEl>
                                              <p:pRg st="1" end="1"/>
                                            </p:txEl>
                                          </p:spTgt>
                                        </p:tgtEl>
                                        <p:attrNameLst>
                                          <p:attrName>style.visibility</p:attrName>
                                        </p:attrNameLst>
                                      </p:cBhvr>
                                      <p:to>
                                        <p:strVal val="visible"/>
                                      </p:to>
                                    </p:set>
                                    <p:animEffect transition="in" filter="fade">
                                      <p:cBhvr>
                                        <p:cTn id="7" dur="500"/>
                                        <p:tgtEl>
                                          <p:spTgt spid="19460">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9460">
                                            <p:txEl>
                                              <p:pRg st="2" end="2"/>
                                            </p:txEl>
                                          </p:spTgt>
                                        </p:tgtEl>
                                        <p:attrNameLst>
                                          <p:attrName>style.visibility</p:attrName>
                                        </p:attrNameLst>
                                      </p:cBhvr>
                                      <p:to>
                                        <p:strVal val="visible"/>
                                      </p:to>
                                    </p:set>
                                    <p:animEffect transition="in" filter="fade">
                                      <p:cBhvr>
                                        <p:cTn id="10" dur="500"/>
                                        <p:tgtEl>
                                          <p:spTgt spid="19460">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9460">
                                            <p:txEl>
                                              <p:pRg st="3" end="3"/>
                                            </p:txEl>
                                          </p:spTgt>
                                        </p:tgtEl>
                                        <p:attrNameLst>
                                          <p:attrName>style.visibility</p:attrName>
                                        </p:attrNameLst>
                                      </p:cBhvr>
                                      <p:to>
                                        <p:strVal val="visible"/>
                                      </p:to>
                                    </p:set>
                                    <p:animEffect transition="in" filter="fade">
                                      <p:cBhvr>
                                        <p:cTn id="13" dur="500"/>
                                        <p:tgtEl>
                                          <p:spTgt spid="19460">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9460">
                                            <p:txEl>
                                              <p:pRg st="4" end="4"/>
                                            </p:txEl>
                                          </p:spTgt>
                                        </p:tgtEl>
                                        <p:attrNameLst>
                                          <p:attrName>style.visibility</p:attrName>
                                        </p:attrNameLst>
                                      </p:cBhvr>
                                      <p:to>
                                        <p:strVal val="visible"/>
                                      </p:to>
                                    </p:set>
                                    <p:animEffect transition="in" filter="fade">
                                      <p:cBhvr>
                                        <p:cTn id="18" dur="500"/>
                                        <p:tgtEl>
                                          <p:spTgt spid="19460">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9460">
                                            <p:txEl>
                                              <p:pRg st="5" end="5"/>
                                            </p:txEl>
                                          </p:spTgt>
                                        </p:tgtEl>
                                        <p:attrNameLst>
                                          <p:attrName>style.visibility</p:attrName>
                                        </p:attrNameLst>
                                      </p:cBhvr>
                                      <p:to>
                                        <p:strVal val="visible"/>
                                      </p:to>
                                    </p:set>
                                    <p:animEffect transition="in" filter="fade">
                                      <p:cBhvr>
                                        <p:cTn id="21" dur="500"/>
                                        <p:tgtEl>
                                          <p:spTgt spid="19460">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9460">
                                            <p:txEl>
                                              <p:pRg st="6" end="6"/>
                                            </p:txEl>
                                          </p:spTgt>
                                        </p:tgtEl>
                                        <p:attrNameLst>
                                          <p:attrName>style.visibility</p:attrName>
                                        </p:attrNameLst>
                                      </p:cBhvr>
                                      <p:to>
                                        <p:strVal val="visible"/>
                                      </p:to>
                                    </p:set>
                                    <p:animEffect transition="in" filter="fade">
                                      <p:cBhvr>
                                        <p:cTn id="24" dur="500"/>
                                        <p:tgtEl>
                                          <p:spTgt spid="1946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3"/>
          <p:cNvSpPr>
            <a:spLocks noGrp="1" noChangeArrowheads="1"/>
          </p:cNvSpPr>
          <p:nvPr>
            <p:ph idx="1"/>
          </p:nvPr>
        </p:nvSpPr>
        <p:spPr/>
        <p:txBody>
          <a:bodyPr>
            <a:normAutofit/>
          </a:bodyPr>
          <a:lstStyle/>
          <a:p>
            <a:pPr eaLnBrk="1" hangingPunct="1"/>
            <a:r>
              <a:rPr lang="zh-CN" altLang="en-US" dirty="0">
                <a:latin typeface="Times New Roman" panose="02020603050405020304" pitchFamily="18" charset="0"/>
                <a:cs typeface="Times New Roman" panose="02020603050405020304" pitchFamily="18" charset="0"/>
              </a:rPr>
              <a:t>考虑以下指令序列</a:t>
            </a:r>
            <a:r>
              <a:rPr lang="en-US" altLang="en-US" dirty="0">
                <a:latin typeface="Times New Roman" panose="02020603050405020304" pitchFamily="18" charset="0"/>
                <a:cs typeface="Times New Roman" panose="02020603050405020304" pitchFamily="18" charset="0"/>
              </a:rPr>
              <a:t>:</a:t>
            </a:r>
          </a:p>
          <a:p>
            <a:pPr lvl="1" eaLnBrk="1" hangingPunct="1">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rPr>
              <a:t>	add </a:t>
            </a:r>
            <a:r>
              <a:rPr lang="en-US" altLang="en-US" dirty="0">
                <a:solidFill>
                  <a:schemeClr val="hlink"/>
                </a:solidFill>
                <a:latin typeface="Times New Roman" panose="02020603050405020304" pitchFamily="18" charset="0"/>
                <a:cs typeface="Times New Roman" panose="02020603050405020304" pitchFamily="18" charset="0"/>
              </a:rPr>
              <a:t>x1</a:t>
            </a:r>
            <a:r>
              <a:rPr lang="en-US" altLang="en-US" dirty="0">
                <a:latin typeface="Times New Roman" panose="02020603050405020304" pitchFamily="18" charset="0"/>
                <a:cs typeface="Times New Roman" panose="02020603050405020304" pitchFamily="18" charset="0"/>
              </a:rPr>
              <a:t>,x1,x2</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add </a:t>
            </a:r>
            <a:r>
              <a:rPr lang="en-US" altLang="en-US" dirty="0">
                <a:solidFill>
                  <a:schemeClr val="hlink"/>
                </a:solidFill>
                <a:latin typeface="Times New Roman" panose="02020603050405020304" pitchFamily="18" charset="0"/>
                <a:cs typeface="Times New Roman" panose="02020603050405020304" pitchFamily="18" charset="0"/>
              </a:rPr>
              <a:t>x1</a:t>
            </a:r>
            <a:r>
              <a:rPr lang="en-US" altLang="en-US" dirty="0">
                <a:latin typeface="Times New Roman" panose="02020603050405020304" pitchFamily="18" charset="0"/>
                <a:cs typeface="Times New Roman" panose="02020603050405020304" pitchFamily="18" charset="0"/>
              </a:rPr>
              <a:t>,</a:t>
            </a:r>
            <a:r>
              <a:rPr lang="en-US" altLang="en-US" dirty="0">
                <a:solidFill>
                  <a:schemeClr val="hlink"/>
                </a:solidFill>
                <a:latin typeface="Times New Roman" panose="02020603050405020304" pitchFamily="18" charset="0"/>
                <a:cs typeface="Times New Roman" panose="02020603050405020304" pitchFamily="18" charset="0"/>
              </a:rPr>
              <a:t>x1</a:t>
            </a:r>
            <a:r>
              <a:rPr lang="en-US" altLang="en-US" dirty="0">
                <a:latin typeface="Times New Roman" panose="02020603050405020304" pitchFamily="18" charset="0"/>
                <a:cs typeface="Times New Roman" panose="02020603050405020304" pitchFamily="18" charset="0"/>
              </a:rPr>
              <a:t>,x3</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add x1,</a:t>
            </a:r>
            <a:r>
              <a:rPr lang="en-US" altLang="en-US" dirty="0">
                <a:solidFill>
                  <a:schemeClr val="hlink"/>
                </a:solidFill>
                <a:latin typeface="Times New Roman" panose="02020603050405020304" pitchFamily="18" charset="0"/>
                <a:cs typeface="Times New Roman" panose="02020603050405020304" pitchFamily="18" charset="0"/>
              </a:rPr>
              <a:t>x1</a:t>
            </a:r>
            <a:r>
              <a:rPr lang="en-US" altLang="en-US" dirty="0">
                <a:latin typeface="Times New Roman" panose="02020603050405020304" pitchFamily="18" charset="0"/>
                <a:cs typeface="Times New Roman" panose="02020603050405020304" pitchFamily="18" charset="0"/>
              </a:rPr>
              <a:t>,x4</a:t>
            </a:r>
          </a:p>
          <a:p>
            <a:pPr lvl="1" eaLnBrk="1" hangingPunct="1">
              <a:buFont typeface="Wingdings" panose="05000000000000000000" pitchFamily="2" charset="2"/>
              <a:buNone/>
            </a:pPr>
            <a:endParaRPr lang="en-US" altLang="en-US" dirty="0">
              <a:latin typeface="Times New Roman" panose="02020603050405020304" pitchFamily="18" charset="0"/>
              <a:cs typeface="Times New Roman" panose="02020603050405020304" pitchFamily="18" charset="0"/>
            </a:endParaRPr>
          </a:p>
          <a:p>
            <a:pPr eaLnBrk="1" hangingPunct="1"/>
            <a:r>
              <a:rPr lang="zh-CN" altLang="en-US" dirty="0">
                <a:latin typeface="Times New Roman" panose="02020603050405020304" pitchFamily="18" charset="0"/>
                <a:cs typeface="Times New Roman" panose="02020603050405020304" pitchFamily="18" charset="0"/>
              </a:rPr>
              <a:t>两组数据冒险都发生</a:t>
            </a:r>
            <a:endParaRPr lang="en-US" altLang="zh-CN"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对于第三条指令而言，应该使用最近的结果</a:t>
            </a:r>
          </a:p>
          <a:p>
            <a:pPr lvl="1"/>
            <a:endParaRPr lang="en-US" altLang="en-US" dirty="0">
              <a:latin typeface="Times New Roman" panose="02020603050405020304" pitchFamily="18" charset="0"/>
              <a:cs typeface="Times New Roman" panose="02020603050405020304" pitchFamily="18" charset="0"/>
            </a:endParaRPr>
          </a:p>
          <a:p>
            <a:pPr eaLnBrk="1" hangingPunct="1"/>
            <a:r>
              <a:rPr lang="en-US" altLang="zh-CN" dirty="0">
                <a:latin typeface="Times New Roman" panose="02020603050405020304" pitchFamily="18" charset="0"/>
                <a:cs typeface="Times New Roman" panose="02020603050405020304" pitchFamily="18" charset="0"/>
              </a:rPr>
              <a:t>MEM</a:t>
            </a:r>
            <a:r>
              <a:rPr lang="zh-CN" altLang="en-US" dirty="0">
                <a:latin typeface="Times New Roman" panose="02020603050405020304" pitchFamily="18" charset="0"/>
                <a:cs typeface="Times New Roman" panose="02020603050405020304" pitchFamily="18" charset="0"/>
              </a:rPr>
              <a:t>冒险前递的条件：只有</a:t>
            </a:r>
            <a:r>
              <a:rPr lang="en-US" altLang="zh-CN" dirty="0">
                <a:latin typeface="Times New Roman" panose="02020603050405020304" pitchFamily="18" charset="0"/>
                <a:cs typeface="Times New Roman" panose="02020603050405020304" pitchFamily="18" charset="0"/>
              </a:rPr>
              <a:t>EX</a:t>
            </a:r>
            <a:r>
              <a:rPr lang="zh-CN" altLang="en-US" dirty="0">
                <a:latin typeface="Times New Roman" panose="02020603050405020304" pitchFamily="18" charset="0"/>
                <a:cs typeface="Times New Roman" panose="02020603050405020304" pitchFamily="18" charset="0"/>
              </a:rPr>
              <a:t>冒险不发生的时候才前递</a:t>
            </a:r>
            <a:endParaRPr lang="en-US" altLang="zh-CN" dirty="0">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8EE8E787-E6FE-45D8-9039-788B45E44EE7}" type="slidenum">
              <a:rPr lang="zh-CN" altLang="en-US" smtClean="0"/>
              <a:t>58</a:t>
            </a:fld>
            <a:endParaRPr lang="zh-CN" altLang="en-US" dirty="0"/>
          </a:p>
        </p:txBody>
      </p:sp>
      <p:grpSp>
        <p:nvGrpSpPr>
          <p:cNvPr id="42" name="组合 41"/>
          <p:cNvGrpSpPr/>
          <p:nvPr/>
        </p:nvGrpSpPr>
        <p:grpSpPr>
          <a:xfrm>
            <a:off x="5029822" y="1813882"/>
            <a:ext cx="6938641" cy="1166495"/>
            <a:chOff x="2276471" y="4581525"/>
            <a:chExt cx="6938641" cy="1166495"/>
          </a:xfrm>
        </p:grpSpPr>
        <p:sp>
          <p:nvSpPr>
            <p:cNvPr id="43" name="矩形 42"/>
            <p:cNvSpPr/>
            <p:nvPr/>
          </p:nvSpPr>
          <p:spPr>
            <a:xfrm>
              <a:off x="2276471" y="458343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取指令</a:t>
              </a:r>
              <a:endParaRPr lang="en-US" altLang="zh-CN" sz="2000" dirty="0">
                <a:latin typeface="Times New Roman" panose="02020603050405020304" pitchFamily="18" charset="0"/>
                <a:cs typeface="Times New Roman" panose="02020603050405020304" pitchFamily="18" charset="0"/>
              </a:endParaRPr>
            </a:p>
          </p:txBody>
        </p:sp>
        <p:sp>
          <p:nvSpPr>
            <p:cNvPr id="44" name="矩形 43"/>
            <p:cNvSpPr/>
            <p:nvPr/>
          </p:nvSpPr>
          <p:spPr>
            <a:xfrm>
              <a:off x="5250176" y="458343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访存</a:t>
              </a:r>
              <a:endParaRPr lang="en-US" altLang="zh-CN" sz="2000" dirty="0">
                <a:latin typeface="Times New Roman" panose="02020603050405020304" pitchFamily="18" charset="0"/>
                <a:cs typeface="Times New Roman" panose="02020603050405020304" pitchFamily="18" charset="0"/>
              </a:endParaRPr>
            </a:p>
          </p:txBody>
        </p:sp>
        <p:sp>
          <p:nvSpPr>
            <p:cNvPr id="45" name="矩形 44"/>
            <p:cNvSpPr/>
            <p:nvPr/>
          </p:nvSpPr>
          <p:spPr>
            <a:xfrm>
              <a:off x="4258940" y="458216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执行</a:t>
              </a:r>
              <a:endParaRPr lang="en-US" altLang="zh-CN" sz="2000" dirty="0">
                <a:latin typeface="Times New Roman" panose="02020603050405020304" pitchFamily="18" charset="0"/>
                <a:cs typeface="Times New Roman" panose="02020603050405020304" pitchFamily="18" charset="0"/>
              </a:endParaRPr>
            </a:p>
          </p:txBody>
        </p:sp>
        <p:sp>
          <p:nvSpPr>
            <p:cNvPr id="46" name="矩形 45"/>
            <p:cNvSpPr/>
            <p:nvPr/>
          </p:nvSpPr>
          <p:spPr>
            <a:xfrm>
              <a:off x="3267705" y="458216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译码</a:t>
              </a:r>
              <a:endParaRPr lang="en-US" altLang="zh-CN" sz="2000" dirty="0"/>
            </a:p>
          </p:txBody>
        </p:sp>
        <p:sp>
          <p:nvSpPr>
            <p:cNvPr id="47" name="矩形 46"/>
            <p:cNvSpPr/>
            <p:nvPr/>
          </p:nvSpPr>
          <p:spPr>
            <a:xfrm>
              <a:off x="6241409" y="458152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写回</a:t>
              </a:r>
              <a:endParaRPr lang="en-US" altLang="zh-CN" sz="2000" dirty="0">
                <a:latin typeface="Times New Roman" panose="02020603050405020304" pitchFamily="18" charset="0"/>
                <a:cs typeface="Times New Roman" panose="02020603050405020304" pitchFamily="18" charset="0"/>
              </a:endParaRPr>
            </a:p>
          </p:txBody>
        </p:sp>
        <p:sp>
          <p:nvSpPr>
            <p:cNvPr id="48" name="矩形 47"/>
            <p:cNvSpPr/>
            <p:nvPr/>
          </p:nvSpPr>
          <p:spPr>
            <a:xfrm>
              <a:off x="3267705" y="497078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取指令</a:t>
              </a:r>
              <a:endParaRPr lang="en-US" altLang="zh-CN" sz="2000" dirty="0">
                <a:latin typeface="Times New Roman" panose="02020603050405020304" pitchFamily="18" charset="0"/>
                <a:cs typeface="Times New Roman" panose="02020603050405020304" pitchFamily="18" charset="0"/>
              </a:endParaRPr>
            </a:p>
          </p:txBody>
        </p:sp>
        <p:sp>
          <p:nvSpPr>
            <p:cNvPr id="49" name="矩形 48"/>
            <p:cNvSpPr/>
            <p:nvPr/>
          </p:nvSpPr>
          <p:spPr>
            <a:xfrm>
              <a:off x="6241410" y="497078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访存</a:t>
              </a:r>
              <a:endParaRPr lang="en-US" altLang="zh-CN" sz="2000" dirty="0">
                <a:latin typeface="Times New Roman" panose="02020603050405020304" pitchFamily="18" charset="0"/>
                <a:cs typeface="Times New Roman" panose="02020603050405020304" pitchFamily="18" charset="0"/>
              </a:endParaRPr>
            </a:p>
          </p:txBody>
        </p:sp>
        <p:sp>
          <p:nvSpPr>
            <p:cNvPr id="50" name="矩形 49"/>
            <p:cNvSpPr/>
            <p:nvPr/>
          </p:nvSpPr>
          <p:spPr>
            <a:xfrm>
              <a:off x="5250174" y="496951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执行</a:t>
              </a:r>
              <a:endParaRPr lang="en-US" altLang="zh-CN" sz="2000" dirty="0">
                <a:latin typeface="Times New Roman" panose="02020603050405020304" pitchFamily="18" charset="0"/>
                <a:cs typeface="Times New Roman" panose="02020603050405020304" pitchFamily="18" charset="0"/>
              </a:endParaRPr>
            </a:p>
          </p:txBody>
        </p:sp>
        <p:sp>
          <p:nvSpPr>
            <p:cNvPr id="52" name="矩形 51"/>
            <p:cNvSpPr/>
            <p:nvPr/>
          </p:nvSpPr>
          <p:spPr>
            <a:xfrm>
              <a:off x="4258939" y="496951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译码</a:t>
              </a:r>
              <a:endParaRPr lang="en-US" altLang="zh-CN" sz="2000" dirty="0"/>
            </a:p>
          </p:txBody>
        </p:sp>
        <p:sp>
          <p:nvSpPr>
            <p:cNvPr id="53" name="矩形 52"/>
            <p:cNvSpPr/>
            <p:nvPr/>
          </p:nvSpPr>
          <p:spPr>
            <a:xfrm>
              <a:off x="7232643" y="496887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写回</a:t>
              </a:r>
              <a:endParaRPr lang="en-US" altLang="zh-CN" sz="2000" dirty="0">
                <a:latin typeface="Times New Roman" panose="02020603050405020304" pitchFamily="18" charset="0"/>
                <a:cs typeface="Times New Roman" panose="02020603050405020304" pitchFamily="18" charset="0"/>
              </a:endParaRPr>
            </a:p>
          </p:txBody>
        </p:sp>
        <p:sp>
          <p:nvSpPr>
            <p:cNvPr id="54" name="矩形 53"/>
            <p:cNvSpPr/>
            <p:nvPr/>
          </p:nvSpPr>
          <p:spPr>
            <a:xfrm>
              <a:off x="4258939" y="536067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取指令</a:t>
              </a:r>
              <a:endParaRPr lang="en-US" altLang="zh-CN" sz="2000" dirty="0">
                <a:latin typeface="Times New Roman" panose="02020603050405020304" pitchFamily="18" charset="0"/>
                <a:cs typeface="Times New Roman" panose="02020603050405020304" pitchFamily="18" charset="0"/>
              </a:endParaRPr>
            </a:p>
          </p:txBody>
        </p:sp>
        <p:sp>
          <p:nvSpPr>
            <p:cNvPr id="55" name="矩形 54"/>
            <p:cNvSpPr/>
            <p:nvPr/>
          </p:nvSpPr>
          <p:spPr>
            <a:xfrm>
              <a:off x="7232644" y="536067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访存</a:t>
              </a:r>
              <a:endParaRPr lang="en-US" altLang="zh-CN" sz="2000" dirty="0">
                <a:latin typeface="Times New Roman" panose="02020603050405020304" pitchFamily="18" charset="0"/>
                <a:cs typeface="Times New Roman" panose="02020603050405020304" pitchFamily="18" charset="0"/>
              </a:endParaRPr>
            </a:p>
          </p:txBody>
        </p:sp>
        <p:sp>
          <p:nvSpPr>
            <p:cNvPr id="56" name="矩形 55"/>
            <p:cNvSpPr/>
            <p:nvPr/>
          </p:nvSpPr>
          <p:spPr>
            <a:xfrm>
              <a:off x="6241408" y="535940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执行</a:t>
              </a:r>
              <a:endParaRPr lang="en-US" altLang="zh-CN" sz="2000" dirty="0">
                <a:latin typeface="Times New Roman" panose="02020603050405020304" pitchFamily="18" charset="0"/>
                <a:cs typeface="Times New Roman" panose="02020603050405020304" pitchFamily="18" charset="0"/>
              </a:endParaRPr>
            </a:p>
          </p:txBody>
        </p:sp>
        <p:sp>
          <p:nvSpPr>
            <p:cNvPr id="57" name="矩形 56"/>
            <p:cNvSpPr/>
            <p:nvPr/>
          </p:nvSpPr>
          <p:spPr>
            <a:xfrm>
              <a:off x="5250173" y="5359400"/>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译码</a:t>
              </a:r>
              <a:endParaRPr lang="en-US" altLang="zh-CN" sz="2000" dirty="0"/>
            </a:p>
          </p:txBody>
        </p:sp>
        <p:sp>
          <p:nvSpPr>
            <p:cNvPr id="58" name="矩形 57"/>
            <p:cNvSpPr/>
            <p:nvPr/>
          </p:nvSpPr>
          <p:spPr>
            <a:xfrm>
              <a:off x="8223877" y="5358765"/>
              <a:ext cx="991235" cy="387350"/>
            </a:xfrm>
            <a:prstGeom prst="rect">
              <a:avLst/>
            </a:prstGeom>
            <a:ln w="15875">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sz="2000" dirty="0">
                  <a:latin typeface="Times New Roman" panose="02020603050405020304" pitchFamily="18" charset="0"/>
                  <a:cs typeface="Times New Roman" panose="02020603050405020304" pitchFamily="18" charset="0"/>
                </a:rPr>
                <a:t>写回</a:t>
              </a:r>
              <a:endParaRPr lang="en-US" altLang="zh-CN" sz="2000" dirty="0">
                <a:latin typeface="Times New Roman" panose="02020603050405020304" pitchFamily="18" charset="0"/>
                <a:cs typeface="Times New Roman" panose="02020603050405020304" pitchFamily="18" charset="0"/>
              </a:endParaRPr>
            </a:p>
          </p:txBody>
        </p:sp>
      </p:grpSp>
      <p:sp>
        <p:nvSpPr>
          <p:cNvPr id="4" name="标题 3"/>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MEM</a:t>
            </a:r>
            <a:r>
              <a:rPr lang="zh-CN" altLang="en-US" dirty="0">
                <a:latin typeface="Times New Roman" panose="02020603050405020304" pitchFamily="18" charset="0"/>
                <a:cs typeface="Times New Roman" panose="02020603050405020304" pitchFamily="18" charset="0"/>
              </a:rPr>
              <a:t>冒险</a:t>
            </a:r>
            <a:r>
              <a:rPr lang="zh-CN" altLang="en-US" dirty="0"/>
              <a:t>检测仍有问题：两次数据冒险</a:t>
            </a:r>
          </a:p>
        </p:txBody>
      </p:sp>
      <p:sp>
        <p:nvSpPr>
          <p:cNvPr id="16" name="矩形 15"/>
          <p:cNvSpPr/>
          <p:nvPr/>
        </p:nvSpPr>
        <p:spPr>
          <a:xfrm>
            <a:off x="7977714" y="2202611"/>
            <a:ext cx="46040" cy="381635"/>
          </a:xfrm>
          <a:prstGeom prst="rect">
            <a:avLst/>
          </a:prstGeom>
          <a:solidFill>
            <a:srgbClr val="FF0000">
              <a:alpha val="70000"/>
            </a:srgbClr>
          </a:solidFill>
          <a:effectLst>
            <a:reflection endPos="0" dist="50800" dir="5400000" sy="-100000" algn="bl" rotWithShape="0"/>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7" name="矩形 16"/>
          <p:cNvSpPr/>
          <p:nvPr/>
        </p:nvSpPr>
        <p:spPr>
          <a:xfrm>
            <a:off x="8976966" y="1803514"/>
            <a:ext cx="46040" cy="381635"/>
          </a:xfrm>
          <a:prstGeom prst="rect">
            <a:avLst/>
          </a:prstGeom>
          <a:solidFill>
            <a:srgbClr val="FF0000">
              <a:alpha val="70000"/>
            </a:srgbClr>
          </a:solidFill>
          <a:effectLst>
            <a:reflection endPos="0" dist="50800" dir="5400000" sy="-100000" algn="bl" rotWithShape="0"/>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8" name="矩形 17"/>
          <p:cNvSpPr/>
          <p:nvPr/>
        </p:nvSpPr>
        <p:spPr>
          <a:xfrm>
            <a:off x="8976966" y="2202611"/>
            <a:ext cx="46040" cy="381635"/>
          </a:xfrm>
          <a:prstGeom prst="rect">
            <a:avLst/>
          </a:prstGeom>
          <a:solidFill>
            <a:srgbClr val="FF0000">
              <a:alpha val="70000"/>
            </a:srgbClr>
          </a:solidFill>
          <a:effectLst>
            <a:reflection endPos="0" dist="50800" dir="5400000" sy="-100000" algn="bl" rotWithShape="0"/>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19" name="矩形 18"/>
          <p:cNvSpPr/>
          <p:nvPr/>
        </p:nvSpPr>
        <p:spPr>
          <a:xfrm>
            <a:off x="8976966" y="2584246"/>
            <a:ext cx="46040" cy="381635"/>
          </a:xfrm>
          <a:prstGeom prst="rect">
            <a:avLst/>
          </a:prstGeom>
          <a:solidFill>
            <a:srgbClr val="FF0000">
              <a:alpha val="70000"/>
            </a:srgbClr>
          </a:solidFill>
          <a:effectLst>
            <a:reflection endPos="0" dist="50800" dir="5400000" sy="-100000" algn="bl" rotWithShape="0"/>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20" name="箭头: 左弧形 19"/>
          <p:cNvSpPr/>
          <p:nvPr/>
        </p:nvSpPr>
        <p:spPr>
          <a:xfrm>
            <a:off x="7676445" y="2008936"/>
            <a:ext cx="285750" cy="387350"/>
          </a:xfrm>
          <a:prstGeom prst="curvedRightArrow">
            <a:avLst/>
          </a:prstGeom>
          <a:solidFill>
            <a:srgbClr val="0000FF">
              <a:alpha val="6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箭头: 左弧形 20"/>
          <p:cNvSpPr/>
          <p:nvPr/>
        </p:nvSpPr>
        <p:spPr>
          <a:xfrm>
            <a:off x="8684298" y="2393428"/>
            <a:ext cx="285750" cy="387350"/>
          </a:xfrm>
          <a:prstGeom prst="curvedRightArrow">
            <a:avLst/>
          </a:prstGeom>
          <a:solidFill>
            <a:srgbClr val="0000FF">
              <a:alpha val="6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箭头: 左弧形 21"/>
          <p:cNvSpPr/>
          <p:nvPr/>
        </p:nvSpPr>
        <p:spPr>
          <a:xfrm>
            <a:off x="8570695" y="1968735"/>
            <a:ext cx="390752" cy="823352"/>
          </a:xfrm>
          <a:prstGeom prst="curvedRightArrow">
            <a:avLst/>
          </a:prstGeom>
          <a:solidFill>
            <a:schemeClr val="accent1">
              <a:lumMod val="20000"/>
              <a:lumOff val="80000"/>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0" name="矩形 59"/>
          <p:cNvSpPr/>
          <p:nvPr/>
        </p:nvSpPr>
        <p:spPr>
          <a:xfrm>
            <a:off x="7965839" y="1810257"/>
            <a:ext cx="46040" cy="381635"/>
          </a:xfrm>
          <a:prstGeom prst="rect">
            <a:avLst/>
          </a:prstGeom>
          <a:solidFill>
            <a:srgbClr val="FF0000">
              <a:alpha val="70000"/>
            </a:srgbClr>
          </a:solidFill>
          <a:effectLst>
            <a:reflection endPos="0" dist="50800" dir="5400000" sy="-100000" algn="bl" rotWithShape="0"/>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412">
                                            <p:txEl>
                                              <p:pRg st="3" end="3"/>
                                            </p:txEl>
                                          </p:spTgt>
                                        </p:tgtEl>
                                        <p:attrNameLst>
                                          <p:attrName>style.visibility</p:attrName>
                                        </p:attrNameLst>
                                      </p:cBhvr>
                                      <p:to>
                                        <p:strVal val="visible"/>
                                      </p:to>
                                    </p:set>
                                    <p:animEffect transition="in" filter="fade">
                                      <p:cBhvr>
                                        <p:cTn id="7" dur="500"/>
                                        <p:tgtEl>
                                          <p:spTgt spid="17412">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7412">
                                            <p:txEl>
                                              <p:pRg st="4" end="4"/>
                                            </p:txEl>
                                          </p:spTgt>
                                        </p:tgtEl>
                                        <p:attrNameLst>
                                          <p:attrName>style.visibility</p:attrName>
                                        </p:attrNameLst>
                                      </p:cBhvr>
                                      <p:to>
                                        <p:strVal val="visible"/>
                                      </p:to>
                                    </p:set>
                                    <p:animEffect transition="in" filter="fade">
                                      <p:cBhvr>
                                        <p:cTn id="10" dur="500"/>
                                        <p:tgtEl>
                                          <p:spTgt spid="17412">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7412">
                                            <p:txEl>
                                              <p:pRg st="6" end="6"/>
                                            </p:txEl>
                                          </p:spTgt>
                                        </p:tgtEl>
                                        <p:attrNameLst>
                                          <p:attrName>style.visibility</p:attrName>
                                        </p:attrNameLst>
                                      </p:cBhvr>
                                      <p:to>
                                        <p:strVal val="visible"/>
                                      </p:to>
                                    </p:set>
                                    <p:animEffect transition="in" filter="fade">
                                      <p:cBhvr>
                                        <p:cTn id="15" dur="500"/>
                                        <p:tgtEl>
                                          <p:spTgt spid="174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3"/>
          <p:cNvSpPr>
            <a:spLocks noGrp="1" noChangeArrowheads="1"/>
          </p:cNvSpPr>
          <p:nvPr>
            <p:ph idx="1"/>
          </p:nvPr>
        </p:nvSpPr>
        <p:spPr/>
        <p:txBody>
          <a:bodyPr>
            <a:normAutofit fontScale="92500" lnSpcReduction="10000"/>
          </a:bodyPr>
          <a:lstStyle/>
          <a:p>
            <a:pPr marL="0" indent="0" eaLnBrk="1" hangingPunct="1">
              <a:lnSpc>
                <a:spcPct val="115000"/>
              </a:lnSpc>
              <a:spcAft>
                <a:spcPts val="0"/>
              </a:spcAft>
              <a:buNone/>
            </a:pPr>
            <a:r>
              <a:rPr lang="en-US" altLang="en-AU" sz="3000" dirty="0">
                <a:latin typeface="Times New Roman" panose="02020603050405020304" pitchFamily="18" charset="0"/>
                <a:cs typeface="Times New Roman" panose="02020603050405020304" pitchFamily="18" charset="0"/>
              </a:rPr>
              <a:t>   </a:t>
            </a:r>
            <a:r>
              <a:rPr lang="en-AU" altLang="en-US" sz="3000" dirty="0">
                <a:latin typeface="Times New Roman" panose="02020603050405020304" pitchFamily="18" charset="0"/>
                <a:cs typeface="Times New Roman" panose="02020603050405020304" pitchFamily="18" charset="0"/>
              </a:rPr>
              <a:t>if ( MEM/</a:t>
            </a:r>
            <a:r>
              <a:rPr lang="en-AU" altLang="en-US" sz="3000" dirty="0" err="1">
                <a:latin typeface="Times New Roman" panose="02020603050405020304" pitchFamily="18" charset="0"/>
                <a:cs typeface="Times New Roman" panose="02020603050405020304" pitchFamily="18" charset="0"/>
              </a:rPr>
              <a:t>WB.RegWrite </a:t>
            </a:r>
            <a:r>
              <a:rPr lang="en-AU" altLang="en-US" sz="3000" b="1" dirty="0">
                <a:latin typeface="Times New Roman" panose="02020603050405020304" pitchFamily="18" charset="0"/>
                <a:cs typeface="Times New Roman" panose="02020603050405020304" pitchFamily="18" charset="0"/>
              </a:rPr>
              <a:t>and </a:t>
            </a:r>
            <a:r>
              <a:rPr lang="en-AU" altLang="en-US" sz="3000" dirty="0">
                <a:latin typeface="Times New Roman" panose="02020603050405020304" pitchFamily="18" charset="0"/>
                <a:cs typeface="Times New Roman" panose="02020603050405020304" pitchFamily="18" charset="0"/>
              </a:rPr>
              <a:t>(MEM/</a:t>
            </a:r>
            <a:r>
              <a:rPr lang="en-AU" altLang="en-US" sz="3000" dirty="0" err="1">
                <a:latin typeface="Times New Roman" panose="02020603050405020304" pitchFamily="18" charset="0"/>
                <a:cs typeface="Times New Roman" panose="02020603050405020304" pitchFamily="18" charset="0"/>
              </a:rPr>
              <a:t>WB.RegisterRd</a:t>
            </a:r>
            <a:r>
              <a:rPr lang="en-AU" altLang="en-US" sz="3000" dirty="0">
                <a:latin typeface="Times New Roman" panose="02020603050405020304" pitchFamily="18" charset="0"/>
                <a:cs typeface="Times New Roman" panose="02020603050405020304" pitchFamily="18" charset="0"/>
              </a:rPr>
              <a:t> ≠ 0)   </a:t>
            </a:r>
            <a:r>
              <a:rPr lang="en-AU" altLang="en-US" sz="3000" b="1" dirty="0">
                <a:solidFill>
                  <a:srgbClr val="0070C0"/>
                </a:solidFill>
                <a:latin typeface="Times New Roman" panose="02020603050405020304" pitchFamily="18" charset="0"/>
                <a:cs typeface="Times New Roman" panose="02020603050405020304" pitchFamily="18" charset="0"/>
              </a:rPr>
              <a:t>and   </a:t>
            </a:r>
            <a:r>
              <a:rPr lang="en-US" altLang="en-AU" sz="3000" b="1" dirty="0">
                <a:solidFill>
                  <a:srgbClr val="0070C0"/>
                </a:solidFill>
                <a:latin typeface="Times New Roman" panose="02020603050405020304" pitchFamily="18" charset="0"/>
                <a:cs typeface="Times New Roman" panose="02020603050405020304" pitchFamily="18" charset="0"/>
              </a:rPr>
              <a:t>	</a:t>
            </a:r>
          </a:p>
          <a:p>
            <a:pPr marL="0" indent="0" eaLnBrk="1" hangingPunct="1">
              <a:lnSpc>
                <a:spcPct val="115000"/>
              </a:lnSpc>
              <a:spcAft>
                <a:spcPts val="0"/>
              </a:spcAft>
              <a:buNone/>
            </a:pPr>
            <a:r>
              <a:rPr lang="en-US" altLang="en-AU" sz="3000" b="1" dirty="0">
                <a:solidFill>
                  <a:srgbClr val="0070C0"/>
                </a:solidFill>
                <a:latin typeface="Times New Roman" panose="02020603050405020304" pitchFamily="18" charset="0"/>
                <a:cs typeface="Times New Roman" panose="02020603050405020304" pitchFamily="18" charset="0"/>
              </a:rPr>
              <a:t>          </a:t>
            </a:r>
            <a:r>
              <a:rPr lang="en-AU" altLang="en-US" sz="3000" dirty="0">
                <a:solidFill>
                  <a:srgbClr val="0070C0"/>
                </a:solidFill>
                <a:latin typeface="Times New Roman" panose="02020603050405020304" pitchFamily="18" charset="0"/>
                <a:cs typeface="Times New Roman" panose="02020603050405020304" pitchFamily="18" charset="0"/>
              </a:rPr>
              <a:t>not (EX/</a:t>
            </a:r>
            <a:r>
              <a:rPr lang="en-AU" altLang="en-US" sz="3000" dirty="0" err="1">
                <a:solidFill>
                  <a:srgbClr val="0070C0"/>
                </a:solidFill>
                <a:latin typeface="Times New Roman" panose="02020603050405020304" pitchFamily="18" charset="0"/>
                <a:cs typeface="Times New Roman" panose="02020603050405020304" pitchFamily="18" charset="0"/>
              </a:rPr>
              <a:t>MEM.RegWrite</a:t>
            </a:r>
            <a:r>
              <a:rPr lang="en-AU" altLang="en-US" sz="3000" dirty="0">
                <a:solidFill>
                  <a:srgbClr val="0070C0"/>
                </a:solidFill>
                <a:latin typeface="Times New Roman" panose="02020603050405020304" pitchFamily="18" charset="0"/>
                <a:cs typeface="Times New Roman" panose="02020603050405020304" pitchFamily="18" charset="0"/>
              </a:rPr>
              <a:t> and (EX/</a:t>
            </a:r>
            <a:r>
              <a:rPr lang="en-AU" altLang="en-US" sz="3000" dirty="0" err="1">
                <a:solidFill>
                  <a:srgbClr val="0070C0"/>
                </a:solidFill>
                <a:latin typeface="Times New Roman" panose="02020603050405020304" pitchFamily="18" charset="0"/>
                <a:cs typeface="Times New Roman" panose="02020603050405020304" pitchFamily="18" charset="0"/>
              </a:rPr>
              <a:t>MEM.RegisterRd</a:t>
            </a:r>
            <a:r>
              <a:rPr lang="en-AU" altLang="en-US" sz="3000" dirty="0">
                <a:solidFill>
                  <a:srgbClr val="0070C0"/>
                </a:solidFill>
                <a:latin typeface="Times New Roman" panose="02020603050405020304" pitchFamily="18" charset="0"/>
                <a:cs typeface="Times New Roman" panose="02020603050405020304" pitchFamily="18" charset="0"/>
              </a:rPr>
              <a:t> ≠ 0)   </a:t>
            </a:r>
            <a:r>
              <a:rPr lang="en-AU" altLang="en-US" sz="3000" b="1" dirty="0">
                <a:solidFill>
                  <a:srgbClr val="0070C0"/>
                </a:solidFill>
                <a:latin typeface="Times New Roman" panose="02020603050405020304" pitchFamily="18" charset="0"/>
                <a:cs typeface="Times New Roman" panose="02020603050405020304" pitchFamily="18" charset="0"/>
              </a:rPr>
              <a:t>and</a:t>
            </a:r>
          </a:p>
          <a:p>
            <a:pPr marL="285750" lvl="1" indent="0" eaLnBrk="1" hangingPunct="1">
              <a:lnSpc>
                <a:spcPct val="115000"/>
              </a:lnSpc>
              <a:spcAft>
                <a:spcPts val="0"/>
              </a:spcAft>
              <a:buNone/>
            </a:pPr>
            <a:r>
              <a:rPr lang="en-AU" altLang="en-US" sz="3000" b="1" dirty="0">
                <a:solidFill>
                  <a:srgbClr val="0070C0"/>
                </a:solidFill>
                <a:latin typeface="Times New Roman" panose="02020603050405020304" pitchFamily="18" charset="0"/>
                <a:cs typeface="Times New Roman" panose="02020603050405020304" pitchFamily="18" charset="0"/>
              </a:rPr>
              <a:t>             </a:t>
            </a:r>
            <a:r>
              <a:rPr lang="en-AU" altLang="en-US" sz="3000" dirty="0">
                <a:solidFill>
                  <a:srgbClr val="0070C0"/>
                </a:solidFill>
                <a:latin typeface="Times New Roman" panose="02020603050405020304" pitchFamily="18" charset="0"/>
                <a:cs typeface="Times New Roman" panose="02020603050405020304" pitchFamily="18" charset="0"/>
              </a:rPr>
              <a:t>(EX/</a:t>
            </a:r>
            <a:r>
              <a:rPr lang="en-AU" altLang="en-US" sz="3000" dirty="0" err="1">
                <a:solidFill>
                  <a:srgbClr val="0070C0"/>
                </a:solidFill>
                <a:latin typeface="Times New Roman" panose="02020603050405020304" pitchFamily="18" charset="0"/>
                <a:cs typeface="Times New Roman" panose="02020603050405020304" pitchFamily="18" charset="0"/>
              </a:rPr>
              <a:t>MEM.RegisterRd</a:t>
            </a:r>
            <a:r>
              <a:rPr lang="en-AU" altLang="en-US" sz="3000" dirty="0">
                <a:solidFill>
                  <a:srgbClr val="0070C0"/>
                </a:solidFill>
                <a:latin typeface="Times New Roman" panose="02020603050405020304" pitchFamily="18" charset="0"/>
                <a:cs typeface="Times New Roman" panose="02020603050405020304" pitchFamily="18" charset="0"/>
              </a:rPr>
              <a:t> </a:t>
            </a:r>
            <a:r>
              <a:rPr lang="en-US" altLang="zh-CN" sz="3000" dirty="0">
                <a:solidFill>
                  <a:srgbClr val="0070C0"/>
                </a:solidFill>
                <a:latin typeface="Times New Roman" panose="02020603050405020304" pitchFamily="18" charset="0"/>
                <a:cs typeface="Times New Roman" panose="02020603050405020304" pitchFamily="18" charset="0"/>
              </a:rPr>
              <a:t>=</a:t>
            </a:r>
            <a:r>
              <a:rPr lang="en-AU" altLang="en-US" sz="3000" dirty="0">
                <a:solidFill>
                  <a:srgbClr val="0070C0"/>
                </a:solidFill>
                <a:latin typeface="Times New Roman" panose="02020603050405020304" pitchFamily="18" charset="0"/>
                <a:cs typeface="Times New Roman" panose="02020603050405020304" pitchFamily="18" charset="0"/>
              </a:rPr>
              <a:t> </a:t>
            </a:r>
            <a:r>
              <a:rPr lang="en-AU" altLang="en-US" sz="3000" dirty="0">
                <a:solidFill>
                  <a:srgbClr val="CC3399"/>
                </a:solidFill>
                <a:latin typeface="Times New Roman" panose="02020603050405020304" pitchFamily="18" charset="0"/>
                <a:cs typeface="Times New Roman" panose="02020603050405020304" pitchFamily="18" charset="0"/>
              </a:rPr>
              <a:t>ID/EX.RegisterRs1</a:t>
            </a:r>
            <a:r>
              <a:rPr lang="en-AU" altLang="en-US" sz="3000" dirty="0">
                <a:solidFill>
                  <a:srgbClr val="0070C0"/>
                </a:solidFill>
                <a:latin typeface="Times New Roman" panose="02020603050405020304" pitchFamily="18" charset="0"/>
                <a:cs typeface="Times New Roman" panose="02020603050405020304" pitchFamily="18" charset="0"/>
              </a:rPr>
              <a:t>))</a:t>
            </a:r>
            <a:r>
              <a:rPr lang="en-AU" altLang="en-US" sz="3000" dirty="0">
                <a:latin typeface="Times New Roman" panose="02020603050405020304" pitchFamily="18" charset="0"/>
                <a:cs typeface="Times New Roman" panose="02020603050405020304" pitchFamily="18" charset="0"/>
              </a:rPr>
              <a:t> </a:t>
            </a:r>
            <a:r>
              <a:rPr lang="en-US" altLang="en-AU" sz="3000" b="1" dirty="0">
                <a:latin typeface="Times New Roman" panose="02020603050405020304" pitchFamily="18" charset="0"/>
                <a:cs typeface="Times New Roman" panose="02020603050405020304" pitchFamily="18" charset="0"/>
              </a:rPr>
              <a:t>//</a:t>
            </a:r>
            <a:r>
              <a:rPr lang="zh-CN" altLang="en-US" sz="3000" b="1" dirty="0">
                <a:latin typeface="Times New Roman" panose="02020603050405020304" pitchFamily="18" charset="0"/>
                <a:cs typeface="Times New Roman" panose="02020603050405020304" pitchFamily="18" charset="0"/>
              </a:rPr>
              <a:t>无</a:t>
            </a:r>
            <a:r>
              <a:rPr lang="en-US" altLang="zh-CN" sz="3000" b="1" dirty="0">
                <a:latin typeface="Times New Roman" panose="02020603050405020304" pitchFamily="18" charset="0"/>
                <a:cs typeface="Times New Roman" panose="02020603050405020304" pitchFamily="18" charset="0"/>
              </a:rPr>
              <a:t>EX</a:t>
            </a:r>
            <a:r>
              <a:rPr lang="zh-CN" altLang="en-US" sz="3000" b="1" dirty="0">
                <a:latin typeface="Times New Roman" panose="02020603050405020304" pitchFamily="18" charset="0"/>
                <a:cs typeface="Times New Roman" panose="02020603050405020304" pitchFamily="18" charset="0"/>
              </a:rPr>
              <a:t>冒险</a:t>
            </a:r>
            <a:endParaRPr lang="en-AU" altLang="en-US" sz="3000" b="1" dirty="0">
              <a:latin typeface="Times New Roman" panose="02020603050405020304" pitchFamily="18" charset="0"/>
              <a:cs typeface="Times New Roman" panose="02020603050405020304" pitchFamily="18" charset="0"/>
            </a:endParaRPr>
          </a:p>
          <a:p>
            <a:pPr marL="285750" lvl="1" indent="0">
              <a:lnSpc>
                <a:spcPct val="115000"/>
              </a:lnSpc>
              <a:buNone/>
            </a:pPr>
            <a:r>
              <a:rPr lang="en-AU" altLang="en-US" sz="3000" dirty="0">
                <a:latin typeface="Times New Roman" panose="02020603050405020304" pitchFamily="18" charset="0"/>
                <a:cs typeface="Times New Roman" panose="02020603050405020304" pitchFamily="18" charset="0"/>
              </a:rPr>
              <a:t>      </a:t>
            </a:r>
            <a:r>
              <a:rPr lang="en-AU" altLang="en-US" sz="3000" b="1" dirty="0">
                <a:latin typeface="Times New Roman" panose="02020603050405020304" pitchFamily="18" charset="0"/>
                <a:cs typeface="Times New Roman" panose="02020603050405020304" pitchFamily="18" charset="0"/>
              </a:rPr>
              <a:t>and</a:t>
            </a:r>
            <a:r>
              <a:rPr lang="en-AU" altLang="en-US" sz="3000" dirty="0">
                <a:latin typeface="Times New Roman" panose="02020603050405020304" pitchFamily="18" charset="0"/>
                <a:cs typeface="Times New Roman" panose="02020603050405020304" pitchFamily="18" charset="0"/>
              </a:rPr>
              <a:t> (MEM/</a:t>
            </a:r>
            <a:r>
              <a:rPr lang="en-AU" altLang="en-US" sz="3000" dirty="0" err="1">
                <a:latin typeface="Times New Roman" panose="02020603050405020304" pitchFamily="18" charset="0"/>
                <a:cs typeface="Times New Roman" panose="02020603050405020304" pitchFamily="18" charset="0"/>
              </a:rPr>
              <a:t>WB.RegisterRd</a:t>
            </a:r>
            <a:r>
              <a:rPr lang="en-AU" altLang="en-US" sz="3000" dirty="0">
                <a:latin typeface="Times New Roman" panose="02020603050405020304" pitchFamily="18" charset="0"/>
                <a:cs typeface="Times New Roman" panose="02020603050405020304" pitchFamily="18" charset="0"/>
              </a:rPr>
              <a:t> = </a:t>
            </a:r>
            <a:r>
              <a:rPr lang="en-AU" altLang="en-US" sz="3000" dirty="0">
                <a:solidFill>
                  <a:srgbClr val="CC3399"/>
                </a:solidFill>
                <a:latin typeface="Times New Roman" panose="02020603050405020304" pitchFamily="18" charset="0"/>
                <a:cs typeface="Times New Roman" panose="02020603050405020304" pitchFamily="18" charset="0"/>
              </a:rPr>
              <a:t>ID/EX.RegisterRs1</a:t>
            </a:r>
            <a:r>
              <a:rPr lang="en-AU" altLang="en-US" sz="3000" dirty="0">
                <a:latin typeface="Times New Roman" panose="02020603050405020304" pitchFamily="18" charset="0"/>
                <a:cs typeface="Times New Roman" panose="02020603050405020304" pitchFamily="18" charset="0"/>
              </a:rPr>
              <a:t>)) </a:t>
            </a:r>
          </a:p>
          <a:p>
            <a:pPr marL="628650" lvl="1" indent="-342900" eaLnBrk="1" hangingPunct="1">
              <a:lnSpc>
                <a:spcPct val="115000"/>
              </a:lnSpc>
              <a:spcAft>
                <a:spcPts val="0"/>
              </a:spcAft>
              <a:buNone/>
            </a:pPr>
            <a:r>
              <a:rPr lang="en-US" altLang="en-AU" sz="3000" dirty="0">
                <a:latin typeface="Times New Roman" panose="02020603050405020304" pitchFamily="18" charset="0"/>
                <a:cs typeface="Times New Roman" panose="02020603050405020304" pitchFamily="18" charset="0"/>
              </a:rPr>
              <a:t>			</a:t>
            </a:r>
            <a:r>
              <a:rPr lang="en-AU" altLang="en-US" sz="3000" dirty="0" err="1">
                <a:latin typeface="Times New Roman" panose="02020603050405020304" pitchFamily="18" charset="0"/>
                <a:cs typeface="Times New Roman" panose="02020603050405020304" pitchFamily="18" charset="0"/>
              </a:rPr>
              <a:t>ForwardA</a:t>
            </a:r>
            <a:r>
              <a:rPr lang="en-AU" altLang="en-US" sz="3000" dirty="0">
                <a:latin typeface="Times New Roman" panose="02020603050405020304" pitchFamily="18" charset="0"/>
                <a:cs typeface="Times New Roman" panose="02020603050405020304" pitchFamily="18" charset="0"/>
              </a:rPr>
              <a:t> = 01</a:t>
            </a:r>
          </a:p>
          <a:p>
            <a:pPr marL="285750" lvl="1" indent="0" eaLnBrk="1" hangingPunct="1">
              <a:lnSpc>
                <a:spcPct val="115000"/>
              </a:lnSpc>
              <a:spcAft>
                <a:spcPts val="0"/>
              </a:spcAft>
              <a:buNone/>
            </a:pPr>
            <a:r>
              <a:rPr lang="en-AU" altLang="en-US" sz="3000" dirty="0">
                <a:latin typeface="Times New Roman" panose="02020603050405020304" pitchFamily="18" charset="0"/>
                <a:cs typeface="Times New Roman" panose="02020603050405020304" pitchFamily="18" charset="0"/>
              </a:rPr>
              <a:t>if  (MEM/</a:t>
            </a:r>
            <a:r>
              <a:rPr lang="en-AU" altLang="en-US" sz="3000" dirty="0" err="1">
                <a:latin typeface="Times New Roman" panose="02020603050405020304" pitchFamily="18" charset="0"/>
                <a:cs typeface="Times New Roman" panose="02020603050405020304" pitchFamily="18" charset="0"/>
              </a:rPr>
              <a:t>WB.RegWrite </a:t>
            </a:r>
            <a:r>
              <a:rPr lang="en-AU" altLang="en-US" sz="3000" b="1" dirty="0">
                <a:latin typeface="Times New Roman" panose="02020603050405020304" pitchFamily="18" charset="0"/>
                <a:cs typeface="Times New Roman" panose="02020603050405020304" pitchFamily="18" charset="0"/>
              </a:rPr>
              <a:t>and </a:t>
            </a:r>
            <a:r>
              <a:rPr lang="en-AU" altLang="en-US" sz="3000" dirty="0">
                <a:latin typeface="Times New Roman" panose="02020603050405020304" pitchFamily="18" charset="0"/>
                <a:cs typeface="Times New Roman" panose="02020603050405020304" pitchFamily="18" charset="0"/>
              </a:rPr>
              <a:t>(MEM/</a:t>
            </a:r>
            <a:r>
              <a:rPr lang="en-AU" altLang="en-US" sz="3000" dirty="0" err="1">
                <a:latin typeface="Times New Roman" panose="02020603050405020304" pitchFamily="18" charset="0"/>
                <a:cs typeface="Times New Roman" panose="02020603050405020304" pitchFamily="18" charset="0"/>
              </a:rPr>
              <a:t>WB.RegisterRd</a:t>
            </a:r>
            <a:r>
              <a:rPr lang="en-AU" altLang="en-US" sz="3000" dirty="0">
                <a:latin typeface="Times New Roman" panose="02020603050405020304" pitchFamily="18" charset="0"/>
                <a:cs typeface="Times New Roman" panose="02020603050405020304" pitchFamily="18" charset="0"/>
              </a:rPr>
              <a:t> ≠ 0) </a:t>
            </a:r>
            <a:r>
              <a:rPr lang="en-AU" altLang="en-US" sz="3000" b="1" dirty="0">
                <a:solidFill>
                  <a:srgbClr val="0070C0"/>
                </a:solidFill>
                <a:latin typeface="Times New Roman" panose="02020603050405020304" pitchFamily="18" charset="0"/>
                <a:cs typeface="Times New Roman" panose="02020603050405020304" pitchFamily="18" charset="0"/>
              </a:rPr>
              <a:t>and   </a:t>
            </a:r>
            <a:r>
              <a:rPr lang="en-US" altLang="en-AU" sz="3000" b="1" dirty="0">
                <a:solidFill>
                  <a:srgbClr val="0070C0"/>
                </a:solidFill>
                <a:latin typeface="Times New Roman" panose="02020603050405020304" pitchFamily="18" charset="0"/>
                <a:cs typeface="Times New Roman" panose="02020603050405020304" pitchFamily="18" charset="0"/>
              </a:rPr>
              <a:t>	</a:t>
            </a:r>
            <a:r>
              <a:rPr lang="en-AU" altLang="en-US" sz="3000" dirty="0">
                <a:solidFill>
                  <a:srgbClr val="0070C0"/>
                </a:solidFill>
                <a:latin typeface="Times New Roman" panose="02020603050405020304" pitchFamily="18" charset="0"/>
                <a:cs typeface="Times New Roman" panose="02020603050405020304" pitchFamily="18" charset="0"/>
              </a:rPr>
              <a:t>not(EX/</a:t>
            </a:r>
            <a:r>
              <a:rPr lang="en-AU" altLang="en-US" sz="3000" dirty="0" err="1">
                <a:solidFill>
                  <a:srgbClr val="0070C0"/>
                </a:solidFill>
                <a:latin typeface="Times New Roman" panose="02020603050405020304" pitchFamily="18" charset="0"/>
                <a:cs typeface="Times New Roman" panose="02020603050405020304" pitchFamily="18" charset="0"/>
              </a:rPr>
              <a:t>MEM.RegWrite</a:t>
            </a:r>
            <a:r>
              <a:rPr lang="en-AU" altLang="en-US" sz="3000" dirty="0">
                <a:solidFill>
                  <a:srgbClr val="0070C0"/>
                </a:solidFill>
                <a:latin typeface="Times New Roman" panose="02020603050405020304" pitchFamily="18" charset="0"/>
                <a:cs typeface="Times New Roman" panose="02020603050405020304" pitchFamily="18" charset="0"/>
              </a:rPr>
              <a:t> and (EX/</a:t>
            </a:r>
            <a:r>
              <a:rPr lang="en-AU" altLang="en-US" sz="3000" dirty="0" err="1">
                <a:solidFill>
                  <a:srgbClr val="0070C0"/>
                </a:solidFill>
                <a:latin typeface="Times New Roman" panose="02020603050405020304" pitchFamily="18" charset="0"/>
                <a:cs typeface="Times New Roman" panose="02020603050405020304" pitchFamily="18" charset="0"/>
              </a:rPr>
              <a:t>MEM.RegisterRd</a:t>
            </a:r>
            <a:r>
              <a:rPr lang="en-AU" altLang="en-US" sz="3000" dirty="0">
                <a:solidFill>
                  <a:srgbClr val="0070C0"/>
                </a:solidFill>
                <a:latin typeface="Times New Roman" panose="02020603050405020304" pitchFamily="18" charset="0"/>
                <a:cs typeface="Times New Roman" panose="02020603050405020304" pitchFamily="18" charset="0"/>
              </a:rPr>
              <a:t> ≠ 0)  </a:t>
            </a:r>
            <a:r>
              <a:rPr lang="en-AU" altLang="en-US" sz="3000" b="1" dirty="0">
                <a:solidFill>
                  <a:srgbClr val="0070C0"/>
                </a:solidFill>
                <a:latin typeface="Times New Roman" panose="02020603050405020304" pitchFamily="18" charset="0"/>
                <a:cs typeface="Times New Roman" panose="02020603050405020304" pitchFamily="18" charset="0"/>
              </a:rPr>
              <a:t>and</a:t>
            </a:r>
          </a:p>
          <a:p>
            <a:pPr marL="0" lvl="1" indent="0" eaLnBrk="1" hangingPunct="1">
              <a:lnSpc>
                <a:spcPct val="115000"/>
              </a:lnSpc>
              <a:spcAft>
                <a:spcPts val="0"/>
              </a:spcAft>
              <a:buNone/>
            </a:pPr>
            <a:r>
              <a:rPr lang="en-AU" altLang="en-US" sz="3000" b="1" dirty="0">
                <a:solidFill>
                  <a:srgbClr val="0070C0"/>
                </a:solidFill>
                <a:latin typeface="Times New Roman" panose="02020603050405020304" pitchFamily="18" charset="0"/>
                <a:cs typeface="Times New Roman" panose="02020603050405020304" pitchFamily="18" charset="0"/>
              </a:rPr>
              <a:t> </a:t>
            </a:r>
            <a:r>
              <a:rPr lang="en-US" altLang="en-AU" sz="3000" b="1" dirty="0">
                <a:solidFill>
                  <a:srgbClr val="0070C0"/>
                </a:solidFill>
                <a:latin typeface="Times New Roman" panose="02020603050405020304" pitchFamily="18" charset="0"/>
                <a:cs typeface="Times New Roman" panose="02020603050405020304" pitchFamily="18" charset="0"/>
              </a:rPr>
              <a:t>	</a:t>
            </a:r>
            <a:r>
              <a:rPr lang="en-AU" altLang="en-US" sz="3000" dirty="0">
                <a:solidFill>
                  <a:srgbClr val="0070C0"/>
                </a:solidFill>
                <a:latin typeface="Times New Roman" panose="02020603050405020304" pitchFamily="18" charset="0"/>
                <a:cs typeface="Times New Roman" panose="02020603050405020304" pitchFamily="18" charset="0"/>
              </a:rPr>
              <a:t>(EX/</a:t>
            </a:r>
            <a:r>
              <a:rPr lang="en-AU" altLang="en-US" sz="3000" dirty="0" err="1">
                <a:solidFill>
                  <a:srgbClr val="0070C0"/>
                </a:solidFill>
                <a:latin typeface="Times New Roman" panose="02020603050405020304" pitchFamily="18" charset="0"/>
                <a:cs typeface="Times New Roman" panose="02020603050405020304" pitchFamily="18" charset="0"/>
              </a:rPr>
              <a:t>MEM.RegisterRd</a:t>
            </a:r>
            <a:r>
              <a:rPr lang="en-AU" altLang="en-US" sz="3000" dirty="0">
                <a:solidFill>
                  <a:srgbClr val="0070C0"/>
                </a:solidFill>
                <a:latin typeface="Times New Roman" panose="02020603050405020304" pitchFamily="18" charset="0"/>
                <a:cs typeface="Times New Roman" panose="02020603050405020304" pitchFamily="18" charset="0"/>
              </a:rPr>
              <a:t> </a:t>
            </a:r>
            <a:r>
              <a:rPr lang="en-US" altLang="zh-CN" sz="3000" dirty="0">
                <a:solidFill>
                  <a:srgbClr val="0070C0"/>
                </a:solidFill>
                <a:latin typeface="Times New Roman" panose="02020603050405020304" pitchFamily="18" charset="0"/>
                <a:cs typeface="Times New Roman" panose="02020603050405020304" pitchFamily="18" charset="0"/>
              </a:rPr>
              <a:t>=</a:t>
            </a:r>
            <a:r>
              <a:rPr lang="en-AU" altLang="en-US" sz="3000" dirty="0">
                <a:solidFill>
                  <a:srgbClr val="0070C0"/>
                </a:solidFill>
                <a:latin typeface="Times New Roman" panose="02020603050405020304" pitchFamily="18" charset="0"/>
                <a:cs typeface="Times New Roman" panose="02020603050405020304" pitchFamily="18" charset="0"/>
              </a:rPr>
              <a:t> </a:t>
            </a:r>
            <a:r>
              <a:rPr lang="en-AU" altLang="en-US" sz="3000" dirty="0">
                <a:solidFill>
                  <a:srgbClr val="CC3399"/>
                </a:solidFill>
                <a:latin typeface="Times New Roman" panose="02020603050405020304" pitchFamily="18" charset="0"/>
                <a:cs typeface="Times New Roman" panose="02020603050405020304" pitchFamily="18" charset="0"/>
              </a:rPr>
              <a:t>ID/EX.RegisterRs2</a:t>
            </a:r>
            <a:r>
              <a:rPr lang="en-AU" altLang="en-US" sz="3000" dirty="0">
                <a:solidFill>
                  <a:srgbClr val="0070C0"/>
                </a:solidFill>
                <a:latin typeface="Times New Roman" panose="02020603050405020304" pitchFamily="18" charset="0"/>
                <a:cs typeface="Times New Roman" panose="02020603050405020304" pitchFamily="18" charset="0"/>
              </a:rPr>
              <a:t>)) </a:t>
            </a:r>
            <a:r>
              <a:rPr lang="en-US" altLang="en-AU" sz="3000" b="1" dirty="0">
                <a:latin typeface="Times New Roman" panose="02020603050405020304" pitchFamily="18" charset="0"/>
                <a:cs typeface="Times New Roman" panose="02020603050405020304" pitchFamily="18" charset="0"/>
                <a:sym typeface="+mn-ea"/>
              </a:rPr>
              <a:t>//</a:t>
            </a:r>
            <a:r>
              <a:rPr lang="zh-CN" altLang="en-US" sz="3000" b="1" dirty="0">
                <a:latin typeface="Times New Roman" panose="02020603050405020304" pitchFamily="18" charset="0"/>
                <a:cs typeface="Times New Roman" panose="02020603050405020304" pitchFamily="18" charset="0"/>
                <a:sym typeface="+mn-ea"/>
              </a:rPr>
              <a:t>无</a:t>
            </a:r>
            <a:r>
              <a:rPr lang="en-US" altLang="zh-CN" sz="3000" b="1" dirty="0">
                <a:latin typeface="Times New Roman" panose="02020603050405020304" pitchFamily="18" charset="0"/>
                <a:cs typeface="Times New Roman" panose="02020603050405020304" pitchFamily="18" charset="0"/>
                <a:sym typeface="+mn-ea"/>
              </a:rPr>
              <a:t>EX</a:t>
            </a:r>
            <a:r>
              <a:rPr lang="zh-CN" altLang="en-US" sz="3000" b="1" dirty="0">
                <a:latin typeface="Times New Roman" panose="02020603050405020304" pitchFamily="18" charset="0"/>
                <a:cs typeface="Times New Roman" panose="02020603050405020304" pitchFamily="18" charset="0"/>
                <a:sym typeface="+mn-ea"/>
              </a:rPr>
              <a:t>冒险</a:t>
            </a:r>
            <a:endParaRPr lang="en-AU" altLang="en-US" sz="3000" b="1" dirty="0">
              <a:latin typeface="Times New Roman" panose="02020603050405020304" pitchFamily="18" charset="0"/>
              <a:cs typeface="Times New Roman" panose="02020603050405020304" pitchFamily="18" charset="0"/>
            </a:endParaRPr>
          </a:p>
          <a:p>
            <a:pPr marL="285750" lvl="1" indent="0">
              <a:lnSpc>
                <a:spcPct val="115000"/>
              </a:lnSpc>
              <a:buNone/>
            </a:pPr>
            <a:r>
              <a:rPr lang="en-AU" altLang="en-US" sz="3000" b="1" dirty="0">
                <a:latin typeface="Times New Roman" panose="02020603050405020304" pitchFamily="18" charset="0"/>
                <a:cs typeface="Times New Roman" panose="02020603050405020304" pitchFamily="18" charset="0"/>
              </a:rPr>
              <a:t> </a:t>
            </a:r>
            <a:r>
              <a:rPr lang="en-US" altLang="en-AU" sz="3000" b="1" dirty="0">
                <a:latin typeface="Times New Roman" panose="02020603050405020304" pitchFamily="18" charset="0"/>
                <a:cs typeface="Times New Roman" panose="02020603050405020304" pitchFamily="18" charset="0"/>
              </a:rPr>
              <a:t>	</a:t>
            </a:r>
            <a:r>
              <a:rPr lang="en-AU" altLang="en-US" sz="3000" b="1" dirty="0">
                <a:latin typeface="Times New Roman" panose="02020603050405020304" pitchFamily="18" charset="0"/>
                <a:cs typeface="Times New Roman" panose="02020603050405020304" pitchFamily="18" charset="0"/>
              </a:rPr>
              <a:t>and </a:t>
            </a:r>
            <a:r>
              <a:rPr lang="en-AU" altLang="en-US" sz="3000" dirty="0">
                <a:latin typeface="Times New Roman" panose="02020603050405020304" pitchFamily="18" charset="0"/>
                <a:cs typeface="Times New Roman" panose="02020603050405020304" pitchFamily="18" charset="0"/>
              </a:rPr>
              <a:t>(MEM/</a:t>
            </a:r>
            <a:r>
              <a:rPr lang="en-AU" altLang="en-US" sz="3000" dirty="0" err="1">
                <a:latin typeface="Times New Roman" panose="02020603050405020304" pitchFamily="18" charset="0"/>
                <a:cs typeface="Times New Roman" panose="02020603050405020304" pitchFamily="18" charset="0"/>
              </a:rPr>
              <a:t>WB.RegisterRd</a:t>
            </a:r>
            <a:r>
              <a:rPr lang="en-AU" altLang="en-US" sz="3000" dirty="0">
                <a:latin typeface="Times New Roman" panose="02020603050405020304" pitchFamily="18" charset="0"/>
                <a:cs typeface="Times New Roman" panose="02020603050405020304" pitchFamily="18" charset="0"/>
              </a:rPr>
              <a:t> = </a:t>
            </a:r>
            <a:r>
              <a:rPr lang="en-AU" altLang="en-US" sz="3000" dirty="0">
                <a:solidFill>
                  <a:srgbClr val="CC3399"/>
                </a:solidFill>
                <a:latin typeface="Times New Roman" panose="02020603050405020304" pitchFamily="18" charset="0"/>
                <a:cs typeface="Times New Roman" panose="02020603050405020304" pitchFamily="18" charset="0"/>
              </a:rPr>
              <a:t>ID/EX.RegisterRs2</a:t>
            </a:r>
            <a:r>
              <a:rPr lang="en-AU" altLang="en-US" sz="3000" dirty="0">
                <a:latin typeface="Times New Roman" panose="02020603050405020304" pitchFamily="18" charset="0"/>
                <a:cs typeface="Times New Roman" panose="02020603050405020304" pitchFamily="18" charset="0"/>
              </a:rPr>
              <a:t>)) </a:t>
            </a:r>
          </a:p>
          <a:p>
            <a:pPr marL="628650" lvl="1" indent="-342900" eaLnBrk="1" hangingPunct="1">
              <a:lnSpc>
                <a:spcPct val="115000"/>
              </a:lnSpc>
              <a:spcAft>
                <a:spcPts val="0"/>
              </a:spcAft>
              <a:buNone/>
            </a:pPr>
            <a:r>
              <a:rPr lang="en-US" altLang="en-AU" sz="3000" dirty="0" err="1">
                <a:latin typeface="Times New Roman" panose="02020603050405020304" pitchFamily="18" charset="0"/>
                <a:cs typeface="Times New Roman" panose="02020603050405020304" pitchFamily="18" charset="0"/>
              </a:rPr>
              <a:t>			</a:t>
            </a:r>
            <a:r>
              <a:rPr lang="en-AU" altLang="en-US" sz="3000" dirty="0" err="1">
                <a:latin typeface="Times New Roman" panose="02020603050405020304" pitchFamily="18" charset="0"/>
                <a:cs typeface="Times New Roman" panose="02020603050405020304" pitchFamily="18" charset="0"/>
              </a:rPr>
              <a:t>ForwardB</a:t>
            </a:r>
            <a:r>
              <a:rPr lang="en-AU" altLang="en-US" sz="3000" dirty="0">
                <a:latin typeface="Times New Roman" panose="02020603050405020304" pitchFamily="18" charset="0"/>
                <a:cs typeface="Times New Roman" panose="02020603050405020304" pitchFamily="18" charset="0"/>
              </a:rPr>
              <a:t> = 01</a:t>
            </a:r>
          </a:p>
        </p:txBody>
      </p:sp>
      <p:sp>
        <p:nvSpPr>
          <p:cNvPr id="2" name="灯片编号占位符 1"/>
          <p:cNvSpPr>
            <a:spLocks noGrp="1"/>
          </p:cNvSpPr>
          <p:nvPr>
            <p:ph type="sldNum" sz="quarter" idx="12"/>
          </p:nvPr>
        </p:nvSpPr>
        <p:spPr/>
        <p:txBody>
          <a:bodyPr/>
          <a:lstStyle/>
          <a:p>
            <a:fld id="{8EE8E787-E6FE-45D8-9039-788B45E44EE7}" type="slidenum">
              <a:rPr lang="zh-CN" altLang="en-US" smtClean="0"/>
              <a:t>59</a:t>
            </a:fld>
            <a:endParaRPr lang="zh-CN" altLang="en-US" dirty="0"/>
          </a:p>
        </p:txBody>
      </p:sp>
      <p:sp>
        <p:nvSpPr>
          <p:cNvPr id="4" name="标题 3"/>
          <p:cNvSpPr>
            <a:spLocks noGrp="1"/>
          </p:cNvSpPr>
          <p:nvPr>
            <p:ph type="title"/>
          </p:nvPr>
        </p:nvSpPr>
        <p:spPr/>
        <p:txBody>
          <a:bodyPr/>
          <a:lstStyle/>
          <a:p>
            <a:r>
              <a:rPr lang="zh-CN" altLang="en-US" dirty="0"/>
              <a:t>检测</a:t>
            </a:r>
            <a:r>
              <a:rPr lang="en-US" altLang="zh-CN" dirty="0">
                <a:latin typeface="Times New Roman" panose="02020603050405020304" pitchFamily="18" charset="0"/>
                <a:cs typeface="Times New Roman" panose="02020603050405020304" pitchFamily="18" charset="0"/>
              </a:rPr>
              <a:t>MEM</a:t>
            </a:r>
            <a:r>
              <a:rPr lang="zh-CN" altLang="en-US" dirty="0">
                <a:latin typeface="Times New Roman" panose="02020603050405020304" pitchFamily="18" charset="0"/>
                <a:cs typeface="Times New Roman" panose="02020603050405020304" pitchFamily="18" charset="0"/>
              </a:rPr>
              <a:t>冒</a:t>
            </a:r>
            <a:r>
              <a:rPr lang="zh-CN" altLang="en-US" dirty="0"/>
              <a:t>险的条件、相应的前递控制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60">
                                            <p:txEl>
                                              <p:pRg st="0" end="0"/>
                                            </p:txEl>
                                          </p:spTgt>
                                        </p:tgtEl>
                                        <p:attrNameLst>
                                          <p:attrName>style.visibility</p:attrName>
                                        </p:attrNameLst>
                                      </p:cBhvr>
                                      <p:to>
                                        <p:strVal val="visible"/>
                                      </p:to>
                                    </p:set>
                                    <p:animEffect transition="in" filter="fade">
                                      <p:cBhvr>
                                        <p:cTn id="7" dur="500"/>
                                        <p:tgtEl>
                                          <p:spTgt spid="1946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60">
                                            <p:txEl>
                                              <p:pRg st="1" end="1"/>
                                            </p:txEl>
                                          </p:spTgt>
                                        </p:tgtEl>
                                        <p:attrNameLst>
                                          <p:attrName>style.visibility</p:attrName>
                                        </p:attrNameLst>
                                      </p:cBhvr>
                                      <p:to>
                                        <p:strVal val="visible"/>
                                      </p:to>
                                    </p:set>
                                    <p:animEffect transition="in" filter="fade">
                                      <p:cBhvr>
                                        <p:cTn id="12" dur="500"/>
                                        <p:tgtEl>
                                          <p:spTgt spid="1946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460">
                                            <p:txEl>
                                              <p:pRg st="2" end="2"/>
                                            </p:txEl>
                                          </p:spTgt>
                                        </p:tgtEl>
                                        <p:attrNameLst>
                                          <p:attrName>style.visibility</p:attrName>
                                        </p:attrNameLst>
                                      </p:cBhvr>
                                      <p:to>
                                        <p:strVal val="visible"/>
                                      </p:to>
                                    </p:set>
                                    <p:animEffect transition="in" filter="fade">
                                      <p:cBhvr>
                                        <p:cTn id="17" dur="500"/>
                                        <p:tgtEl>
                                          <p:spTgt spid="1946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460">
                                            <p:txEl>
                                              <p:pRg st="3" end="3"/>
                                            </p:txEl>
                                          </p:spTgt>
                                        </p:tgtEl>
                                        <p:attrNameLst>
                                          <p:attrName>style.visibility</p:attrName>
                                        </p:attrNameLst>
                                      </p:cBhvr>
                                      <p:to>
                                        <p:strVal val="visible"/>
                                      </p:to>
                                    </p:set>
                                    <p:animEffect transition="in" filter="fade">
                                      <p:cBhvr>
                                        <p:cTn id="22" dur="500"/>
                                        <p:tgtEl>
                                          <p:spTgt spid="19460">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9460">
                                            <p:txEl>
                                              <p:pRg st="4" end="4"/>
                                            </p:txEl>
                                          </p:spTgt>
                                        </p:tgtEl>
                                        <p:attrNameLst>
                                          <p:attrName>style.visibility</p:attrName>
                                        </p:attrNameLst>
                                      </p:cBhvr>
                                      <p:to>
                                        <p:strVal val="visible"/>
                                      </p:to>
                                    </p:set>
                                    <p:animEffect transition="in" filter="fade">
                                      <p:cBhvr>
                                        <p:cTn id="25" dur="500"/>
                                        <p:tgtEl>
                                          <p:spTgt spid="19460">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9460">
                                            <p:txEl>
                                              <p:pRg st="5" end="5"/>
                                            </p:txEl>
                                          </p:spTgt>
                                        </p:tgtEl>
                                        <p:attrNameLst>
                                          <p:attrName>style.visibility</p:attrName>
                                        </p:attrNameLst>
                                      </p:cBhvr>
                                      <p:to>
                                        <p:strVal val="visible"/>
                                      </p:to>
                                    </p:set>
                                    <p:animEffect transition="in" filter="fade">
                                      <p:cBhvr>
                                        <p:cTn id="30" dur="500"/>
                                        <p:tgtEl>
                                          <p:spTgt spid="19460">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9460">
                                            <p:txEl>
                                              <p:pRg st="6" end="6"/>
                                            </p:txEl>
                                          </p:spTgt>
                                        </p:tgtEl>
                                        <p:attrNameLst>
                                          <p:attrName>style.visibility</p:attrName>
                                        </p:attrNameLst>
                                      </p:cBhvr>
                                      <p:to>
                                        <p:strVal val="visible"/>
                                      </p:to>
                                    </p:set>
                                    <p:animEffect transition="in" filter="fade">
                                      <p:cBhvr>
                                        <p:cTn id="35" dur="500"/>
                                        <p:tgtEl>
                                          <p:spTgt spid="19460">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9460">
                                            <p:txEl>
                                              <p:pRg st="7" end="7"/>
                                            </p:txEl>
                                          </p:spTgt>
                                        </p:tgtEl>
                                        <p:attrNameLst>
                                          <p:attrName>style.visibility</p:attrName>
                                        </p:attrNameLst>
                                      </p:cBhvr>
                                      <p:to>
                                        <p:strVal val="visible"/>
                                      </p:to>
                                    </p:set>
                                    <p:animEffect transition="in" filter="fade">
                                      <p:cBhvr>
                                        <p:cTn id="40" dur="500"/>
                                        <p:tgtEl>
                                          <p:spTgt spid="19460">
                                            <p:txEl>
                                              <p:pRg st="7" end="7"/>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19460">
                                            <p:txEl>
                                              <p:pRg st="8" end="8"/>
                                            </p:txEl>
                                          </p:spTgt>
                                        </p:tgtEl>
                                        <p:attrNameLst>
                                          <p:attrName>style.visibility</p:attrName>
                                        </p:attrNameLst>
                                      </p:cBhvr>
                                      <p:to>
                                        <p:strVal val="visible"/>
                                      </p:to>
                                    </p:set>
                                    <p:animEffect transition="in" filter="fade">
                                      <p:cBhvr>
                                        <p:cTn id="43" dur="500"/>
                                        <p:tgtEl>
                                          <p:spTgt spid="1946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8EE8E787-E6FE-45D8-9039-788B45E44EE7}" type="slidenum">
              <a:rPr lang="zh-CN" altLang="en-US" smtClean="0"/>
              <a:t>60</a:t>
            </a:fld>
            <a:endParaRPr lang="zh-CN" altLang="en-US" dirty="0"/>
          </a:p>
        </p:txBody>
      </p:sp>
      <p:sp>
        <p:nvSpPr>
          <p:cNvPr id="6" name="标题 5"/>
          <p:cNvSpPr>
            <a:spLocks noGrp="1"/>
          </p:cNvSpPr>
          <p:nvPr>
            <p:ph type="title"/>
          </p:nvPr>
        </p:nvSpPr>
        <p:spPr/>
        <p:txBody>
          <a:bodyPr/>
          <a:lstStyle/>
          <a:p>
            <a:r>
              <a:rPr lang="zh-CN" altLang="en-US" dirty="0"/>
              <a:t>通过前递解决冒险的数据通路</a:t>
            </a:r>
          </a:p>
        </p:txBody>
      </p:sp>
      <p:grpSp>
        <p:nvGrpSpPr>
          <p:cNvPr id="2" name="组合 1"/>
          <p:cNvGrpSpPr/>
          <p:nvPr/>
        </p:nvGrpSpPr>
        <p:grpSpPr>
          <a:xfrm>
            <a:off x="2884508" y="914995"/>
            <a:ext cx="8743297" cy="5238910"/>
            <a:chOff x="3289394" y="618049"/>
            <a:chExt cx="8345466" cy="5795914"/>
          </a:xfrm>
        </p:grpSpPr>
        <p:sp>
          <p:nvSpPr>
            <p:cNvPr id="7" name="矩形 6"/>
            <p:cNvSpPr/>
            <p:nvPr/>
          </p:nvSpPr>
          <p:spPr>
            <a:xfrm>
              <a:off x="4379426" y="2137358"/>
              <a:ext cx="1069487" cy="1533525"/>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8" name="矩形 7"/>
            <p:cNvSpPr/>
            <p:nvPr/>
          </p:nvSpPr>
          <p:spPr>
            <a:xfrm>
              <a:off x="5635219" y="1926518"/>
              <a:ext cx="277814" cy="3439815"/>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9" name="矩形 8"/>
            <p:cNvSpPr/>
            <p:nvPr/>
          </p:nvSpPr>
          <p:spPr>
            <a:xfrm>
              <a:off x="8426044" y="1926518"/>
              <a:ext cx="277814" cy="3439815"/>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ln>
                <a:solidFill>
                  <a:schemeClr val="tx1"/>
                </a:solidFill>
              </a:endParaRPr>
            </a:p>
          </p:txBody>
        </p:sp>
        <p:sp>
          <p:nvSpPr>
            <p:cNvPr id="10" name="矩形 9"/>
            <p:cNvSpPr/>
            <p:nvPr/>
          </p:nvSpPr>
          <p:spPr>
            <a:xfrm>
              <a:off x="10416769" y="1926518"/>
              <a:ext cx="280096" cy="3439815"/>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tx1"/>
                  </a:solidFill>
                </a:ln>
                <a:solidFill>
                  <a:schemeClr val="tx1"/>
                </a:solidFill>
              </a:endParaRPr>
            </a:p>
          </p:txBody>
        </p:sp>
        <p:grpSp>
          <p:nvGrpSpPr>
            <p:cNvPr id="11" name="组合 10"/>
            <p:cNvGrpSpPr/>
            <p:nvPr/>
          </p:nvGrpSpPr>
          <p:grpSpPr>
            <a:xfrm>
              <a:off x="6597449" y="1926520"/>
              <a:ext cx="503017" cy="910932"/>
              <a:chOff x="4953205" y="1532237"/>
              <a:chExt cx="503017" cy="910932"/>
            </a:xfrm>
          </p:grpSpPr>
          <p:sp>
            <p:nvSpPr>
              <p:cNvPr id="12" name="流程图: 终止 11"/>
              <p:cNvSpPr/>
              <p:nvPr/>
            </p:nvSpPr>
            <p:spPr>
              <a:xfrm rot="5400000">
                <a:off x="4778997" y="1798315"/>
                <a:ext cx="857250" cy="325094"/>
              </a:xfrm>
              <a:prstGeom prst="flowChartTermina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文本框 12"/>
              <p:cNvSpPr txBox="1"/>
              <p:nvPr/>
            </p:nvSpPr>
            <p:spPr>
              <a:xfrm>
                <a:off x="4953205" y="1572270"/>
                <a:ext cx="503017" cy="870899"/>
              </a:xfrm>
              <a:prstGeom prst="rect">
                <a:avLst/>
              </a:prstGeom>
              <a:noFill/>
            </p:spPr>
            <p:txBody>
              <a:bodyPr wrap="square" rtlCol="0">
                <a:spAutoFit/>
              </a:bodyPr>
              <a:lstStyle/>
              <a:p>
                <a:pPr algn="ctr">
                  <a:lnSpc>
                    <a:spcPts val="1800"/>
                  </a:lnSpc>
                </a:pPr>
                <a:r>
                  <a:rPr lang="en-US"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sz="2000" b="1" dirty="0">
                    <a:solidFill>
                      <a:srgbClr val="FF0000"/>
                    </a:solidFill>
                    <a:latin typeface="Times New Roman" panose="02020603050405020304" pitchFamily="18" charset="0"/>
                    <a:cs typeface="Times New Roman" panose="02020603050405020304" pitchFamily="18" charset="0"/>
                  </a:rPr>
                  <a:t>X</a:t>
                </a:r>
              </a:p>
            </p:txBody>
          </p:sp>
        </p:grpSp>
        <p:grpSp>
          <p:nvGrpSpPr>
            <p:cNvPr id="14" name="组合 13"/>
            <p:cNvGrpSpPr/>
            <p:nvPr/>
          </p:nvGrpSpPr>
          <p:grpSpPr>
            <a:xfrm>
              <a:off x="11202596" y="3261709"/>
              <a:ext cx="348682" cy="978405"/>
              <a:chOff x="5005402" y="1438676"/>
              <a:chExt cx="348682" cy="978405"/>
            </a:xfrm>
          </p:grpSpPr>
          <p:sp>
            <p:nvSpPr>
              <p:cNvPr id="15" name="流程图: 终止 14"/>
              <p:cNvSpPr/>
              <p:nvPr/>
            </p:nvSpPr>
            <p:spPr>
              <a:xfrm rot="5400000">
                <a:off x="4668587" y="1775491"/>
                <a:ext cx="978405" cy="304775"/>
              </a:xfrm>
              <a:prstGeom prst="flowChartTermina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文本框 15"/>
              <p:cNvSpPr txBox="1"/>
              <p:nvPr/>
            </p:nvSpPr>
            <p:spPr>
              <a:xfrm>
                <a:off x="5006976" y="1529952"/>
                <a:ext cx="347108" cy="870899"/>
              </a:xfrm>
              <a:prstGeom prst="rect">
                <a:avLst/>
              </a:prstGeom>
              <a:noFill/>
            </p:spPr>
            <p:txBody>
              <a:bodyPr wrap="square" rtlCol="0">
                <a:spAutoFit/>
              </a:bodyPr>
              <a:lstStyle/>
              <a:p>
                <a:pPr algn="ctr">
                  <a:lnSpc>
                    <a:spcPts val="1800"/>
                  </a:lnSpc>
                </a:pPr>
                <a:r>
                  <a:rPr lang="en-US"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sz="2000" b="1" dirty="0">
                    <a:solidFill>
                      <a:srgbClr val="FF0000"/>
                    </a:solidFill>
                    <a:latin typeface="Times New Roman" panose="02020603050405020304" pitchFamily="18" charset="0"/>
                    <a:cs typeface="Times New Roman" panose="02020603050405020304" pitchFamily="18" charset="0"/>
                  </a:rPr>
                  <a:t>UX</a:t>
                </a:r>
              </a:p>
            </p:txBody>
          </p:sp>
        </p:grpSp>
        <p:grpSp>
          <p:nvGrpSpPr>
            <p:cNvPr id="17" name="组合 16"/>
            <p:cNvGrpSpPr/>
            <p:nvPr/>
          </p:nvGrpSpPr>
          <p:grpSpPr>
            <a:xfrm>
              <a:off x="6690471" y="3182866"/>
              <a:ext cx="323933" cy="922957"/>
              <a:chOff x="5045074" y="1570335"/>
              <a:chExt cx="323933" cy="922957"/>
            </a:xfrm>
          </p:grpSpPr>
          <p:sp>
            <p:nvSpPr>
              <p:cNvPr id="18" name="流程图: 终止 17"/>
              <p:cNvSpPr/>
              <p:nvPr/>
            </p:nvSpPr>
            <p:spPr>
              <a:xfrm rot="5400000">
                <a:off x="4767501" y="1847908"/>
                <a:ext cx="879080" cy="323933"/>
              </a:xfrm>
              <a:prstGeom prst="flowChartTerminator">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文本框 18"/>
              <p:cNvSpPr txBox="1"/>
              <p:nvPr/>
            </p:nvSpPr>
            <p:spPr>
              <a:xfrm>
                <a:off x="5062975" y="1622393"/>
                <a:ext cx="289295" cy="870899"/>
              </a:xfrm>
              <a:prstGeom prst="rect">
                <a:avLst/>
              </a:prstGeom>
              <a:noFill/>
            </p:spPr>
            <p:txBody>
              <a:bodyPr wrap="square" rtlCol="0">
                <a:spAutoFit/>
              </a:bodyPr>
              <a:lstStyle>
                <a:defPPr>
                  <a:defRPr lang="zh-CN"/>
                </a:defPPr>
                <a:lvl1pPr algn="ctr">
                  <a:lnSpc>
                    <a:spcPts val="1800"/>
                  </a:lnSpc>
                  <a:defRPr sz="2000" b="1">
                    <a:solidFill>
                      <a:srgbClr val="FF0000"/>
                    </a:solidFill>
                    <a:latin typeface="Times New Roman" panose="02020603050405020304" pitchFamily="18" charset="0"/>
                    <a:cs typeface="Times New Roman" panose="02020603050405020304" pitchFamily="18" charset="0"/>
                  </a:defRPr>
                </a:lvl1pPr>
              </a:lstStyle>
              <a:p>
                <a:r>
                  <a:rPr lang="en-US" dirty="0"/>
                  <a:t>M</a:t>
                </a:r>
              </a:p>
              <a:p>
                <a:r>
                  <a:rPr lang="en-US" dirty="0"/>
                  <a:t>UX</a:t>
                </a:r>
              </a:p>
            </p:txBody>
          </p:sp>
        </p:grpSp>
        <p:grpSp>
          <p:nvGrpSpPr>
            <p:cNvPr id="20" name="组合 19"/>
            <p:cNvGrpSpPr/>
            <p:nvPr/>
          </p:nvGrpSpPr>
          <p:grpSpPr>
            <a:xfrm>
              <a:off x="6874979" y="5397757"/>
              <a:ext cx="1507714" cy="726399"/>
              <a:chOff x="-667044" y="4493886"/>
              <a:chExt cx="1507714" cy="726399"/>
            </a:xfrm>
          </p:grpSpPr>
          <p:sp>
            <p:nvSpPr>
              <p:cNvPr id="21" name="流程图: 终止 20"/>
              <p:cNvSpPr/>
              <p:nvPr/>
            </p:nvSpPr>
            <p:spPr>
              <a:xfrm>
                <a:off x="-667044" y="4561662"/>
                <a:ext cx="1505247" cy="623742"/>
              </a:xfrm>
              <a:prstGeom prst="flowChartTerminator">
                <a:avLst/>
              </a:prstGeom>
              <a:solidFill>
                <a:schemeClr val="bg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文本框 21"/>
              <p:cNvSpPr txBox="1"/>
              <p:nvPr/>
            </p:nvSpPr>
            <p:spPr>
              <a:xfrm>
                <a:off x="-589117" y="4493886"/>
                <a:ext cx="1429787" cy="726399"/>
              </a:xfrm>
              <a:prstGeom prst="rect">
                <a:avLst/>
              </a:prstGeom>
              <a:noFill/>
            </p:spPr>
            <p:txBody>
              <a:bodyPr wrap="square" rtlCol="0">
                <a:spAutoFit/>
              </a:bodyPr>
              <a:lstStyle/>
              <a:p>
                <a:pPr algn="ctr">
                  <a:lnSpc>
                    <a:spcPts val="2200"/>
                  </a:lnSpc>
                </a:pPr>
                <a:r>
                  <a:rPr lang="en-US" sz="2000" b="1" dirty="0">
                    <a:solidFill>
                      <a:srgbClr val="00B0F0"/>
                    </a:solidFill>
                    <a:latin typeface="Times New Roman" panose="02020603050405020304" pitchFamily="18" charset="0"/>
                    <a:cs typeface="Times New Roman" panose="02020603050405020304" pitchFamily="18" charset="0"/>
                  </a:rPr>
                  <a:t>Forwarding</a:t>
                </a:r>
              </a:p>
              <a:p>
                <a:pPr algn="ctr">
                  <a:lnSpc>
                    <a:spcPts val="2200"/>
                  </a:lnSpc>
                </a:pPr>
                <a:r>
                  <a:rPr lang="en-US" sz="2000" b="1" dirty="0">
                    <a:solidFill>
                      <a:srgbClr val="00B0F0"/>
                    </a:solidFill>
                    <a:latin typeface="Times New Roman" panose="02020603050405020304" pitchFamily="18" charset="0"/>
                    <a:cs typeface="Times New Roman" panose="02020603050405020304" pitchFamily="18" charset="0"/>
                  </a:rPr>
                  <a:t>unit</a:t>
                </a:r>
              </a:p>
            </p:txBody>
          </p:sp>
        </p:grpSp>
        <p:grpSp>
          <p:nvGrpSpPr>
            <p:cNvPr id="23" name="组合 22"/>
            <p:cNvGrpSpPr/>
            <p:nvPr/>
          </p:nvGrpSpPr>
          <p:grpSpPr>
            <a:xfrm>
              <a:off x="9114625" y="2844728"/>
              <a:ext cx="1045341" cy="1514475"/>
              <a:chOff x="10478464" y="2440920"/>
              <a:chExt cx="1045341" cy="1514475"/>
            </a:xfrm>
          </p:grpSpPr>
          <p:sp>
            <p:nvSpPr>
              <p:cNvPr id="24" name="矩形 23"/>
              <p:cNvSpPr/>
              <p:nvPr/>
            </p:nvSpPr>
            <p:spPr>
              <a:xfrm>
                <a:off x="10567749" y="2440920"/>
                <a:ext cx="866775" cy="1514475"/>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文本框 24"/>
              <p:cNvSpPr txBox="1"/>
              <p:nvPr/>
            </p:nvSpPr>
            <p:spPr>
              <a:xfrm>
                <a:off x="10478464" y="2874991"/>
                <a:ext cx="1045341" cy="783149"/>
              </a:xfrm>
              <a:prstGeom prst="rect">
                <a:avLst/>
              </a:prstGeom>
              <a:noFill/>
            </p:spPr>
            <p:txBody>
              <a:bodyPr wrap="none" rtlCol="0">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Data</a:t>
                </a:r>
              </a:p>
              <a:p>
                <a:pPr algn="ctr"/>
                <a:r>
                  <a:rPr lang="en-US" sz="2000" b="1" dirty="0">
                    <a:solidFill>
                      <a:srgbClr val="FF0000"/>
                    </a:solidFill>
                    <a:latin typeface="Times New Roman" panose="02020603050405020304" pitchFamily="18" charset="0"/>
                    <a:cs typeface="Times New Roman" panose="02020603050405020304" pitchFamily="18" charset="0"/>
                  </a:rPr>
                  <a:t>memory</a:t>
                </a:r>
              </a:p>
            </p:txBody>
          </p:sp>
        </p:grpSp>
        <p:cxnSp>
          <p:nvCxnSpPr>
            <p:cNvPr id="26" name="直接箭头连接符 25"/>
            <p:cNvCxnSpPr/>
            <p:nvPr/>
          </p:nvCxnSpPr>
          <p:spPr>
            <a:xfrm>
              <a:off x="3289394" y="2289758"/>
              <a:ext cx="109805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3289394" y="2683463"/>
              <a:ext cx="109805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3965022" y="3077166"/>
              <a:ext cx="42242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4190474" y="6413963"/>
              <a:ext cx="744438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V="1">
              <a:off x="4190474" y="3514020"/>
              <a:ext cx="0" cy="289994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4190474" y="3514020"/>
              <a:ext cx="19697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5428405" y="2423108"/>
              <a:ext cx="20681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5448913" y="3404183"/>
              <a:ext cx="17678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V="1">
              <a:off x="6397219" y="2374193"/>
              <a:ext cx="0" cy="4039770"/>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6397219" y="2385008"/>
              <a:ext cx="29210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5913033" y="3393368"/>
              <a:ext cx="776287"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6397219" y="3670883"/>
              <a:ext cx="292101" cy="0"/>
            </a:xfrm>
            <a:prstGeom prst="straightConnector1">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a:off x="6530569" y="3925130"/>
              <a:ext cx="158751" cy="0"/>
            </a:xfrm>
            <a:prstGeom prst="straightConnector1">
              <a:avLst/>
            </a:prstGeom>
            <a:ln w="25400">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6543269" y="2594558"/>
              <a:ext cx="0" cy="3581400"/>
            </a:xfrm>
            <a:prstGeom prst="line">
              <a:avLst/>
            </a:prstGeom>
            <a:ln w="25400">
              <a:solidFill>
                <a:schemeClr val="tx1"/>
              </a:solidFill>
            </a:ln>
          </p:spPr>
          <p:style>
            <a:lnRef idx="1">
              <a:schemeClr val="dk1"/>
            </a:lnRef>
            <a:fillRef idx="0">
              <a:schemeClr val="dk1"/>
            </a:fillRef>
            <a:effectRef idx="0">
              <a:schemeClr val="dk1"/>
            </a:effectRef>
            <a:fontRef idx="minor">
              <a:schemeClr val="tx1"/>
            </a:fontRef>
          </p:style>
        </p:cxnSp>
        <p:cxnSp>
          <p:nvCxnSpPr>
            <p:cNvPr id="40" name="直接连接符 39"/>
            <p:cNvCxnSpPr/>
            <p:nvPr/>
          </p:nvCxnSpPr>
          <p:spPr>
            <a:xfrm>
              <a:off x="6543269" y="6175958"/>
              <a:ext cx="239712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8940394" y="2946815"/>
              <a:ext cx="0" cy="3229143"/>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5913033" y="4403769"/>
              <a:ext cx="35956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5913033" y="4680763"/>
              <a:ext cx="20796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6107104" y="4678327"/>
              <a:ext cx="0" cy="12805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6263076" y="4403769"/>
              <a:ext cx="9526" cy="132337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flipV="1">
              <a:off x="5997080" y="5188344"/>
              <a:ext cx="2428964" cy="688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a:off x="7014413" y="2355144"/>
              <a:ext cx="663197" cy="1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18" idx="0"/>
            </p:cNvCxnSpPr>
            <p:nvPr/>
          </p:nvCxnSpPr>
          <p:spPr>
            <a:xfrm flipV="1">
              <a:off x="7014405" y="3612911"/>
              <a:ext cx="696379" cy="94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a:off x="6107104" y="5939798"/>
              <a:ext cx="82851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a:off x="6253551" y="5727141"/>
              <a:ext cx="62142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a:off x="5913033" y="2137358"/>
              <a:ext cx="776287"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a:off x="6543269" y="2594558"/>
              <a:ext cx="14605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梯形 52"/>
            <p:cNvSpPr/>
            <p:nvPr/>
          </p:nvSpPr>
          <p:spPr>
            <a:xfrm rot="5400000">
              <a:off x="7043932" y="2702953"/>
              <a:ext cx="1781175" cy="487722"/>
            </a:xfrm>
            <a:prstGeom prst="trapezoid">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4" name="直接箭头连接符 53"/>
            <p:cNvCxnSpPr>
              <a:stCxn id="53" idx="0"/>
            </p:cNvCxnSpPr>
            <p:nvPr/>
          </p:nvCxnSpPr>
          <p:spPr>
            <a:xfrm>
              <a:off x="8178381" y="2946815"/>
              <a:ext cx="24766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文本框 54"/>
            <p:cNvSpPr txBox="1"/>
            <p:nvPr/>
          </p:nvSpPr>
          <p:spPr>
            <a:xfrm>
              <a:off x="7788792" y="2479502"/>
              <a:ext cx="353751" cy="870899"/>
            </a:xfrm>
            <a:prstGeom prst="rect">
              <a:avLst/>
            </a:prstGeom>
            <a:noFill/>
          </p:spPr>
          <p:txBody>
            <a:bodyPr wrap="none" rtlCol="0">
              <a:spAutoFit/>
            </a:bodyPr>
            <a:lstStyle/>
            <a:p>
              <a:pPr algn="ctr">
                <a:lnSpc>
                  <a:spcPts val="1800"/>
                </a:lnSpc>
              </a:pPr>
              <a:r>
                <a:rPr lang="en-US" sz="2000" b="1" dirty="0">
                  <a:solidFill>
                    <a:srgbClr val="FF0000"/>
                  </a:solidFill>
                  <a:latin typeface="Times New Roman" panose="02020603050405020304" pitchFamily="18" charset="0"/>
                  <a:cs typeface="Times New Roman" panose="02020603050405020304" pitchFamily="18" charset="0"/>
                </a:rPr>
                <a:t>A</a:t>
              </a:r>
            </a:p>
            <a:p>
              <a:pPr algn="ctr">
                <a:lnSpc>
                  <a:spcPts val="1800"/>
                </a:lnSpc>
              </a:pPr>
              <a:r>
                <a:rPr lang="en-US" sz="2000" b="1" dirty="0">
                  <a:solidFill>
                    <a:srgbClr val="FF0000"/>
                  </a:solidFill>
                  <a:latin typeface="Times New Roman" panose="02020603050405020304" pitchFamily="18" charset="0"/>
                  <a:cs typeface="Times New Roman" panose="02020603050405020304" pitchFamily="18" charset="0"/>
                </a:rPr>
                <a:t>L</a:t>
              </a:r>
            </a:p>
            <a:p>
              <a:pPr algn="ctr">
                <a:lnSpc>
                  <a:spcPts val="1800"/>
                </a:lnSpc>
              </a:pPr>
              <a:r>
                <a:rPr lang="en-US" sz="2000" b="1" dirty="0">
                  <a:solidFill>
                    <a:srgbClr val="FF0000"/>
                  </a:solidFill>
                  <a:latin typeface="Times New Roman" panose="02020603050405020304" pitchFamily="18" charset="0"/>
                  <a:cs typeface="Times New Roman" panose="02020603050405020304" pitchFamily="18" charset="0"/>
                </a:rPr>
                <a:t>U</a:t>
              </a:r>
            </a:p>
          </p:txBody>
        </p:sp>
        <p:cxnSp>
          <p:nvCxnSpPr>
            <p:cNvPr id="56" name="直接连接符 55"/>
            <p:cNvCxnSpPr/>
            <p:nvPr/>
          </p:nvCxnSpPr>
          <p:spPr>
            <a:xfrm>
              <a:off x="7436695" y="3621256"/>
              <a:ext cx="0" cy="547447"/>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a:off x="7436695" y="4168703"/>
              <a:ext cx="98934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a:endCxn id="18" idx="3"/>
            </p:cNvCxnSpPr>
            <p:nvPr/>
          </p:nvCxnSpPr>
          <p:spPr>
            <a:xfrm flipH="1" flipV="1">
              <a:off x="6852438" y="4061946"/>
              <a:ext cx="87" cy="297256"/>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6814298" y="3006653"/>
              <a:ext cx="440171"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7063969" y="4359203"/>
              <a:ext cx="0" cy="1106329"/>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flipV="1">
              <a:off x="6814298" y="2792342"/>
              <a:ext cx="1" cy="212536"/>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852438" y="4359203"/>
              <a:ext cx="211531"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7254469" y="3004878"/>
              <a:ext cx="0" cy="2460654"/>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nvCxnSpPr>
          <p:spPr>
            <a:xfrm>
              <a:off x="8703858" y="2946983"/>
              <a:ext cx="50005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p:nvPr/>
          </p:nvCxnSpPr>
          <p:spPr>
            <a:xfrm>
              <a:off x="8703858" y="4168703"/>
              <a:ext cx="50005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p:nvPr/>
          </p:nvCxnSpPr>
          <p:spPr>
            <a:xfrm>
              <a:off x="10070685" y="3578630"/>
              <a:ext cx="34608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p:nvPr/>
          </p:nvCxnSpPr>
          <p:spPr>
            <a:xfrm>
              <a:off x="8951521" y="4721262"/>
              <a:ext cx="146524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p:nvPr/>
          </p:nvCxnSpPr>
          <p:spPr>
            <a:xfrm>
              <a:off x="8703858" y="5188344"/>
              <a:ext cx="171291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a:off x="8873719" y="5188344"/>
              <a:ext cx="0" cy="416114"/>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p:nvPr/>
          </p:nvCxnSpPr>
          <p:spPr>
            <a:xfrm flipH="1">
              <a:off x="8380223" y="5604458"/>
              <a:ext cx="49349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10694583" y="5188344"/>
              <a:ext cx="21748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10912069" y="5188344"/>
              <a:ext cx="0" cy="67178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flipH="1">
              <a:off x="8361173" y="5860133"/>
              <a:ext cx="255089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a:off x="10694583" y="3579752"/>
              <a:ext cx="508012" cy="638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10694583" y="4721262"/>
              <a:ext cx="21748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V="1">
              <a:off x="10912069" y="4002016"/>
              <a:ext cx="0" cy="71924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p:nvPr/>
          </p:nvCxnSpPr>
          <p:spPr>
            <a:xfrm>
              <a:off x="10912069" y="4002016"/>
              <a:ext cx="290527"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11506468" y="3791275"/>
              <a:ext cx="12839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1" name="文本框 80"/>
            <p:cNvSpPr txBox="1"/>
            <p:nvPr/>
          </p:nvSpPr>
          <p:spPr>
            <a:xfrm>
              <a:off x="9187609" y="4797369"/>
              <a:ext cx="1000969" cy="449956"/>
            </a:xfrm>
            <a:prstGeom prst="rect">
              <a:avLst/>
            </a:prstGeom>
            <a:noFill/>
          </p:spPr>
          <p:txBody>
            <a:bodyPr wrap="none" rtlCol="0">
              <a:spAutoFit/>
            </a:bodyPr>
            <a:lstStyle/>
            <a:p>
              <a:pPr>
                <a:lnSpc>
                  <a:spcPts val="1200"/>
                </a:lnSpc>
              </a:pPr>
              <a:r>
                <a:rPr lang="en-US" sz="1500" dirty="0">
                  <a:latin typeface="Times New Roman" panose="02020603050405020304" pitchFamily="18" charset="0"/>
                  <a:cs typeface="Times New Roman" panose="02020603050405020304" pitchFamily="18" charset="0"/>
                </a:rPr>
                <a:t>EX/MEM.</a:t>
              </a:r>
            </a:p>
            <a:p>
              <a:pPr>
                <a:lnSpc>
                  <a:spcPts val="1200"/>
                </a:lnSpc>
              </a:pPr>
              <a:r>
                <a:rPr lang="en-US" sz="1500" dirty="0" err="1">
                  <a:latin typeface="Times New Roman" panose="02020603050405020304" pitchFamily="18" charset="0"/>
                  <a:cs typeface="Times New Roman" panose="02020603050405020304" pitchFamily="18" charset="0"/>
                </a:rPr>
                <a:t>RegisterRd</a:t>
              </a:r>
              <a:endParaRPr lang="en-US" sz="1500" dirty="0">
                <a:latin typeface="Times New Roman" panose="02020603050405020304" pitchFamily="18" charset="0"/>
                <a:cs typeface="Times New Roman" panose="02020603050405020304" pitchFamily="18" charset="0"/>
              </a:endParaRPr>
            </a:p>
          </p:txBody>
        </p:sp>
        <p:sp>
          <p:nvSpPr>
            <p:cNvPr id="82" name="文本框 81"/>
            <p:cNvSpPr txBox="1"/>
            <p:nvPr/>
          </p:nvSpPr>
          <p:spPr>
            <a:xfrm>
              <a:off x="8940394" y="5527114"/>
              <a:ext cx="1831793" cy="357524"/>
            </a:xfrm>
            <a:prstGeom prst="rect">
              <a:avLst/>
            </a:prstGeom>
            <a:noFill/>
          </p:spPr>
          <p:txBody>
            <a:bodyPr wrap="none" rtlCol="0">
              <a:spAutoFit/>
            </a:bodyPr>
            <a:lstStyle/>
            <a:p>
              <a:r>
                <a:rPr lang="en-US" sz="1500" dirty="0">
                  <a:latin typeface="Times New Roman" panose="02020603050405020304" pitchFamily="18" charset="0"/>
                  <a:cs typeface="Times New Roman" panose="02020603050405020304" pitchFamily="18" charset="0"/>
                </a:rPr>
                <a:t>MEM/</a:t>
              </a:r>
              <a:r>
                <a:rPr lang="en-US" sz="1500" dirty="0" err="1">
                  <a:latin typeface="Times New Roman" panose="02020603050405020304" pitchFamily="18" charset="0"/>
                  <a:cs typeface="Times New Roman" panose="02020603050405020304" pitchFamily="18" charset="0"/>
                </a:rPr>
                <a:t>WB.RegisterRd</a:t>
              </a:r>
              <a:endParaRPr lang="en-US" sz="1500" dirty="0">
                <a:latin typeface="Times New Roman" panose="02020603050405020304" pitchFamily="18" charset="0"/>
                <a:cs typeface="Times New Roman" panose="02020603050405020304" pitchFamily="18" charset="0"/>
              </a:endParaRPr>
            </a:p>
          </p:txBody>
        </p:sp>
        <p:sp>
          <p:nvSpPr>
            <p:cNvPr id="85" name="文本框 84"/>
            <p:cNvSpPr txBox="1"/>
            <p:nvPr/>
          </p:nvSpPr>
          <p:spPr>
            <a:xfrm>
              <a:off x="5838016" y="4121754"/>
              <a:ext cx="467502" cy="340500"/>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Rs1</a:t>
              </a:r>
            </a:p>
          </p:txBody>
        </p:sp>
        <p:sp>
          <p:nvSpPr>
            <p:cNvPr id="86" name="文本框 85"/>
            <p:cNvSpPr txBox="1"/>
            <p:nvPr/>
          </p:nvSpPr>
          <p:spPr>
            <a:xfrm>
              <a:off x="5844492" y="4393848"/>
              <a:ext cx="444025" cy="340500"/>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Rs2</a:t>
              </a:r>
            </a:p>
          </p:txBody>
        </p:sp>
        <p:sp>
          <p:nvSpPr>
            <p:cNvPr id="87" name="文本框 86"/>
            <p:cNvSpPr txBox="1"/>
            <p:nvPr/>
          </p:nvSpPr>
          <p:spPr>
            <a:xfrm>
              <a:off x="5818247" y="4679089"/>
              <a:ext cx="376702" cy="340500"/>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Rd</a:t>
              </a:r>
            </a:p>
          </p:txBody>
        </p:sp>
        <p:cxnSp>
          <p:nvCxnSpPr>
            <p:cNvPr id="88" name="直接连接符 87"/>
            <p:cNvCxnSpPr/>
            <p:nvPr/>
          </p:nvCxnSpPr>
          <p:spPr>
            <a:xfrm>
              <a:off x="11634860" y="3791275"/>
              <a:ext cx="0" cy="26226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文本框 88"/>
            <p:cNvSpPr txBox="1"/>
            <p:nvPr/>
          </p:nvSpPr>
          <p:spPr>
            <a:xfrm>
              <a:off x="5428405" y="618049"/>
              <a:ext cx="829602" cy="44265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ID/EX</a:t>
              </a:r>
            </a:p>
          </p:txBody>
        </p:sp>
        <p:sp>
          <p:nvSpPr>
            <p:cNvPr id="90" name="文本框 89"/>
            <p:cNvSpPr txBox="1"/>
            <p:nvPr/>
          </p:nvSpPr>
          <p:spPr>
            <a:xfrm>
              <a:off x="8038160" y="897832"/>
              <a:ext cx="1155505" cy="44265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EX/MEM</a:t>
              </a:r>
            </a:p>
          </p:txBody>
        </p:sp>
        <p:sp>
          <p:nvSpPr>
            <p:cNvPr id="91" name="文本框 90"/>
            <p:cNvSpPr txBox="1"/>
            <p:nvPr/>
          </p:nvSpPr>
          <p:spPr>
            <a:xfrm>
              <a:off x="10040461" y="1227029"/>
              <a:ext cx="1222827" cy="442650"/>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MEM/WB</a:t>
              </a:r>
            </a:p>
          </p:txBody>
        </p:sp>
      </p:grpSp>
      <p:grpSp>
        <p:nvGrpSpPr>
          <p:cNvPr id="21505" name="组合 21504"/>
          <p:cNvGrpSpPr/>
          <p:nvPr/>
        </p:nvGrpSpPr>
        <p:grpSpPr>
          <a:xfrm>
            <a:off x="367020" y="3279647"/>
            <a:ext cx="667195" cy="851350"/>
            <a:chOff x="631540" y="2341698"/>
            <a:chExt cx="513640" cy="851350"/>
          </a:xfrm>
        </p:grpSpPr>
        <p:sp>
          <p:nvSpPr>
            <p:cNvPr id="5" name="矩形 4"/>
            <p:cNvSpPr/>
            <p:nvPr/>
          </p:nvSpPr>
          <p:spPr>
            <a:xfrm>
              <a:off x="685415" y="2341698"/>
              <a:ext cx="312875" cy="636394"/>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504" name="文本框 21503"/>
            <p:cNvSpPr txBox="1"/>
            <p:nvPr/>
          </p:nvSpPr>
          <p:spPr>
            <a:xfrm>
              <a:off x="631540" y="2485162"/>
              <a:ext cx="513640" cy="707886"/>
            </a:xfrm>
            <a:prstGeom prst="rect">
              <a:avLst/>
            </a:prstGeom>
            <a:noFill/>
          </p:spPr>
          <p:txBody>
            <a:bodyPr wrap="square" rtlCol="0">
              <a:spAutoFit/>
            </a:bodyPr>
            <a:lstStyle/>
            <a:p>
              <a:r>
                <a:rPr lang="en-US" sz="2000" b="1" dirty="0">
                  <a:solidFill>
                    <a:srgbClr val="FF0000"/>
                  </a:solidFill>
                  <a:latin typeface="Times New Roman" panose="02020603050405020304" pitchFamily="18" charset="0"/>
                  <a:cs typeface="Times New Roman" panose="02020603050405020304" pitchFamily="18" charset="0"/>
                </a:rPr>
                <a:t>PC</a:t>
              </a:r>
            </a:p>
          </p:txBody>
        </p:sp>
      </p:grpSp>
      <p:grpSp>
        <p:nvGrpSpPr>
          <p:cNvPr id="21507" name="组合 21506"/>
          <p:cNvGrpSpPr/>
          <p:nvPr/>
        </p:nvGrpSpPr>
        <p:grpSpPr>
          <a:xfrm>
            <a:off x="1102498" y="2955039"/>
            <a:ext cx="957841" cy="1386148"/>
            <a:chOff x="1687501" y="2326887"/>
            <a:chExt cx="977948" cy="1386148"/>
          </a:xfrm>
        </p:grpSpPr>
        <p:sp>
          <p:nvSpPr>
            <p:cNvPr id="97" name="矩形 96"/>
            <p:cNvSpPr/>
            <p:nvPr/>
          </p:nvSpPr>
          <p:spPr>
            <a:xfrm>
              <a:off x="1687501" y="2326887"/>
              <a:ext cx="977948" cy="1386148"/>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98" name="文本框 97"/>
            <p:cNvSpPr txBox="1"/>
            <p:nvPr/>
          </p:nvSpPr>
          <p:spPr>
            <a:xfrm>
              <a:off x="1924711" y="2770601"/>
              <a:ext cx="491324" cy="461665"/>
            </a:xfrm>
            <a:prstGeom prst="rect">
              <a:avLst/>
            </a:prstGeom>
            <a:noFill/>
          </p:spPr>
          <p:txBody>
            <a:bodyPr wrap="none" rtlCol="0">
              <a:spAutoFit/>
            </a:bodyPr>
            <a:lstStyle/>
            <a:p>
              <a:pPr algn="ctr"/>
              <a:r>
                <a:rPr lang="en-US" sz="2400" b="1" dirty="0">
                  <a:solidFill>
                    <a:srgbClr val="FF0000"/>
                  </a:solidFill>
                  <a:latin typeface="Times New Roman" panose="02020603050405020304" pitchFamily="18" charset="0"/>
                  <a:cs typeface="Times New Roman" panose="02020603050405020304" pitchFamily="18" charset="0"/>
                </a:rPr>
                <a:t>IM</a:t>
              </a:r>
            </a:p>
          </p:txBody>
        </p:sp>
      </p:grpSp>
      <p:sp>
        <p:nvSpPr>
          <p:cNvPr id="101" name="矩形 100"/>
          <p:cNvSpPr/>
          <p:nvPr/>
        </p:nvSpPr>
        <p:spPr>
          <a:xfrm>
            <a:off x="2329923" y="2097719"/>
            <a:ext cx="291058" cy="3109236"/>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cxnSp>
        <p:nvCxnSpPr>
          <p:cNvPr id="21513" name="直接箭头连接符 21512"/>
          <p:cNvCxnSpPr>
            <a:endCxn id="97" idx="1"/>
          </p:cNvCxnSpPr>
          <p:nvPr/>
        </p:nvCxnSpPr>
        <p:spPr>
          <a:xfrm>
            <a:off x="843411" y="3648113"/>
            <a:ext cx="259087"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a:stCxn id="97" idx="3"/>
            <a:endCxn id="101" idx="1"/>
          </p:cNvCxnSpPr>
          <p:nvPr/>
        </p:nvCxnSpPr>
        <p:spPr>
          <a:xfrm>
            <a:off x="2060339" y="3648113"/>
            <a:ext cx="269584" cy="422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9" name="文本框 108"/>
          <p:cNvSpPr txBox="1"/>
          <p:nvPr/>
        </p:nvSpPr>
        <p:spPr>
          <a:xfrm>
            <a:off x="2165023" y="1762894"/>
            <a:ext cx="697627"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IF/ID</a:t>
            </a:r>
          </a:p>
        </p:txBody>
      </p:sp>
      <p:sp>
        <p:nvSpPr>
          <p:cNvPr id="111" name="矩形 110"/>
          <p:cNvSpPr/>
          <p:nvPr/>
        </p:nvSpPr>
        <p:spPr>
          <a:xfrm>
            <a:off x="5341612" y="1808426"/>
            <a:ext cx="291058" cy="287540"/>
          </a:xfrm>
          <a:prstGeom prst="rect">
            <a:avLst/>
          </a:prstGeom>
          <a:solidFill>
            <a:schemeClr val="bg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112" name="矩形 111"/>
          <p:cNvSpPr/>
          <p:nvPr/>
        </p:nvSpPr>
        <p:spPr>
          <a:xfrm>
            <a:off x="5343010" y="1524598"/>
            <a:ext cx="291058" cy="287540"/>
          </a:xfrm>
          <a:prstGeom prst="rect">
            <a:avLst/>
          </a:prstGeom>
          <a:solidFill>
            <a:schemeClr val="bg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113" name="矩形 112"/>
          <p:cNvSpPr/>
          <p:nvPr/>
        </p:nvSpPr>
        <p:spPr>
          <a:xfrm>
            <a:off x="5343010" y="1239372"/>
            <a:ext cx="291058" cy="287540"/>
          </a:xfrm>
          <a:prstGeom prst="rect">
            <a:avLst/>
          </a:prstGeom>
          <a:solidFill>
            <a:schemeClr val="bg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21516" name="文本框 21515"/>
          <p:cNvSpPr txBox="1"/>
          <p:nvPr/>
        </p:nvSpPr>
        <p:spPr>
          <a:xfrm>
            <a:off x="5229894" y="1231866"/>
            <a:ext cx="514885" cy="338554"/>
          </a:xfrm>
          <a:prstGeom prst="rect">
            <a:avLst/>
          </a:prstGeom>
          <a:noFill/>
        </p:spPr>
        <p:txBody>
          <a:bodyPr wrap="none" rtlCol="0">
            <a:spAutoFit/>
          </a:bodyPr>
          <a:lstStyle/>
          <a:p>
            <a:r>
              <a:rPr lang="en-US" sz="1600" dirty="0">
                <a:solidFill>
                  <a:srgbClr val="00B0F0"/>
                </a:solidFill>
                <a:latin typeface="Times New Roman" panose="02020603050405020304" pitchFamily="18" charset="0"/>
                <a:cs typeface="Times New Roman" panose="02020603050405020304" pitchFamily="18" charset="0"/>
              </a:rPr>
              <a:t>WB</a:t>
            </a:r>
          </a:p>
        </p:txBody>
      </p:sp>
      <p:sp>
        <p:nvSpPr>
          <p:cNvPr id="115" name="文本框 114"/>
          <p:cNvSpPr txBox="1"/>
          <p:nvPr/>
        </p:nvSpPr>
        <p:spPr>
          <a:xfrm>
            <a:off x="5308542" y="1508029"/>
            <a:ext cx="367408" cy="338554"/>
          </a:xfrm>
          <a:prstGeom prst="rect">
            <a:avLst/>
          </a:prstGeom>
          <a:noFill/>
        </p:spPr>
        <p:txBody>
          <a:bodyPr wrap="none" rtlCol="0">
            <a:spAutoFit/>
          </a:bodyPr>
          <a:lstStyle/>
          <a:p>
            <a:pPr algn="ctr"/>
            <a:r>
              <a:rPr lang="en-US" sz="1600" dirty="0">
                <a:solidFill>
                  <a:srgbClr val="00B0F0"/>
                </a:solidFill>
                <a:latin typeface="Times New Roman" panose="02020603050405020304" pitchFamily="18" charset="0"/>
                <a:cs typeface="Times New Roman" panose="02020603050405020304" pitchFamily="18" charset="0"/>
              </a:rPr>
              <a:t>M</a:t>
            </a:r>
          </a:p>
        </p:txBody>
      </p:sp>
      <p:sp>
        <p:nvSpPr>
          <p:cNvPr id="116" name="文本框 115"/>
          <p:cNvSpPr txBox="1"/>
          <p:nvPr/>
        </p:nvSpPr>
        <p:spPr>
          <a:xfrm>
            <a:off x="5253883" y="1798307"/>
            <a:ext cx="457176" cy="338554"/>
          </a:xfrm>
          <a:prstGeom prst="rect">
            <a:avLst/>
          </a:prstGeom>
          <a:noFill/>
        </p:spPr>
        <p:txBody>
          <a:bodyPr wrap="none" rtlCol="0">
            <a:spAutoFit/>
          </a:bodyPr>
          <a:lstStyle/>
          <a:p>
            <a:r>
              <a:rPr lang="en-US" sz="1600" dirty="0">
                <a:solidFill>
                  <a:srgbClr val="00B0F0"/>
                </a:solidFill>
                <a:latin typeface="Times New Roman" panose="02020603050405020304" pitchFamily="18" charset="0"/>
                <a:cs typeface="Times New Roman" panose="02020603050405020304" pitchFamily="18" charset="0"/>
              </a:rPr>
              <a:t>EX</a:t>
            </a:r>
          </a:p>
        </p:txBody>
      </p:sp>
      <p:sp>
        <p:nvSpPr>
          <p:cNvPr id="117" name="矩形 116"/>
          <p:cNvSpPr/>
          <p:nvPr/>
        </p:nvSpPr>
        <p:spPr>
          <a:xfrm>
            <a:off x="8263780" y="1811222"/>
            <a:ext cx="291058" cy="287540"/>
          </a:xfrm>
          <a:prstGeom prst="rect">
            <a:avLst/>
          </a:prstGeom>
          <a:solidFill>
            <a:schemeClr val="bg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118" name="矩形 117"/>
          <p:cNvSpPr/>
          <p:nvPr/>
        </p:nvSpPr>
        <p:spPr>
          <a:xfrm>
            <a:off x="8263780" y="1525996"/>
            <a:ext cx="291058" cy="287540"/>
          </a:xfrm>
          <a:prstGeom prst="rect">
            <a:avLst/>
          </a:prstGeom>
          <a:solidFill>
            <a:schemeClr val="bg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119" name="文本框 118"/>
          <p:cNvSpPr txBox="1"/>
          <p:nvPr/>
        </p:nvSpPr>
        <p:spPr>
          <a:xfrm>
            <a:off x="8149486" y="1529000"/>
            <a:ext cx="514885" cy="338554"/>
          </a:xfrm>
          <a:prstGeom prst="rect">
            <a:avLst/>
          </a:prstGeom>
          <a:noFill/>
        </p:spPr>
        <p:txBody>
          <a:bodyPr wrap="none" rtlCol="0">
            <a:spAutoFit/>
          </a:bodyPr>
          <a:lstStyle/>
          <a:p>
            <a:r>
              <a:rPr lang="en-US" sz="1600" dirty="0">
                <a:solidFill>
                  <a:srgbClr val="00B0F0"/>
                </a:solidFill>
                <a:latin typeface="Times New Roman" panose="02020603050405020304" pitchFamily="18" charset="0"/>
                <a:cs typeface="Times New Roman" panose="02020603050405020304" pitchFamily="18" charset="0"/>
              </a:rPr>
              <a:t>WB</a:t>
            </a:r>
          </a:p>
        </p:txBody>
      </p:sp>
      <p:sp>
        <p:nvSpPr>
          <p:cNvPr id="120" name="文本框 119"/>
          <p:cNvSpPr txBox="1"/>
          <p:nvPr/>
        </p:nvSpPr>
        <p:spPr>
          <a:xfrm>
            <a:off x="8218802" y="1815673"/>
            <a:ext cx="367408" cy="338554"/>
          </a:xfrm>
          <a:prstGeom prst="rect">
            <a:avLst/>
          </a:prstGeom>
          <a:noFill/>
        </p:spPr>
        <p:txBody>
          <a:bodyPr wrap="none" rtlCol="0">
            <a:spAutoFit/>
          </a:bodyPr>
          <a:lstStyle/>
          <a:p>
            <a:pPr algn="ctr"/>
            <a:r>
              <a:rPr lang="en-US" sz="1600" dirty="0">
                <a:solidFill>
                  <a:srgbClr val="00B0F0"/>
                </a:solidFill>
                <a:latin typeface="Times New Roman" panose="02020603050405020304" pitchFamily="18" charset="0"/>
                <a:cs typeface="Times New Roman" panose="02020603050405020304" pitchFamily="18" charset="0"/>
              </a:rPr>
              <a:t>M</a:t>
            </a:r>
          </a:p>
        </p:txBody>
      </p:sp>
      <p:sp>
        <p:nvSpPr>
          <p:cNvPr id="121" name="矩形 120"/>
          <p:cNvSpPr/>
          <p:nvPr/>
        </p:nvSpPr>
        <p:spPr>
          <a:xfrm>
            <a:off x="10354039" y="1812620"/>
            <a:ext cx="291058" cy="287540"/>
          </a:xfrm>
          <a:prstGeom prst="rect">
            <a:avLst/>
          </a:prstGeom>
          <a:solidFill>
            <a:schemeClr val="bg1"/>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solidFill>
                <a:schemeClr val="tx1"/>
              </a:solidFill>
            </a:endParaRPr>
          </a:p>
        </p:txBody>
      </p:sp>
      <p:sp>
        <p:nvSpPr>
          <p:cNvPr id="122" name="文本框 121"/>
          <p:cNvSpPr txBox="1"/>
          <p:nvPr/>
        </p:nvSpPr>
        <p:spPr>
          <a:xfrm>
            <a:off x="10260765" y="1815624"/>
            <a:ext cx="474810" cy="307777"/>
          </a:xfrm>
          <a:prstGeom prst="rect">
            <a:avLst/>
          </a:prstGeom>
          <a:noFill/>
        </p:spPr>
        <p:txBody>
          <a:bodyPr wrap="none" rtlCol="0">
            <a:spAutoFit/>
          </a:bodyPr>
          <a:lstStyle/>
          <a:p>
            <a:r>
              <a:rPr lang="en-US" sz="1400" dirty="0">
                <a:solidFill>
                  <a:srgbClr val="00B0F0"/>
                </a:solidFill>
                <a:latin typeface="Times New Roman" panose="02020603050405020304" pitchFamily="18" charset="0"/>
                <a:cs typeface="Times New Roman" panose="02020603050405020304" pitchFamily="18" charset="0"/>
              </a:rPr>
              <a:t>WB</a:t>
            </a:r>
          </a:p>
        </p:txBody>
      </p:sp>
      <p:grpSp>
        <p:nvGrpSpPr>
          <p:cNvPr id="21519" name="组合 21518"/>
          <p:cNvGrpSpPr/>
          <p:nvPr/>
        </p:nvGrpSpPr>
        <p:grpSpPr>
          <a:xfrm>
            <a:off x="3213708" y="1193153"/>
            <a:ext cx="1061001" cy="948051"/>
            <a:chOff x="3457721" y="1209931"/>
            <a:chExt cx="738900" cy="948051"/>
          </a:xfrm>
        </p:grpSpPr>
        <p:sp>
          <p:nvSpPr>
            <p:cNvPr id="21517" name="椭圆 21516"/>
            <p:cNvSpPr/>
            <p:nvPr/>
          </p:nvSpPr>
          <p:spPr>
            <a:xfrm>
              <a:off x="3514989" y="1209931"/>
              <a:ext cx="606656" cy="948051"/>
            </a:xfrm>
            <a:prstGeom prst="ellipse">
              <a:avLst/>
            </a:prstGeom>
            <a:solidFill>
              <a:schemeClr val="bg1"/>
            </a:solid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518" name="文本框 21517"/>
            <p:cNvSpPr txBox="1"/>
            <p:nvPr/>
          </p:nvSpPr>
          <p:spPr>
            <a:xfrm>
              <a:off x="3457721" y="1496256"/>
              <a:ext cx="738900" cy="400110"/>
            </a:xfrm>
            <a:prstGeom prst="rect">
              <a:avLst/>
            </a:prstGeom>
            <a:noFill/>
          </p:spPr>
          <p:txBody>
            <a:bodyPr wrap="square" rtlCol="0">
              <a:spAutoFit/>
            </a:bodyPr>
            <a:lstStyle/>
            <a:p>
              <a:r>
                <a:rPr lang="en-US" sz="2000" b="1" dirty="0">
                  <a:solidFill>
                    <a:srgbClr val="00B0F0"/>
                  </a:solidFill>
                  <a:latin typeface="Times New Roman" panose="02020603050405020304" pitchFamily="18" charset="0"/>
                  <a:cs typeface="Times New Roman" panose="02020603050405020304" pitchFamily="18" charset="0"/>
                </a:rPr>
                <a:t>Control</a:t>
              </a:r>
            </a:p>
          </p:txBody>
        </p:sp>
      </p:grpSp>
      <p:cxnSp>
        <p:nvCxnSpPr>
          <p:cNvPr id="21521" name="直接连接符 21520"/>
          <p:cNvCxnSpPr/>
          <p:nvPr/>
        </p:nvCxnSpPr>
        <p:spPr>
          <a:xfrm>
            <a:off x="2620981" y="3439486"/>
            <a:ext cx="263527"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25" name="直接连接符 21524"/>
          <p:cNvCxnSpPr/>
          <p:nvPr/>
        </p:nvCxnSpPr>
        <p:spPr>
          <a:xfrm>
            <a:off x="2884509" y="1639189"/>
            <a:ext cx="0" cy="319286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27" name="直接箭头连接符 21526"/>
          <p:cNvCxnSpPr/>
          <p:nvPr/>
        </p:nvCxnSpPr>
        <p:spPr>
          <a:xfrm>
            <a:off x="2884509" y="1639189"/>
            <a:ext cx="411427"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533" name="直接连接符 21532"/>
          <p:cNvCxnSpPr/>
          <p:nvPr/>
        </p:nvCxnSpPr>
        <p:spPr>
          <a:xfrm>
            <a:off x="3592344" y="3138329"/>
            <a:ext cx="0" cy="32180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36" name="直接连接符 21535"/>
          <p:cNvCxnSpPr/>
          <p:nvPr/>
        </p:nvCxnSpPr>
        <p:spPr>
          <a:xfrm>
            <a:off x="3592344" y="6356350"/>
            <a:ext cx="603116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538" name="直接连接符 21537"/>
          <p:cNvCxnSpPr/>
          <p:nvPr/>
        </p:nvCxnSpPr>
        <p:spPr>
          <a:xfrm flipV="1">
            <a:off x="9623506" y="5707634"/>
            <a:ext cx="0" cy="648716"/>
          </a:xfrm>
          <a:prstGeom prst="line">
            <a:avLst/>
          </a:prstGeom>
          <a:ln w="2540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21542" name="直接箭头连接符 21541"/>
          <p:cNvCxnSpPr/>
          <p:nvPr/>
        </p:nvCxnSpPr>
        <p:spPr>
          <a:xfrm>
            <a:off x="2884508" y="4832057"/>
            <a:ext cx="24571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545" name="直接连接符 21544"/>
          <p:cNvCxnSpPr/>
          <p:nvPr/>
        </p:nvCxnSpPr>
        <p:spPr>
          <a:xfrm>
            <a:off x="3384470" y="2781917"/>
            <a:ext cx="0" cy="1807720"/>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1551" name="直接箭头连接符 21550"/>
          <p:cNvCxnSpPr/>
          <p:nvPr/>
        </p:nvCxnSpPr>
        <p:spPr>
          <a:xfrm>
            <a:off x="3384470" y="4589637"/>
            <a:ext cx="195714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554" name="直接连接符 21553"/>
          <p:cNvCxnSpPr/>
          <p:nvPr/>
        </p:nvCxnSpPr>
        <p:spPr>
          <a:xfrm>
            <a:off x="3144323" y="2426049"/>
            <a:ext cx="0" cy="1916744"/>
          </a:xfrm>
          <a:prstGeom prst="line">
            <a:avLst/>
          </a:prstGeom>
          <a:ln w="25400">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21556" name="直接箭头连接符 21555"/>
          <p:cNvCxnSpPr/>
          <p:nvPr/>
        </p:nvCxnSpPr>
        <p:spPr>
          <a:xfrm>
            <a:off x="3135088" y="4342793"/>
            <a:ext cx="220652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1" name="文本框 170"/>
          <p:cNvSpPr txBox="1"/>
          <p:nvPr/>
        </p:nvSpPr>
        <p:spPr>
          <a:xfrm>
            <a:off x="3794413" y="4051960"/>
            <a:ext cx="1600117" cy="323165"/>
          </a:xfrm>
          <a:prstGeom prst="rect">
            <a:avLst/>
          </a:prstGeom>
          <a:noFill/>
        </p:spPr>
        <p:txBody>
          <a:bodyPr wrap="none" rtlCol="0">
            <a:spAutoFit/>
          </a:bodyPr>
          <a:lstStyle/>
          <a:p>
            <a:pPr algn="ctr"/>
            <a:r>
              <a:rPr lang="en-US" sz="1500" dirty="0">
                <a:latin typeface="Times New Roman" panose="02020603050405020304" pitchFamily="18" charset="0"/>
                <a:cs typeface="Times New Roman" panose="02020603050405020304" pitchFamily="18" charset="0"/>
              </a:rPr>
              <a:t>IF/ID.RegisterRs1</a:t>
            </a:r>
          </a:p>
        </p:txBody>
      </p:sp>
      <p:sp>
        <p:nvSpPr>
          <p:cNvPr id="172" name="文本框 171"/>
          <p:cNvSpPr txBox="1"/>
          <p:nvPr/>
        </p:nvSpPr>
        <p:spPr>
          <a:xfrm>
            <a:off x="3790568" y="4340752"/>
            <a:ext cx="1600118" cy="323165"/>
          </a:xfrm>
          <a:prstGeom prst="rect">
            <a:avLst/>
          </a:prstGeom>
          <a:noFill/>
        </p:spPr>
        <p:txBody>
          <a:bodyPr wrap="none" rtlCol="0">
            <a:spAutoFit/>
          </a:bodyPr>
          <a:lstStyle/>
          <a:p>
            <a:pPr algn="ctr"/>
            <a:r>
              <a:rPr lang="en-US" sz="1500" dirty="0">
                <a:latin typeface="Times New Roman" panose="02020603050405020304" pitchFamily="18" charset="0"/>
                <a:cs typeface="Times New Roman" panose="02020603050405020304" pitchFamily="18" charset="0"/>
              </a:rPr>
              <a:t>IF/ID.RegisterRs2</a:t>
            </a:r>
          </a:p>
        </p:txBody>
      </p:sp>
      <p:sp>
        <p:nvSpPr>
          <p:cNvPr id="173" name="文本框 172"/>
          <p:cNvSpPr txBox="1"/>
          <p:nvPr/>
        </p:nvSpPr>
        <p:spPr>
          <a:xfrm>
            <a:off x="3777443" y="4828221"/>
            <a:ext cx="1524777" cy="323165"/>
          </a:xfrm>
          <a:prstGeom prst="rect">
            <a:avLst/>
          </a:prstGeom>
          <a:noFill/>
        </p:spPr>
        <p:txBody>
          <a:bodyPr wrap="none" rtlCol="0">
            <a:spAutoFit/>
          </a:bodyPr>
          <a:lstStyle/>
          <a:p>
            <a:pPr algn="ctr"/>
            <a:r>
              <a:rPr lang="en-US" sz="1500" dirty="0">
                <a:latin typeface="Times New Roman" panose="02020603050405020304" pitchFamily="18" charset="0"/>
                <a:cs typeface="Times New Roman" panose="02020603050405020304" pitchFamily="18" charset="0"/>
              </a:rPr>
              <a:t>IF/</a:t>
            </a:r>
            <a:r>
              <a:rPr lang="en-US" sz="1500" dirty="0" err="1">
                <a:latin typeface="Times New Roman" panose="02020603050405020304" pitchFamily="18" charset="0"/>
                <a:cs typeface="Times New Roman" panose="02020603050405020304" pitchFamily="18" charset="0"/>
              </a:rPr>
              <a:t>ID.RegisterRd</a:t>
            </a:r>
            <a:endParaRPr lang="en-US" sz="1500" dirty="0">
              <a:latin typeface="Times New Roman" panose="02020603050405020304" pitchFamily="18" charset="0"/>
              <a:cs typeface="Times New Roman" panose="02020603050405020304" pitchFamily="18" charset="0"/>
            </a:endParaRPr>
          </a:p>
        </p:txBody>
      </p:sp>
      <p:cxnSp>
        <p:nvCxnSpPr>
          <p:cNvPr id="94" name="直接连接符 93"/>
          <p:cNvCxnSpPr/>
          <p:nvPr/>
        </p:nvCxnSpPr>
        <p:spPr>
          <a:xfrm flipV="1">
            <a:off x="5721270" y="4832057"/>
            <a:ext cx="0" cy="21401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a:off x="5632670" y="4832057"/>
            <a:ext cx="88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9" name="文本框 98"/>
          <p:cNvSpPr txBox="1"/>
          <p:nvPr/>
        </p:nvSpPr>
        <p:spPr>
          <a:xfrm rot="10800000">
            <a:off x="2535591" y="2318568"/>
            <a:ext cx="461665" cy="1092607"/>
          </a:xfrm>
          <a:prstGeom prst="rect">
            <a:avLst/>
          </a:prstGeom>
          <a:noFill/>
        </p:spPr>
        <p:txBody>
          <a:bodyPr vert="eaVert" wrap="none" rtlCol="0">
            <a:spAutoFit/>
          </a:bodyPr>
          <a:lstStyle/>
          <a:p>
            <a:r>
              <a:rPr lang="en-US" dirty="0" err="1">
                <a:latin typeface="Times New Roman" panose="02020603050405020304" pitchFamily="18" charset="0"/>
                <a:cs typeface="Times New Roman" panose="02020603050405020304" pitchFamily="18" charset="0"/>
              </a:rPr>
              <a:t>Insturction</a:t>
            </a:r>
            <a:endParaRPr lang="en-US" dirty="0">
              <a:latin typeface="Times New Roman" panose="02020603050405020304" pitchFamily="18" charset="0"/>
              <a:cs typeface="Times New Roman" panose="02020603050405020304" pitchFamily="18" charset="0"/>
            </a:endParaRPr>
          </a:p>
        </p:txBody>
      </p:sp>
      <p:cxnSp>
        <p:nvCxnSpPr>
          <p:cNvPr id="114" name="直接箭头连接符 113"/>
          <p:cNvCxnSpPr>
            <a:stCxn id="21517" idx="6"/>
          </p:cNvCxnSpPr>
          <p:nvPr/>
        </p:nvCxnSpPr>
        <p:spPr>
          <a:xfrm>
            <a:off x="4167047" y="1667179"/>
            <a:ext cx="1178806" cy="0"/>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a:off x="4805722" y="1383142"/>
            <a:ext cx="0" cy="569053"/>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7" name="直接箭头连接符 126"/>
          <p:cNvCxnSpPr/>
          <p:nvPr/>
        </p:nvCxnSpPr>
        <p:spPr>
          <a:xfrm>
            <a:off x="4805722" y="1383142"/>
            <a:ext cx="543124" cy="0"/>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直接箭头连接符 128"/>
          <p:cNvCxnSpPr/>
          <p:nvPr/>
        </p:nvCxnSpPr>
        <p:spPr>
          <a:xfrm>
            <a:off x="4805722" y="1952195"/>
            <a:ext cx="543124" cy="0"/>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a:off x="5632670" y="1397373"/>
            <a:ext cx="1945109"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5628055" y="1669841"/>
            <a:ext cx="1764945"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a:off x="7577779" y="1383142"/>
            <a:ext cx="0" cy="256047"/>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0" name="直接箭头连接符 139"/>
          <p:cNvCxnSpPr/>
          <p:nvPr/>
        </p:nvCxnSpPr>
        <p:spPr>
          <a:xfrm>
            <a:off x="7577779" y="1639189"/>
            <a:ext cx="686001" cy="0"/>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a:xfrm>
            <a:off x="7393000" y="1667179"/>
            <a:ext cx="0" cy="285016"/>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5" name="直接箭头连接符 144"/>
          <p:cNvCxnSpPr/>
          <p:nvPr/>
        </p:nvCxnSpPr>
        <p:spPr>
          <a:xfrm>
            <a:off x="7393000" y="1952195"/>
            <a:ext cx="878929" cy="0"/>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直接连接符 147"/>
          <p:cNvCxnSpPr/>
          <p:nvPr/>
        </p:nvCxnSpPr>
        <p:spPr>
          <a:xfrm>
            <a:off x="8554838" y="1650200"/>
            <a:ext cx="1341268"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p:nvCxnSpPr>
        <p:spPr>
          <a:xfrm>
            <a:off x="9896106" y="1650200"/>
            <a:ext cx="0" cy="301995"/>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52" name="直接箭头连接符 151"/>
          <p:cNvCxnSpPr/>
          <p:nvPr/>
        </p:nvCxnSpPr>
        <p:spPr>
          <a:xfrm>
            <a:off x="9896106" y="1952195"/>
            <a:ext cx="466145" cy="0"/>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8645316" y="1655181"/>
            <a:ext cx="0" cy="3877908"/>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58" name="直接箭头连接符 157"/>
          <p:cNvCxnSpPr/>
          <p:nvPr/>
        </p:nvCxnSpPr>
        <p:spPr>
          <a:xfrm flipH="1">
            <a:off x="8240533" y="5533089"/>
            <a:ext cx="404783" cy="0"/>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60" name="直接连接符 159"/>
          <p:cNvCxnSpPr/>
          <p:nvPr/>
        </p:nvCxnSpPr>
        <p:spPr>
          <a:xfrm flipH="1">
            <a:off x="10642705" y="1967926"/>
            <a:ext cx="92870" cy="0"/>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a:stCxn id="122" idx="3"/>
          </p:cNvCxnSpPr>
          <p:nvPr/>
        </p:nvCxnSpPr>
        <p:spPr>
          <a:xfrm>
            <a:off x="10735575" y="1969513"/>
            <a:ext cx="0" cy="3773014"/>
          </a:xfrm>
          <a:prstGeom prst="line">
            <a:avLst/>
          </a:prstGeom>
          <a:ln w="254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74" name="直接箭头连接符 173"/>
          <p:cNvCxnSpPr/>
          <p:nvPr/>
        </p:nvCxnSpPr>
        <p:spPr>
          <a:xfrm flipH="1">
            <a:off x="8170506" y="5742527"/>
            <a:ext cx="2565069" cy="0"/>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012014" y="2745484"/>
            <a:ext cx="1194558" cy="400110"/>
          </a:xfrm>
          <a:prstGeom prst="rect">
            <a:avLst/>
          </a:prstGeom>
          <a:noFill/>
        </p:spPr>
        <p:txBody>
          <a:bodyPr wrap="none" rtlCol="0">
            <a:spAutoFit/>
          </a:bodyPr>
          <a:lstStyle/>
          <a:p>
            <a:r>
              <a:rPr lang="en-US" altLang="zh-CN" sz="2000" b="1" dirty="0">
                <a:solidFill>
                  <a:srgbClr val="FF0000"/>
                </a:solidFill>
                <a:latin typeface="Times New Roman" panose="02020603050405020304" pitchFamily="18" charset="0"/>
                <a:cs typeface="Times New Roman" panose="02020603050405020304" pitchFamily="18" charset="0"/>
              </a:rPr>
              <a:t>Registers</a:t>
            </a:r>
            <a:endParaRPr lang="zh-CN" altLang="en-US" sz="2000" dirty="0"/>
          </a:p>
        </p:txBody>
      </p:sp>
      <p:pic>
        <p:nvPicPr>
          <p:cNvPr id="21510" name="图片 21509"/>
          <p:cNvPicPr>
            <a:picLocks noChangeAspect="1"/>
          </p:cNvPicPr>
          <p:nvPr/>
        </p:nvPicPr>
        <p:blipFill>
          <a:blip r:embed="rId3"/>
          <a:stretch>
            <a:fillRect/>
          </a:stretch>
        </p:blipFill>
        <p:spPr>
          <a:xfrm>
            <a:off x="376305" y="1082166"/>
            <a:ext cx="1676676" cy="1037200"/>
          </a:xfrm>
          <a:prstGeom prst="rect">
            <a:avLst/>
          </a:prstGeom>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8EE8E787-E6FE-45D8-9039-788B45E44EE7}" type="slidenum">
              <a:rPr lang="zh-CN" altLang="en-US" smtClean="0"/>
              <a:t>61</a:t>
            </a:fld>
            <a:endParaRPr lang="zh-CN" altLang="en-US" dirty="0"/>
          </a:p>
        </p:txBody>
      </p:sp>
      <p:sp>
        <p:nvSpPr>
          <p:cNvPr id="6" name="标题 5"/>
          <p:cNvSpPr>
            <a:spLocks noGrp="1"/>
          </p:cNvSpPr>
          <p:nvPr>
            <p:ph type="title"/>
          </p:nvPr>
        </p:nvSpPr>
        <p:spPr/>
        <p:txBody>
          <a:bodyPr/>
          <a:lstStyle/>
          <a:p>
            <a:r>
              <a:rPr lang="zh-CN" altLang="en-US" dirty="0"/>
              <a:t>载入</a:t>
            </a:r>
            <a:r>
              <a:rPr lang="en-US" altLang="zh-CN" dirty="0"/>
              <a:t>-</a:t>
            </a:r>
            <a:r>
              <a:rPr lang="zh-CN" altLang="en-US" dirty="0"/>
              <a:t>使用</a:t>
            </a:r>
            <a:r>
              <a:rPr lang="en-US" altLang="zh-CN" dirty="0"/>
              <a:t>(load-use)</a:t>
            </a:r>
            <a:r>
              <a:rPr lang="zh-CN" altLang="en-US" dirty="0"/>
              <a:t>型数据冒险</a:t>
            </a:r>
          </a:p>
        </p:txBody>
      </p:sp>
      <p:cxnSp>
        <p:nvCxnSpPr>
          <p:cNvPr id="4" name="直接连接符 3"/>
          <p:cNvCxnSpPr/>
          <p:nvPr/>
        </p:nvCxnSpPr>
        <p:spPr>
          <a:xfrm>
            <a:off x="6306476" y="3384859"/>
            <a:ext cx="22286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5955321" y="3392479"/>
            <a:ext cx="22286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6412230" y="2562860"/>
            <a:ext cx="699135" cy="61785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258" name="组合 257"/>
          <p:cNvGrpSpPr/>
          <p:nvPr/>
        </p:nvGrpSpPr>
        <p:grpSpPr>
          <a:xfrm>
            <a:off x="776667" y="927309"/>
            <a:ext cx="10952828" cy="5428369"/>
            <a:chOff x="1223" y="1460"/>
            <a:chExt cx="17249" cy="8549"/>
          </a:xfrm>
        </p:grpSpPr>
        <p:grpSp>
          <p:nvGrpSpPr>
            <p:cNvPr id="2" name="组合 1"/>
            <p:cNvGrpSpPr/>
            <p:nvPr/>
          </p:nvGrpSpPr>
          <p:grpSpPr>
            <a:xfrm>
              <a:off x="1223" y="1460"/>
              <a:ext cx="17249" cy="8549"/>
              <a:chOff x="19924" y="1105984"/>
              <a:chExt cx="10952828" cy="5428369"/>
            </a:xfrm>
          </p:grpSpPr>
          <p:sp>
            <p:nvSpPr>
              <p:cNvPr id="435" name="矩形 434"/>
              <p:cNvSpPr/>
              <p:nvPr/>
            </p:nvSpPr>
            <p:spPr>
              <a:xfrm rot="10800000">
                <a:off x="10389603" y="5933371"/>
                <a:ext cx="204183" cy="338243"/>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2" name="任意多边形: 形状 431"/>
              <p:cNvSpPr/>
              <p:nvPr/>
            </p:nvSpPr>
            <p:spPr>
              <a:xfrm>
                <a:off x="7595371" y="3765679"/>
                <a:ext cx="173686" cy="159229"/>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7" name="任意多边形: 形状 426"/>
              <p:cNvSpPr/>
              <p:nvPr/>
            </p:nvSpPr>
            <p:spPr>
              <a:xfrm>
                <a:off x="6645474" y="3758301"/>
                <a:ext cx="173686" cy="159229"/>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2" name="任意多边形: 形状 411"/>
              <p:cNvSpPr/>
              <p:nvPr/>
            </p:nvSpPr>
            <p:spPr>
              <a:xfrm>
                <a:off x="5714806" y="3750566"/>
                <a:ext cx="173686" cy="159229"/>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3" name="矩形 382"/>
              <p:cNvSpPr/>
              <p:nvPr/>
            </p:nvSpPr>
            <p:spPr>
              <a:xfrm>
                <a:off x="6878798" y="3289944"/>
                <a:ext cx="204184" cy="330495"/>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4" name="矩形 283"/>
              <p:cNvSpPr/>
              <p:nvPr/>
            </p:nvSpPr>
            <p:spPr>
              <a:xfrm>
                <a:off x="5955886" y="2420115"/>
                <a:ext cx="204184" cy="338244"/>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8" name="组合 7"/>
              <p:cNvGrpSpPr/>
              <p:nvPr/>
            </p:nvGrpSpPr>
            <p:grpSpPr>
              <a:xfrm>
                <a:off x="19924" y="1713516"/>
                <a:ext cx="3133788" cy="4410960"/>
                <a:chOff x="-112187" y="2068950"/>
                <a:chExt cx="3133788" cy="4410960"/>
              </a:xfrm>
            </p:grpSpPr>
            <p:grpSp>
              <p:nvGrpSpPr>
                <p:cNvPr id="9" name="Program"/>
                <p:cNvGrpSpPr/>
                <p:nvPr/>
              </p:nvGrpSpPr>
              <p:grpSpPr>
                <a:xfrm>
                  <a:off x="-112187" y="2068950"/>
                  <a:ext cx="3096260" cy="4410960"/>
                  <a:chOff x="-515148" y="2373769"/>
                  <a:chExt cx="3096260" cy="4410960"/>
                </a:xfrm>
              </p:grpSpPr>
              <p:cxnSp>
                <p:nvCxnSpPr>
                  <p:cNvPr id="13" name="直接箭头连接符 12"/>
                  <p:cNvCxnSpPr/>
                  <p:nvPr/>
                </p:nvCxnSpPr>
                <p:spPr>
                  <a:xfrm>
                    <a:off x="305589" y="3260259"/>
                    <a:ext cx="0" cy="352447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4" name="文本框 13"/>
                  <p:cNvSpPr txBox="1"/>
                  <p:nvPr/>
                </p:nvSpPr>
                <p:spPr>
                  <a:xfrm>
                    <a:off x="-515148" y="2373769"/>
                    <a:ext cx="2582545" cy="706755"/>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Program execution </a:t>
                    </a:r>
                  </a:p>
                  <a:p>
                    <a:r>
                      <a:rPr lang="en-US" altLang="zh-CN" sz="2000" dirty="0">
                        <a:latin typeface="Times New Roman" panose="02020603050405020304" pitchFamily="18" charset="0"/>
                        <a:cs typeface="Times New Roman" panose="02020603050405020304" pitchFamily="18" charset="0"/>
                      </a:rPr>
                      <a:t>order  (in instructions)</a:t>
                    </a:r>
                    <a:endParaRPr lang="zh-CN" altLang="en-US" sz="2000" dirty="0">
                      <a:latin typeface="Times New Roman" panose="02020603050405020304" pitchFamily="18" charset="0"/>
                      <a:cs typeface="Times New Roman" panose="02020603050405020304" pitchFamily="18" charset="0"/>
                    </a:endParaRPr>
                  </a:p>
                </p:txBody>
              </p:sp>
              <p:sp>
                <p:nvSpPr>
                  <p:cNvPr id="15" name="文本框 14"/>
                  <p:cNvSpPr txBox="1"/>
                  <p:nvPr/>
                </p:nvSpPr>
                <p:spPr>
                  <a:xfrm>
                    <a:off x="596102" y="3073539"/>
                    <a:ext cx="1985010" cy="460375"/>
                  </a:xfrm>
                  <a:prstGeom prst="rect">
                    <a:avLst/>
                  </a:prstGeom>
                  <a:noFill/>
                </p:spPr>
                <p:txBody>
                  <a:bodyPr wrap="square" rtlCol="0">
                    <a:spAutoFit/>
                  </a:bodyPr>
                  <a:lstStyle/>
                  <a:p>
                    <a:r>
                      <a:rPr lang="en-US" altLang="zh-CN" sz="2400" dirty="0" err="1">
                        <a:solidFill>
                          <a:srgbClr val="FF0000"/>
                        </a:solidFill>
                        <a:latin typeface="Times New Roman" panose="02020603050405020304" pitchFamily="18" charset="0"/>
                        <a:cs typeface="Times New Roman" panose="02020603050405020304" pitchFamily="18" charset="0"/>
                      </a:rPr>
                      <a:t>ld</a:t>
                    </a:r>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54C9F5"/>
                        </a:solidFill>
                        <a:latin typeface="Times New Roman" panose="02020603050405020304" pitchFamily="18" charset="0"/>
                        <a:cs typeface="Times New Roman" panose="02020603050405020304" pitchFamily="18" charset="0"/>
                      </a:rPr>
                      <a:t>x2</a:t>
                    </a:r>
                    <a:r>
                      <a:rPr lang="en-US" altLang="zh-CN" sz="2400" dirty="0">
                        <a:latin typeface="Times New Roman" panose="02020603050405020304" pitchFamily="18" charset="0"/>
                        <a:cs typeface="Times New Roman" panose="02020603050405020304" pitchFamily="18" charset="0"/>
                      </a:rPr>
                      <a:t>,20(x1)</a:t>
                    </a:r>
                  </a:p>
                </p:txBody>
              </p:sp>
            </p:grpSp>
            <p:sp>
              <p:nvSpPr>
                <p:cNvPr id="10" name="文本框 9"/>
                <p:cNvSpPr txBox="1"/>
                <p:nvPr/>
              </p:nvSpPr>
              <p:spPr>
                <a:xfrm>
                  <a:off x="1022604" y="3678675"/>
                  <a:ext cx="1985090" cy="46037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and </a:t>
                  </a:r>
                  <a:r>
                    <a:rPr lang="en-US" altLang="zh-CN" sz="2400" dirty="0">
                      <a:solidFill>
                        <a:srgbClr val="54C9F5"/>
                      </a:solidFill>
                      <a:latin typeface="Times New Roman" panose="02020603050405020304" pitchFamily="18" charset="0"/>
                      <a:cs typeface="Times New Roman" panose="02020603050405020304" pitchFamily="18" charset="0"/>
                    </a:rPr>
                    <a:t>x4,x2</a:t>
                  </a:r>
                  <a:r>
                    <a:rPr lang="en-US" altLang="zh-CN" sz="2400" dirty="0">
                      <a:latin typeface="Times New Roman" panose="02020603050405020304" pitchFamily="18" charset="0"/>
                      <a:cs typeface="Times New Roman" panose="02020603050405020304" pitchFamily="18" charset="0"/>
                    </a:rPr>
                    <a:t>,x5 </a:t>
                  </a:r>
                  <a:endParaRPr lang="en-US" altLang="zh-CN" sz="2400" dirty="0">
                    <a:solidFill>
                      <a:srgbClr val="54C9F5"/>
                    </a:solidFill>
                    <a:latin typeface="Times New Roman" panose="02020603050405020304" pitchFamily="18" charset="0"/>
                    <a:cs typeface="Times New Roman" panose="02020603050405020304" pitchFamily="18" charset="0"/>
                  </a:endParaRPr>
                </a:p>
              </p:txBody>
            </p:sp>
            <p:sp>
              <p:nvSpPr>
                <p:cNvPr id="11" name="文本框 10"/>
                <p:cNvSpPr txBox="1"/>
                <p:nvPr/>
              </p:nvSpPr>
              <p:spPr>
                <a:xfrm>
                  <a:off x="1036551" y="4593075"/>
                  <a:ext cx="1985050" cy="46037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or x8,</a:t>
                  </a:r>
                  <a:r>
                    <a:rPr lang="en-US" altLang="zh-CN" sz="2400" dirty="0">
                      <a:solidFill>
                        <a:srgbClr val="54C9F5"/>
                      </a:solidFill>
                      <a:latin typeface="Times New Roman" panose="02020603050405020304" pitchFamily="18" charset="0"/>
                      <a:cs typeface="Times New Roman" panose="02020603050405020304" pitchFamily="18" charset="0"/>
                    </a:rPr>
                    <a:t>x2</a:t>
                  </a:r>
                  <a:r>
                    <a:rPr lang="en-US" altLang="zh-CN" sz="2400" dirty="0">
                      <a:latin typeface="Times New Roman" panose="02020603050405020304" pitchFamily="18" charset="0"/>
                      <a:cs typeface="Times New Roman" panose="02020603050405020304" pitchFamily="18" charset="0"/>
                    </a:rPr>
                    <a:t>,x6</a:t>
                  </a:r>
                </a:p>
              </p:txBody>
            </p:sp>
            <p:sp>
              <p:nvSpPr>
                <p:cNvPr id="12" name="文本框 11"/>
                <p:cNvSpPr txBox="1"/>
                <p:nvPr/>
              </p:nvSpPr>
              <p:spPr>
                <a:xfrm>
                  <a:off x="1036528" y="5396350"/>
                  <a:ext cx="1985010" cy="46037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and x9,</a:t>
                  </a:r>
                  <a:r>
                    <a:rPr lang="en-US" altLang="zh-CN" sz="2400" dirty="0">
                      <a:solidFill>
                        <a:srgbClr val="54C9F5"/>
                      </a:solidFill>
                      <a:latin typeface="Times New Roman" panose="02020603050405020304" pitchFamily="18" charset="0"/>
                      <a:cs typeface="Times New Roman" panose="02020603050405020304" pitchFamily="18" charset="0"/>
                    </a:rPr>
                    <a:t>x4,x2</a:t>
                  </a:r>
                </a:p>
              </p:txBody>
            </p:sp>
          </p:grpSp>
          <p:grpSp>
            <p:nvGrpSpPr>
              <p:cNvPr id="17" name="指令"/>
              <p:cNvGrpSpPr/>
              <p:nvPr/>
            </p:nvGrpSpPr>
            <p:grpSpPr>
              <a:xfrm>
                <a:off x="6663819" y="5685835"/>
                <a:ext cx="4200124" cy="848518"/>
                <a:chOff x="3708787" y="2899251"/>
                <a:chExt cx="4562188" cy="1058188"/>
              </a:xfrm>
            </p:grpSpPr>
            <p:grpSp>
              <p:nvGrpSpPr>
                <p:cNvPr id="18" name="指令"/>
                <p:cNvGrpSpPr/>
                <p:nvPr/>
              </p:nvGrpSpPr>
              <p:grpSpPr>
                <a:xfrm>
                  <a:off x="3751739" y="2899251"/>
                  <a:ext cx="4403588" cy="1058188"/>
                  <a:chOff x="4036219" y="4360386"/>
                  <a:chExt cx="2411301" cy="579439"/>
                </a:xfrm>
              </p:grpSpPr>
              <p:grpSp>
                <p:nvGrpSpPr>
                  <p:cNvPr id="24" name="组合 23"/>
                  <p:cNvGrpSpPr/>
                  <p:nvPr/>
                </p:nvGrpSpPr>
                <p:grpSpPr>
                  <a:xfrm>
                    <a:off x="4036219" y="4536600"/>
                    <a:ext cx="233362" cy="230981"/>
                    <a:chOff x="3459957" y="3198019"/>
                    <a:chExt cx="233362" cy="230981"/>
                  </a:xfrm>
                </p:grpSpPr>
                <p:sp>
                  <p:nvSpPr>
                    <p:cNvPr id="64" name="矩形 63"/>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5" name="矩形 64"/>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矩形 24"/>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a:stCxn id="65"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组合 26"/>
                  <p:cNvGrpSpPr/>
                  <p:nvPr/>
                </p:nvGrpSpPr>
                <p:grpSpPr>
                  <a:xfrm>
                    <a:off x="4583677" y="4531622"/>
                    <a:ext cx="224066" cy="235402"/>
                    <a:chOff x="3971697" y="3537291"/>
                    <a:chExt cx="224066" cy="235402"/>
                  </a:xfrm>
                </p:grpSpPr>
                <p:sp>
                  <p:nvSpPr>
                    <p:cNvPr id="57" name="矩形 56"/>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8" name="直接连接符 57"/>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8" name="直接连接符 27"/>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任意多边形: 形状 28"/>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4939315"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矩形 55"/>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p:cNvGrpSpPr/>
                  <p:nvPr/>
                </p:nvGrpSpPr>
                <p:grpSpPr>
                  <a:xfrm rot="10800000">
                    <a:off x="6224134" y="4529592"/>
                    <a:ext cx="223386" cy="232211"/>
                    <a:chOff x="3970449" y="3542809"/>
                    <a:chExt cx="223386" cy="232211"/>
                  </a:xfrm>
                </p:grpSpPr>
                <p:cxnSp>
                  <p:nvCxnSpPr>
                    <p:cNvPr id="49" name="直接连接符 48"/>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 name="直接连接符 34"/>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56" idx="3"/>
                    <a:endCxn id="33"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文本框 18"/>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20" name="文本框 19"/>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21" name="文本框 20"/>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22" name="文本框 21"/>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23" name="文本框 22"/>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66" name="指令"/>
              <p:cNvGrpSpPr/>
              <p:nvPr/>
            </p:nvGrpSpPr>
            <p:grpSpPr>
              <a:xfrm>
                <a:off x="3872726" y="3027954"/>
                <a:ext cx="4200124" cy="848518"/>
                <a:chOff x="3708787" y="2899251"/>
                <a:chExt cx="4562188" cy="1058188"/>
              </a:xfrm>
            </p:grpSpPr>
            <p:grpSp>
              <p:nvGrpSpPr>
                <p:cNvPr id="67" name="指令"/>
                <p:cNvGrpSpPr/>
                <p:nvPr/>
              </p:nvGrpSpPr>
              <p:grpSpPr>
                <a:xfrm>
                  <a:off x="3751739" y="2899251"/>
                  <a:ext cx="4403588" cy="1058188"/>
                  <a:chOff x="4036219" y="4360386"/>
                  <a:chExt cx="2411301" cy="579439"/>
                </a:xfrm>
              </p:grpSpPr>
              <p:sp>
                <p:nvSpPr>
                  <p:cNvPr id="78" name="任意多边形: 形状 77"/>
                  <p:cNvSpPr/>
                  <p:nvPr/>
                </p:nvSpPr>
                <p:spPr>
                  <a:xfrm>
                    <a:off x="5141983" y="4398406"/>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3" name="组合 72"/>
                  <p:cNvGrpSpPr/>
                  <p:nvPr/>
                </p:nvGrpSpPr>
                <p:grpSpPr>
                  <a:xfrm>
                    <a:off x="4036219" y="4536600"/>
                    <a:ext cx="233362" cy="230981"/>
                    <a:chOff x="3459957" y="3198019"/>
                    <a:chExt cx="233362" cy="230981"/>
                  </a:xfrm>
                </p:grpSpPr>
                <p:sp>
                  <p:nvSpPr>
                    <p:cNvPr id="112" name="矩形 111"/>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3" name="矩形 112"/>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4" name="矩形 73"/>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5" name="直接连接符 74"/>
                  <p:cNvCxnSpPr>
                    <a:stCxn id="113"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6" name="组合 75"/>
                  <p:cNvGrpSpPr/>
                  <p:nvPr/>
                </p:nvGrpSpPr>
                <p:grpSpPr>
                  <a:xfrm>
                    <a:off x="4583677" y="4531622"/>
                    <a:ext cx="224066" cy="235402"/>
                    <a:chOff x="3971697" y="3537291"/>
                    <a:chExt cx="224066" cy="235402"/>
                  </a:xfrm>
                </p:grpSpPr>
                <p:sp>
                  <p:nvSpPr>
                    <p:cNvPr id="105" name="矩形 104"/>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06" name="直接连接符 105"/>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7" name="直接连接符 76"/>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矩形 78"/>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矩形 80"/>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rot="10800000">
                    <a:off x="6224134" y="4529592"/>
                    <a:ext cx="223386" cy="233308"/>
                    <a:chOff x="3970449" y="3541712"/>
                    <a:chExt cx="223386" cy="233308"/>
                  </a:xfrm>
                </p:grpSpPr>
                <p:sp>
                  <p:nvSpPr>
                    <p:cNvPr id="98" name="矩形 97"/>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9" name="直接连接符 98"/>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4" name="直接连接符 83"/>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4802980" y="4574639"/>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5007467" y="4575062"/>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a:stCxn id="81" idx="3"/>
                    <a:endCxn id="82"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8" name="文本框 67"/>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69" name="文本框 68"/>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70" name="文本框 69"/>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71" name="文本框 70"/>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72" name="文本框 71"/>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114" name="指令"/>
              <p:cNvGrpSpPr/>
              <p:nvPr/>
            </p:nvGrpSpPr>
            <p:grpSpPr>
              <a:xfrm>
                <a:off x="2940241" y="2155045"/>
                <a:ext cx="4200124" cy="848518"/>
                <a:chOff x="3708787" y="2899251"/>
                <a:chExt cx="4562188" cy="1058188"/>
              </a:xfrm>
            </p:grpSpPr>
            <p:grpSp>
              <p:nvGrpSpPr>
                <p:cNvPr id="115" name="指令"/>
                <p:cNvGrpSpPr/>
                <p:nvPr/>
              </p:nvGrpSpPr>
              <p:grpSpPr>
                <a:xfrm>
                  <a:off x="3751739" y="2899251"/>
                  <a:ext cx="4403588" cy="1058188"/>
                  <a:chOff x="4036219" y="4360386"/>
                  <a:chExt cx="2411301" cy="579439"/>
                </a:xfrm>
              </p:grpSpPr>
              <p:grpSp>
                <p:nvGrpSpPr>
                  <p:cNvPr id="121" name="组合 120"/>
                  <p:cNvGrpSpPr/>
                  <p:nvPr/>
                </p:nvGrpSpPr>
                <p:grpSpPr>
                  <a:xfrm>
                    <a:off x="4036219" y="4536600"/>
                    <a:ext cx="233362" cy="230981"/>
                    <a:chOff x="3459957" y="3198019"/>
                    <a:chExt cx="233362" cy="230981"/>
                  </a:xfrm>
                </p:grpSpPr>
                <p:sp>
                  <p:nvSpPr>
                    <p:cNvPr id="160" name="矩形 159"/>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1" name="矩形 160"/>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2" name="矩形 121"/>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3" name="直接连接符 122"/>
                  <p:cNvCxnSpPr>
                    <a:stCxn id="161"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4" name="组合 123"/>
                  <p:cNvGrpSpPr/>
                  <p:nvPr/>
                </p:nvGrpSpPr>
                <p:grpSpPr>
                  <a:xfrm>
                    <a:off x="4583677" y="4531622"/>
                    <a:ext cx="224066" cy="235402"/>
                    <a:chOff x="3971697" y="3537291"/>
                    <a:chExt cx="224066" cy="235402"/>
                  </a:xfrm>
                </p:grpSpPr>
                <p:sp>
                  <p:nvSpPr>
                    <p:cNvPr id="153" name="矩形 152"/>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54" name="直接连接符 153"/>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56" name="直接连接符 155"/>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直接连接符 157"/>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5" name="直接连接符 124"/>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6" name="任意多边形: 形状 125"/>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矩形 126"/>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矩形 127"/>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 name="矩形 128"/>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1" name="组合 130"/>
                  <p:cNvGrpSpPr/>
                  <p:nvPr/>
                </p:nvGrpSpPr>
                <p:grpSpPr>
                  <a:xfrm rot="10800000">
                    <a:off x="6224134" y="4529592"/>
                    <a:ext cx="223386" cy="233308"/>
                    <a:chOff x="3970449" y="3541712"/>
                    <a:chExt cx="223386" cy="233308"/>
                  </a:xfrm>
                </p:grpSpPr>
                <p:sp>
                  <p:nvSpPr>
                    <p:cNvPr id="146" name="矩形 145"/>
                    <p:cNvSpPr/>
                    <p:nvPr/>
                  </p:nvSpPr>
                  <p:spPr>
                    <a:xfrm>
                      <a:off x="4071938" y="3541712"/>
                      <a:ext cx="121444" cy="230981"/>
                    </a:xfrm>
                    <a:prstGeom prst="rect">
                      <a:avLst/>
                    </a:prstGeom>
                    <a:solidFill>
                      <a:srgbClr val="9CD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47" name="直接连接符 146"/>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48" name="直接连接符 147"/>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2" name="直接连接符 131"/>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a:stCxn id="129" idx="3"/>
                    <a:endCxn id="130"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6" name="文本框 115"/>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117" name="文本框 116"/>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118" name="文本框 117"/>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119" name="文本框 118"/>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120" name="文本框 119"/>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162" name="指令"/>
              <p:cNvGrpSpPr/>
              <p:nvPr/>
            </p:nvGrpSpPr>
            <p:grpSpPr>
              <a:xfrm>
                <a:off x="4802738" y="3904907"/>
                <a:ext cx="4200124" cy="848518"/>
                <a:chOff x="3708787" y="2899251"/>
                <a:chExt cx="4562188" cy="1058188"/>
              </a:xfrm>
            </p:grpSpPr>
            <p:grpSp>
              <p:nvGrpSpPr>
                <p:cNvPr id="163" name="指令"/>
                <p:cNvGrpSpPr/>
                <p:nvPr/>
              </p:nvGrpSpPr>
              <p:grpSpPr>
                <a:xfrm>
                  <a:off x="3751739" y="2899251"/>
                  <a:ext cx="4403588" cy="1058188"/>
                  <a:chOff x="4036219" y="4360386"/>
                  <a:chExt cx="2411301" cy="579439"/>
                </a:xfrm>
              </p:grpSpPr>
              <p:grpSp>
                <p:nvGrpSpPr>
                  <p:cNvPr id="169" name="组合 168"/>
                  <p:cNvGrpSpPr/>
                  <p:nvPr/>
                </p:nvGrpSpPr>
                <p:grpSpPr>
                  <a:xfrm>
                    <a:off x="4036219" y="4536600"/>
                    <a:ext cx="233362" cy="230981"/>
                    <a:chOff x="3459957" y="3198019"/>
                    <a:chExt cx="233362" cy="230981"/>
                  </a:xfrm>
                </p:grpSpPr>
                <p:sp>
                  <p:nvSpPr>
                    <p:cNvPr id="208" name="矩形 207"/>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9" name="矩形 208"/>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0" name="矩形 169"/>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1" name="直接连接符 170"/>
                  <p:cNvCxnSpPr>
                    <a:stCxn id="209"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2" name="组合 171"/>
                  <p:cNvGrpSpPr/>
                  <p:nvPr/>
                </p:nvGrpSpPr>
                <p:grpSpPr>
                  <a:xfrm>
                    <a:off x="4583677" y="4531622"/>
                    <a:ext cx="224066" cy="235402"/>
                    <a:chOff x="3971697" y="3537291"/>
                    <a:chExt cx="224066" cy="235402"/>
                  </a:xfrm>
                </p:grpSpPr>
                <p:sp>
                  <p:nvSpPr>
                    <p:cNvPr id="201" name="矩形 200"/>
                    <p:cNvSpPr/>
                    <p:nvPr/>
                  </p:nvSpPr>
                  <p:spPr>
                    <a:xfrm>
                      <a:off x="4071938" y="3541712"/>
                      <a:ext cx="121444" cy="230981"/>
                    </a:xfrm>
                    <a:prstGeom prst="rect">
                      <a:avLst/>
                    </a:prstGeom>
                    <a:solidFill>
                      <a:srgbClr val="9CD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02" name="直接连接符 201"/>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04" name="直接连接符 203"/>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直接连接符 206"/>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3" name="直接连接符 172"/>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4" name="任意多边形: 形状 173"/>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5" name="矩形 174"/>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矩形 175"/>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7" name="矩形 176"/>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矩形 177"/>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9" name="组合 178"/>
                  <p:cNvGrpSpPr/>
                  <p:nvPr/>
                </p:nvGrpSpPr>
                <p:grpSpPr>
                  <a:xfrm rot="10800000">
                    <a:off x="6224134" y="4529592"/>
                    <a:ext cx="223386" cy="233308"/>
                    <a:chOff x="3970449" y="3541712"/>
                    <a:chExt cx="223386" cy="233308"/>
                  </a:xfrm>
                </p:grpSpPr>
                <p:sp>
                  <p:nvSpPr>
                    <p:cNvPr id="194" name="矩形 193"/>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95" name="直接连接符 194"/>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6" name="直接连接符 195"/>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7" name="直接连接符 196"/>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8" name="直接连接符 197"/>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直接连接符 198"/>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 name="直接连接符 199"/>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80" name="直接连接符 179"/>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直接连接符 181"/>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直接连接符 182"/>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直接连接符 183"/>
                  <p:cNvCxnSpPr/>
                  <p:nvPr/>
                </p:nvCxnSpPr>
                <p:spPr>
                  <a:xfrm>
                    <a:off x="5009356" y="4561286"/>
                    <a:ext cx="126207" cy="0"/>
                  </a:xfrm>
                  <a:prstGeom prst="line">
                    <a:avLst/>
                  </a:prstGeom>
                  <a:ln w="15875">
                    <a:solidFill>
                      <a:srgbClr val="54C9F5"/>
                    </a:solidFill>
                  </a:ln>
                </p:spPr>
                <p:style>
                  <a:lnRef idx="1">
                    <a:schemeClr val="accent1"/>
                  </a:lnRef>
                  <a:fillRef idx="0">
                    <a:schemeClr val="accent1"/>
                  </a:fillRef>
                  <a:effectRef idx="0">
                    <a:schemeClr val="accent1"/>
                  </a:effectRef>
                  <a:fontRef idx="minor">
                    <a:schemeClr val="tx1"/>
                  </a:fontRef>
                </p:style>
              </p:cxnSp>
              <p:cxnSp>
                <p:nvCxnSpPr>
                  <p:cNvPr id="185" name="直接连接符 184"/>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 name="直接连接符 186"/>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8" name="直接连接符 187"/>
                  <p:cNvCxnSpPr>
                    <a:stCxn id="177" idx="3"/>
                    <a:endCxn id="178"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直接连接符 188"/>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1" name="直接连接符 190"/>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直接连接符 191"/>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4" name="文本框 163"/>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165" name="文本框 164"/>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166" name="文本框 165"/>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167" name="文本框 166"/>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168" name="文本框 167"/>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210" name="指令"/>
              <p:cNvGrpSpPr/>
              <p:nvPr/>
            </p:nvGrpSpPr>
            <p:grpSpPr>
              <a:xfrm>
                <a:off x="5734608" y="4782693"/>
                <a:ext cx="4200124" cy="848518"/>
                <a:chOff x="3708787" y="2899251"/>
                <a:chExt cx="4562188" cy="1058188"/>
              </a:xfrm>
            </p:grpSpPr>
            <p:grpSp>
              <p:nvGrpSpPr>
                <p:cNvPr id="211" name="指令"/>
                <p:cNvGrpSpPr/>
                <p:nvPr/>
              </p:nvGrpSpPr>
              <p:grpSpPr>
                <a:xfrm>
                  <a:off x="3751739" y="2899251"/>
                  <a:ext cx="4403588" cy="1058188"/>
                  <a:chOff x="4036219" y="4360386"/>
                  <a:chExt cx="2411301" cy="579439"/>
                </a:xfrm>
              </p:grpSpPr>
              <p:grpSp>
                <p:nvGrpSpPr>
                  <p:cNvPr id="217" name="组合 216"/>
                  <p:cNvGrpSpPr/>
                  <p:nvPr/>
                </p:nvGrpSpPr>
                <p:grpSpPr>
                  <a:xfrm>
                    <a:off x="4036219" y="4536600"/>
                    <a:ext cx="233362" cy="230981"/>
                    <a:chOff x="3459957" y="3198019"/>
                    <a:chExt cx="233362" cy="230981"/>
                  </a:xfrm>
                </p:grpSpPr>
                <p:sp>
                  <p:nvSpPr>
                    <p:cNvPr id="256" name="矩形 255"/>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7" name="矩形 256"/>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8" name="矩形 217"/>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9" name="直接连接符 218"/>
                  <p:cNvCxnSpPr>
                    <a:stCxn id="257"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0" name="组合 219"/>
                  <p:cNvGrpSpPr/>
                  <p:nvPr/>
                </p:nvGrpSpPr>
                <p:grpSpPr>
                  <a:xfrm>
                    <a:off x="4583677" y="4531622"/>
                    <a:ext cx="224066" cy="235402"/>
                    <a:chOff x="3971697" y="3537291"/>
                    <a:chExt cx="224066" cy="235402"/>
                  </a:xfrm>
                </p:grpSpPr>
                <p:sp>
                  <p:nvSpPr>
                    <p:cNvPr id="249" name="矩形 248"/>
                    <p:cNvSpPr/>
                    <p:nvPr/>
                  </p:nvSpPr>
                  <p:spPr>
                    <a:xfrm>
                      <a:off x="4071938" y="3541712"/>
                      <a:ext cx="121444" cy="230981"/>
                    </a:xfrm>
                    <a:prstGeom prst="rect">
                      <a:avLst/>
                    </a:prstGeom>
                    <a:solidFill>
                      <a:srgbClr val="9CD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50" name="直接连接符 249"/>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51" name="直接连接符 250"/>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52" name="直接连接符 251"/>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53" name="直接连接符 252"/>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1" name="直接连接符 220"/>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2" name="任意多边形: 形状 221"/>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3" name="矩形 222"/>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4" name="矩形 223"/>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5" name="矩形 224"/>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矩形 225"/>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7" name="组合 226"/>
                  <p:cNvGrpSpPr/>
                  <p:nvPr/>
                </p:nvGrpSpPr>
                <p:grpSpPr>
                  <a:xfrm rot="10800000">
                    <a:off x="6224134" y="4529592"/>
                    <a:ext cx="223386" cy="233308"/>
                    <a:chOff x="3970449" y="3541712"/>
                    <a:chExt cx="223386" cy="233308"/>
                  </a:xfrm>
                </p:grpSpPr>
                <p:sp>
                  <p:nvSpPr>
                    <p:cNvPr id="242" name="矩形 241"/>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43" name="直接连接符 242"/>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44" name="直接连接符 243"/>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45" name="直接连接符 244"/>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46" name="直接连接符 245"/>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7" name="直接连接符 246"/>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8" name="直接连接符 247"/>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8" name="直接连接符 227"/>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9" name="直接连接符 228"/>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0" name="直接连接符 229"/>
                  <p:cNvCxnSpPr/>
                  <p:nvPr/>
                </p:nvCxnSpPr>
                <p:spPr>
                  <a:xfrm>
                    <a:off x="4802980" y="4561286"/>
                    <a:ext cx="132558" cy="0"/>
                  </a:xfrm>
                  <a:prstGeom prst="line">
                    <a:avLst/>
                  </a:prstGeom>
                  <a:ln w="15875">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直接连接符 231"/>
                  <p:cNvCxnSpPr/>
                  <p:nvPr/>
                </p:nvCxnSpPr>
                <p:spPr>
                  <a:xfrm>
                    <a:off x="5009356" y="4561286"/>
                    <a:ext cx="126207" cy="0"/>
                  </a:xfrm>
                  <a:prstGeom prst="line">
                    <a:avLst/>
                  </a:prstGeom>
                  <a:ln w="15875">
                    <a:solidFill>
                      <a:srgbClr val="54C9F5"/>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 name="直接连接符 233"/>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5" name="直接连接符 234"/>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6" name="直接连接符 235"/>
                  <p:cNvCxnSpPr>
                    <a:stCxn id="225" idx="3"/>
                    <a:endCxn id="226"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直接连接符 237"/>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0" name="直接连接符 239"/>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2" name="文本框 211"/>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213" name="文本框 212"/>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214" name="文本框 213"/>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215" name="文本框 214"/>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216" name="文本框 215"/>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272" name="时间轴"/>
              <p:cNvGrpSpPr/>
              <p:nvPr/>
            </p:nvGrpSpPr>
            <p:grpSpPr>
              <a:xfrm>
                <a:off x="840664" y="1105984"/>
                <a:ext cx="10132088" cy="647558"/>
                <a:chOff x="1139949" y="1929084"/>
                <a:chExt cx="10132088" cy="647558"/>
              </a:xfrm>
            </p:grpSpPr>
            <p:cxnSp>
              <p:nvCxnSpPr>
                <p:cNvPr id="273" name="直接箭头连接符 272"/>
                <p:cNvCxnSpPr/>
                <p:nvPr/>
              </p:nvCxnSpPr>
              <p:spPr>
                <a:xfrm>
                  <a:off x="3629769" y="2185186"/>
                  <a:ext cx="7510315"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sp>
              <p:nvSpPr>
                <p:cNvPr id="274" name="文本框 273"/>
                <p:cNvSpPr txBox="1"/>
                <p:nvPr/>
              </p:nvSpPr>
              <p:spPr>
                <a:xfrm>
                  <a:off x="3047727" y="2207282"/>
                  <a:ext cx="714286" cy="369332"/>
                </a:xfrm>
                <a:prstGeom prst="rect">
                  <a:avLst/>
                </a:prstGeom>
                <a:noFill/>
              </p:spPr>
              <p:txBody>
                <a:bodyPr wrap="square" rtlCol="0">
                  <a:spAutoFit/>
                </a:bodyPr>
                <a:lstStyle/>
                <a:p>
                  <a:r>
                    <a:rPr lang="en-US" altLang="zh-CN" dirty="0"/>
                    <a:t>CC 1</a:t>
                  </a:r>
                  <a:endParaRPr lang="zh-CN" altLang="en-US" dirty="0"/>
                </a:p>
              </p:txBody>
            </p:sp>
            <p:sp>
              <p:nvSpPr>
                <p:cNvPr id="275" name="文本框 274"/>
                <p:cNvSpPr txBox="1"/>
                <p:nvPr/>
              </p:nvSpPr>
              <p:spPr>
                <a:xfrm>
                  <a:off x="3981073" y="2204602"/>
                  <a:ext cx="714286" cy="369332"/>
                </a:xfrm>
                <a:prstGeom prst="rect">
                  <a:avLst/>
                </a:prstGeom>
                <a:noFill/>
              </p:spPr>
              <p:txBody>
                <a:bodyPr wrap="square" rtlCol="0">
                  <a:spAutoFit/>
                </a:bodyPr>
                <a:lstStyle/>
                <a:p>
                  <a:r>
                    <a:rPr lang="en-US" altLang="zh-CN" dirty="0"/>
                    <a:t>CC 2</a:t>
                  </a:r>
                  <a:endParaRPr lang="zh-CN" altLang="en-US" dirty="0"/>
                </a:p>
              </p:txBody>
            </p:sp>
            <p:sp>
              <p:nvSpPr>
                <p:cNvPr id="276" name="文本框 275"/>
                <p:cNvSpPr txBox="1"/>
                <p:nvPr/>
              </p:nvSpPr>
              <p:spPr>
                <a:xfrm>
                  <a:off x="6737190" y="2207196"/>
                  <a:ext cx="714286" cy="369332"/>
                </a:xfrm>
                <a:prstGeom prst="rect">
                  <a:avLst/>
                </a:prstGeom>
                <a:noFill/>
              </p:spPr>
              <p:txBody>
                <a:bodyPr wrap="square" rtlCol="0">
                  <a:spAutoFit/>
                </a:bodyPr>
                <a:lstStyle/>
                <a:p>
                  <a:r>
                    <a:rPr lang="en-US" altLang="zh-CN" dirty="0"/>
                    <a:t>CC 5</a:t>
                  </a:r>
                  <a:endParaRPr lang="zh-CN" altLang="en-US" dirty="0"/>
                </a:p>
              </p:txBody>
            </p:sp>
            <p:sp>
              <p:nvSpPr>
                <p:cNvPr id="277" name="文本框 276"/>
                <p:cNvSpPr txBox="1"/>
                <p:nvPr/>
              </p:nvSpPr>
              <p:spPr>
                <a:xfrm>
                  <a:off x="4946527" y="2201889"/>
                  <a:ext cx="714286" cy="369332"/>
                </a:xfrm>
                <a:prstGeom prst="rect">
                  <a:avLst/>
                </a:prstGeom>
                <a:noFill/>
              </p:spPr>
              <p:txBody>
                <a:bodyPr wrap="square" rtlCol="0">
                  <a:spAutoFit/>
                </a:bodyPr>
                <a:lstStyle/>
                <a:p>
                  <a:r>
                    <a:rPr lang="en-US" altLang="zh-CN" dirty="0"/>
                    <a:t>CC 3</a:t>
                  </a:r>
                  <a:endParaRPr lang="zh-CN" altLang="en-US" dirty="0"/>
                </a:p>
              </p:txBody>
            </p:sp>
            <p:sp>
              <p:nvSpPr>
                <p:cNvPr id="278" name="文本框 277"/>
                <p:cNvSpPr txBox="1"/>
                <p:nvPr/>
              </p:nvSpPr>
              <p:spPr>
                <a:xfrm>
                  <a:off x="7682194" y="2207310"/>
                  <a:ext cx="714286" cy="369332"/>
                </a:xfrm>
                <a:prstGeom prst="rect">
                  <a:avLst/>
                </a:prstGeom>
                <a:noFill/>
              </p:spPr>
              <p:txBody>
                <a:bodyPr wrap="square" rtlCol="0">
                  <a:spAutoFit/>
                </a:bodyPr>
                <a:lstStyle/>
                <a:p>
                  <a:r>
                    <a:rPr lang="en-US" altLang="zh-CN" dirty="0"/>
                    <a:t>CC 6</a:t>
                  </a:r>
                  <a:endParaRPr lang="zh-CN" altLang="en-US" dirty="0"/>
                </a:p>
              </p:txBody>
            </p:sp>
            <p:sp>
              <p:nvSpPr>
                <p:cNvPr id="279" name="文本框 278"/>
                <p:cNvSpPr txBox="1"/>
                <p:nvPr/>
              </p:nvSpPr>
              <p:spPr>
                <a:xfrm>
                  <a:off x="5827526" y="2202034"/>
                  <a:ext cx="714286" cy="369332"/>
                </a:xfrm>
                <a:prstGeom prst="rect">
                  <a:avLst/>
                </a:prstGeom>
                <a:noFill/>
              </p:spPr>
              <p:txBody>
                <a:bodyPr wrap="square" rtlCol="0">
                  <a:spAutoFit/>
                </a:bodyPr>
                <a:lstStyle/>
                <a:p>
                  <a:r>
                    <a:rPr lang="en-US" altLang="zh-CN" dirty="0"/>
                    <a:t>CC 4</a:t>
                  </a:r>
                  <a:endParaRPr lang="zh-CN" altLang="en-US" dirty="0"/>
                </a:p>
              </p:txBody>
            </p:sp>
            <p:sp>
              <p:nvSpPr>
                <p:cNvPr id="280" name="文本框 279"/>
                <p:cNvSpPr txBox="1"/>
                <p:nvPr/>
              </p:nvSpPr>
              <p:spPr>
                <a:xfrm>
                  <a:off x="9543787" y="2203075"/>
                  <a:ext cx="714286" cy="369332"/>
                </a:xfrm>
                <a:prstGeom prst="rect">
                  <a:avLst/>
                </a:prstGeom>
                <a:noFill/>
              </p:spPr>
              <p:txBody>
                <a:bodyPr wrap="square" rtlCol="0">
                  <a:spAutoFit/>
                </a:bodyPr>
                <a:lstStyle/>
                <a:p>
                  <a:r>
                    <a:rPr lang="en-US" altLang="zh-CN" dirty="0"/>
                    <a:t>CC 8</a:t>
                  </a:r>
                  <a:endParaRPr lang="zh-CN" altLang="en-US" dirty="0"/>
                </a:p>
              </p:txBody>
            </p:sp>
            <p:sp>
              <p:nvSpPr>
                <p:cNvPr id="281" name="文本框 280"/>
                <p:cNvSpPr txBox="1"/>
                <p:nvPr/>
              </p:nvSpPr>
              <p:spPr>
                <a:xfrm>
                  <a:off x="8644891" y="2203075"/>
                  <a:ext cx="714286" cy="369332"/>
                </a:xfrm>
                <a:prstGeom prst="rect">
                  <a:avLst/>
                </a:prstGeom>
                <a:noFill/>
              </p:spPr>
              <p:txBody>
                <a:bodyPr wrap="square" rtlCol="0">
                  <a:spAutoFit/>
                </a:bodyPr>
                <a:lstStyle/>
                <a:p>
                  <a:r>
                    <a:rPr lang="en-US" altLang="zh-CN" dirty="0"/>
                    <a:t>CC 7</a:t>
                  </a:r>
                  <a:endParaRPr lang="zh-CN" altLang="en-US" dirty="0"/>
                </a:p>
              </p:txBody>
            </p:sp>
            <p:sp>
              <p:nvSpPr>
                <p:cNvPr id="282" name="文本框 281"/>
                <p:cNvSpPr txBox="1"/>
                <p:nvPr/>
              </p:nvSpPr>
              <p:spPr>
                <a:xfrm>
                  <a:off x="10557751" y="2201889"/>
                  <a:ext cx="714286" cy="369332"/>
                </a:xfrm>
                <a:prstGeom prst="rect">
                  <a:avLst/>
                </a:prstGeom>
                <a:noFill/>
              </p:spPr>
              <p:txBody>
                <a:bodyPr wrap="square" rtlCol="0">
                  <a:spAutoFit/>
                </a:bodyPr>
                <a:lstStyle/>
                <a:p>
                  <a:r>
                    <a:rPr lang="en-US" altLang="zh-CN" dirty="0"/>
                    <a:t>CC 9</a:t>
                  </a:r>
                  <a:endParaRPr lang="zh-CN" altLang="en-US" dirty="0"/>
                </a:p>
              </p:txBody>
            </p:sp>
            <p:sp>
              <p:nvSpPr>
                <p:cNvPr id="283" name="文本框 282"/>
                <p:cNvSpPr txBox="1"/>
                <p:nvPr/>
              </p:nvSpPr>
              <p:spPr>
                <a:xfrm>
                  <a:off x="1139949" y="1929084"/>
                  <a:ext cx="2496284" cy="400110"/>
                </a:xfrm>
                <a:prstGeom prst="rect">
                  <a:avLst/>
                </a:prstGeom>
                <a:noFill/>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r>
                    <a:rPr lang="en-US" altLang="zh-CN" dirty="0"/>
                    <a:t>Time (in clock cycles)</a:t>
                  </a:r>
                  <a:endParaRPr lang="zh-CN" altLang="en-US" dirty="0"/>
                </a:p>
              </p:txBody>
            </p:sp>
          </p:grpSp>
          <p:cxnSp>
            <p:nvCxnSpPr>
              <p:cNvPr id="384" name="直接连接符 383"/>
              <p:cNvCxnSpPr/>
              <p:nvPr/>
            </p:nvCxnSpPr>
            <p:spPr>
              <a:xfrm flipH="1" flipV="1">
                <a:off x="6829214" y="2698797"/>
                <a:ext cx="88628" cy="2315402"/>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85" name="椭圆 384"/>
              <p:cNvSpPr/>
              <p:nvPr/>
            </p:nvSpPr>
            <p:spPr>
              <a:xfrm>
                <a:off x="6848655" y="4963132"/>
                <a:ext cx="100396" cy="100396"/>
              </a:xfrm>
              <a:prstGeom prst="ellipse">
                <a:avLst/>
              </a:prstGeom>
              <a:solidFill>
                <a:srgbClr val="54C9F5"/>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6" name="椭圆 385"/>
              <p:cNvSpPr/>
              <p:nvPr/>
            </p:nvSpPr>
            <p:spPr>
              <a:xfrm>
                <a:off x="6791474" y="2695432"/>
                <a:ext cx="100396" cy="100396"/>
              </a:xfrm>
              <a:prstGeom prst="ellipse">
                <a:avLst/>
              </a:prstGeom>
              <a:solidFill>
                <a:srgbClr val="54C9F5"/>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7" name="直接连接符 386"/>
              <p:cNvCxnSpPr>
                <a:stCxn id="285" idx="4"/>
                <a:endCxn id="388" idx="4"/>
              </p:cNvCxnSpPr>
              <p:nvPr/>
            </p:nvCxnSpPr>
            <p:spPr>
              <a:xfrm>
                <a:off x="7345117" y="3702998"/>
                <a:ext cx="204799" cy="1292132"/>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88" name="椭圆 387"/>
              <p:cNvSpPr/>
              <p:nvPr/>
            </p:nvSpPr>
            <p:spPr>
              <a:xfrm rot="10800000">
                <a:off x="7499718" y="4995130"/>
                <a:ext cx="100396" cy="100396"/>
              </a:xfrm>
              <a:prstGeom prst="ellipse">
                <a:avLst/>
              </a:prstGeom>
              <a:solidFill>
                <a:srgbClr val="54C9F5"/>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2" name="直接连接符 391"/>
              <p:cNvCxnSpPr/>
              <p:nvPr/>
            </p:nvCxnSpPr>
            <p:spPr>
              <a:xfrm>
                <a:off x="6426043" y="2691391"/>
                <a:ext cx="186065" cy="1490466"/>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93" name="椭圆 392"/>
              <p:cNvSpPr/>
              <p:nvPr/>
            </p:nvSpPr>
            <p:spPr>
              <a:xfrm rot="10800000">
                <a:off x="6550536" y="4168707"/>
                <a:ext cx="100396" cy="100396"/>
              </a:xfrm>
              <a:prstGeom prst="ellipse">
                <a:avLst/>
              </a:prstGeom>
              <a:solidFill>
                <a:srgbClr val="54C9F5"/>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4" name="椭圆 393"/>
              <p:cNvSpPr/>
              <p:nvPr/>
            </p:nvSpPr>
            <p:spPr>
              <a:xfrm rot="10800000">
                <a:off x="6363572" y="2670774"/>
                <a:ext cx="100396" cy="100396"/>
              </a:xfrm>
              <a:prstGeom prst="ellipse">
                <a:avLst/>
              </a:prstGeom>
              <a:solidFill>
                <a:srgbClr val="54C9F5"/>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8" name="文本框 87"/>
            <p:cNvSpPr txBox="1"/>
            <p:nvPr/>
          </p:nvSpPr>
          <p:spPr>
            <a:xfrm>
              <a:off x="3032" y="8936"/>
              <a:ext cx="3126" cy="72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sub x1,x6,x7</a:t>
              </a:r>
            </a:p>
          </p:txBody>
        </p:sp>
      </p:grpSp>
      <p:sp>
        <p:nvSpPr>
          <p:cNvPr id="285" name="椭圆 284"/>
          <p:cNvSpPr/>
          <p:nvPr/>
        </p:nvSpPr>
        <p:spPr>
          <a:xfrm>
            <a:off x="8051662" y="3423927"/>
            <a:ext cx="100396" cy="100396"/>
          </a:xfrm>
          <a:prstGeom prst="ellipse">
            <a:avLst/>
          </a:prstGeom>
          <a:solidFill>
            <a:srgbClr val="54C9F5"/>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7" name="文本框 286"/>
          <p:cNvSpPr txBox="1"/>
          <p:nvPr/>
        </p:nvSpPr>
        <p:spPr>
          <a:xfrm>
            <a:off x="1759585" y="6451600"/>
            <a:ext cx="7548880" cy="368300"/>
          </a:xfrm>
          <a:prstGeom prst="rect">
            <a:avLst/>
          </a:prstGeom>
          <a:noFill/>
        </p:spPr>
        <p:txBody>
          <a:bodyPr wrap="none" rtlCol="0" anchor="t">
            <a:spAutoFit/>
          </a:bodyPr>
          <a:lstStyle/>
          <a:p>
            <a:r>
              <a:rPr lang="zh-CN" altLang="en-US" dirty="0">
                <a:solidFill>
                  <a:srgbClr val="0070C0"/>
                </a:solidFill>
                <a:latin typeface="Times New Roman" panose="02020603050405020304" pitchFamily="18" charset="0"/>
                <a:cs typeface="Times New Roman" panose="02020603050405020304" pitchFamily="18" charset="0"/>
                <a:sym typeface="+mn-ea"/>
              </a:rPr>
              <a:t>发生于一条数据载入指令</a:t>
            </a:r>
            <a:r>
              <a:rPr lang="en-US" altLang="zh-CN" dirty="0">
                <a:solidFill>
                  <a:srgbClr val="0070C0"/>
                </a:solidFill>
                <a:latin typeface="Times New Roman" panose="02020603050405020304" pitchFamily="18" charset="0"/>
                <a:cs typeface="Times New Roman" panose="02020603050405020304" pitchFamily="18" charset="0"/>
                <a:sym typeface="+mn-ea"/>
              </a:rPr>
              <a:t>(</a:t>
            </a:r>
            <a:r>
              <a:rPr lang="en-US" altLang="zh-CN" dirty="0" err="1">
                <a:solidFill>
                  <a:srgbClr val="0070C0"/>
                </a:solidFill>
                <a:latin typeface="Times New Roman" panose="02020603050405020304" pitchFamily="18" charset="0"/>
                <a:cs typeface="Times New Roman" panose="02020603050405020304" pitchFamily="18" charset="0"/>
                <a:sym typeface="+mn-ea"/>
              </a:rPr>
              <a:t>ld</a:t>
            </a:r>
            <a:r>
              <a:rPr lang="en-US" altLang="zh-CN" dirty="0">
                <a:solidFill>
                  <a:srgbClr val="0070C0"/>
                </a:solidFill>
                <a:latin typeface="Times New Roman" panose="02020603050405020304" pitchFamily="18" charset="0"/>
                <a:cs typeface="Times New Roman" panose="02020603050405020304" pitchFamily="18" charset="0"/>
                <a:sym typeface="+mn-ea"/>
              </a:rPr>
              <a:t>)</a:t>
            </a:r>
            <a:r>
              <a:rPr lang="zh-CN" altLang="en-US" dirty="0">
                <a:solidFill>
                  <a:srgbClr val="0070C0"/>
                </a:solidFill>
                <a:latin typeface="Times New Roman" panose="02020603050405020304" pitchFamily="18" charset="0"/>
                <a:cs typeface="Times New Roman" panose="02020603050405020304" pitchFamily="18" charset="0"/>
                <a:sym typeface="+mn-ea"/>
              </a:rPr>
              <a:t>后，紧跟一条需要使用</a:t>
            </a:r>
            <a:r>
              <a:rPr lang="en-US" altLang="zh-CN" dirty="0" err="1">
                <a:solidFill>
                  <a:srgbClr val="0070C0"/>
                </a:solidFill>
                <a:latin typeface="Times New Roman" panose="02020603050405020304" pitchFamily="18" charset="0"/>
                <a:cs typeface="Times New Roman" panose="02020603050405020304" pitchFamily="18" charset="0"/>
                <a:sym typeface="+mn-ea"/>
              </a:rPr>
              <a:t>ld</a:t>
            </a:r>
            <a:r>
              <a:rPr lang="zh-CN" altLang="en-US" dirty="0">
                <a:solidFill>
                  <a:srgbClr val="0070C0"/>
                </a:solidFill>
                <a:latin typeface="Times New Roman" panose="02020603050405020304" pitchFamily="18" charset="0"/>
                <a:cs typeface="Times New Roman" panose="02020603050405020304" pitchFamily="18" charset="0"/>
                <a:sym typeface="+mn-ea"/>
              </a:rPr>
              <a:t>所读取的数据的情况</a:t>
            </a:r>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3"/>
          <p:cNvSpPr>
            <a:spLocks noGrp="1" noChangeArrowheads="1"/>
          </p:cNvSpPr>
          <p:nvPr>
            <p:ph idx="1"/>
          </p:nvPr>
        </p:nvSpPr>
        <p:spPr/>
        <p:txBody>
          <a:bodyPr>
            <a:normAutofit/>
          </a:bodyPr>
          <a:lstStyle/>
          <a:p>
            <a:pPr eaLnBrk="1" hangingPunct="1">
              <a:lnSpc>
                <a:spcPct val="90000"/>
              </a:lnSpc>
            </a:pPr>
            <a:r>
              <a:rPr lang="zh-CN" altLang="en-US" dirty="0">
                <a:latin typeface="Times New Roman" panose="02020603050405020304" pitchFamily="18" charset="0"/>
                <a:cs typeface="Times New Roman" panose="02020603050405020304" pitchFamily="18" charset="0"/>
              </a:rPr>
              <a:t>在</a:t>
            </a:r>
            <a:r>
              <a:rPr lang="zh-CN" altLang="en-US" dirty="0">
                <a:solidFill>
                  <a:srgbClr val="FF0000"/>
                </a:solidFill>
                <a:latin typeface="Times New Roman" panose="02020603050405020304" pitchFamily="18" charset="0"/>
                <a:cs typeface="Times New Roman" panose="02020603050405020304" pitchFamily="18" charset="0"/>
              </a:rPr>
              <a:t>流水线数据通路</a:t>
            </a:r>
            <a:r>
              <a:rPr lang="zh-CN" altLang="en-US" dirty="0">
                <a:latin typeface="Times New Roman" panose="02020603050405020304" pitchFamily="18" charset="0"/>
                <a:cs typeface="Times New Roman" panose="02020603050405020304" pitchFamily="18" charset="0"/>
              </a:rPr>
              <a:t>的</a:t>
            </a:r>
            <a:r>
              <a:rPr lang="en-US" altLang="zh-CN" dirty="0">
                <a:latin typeface="Times New Roman" panose="02020603050405020304" pitchFamily="18" charset="0"/>
                <a:cs typeface="Times New Roman" panose="02020603050405020304" pitchFamily="18" charset="0"/>
              </a:rPr>
              <a:t>ID</a:t>
            </a:r>
            <a:r>
              <a:rPr lang="zh-CN" altLang="en-US" dirty="0">
                <a:latin typeface="Times New Roman" panose="02020603050405020304" pitchFamily="18" charset="0"/>
                <a:cs typeface="Times New Roman" panose="02020603050405020304" pitchFamily="18" charset="0"/>
              </a:rPr>
              <a:t>阶段进行检测</a:t>
            </a:r>
            <a:endParaRPr lang="en-US" altLang="zh-CN" dirty="0">
              <a:latin typeface="Times New Roman" panose="02020603050405020304" pitchFamily="18" charset="0"/>
              <a:cs typeface="Times New Roman" panose="02020603050405020304" pitchFamily="18" charset="0"/>
            </a:endParaRPr>
          </a:p>
          <a:p>
            <a:pPr eaLnBrk="1" hangingPunct="1">
              <a:lnSpc>
                <a:spcPct val="90000"/>
              </a:lnSpc>
            </a:pPr>
            <a:r>
              <a:rPr lang="en-US" altLang="zh-CN" sz="3200" dirty="0">
                <a:latin typeface="Times New Roman" panose="02020603050405020304" pitchFamily="18" charset="0"/>
                <a:cs typeface="Times New Roman" panose="02020603050405020304" pitchFamily="18" charset="0"/>
              </a:rPr>
              <a:t>ALU</a:t>
            </a:r>
            <a:r>
              <a:rPr lang="zh-CN" altLang="en-US" sz="3200" dirty="0">
                <a:latin typeface="Times New Roman" panose="02020603050405020304" pitchFamily="18" charset="0"/>
                <a:cs typeface="Times New Roman" panose="02020603050405020304" pitchFamily="18" charset="0"/>
              </a:rPr>
              <a:t>操作数寄存器字段名称分别是：</a:t>
            </a:r>
            <a:endParaRPr lang="en-US" altLang="zh-CN" sz="3200" dirty="0">
              <a:latin typeface="Times New Roman" panose="02020603050405020304" pitchFamily="18" charset="0"/>
              <a:cs typeface="Times New Roman" panose="02020603050405020304" pitchFamily="18" charset="0"/>
            </a:endParaRPr>
          </a:p>
          <a:p>
            <a:pPr lvl="1">
              <a:lnSpc>
                <a:spcPct val="90000"/>
              </a:lnSpc>
            </a:pPr>
            <a:r>
              <a:rPr lang="en-US" altLang="en-US" dirty="0">
                <a:latin typeface="Times New Roman" panose="02020603050405020304" pitchFamily="18" charset="0"/>
                <a:cs typeface="Times New Roman" panose="02020603050405020304" pitchFamily="18" charset="0"/>
              </a:rPr>
              <a:t>IF/ID.RegisterRs1, IF/ID.RegisterRs2</a:t>
            </a:r>
          </a:p>
          <a:p>
            <a:pPr eaLnBrk="1" hangingPunct="1">
              <a:lnSpc>
                <a:spcPct val="90000"/>
              </a:lnSpc>
            </a:pPr>
            <a:r>
              <a:rPr lang="zh-CN" altLang="en-US" dirty="0">
                <a:latin typeface="Times New Roman" panose="02020603050405020304" pitchFamily="18" charset="0"/>
                <a:cs typeface="Times New Roman" panose="02020603050405020304" pitchFamily="18" charset="0"/>
              </a:rPr>
              <a:t>检测条件</a:t>
            </a:r>
            <a:endParaRPr lang="en-US" altLang="zh-CN" dirty="0">
              <a:latin typeface="Times New Roman" panose="02020603050405020304" pitchFamily="18" charset="0"/>
              <a:cs typeface="Times New Roman" panose="02020603050405020304" pitchFamily="18" charset="0"/>
            </a:endParaRPr>
          </a:p>
          <a:p>
            <a:pPr lvl="1">
              <a:lnSpc>
                <a:spcPct val="90000"/>
              </a:lnSpc>
            </a:pPr>
            <a:r>
              <a:rPr lang="en-US" altLang="en-US" dirty="0">
                <a:latin typeface="Times New Roman" panose="02020603050405020304" pitchFamily="18" charset="0"/>
                <a:cs typeface="Times New Roman" panose="02020603050405020304" pitchFamily="18" charset="0"/>
              </a:rPr>
              <a:t>ID/</a:t>
            </a:r>
            <a:r>
              <a:rPr lang="en-US" altLang="en-US" dirty="0" err="1">
                <a:latin typeface="Times New Roman" panose="02020603050405020304" pitchFamily="18" charset="0"/>
                <a:cs typeface="Times New Roman" panose="02020603050405020304" pitchFamily="18" charset="0"/>
              </a:rPr>
              <a:t>EX.MemRead</a:t>
            </a:r>
            <a:r>
              <a:rPr lang="en-US" altLang="en-US" dirty="0">
                <a:latin typeface="Times New Roman" panose="02020603050405020304" pitchFamily="18" charset="0"/>
                <a:cs typeface="Times New Roman" panose="02020603050405020304" pitchFamily="18" charset="0"/>
              </a:rPr>
              <a:t> and     //</a:t>
            </a:r>
            <a:r>
              <a:rPr lang="zh-CN" altLang="en-US" dirty="0">
                <a:latin typeface="Times New Roman" panose="02020603050405020304" pitchFamily="18" charset="0"/>
                <a:cs typeface="Times New Roman" panose="02020603050405020304" pitchFamily="18" charset="0"/>
              </a:rPr>
              <a:t>是否为</a:t>
            </a:r>
            <a:r>
              <a:rPr lang="en-US" altLang="zh-CN" dirty="0">
                <a:latin typeface="Times New Roman" panose="02020603050405020304" pitchFamily="18" charset="0"/>
                <a:cs typeface="Times New Roman" panose="02020603050405020304" pitchFamily="18" charset="0"/>
              </a:rPr>
              <a:t>load</a:t>
            </a:r>
            <a:r>
              <a:rPr lang="zh-CN" altLang="en-US" dirty="0">
                <a:latin typeface="Times New Roman" panose="02020603050405020304" pitchFamily="18" charset="0"/>
                <a:cs typeface="Times New Roman" panose="02020603050405020304" pitchFamily="18" charset="0"/>
              </a:rPr>
              <a:t>指令？</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((ID/</a:t>
            </a:r>
            <a:r>
              <a:rPr lang="en-US" altLang="en-US" dirty="0" err="1">
                <a:latin typeface="Times New Roman" panose="02020603050405020304" pitchFamily="18" charset="0"/>
                <a:cs typeface="Times New Roman" panose="02020603050405020304" pitchFamily="18" charset="0"/>
              </a:rPr>
              <a:t>EX.RegisterRd</a:t>
            </a:r>
            <a:r>
              <a:rPr lang="en-US" altLang="en-US" dirty="0">
                <a:latin typeface="Times New Roman" panose="02020603050405020304" pitchFamily="18" charset="0"/>
                <a:cs typeface="Times New Roman" panose="02020603050405020304" pitchFamily="18" charset="0"/>
              </a:rPr>
              <a:t> = IF/ID.RegisterRs1) or</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   (ID/</a:t>
            </a:r>
            <a:r>
              <a:rPr lang="en-US" altLang="en-US" dirty="0" err="1">
                <a:latin typeface="Times New Roman" panose="02020603050405020304" pitchFamily="18" charset="0"/>
                <a:cs typeface="Times New Roman" panose="02020603050405020304" pitchFamily="18" charset="0"/>
              </a:rPr>
              <a:t>EX.RegisterRd</a:t>
            </a:r>
            <a:r>
              <a:rPr lang="en-US" altLang="en-US" dirty="0">
                <a:latin typeface="Times New Roman" panose="02020603050405020304" pitchFamily="18" charset="0"/>
                <a:cs typeface="Times New Roman" panose="02020603050405020304" pitchFamily="18" charset="0"/>
              </a:rPr>
              <a:t> = IF/ID.RegisterRs</a:t>
            </a:r>
            <a:r>
              <a:rPr lang="en-US" altLang="zh-CN" dirty="0">
                <a:latin typeface="Times New Roman" panose="02020603050405020304" pitchFamily="18" charset="0"/>
                <a:cs typeface="Times New Roman" panose="02020603050405020304" pitchFamily="18" charset="0"/>
              </a:rPr>
              <a:t>2</a:t>
            </a:r>
            <a:r>
              <a:rPr lang="en-US" altLang="en-US" dirty="0">
                <a:latin typeface="Times New Roman" panose="02020603050405020304" pitchFamily="18" charset="0"/>
                <a:cs typeface="Times New Roman" panose="02020603050405020304" pitchFamily="18" charset="0"/>
              </a:rPr>
              <a:t>))</a:t>
            </a:r>
          </a:p>
          <a:p>
            <a:pPr>
              <a:lnSpc>
                <a:spcPct val="90000"/>
              </a:lnSpc>
            </a:pPr>
            <a:r>
              <a:rPr lang="zh-CN" altLang="en-US" dirty="0">
                <a:latin typeface="Times New Roman" panose="02020603050405020304" pitchFamily="18" charset="0"/>
                <a:cs typeface="Times New Roman" panose="02020603050405020304" pitchFamily="18" charset="0"/>
              </a:rPr>
              <a:t>如果检测到这种冒险，停顿流水线（插入气泡）</a:t>
            </a:r>
            <a:endParaRPr lang="en-US" altLang="zh-CN" dirty="0">
              <a:latin typeface="Times New Roman" panose="02020603050405020304" pitchFamily="18" charset="0"/>
              <a:cs typeface="Times New Roman" panose="02020603050405020304" pitchFamily="18" charset="0"/>
            </a:endParaRPr>
          </a:p>
          <a:p>
            <a:pPr>
              <a:lnSpc>
                <a:spcPct val="90000"/>
              </a:lnSpc>
            </a:pPr>
            <a:endParaRPr lang="en-US" altLang="en-US" dirty="0">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8EE8E787-E6FE-45D8-9039-788B45E44EE7}" type="slidenum">
              <a:rPr lang="zh-CN" altLang="en-US" smtClean="0"/>
              <a:t>62</a:t>
            </a:fld>
            <a:endParaRPr lang="zh-CN" altLang="en-US" dirty="0"/>
          </a:p>
        </p:txBody>
      </p:sp>
      <p:sp>
        <p:nvSpPr>
          <p:cNvPr id="3" name="文本框 2"/>
          <p:cNvSpPr txBox="1"/>
          <p:nvPr/>
        </p:nvSpPr>
        <p:spPr>
          <a:xfrm>
            <a:off x="1220909" y="5191591"/>
            <a:ext cx="6885305" cy="478155"/>
          </a:xfrm>
          <a:prstGeom prst="rect">
            <a:avLst/>
          </a:prstGeom>
          <a:solidFill>
            <a:schemeClr val="accent1">
              <a:lumMod val="20000"/>
              <a:lumOff val="80000"/>
            </a:schemeClr>
          </a:solidFill>
        </p:spPr>
        <p:txBody>
          <a:bodyPr wrap="square" rtlCol="0">
            <a:spAutoFit/>
          </a:bodyPr>
          <a:lstStyle/>
          <a:p>
            <a:pPr>
              <a:lnSpc>
                <a:spcPct val="90000"/>
              </a:lnSpc>
            </a:pPr>
            <a:r>
              <a:rPr lang="zh-CN" altLang="en-US" sz="2800" dirty="0"/>
              <a:t>加载指令紧跟在存储指令之后，怎么处理？</a:t>
            </a:r>
            <a:endParaRPr lang="en-US" altLang="zh-CN" sz="2800" dirty="0"/>
          </a:p>
        </p:txBody>
      </p:sp>
      <p:sp>
        <p:nvSpPr>
          <p:cNvPr id="5" name="标题 4"/>
          <p:cNvSpPr>
            <a:spLocks noGrp="1"/>
          </p:cNvSpPr>
          <p:nvPr>
            <p:ph type="title"/>
          </p:nvPr>
        </p:nvSpPr>
        <p:spPr/>
        <p:txBody>
          <a:bodyPr/>
          <a:lstStyle/>
          <a:p>
            <a:r>
              <a:rPr lang="zh-CN" altLang="en-US" dirty="0"/>
              <a:t>检测 载入</a:t>
            </a:r>
            <a:r>
              <a:rPr lang="en-US" altLang="zh-CN" dirty="0"/>
              <a:t>-</a:t>
            </a:r>
            <a:r>
              <a:rPr lang="zh-CN" altLang="en-US" dirty="0"/>
              <a:t>使用型数据冒险</a:t>
            </a:r>
          </a:p>
        </p:txBody>
      </p:sp>
      <p:pic>
        <p:nvPicPr>
          <p:cNvPr id="4" name="图片 3"/>
          <p:cNvPicPr>
            <a:picLocks noChangeAspect="1"/>
          </p:cNvPicPr>
          <p:nvPr/>
        </p:nvPicPr>
        <p:blipFill>
          <a:blip r:embed="rId3"/>
          <a:stretch>
            <a:fillRect/>
          </a:stretch>
        </p:blipFill>
        <p:spPr>
          <a:xfrm>
            <a:off x="7935595" y="5569094"/>
            <a:ext cx="804523" cy="745346"/>
          </a:xfrm>
          <a:prstGeom prst="rect">
            <a:avLst/>
          </a:prstGeom>
        </p:spPr>
      </p:pic>
      <p:sp>
        <p:nvSpPr>
          <p:cNvPr id="7" name="文本框 6">
            <a:extLst>
              <a:ext uri="{FF2B5EF4-FFF2-40B4-BE49-F238E27FC236}">
                <a16:creationId xmlns:a16="http://schemas.microsoft.com/office/drawing/2014/main" id="{E51C2E26-0E10-5A3C-27F0-B9164C539F29}"/>
              </a:ext>
            </a:extLst>
          </p:cNvPr>
          <p:cNvSpPr txBox="1"/>
          <p:nvPr/>
        </p:nvSpPr>
        <p:spPr>
          <a:xfrm>
            <a:off x="1220909" y="5816432"/>
            <a:ext cx="2743200" cy="9541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800" dirty="0" err="1">
                <a:latin typeface="Times New Roman" panose="02020603050405020304" pitchFamily="18" charset="0"/>
                <a:cs typeface="Times New Roman" panose="02020603050405020304" pitchFamily="18" charset="0"/>
              </a:rPr>
              <a:t>sd</a:t>
            </a:r>
            <a:r>
              <a:rPr lang="en-US" altLang="zh-CN" sz="2800" dirty="0">
                <a:latin typeface="Times New Roman" panose="02020603050405020304" pitchFamily="18" charset="0"/>
                <a:cs typeface="Times New Roman" panose="02020603050405020304" pitchFamily="18" charset="0"/>
              </a:rPr>
              <a:t>  x5,  0(x6)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800" dirty="0" err="1">
                <a:latin typeface="Times New Roman" panose="02020603050405020304" pitchFamily="18" charset="0"/>
                <a:cs typeface="Times New Roman" panose="02020603050405020304" pitchFamily="18" charset="0"/>
              </a:rPr>
              <a:t>ld</a:t>
            </a:r>
            <a:r>
              <a:rPr lang="en-US" altLang="zh-CN" sz="2800" dirty="0">
                <a:latin typeface="Times New Roman" panose="02020603050405020304" pitchFamily="18" charset="0"/>
                <a:cs typeface="Times New Roman" panose="02020603050405020304" pitchFamily="18" charset="0"/>
              </a:rPr>
              <a:t>  x4,  0(x5)</a:t>
            </a:r>
          </a:p>
        </p:txBody>
      </p:sp>
      <p:sp>
        <p:nvSpPr>
          <p:cNvPr id="8" name="文本框 7">
            <a:extLst>
              <a:ext uri="{FF2B5EF4-FFF2-40B4-BE49-F238E27FC236}">
                <a16:creationId xmlns:a16="http://schemas.microsoft.com/office/drawing/2014/main" id="{A04D09D5-64BA-4287-9DF8-60D9D2E1F416}"/>
              </a:ext>
            </a:extLst>
          </p:cNvPr>
          <p:cNvSpPr txBox="1"/>
          <p:nvPr/>
        </p:nvSpPr>
        <p:spPr>
          <a:xfrm>
            <a:off x="4135976" y="5816432"/>
            <a:ext cx="2743200" cy="954107"/>
          </a:xfrm>
          <a:prstGeom prst="rect">
            <a:avLst/>
          </a:prstGeom>
          <a:noFill/>
        </p:spPr>
        <p:txBody>
          <a:bodyPr wrap="square" rtlCol="0">
            <a:spAutoFit/>
          </a:bodyPr>
          <a:lstStyle/>
          <a:p>
            <a:pPr lvl="0">
              <a:defRPr/>
            </a:pPr>
            <a:r>
              <a:rPr lang="en-US" altLang="zh-CN" sz="2800" dirty="0" err="1">
                <a:latin typeface="Times New Roman" panose="02020603050405020304" pitchFamily="18" charset="0"/>
                <a:cs typeface="Times New Roman" panose="02020603050405020304" pitchFamily="18" charset="0"/>
              </a:rPr>
              <a:t>sd</a:t>
            </a:r>
            <a:r>
              <a:rPr lang="en-US" altLang="zh-CN" sz="2800" dirty="0">
                <a:latin typeface="Times New Roman" panose="02020603050405020304" pitchFamily="18" charset="0"/>
                <a:cs typeface="Times New Roman" panose="02020603050405020304" pitchFamily="18" charset="0"/>
              </a:rPr>
              <a:t>  x5</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0(x6)</a:t>
            </a:r>
          </a:p>
          <a:p>
            <a:pPr lvl="0">
              <a:defRPr/>
            </a:pPr>
            <a:r>
              <a:rPr lang="en-US" altLang="zh-CN" sz="2800" dirty="0" err="1">
                <a:latin typeface="Times New Roman" panose="02020603050405020304" pitchFamily="18" charset="0"/>
                <a:cs typeface="Times New Roman" panose="02020603050405020304" pitchFamily="18" charset="0"/>
              </a:rPr>
              <a:t>ld</a:t>
            </a:r>
            <a:r>
              <a:rPr lang="en-US" altLang="zh-CN" sz="2800" dirty="0">
                <a:latin typeface="Times New Roman" panose="02020603050405020304" pitchFamily="18" charset="0"/>
                <a:cs typeface="Times New Roman" panose="02020603050405020304" pitchFamily="18" charset="0"/>
              </a:rPr>
              <a:t>  x7</a:t>
            </a:r>
            <a:r>
              <a:rPr lang="zh-CN" altLang="en-US" sz="2800" dirty="0">
                <a:latin typeface="Times New Roman" panose="02020603050405020304" pitchFamily="18" charset="0"/>
                <a:cs typeface="Times New Roman" panose="02020603050405020304" pitchFamily="18" charset="0"/>
              </a:rPr>
              <a:t>，</a:t>
            </a:r>
            <a:r>
              <a:rPr lang="en-US" altLang="zh-CN" sz="2800" dirty="0">
                <a:latin typeface="Times New Roman" panose="02020603050405020304" pitchFamily="18" charset="0"/>
                <a:cs typeface="Times New Roman" panose="02020603050405020304" pitchFamily="18" charset="0"/>
              </a:rPr>
              <a:t>0(x6)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556">
                                            <p:txEl>
                                              <p:pRg st="1" end="1"/>
                                            </p:txEl>
                                          </p:spTgt>
                                        </p:tgtEl>
                                        <p:attrNameLst>
                                          <p:attrName>style.visibility</p:attrName>
                                        </p:attrNameLst>
                                      </p:cBhvr>
                                      <p:to>
                                        <p:strVal val="visible"/>
                                      </p:to>
                                    </p:set>
                                    <p:animEffect transition="in" filter="fade">
                                      <p:cBhvr>
                                        <p:cTn id="7" dur="500"/>
                                        <p:tgtEl>
                                          <p:spTgt spid="23556">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3556">
                                            <p:txEl>
                                              <p:pRg st="2" end="2"/>
                                            </p:txEl>
                                          </p:spTgt>
                                        </p:tgtEl>
                                        <p:attrNameLst>
                                          <p:attrName>style.visibility</p:attrName>
                                        </p:attrNameLst>
                                      </p:cBhvr>
                                      <p:to>
                                        <p:strVal val="visible"/>
                                      </p:to>
                                    </p:set>
                                    <p:animEffect transition="in" filter="fade">
                                      <p:cBhvr>
                                        <p:cTn id="10" dur="500"/>
                                        <p:tgtEl>
                                          <p:spTgt spid="23556">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556">
                                            <p:txEl>
                                              <p:pRg st="3" end="3"/>
                                            </p:txEl>
                                          </p:spTgt>
                                        </p:tgtEl>
                                        <p:attrNameLst>
                                          <p:attrName>style.visibility</p:attrName>
                                        </p:attrNameLst>
                                      </p:cBhvr>
                                      <p:to>
                                        <p:strVal val="visible"/>
                                      </p:to>
                                    </p:set>
                                    <p:animEffect transition="in" filter="fade">
                                      <p:cBhvr>
                                        <p:cTn id="15" dur="500"/>
                                        <p:tgtEl>
                                          <p:spTgt spid="23556">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3556">
                                            <p:txEl>
                                              <p:pRg st="4" end="4"/>
                                            </p:txEl>
                                          </p:spTgt>
                                        </p:tgtEl>
                                        <p:attrNameLst>
                                          <p:attrName>style.visibility</p:attrName>
                                        </p:attrNameLst>
                                      </p:cBhvr>
                                      <p:to>
                                        <p:strVal val="visible"/>
                                      </p:to>
                                    </p:set>
                                    <p:animEffect transition="in" filter="fade">
                                      <p:cBhvr>
                                        <p:cTn id="18" dur="500"/>
                                        <p:tgtEl>
                                          <p:spTgt spid="23556">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556">
                                            <p:txEl>
                                              <p:pRg st="5" end="5"/>
                                            </p:txEl>
                                          </p:spTgt>
                                        </p:tgtEl>
                                        <p:attrNameLst>
                                          <p:attrName>style.visibility</p:attrName>
                                        </p:attrNameLst>
                                      </p:cBhvr>
                                      <p:to>
                                        <p:strVal val="visible"/>
                                      </p:to>
                                    </p:set>
                                    <p:animEffect transition="in" filter="fade">
                                      <p:cBhvr>
                                        <p:cTn id="23" dur="500"/>
                                        <p:tgtEl>
                                          <p:spTgt spid="23556">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par>
                                <p:cTn id="29" presetID="10" presetClass="entr" presetSubtype="0" fill="hold" nodeType="with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7" grpId="0"/>
      <p:bldP spid="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8EE8E787-E6FE-45D8-9039-788B45E44EE7}" type="slidenum">
              <a:rPr lang="zh-CN" altLang="en-US" smtClean="0"/>
              <a:t>63</a:t>
            </a:fld>
            <a:endParaRPr lang="zh-CN" altLang="en-US" dirty="0"/>
          </a:p>
        </p:txBody>
      </p:sp>
      <p:sp>
        <p:nvSpPr>
          <p:cNvPr id="6" name="标题 5"/>
          <p:cNvSpPr>
            <a:spLocks noGrp="1"/>
          </p:cNvSpPr>
          <p:nvPr>
            <p:ph type="title"/>
          </p:nvPr>
        </p:nvSpPr>
        <p:spPr/>
        <p:txBody>
          <a:bodyPr/>
          <a:lstStyle/>
          <a:p>
            <a:r>
              <a:rPr lang="zh-CN" altLang="en-US" dirty="0"/>
              <a:t>载入</a:t>
            </a:r>
            <a:r>
              <a:rPr lang="en-US" altLang="zh-CN" dirty="0"/>
              <a:t>-</a:t>
            </a:r>
            <a:r>
              <a:rPr lang="zh-CN" altLang="en-US" dirty="0"/>
              <a:t>使用型数据冒险</a:t>
            </a:r>
          </a:p>
        </p:txBody>
      </p:sp>
      <p:grpSp>
        <p:nvGrpSpPr>
          <p:cNvPr id="2" name="组合 1"/>
          <p:cNvGrpSpPr/>
          <p:nvPr/>
        </p:nvGrpSpPr>
        <p:grpSpPr>
          <a:xfrm>
            <a:off x="776667" y="927309"/>
            <a:ext cx="10952828" cy="5428369"/>
            <a:chOff x="19924" y="1105984"/>
            <a:chExt cx="10952828" cy="5428369"/>
          </a:xfrm>
        </p:grpSpPr>
        <p:sp>
          <p:nvSpPr>
            <p:cNvPr id="435" name="矩形 434"/>
            <p:cNvSpPr/>
            <p:nvPr/>
          </p:nvSpPr>
          <p:spPr>
            <a:xfrm rot="10800000">
              <a:off x="10389603" y="5933371"/>
              <a:ext cx="204183" cy="338243"/>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30" name="组合 429"/>
            <p:cNvGrpSpPr/>
            <p:nvPr/>
          </p:nvGrpSpPr>
          <p:grpSpPr>
            <a:xfrm>
              <a:off x="7381490" y="3186784"/>
              <a:ext cx="935887" cy="738124"/>
              <a:chOff x="8063289" y="1854492"/>
              <a:chExt cx="1025831" cy="884893"/>
            </a:xfrm>
          </p:grpSpPr>
          <p:sp>
            <p:nvSpPr>
              <p:cNvPr id="431" name="思想气泡: 云 430"/>
              <p:cNvSpPr/>
              <p:nvPr/>
            </p:nvSpPr>
            <p:spPr>
              <a:xfrm>
                <a:off x="8063289" y="1854492"/>
                <a:ext cx="1025831" cy="721183"/>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2" name="任意多边形: 形状 431"/>
              <p:cNvSpPr/>
              <p:nvPr/>
            </p:nvSpPr>
            <p:spPr>
              <a:xfrm>
                <a:off x="8297725" y="2548495"/>
                <a:ext cx="190378" cy="190890"/>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3" name="椭圆 432"/>
              <p:cNvSpPr/>
              <p:nvPr/>
            </p:nvSpPr>
            <p:spPr>
              <a:xfrm>
                <a:off x="8349546" y="2481491"/>
                <a:ext cx="89793" cy="9418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4" name="椭圆 433"/>
              <p:cNvSpPr/>
              <p:nvPr/>
            </p:nvSpPr>
            <p:spPr>
              <a:xfrm>
                <a:off x="8398312" y="2370513"/>
                <a:ext cx="195354" cy="1908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5" name="组合 424"/>
            <p:cNvGrpSpPr/>
            <p:nvPr/>
          </p:nvGrpSpPr>
          <p:grpSpPr>
            <a:xfrm>
              <a:off x="6431593" y="3179406"/>
              <a:ext cx="935887" cy="738124"/>
              <a:chOff x="8063289" y="1854492"/>
              <a:chExt cx="1025831" cy="884893"/>
            </a:xfrm>
          </p:grpSpPr>
          <p:sp>
            <p:nvSpPr>
              <p:cNvPr id="426" name="思想气泡: 云 425"/>
              <p:cNvSpPr/>
              <p:nvPr/>
            </p:nvSpPr>
            <p:spPr>
              <a:xfrm>
                <a:off x="8063289" y="1854492"/>
                <a:ext cx="1025831" cy="721183"/>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27" name="任意多边形: 形状 426"/>
              <p:cNvSpPr/>
              <p:nvPr/>
            </p:nvSpPr>
            <p:spPr>
              <a:xfrm>
                <a:off x="8297725" y="2548495"/>
                <a:ext cx="190378" cy="190890"/>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8" name="椭圆 427"/>
              <p:cNvSpPr/>
              <p:nvPr/>
            </p:nvSpPr>
            <p:spPr>
              <a:xfrm>
                <a:off x="8349546" y="2481491"/>
                <a:ext cx="89793" cy="9418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9" name="椭圆 428"/>
              <p:cNvSpPr/>
              <p:nvPr/>
            </p:nvSpPr>
            <p:spPr>
              <a:xfrm>
                <a:off x="8398312" y="2370513"/>
                <a:ext cx="195354" cy="1908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0" name="组合 409"/>
            <p:cNvGrpSpPr/>
            <p:nvPr/>
          </p:nvGrpSpPr>
          <p:grpSpPr>
            <a:xfrm>
              <a:off x="5500925" y="3171671"/>
              <a:ext cx="935887" cy="738124"/>
              <a:chOff x="8063289" y="1854492"/>
              <a:chExt cx="1025831" cy="884893"/>
            </a:xfrm>
          </p:grpSpPr>
          <p:sp>
            <p:nvSpPr>
              <p:cNvPr id="411" name="思想气泡: 云 410"/>
              <p:cNvSpPr/>
              <p:nvPr/>
            </p:nvSpPr>
            <p:spPr>
              <a:xfrm>
                <a:off x="8063289" y="1854492"/>
                <a:ext cx="1025831" cy="721183"/>
              </a:xfrm>
              <a:prstGeom prst="cloudCallou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2" name="任意多边形: 形状 411"/>
              <p:cNvSpPr/>
              <p:nvPr/>
            </p:nvSpPr>
            <p:spPr>
              <a:xfrm>
                <a:off x="8297725" y="2548495"/>
                <a:ext cx="190378" cy="190890"/>
              </a:xfrm>
              <a:custGeom>
                <a:avLst/>
                <a:gdLst>
                  <a:gd name="connsiteX0" fmla="*/ 28211 w 138633"/>
                  <a:gd name="connsiteY0" fmla="*/ 11426 h 132525"/>
                  <a:gd name="connsiteX1" fmla="*/ 116317 w 138633"/>
                  <a:gd name="connsiteY1" fmla="*/ 6663 h 132525"/>
                  <a:gd name="connsiteX2" fmla="*/ 137749 w 138633"/>
                  <a:gd name="connsiteY2" fmla="*/ 37620 h 132525"/>
                  <a:gd name="connsiteX3" fmla="*/ 121080 w 138633"/>
                  <a:gd name="connsiteY3" fmla="*/ 116201 h 132525"/>
                  <a:gd name="connsiteX4" fmla="*/ 6780 w 138633"/>
                  <a:gd name="connsiteY4" fmla="*/ 123345 h 132525"/>
                  <a:gd name="connsiteX5" fmla="*/ 28211 w 138633"/>
                  <a:gd name="connsiteY5" fmla="*/ 11426 h 13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633" h="132525">
                    <a:moveTo>
                      <a:pt x="28211" y="11426"/>
                    </a:moveTo>
                    <a:cubicBezTo>
                      <a:pt x="46467" y="-8021"/>
                      <a:pt x="98061" y="2297"/>
                      <a:pt x="116317" y="6663"/>
                    </a:cubicBezTo>
                    <a:cubicBezTo>
                      <a:pt x="134573" y="11029"/>
                      <a:pt x="136955" y="19364"/>
                      <a:pt x="137749" y="37620"/>
                    </a:cubicBezTo>
                    <a:cubicBezTo>
                      <a:pt x="138543" y="55876"/>
                      <a:pt x="142908" y="101914"/>
                      <a:pt x="121080" y="116201"/>
                    </a:cubicBezTo>
                    <a:cubicBezTo>
                      <a:pt x="99252" y="130489"/>
                      <a:pt x="24639" y="140807"/>
                      <a:pt x="6780" y="123345"/>
                    </a:cubicBezTo>
                    <a:cubicBezTo>
                      <a:pt x="-11079" y="105883"/>
                      <a:pt x="9955" y="30873"/>
                      <a:pt x="28211" y="11426"/>
                    </a:cubicBez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3" name="椭圆 412"/>
              <p:cNvSpPr/>
              <p:nvPr/>
            </p:nvSpPr>
            <p:spPr>
              <a:xfrm>
                <a:off x="8349546" y="2481491"/>
                <a:ext cx="89793" cy="9418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4" name="椭圆 413"/>
              <p:cNvSpPr/>
              <p:nvPr/>
            </p:nvSpPr>
            <p:spPr>
              <a:xfrm>
                <a:off x="8398312" y="2370513"/>
                <a:ext cx="195354" cy="190892"/>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83" name="矩形 382"/>
            <p:cNvSpPr/>
            <p:nvPr/>
          </p:nvSpPr>
          <p:spPr>
            <a:xfrm>
              <a:off x="6878798" y="3289944"/>
              <a:ext cx="204184" cy="330495"/>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4" name="矩形 283"/>
            <p:cNvSpPr/>
            <p:nvPr/>
          </p:nvSpPr>
          <p:spPr>
            <a:xfrm>
              <a:off x="5955886" y="2420115"/>
              <a:ext cx="204184" cy="338244"/>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652" name="AutoShape 6"/>
            <p:cNvSpPr/>
            <p:nvPr/>
          </p:nvSpPr>
          <p:spPr bwMode="auto">
            <a:xfrm>
              <a:off x="9100750" y="2855521"/>
              <a:ext cx="1579563" cy="494052"/>
            </a:xfrm>
            <a:prstGeom prst="borderCallout1">
              <a:avLst>
                <a:gd name="adj1" fmla="val 16551"/>
                <a:gd name="adj2" fmla="val -4824"/>
                <a:gd name="adj3" fmla="val 73792"/>
                <a:gd name="adj4" fmla="val -63417"/>
              </a:avLst>
            </a:prstGeom>
            <a:solidFill>
              <a:schemeClr val="accent1">
                <a:lumMod val="20000"/>
                <a:lumOff val="80000"/>
              </a:schemeClr>
            </a:solidFill>
            <a:ln w="9525">
              <a:solidFill>
                <a:schemeClr val="tx1"/>
              </a:solidFill>
              <a:miter lim="800000"/>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zh-CN" altLang="en-US" sz="2400" dirty="0"/>
                <a:t>插入气泡</a:t>
              </a:r>
              <a:endParaRPr lang="en-AU" altLang="en-US" sz="2400" dirty="0"/>
            </a:p>
          </p:txBody>
        </p:sp>
        <p:grpSp>
          <p:nvGrpSpPr>
            <p:cNvPr id="8" name="组合 7"/>
            <p:cNvGrpSpPr/>
            <p:nvPr/>
          </p:nvGrpSpPr>
          <p:grpSpPr>
            <a:xfrm>
              <a:off x="19924" y="1713516"/>
              <a:ext cx="3543214" cy="4638040"/>
              <a:chOff x="-112187" y="2068950"/>
              <a:chExt cx="3543214" cy="4638040"/>
            </a:xfrm>
          </p:grpSpPr>
          <p:grpSp>
            <p:nvGrpSpPr>
              <p:cNvPr id="9" name="Program"/>
              <p:cNvGrpSpPr/>
              <p:nvPr/>
            </p:nvGrpSpPr>
            <p:grpSpPr>
              <a:xfrm>
                <a:off x="-112187" y="2068950"/>
                <a:ext cx="3543214" cy="4388735"/>
                <a:chOff x="-515148" y="2373769"/>
                <a:chExt cx="3543214" cy="4388735"/>
              </a:xfrm>
            </p:grpSpPr>
            <p:cxnSp>
              <p:nvCxnSpPr>
                <p:cNvPr id="13" name="直接箭头连接符 12"/>
                <p:cNvCxnSpPr/>
                <p:nvPr/>
              </p:nvCxnSpPr>
              <p:spPr>
                <a:xfrm>
                  <a:off x="86514" y="3238034"/>
                  <a:ext cx="0" cy="352447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4" name="文本框 13"/>
                <p:cNvSpPr txBox="1"/>
                <p:nvPr/>
              </p:nvSpPr>
              <p:spPr>
                <a:xfrm>
                  <a:off x="-515148" y="2373769"/>
                  <a:ext cx="2582545" cy="706755"/>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Program execution </a:t>
                  </a:r>
                </a:p>
                <a:p>
                  <a:r>
                    <a:rPr lang="en-US" altLang="zh-CN" sz="2000" dirty="0">
                      <a:latin typeface="Times New Roman" panose="02020603050405020304" pitchFamily="18" charset="0"/>
                      <a:cs typeface="Times New Roman" panose="02020603050405020304" pitchFamily="18" charset="0"/>
                    </a:rPr>
                    <a:t>order  (in instructions)</a:t>
                  </a:r>
                  <a:endParaRPr lang="zh-CN" altLang="en-US" sz="2000" dirty="0">
                    <a:latin typeface="Times New Roman" panose="02020603050405020304" pitchFamily="18" charset="0"/>
                    <a:cs typeface="Times New Roman" panose="02020603050405020304" pitchFamily="18" charset="0"/>
                  </a:endParaRPr>
                </a:p>
              </p:txBody>
            </p:sp>
            <p:sp>
              <p:nvSpPr>
                <p:cNvPr id="15" name="文本框 14"/>
                <p:cNvSpPr txBox="1"/>
                <p:nvPr/>
              </p:nvSpPr>
              <p:spPr>
                <a:xfrm>
                  <a:off x="384561" y="3055759"/>
                  <a:ext cx="2021840" cy="460375"/>
                </a:xfrm>
                <a:prstGeom prst="rect">
                  <a:avLst/>
                </a:prstGeom>
                <a:noFill/>
              </p:spPr>
              <p:txBody>
                <a:bodyPr wrap="square" rtlCol="0">
                  <a:spAutoFit/>
                </a:bodyPr>
                <a:lstStyle/>
                <a:p>
                  <a:r>
                    <a:rPr lang="en-US" altLang="zh-CN" sz="2400" dirty="0" err="1">
                      <a:latin typeface="Times New Roman" panose="02020603050405020304" pitchFamily="18" charset="0"/>
                      <a:cs typeface="Times New Roman" panose="02020603050405020304" pitchFamily="18" charset="0"/>
                    </a:rPr>
                    <a:t>ld</a:t>
                  </a:r>
                  <a:r>
                    <a:rPr lang="en-US" altLang="zh-CN" sz="2400" dirty="0">
                      <a:latin typeface="Times New Roman" panose="02020603050405020304" pitchFamily="18" charset="0"/>
                      <a:cs typeface="Times New Roman" panose="02020603050405020304" pitchFamily="18" charset="0"/>
                    </a:rPr>
                    <a:t> </a:t>
                  </a:r>
                  <a:r>
                    <a:rPr lang="en-US" altLang="zh-CN" sz="2400" dirty="0">
                      <a:solidFill>
                        <a:srgbClr val="54C9F5"/>
                      </a:solidFill>
                      <a:latin typeface="Times New Roman" panose="02020603050405020304" pitchFamily="18" charset="0"/>
                      <a:cs typeface="Times New Roman" panose="02020603050405020304" pitchFamily="18" charset="0"/>
                    </a:rPr>
                    <a:t>x2</a:t>
                  </a:r>
                  <a:r>
                    <a:rPr lang="en-US" altLang="zh-CN" sz="2400" dirty="0">
                      <a:latin typeface="Times New Roman" panose="02020603050405020304" pitchFamily="18" charset="0"/>
                      <a:cs typeface="Times New Roman" panose="02020603050405020304" pitchFamily="18" charset="0"/>
                    </a:rPr>
                    <a:t>,20(x1)</a:t>
                  </a:r>
                </a:p>
              </p:txBody>
            </p:sp>
            <p:sp>
              <p:nvSpPr>
                <p:cNvPr id="16" name="文本框 15"/>
                <p:cNvSpPr txBox="1"/>
                <p:nvPr/>
              </p:nvSpPr>
              <p:spPr>
                <a:xfrm>
                  <a:off x="384561" y="3902214"/>
                  <a:ext cx="2643505" cy="46037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and </a:t>
                  </a:r>
                  <a:r>
                    <a:rPr lang="en-US" altLang="zh-CN" sz="2400" dirty="0">
                      <a:solidFill>
                        <a:srgbClr val="FF0000"/>
                      </a:solidFill>
                      <a:latin typeface="Times New Roman" panose="02020603050405020304" pitchFamily="18" charset="0"/>
                      <a:cs typeface="Times New Roman" panose="02020603050405020304" pitchFamily="18" charset="0"/>
                    </a:rPr>
                    <a:t>becomes </a:t>
                  </a:r>
                  <a:r>
                    <a:rPr lang="en-US" altLang="zh-CN" sz="2400" dirty="0" err="1">
                      <a:latin typeface="Times New Roman" panose="02020603050405020304" pitchFamily="18" charset="0"/>
                      <a:cs typeface="Times New Roman" panose="02020603050405020304" pitchFamily="18" charset="0"/>
                    </a:rPr>
                    <a:t>nop</a:t>
                  </a:r>
                </a:p>
              </p:txBody>
            </p:sp>
          </p:grpSp>
          <p:sp>
            <p:nvSpPr>
              <p:cNvPr id="10" name="文本框 9"/>
              <p:cNvSpPr txBox="1"/>
              <p:nvPr/>
            </p:nvSpPr>
            <p:spPr>
              <a:xfrm>
                <a:off x="804759" y="4487030"/>
                <a:ext cx="2021691" cy="46037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and </a:t>
                </a:r>
                <a:r>
                  <a:rPr lang="en-US" altLang="zh-CN" sz="2400" dirty="0">
                    <a:solidFill>
                      <a:srgbClr val="54C9F5"/>
                    </a:solidFill>
                    <a:latin typeface="Times New Roman" panose="02020603050405020304" pitchFamily="18" charset="0"/>
                    <a:cs typeface="Times New Roman" panose="02020603050405020304" pitchFamily="18" charset="0"/>
                  </a:rPr>
                  <a:t>x4,x2</a:t>
                </a:r>
                <a:r>
                  <a:rPr lang="en-US" altLang="zh-CN" sz="2400" dirty="0">
                    <a:latin typeface="Times New Roman" panose="02020603050405020304" pitchFamily="18" charset="0"/>
                    <a:cs typeface="Times New Roman" panose="02020603050405020304" pitchFamily="18" charset="0"/>
                  </a:rPr>
                  <a:t>,x5 </a:t>
                </a:r>
                <a:endParaRPr lang="en-US" altLang="zh-CN" sz="2400" dirty="0">
                  <a:solidFill>
                    <a:srgbClr val="54C9F5"/>
                  </a:solidFill>
                  <a:latin typeface="Times New Roman" panose="02020603050405020304" pitchFamily="18" charset="0"/>
                  <a:cs typeface="Times New Roman" panose="02020603050405020304" pitchFamily="18" charset="0"/>
                </a:endParaRPr>
              </a:p>
            </p:txBody>
          </p:sp>
          <p:sp>
            <p:nvSpPr>
              <p:cNvPr id="11" name="文本框 10"/>
              <p:cNvSpPr txBox="1"/>
              <p:nvPr/>
            </p:nvSpPr>
            <p:spPr>
              <a:xfrm>
                <a:off x="804759" y="5401430"/>
                <a:ext cx="2021691" cy="46037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or x8,</a:t>
                </a:r>
                <a:r>
                  <a:rPr lang="en-US" altLang="zh-CN" sz="2400" dirty="0">
                    <a:solidFill>
                      <a:srgbClr val="54C9F5"/>
                    </a:solidFill>
                    <a:latin typeface="Times New Roman" panose="02020603050405020304" pitchFamily="18" charset="0"/>
                    <a:cs typeface="Times New Roman" panose="02020603050405020304" pitchFamily="18" charset="0"/>
                  </a:rPr>
                  <a:t>x2</a:t>
                </a:r>
                <a:r>
                  <a:rPr lang="en-US" altLang="zh-CN" sz="2400" dirty="0">
                    <a:latin typeface="Times New Roman" panose="02020603050405020304" pitchFamily="18" charset="0"/>
                    <a:cs typeface="Times New Roman" panose="02020603050405020304" pitchFamily="18" charset="0"/>
                  </a:rPr>
                  <a:t>,x6</a:t>
                </a:r>
              </a:p>
            </p:txBody>
          </p:sp>
          <p:sp>
            <p:nvSpPr>
              <p:cNvPr id="12" name="文本框 11"/>
              <p:cNvSpPr txBox="1"/>
              <p:nvPr/>
            </p:nvSpPr>
            <p:spPr>
              <a:xfrm>
                <a:off x="804759" y="6246615"/>
                <a:ext cx="2021691" cy="460375"/>
              </a:xfrm>
              <a:prstGeom prst="rect">
                <a:avLst/>
              </a:prstGeom>
              <a:noFill/>
            </p:spPr>
            <p:txBody>
              <a:bodyPr wrap="square" rtlCol="0">
                <a:spAutoFit/>
              </a:bodyPr>
              <a:lstStyle/>
              <a:p>
                <a:r>
                  <a:rPr lang="en-US" altLang="zh-CN" sz="2400" dirty="0">
                    <a:latin typeface="Times New Roman" panose="02020603050405020304" pitchFamily="18" charset="0"/>
                    <a:cs typeface="Times New Roman" panose="02020603050405020304" pitchFamily="18" charset="0"/>
                  </a:rPr>
                  <a:t>and x9,</a:t>
                </a:r>
                <a:r>
                  <a:rPr lang="en-US" altLang="zh-CN" sz="2400" dirty="0">
                    <a:solidFill>
                      <a:srgbClr val="54C9F5"/>
                    </a:solidFill>
                    <a:latin typeface="Times New Roman" panose="02020603050405020304" pitchFamily="18" charset="0"/>
                    <a:cs typeface="Times New Roman" panose="02020603050405020304" pitchFamily="18" charset="0"/>
                  </a:rPr>
                  <a:t>x4,x2</a:t>
                </a:r>
              </a:p>
            </p:txBody>
          </p:sp>
        </p:grpSp>
        <p:grpSp>
          <p:nvGrpSpPr>
            <p:cNvPr id="17" name="指令"/>
            <p:cNvGrpSpPr/>
            <p:nvPr/>
          </p:nvGrpSpPr>
          <p:grpSpPr>
            <a:xfrm>
              <a:off x="6663819" y="5685835"/>
              <a:ext cx="4200124" cy="848518"/>
              <a:chOff x="3708787" y="2899251"/>
              <a:chExt cx="4562188" cy="1058188"/>
            </a:xfrm>
          </p:grpSpPr>
          <p:grpSp>
            <p:nvGrpSpPr>
              <p:cNvPr id="18" name="指令"/>
              <p:cNvGrpSpPr/>
              <p:nvPr/>
            </p:nvGrpSpPr>
            <p:grpSpPr>
              <a:xfrm>
                <a:off x="3751739" y="2899251"/>
                <a:ext cx="4403588" cy="1058188"/>
                <a:chOff x="4036219" y="4360386"/>
                <a:chExt cx="2411301" cy="579439"/>
              </a:xfrm>
            </p:grpSpPr>
            <p:grpSp>
              <p:nvGrpSpPr>
                <p:cNvPr id="24" name="组合 23"/>
                <p:cNvGrpSpPr/>
                <p:nvPr/>
              </p:nvGrpSpPr>
              <p:grpSpPr>
                <a:xfrm>
                  <a:off x="4036219" y="4536600"/>
                  <a:ext cx="233362" cy="230981"/>
                  <a:chOff x="3459957" y="3198019"/>
                  <a:chExt cx="233362" cy="230981"/>
                </a:xfrm>
              </p:grpSpPr>
              <p:sp>
                <p:nvSpPr>
                  <p:cNvPr id="64" name="矩形 63"/>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5" name="矩形 64"/>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矩形 24"/>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a:stCxn id="65"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组合 26"/>
                <p:cNvGrpSpPr/>
                <p:nvPr/>
              </p:nvGrpSpPr>
              <p:grpSpPr>
                <a:xfrm>
                  <a:off x="4583677" y="4531622"/>
                  <a:ext cx="224066" cy="235402"/>
                  <a:chOff x="3971697" y="3537291"/>
                  <a:chExt cx="224066" cy="235402"/>
                </a:xfrm>
              </p:grpSpPr>
              <p:sp>
                <p:nvSpPr>
                  <p:cNvPr id="57" name="矩形 56"/>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8" name="直接连接符 57"/>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8" name="直接连接符 27"/>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任意多边形: 形状 28"/>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4939315"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矩形 55"/>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p:cNvGrpSpPr/>
                <p:nvPr/>
              </p:nvGrpSpPr>
              <p:grpSpPr>
                <a:xfrm rot="10800000">
                  <a:off x="6224134" y="4529592"/>
                  <a:ext cx="223386" cy="232211"/>
                  <a:chOff x="3970449" y="3542809"/>
                  <a:chExt cx="223386" cy="232211"/>
                </a:xfrm>
              </p:grpSpPr>
              <p:cxnSp>
                <p:nvCxnSpPr>
                  <p:cNvPr id="49" name="直接连接符 48"/>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5" name="直接连接符 34"/>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56" idx="3"/>
                  <a:endCxn id="33"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文本框 18"/>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20" name="文本框 19"/>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21" name="文本框 20"/>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22" name="文本框 21"/>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23" name="文本框 22"/>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66" name="指令"/>
            <p:cNvGrpSpPr/>
            <p:nvPr/>
          </p:nvGrpSpPr>
          <p:grpSpPr>
            <a:xfrm>
              <a:off x="3872726" y="3027954"/>
              <a:ext cx="4200124" cy="848518"/>
              <a:chOff x="3708787" y="2899251"/>
              <a:chExt cx="4562188" cy="1058188"/>
            </a:xfrm>
          </p:grpSpPr>
          <p:grpSp>
            <p:nvGrpSpPr>
              <p:cNvPr id="67" name="指令"/>
              <p:cNvGrpSpPr/>
              <p:nvPr/>
            </p:nvGrpSpPr>
            <p:grpSpPr>
              <a:xfrm>
                <a:off x="3751739" y="2899251"/>
                <a:ext cx="4403588" cy="1058188"/>
                <a:chOff x="4036219" y="4360386"/>
                <a:chExt cx="2411301" cy="579439"/>
              </a:xfrm>
            </p:grpSpPr>
            <p:grpSp>
              <p:nvGrpSpPr>
                <p:cNvPr id="73" name="组合 72"/>
                <p:cNvGrpSpPr/>
                <p:nvPr/>
              </p:nvGrpSpPr>
              <p:grpSpPr>
                <a:xfrm>
                  <a:off x="4036219" y="4536600"/>
                  <a:ext cx="233362" cy="230981"/>
                  <a:chOff x="3459957" y="3198019"/>
                  <a:chExt cx="233362" cy="230981"/>
                </a:xfrm>
              </p:grpSpPr>
              <p:sp>
                <p:nvSpPr>
                  <p:cNvPr id="112" name="矩形 111"/>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3" name="矩形 112"/>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4" name="矩形 73"/>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5" name="直接连接符 74"/>
                <p:cNvCxnSpPr>
                  <a:stCxn id="113"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6" name="组合 75"/>
                <p:cNvGrpSpPr/>
                <p:nvPr/>
              </p:nvGrpSpPr>
              <p:grpSpPr>
                <a:xfrm>
                  <a:off x="4583677" y="4531622"/>
                  <a:ext cx="224066" cy="235402"/>
                  <a:chOff x="3971697" y="3537291"/>
                  <a:chExt cx="224066" cy="235402"/>
                </a:xfrm>
              </p:grpSpPr>
              <p:sp>
                <p:nvSpPr>
                  <p:cNvPr id="105" name="矩形 104"/>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06" name="直接连接符 105"/>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7" name="直接连接符 76"/>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任意多边形: 形状 77"/>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矩形 80"/>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p:cNvGrpSpPr/>
                <p:nvPr/>
              </p:nvGrpSpPr>
              <p:grpSpPr>
                <a:xfrm rot="10800000">
                  <a:off x="6224134" y="4529592"/>
                  <a:ext cx="223386" cy="233308"/>
                  <a:chOff x="3970449" y="3541712"/>
                  <a:chExt cx="223386" cy="233308"/>
                </a:xfrm>
              </p:grpSpPr>
              <p:sp>
                <p:nvSpPr>
                  <p:cNvPr id="98" name="矩形 97"/>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9" name="直接连接符 98"/>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4" name="直接连接符 83"/>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4802980" y="4574639"/>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5007467" y="4575062"/>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a:stCxn id="81" idx="3"/>
                  <a:endCxn id="82"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8" name="文本框 67"/>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69" name="文本框 68"/>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70" name="文本框 69"/>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71" name="文本框 70"/>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72" name="文本框 71"/>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114" name="指令"/>
            <p:cNvGrpSpPr/>
            <p:nvPr/>
          </p:nvGrpSpPr>
          <p:grpSpPr>
            <a:xfrm>
              <a:off x="2940241" y="2155045"/>
              <a:ext cx="4200124" cy="848518"/>
              <a:chOff x="3708787" y="2899251"/>
              <a:chExt cx="4562188" cy="1058188"/>
            </a:xfrm>
          </p:grpSpPr>
          <p:grpSp>
            <p:nvGrpSpPr>
              <p:cNvPr id="115" name="指令"/>
              <p:cNvGrpSpPr/>
              <p:nvPr/>
            </p:nvGrpSpPr>
            <p:grpSpPr>
              <a:xfrm>
                <a:off x="3751739" y="2899251"/>
                <a:ext cx="4403588" cy="1058188"/>
                <a:chOff x="4036219" y="4360386"/>
                <a:chExt cx="2411301" cy="579439"/>
              </a:xfrm>
            </p:grpSpPr>
            <p:grpSp>
              <p:nvGrpSpPr>
                <p:cNvPr id="121" name="组合 120"/>
                <p:cNvGrpSpPr/>
                <p:nvPr/>
              </p:nvGrpSpPr>
              <p:grpSpPr>
                <a:xfrm>
                  <a:off x="4036219" y="4536600"/>
                  <a:ext cx="233362" cy="230981"/>
                  <a:chOff x="3459957" y="3198019"/>
                  <a:chExt cx="233362" cy="230981"/>
                </a:xfrm>
              </p:grpSpPr>
              <p:sp>
                <p:nvSpPr>
                  <p:cNvPr id="160" name="矩形 159"/>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1" name="矩形 160"/>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2" name="矩形 121"/>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3" name="直接连接符 122"/>
                <p:cNvCxnSpPr>
                  <a:stCxn id="161"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4" name="组合 123"/>
                <p:cNvGrpSpPr/>
                <p:nvPr/>
              </p:nvGrpSpPr>
              <p:grpSpPr>
                <a:xfrm>
                  <a:off x="4583677" y="4531622"/>
                  <a:ext cx="224066" cy="235402"/>
                  <a:chOff x="3971697" y="3537291"/>
                  <a:chExt cx="224066" cy="235402"/>
                </a:xfrm>
              </p:grpSpPr>
              <p:sp>
                <p:nvSpPr>
                  <p:cNvPr id="153" name="矩形 152"/>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54" name="直接连接符 153"/>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56" name="直接连接符 155"/>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直接连接符 157"/>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5" name="直接连接符 124"/>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6" name="任意多边形: 形状 125"/>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矩形 126"/>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矩形 127"/>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9" name="矩形 128"/>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1" name="组合 130"/>
                <p:cNvGrpSpPr/>
                <p:nvPr/>
              </p:nvGrpSpPr>
              <p:grpSpPr>
                <a:xfrm rot="10800000">
                  <a:off x="6224134" y="4529592"/>
                  <a:ext cx="223386" cy="233308"/>
                  <a:chOff x="3970449" y="3541712"/>
                  <a:chExt cx="223386" cy="233308"/>
                </a:xfrm>
              </p:grpSpPr>
              <p:sp>
                <p:nvSpPr>
                  <p:cNvPr id="146" name="矩形 145"/>
                  <p:cNvSpPr/>
                  <p:nvPr/>
                </p:nvSpPr>
                <p:spPr>
                  <a:xfrm>
                    <a:off x="4071938" y="3541712"/>
                    <a:ext cx="121444" cy="230981"/>
                  </a:xfrm>
                  <a:prstGeom prst="rect">
                    <a:avLst/>
                  </a:prstGeom>
                  <a:solidFill>
                    <a:srgbClr val="9CD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47" name="直接连接符 146"/>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48" name="直接连接符 147"/>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2" name="直接连接符 131"/>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接连接符 139"/>
                <p:cNvCxnSpPr>
                  <a:stCxn id="129" idx="3"/>
                  <a:endCxn id="130"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6" name="文本框 115"/>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117" name="文本框 116"/>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118" name="文本框 117"/>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119" name="文本框 118"/>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120" name="文本框 119"/>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162" name="指令"/>
            <p:cNvGrpSpPr/>
            <p:nvPr/>
          </p:nvGrpSpPr>
          <p:grpSpPr>
            <a:xfrm>
              <a:off x="4802738" y="3904907"/>
              <a:ext cx="4200124" cy="848518"/>
              <a:chOff x="3708787" y="2899251"/>
              <a:chExt cx="4562188" cy="1058188"/>
            </a:xfrm>
          </p:grpSpPr>
          <p:grpSp>
            <p:nvGrpSpPr>
              <p:cNvPr id="163" name="指令"/>
              <p:cNvGrpSpPr/>
              <p:nvPr/>
            </p:nvGrpSpPr>
            <p:grpSpPr>
              <a:xfrm>
                <a:off x="3751739" y="2899251"/>
                <a:ext cx="4403588" cy="1058188"/>
                <a:chOff x="4036219" y="4360386"/>
                <a:chExt cx="2411301" cy="579439"/>
              </a:xfrm>
            </p:grpSpPr>
            <p:grpSp>
              <p:nvGrpSpPr>
                <p:cNvPr id="169" name="组合 168"/>
                <p:cNvGrpSpPr/>
                <p:nvPr/>
              </p:nvGrpSpPr>
              <p:grpSpPr>
                <a:xfrm>
                  <a:off x="4036219" y="4536600"/>
                  <a:ext cx="233362" cy="230981"/>
                  <a:chOff x="3459957" y="3198019"/>
                  <a:chExt cx="233362" cy="230981"/>
                </a:xfrm>
              </p:grpSpPr>
              <p:sp>
                <p:nvSpPr>
                  <p:cNvPr id="208" name="矩形 207"/>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9" name="矩形 208"/>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0" name="矩形 169"/>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1" name="直接连接符 170"/>
                <p:cNvCxnSpPr>
                  <a:stCxn id="209"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2" name="组合 171"/>
                <p:cNvGrpSpPr/>
                <p:nvPr/>
              </p:nvGrpSpPr>
              <p:grpSpPr>
                <a:xfrm>
                  <a:off x="4583677" y="4531622"/>
                  <a:ext cx="224066" cy="235402"/>
                  <a:chOff x="3971697" y="3537291"/>
                  <a:chExt cx="224066" cy="235402"/>
                </a:xfrm>
              </p:grpSpPr>
              <p:sp>
                <p:nvSpPr>
                  <p:cNvPr id="201" name="矩形 200"/>
                  <p:cNvSpPr/>
                  <p:nvPr/>
                </p:nvSpPr>
                <p:spPr>
                  <a:xfrm>
                    <a:off x="4071938" y="3541712"/>
                    <a:ext cx="121444" cy="230981"/>
                  </a:xfrm>
                  <a:prstGeom prst="rect">
                    <a:avLst/>
                  </a:prstGeom>
                  <a:solidFill>
                    <a:srgbClr val="9CD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02" name="直接连接符 201"/>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04" name="直接连接符 203"/>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直接连接符 206"/>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3" name="直接连接符 172"/>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4" name="任意多边形: 形状 173"/>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5" name="矩形 174"/>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矩形 175"/>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7" name="矩形 176"/>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矩形 177"/>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9" name="组合 178"/>
                <p:cNvGrpSpPr/>
                <p:nvPr/>
              </p:nvGrpSpPr>
              <p:grpSpPr>
                <a:xfrm rot="10800000">
                  <a:off x="6224134" y="4529592"/>
                  <a:ext cx="223386" cy="233308"/>
                  <a:chOff x="3970449" y="3541712"/>
                  <a:chExt cx="223386" cy="233308"/>
                </a:xfrm>
              </p:grpSpPr>
              <p:sp>
                <p:nvSpPr>
                  <p:cNvPr id="194" name="矩形 193"/>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95" name="直接连接符 194"/>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6" name="直接连接符 195"/>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7" name="直接连接符 196"/>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98" name="直接连接符 197"/>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直接连接符 198"/>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 name="直接连接符 199"/>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80" name="直接连接符 179"/>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直接连接符 181"/>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直接连接符 182"/>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直接连接符 183"/>
                <p:cNvCxnSpPr/>
                <p:nvPr/>
              </p:nvCxnSpPr>
              <p:spPr>
                <a:xfrm>
                  <a:off x="5009356" y="4561286"/>
                  <a:ext cx="126207" cy="0"/>
                </a:xfrm>
                <a:prstGeom prst="line">
                  <a:avLst/>
                </a:prstGeom>
                <a:ln w="15875">
                  <a:solidFill>
                    <a:srgbClr val="54C9F5"/>
                  </a:solidFill>
                </a:ln>
              </p:spPr>
              <p:style>
                <a:lnRef idx="1">
                  <a:schemeClr val="accent1"/>
                </a:lnRef>
                <a:fillRef idx="0">
                  <a:schemeClr val="accent1"/>
                </a:fillRef>
                <a:effectRef idx="0">
                  <a:schemeClr val="accent1"/>
                </a:effectRef>
                <a:fontRef idx="minor">
                  <a:schemeClr val="tx1"/>
                </a:fontRef>
              </p:style>
            </p:cxnSp>
            <p:cxnSp>
              <p:nvCxnSpPr>
                <p:cNvPr id="185" name="直接连接符 184"/>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 name="直接连接符 186"/>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8" name="直接连接符 187"/>
                <p:cNvCxnSpPr>
                  <a:stCxn id="177" idx="3"/>
                  <a:endCxn id="178"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直接连接符 188"/>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1" name="直接连接符 190"/>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直接连接符 191"/>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4" name="文本框 163"/>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165" name="文本框 164"/>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166" name="文本框 165"/>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167" name="文本框 166"/>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168" name="文本框 167"/>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210" name="指令"/>
            <p:cNvGrpSpPr/>
            <p:nvPr/>
          </p:nvGrpSpPr>
          <p:grpSpPr>
            <a:xfrm>
              <a:off x="5734608" y="4782693"/>
              <a:ext cx="4200124" cy="848518"/>
              <a:chOff x="3708787" y="2899251"/>
              <a:chExt cx="4562188" cy="1058188"/>
            </a:xfrm>
          </p:grpSpPr>
          <p:grpSp>
            <p:nvGrpSpPr>
              <p:cNvPr id="211" name="指令"/>
              <p:cNvGrpSpPr/>
              <p:nvPr/>
            </p:nvGrpSpPr>
            <p:grpSpPr>
              <a:xfrm>
                <a:off x="3751739" y="2899251"/>
                <a:ext cx="4403588" cy="1058188"/>
                <a:chOff x="4036219" y="4360386"/>
                <a:chExt cx="2411301" cy="579439"/>
              </a:xfrm>
            </p:grpSpPr>
            <p:grpSp>
              <p:nvGrpSpPr>
                <p:cNvPr id="217" name="组合 216"/>
                <p:cNvGrpSpPr/>
                <p:nvPr/>
              </p:nvGrpSpPr>
              <p:grpSpPr>
                <a:xfrm>
                  <a:off x="4036219" y="4536600"/>
                  <a:ext cx="233362" cy="230981"/>
                  <a:chOff x="3459957" y="3198019"/>
                  <a:chExt cx="233362" cy="230981"/>
                </a:xfrm>
              </p:grpSpPr>
              <p:sp>
                <p:nvSpPr>
                  <p:cNvPr id="256" name="矩形 255"/>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7" name="矩形 256"/>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8" name="矩形 217"/>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9" name="直接连接符 218"/>
                <p:cNvCxnSpPr>
                  <a:stCxn id="257"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0" name="组合 219"/>
                <p:cNvGrpSpPr/>
                <p:nvPr/>
              </p:nvGrpSpPr>
              <p:grpSpPr>
                <a:xfrm>
                  <a:off x="4583677" y="4531622"/>
                  <a:ext cx="224066" cy="235402"/>
                  <a:chOff x="3971697" y="3537291"/>
                  <a:chExt cx="224066" cy="235402"/>
                </a:xfrm>
              </p:grpSpPr>
              <p:sp>
                <p:nvSpPr>
                  <p:cNvPr id="249" name="矩形 248"/>
                  <p:cNvSpPr/>
                  <p:nvPr/>
                </p:nvSpPr>
                <p:spPr>
                  <a:xfrm>
                    <a:off x="4071938" y="3541712"/>
                    <a:ext cx="121444" cy="230981"/>
                  </a:xfrm>
                  <a:prstGeom prst="rect">
                    <a:avLst/>
                  </a:prstGeom>
                  <a:solidFill>
                    <a:srgbClr val="9CD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50" name="直接连接符 249"/>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51" name="直接连接符 250"/>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52" name="直接连接符 251"/>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53" name="直接连接符 252"/>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1" name="直接连接符 220"/>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2" name="任意多边形: 形状 221"/>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3" name="矩形 222"/>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4" name="矩形 223"/>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5" name="矩形 224"/>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矩形 225"/>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7" name="组合 226"/>
                <p:cNvGrpSpPr/>
                <p:nvPr/>
              </p:nvGrpSpPr>
              <p:grpSpPr>
                <a:xfrm rot="10800000">
                  <a:off x="6224134" y="4529592"/>
                  <a:ext cx="223386" cy="233308"/>
                  <a:chOff x="3970449" y="3541712"/>
                  <a:chExt cx="223386" cy="233308"/>
                </a:xfrm>
              </p:grpSpPr>
              <p:sp>
                <p:nvSpPr>
                  <p:cNvPr id="242" name="矩形 241"/>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43" name="直接连接符 242"/>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44" name="直接连接符 243"/>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45" name="直接连接符 244"/>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46" name="直接连接符 245"/>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7" name="直接连接符 246"/>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8" name="直接连接符 247"/>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28" name="直接连接符 227"/>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9" name="直接连接符 228"/>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0" name="直接连接符 229"/>
                <p:cNvCxnSpPr/>
                <p:nvPr/>
              </p:nvCxnSpPr>
              <p:spPr>
                <a:xfrm>
                  <a:off x="4802980" y="4561286"/>
                  <a:ext cx="132558" cy="0"/>
                </a:xfrm>
                <a:prstGeom prst="line">
                  <a:avLst/>
                </a:prstGeom>
                <a:ln w="15875">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直接连接符 231"/>
                <p:cNvCxnSpPr/>
                <p:nvPr/>
              </p:nvCxnSpPr>
              <p:spPr>
                <a:xfrm>
                  <a:off x="5009356" y="4561286"/>
                  <a:ext cx="126207" cy="0"/>
                </a:xfrm>
                <a:prstGeom prst="line">
                  <a:avLst/>
                </a:prstGeom>
                <a:ln w="15875">
                  <a:solidFill>
                    <a:srgbClr val="54C9F5"/>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 name="直接连接符 233"/>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5" name="直接连接符 234"/>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6" name="直接连接符 235"/>
                <p:cNvCxnSpPr>
                  <a:stCxn id="225" idx="3"/>
                  <a:endCxn id="226"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直接连接符 237"/>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0" name="直接连接符 239"/>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2" name="文本框 211"/>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213" name="文本框 212"/>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214" name="文本框 213"/>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215" name="文本框 214"/>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216" name="文本框 215"/>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272" name="时间轴"/>
            <p:cNvGrpSpPr/>
            <p:nvPr/>
          </p:nvGrpSpPr>
          <p:grpSpPr>
            <a:xfrm>
              <a:off x="840664" y="1105984"/>
              <a:ext cx="10132088" cy="647558"/>
              <a:chOff x="1139949" y="1929084"/>
              <a:chExt cx="10132088" cy="647558"/>
            </a:xfrm>
          </p:grpSpPr>
          <p:cxnSp>
            <p:nvCxnSpPr>
              <p:cNvPr id="273" name="直接箭头连接符 272"/>
              <p:cNvCxnSpPr/>
              <p:nvPr/>
            </p:nvCxnSpPr>
            <p:spPr>
              <a:xfrm>
                <a:off x="3629769" y="2185186"/>
                <a:ext cx="7510315"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sp>
            <p:nvSpPr>
              <p:cNvPr id="274" name="文本框 273"/>
              <p:cNvSpPr txBox="1"/>
              <p:nvPr/>
            </p:nvSpPr>
            <p:spPr>
              <a:xfrm>
                <a:off x="3047727" y="2207282"/>
                <a:ext cx="714286" cy="369332"/>
              </a:xfrm>
              <a:prstGeom prst="rect">
                <a:avLst/>
              </a:prstGeom>
              <a:noFill/>
            </p:spPr>
            <p:txBody>
              <a:bodyPr wrap="square" rtlCol="0">
                <a:spAutoFit/>
              </a:bodyPr>
              <a:lstStyle/>
              <a:p>
                <a:r>
                  <a:rPr lang="en-US" altLang="zh-CN" dirty="0"/>
                  <a:t>CC 1</a:t>
                </a:r>
                <a:endParaRPr lang="zh-CN" altLang="en-US" dirty="0"/>
              </a:p>
            </p:txBody>
          </p:sp>
          <p:sp>
            <p:nvSpPr>
              <p:cNvPr id="275" name="文本框 274"/>
              <p:cNvSpPr txBox="1"/>
              <p:nvPr/>
            </p:nvSpPr>
            <p:spPr>
              <a:xfrm>
                <a:off x="3981073" y="2204602"/>
                <a:ext cx="714286" cy="369332"/>
              </a:xfrm>
              <a:prstGeom prst="rect">
                <a:avLst/>
              </a:prstGeom>
              <a:noFill/>
            </p:spPr>
            <p:txBody>
              <a:bodyPr wrap="square" rtlCol="0">
                <a:spAutoFit/>
              </a:bodyPr>
              <a:lstStyle/>
              <a:p>
                <a:r>
                  <a:rPr lang="en-US" altLang="zh-CN" dirty="0"/>
                  <a:t>CC 2</a:t>
                </a:r>
                <a:endParaRPr lang="zh-CN" altLang="en-US" dirty="0"/>
              </a:p>
            </p:txBody>
          </p:sp>
          <p:sp>
            <p:nvSpPr>
              <p:cNvPr id="276" name="文本框 275"/>
              <p:cNvSpPr txBox="1"/>
              <p:nvPr/>
            </p:nvSpPr>
            <p:spPr>
              <a:xfrm>
                <a:off x="6737190" y="2207196"/>
                <a:ext cx="714286" cy="369332"/>
              </a:xfrm>
              <a:prstGeom prst="rect">
                <a:avLst/>
              </a:prstGeom>
              <a:noFill/>
            </p:spPr>
            <p:txBody>
              <a:bodyPr wrap="square" rtlCol="0">
                <a:spAutoFit/>
              </a:bodyPr>
              <a:lstStyle/>
              <a:p>
                <a:r>
                  <a:rPr lang="en-US" altLang="zh-CN" dirty="0"/>
                  <a:t>CC 5</a:t>
                </a:r>
                <a:endParaRPr lang="zh-CN" altLang="en-US" dirty="0"/>
              </a:p>
            </p:txBody>
          </p:sp>
          <p:sp>
            <p:nvSpPr>
              <p:cNvPr id="277" name="文本框 276"/>
              <p:cNvSpPr txBox="1"/>
              <p:nvPr/>
            </p:nvSpPr>
            <p:spPr>
              <a:xfrm>
                <a:off x="4946527" y="2201889"/>
                <a:ext cx="714286" cy="369332"/>
              </a:xfrm>
              <a:prstGeom prst="rect">
                <a:avLst/>
              </a:prstGeom>
              <a:noFill/>
            </p:spPr>
            <p:txBody>
              <a:bodyPr wrap="square" rtlCol="0">
                <a:spAutoFit/>
              </a:bodyPr>
              <a:lstStyle/>
              <a:p>
                <a:r>
                  <a:rPr lang="en-US" altLang="zh-CN" dirty="0"/>
                  <a:t>CC 3</a:t>
                </a:r>
                <a:endParaRPr lang="zh-CN" altLang="en-US" dirty="0"/>
              </a:p>
            </p:txBody>
          </p:sp>
          <p:sp>
            <p:nvSpPr>
              <p:cNvPr id="278" name="文本框 277"/>
              <p:cNvSpPr txBox="1"/>
              <p:nvPr/>
            </p:nvSpPr>
            <p:spPr>
              <a:xfrm>
                <a:off x="7682194" y="2207310"/>
                <a:ext cx="714286" cy="369332"/>
              </a:xfrm>
              <a:prstGeom prst="rect">
                <a:avLst/>
              </a:prstGeom>
              <a:noFill/>
            </p:spPr>
            <p:txBody>
              <a:bodyPr wrap="square" rtlCol="0">
                <a:spAutoFit/>
              </a:bodyPr>
              <a:lstStyle/>
              <a:p>
                <a:r>
                  <a:rPr lang="en-US" altLang="zh-CN" dirty="0"/>
                  <a:t>CC 6</a:t>
                </a:r>
                <a:endParaRPr lang="zh-CN" altLang="en-US" dirty="0"/>
              </a:p>
            </p:txBody>
          </p:sp>
          <p:sp>
            <p:nvSpPr>
              <p:cNvPr id="279" name="文本框 278"/>
              <p:cNvSpPr txBox="1"/>
              <p:nvPr/>
            </p:nvSpPr>
            <p:spPr>
              <a:xfrm>
                <a:off x="5827526" y="2202034"/>
                <a:ext cx="714286" cy="369332"/>
              </a:xfrm>
              <a:prstGeom prst="rect">
                <a:avLst/>
              </a:prstGeom>
              <a:noFill/>
            </p:spPr>
            <p:txBody>
              <a:bodyPr wrap="square" rtlCol="0">
                <a:spAutoFit/>
              </a:bodyPr>
              <a:lstStyle/>
              <a:p>
                <a:r>
                  <a:rPr lang="en-US" altLang="zh-CN" dirty="0"/>
                  <a:t>CC 4</a:t>
                </a:r>
                <a:endParaRPr lang="zh-CN" altLang="en-US" dirty="0"/>
              </a:p>
            </p:txBody>
          </p:sp>
          <p:sp>
            <p:nvSpPr>
              <p:cNvPr id="280" name="文本框 279"/>
              <p:cNvSpPr txBox="1"/>
              <p:nvPr/>
            </p:nvSpPr>
            <p:spPr>
              <a:xfrm>
                <a:off x="9543787" y="2203075"/>
                <a:ext cx="714286" cy="369332"/>
              </a:xfrm>
              <a:prstGeom prst="rect">
                <a:avLst/>
              </a:prstGeom>
              <a:noFill/>
            </p:spPr>
            <p:txBody>
              <a:bodyPr wrap="square" rtlCol="0">
                <a:spAutoFit/>
              </a:bodyPr>
              <a:lstStyle/>
              <a:p>
                <a:r>
                  <a:rPr lang="en-US" altLang="zh-CN" dirty="0"/>
                  <a:t>CC 8</a:t>
                </a:r>
                <a:endParaRPr lang="zh-CN" altLang="en-US" dirty="0"/>
              </a:p>
            </p:txBody>
          </p:sp>
          <p:sp>
            <p:nvSpPr>
              <p:cNvPr id="281" name="文本框 280"/>
              <p:cNvSpPr txBox="1"/>
              <p:nvPr/>
            </p:nvSpPr>
            <p:spPr>
              <a:xfrm>
                <a:off x="8644891" y="2203075"/>
                <a:ext cx="714286" cy="369332"/>
              </a:xfrm>
              <a:prstGeom prst="rect">
                <a:avLst/>
              </a:prstGeom>
              <a:noFill/>
            </p:spPr>
            <p:txBody>
              <a:bodyPr wrap="square" rtlCol="0">
                <a:spAutoFit/>
              </a:bodyPr>
              <a:lstStyle/>
              <a:p>
                <a:r>
                  <a:rPr lang="en-US" altLang="zh-CN" dirty="0"/>
                  <a:t>CC 7</a:t>
                </a:r>
                <a:endParaRPr lang="zh-CN" altLang="en-US" dirty="0"/>
              </a:p>
            </p:txBody>
          </p:sp>
          <p:sp>
            <p:nvSpPr>
              <p:cNvPr id="282" name="文本框 281"/>
              <p:cNvSpPr txBox="1"/>
              <p:nvPr/>
            </p:nvSpPr>
            <p:spPr>
              <a:xfrm>
                <a:off x="10557751" y="2201889"/>
                <a:ext cx="714286" cy="369332"/>
              </a:xfrm>
              <a:prstGeom prst="rect">
                <a:avLst/>
              </a:prstGeom>
              <a:noFill/>
            </p:spPr>
            <p:txBody>
              <a:bodyPr wrap="square" rtlCol="0">
                <a:spAutoFit/>
              </a:bodyPr>
              <a:lstStyle/>
              <a:p>
                <a:r>
                  <a:rPr lang="en-US" altLang="zh-CN" dirty="0"/>
                  <a:t>CC 9</a:t>
                </a:r>
                <a:endParaRPr lang="zh-CN" altLang="en-US" dirty="0"/>
              </a:p>
            </p:txBody>
          </p:sp>
          <p:sp>
            <p:nvSpPr>
              <p:cNvPr id="283" name="文本框 282"/>
              <p:cNvSpPr txBox="1"/>
              <p:nvPr/>
            </p:nvSpPr>
            <p:spPr>
              <a:xfrm>
                <a:off x="1139949" y="1929084"/>
                <a:ext cx="2496284" cy="400110"/>
              </a:xfrm>
              <a:prstGeom prst="rect">
                <a:avLst/>
              </a:prstGeom>
              <a:noFill/>
            </p:spPr>
            <p:txBody>
              <a:bodyPr wrap="square" rtlCol="0">
                <a:spAutoFit/>
              </a:bodyPr>
              <a:lstStyle>
                <a:defPPr>
                  <a:defRPr lang="zh-CN"/>
                </a:defPPr>
                <a:lvl1pPr>
                  <a:defRPr sz="2000">
                    <a:latin typeface="Times New Roman" panose="02020603050405020304" pitchFamily="18" charset="0"/>
                    <a:cs typeface="Times New Roman" panose="02020603050405020304" pitchFamily="18" charset="0"/>
                  </a:defRPr>
                </a:lvl1pPr>
              </a:lstStyle>
              <a:p>
                <a:r>
                  <a:rPr lang="en-US" altLang="zh-CN" dirty="0"/>
                  <a:t>Time (in clock cycles)</a:t>
                </a:r>
                <a:endParaRPr lang="zh-CN" altLang="en-US" dirty="0"/>
              </a:p>
            </p:txBody>
          </p:sp>
        </p:grpSp>
        <p:cxnSp>
          <p:nvCxnSpPr>
            <p:cNvPr id="384" name="直接连接符 383"/>
            <p:cNvCxnSpPr/>
            <p:nvPr/>
          </p:nvCxnSpPr>
          <p:spPr>
            <a:xfrm flipH="1" flipV="1">
              <a:off x="6829214" y="2698797"/>
              <a:ext cx="88628" cy="2315402"/>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85" name="椭圆 384"/>
            <p:cNvSpPr/>
            <p:nvPr/>
          </p:nvSpPr>
          <p:spPr>
            <a:xfrm>
              <a:off x="6848655" y="4963132"/>
              <a:ext cx="100396" cy="100396"/>
            </a:xfrm>
            <a:prstGeom prst="ellipse">
              <a:avLst/>
            </a:prstGeom>
            <a:solidFill>
              <a:srgbClr val="54C9F5"/>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6" name="椭圆 385"/>
            <p:cNvSpPr/>
            <p:nvPr/>
          </p:nvSpPr>
          <p:spPr>
            <a:xfrm>
              <a:off x="6791474" y="2695432"/>
              <a:ext cx="100396" cy="100396"/>
            </a:xfrm>
            <a:prstGeom prst="ellipse">
              <a:avLst/>
            </a:prstGeom>
            <a:solidFill>
              <a:srgbClr val="54C9F5"/>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7" name="直接连接符 386"/>
            <p:cNvCxnSpPr/>
            <p:nvPr/>
          </p:nvCxnSpPr>
          <p:spPr>
            <a:xfrm>
              <a:off x="8278029" y="4441660"/>
              <a:ext cx="186065" cy="1490466"/>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88" name="椭圆 387"/>
            <p:cNvSpPr/>
            <p:nvPr/>
          </p:nvSpPr>
          <p:spPr>
            <a:xfrm rot="10800000">
              <a:off x="8409673" y="5902545"/>
              <a:ext cx="100396" cy="100396"/>
            </a:xfrm>
            <a:prstGeom prst="ellipse">
              <a:avLst/>
            </a:prstGeom>
            <a:solidFill>
              <a:srgbClr val="54C9F5"/>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9" name="椭圆 388"/>
            <p:cNvSpPr/>
            <p:nvPr/>
          </p:nvSpPr>
          <p:spPr>
            <a:xfrm rot="10800000">
              <a:off x="8215558" y="4421043"/>
              <a:ext cx="100396" cy="100396"/>
            </a:xfrm>
            <a:prstGeom prst="ellipse">
              <a:avLst/>
            </a:prstGeom>
            <a:solidFill>
              <a:srgbClr val="54C9F5"/>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2" name="直接连接符 391"/>
            <p:cNvCxnSpPr/>
            <p:nvPr/>
          </p:nvCxnSpPr>
          <p:spPr>
            <a:xfrm>
              <a:off x="6426043" y="2691391"/>
              <a:ext cx="186065" cy="1490466"/>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393" name="椭圆 392"/>
            <p:cNvSpPr/>
            <p:nvPr/>
          </p:nvSpPr>
          <p:spPr>
            <a:xfrm rot="10800000">
              <a:off x="6550536" y="4168707"/>
              <a:ext cx="100396" cy="100396"/>
            </a:xfrm>
            <a:prstGeom prst="ellipse">
              <a:avLst/>
            </a:prstGeom>
            <a:solidFill>
              <a:srgbClr val="54C9F5"/>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4" name="椭圆 393"/>
            <p:cNvSpPr/>
            <p:nvPr/>
          </p:nvSpPr>
          <p:spPr>
            <a:xfrm rot="10800000">
              <a:off x="6363572" y="2670774"/>
              <a:ext cx="100396" cy="100396"/>
            </a:xfrm>
            <a:prstGeom prst="ellipse">
              <a:avLst/>
            </a:prstGeom>
            <a:solidFill>
              <a:srgbClr val="54C9F5"/>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3"/>
          <p:cNvSpPr>
            <a:spLocks noGrp="1" noChangeArrowheads="1"/>
          </p:cNvSpPr>
          <p:nvPr>
            <p:ph idx="1"/>
          </p:nvPr>
        </p:nvSpPr>
        <p:spPr/>
        <p:txBody>
          <a:bodyPr>
            <a:noAutofit/>
          </a:bodyPr>
          <a:lstStyle/>
          <a:p>
            <a:pPr marL="0" indent="0" eaLnBrk="1" hangingPunct="1">
              <a:lnSpc>
                <a:spcPct val="110000"/>
              </a:lnSpc>
              <a:buNone/>
            </a:pPr>
            <a:r>
              <a:rPr lang="zh-CN" altLang="en-US" dirty="0">
                <a:latin typeface="Times New Roman" panose="02020603050405020304" pitchFamily="18" charset="0"/>
                <a:cs typeface="Times New Roman" panose="02020603050405020304" pitchFamily="18" charset="0"/>
              </a:rPr>
              <a:t>被停顿的指令正处于</a:t>
            </a:r>
            <a:r>
              <a:rPr lang="en-US" altLang="zh-CN" dirty="0">
                <a:latin typeface="Times New Roman" panose="02020603050405020304" pitchFamily="18" charset="0"/>
                <a:cs typeface="Times New Roman" panose="02020603050405020304" pitchFamily="18" charset="0"/>
              </a:rPr>
              <a:t>ID</a:t>
            </a:r>
            <a:r>
              <a:rPr lang="zh-CN" altLang="en-US" dirty="0">
                <a:latin typeface="Times New Roman" panose="02020603050405020304" pitchFamily="18" charset="0"/>
                <a:cs typeface="Times New Roman" panose="02020603050405020304" pitchFamily="18" charset="0"/>
              </a:rPr>
              <a:t>阶段</a:t>
            </a:r>
            <a:r>
              <a:rPr lang="en-US" altLang="zh-CN" dirty="0">
                <a:latin typeface="Times New Roman" panose="02020603050405020304" pitchFamily="18" charset="0"/>
                <a:cs typeface="Times New Roman" panose="02020603050405020304" pitchFamily="18" charset="0"/>
              </a:rPr>
              <a:t>:</a:t>
            </a:r>
          </a:p>
          <a:p>
            <a:pPr eaLnBrk="1" hangingPunct="1">
              <a:lnSpc>
                <a:spcPct val="110000"/>
              </a:lnSpc>
            </a:pPr>
            <a:r>
              <a:rPr lang="zh-CN" altLang="en-US" dirty="0">
                <a:latin typeface="Times New Roman" panose="02020603050405020304" pitchFamily="18" charset="0"/>
                <a:cs typeface="Times New Roman" panose="02020603050405020304" pitchFamily="18" charset="0"/>
              </a:rPr>
              <a:t>将</a:t>
            </a:r>
            <a:r>
              <a:rPr lang="en-US" altLang="zh-CN" dirty="0">
                <a:latin typeface="Times New Roman" panose="02020603050405020304" pitchFamily="18" charset="0"/>
                <a:cs typeface="Times New Roman" panose="02020603050405020304" pitchFamily="18" charset="0"/>
              </a:rPr>
              <a:t>ID/EX</a:t>
            </a:r>
            <a:r>
              <a:rPr lang="zh-CN" altLang="en-US" dirty="0">
                <a:latin typeface="Times New Roman" panose="02020603050405020304" pitchFamily="18" charset="0"/>
                <a:cs typeface="Times New Roman" panose="02020603050405020304" pitchFamily="18" charset="0"/>
              </a:rPr>
              <a:t>寄存器中控制信号全置为</a:t>
            </a:r>
            <a:r>
              <a:rPr lang="en-US" altLang="zh-CN" dirty="0">
                <a:latin typeface="Times New Roman" panose="02020603050405020304" pitchFamily="18" charset="0"/>
                <a:cs typeface="Times New Roman" panose="02020603050405020304" pitchFamily="18" charset="0"/>
              </a:rPr>
              <a:t>0(</a:t>
            </a:r>
            <a:r>
              <a:rPr lang="en-US" altLang="zh-CN" sz="2800" dirty="0">
                <a:latin typeface="Times New Roman" panose="02020603050405020304" pitchFamily="18" charset="0"/>
                <a:cs typeface="Times New Roman" panose="02020603050405020304" pitchFamily="18" charset="0"/>
              </a:rPr>
              <a:t>RegWrite, MemWrite...</a:t>
            </a:r>
            <a:r>
              <a:rPr lang="en-US" altLang="zh-CN" dirty="0">
                <a:latin typeface="Times New Roman" panose="02020603050405020304" pitchFamily="18" charset="0"/>
                <a:cs typeface="Times New Roman" panose="02020603050405020304" pitchFamily="18" charset="0"/>
              </a:rPr>
              <a:t>)</a:t>
            </a:r>
            <a:endParaRPr lang="en-US" altLang="en-US" dirty="0">
              <a:latin typeface="Times New Roman" panose="02020603050405020304" pitchFamily="18" charset="0"/>
              <a:cs typeface="Times New Roman" panose="02020603050405020304" pitchFamily="18" charset="0"/>
            </a:endParaRPr>
          </a:p>
          <a:p>
            <a:pPr lvl="1" eaLnBrk="1" hangingPunct="1">
              <a:lnSpc>
                <a:spcPct val="110000"/>
              </a:lnSpc>
            </a:pPr>
            <a:r>
              <a:rPr lang="zh-CN" altLang="en-US" dirty="0">
                <a:latin typeface="Times New Roman" panose="02020603050405020304" pitchFamily="18" charset="0"/>
                <a:cs typeface="Times New Roman" panose="02020603050405020304" pitchFamily="18" charset="0"/>
              </a:rPr>
              <a:t>被停顿的指令在</a:t>
            </a:r>
            <a:r>
              <a:rPr lang="en-US" altLang="en-US" dirty="0">
                <a:latin typeface="Times New Roman" panose="02020603050405020304" pitchFamily="18" charset="0"/>
                <a:cs typeface="Times New Roman" panose="02020603050405020304" pitchFamily="18" charset="0"/>
              </a:rPr>
              <a:t>EX, MEM, WB </a:t>
            </a:r>
            <a:r>
              <a:rPr lang="zh-CN" altLang="en-US" dirty="0">
                <a:latin typeface="Times New Roman" panose="02020603050405020304" pitchFamily="18" charset="0"/>
                <a:cs typeface="Times New Roman" panose="02020603050405020304" pitchFamily="18" charset="0"/>
              </a:rPr>
              <a:t>阶段执行空指令</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nop</a:t>
            </a:r>
            <a:r>
              <a:rPr lang="en-US" altLang="en-US" dirty="0">
                <a:latin typeface="Times New Roman" panose="02020603050405020304" pitchFamily="18" charset="0"/>
                <a:cs typeface="Times New Roman" panose="02020603050405020304" pitchFamily="18" charset="0"/>
              </a:rPr>
              <a:t> </a:t>
            </a:r>
          </a:p>
          <a:p>
            <a:pPr lvl="1" eaLnBrk="1" hangingPunct="1">
              <a:lnSpc>
                <a:spcPct val="110000"/>
              </a:lnSpc>
            </a:pPr>
            <a:r>
              <a:rPr lang="zh-CN" altLang="en-US" dirty="0">
                <a:latin typeface="Times New Roman" panose="02020603050405020304" pitchFamily="18" charset="0"/>
                <a:cs typeface="Times New Roman" panose="02020603050405020304" pitchFamily="18" charset="0"/>
              </a:rPr>
              <a:t>在控制值均为</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时，不会有寄存器或者存储器被写入数据</a:t>
            </a:r>
            <a:endParaRPr lang="en-US" altLang="zh-CN" dirty="0">
              <a:latin typeface="Times New Roman" panose="02020603050405020304" pitchFamily="18" charset="0"/>
              <a:cs typeface="Times New Roman" panose="02020603050405020304" pitchFamily="18" charset="0"/>
            </a:endParaRPr>
          </a:p>
          <a:p>
            <a:pPr eaLnBrk="1" hangingPunct="1">
              <a:lnSpc>
                <a:spcPct val="110000"/>
              </a:lnSpc>
            </a:pPr>
            <a:r>
              <a:rPr lang="zh-CN" altLang="en-US" dirty="0">
                <a:latin typeface="Times New Roman" panose="02020603050405020304" pitchFamily="18" charset="0"/>
                <a:cs typeface="Times New Roman" panose="02020603050405020304" pitchFamily="18" charset="0"/>
              </a:rPr>
              <a:t>禁止</a:t>
            </a:r>
            <a:r>
              <a:rPr lang="en-US" altLang="zh-CN" dirty="0">
                <a:latin typeface="Times New Roman" panose="02020603050405020304" pitchFamily="18" charset="0"/>
                <a:cs typeface="Times New Roman" panose="02020603050405020304" pitchFamily="18" charset="0"/>
              </a:rPr>
              <a:t>PC</a:t>
            </a:r>
            <a:r>
              <a:rPr lang="zh-CN" altLang="en-US" dirty="0">
                <a:latin typeface="Times New Roman" panose="02020603050405020304" pitchFamily="18" charset="0"/>
                <a:cs typeface="Times New Roman" panose="02020603050405020304" pitchFamily="18" charset="0"/>
              </a:rPr>
              <a:t>寄存器和</a:t>
            </a:r>
            <a:r>
              <a:rPr lang="en-US" altLang="zh-CN" dirty="0">
                <a:latin typeface="Times New Roman" panose="02020603050405020304" pitchFamily="18" charset="0"/>
                <a:cs typeface="Times New Roman" panose="02020603050405020304" pitchFamily="18" charset="0"/>
              </a:rPr>
              <a:t>IF/ID</a:t>
            </a:r>
            <a:r>
              <a:rPr lang="zh-CN" altLang="en-US" dirty="0">
                <a:latin typeface="Times New Roman" panose="02020603050405020304" pitchFamily="18" charset="0"/>
                <a:cs typeface="Times New Roman" panose="02020603050405020304" pitchFamily="18" charset="0"/>
              </a:rPr>
              <a:t>寄存器内容发生改变</a:t>
            </a:r>
            <a:endParaRPr lang="en-US" altLang="zh-CN" dirty="0">
              <a:latin typeface="Times New Roman" panose="02020603050405020304" pitchFamily="18" charset="0"/>
              <a:cs typeface="Times New Roman" panose="02020603050405020304" pitchFamily="18" charset="0"/>
            </a:endParaRPr>
          </a:p>
          <a:p>
            <a:pPr lvl="1" eaLnBrk="1" hangingPunct="1">
              <a:lnSpc>
                <a:spcPct val="110000"/>
              </a:lnSpc>
            </a:pPr>
            <a:r>
              <a:rPr lang="en-US" altLang="zh-CN" dirty="0">
                <a:latin typeface="Times New Roman" panose="02020603050405020304" pitchFamily="18" charset="0"/>
                <a:cs typeface="Times New Roman" panose="02020603050405020304" pitchFamily="18" charset="0"/>
              </a:rPr>
              <a:t>ID</a:t>
            </a:r>
            <a:r>
              <a:rPr lang="zh-CN" altLang="en-US" dirty="0">
                <a:latin typeface="Times New Roman" panose="02020603050405020304" pitchFamily="18" charset="0"/>
                <a:cs typeface="Times New Roman" panose="02020603050405020304" pitchFamily="18" charset="0"/>
              </a:rPr>
              <a:t>阶段的寄存器会继续使用</a:t>
            </a:r>
            <a:r>
              <a:rPr lang="en-US" altLang="zh-CN" dirty="0">
                <a:latin typeface="Times New Roman" panose="02020603050405020304" pitchFamily="18" charset="0"/>
                <a:cs typeface="Times New Roman" panose="02020603050405020304" pitchFamily="18" charset="0"/>
              </a:rPr>
              <a:t>IF/ID</a:t>
            </a:r>
            <a:r>
              <a:rPr lang="zh-CN" altLang="en-US" dirty="0">
                <a:latin typeface="Times New Roman" panose="02020603050405020304" pitchFamily="18" charset="0"/>
                <a:cs typeface="Times New Roman" panose="02020603050405020304" pitchFamily="18" charset="0"/>
              </a:rPr>
              <a:t>寄存器中相同字段读寄存器</a:t>
            </a:r>
            <a:endParaRPr lang="en-US" altLang="zh-CN" dirty="0">
              <a:latin typeface="Times New Roman" panose="02020603050405020304" pitchFamily="18" charset="0"/>
              <a:cs typeface="Times New Roman" panose="02020603050405020304" pitchFamily="18" charset="0"/>
            </a:endParaRPr>
          </a:p>
          <a:p>
            <a:pPr lvl="1" eaLnBrk="1" hangingPunct="1">
              <a:lnSpc>
                <a:spcPct val="110000"/>
              </a:lnSpc>
            </a:pPr>
            <a:r>
              <a:rPr lang="zh-CN" altLang="en-US" dirty="0">
                <a:latin typeface="Times New Roman" panose="02020603050405020304" pitchFamily="18" charset="0"/>
                <a:cs typeface="Times New Roman" panose="02020603050405020304" pitchFamily="18" charset="0"/>
              </a:rPr>
              <a:t>下一条指令会重新取指</a:t>
            </a:r>
            <a:endParaRPr lang="en-US" altLang="zh-CN" dirty="0">
              <a:latin typeface="Times New Roman" panose="02020603050405020304" pitchFamily="18" charset="0"/>
              <a:cs typeface="Times New Roman" panose="02020603050405020304" pitchFamily="18" charset="0"/>
            </a:endParaRPr>
          </a:p>
          <a:p>
            <a:pPr lvl="1" eaLnBrk="1" hangingPunct="1">
              <a:lnSpc>
                <a:spcPct val="110000"/>
              </a:lnSpc>
            </a:pP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个时钟周期的停顿，能够让</a:t>
            </a:r>
            <a:r>
              <a:rPr lang="en-US" altLang="zh-CN" dirty="0" err="1">
                <a:latin typeface="Times New Roman" panose="02020603050405020304" pitchFamily="18" charset="0"/>
                <a:cs typeface="Times New Roman" panose="02020603050405020304" pitchFamily="18" charset="0"/>
              </a:rPr>
              <a:t>ld</a:t>
            </a:r>
            <a:r>
              <a:rPr lang="zh-CN" altLang="en-US" dirty="0">
                <a:latin typeface="Times New Roman" panose="02020603050405020304" pitchFamily="18" charset="0"/>
                <a:cs typeface="Times New Roman" panose="02020603050405020304" pitchFamily="18" charset="0"/>
              </a:rPr>
              <a:t>指令的</a:t>
            </a:r>
            <a:r>
              <a:rPr lang="en-US" altLang="zh-CN" dirty="0">
                <a:latin typeface="Times New Roman" panose="02020603050405020304" pitchFamily="18" charset="0"/>
                <a:cs typeface="Times New Roman" panose="02020603050405020304" pitchFamily="18" charset="0"/>
              </a:rPr>
              <a:t>MEM</a:t>
            </a:r>
            <a:r>
              <a:rPr lang="zh-CN" altLang="en-US" dirty="0">
                <a:latin typeface="Times New Roman" panose="02020603050405020304" pitchFamily="18" charset="0"/>
                <a:cs typeface="Times New Roman" panose="02020603050405020304" pitchFamily="18" charset="0"/>
              </a:rPr>
              <a:t>阶段完成</a:t>
            </a:r>
            <a:endParaRPr lang="en-US" altLang="zh-CN" dirty="0">
              <a:latin typeface="Times New Roman" panose="02020603050405020304" pitchFamily="18" charset="0"/>
              <a:cs typeface="Times New Roman" panose="02020603050405020304" pitchFamily="18" charset="0"/>
            </a:endParaRPr>
          </a:p>
          <a:p>
            <a:pPr lvl="2" eaLnBrk="1" hangingPunct="1">
              <a:lnSpc>
                <a:spcPct val="110000"/>
              </a:lnSpc>
            </a:pPr>
            <a:r>
              <a:rPr lang="zh-CN" altLang="en-US" dirty="0">
                <a:latin typeface="Times New Roman" panose="02020603050405020304" pitchFamily="18" charset="0"/>
                <a:cs typeface="Times New Roman" panose="02020603050405020304" pitchFamily="18" charset="0"/>
              </a:rPr>
              <a:t>就可以把取到的数据前递到</a:t>
            </a:r>
            <a:r>
              <a:rPr lang="en-US" altLang="zh-CN" dirty="0">
                <a:latin typeface="Times New Roman" panose="02020603050405020304" pitchFamily="18" charset="0"/>
                <a:cs typeface="Times New Roman" panose="02020603050405020304" pitchFamily="18" charset="0"/>
              </a:rPr>
              <a:t>EX</a:t>
            </a:r>
            <a:r>
              <a:rPr lang="zh-CN" altLang="en-US" dirty="0">
                <a:latin typeface="Times New Roman" panose="02020603050405020304" pitchFamily="18" charset="0"/>
                <a:cs typeface="Times New Roman" panose="02020603050405020304" pitchFamily="18" charset="0"/>
              </a:rPr>
              <a:t>阶段</a:t>
            </a:r>
            <a:endParaRPr lang="en-US" altLang="en-US" dirty="0">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8EE8E787-E6FE-45D8-9039-788B45E44EE7}" type="slidenum">
              <a:rPr lang="zh-CN" altLang="en-US" smtClean="0"/>
              <a:t>64</a:t>
            </a:fld>
            <a:endParaRPr lang="zh-CN" altLang="en-US" dirty="0"/>
          </a:p>
        </p:txBody>
      </p:sp>
      <p:sp>
        <p:nvSpPr>
          <p:cNvPr id="4" name="标题 3"/>
          <p:cNvSpPr>
            <a:spLocks noGrp="1"/>
          </p:cNvSpPr>
          <p:nvPr>
            <p:ph type="title"/>
          </p:nvPr>
        </p:nvSpPr>
        <p:spPr/>
        <p:txBody>
          <a:bodyPr/>
          <a:lstStyle/>
          <a:p>
            <a:r>
              <a:rPr lang="zh-CN" altLang="en-US" dirty="0"/>
              <a:t>如何停顿流水线</a:t>
            </a:r>
            <a:r>
              <a:rPr lang="en-US" altLang="zh-CN"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604">
                                            <p:txEl>
                                              <p:pRg st="1" end="1"/>
                                            </p:txEl>
                                          </p:spTgt>
                                        </p:tgtEl>
                                        <p:attrNameLst>
                                          <p:attrName>style.visibility</p:attrName>
                                        </p:attrNameLst>
                                      </p:cBhvr>
                                      <p:to>
                                        <p:strVal val="visible"/>
                                      </p:to>
                                    </p:set>
                                    <p:animEffect transition="in" filter="fade">
                                      <p:cBhvr>
                                        <p:cTn id="7" dur="500"/>
                                        <p:tgtEl>
                                          <p:spTgt spid="25604">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5604">
                                            <p:txEl>
                                              <p:pRg st="2" end="2"/>
                                            </p:txEl>
                                          </p:spTgt>
                                        </p:tgtEl>
                                        <p:attrNameLst>
                                          <p:attrName>style.visibility</p:attrName>
                                        </p:attrNameLst>
                                      </p:cBhvr>
                                      <p:to>
                                        <p:strVal val="visible"/>
                                      </p:to>
                                    </p:set>
                                    <p:animEffect transition="in" filter="fade">
                                      <p:cBhvr>
                                        <p:cTn id="10" dur="500"/>
                                        <p:tgtEl>
                                          <p:spTgt spid="25604">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5604">
                                            <p:txEl>
                                              <p:pRg st="3" end="3"/>
                                            </p:txEl>
                                          </p:spTgt>
                                        </p:tgtEl>
                                        <p:attrNameLst>
                                          <p:attrName>style.visibility</p:attrName>
                                        </p:attrNameLst>
                                      </p:cBhvr>
                                      <p:to>
                                        <p:strVal val="visible"/>
                                      </p:to>
                                    </p:set>
                                    <p:animEffect transition="in" filter="fade">
                                      <p:cBhvr>
                                        <p:cTn id="13" dur="500"/>
                                        <p:tgtEl>
                                          <p:spTgt spid="25604">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5604">
                                            <p:txEl>
                                              <p:pRg st="4" end="4"/>
                                            </p:txEl>
                                          </p:spTgt>
                                        </p:tgtEl>
                                        <p:attrNameLst>
                                          <p:attrName>style.visibility</p:attrName>
                                        </p:attrNameLst>
                                      </p:cBhvr>
                                      <p:to>
                                        <p:strVal val="visible"/>
                                      </p:to>
                                    </p:set>
                                    <p:animEffect transition="in" filter="fade">
                                      <p:cBhvr>
                                        <p:cTn id="18" dur="500"/>
                                        <p:tgtEl>
                                          <p:spTgt spid="25604">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25604">
                                            <p:txEl>
                                              <p:pRg st="5" end="5"/>
                                            </p:txEl>
                                          </p:spTgt>
                                        </p:tgtEl>
                                        <p:attrNameLst>
                                          <p:attrName>style.visibility</p:attrName>
                                        </p:attrNameLst>
                                      </p:cBhvr>
                                      <p:to>
                                        <p:strVal val="visible"/>
                                      </p:to>
                                    </p:set>
                                    <p:animEffect transition="in" filter="fade">
                                      <p:cBhvr>
                                        <p:cTn id="21" dur="500"/>
                                        <p:tgtEl>
                                          <p:spTgt spid="25604">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5604">
                                            <p:txEl>
                                              <p:pRg st="6" end="6"/>
                                            </p:txEl>
                                          </p:spTgt>
                                        </p:tgtEl>
                                        <p:attrNameLst>
                                          <p:attrName>style.visibility</p:attrName>
                                        </p:attrNameLst>
                                      </p:cBhvr>
                                      <p:to>
                                        <p:strVal val="visible"/>
                                      </p:to>
                                    </p:set>
                                    <p:animEffect transition="in" filter="fade">
                                      <p:cBhvr>
                                        <p:cTn id="26" dur="500"/>
                                        <p:tgtEl>
                                          <p:spTgt spid="25604">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5604">
                                            <p:txEl>
                                              <p:pRg st="7" end="7"/>
                                            </p:txEl>
                                          </p:spTgt>
                                        </p:tgtEl>
                                        <p:attrNameLst>
                                          <p:attrName>style.visibility</p:attrName>
                                        </p:attrNameLst>
                                      </p:cBhvr>
                                      <p:to>
                                        <p:strVal val="visible"/>
                                      </p:to>
                                    </p:set>
                                    <p:animEffect transition="in" filter="fade">
                                      <p:cBhvr>
                                        <p:cTn id="31" dur="500"/>
                                        <p:tgtEl>
                                          <p:spTgt spid="25604">
                                            <p:txEl>
                                              <p:pRg st="7" end="7"/>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25604">
                                            <p:txEl>
                                              <p:pRg st="8" end="8"/>
                                            </p:txEl>
                                          </p:spTgt>
                                        </p:tgtEl>
                                        <p:attrNameLst>
                                          <p:attrName>style.visibility</p:attrName>
                                        </p:attrNameLst>
                                      </p:cBhvr>
                                      <p:to>
                                        <p:strVal val="visible"/>
                                      </p:to>
                                    </p:set>
                                    <p:animEffect transition="in" filter="fade">
                                      <p:cBhvr>
                                        <p:cTn id="34" dur="500"/>
                                        <p:tgtEl>
                                          <p:spTgt spid="2560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 name="文本框 490"/>
          <p:cNvSpPr txBox="1"/>
          <p:nvPr/>
        </p:nvSpPr>
        <p:spPr>
          <a:xfrm>
            <a:off x="3920648" y="36741"/>
            <a:ext cx="1251889" cy="1015663"/>
          </a:xfrm>
          <a:prstGeom prst="rect">
            <a:avLst/>
          </a:prstGeom>
          <a:noFill/>
          <a:ln>
            <a:noFill/>
          </a:ln>
        </p:spPr>
        <p:txBody>
          <a:bodyPr wrap="square" rtlCol="0">
            <a:spAutoFit/>
          </a:bodyPr>
          <a:lstStyle/>
          <a:p>
            <a:pPr algn="ctr" fontAlgn="base">
              <a:spcBef>
                <a:spcPct val="0"/>
              </a:spcBef>
              <a:spcAft>
                <a:spcPct val="0"/>
              </a:spcAft>
              <a:defRPr/>
            </a:pPr>
            <a:r>
              <a:rPr lang="en-US" altLang="zh-CN"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Hazard detection</a:t>
            </a:r>
            <a:r>
              <a:rPr lang="zh-CN" altLang="en-US"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unit</a:t>
            </a:r>
            <a:endParaRPr lang="zh-CN" altLang="en-US"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矩形 7"/>
          <p:cNvSpPr/>
          <p:nvPr/>
        </p:nvSpPr>
        <p:spPr bwMode="auto">
          <a:xfrm>
            <a:off x="238497" y="3589706"/>
            <a:ext cx="778651" cy="980110"/>
          </a:xfrm>
          <a:prstGeom prst="rect">
            <a:avLst/>
          </a:pr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r>
              <a:rPr lang="en-US" altLang="zh-CN"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PC</a:t>
            </a:r>
            <a:endParaRPr lang="zh-CN" altLang="en-US" sz="2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 name="矩形 11"/>
          <p:cNvSpPr/>
          <p:nvPr/>
        </p:nvSpPr>
        <p:spPr bwMode="auto">
          <a:xfrm>
            <a:off x="1364757" y="2971256"/>
            <a:ext cx="1262478" cy="2206036"/>
          </a:xfrm>
          <a:prstGeom prst="rect">
            <a:avLst/>
          </a:pr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46" name="直接箭头连接符 45"/>
          <p:cNvCxnSpPr/>
          <p:nvPr/>
        </p:nvCxnSpPr>
        <p:spPr bwMode="auto">
          <a:xfrm>
            <a:off x="8821609" y="3599653"/>
            <a:ext cx="532874" cy="0"/>
          </a:xfrm>
          <a:prstGeom prst="straightConnector1">
            <a:avLst/>
          </a:prstGeom>
          <a:noFill/>
          <a:ln w="25400" cap="flat" cmpd="sng" algn="ctr">
            <a:solidFill>
              <a:schemeClr val="tx1"/>
            </a:solidFill>
            <a:prstDash val="solid"/>
            <a:round/>
            <a:headEnd type="none" w="med" len="me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 name="直接连接符 77"/>
          <p:cNvCxnSpPr>
            <a:stCxn id="12" idx="3"/>
          </p:cNvCxnSpPr>
          <p:nvPr/>
        </p:nvCxnSpPr>
        <p:spPr bwMode="auto">
          <a:xfrm>
            <a:off x="2627235" y="4074274"/>
            <a:ext cx="357957" cy="5487"/>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直接箭头连接符 88"/>
          <p:cNvCxnSpPr>
            <a:stCxn id="8" idx="3"/>
            <a:endCxn id="12" idx="1"/>
          </p:cNvCxnSpPr>
          <p:nvPr/>
        </p:nvCxnSpPr>
        <p:spPr bwMode="auto">
          <a:xfrm flipV="1">
            <a:off x="1017148" y="4074274"/>
            <a:ext cx="347609" cy="5487"/>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直接连接符 92"/>
          <p:cNvCxnSpPr>
            <a:stCxn id="174" idx="3"/>
          </p:cNvCxnSpPr>
          <p:nvPr/>
        </p:nvCxnSpPr>
        <p:spPr bwMode="auto">
          <a:xfrm>
            <a:off x="10898238" y="1961643"/>
            <a:ext cx="338691" cy="0"/>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4" name="矩形 93"/>
          <p:cNvSpPr/>
          <p:nvPr/>
        </p:nvSpPr>
        <p:spPr bwMode="auto">
          <a:xfrm>
            <a:off x="2977240" y="2026661"/>
            <a:ext cx="367699" cy="3889364"/>
          </a:xfrm>
          <a:prstGeom prst="rect">
            <a:avLst/>
          </a:pr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49" name="直接箭头连接符 148"/>
          <p:cNvCxnSpPr>
            <a:endCxn id="8" idx="0"/>
          </p:cNvCxnSpPr>
          <p:nvPr/>
        </p:nvCxnSpPr>
        <p:spPr bwMode="auto">
          <a:xfrm flipH="1">
            <a:off x="627823" y="240354"/>
            <a:ext cx="3877" cy="3349352"/>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0" name="矩形 149"/>
          <p:cNvSpPr/>
          <p:nvPr/>
        </p:nvSpPr>
        <p:spPr>
          <a:xfrm>
            <a:off x="104579" y="1530224"/>
            <a:ext cx="492443" cy="1129860"/>
          </a:xfrm>
          <a:prstGeom prst="rect">
            <a:avLst/>
          </a:prstGeom>
          <a:ln w="25400">
            <a:noFill/>
          </a:ln>
        </p:spPr>
        <p:txBody>
          <a:bodyPr vert="vert270" wrap="none">
            <a:spAutoFit/>
          </a:bodyPr>
          <a:lstStyle/>
          <a:p>
            <a:pPr lvl="0" algn="ctr">
              <a:defRPr/>
            </a:pPr>
            <a:r>
              <a:rPr lang="en-US" altLang="zh-CN" sz="2000" b="1" dirty="0">
                <a:solidFill>
                  <a:srgbClr val="00B0F0"/>
                </a:solidFill>
                <a:latin typeface="Times New Roman" panose="02020603050405020304" pitchFamily="18" charset="0"/>
                <a:cs typeface="Times New Roman" panose="02020603050405020304" pitchFamily="18" charset="0"/>
              </a:rPr>
              <a:t>PC Write</a:t>
            </a:r>
          </a:p>
        </p:txBody>
      </p:sp>
      <p:cxnSp>
        <p:nvCxnSpPr>
          <p:cNvPr id="157" name="直接连接符 156"/>
          <p:cNvCxnSpPr>
            <a:stCxn id="137" idx="3"/>
          </p:cNvCxnSpPr>
          <p:nvPr/>
        </p:nvCxnSpPr>
        <p:spPr bwMode="auto">
          <a:xfrm>
            <a:off x="8821610" y="1641121"/>
            <a:ext cx="1149003" cy="11737"/>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0" name="直接连接符 159"/>
          <p:cNvCxnSpPr/>
          <p:nvPr/>
        </p:nvCxnSpPr>
        <p:spPr bwMode="auto">
          <a:xfrm flipV="1">
            <a:off x="7774508" y="6010185"/>
            <a:ext cx="1132104" cy="7696"/>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1" name="直接连接符 130"/>
          <p:cNvCxnSpPr/>
          <p:nvPr/>
        </p:nvCxnSpPr>
        <p:spPr bwMode="auto">
          <a:xfrm>
            <a:off x="3647729" y="1675482"/>
            <a:ext cx="251054" cy="1"/>
          </a:xfrm>
          <a:prstGeom prst="line">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 name="ID/EX"/>
          <p:cNvGrpSpPr/>
          <p:nvPr/>
        </p:nvGrpSpPr>
        <p:grpSpPr>
          <a:xfrm>
            <a:off x="5656349" y="1266347"/>
            <a:ext cx="484428" cy="4668464"/>
            <a:chOff x="5779067" y="1552097"/>
            <a:chExt cx="366686" cy="4668464"/>
          </a:xfrm>
          <a:noFill/>
        </p:grpSpPr>
        <p:sp>
          <p:nvSpPr>
            <p:cNvPr id="117" name="矩形 116"/>
            <p:cNvSpPr/>
            <p:nvPr/>
          </p:nvSpPr>
          <p:spPr bwMode="auto">
            <a:xfrm>
              <a:off x="5836845" y="2331197"/>
              <a:ext cx="242375" cy="3889364"/>
            </a:xfrm>
            <a:prstGeom prst="rect">
              <a:avLst/>
            </a:prstGeom>
            <a:grp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4" name="矩形 123"/>
            <p:cNvSpPr/>
            <p:nvPr/>
          </p:nvSpPr>
          <p:spPr bwMode="auto">
            <a:xfrm>
              <a:off x="5852554" y="1567561"/>
              <a:ext cx="230004" cy="257612"/>
            </a:xfrm>
            <a:prstGeom prst="rect">
              <a:avLst/>
            </a:prstGeom>
            <a:grp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6" name="矩形 125"/>
            <p:cNvSpPr/>
            <p:nvPr/>
          </p:nvSpPr>
          <p:spPr bwMode="auto">
            <a:xfrm>
              <a:off x="5844874" y="1818595"/>
              <a:ext cx="230004" cy="257612"/>
            </a:xfrm>
            <a:prstGeom prst="rect">
              <a:avLst/>
            </a:prstGeom>
            <a:grp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8" name="矩形 127"/>
            <p:cNvSpPr/>
            <p:nvPr/>
          </p:nvSpPr>
          <p:spPr bwMode="auto">
            <a:xfrm>
              <a:off x="5844874" y="2078819"/>
              <a:ext cx="230004" cy="257612"/>
            </a:xfrm>
            <a:prstGeom prst="rect">
              <a:avLst/>
            </a:prstGeom>
            <a:grp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5" name="矩形 124"/>
            <p:cNvSpPr/>
            <p:nvPr/>
          </p:nvSpPr>
          <p:spPr>
            <a:xfrm>
              <a:off x="5789851" y="2058261"/>
              <a:ext cx="354551" cy="338554"/>
            </a:xfrm>
            <a:prstGeom prst="rect">
              <a:avLst/>
            </a:prstGeom>
            <a:grpFill/>
            <a:ln w="25400">
              <a:noFill/>
            </a:ln>
          </p:spPr>
          <p:txBody>
            <a:bodyPr wrap="none">
              <a:spAutoFit/>
            </a:bodyPr>
            <a:lstStyle/>
            <a:p>
              <a:pPr algn="ctr" fontAlgn="base">
                <a:spcBef>
                  <a:spcPct val="0"/>
                </a:spcBef>
                <a:spcAft>
                  <a:spcPct val="0"/>
                </a:spcAft>
              </a:pP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EX</a:t>
              </a:r>
              <a:endParaRPr lang="zh-CN" altLang="en-US"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7" name="矩形 126"/>
            <p:cNvSpPr/>
            <p:nvPr/>
          </p:nvSpPr>
          <p:spPr>
            <a:xfrm>
              <a:off x="5816855" y="1801453"/>
              <a:ext cx="286602" cy="338554"/>
            </a:xfrm>
            <a:prstGeom prst="rect">
              <a:avLst/>
            </a:prstGeom>
            <a:grpFill/>
            <a:ln w="25400">
              <a:noFill/>
            </a:ln>
          </p:spPr>
          <p:txBody>
            <a:bodyPr wrap="none">
              <a:spAutoFit/>
            </a:bodyPr>
            <a:lstStyle/>
            <a:p>
              <a:pPr algn="ctr" fontAlgn="base">
                <a:spcBef>
                  <a:spcPct val="0"/>
                </a:spcBef>
                <a:spcAft>
                  <a:spcPct val="0"/>
                </a:spcAft>
              </a:pP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M</a:t>
              </a:r>
              <a:endParaRPr lang="zh-CN" altLang="en-US"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9" name="矩形 128"/>
            <p:cNvSpPr/>
            <p:nvPr/>
          </p:nvSpPr>
          <p:spPr>
            <a:xfrm>
              <a:off x="5779067" y="1552097"/>
              <a:ext cx="366686" cy="307777"/>
            </a:xfrm>
            <a:prstGeom prst="rect">
              <a:avLst/>
            </a:prstGeom>
            <a:grpFill/>
            <a:ln w="25400">
              <a:noFill/>
            </a:ln>
          </p:spPr>
          <p:txBody>
            <a:bodyPr wrap="none">
              <a:spAutoFit/>
            </a:bodyPr>
            <a:lstStyle/>
            <a:p>
              <a:pPr algn="ctr" fontAlgn="base">
                <a:spcBef>
                  <a:spcPct val="0"/>
                </a:spcBef>
                <a:spcAft>
                  <a:spcPct val="0"/>
                </a:spcAft>
              </a:pPr>
              <a:r>
                <a:rPr lang="en-US" altLang="zh-CN" sz="14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WB</a:t>
              </a:r>
              <a:endParaRPr lang="zh-CN" altLang="en-US" sz="14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p:txBody>
        </p:sp>
      </p:grpSp>
      <p:cxnSp>
        <p:nvCxnSpPr>
          <p:cNvPr id="132" name="直接箭头连接符 131"/>
          <p:cNvCxnSpPr>
            <a:endCxn id="124" idx="1"/>
          </p:cNvCxnSpPr>
          <p:nvPr/>
        </p:nvCxnSpPr>
        <p:spPr bwMode="auto">
          <a:xfrm>
            <a:off x="5576802" y="1408787"/>
            <a:ext cx="176633" cy="1830"/>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 name="直接箭头连接符 132"/>
          <p:cNvCxnSpPr/>
          <p:nvPr/>
        </p:nvCxnSpPr>
        <p:spPr bwMode="auto">
          <a:xfrm flipV="1">
            <a:off x="5259469" y="1661651"/>
            <a:ext cx="493345" cy="2233"/>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4" name="直接箭头连接符 133"/>
          <p:cNvCxnSpPr>
            <a:endCxn id="128" idx="1"/>
          </p:cNvCxnSpPr>
          <p:nvPr/>
        </p:nvCxnSpPr>
        <p:spPr bwMode="auto">
          <a:xfrm>
            <a:off x="5574929" y="1921875"/>
            <a:ext cx="168360" cy="0"/>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5" name="EX/MEM"/>
          <p:cNvGrpSpPr/>
          <p:nvPr/>
        </p:nvGrpSpPr>
        <p:grpSpPr>
          <a:xfrm>
            <a:off x="8428450" y="1511420"/>
            <a:ext cx="509100" cy="4409865"/>
            <a:chOff x="8156406" y="1810696"/>
            <a:chExt cx="509100" cy="4409865"/>
          </a:xfrm>
          <a:noFill/>
        </p:grpSpPr>
        <p:sp>
          <p:nvSpPr>
            <p:cNvPr id="118" name="矩形 117"/>
            <p:cNvSpPr/>
            <p:nvPr/>
          </p:nvSpPr>
          <p:spPr bwMode="auto">
            <a:xfrm>
              <a:off x="8261568" y="2331197"/>
              <a:ext cx="288323" cy="3889364"/>
            </a:xfrm>
            <a:prstGeom prst="rect">
              <a:avLst/>
            </a:prstGeom>
            <a:grp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7" name="矩形 136"/>
            <p:cNvSpPr/>
            <p:nvPr/>
          </p:nvSpPr>
          <p:spPr bwMode="auto">
            <a:xfrm>
              <a:off x="8261566" y="1811591"/>
              <a:ext cx="288000" cy="257612"/>
            </a:xfrm>
            <a:prstGeom prst="rect">
              <a:avLst/>
            </a:prstGeom>
            <a:grp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9" name="矩形 138"/>
            <p:cNvSpPr/>
            <p:nvPr/>
          </p:nvSpPr>
          <p:spPr bwMode="auto">
            <a:xfrm>
              <a:off x="8261565" y="2062290"/>
              <a:ext cx="288000" cy="257612"/>
            </a:xfrm>
            <a:prstGeom prst="rect">
              <a:avLst/>
            </a:prstGeom>
            <a:grp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8" name="矩形 137"/>
            <p:cNvSpPr/>
            <p:nvPr/>
          </p:nvSpPr>
          <p:spPr>
            <a:xfrm>
              <a:off x="8156406" y="2067123"/>
              <a:ext cx="429926" cy="338554"/>
            </a:xfrm>
            <a:prstGeom prst="rect">
              <a:avLst/>
            </a:prstGeom>
            <a:grpFill/>
            <a:ln w="25400">
              <a:noFill/>
            </a:ln>
          </p:spPr>
          <p:txBody>
            <a:bodyPr wrap="none">
              <a:spAutoFit/>
            </a:bodyPr>
            <a:lstStyle/>
            <a:p>
              <a:pPr algn="ctr" fontAlgn="base">
                <a:spcBef>
                  <a:spcPct val="0"/>
                </a:spcBef>
                <a:spcAft>
                  <a:spcPct val="0"/>
                </a:spcAft>
              </a:pP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M</a:t>
              </a:r>
              <a:endParaRPr lang="zh-CN" altLang="en-US"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0" name="矩形 139"/>
            <p:cNvSpPr/>
            <p:nvPr/>
          </p:nvSpPr>
          <p:spPr>
            <a:xfrm>
              <a:off x="8175406" y="1810696"/>
              <a:ext cx="490100" cy="307777"/>
            </a:xfrm>
            <a:prstGeom prst="rect">
              <a:avLst/>
            </a:prstGeom>
            <a:grpFill/>
            <a:ln w="25400">
              <a:noFill/>
            </a:ln>
          </p:spPr>
          <p:txBody>
            <a:bodyPr wrap="square" lIns="0" rIns="0">
              <a:spAutoFit/>
            </a:bodyPr>
            <a:lstStyle/>
            <a:p>
              <a:pPr algn="ctr" fontAlgn="base">
                <a:spcBef>
                  <a:spcPct val="0"/>
                </a:spcBef>
                <a:spcAft>
                  <a:spcPct val="0"/>
                </a:spcAft>
              </a:pPr>
              <a:r>
                <a:rPr lang="en-US" altLang="zh-CN" sz="14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WB</a:t>
              </a:r>
            </a:p>
          </p:txBody>
        </p:sp>
      </p:grpSp>
      <p:cxnSp>
        <p:nvCxnSpPr>
          <p:cNvPr id="151" name="直接连接符 150"/>
          <p:cNvCxnSpPr/>
          <p:nvPr/>
        </p:nvCxnSpPr>
        <p:spPr bwMode="auto">
          <a:xfrm>
            <a:off x="6093553" y="1711680"/>
            <a:ext cx="1832145" cy="0"/>
          </a:xfrm>
          <a:prstGeom prst="line">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2" name="直接连接符 151"/>
          <p:cNvCxnSpPr/>
          <p:nvPr/>
        </p:nvCxnSpPr>
        <p:spPr bwMode="auto">
          <a:xfrm>
            <a:off x="6084870" y="1404572"/>
            <a:ext cx="1968723" cy="0"/>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接连接符 152"/>
          <p:cNvCxnSpPr/>
          <p:nvPr/>
        </p:nvCxnSpPr>
        <p:spPr bwMode="auto">
          <a:xfrm flipV="1">
            <a:off x="7925697" y="1704852"/>
            <a:ext cx="0" cy="186968"/>
          </a:xfrm>
          <a:prstGeom prst="line">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接箭头连接符 153"/>
          <p:cNvCxnSpPr>
            <a:endCxn id="139" idx="1"/>
          </p:cNvCxnSpPr>
          <p:nvPr/>
        </p:nvCxnSpPr>
        <p:spPr bwMode="auto">
          <a:xfrm flipV="1">
            <a:off x="7928941" y="1891820"/>
            <a:ext cx="604668" cy="4098"/>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5" name="直接连接符 154"/>
          <p:cNvCxnSpPr/>
          <p:nvPr/>
        </p:nvCxnSpPr>
        <p:spPr bwMode="auto">
          <a:xfrm flipV="1">
            <a:off x="8053592" y="1394952"/>
            <a:ext cx="0" cy="257271"/>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6" name="直接箭头连接符 155"/>
          <p:cNvCxnSpPr>
            <a:endCxn id="137" idx="1"/>
          </p:cNvCxnSpPr>
          <p:nvPr/>
        </p:nvCxnSpPr>
        <p:spPr bwMode="auto">
          <a:xfrm>
            <a:off x="8053593" y="1639281"/>
            <a:ext cx="480017" cy="1840"/>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 name="直接连接符 157"/>
          <p:cNvCxnSpPr/>
          <p:nvPr/>
        </p:nvCxnSpPr>
        <p:spPr bwMode="auto">
          <a:xfrm flipV="1">
            <a:off x="9960585" y="1648848"/>
            <a:ext cx="0" cy="300487"/>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9" name="直接箭头连接符 158"/>
          <p:cNvCxnSpPr>
            <a:endCxn id="174" idx="1"/>
          </p:cNvCxnSpPr>
          <p:nvPr/>
        </p:nvCxnSpPr>
        <p:spPr bwMode="auto">
          <a:xfrm>
            <a:off x="9970613" y="1961643"/>
            <a:ext cx="588934" cy="0"/>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6" name="MEM/WB"/>
          <p:cNvGrpSpPr/>
          <p:nvPr/>
        </p:nvGrpSpPr>
        <p:grpSpPr>
          <a:xfrm>
            <a:off x="10559547" y="1801239"/>
            <a:ext cx="338691" cy="4149516"/>
            <a:chOff x="10086980" y="2065140"/>
            <a:chExt cx="338691" cy="4149516"/>
          </a:xfrm>
          <a:noFill/>
        </p:grpSpPr>
        <p:sp>
          <p:nvSpPr>
            <p:cNvPr id="172" name="矩形 171"/>
            <p:cNvSpPr/>
            <p:nvPr/>
          </p:nvSpPr>
          <p:spPr bwMode="auto">
            <a:xfrm>
              <a:off x="10115366" y="2325292"/>
              <a:ext cx="288000" cy="3889364"/>
            </a:xfrm>
            <a:prstGeom prst="rect">
              <a:avLst/>
            </a:prstGeom>
            <a:grp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3" name="矩形 172"/>
            <p:cNvSpPr/>
            <p:nvPr/>
          </p:nvSpPr>
          <p:spPr bwMode="auto">
            <a:xfrm>
              <a:off x="10115366" y="2065140"/>
              <a:ext cx="288000" cy="257612"/>
            </a:xfrm>
            <a:prstGeom prst="rect">
              <a:avLst/>
            </a:prstGeom>
            <a:grp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 name="矩形 173"/>
            <p:cNvSpPr/>
            <p:nvPr/>
          </p:nvSpPr>
          <p:spPr>
            <a:xfrm>
              <a:off x="10086980" y="2071655"/>
              <a:ext cx="338691" cy="307777"/>
            </a:xfrm>
            <a:prstGeom prst="rect">
              <a:avLst/>
            </a:prstGeom>
            <a:grpFill/>
            <a:ln w="25400">
              <a:noFill/>
            </a:ln>
          </p:spPr>
          <p:txBody>
            <a:bodyPr wrap="square" lIns="0" rIns="0">
              <a:spAutoFit/>
            </a:bodyPr>
            <a:lstStyle/>
            <a:p>
              <a:pPr algn="ctr" fontAlgn="base">
                <a:spcBef>
                  <a:spcPct val="0"/>
                </a:spcBef>
                <a:spcAft>
                  <a:spcPct val="0"/>
                </a:spcAft>
              </a:pPr>
              <a:r>
                <a:rPr lang="en-US" altLang="zh-CN" sz="14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WB</a:t>
              </a:r>
            </a:p>
          </p:txBody>
        </p:sp>
      </p:grpSp>
      <p:cxnSp>
        <p:nvCxnSpPr>
          <p:cNvPr id="184" name="直接箭头连接符 183"/>
          <p:cNvCxnSpPr>
            <a:endCxn id="303" idx="2"/>
          </p:cNvCxnSpPr>
          <p:nvPr/>
        </p:nvCxnSpPr>
        <p:spPr bwMode="auto">
          <a:xfrm flipV="1">
            <a:off x="4694752" y="1660187"/>
            <a:ext cx="207401" cy="3"/>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6" name="直接箭头连接符 185"/>
          <p:cNvCxnSpPr/>
          <p:nvPr/>
        </p:nvCxnSpPr>
        <p:spPr bwMode="auto">
          <a:xfrm>
            <a:off x="4720515" y="1975240"/>
            <a:ext cx="186033" cy="6444"/>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7" name="矩形 186"/>
          <p:cNvSpPr/>
          <p:nvPr/>
        </p:nvSpPr>
        <p:spPr>
          <a:xfrm>
            <a:off x="4488051" y="1838092"/>
            <a:ext cx="302842" cy="400110"/>
          </a:xfrm>
          <a:prstGeom prst="rect">
            <a:avLst/>
          </a:prstGeom>
          <a:noFill/>
          <a:ln w="25400">
            <a:noFill/>
          </a:ln>
        </p:spPr>
        <p:txBody>
          <a:bodyPr wrap="square">
            <a:spAutoFit/>
          </a:bodyPr>
          <a:lstStyle/>
          <a:p>
            <a:pPr lvl="0" algn="ctr">
              <a:defRPr/>
            </a:pPr>
            <a:r>
              <a:rPr lang="en-US" altLang="zh-CN" sz="2000" b="1" dirty="0">
                <a:solidFill>
                  <a:srgbClr val="00B0F0"/>
                </a:solidFill>
                <a:latin typeface="Times New Roman" panose="02020603050405020304" pitchFamily="18" charset="0"/>
                <a:cs typeface="Times New Roman" panose="02020603050405020304" pitchFamily="18" charset="0"/>
              </a:rPr>
              <a:t>0</a:t>
            </a:r>
            <a:endParaRPr lang="zh-CN" altLang="en-US" sz="2800" b="1" dirty="0">
              <a:solidFill>
                <a:srgbClr val="00B0F0"/>
              </a:solidFill>
              <a:latin typeface="Times New Roman" panose="02020603050405020304" pitchFamily="18" charset="0"/>
              <a:cs typeface="Times New Roman" panose="02020603050405020304" pitchFamily="18" charset="0"/>
            </a:endParaRPr>
          </a:p>
        </p:txBody>
      </p:sp>
      <p:cxnSp>
        <p:nvCxnSpPr>
          <p:cNvPr id="194" name="直接连接符 193"/>
          <p:cNvCxnSpPr/>
          <p:nvPr/>
        </p:nvCxnSpPr>
        <p:spPr bwMode="auto">
          <a:xfrm flipV="1">
            <a:off x="5567276" y="1395867"/>
            <a:ext cx="0" cy="526008"/>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1" name="直接连接符 200"/>
          <p:cNvCxnSpPr/>
          <p:nvPr/>
        </p:nvCxnSpPr>
        <p:spPr bwMode="auto">
          <a:xfrm flipH="1">
            <a:off x="3631631" y="516974"/>
            <a:ext cx="16098" cy="5272321"/>
          </a:xfrm>
          <a:prstGeom prst="line">
            <a:avLst/>
          </a:prstGeom>
          <a:noFill/>
          <a:ln w="25400"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3" name="矩形 202"/>
          <p:cNvSpPr/>
          <p:nvPr/>
        </p:nvSpPr>
        <p:spPr>
          <a:xfrm>
            <a:off x="3293312" y="2820730"/>
            <a:ext cx="430887" cy="1074973"/>
          </a:xfrm>
          <a:prstGeom prst="rect">
            <a:avLst/>
          </a:prstGeom>
          <a:ln w="25400">
            <a:noFill/>
          </a:ln>
        </p:spPr>
        <p:txBody>
          <a:bodyPr vert="vert270" wrap="none">
            <a:spAutoFit/>
          </a:bodyPr>
          <a:lstStyle/>
          <a:p>
            <a:pPr lvl="0" algn="ctr">
              <a:defRPr/>
            </a:pPr>
            <a:r>
              <a:rPr lang="en-US" altLang="zh-CN" sz="1600" b="1" dirty="0">
                <a:solidFill>
                  <a:prstClr val="black"/>
                </a:solidFill>
                <a:latin typeface="Times New Roman" panose="02020603050405020304" pitchFamily="18" charset="0"/>
                <a:cs typeface="Times New Roman" panose="02020603050405020304" pitchFamily="18" charset="0"/>
              </a:rPr>
              <a:t>Instruction</a:t>
            </a:r>
            <a:endParaRPr lang="zh-CN" altLang="en-US" sz="1600" b="1" dirty="0">
              <a:solidFill>
                <a:prstClr val="black"/>
              </a:solidFill>
              <a:latin typeface="Times New Roman" panose="02020603050405020304" pitchFamily="18" charset="0"/>
              <a:cs typeface="Times New Roman" panose="02020603050405020304" pitchFamily="18" charset="0"/>
            </a:endParaRPr>
          </a:p>
        </p:txBody>
      </p:sp>
      <p:cxnSp>
        <p:nvCxnSpPr>
          <p:cNvPr id="209" name="直接连接符 208"/>
          <p:cNvCxnSpPr/>
          <p:nvPr/>
        </p:nvCxnSpPr>
        <p:spPr bwMode="auto">
          <a:xfrm flipV="1">
            <a:off x="3335811" y="4074517"/>
            <a:ext cx="311918" cy="14955"/>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5" name="直接箭头连接符 214"/>
          <p:cNvCxnSpPr/>
          <p:nvPr/>
        </p:nvCxnSpPr>
        <p:spPr bwMode="auto">
          <a:xfrm>
            <a:off x="3656613" y="516974"/>
            <a:ext cx="286476"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6" name="直接连接符 215"/>
          <p:cNvCxnSpPr/>
          <p:nvPr/>
        </p:nvCxnSpPr>
        <p:spPr bwMode="auto">
          <a:xfrm>
            <a:off x="3180038" y="388833"/>
            <a:ext cx="740611" cy="0"/>
          </a:xfrm>
          <a:prstGeom prst="line">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9" name="直接箭头连接符 218"/>
          <p:cNvCxnSpPr>
            <a:endCxn id="94" idx="0"/>
          </p:cNvCxnSpPr>
          <p:nvPr/>
        </p:nvCxnSpPr>
        <p:spPr bwMode="auto">
          <a:xfrm flipH="1">
            <a:off x="3161090" y="388833"/>
            <a:ext cx="18948" cy="1637828"/>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矩形 220"/>
          <p:cNvSpPr/>
          <p:nvPr/>
        </p:nvSpPr>
        <p:spPr>
          <a:xfrm>
            <a:off x="2737672" y="280971"/>
            <a:ext cx="492443" cy="1399166"/>
          </a:xfrm>
          <a:prstGeom prst="rect">
            <a:avLst/>
          </a:prstGeom>
          <a:ln w="25400">
            <a:noFill/>
          </a:ln>
        </p:spPr>
        <p:txBody>
          <a:bodyPr vert="vert270" wrap="none">
            <a:spAutoFit/>
          </a:bodyPr>
          <a:lstStyle/>
          <a:p>
            <a:pPr lvl="0" algn="ctr">
              <a:defRPr/>
            </a:pPr>
            <a:r>
              <a:rPr lang="en-US" altLang="zh-CN" sz="2000" b="1" dirty="0">
                <a:solidFill>
                  <a:srgbClr val="00B0F0"/>
                </a:solidFill>
                <a:latin typeface="Times New Roman" panose="02020603050405020304" pitchFamily="18" charset="0"/>
                <a:cs typeface="Times New Roman" panose="02020603050405020304" pitchFamily="18" charset="0"/>
              </a:rPr>
              <a:t>IF/ID Write</a:t>
            </a:r>
          </a:p>
        </p:txBody>
      </p:sp>
      <p:cxnSp>
        <p:nvCxnSpPr>
          <p:cNvPr id="235" name="直接连接符 234"/>
          <p:cNvCxnSpPr/>
          <p:nvPr/>
        </p:nvCxnSpPr>
        <p:spPr bwMode="auto">
          <a:xfrm flipV="1">
            <a:off x="4107359" y="6696355"/>
            <a:ext cx="5889683" cy="14785"/>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9" name="直接连接符 278"/>
          <p:cNvCxnSpPr/>
          <p:nvPr/>
        </p:nvCxnSpPr>
        <p:spPr bwMode="auto">
          <a:xfrm flipV="1">
            <a:off x="4243274" y="6534423"/>
            <a:ext cx="7882902" cy="11505"/>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2" name="直接连接符 291"/>
          <p:cNvCxnSpPr/>
          <p:nvPr/>
        </p:nvCxnSpPr>
        <p:spPr bwMode="auto">
          <a:xfrm>
            <a:off x="10310520" y="3568286"/>
            <a:ext cx="277414"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9" name="直接连接符 298"/>
          <p:cNvCxnSpPr/>
          <p:nvPr/>
        </p:nvCxnSpPr>
        <p:spPr bwMode="auto">
          <a:xfrm>
            <a:off x="7343536" y="6181557"/>
            <a:ext cx="3680877"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2" name="直接连接符 331"/>
          <p:cNvCxnSpPr/>
          <p:nvPr/>
        </p:nvCxnSpPr>
        <p:spPr bwMode="auto">
          <a:xfrm flipV="1">
            <a:off x="6486758" y="244817"/>
            <a:ext cx="0" cy="1466863"/>
          </a:xfrm>
          <a:prstGeom prst="line">
            <a:avLst/>
          </a:prstGeom>
          <a:noFill/>
          <a:ln w="25400" cap="flat" cmpd="sng" algn="ctr">
            <a:solidFill>
              <a:srgbClr val="00B0F0"/>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4" name="直接连接符 333"/>
          <p:cNvCxnSpPr/>
          <p:nvPr/>
        </p:nvCxnSpPr>
        <p:spPr bwMode="auto">
          <a:xfrm>
            <a:off x="5111002" y="244817"/>
            <a:ext cx="1371530" cy="0"/>
          </a:xfrm>
          <a:prstGeom prst="line">
            <a:avLst/>
          </a:prstGeom>
          <a:noFill/>
          <a:ln w="25400" cap="flat" cmpd="sng" algn="ctr">
            <a:solidFill>
              <a:srgbClr val="00B0F0"/>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3" name="直接连接符 342"/>
          <p:cNvCxnSpPr>
            <a:stCxn id="303" idx="1"/>
          </p:cNvCxnSpPr>
          <p:nvPr/>
        </p:nvCxnSpPr>
        <p:spPr bwMode="auto">
          <a:xfrm flipV="1">
            <a:off x="5098552" y="886667"/>
            <a:ext cx="0" cy="360134"/>
          </a:xfrm>
          <a:prstGeom prst="line">
            <a:avLst/>
          </a:prstGeom>
          <a:noFill/>
          <a:ln w="25400" cap="flat" cmpd="sng" algn="ctr">
            <a:solidFill>
              <a:srgbClr val="00B0F0"/>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7" name="矩形 346"/>
          <p:cNvSpPr/>
          <p:nvPr/>
        </p:nvSpPr>
        <p:spPr>
          <a:xfrm>
            <a:off x="6478644" y="167935"/>
            <a:ext cx="2085196" cy="400110"/>
          </a:xfrm>
          <a:prstGeom prst="rect">
            <a:avLst/>
          </a:prstGeom>
          <a:ln w="25400">
            <a:noFill/>
          </a:ln>
        </p:spPr>
        <p:txBody>
          <a:bodyPr wrap="square">
            <a:spAutoFit/>
          </a:bodyPr>
          <a:lstStyle/>
          <a:p>
            <a:pPr lvl="0" algn="ctr">
              <a:defRPr/>
            </a:pPr>
            <a:r>
              <a:rPr lang="en-US" altLang="zh-CN" sz="2000" b="1" dirty="0">
                <a:solidFill>
                  <a:srgbClr val="00B0F0"/>
                </a:solidFill>
                <a:latin typeface="Times New Roman" panose="02020603050405020304" pitchFamily="18" charset="0"/>
                <a:cs typeface="Times New Roman" panose="02020603050405020304" pitchFamily="18" charset="0"/>
              </a:rPr>
              <a:t>ID/</a:t>
            </a:r>
            <a:r>
              <a:rPr lang="en-US" altLang="zh-CN" sz="2000" b="1" dirty="0" err="1">
                <a:solidFill>
                  <a:srgbClr val="00B0F0"/>
                </a:solidFill>
                <a:latin typeface="Times New Roman" panose="02020603050405020304" pitchFamily="18" charset="0"/>
                <a:cs typeface="Times New Roman" panose="02020603050405020304" pitchFamily="18" charset="0"/>
              </a:rPr>
              <a:t>EX.MemRead</a:t>
            </a:r>
            <a:endParaRPr lang="zh-CN" altLang="en-US" sz="2000" b="1" dirty="0">
              <a:solidFill>
                <a:srgbClr val="00B0F0"/>
              </a:solidFill>
              <a:latin typeface="Times New Roman" panose="02020603050405020304" pitchFamily="18" charset="0"/>
              <a:cs typeface="Times New Roman" panose="02020603050405020304" pitchFamily="18" charset="0"/>
            </a:endParaRPr>
          </a:p>
        </p:txBody>
      </p:sp>
      <p:cxnSp>
        <p:nvCxnSpPr>
          <p:cNvPr id="352" name="直接箭头连接符 351"/>
          <p:cNvCxnSpPr/>
          <p:nvPr/>
        </p:nvCxnSpPr>
        <p:spPr bwMode="auto">
          <a:xfrm>
            <a:off x="3647729" y="5789295"/>
            <a:ext cx="2081935" cy="814"/>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矩形 32"/>
          <p:cNvSpPr/>
          <p:nvPr/>
        </p:nvSpPr>
        <p:spPr bwMode="auto">
          <a:xfrm>
            <a:off x="4553876" y="2809054"/>
            <a:ext cx="1014369" cy="1255607"/>
          </a:xfrm>
          <a:prstGeom prst="rect">
            <a:avLst/>
          </a:prstGeom>
          <a:noFill/>
          <a:ln w="25400">
            <a:solidFill>
              <a:schemeClr val="tx1"/>
            </a:solidFill>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algn="ctr" fontAlgn="base">
              <a:spcBef>
                <a:spcPct val="0"/>
              </a:spcBef>
              <a:spcAft>
                <a:spcPct val="0"/>
              </a:spcAft>
            </a:pPr>
            <a:endParaRPr lang="zh-CN" altLang="en-US" sz="1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26" name="直接连接符 225"/>
          <p:cNvCxnSpPr/>
          <p:nvPr/>
        </p:nvCxnSpPr>
        <p:spPr bwMode="auto">
          <a:xfrm flipV="1">
            <a:off x="4253357" y="3847821"/>
            <a:ext cx="0" cy="2698107"/>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8" name="直接箭头连接符 227"/>
          <p:cNvCxnSpPr/>
          <p:nvPr/>
        </p:nvCxnSpPr>
        <p:spPr bwMode="auto">
          <a:xfrm flipV="1">
            <a:off x="4243274" y="3828006"/>
            <a:ext cx="323716" cy="7912"/>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7" name="直接连接符 236"/>
          <p:cNvCxnSpPr/>
          <p:nvPr/>
        </p:nvCxnSpPr>
        <p:spPr bwMode="auto">
          <a:xfrm flipV="1">
            <a:off x="4107359" y="3493579"/>
            <a:ext cx="0" cy="320872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9" name="直接箭头连接符 238"/>
          <p:cNvCxnSpPr/>
          <p:nvPr/>
        </p:nvCxnSpPr>
        <p:spPr bwMode="auto">
          <a:xfrm>
            <a:off x="4107359" y="3494989"/>
            <a:ext cx="459630"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3" name="直接箭头连接符 242"/>
          <p:cNvCxnSpPr/>
          <p:nvPr/>
        </p:nvCxnSpPr>
        <p:spPr bwMode="auto">
          <a:xfrm>
            <a:off x="3647729" y="3225058"/>
            <a:ext cx="919261"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9" name="直接连接符 248"/>
          <p:cNvCxnSpPr/>
          <p:nvPr/>
        </p:nvCxnSpPr>
        <p:spPr bwMode="auto">
          <a:xfrm>
            <a:off x="3943090" y="3236088"/>
            <a:ext cx="0" cy="2237881"/>
          </a:xfrm>
          <a:prstGeom prst="line">
            <a:avLst/>
          </a:prstGeom>
          <a:noFill/>
          <a:ln w="25400" cap="flat" cmpd="sng" algn="ctr">
            <a:solidFill>
              <a:schemeClr val="tx1"/>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1" name="直接连接符 250"/>
          <p:cNvCxnSpPr/>
          <p:nvPr/>
        </p:nvCxnSpPr>
        <p:spPr bwMode="auto">
          <a:xfrm>
            <a:off x="3785393" y="2980894"/>
            <a:ext cx="0" cy="2190479"/>
          </a:xfrm>
          <a:prstGeom prst="line">
            <a:avLst/>
          </a:prstGeom>
          <a:noFill/>
          <a:ln w="25400" cap="flat" cmpd="sng" algn="ctr">
            <a:solidFill>
              <a:schemeClr val="tx1"/>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4" name="直接箭头连接符 253"/>
          <p:cNvCxnSpPr/>
          <p:nvPr/>
        </p:nvCxnSpPr>
        <p:spPr bwMode="auto">
          <a:xfrm>
            <a:off x="3792640" y="5171373"/>
            <a:ext cx="1946255"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 name="直接箭头连接符 255"/>
          <p:cNvCxnSpPr/>
          <p:nvPr/>
        </p:nvCxnSpPr>
        <p:spPr bwMode="auto">
          <a:xfrm>
            <a:off x="3936322" y="5473969"/>
            <a:ext cx="1793342"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4" name="矩形 353"/>
          <p:cNvSpPr/>
          <p:nvPr/>
        </p:nvSpPr>
        <p:spPr>
          <a:xfrm>
            <a:off x="4191439" y="4902395"/>
            <a:ext cx="1588898" cy="307777"/>
          </a:xfrm>
          <a:prstGeom prst="rect">
            <a:avLst/>
          </a:prstGeom>
          <a:ln w="25400">
            <a:noFill/>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0" algn="ctr">
              <a:defRPr/>
            </a:pPr>
            <a:r>
              <a:rPr lang="en-US" altLang="zh-CN" sz="1400" b="1" dirty="0">
                <a:solidFill>
                  <a:prstClr val="black"/>
                </a:solidFill>
                <a:latin typeface="Times New Roman" panose="02020603050405020304" pitchFamily="18" charset="0"/>
                <a:cs typeface="Times New Roman" panose="02020603050405020304" pitchFamily="18" charset="0"/>
              </a:rPr>
              <a:t>IF/ID.RegisterRs1</a:t>
            </a:r>
            <a:endParaRPr lang="zh-CN" altLang="en-US" sz="1400" b="1" dirty="0">
              <a:solidFill>
                <a:prstClr val="black"/>
              </a:solidFill>
              <a:latin typeface="Times New Roman" panose="02020603050405020304" pitchFamily="18" charset="0"/>
              <a:cs typeface="Times New Roman" panose="02020603050405020304" pitchFamily="18" charset="0"/>
            </a:endParaRPr>
          </a:p>
        </p:txBody>
      </p:sp>
      <p:cxnSp>
        <p:nvCxnSpPr>
          <p:cNvPr id="262" name="直接箭头连接符 261"/>
          <p:cNvCxnSpPr/>
          <p:nvPr/>
        </p:nvCxnSpPr>
        <p:spPr bwMode="auto">
          <a:xfrm>
            <a:off x="5567276" y="2971256"/>
            <a:ext cx="164372"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5" name="直接箭头连接符 264"/>
          <p:cNvCxnSpPr/>
          <p:nvPr/>
        </p:nvCxnSpPr>
        <p:spPr bwMode="auto">
          <a:xfrm>
            <a:off x="5574929" y="3872963"/>
            <a:ext cx="156719"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6" name="直接箭头连接符 245"/>
          <p:cNvCxnSpPr/>
          <p:nvPr/>
        </p:nvCxnSpPr>
        <p:spPr bwMode="auto">
          <a:xfrm>
            <a:off x="3647729" y="2980894"/>
            <a:ext cx="919261"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 name="直接箭头连接符 357"/>
          <p:cNvCxnSpPr/>
          <p:nvPr/>
        </p:nvCxnSpPr>
        <p:spPr bwMode="auto">
          <a:xfrm>
            <a:off x="6072778" y="5173735"/>
            <a:ext cx="965219" cy="12997"/>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9" name="直接箭头连接符 358"/>
          <p:cNvCxnSpPr/>
          <p:nvPr/>
        </p:nvCxnSpPr>
        <p:spPr bwMode="auto">
          <a:xfrm>
            <a:off x="6062632" y="5413204"/>
            <a:ext cx="965540" cy="6555"/>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3" name="直接箭头连接符 372"/>
          <p:cNvCxnSpPr/>
          <p:nvPr/>
        </p:nvCxnSpPr>
        <p:spPr bwMode="auto">
          <a:xfrm flipV="1">
            <a:off x="6067716" y="5712090"/>
            <a:ext cx="2456204" cy="13353"/>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6" name="直接箭头连接符 375"/>
          <p:cNvCxnSpPr/>
          <p:nvPr/>
        </p:nvCxnSpPr>
        <p:spPr bwMode="auto">
          <a:xfrm flipV="1">
            <a:off x="8799578" y="5714898"/>
            <a:ext cx="1788354" cy="4924"/>
          </a:xfrm>
          <a:prstGeom prst="straightConnector1">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9" name="直接箭头连接符 378"/>
          <p:cNvCxnSpPr/>
          <p:nvPr/>
        </p:nvCxnSpPr>
        <p:spPr bwMode="auto">
          <a:xfrm>
            <a:off x="8906612" y="1643895"/>
            <a:ext cx="0" cy="4366290"/>
          </a:xfrm>
          <a:prstGeom prst="straightConnector1">
            <a:avLst/>
          </a:prstGeom>
          <a:noFill/>
          <a:ln w="25400" cap="flat" cmpd="sng" algn="ctr">
            <a:solidFill>
              <a:srgbClr val="00B0F0"/>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6" name="直接箭头连接符 385"/>
          <p:cNvCxnSpPr/>
          <p:nvPr/>
        </p:nvCxnSpPr>
        <p:spPr bwMode="auto">
          <a:xfrm flipH="1" flipV="1">
            <a:off x="7776918" y="5587744"/>
            <a:ext cx="4602" cy="443386"/>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3" name="直接连接符 392"/>
          <p:cNvCxnSpPr/>
          <p:nvPr/>
        </p:nvCxnSpPr>
        <p:spPr bwMode="auto">
          <a:xfrm>
            <a:off x="7584684" y="6082545"/>
            <a:ext cx="1425514" cy="4948"/>
          </a:xfrm>
          <a:prstGeom prst="line">
            <a:avLst/>
          </a:prstGeom>
          <a:noFill/>
          <a:ln w="25400"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7" name="直接箭头连接符 396"/>
          <p:cNvCxnSpPr/>
          <p:nvPr/>
        </p:nvCxnSpPr>
        <p:spPr bwMode="auto">
          <a:xfrm>
            <a:off x="11226900" y="1949335"/>
            <a:ext cx="0" cy="4355132"/>
          </a:xfrm>
          <a:prstGeom prst="straightConnector1">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9" name="直接连接符 398"/>
          <p:cNvCxnSpPr/>
          <p:nvPr/>
        </p:nvCxnSpPr>
        <p:spPr bwMode="auto">
          <a:xfrm>
            <a:off x="7181611" y="6272970"/>
            <a:ext cx="4045289" cy="0"/>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1" name="直接箭头连接符 400"/>
          <p:cNvCxnSpPr/>
          <p:nvPr/>
        </p:nvCxnSpPr>
        <p:spPr bwMode="auto">
          <a:xfrm flipV="1">
            <a:off x="7181611" y="5562129"/>
            <a:ext cx="0" cy="710841"/>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6" name="直接连接符 405"/>
          <p:cNvCxnSpPr/>
          <p:nvPr/>
        </p:nvCxnSpPr>
        <p:spPr bwMode="auto">
          <a:xfrm>
            <a:off x="10875933" y="5724244"/>
            <a:ext cx="144724"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1" name="直接连接符 410"/>
          <p:cNvCxnSpPr/>
          <p:nvPr/>
        </p:nvCxnSpPr>
        <p:spPr bwMode="auto">
          <a:xfrm flipV="1">
            <a:off x="6400492" y="6429204"/>
            <a:ext cx="2764211" cy="6521"/>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1" name="直接箭头连接符 390"/>
          <p:cNvCxnSpPr/>
          <p:nvPr/>
        </p:nvCxnSpPr>
        <p:spPr bwMode="auto">
          <a:xfrm>
            <a:off x="9010198" y="5724244"/>
            <a:ext cx="0" cy="363249"/>
          </a:xfrm>
          <a:prstGeom prst="straightConnector1">
            <a:avLst/>
          </a:prstGeom>
          <a:noFill/>
          <a:ln w="25400" cap="flat" cmpd="sng" algn="ctr">
            <a:solidFill>
              <a:schemeClr val="tx1"/>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5" name="直接箭头连接符 394"/>
          <p:cNvCxnSpPr/>
          <p:nvPr/>
        </p:nvCxnSpPr>
        <p:spPr bwMode="auto">
          <a:xfrm flipV="1">
            <a:off x="7584684" y="5582577"/>
            <a:ext cx="0" cy="499968"/>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8" name="直接箭头连接符 407"/>
          <p:cNvCxnSpPr/>
          <p:nvPr/>
        </p:nvCxnSpPr>
        <p:spPr bwMode="auto">
          <a:xfrm>
            <a:off x="11006889" y="5706020"/>
            <a:ext cx="0" cy="475536"/>
          </a:xfrm>
          <a:prstGeom prst="straightConnector1">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4" name="直接箭头连接符 413"/>
          <p:cNvCxnSpPr/>
          <p:nvPr/>
        </p:nvCxnSpPr>
        <p:spPr bwMode="auto">
          <a:xfrm flipH="1" flipV="1">
            <a:off x="7327001" y="5561297"/>
            <a:ext cx="6480" cy="612297"/>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0" name="连接符: 肘形 419"/>
          <p:cNvCxnSpPr>
            <a:endCxn id="312" idx="3"/>
          </p:cNvCxnSpPr>
          <p:nvPr/>
        </p:nvCxnSpPr>
        <p:spPr bwMode="auto">
          <a:xfrm rot="10800000">
            <a:off x="7068734" y="3492234"/>
            <a:ext cx="308842" cy="112393"/>
          </a:xfrm>
          <a:prstGeom prst="bentConnector2">
            <a:avLst/>
          </a:prstGeom>
          <a:solidFill>
            <a:schemeClr val="accent1"/>
          </a:solid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矩形 39"/>
          <p:cNvSpPr/>
          <p:nvPr/>
        </p:nvSpPr>
        <p:spPr bwMode="auto">
          <a:xfrm>
            <a:off x="9354483" y="3468018"/>
            <a:ext cx="945156" cy="1543299"/>
          </a:xfrm>
          <a:prstGeom prst="rect">
            <a:avLst/>
          </a:pr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algn="ctr" fontAlgn="base">
              <a:spcBef>
                <a:spcPct val="0"/>
              </a:spcBef>
              <a:spcAft>
                <a:spcPct val="0"/>
              </a:spcAft>
            </a:pPr>
            <a:endParaRPr lang="zh-CN" altLang="en-US" sz="20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437" name="直接箭头连接符 436"/>
          <p:cNvCxnSpPr/>
          <p:nvPr/>
        </p:nvCxnSpPr>
        <p:spPr bwMode="auto">
          <a:xfrm>
            <a:off x="8815539" y="4583765"/>
            <a:ext cx="531954"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梯形 43"/>
          <p:cNvSpPr/>
          <p:nvPr/>
        </p:nvSpPr>
        <p:spPr bwMode="auto">
          <a:xfrm rot="5400000">
            <a:off x="7285754" y="3406468"/>
            <a:ext cx="1631130" cy="385592"/>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algn="ctr" fontAlgn="base">
              <a:lnSpc>
                <a:spcPts val="1800"/>
              </a:lnSpc>
              <a:spcBef>
                <a:spcPct val="0"/>
              </a:spcBef>
              <a:spcAft>
                <a:spcPct val="0"/>
              </a:spcAft>
            </a:pPr>
            <a:r>
              <a:rPr lang="en-US" altLang="zh-CN"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rgbClr val="FF0000"/>
                </a:solidFill>
                <a:latin typeface="Times New Roman" panose="02020603050405020304" pitchFamily="18" charset="0"/>
                <a:cs typeface="Times New Roman" panose="02020603050405020304" pitchFamily="18" charset="0"/>
              </a:rPr>
              <a:t>A</a:t>
            </a:r>
          </a:p>
          <a:p>
            <a:pPr algn="ctr" fontAlgn="base">
              <a:lnSpc>
                <a:spcPts val="1800"/>
              </a:lnSpc>
              <a:spcBef>
                <a:spcPct val="0"/>
              </a:spcBef>
              <a:spcAft>
                <a:spcPct val="0"/>
              </a:spcAft>
            </a:pPr>
            <a:r>
              <a:rPr lang="en-US" altLang="zh-CN" sz="2000" b="1" dirty="0">
                <a:solidFill>
                  <a:srgbClr val="FF0000"/>
                </a:solidFill>
                <a:latin typeface="Times New Roman" panose="02020603050405020304" pitchFamily="18" charset="0"/>
                <a:cs typeface="Times New Roman" panose="02020603050405020304" pitchFamily="18" charset="0"/>
              </a:rPr>
              <a:t>L</a:t>
            </a:r>
          </a:p>
          <a:p>
            <a:pPr algn="ctr" fontAlgn="base">
              <a:lnSpc>
                <a:spcPts val="1800"/>
              </a:lnSpc>
              <a:spcBef>
                <a:spcPct val="0"/>
              </a:spcBef>
              <a:spcAft>
                <a:spcPct val="0"/>
              </a:spcAft>
            </a:pPr>
            <a:r>
              <a:rPr lang="en-US" altLang="zh-CN" sz="2000" b="1" dirty="0">
                <a:solidFill>
                  <a:srgbClr val="FF0000"/>
                </a:solidFill>
                <a:latin typeface="Times New Roman" panose="02020603050405020304" pitchFamily="18" charset="0"/>
                <a:cs typeface="Times New Roman" panose="02020603050405020304" pitchFamily="18" charset="0"/>
              </a:rPr>
              <a:t>U</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cxnSp>
        <p:nvCxnSpPr>
          <p:cNvPr id="270" name="直接箭头连接符 269"/>
          <p:cNvCxnSpPr/>
          <p:nvPr/>
        </p:nvCxnSpPr>
        <p:spPr bwMode="auto">
          <a:xfrm flipV="1">
            <a:off x="6217319" y="2983561"/>
            <a:ext cx="674385" cy="14987"/>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2" name="直接箭头连接符 271"/>
          <p:cNvCxnSpPr/>
          <p:nvPr/>
        </p:nvCxnSpPr>
        <p:spPr bwMode="auto">
          <a:xfrm>
            <a:off x="6067716" y="3885921"/>
            <a:ext cx="837953"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1" name="直接连接符 280"/>
          <p:cNvCxnSpPr/>
          <p:nvPr/>
        </p:nvCxnSpPr>
        <p:spPr bwMode="auto">
          <a:xfrm>
            <a:off x="6517641" y="3121978"/>
            <a:ext cx="19710" cy="3412445"/>
          </a:xfrm>
          <a:prstGeom prst="line">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3" name="直接箭头连接符 282"/>
          <p:cNvCxnSpPr>
            <a:endCxn id="312" idx="2"/>
          </p:cNvCxnSpPr>
          <p:nvPr/>
        </p:nvCxnSpPr>
        <p:spPr bwMode="auto">
          <a:xfrm>
            <a:off x="6526494" y="3121978"/>
            <a:ext cx="367023" cy="2"/>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5" name="直接箭头连接符 284"/>
          <p:cNvCxnSpPr/>
          <p:nvPr/>
        </p:nvCxnSpPr>
        <p:spPr bwMode="auto">
          <a:xfrm>
            <a:off x="6526494" y="4054174"/>
            <a:ext cx="391171" cy="0"/>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3" name="直接箭头连接符 292"/>
          <p:cNvCxnSpPr/>
          <p:nvPr/>
        </p:nvCxnSpPr>
        <p:spPr bwMode="auto">
          <a:xfrm>
            <a:off x="7660549" y="4583764"/>
            <a:ext cx="856634" cy="2"/>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 name="直接连接符 301"/>
          <p:cNvCxnSpPr/>
          <p:nvPr/>
        </p:nvCxnSpPr>
        <p:spPr bwMode="auto">
          <a:xfrm>
            <a:off x="6400492" y="3274868"/>
            <a:ext cx="0" cy="3160857"/>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4" name="直接箭头连接符 303"/>
          <p:cNvCxnSpPr/>
          <p:nvPr/>
        </p:nvCxnSpPr>
        <p:spPr bwMode="auto">
          <a:xfrm flipV="1">
            <a:off x="6400492" y="3266008"/>
            <a:ext cx="491212" cy="886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 name="直接箭头连接符 306"/>
          <p:cNvCxnSpPr/>
          <p:nvPr/>
        </p:nvCxnSpPr>
        <p:spPr bwMode="auto">
          <a:xfrm>
            <a:off x="6526494" y="4335664"/>
            <a:ext cx="387019" cy="0"/>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5" name="直接箭头连接符 314"/>
          <p:cNvCxnSpPr/>
          <p:nvPr/>
        </p:nvCxnSpPr>
        <p:spPr bwMode="auto">
          <a:xfrm flipV="1">
            <a:off x="7143834" y="3121978"/>
            <a:ext cx="764689" cy="2"/>
          </a:xfrm>
          <a:prstGeom prst="straightConnector1">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8" name="直接箭头连接符 317"/>
          <p:cNvCxnSpPr>
            <a:stCxn id="321" idx="0"/>
          </p:cNvCxnSpPr>
          <p:nvPr/>
        </p:nvCxnSpPr>
        <p:spPr bwMode="auto">
          <a:xfrm flipV="1">
            <a:off x="7267711" y="4053076"/>
            <a:ext cx="620761" cy="1096"/>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9" name="直接箭头连接符 318"/>
          <p:cNvCxnSpPr/>
          <p:nvPr/>
        </p:nvCxnSpPr>
        <p:spPr bwMode="auto">
          <a:xfrm flipV="1">
            <a:off x="8300815" y="3599653"/>
            <a:ext cx="245367" cy="3406"/>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8" name="直接连接符 197"/>
          <p:cNvCxnSpPr/>
          <p:nvPr/>
        </p:nvCxnSpPr>
        <p:spPr bwMode="auto">
          <a:xfrm flipV="1">
            <a:off x="7652827" y="4053074"/>
            <a:ext cx="4111" cy="543114"/>
          </a:xfrm>
          <a:prstGeom prst="line">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4" name="直接箭头连接符 213"/>
          <p:cNvCxnSpPr/>
          <p:nvPr/>
        </p:nvCxnSpPr>
        <p:spPr bwMode="auto">
          <a:xfrm>
            <a:off x="9141847" y="3599653"/>
            <a:ext cx="0" cy="2829551"/>
          </a:xfrm>
          <a:prstGeom prst="straightConnector1">
            <a:avLst/>
          </a:prstGeom>
          <a:noFill/>
          <a:ln w="25400" cap="flat" cmpd="sng" algn="ctr">
            <a:solidFill>
              <a:schemeClr val="tx1"/>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7" name="直接连接符 216"/>
          <p:cNvCxnSpPr/>
          <p:nvPr/>
        </p:nvCxnSpPr>
        <p:spPr bwMode="auto">
          <a:xfrm>
            <a:off x="9141847" y="5235833"/>
            <a:ext cx="1423593" cy="17024"/>
          </a:xfrm>
          <a:prstGeom prst="line">
            <a:avLst/>
          </a:prstGeom>
          <a:noFill/>
          <a:ln w="25400" cap="flat" cmpd="sng" algn="ctr">
            <a:solidFill>
              <a:schemeClr val="tx1"/>
            </a:solidFill>
            <a:prstDash val="solid"/>
            <a:round/>
            <a:headEnd type="oval"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8" name="直接连接符 217"/>
          <p:cNvCxnSpPr/>
          <p:nvPr/>
        </p:nvCxnSpPr>
        <p:spPr bwMode="auto">
          <a:xfrm>
            <a:off x="10875933" y="3604299"/>
            <a:ext cx="566081"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0" name="直接连接符 219"/>
          <p:cNvCxnSpPr/>
          <p:nvPr/>
        </p:nvCxnSpPr>
        <p:spPr bwMode="auto">
          <a:xfrm>
            <a:off x="11064975" y="4090528"/>
            <a:ext cx="377222"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3" name="直接箭头连接符 222"/>
          <p:cNvCxnSpPr/>
          <p:nvPr/>
        </p:nvCxnSpPr>
        <p:spPr bwMode="auto">
          <a:xfrm>
            <a:off x="11064975" y="4081242"/>
            <a:ext cx="0" cy="1219669"/>
          </a:xfrm>
          <a:prstGeom prst="straightConnector1">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4" name="直接连接符 223"/>
          <p:cNvCxnSpPr/>
          <p:nvPr/>
        </p:nvCxnSpPr>
        <p:spPr bwMode="auto">
          <a:xfrm flipV="1">
            <a:off x="10868743" y="5287955"/>
            <a:ext cx="196232" cy="1"/>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9" name="直接连接符 228"/>
          <p:cNvCxnSpPr>
            <a:stCxn id="328" idx="3"/>
          </p:cNvCxnSpPr>
          <p:nvPr/>
        </p:nvCxnSpPr>
        <p:spPr bwMode="auto">
          <a:xfrm>
            <a:off x="11827820" y="3798084"/>
            <a:ext cx="298356" cy="2"/>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1" name="直接箭头连接符 230"/>
          <p:cNvCxnSpPr/>
          <p:nvPr/>
        </p:nvCxnSpPr>
        <p:spPr bwMode="auto">
          <a:xfrm>
            <a:off x="12126176" y="3789948"/>
            <a:ext cx="0" cy="2739309"/>
          </a:xfrm>
          <a:prstGeom prst="straightConnector1">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3" name="直接箭头连接符 262"/>
          <p:cNvCxnSpPr/>
          <p:nvPr/>
        </p:nvCxnSpPr>
        <p:spPr bwMode="auto">
          <a:xfrm>
            <a:off x="9997042" y="6174426"/>
            <a:ext cx="0" cy="521517"/>
          </a:xfrm>
          <a:prstGeom prst="straightConnector1">
            <a:avLst/>
          </a:prstGeom>
          <a:noFill/>
          <a:ln w="25400" cap="flat" cmpd="sng" algn="ctr">
            <a:solidFill>
              <a:schemeClr val="tx1"/>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接连接符 111"/>
          <p:cNvCxnSpPr/>
          <p:nvPr/>
        </p:nvCxnSpPr>
        <p:spPr>
          <a:xfrm>
            <a:off x="7383472" y="3578157"/>
            <a:ext cx="20943" cy="1432135"/>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7" name="直接连接符 266"/>
          <p:cNvCxnSpPr/>
          <p:nvPr/>
        </p:nvCxnSpPr>
        <p:spPr>
          <a:xfrm>
            <a:off x="7263959" y="4569816"/>
            <a:ext cx="2356" cy="440476"/>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 name="直接连接符 296"/>
          <p:cNvCxnSpPr/>
          <p:nvPr/>
        </p:nvCxnSpPr>
        <p:spPr bwMode="auto">
          <a:xfrm>
            <a:off x="6240016" y="409917"/>
            <a:ext cx="0" cy="5314327"/>
          </a:xfrm>
          <a:prstGeom prst="line">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0" name="直接连接符 299"/>
          <p:cNvCxnSpPr/>
          <p:nvPr/>
        </p:nvCxnSpPr>
        <p:spPr bwMode="auto">
          <a:xfrm>
            <a:off x="5111002" y="409917"/>
            <a:ext cx="1129014" cy="0"/>
          </a:xfrm>
          <a:prstGeom prst="line">
            <a:avLst/>
          </a:prstGeom>
          <a:noFill/>
          <a:ln w="25400" cap="flat" cmpd="sng" algn="ctr">
            <a:solidFill>
              <a:schemeClr val="tx1"/>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01" name="Mux 3"/>
          <p:cNvGrpSpPr/>
          <p:nvPr/>
        </p:nvGrpSpPr>
        <p:grpSpPr>
          <a:xfrm>
            <a:off x="4833972" y="1246801"/>
            <a:ext cx="516263" cy="826772"/>
            <a:chOff x="3511364" y="5448299"/>
            <a:chExt cx="906218" cy="1230515"/>
          </a:xfrm>
        </p:grpSpPr>
        <p:sp>
          <p:nvSpPr>
            <p:cNvPr id="303" name="mux"/>
            <p:cNvSpPr/>
            <p:nvPr/>
          </p:nvSpPr>
          <p:spPr>
            <a:xfrm rot="5400000">
              <a:off x="3360534" y="5718809"/>
              <a:ext cx="1230515" cy="689495"/>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310" name="文本框 309"/>
            <p:cNvSpPr txBox="1"/>
            <p:nvPr/>
          </p:nvSpPr>
          <p:spPr>
            <a:xfrm>
              <a:off x="3511364" y="5487242"/>
              <a:ext cx="906218" cy="1171622"/>
            </a:xfrm>
            <a:prstGeom prst="rect">
              <a:avLst/>
            </a:prstGeom>
            <a:noFill/>
            <a:ln w="25400">
              <a:noFill/>
            </a:ln>
          </p:spPr>
          <p:txBody>
            <a:bodyPr wrap="none" rtlCol="0">
              <a:spAutoFit/>
            </a:bodyPr>
            <a:lstStyle/>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grpSp>
        <p:nvGrpSpPr>
          <p:cNvPr id="311" name="Mux 3"/>
          <p:cNvGrpSpPr/>
          <p:nvPr/>
        </p:nvGrpSpPr>
        <p:grpSpPr>
          <a:xfrm>
            <a:off x="6780049" y="2751726"/>
            <a:ext cx="557786" cy="803809"/>
            <a:chOff x="3407792" y="5448299"/>
            <a:chExt cx="1097465" cy="1335706"/>
          </a:xfrm>
        </p:grpSpPr>
        <p:sp>
          <p:nvSpPr>
            <p:cNvPr id="312" name="mux"/>
            <p:cNvSpPr/>
            <p:nvPr/>
          </p:nvSpPr>
          <p:spPr>
            <a:xfrm rot="5400000">
              <a:off x="3360534" y="5718809"/>
              <a:ext cx="1230515" cy="689495"/>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314" name="文本框 313"/>
            <p:cNvSpPr txBox="1"/>
            <p:nvPr/>
          </p:nvSpPr>
          <p:spPr>
            <a:xfrm>
              <a:off x="3407792" y="5475894"/>
              <a:ext cx="1097465" cy="1308111"/>
            </a:xfrm>
            <a:prstGeom prst="rect">
              <a:avLst/>
            </a:prstGeom>
            <a:noFill/>
            <a:ln w="25400">
              <a:noFill/>
            </a:ln>
          </p:spPr>
          <p:txBody>
            <a:bodyPr wrap="none" rtlCol="0">
              <a:spAutoFit/>
            </a:bodyPr>
            <a:lstStyle/>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grpSp>
        <p:nvGrpSpPr>
          <p:cNvPr id="320" name="Mux 3"/>
          <p:cNvGrpSpPr/>
          <p:nvPr/>
        </p:nvGrpSpPr>
        <p:grpSpPr>
          <a:xfrm>
            <a:off x="6772145" y="3642752"/>
            <a:ext cx="632270" cy="863759"/>
            <a:chOff x="3358776" y="5448299"/>
            <a:chExt cx="1227069" cy="1291709"/>
          </a:xfrm>
        </p:grpSpPr>
        <p:sp>
          <p:nvSpPr>
            <p:cNvPr id="321" name="mux"/>
            <p:cNvSpPr/>
            <p:nvPr/>
          </p:nvSpPr>
          <p:spPr>
            <a:xfrm rot="5400000">
              <a:off x="3360534" y="5718809"/>
              <a:ext cx="1230515" cy="689495"/>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322" name="文本框 321"/>
            <p:cNvSpPr txBox="1"/>
            <p:nvPr/>
          </p:nvSpPr>
          <p:spPr>
            <a:xfrm>
              <a:off x="3358776" y="5562785"/>
              <a:ext cx="1227069" cy="1177223"/>
            </a:xfrm>
            <a:prstGeom prst="rect">
              <a:avLst/>
            </a:prstGeom>
            <a:noFill/>
            <a:ln w="25400">
              <a:noFill/>
            </a:ln>
          </p:spPr>
          <p:txBody>
            <a:bodyPr wrap="none" rtlCol="0">
              <a:spAutoFit/>
            </a:bodyPr>
            <a:lstStyle/>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grpSp>
        <p:nvGrpSpPr>
          <p:cNvPr id="324" name="Mux 3"/>
          <p:cNvGrpSpPr/>
          <p:nvPr/>
        </p:nvGrpSpPr>
        <p:grpSpPr>
          <a:xfrm>
            <a:off x="11401100" y="3377141"/>
            <a:ext cx="426720" cy="864543"/>
            <a:chOff x="3552160" y="5448299"/>
            <a:chExt cx="819002" cy="1230515"/>
          </a:xfrm>
        </p:grpSpPr>
        <p:sp>
          <p:nvSpPr>
            <p:cNvPr id="326" name="mux"/>
            <p:cNvSpPr/>
            <p:nvPr/>
          </p:nvSpPr>
          <p:spPr>
            <a:xfrm rot="5400000">
              <a:off x="3360535" y="5718809"/>
              <a:ext cx="1230515" cy="689496"/>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328" name="文本框 327"/>
            <p:cNvSpPr txBox="1"/>
            <p:nvPr/>
          </p:nvSpPr>
          <p:spPr>
            <a:xfrm>
              <a:off x="3552160" y="5487214"/>
              <a:ext cx="819002" cy="1120436"/>
            </a:xfrm>
            <a:prstGeom prst="rect">
              <a:avLst/>
            </a:prstGeom>
            <a:noFill/>
            <a:ln w="25400">
              <a:noFill/>
            </a:ln>
          </p:spPr>
          <p:txBody>
            <a:bodyPr wrap="none" rtlCol="0">
              <a:spAutoFit/>
            </a:bodyPr>
            <a:lstStyle/>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sp>
        <p:nvSpPr>
          <p:cNvPr id="163" name="矩形 162"/>
          <p:cNvSpPr/>
          <p:nvPr/>
        </p:nvSpPr>
        <p:spPr>
          <a:xfrm>
            <a:off x="2507609" y="1635200"/>
            <a:ext cx="1345146" cy="398780"/>
          </a:xfrm>
          <a:prstGeom prst="rect">
            <a:avLst/>
          </a:prstGeom>
          <a:ln w="25400">
            <a:noFill/>
          </a:ln>
        </p:spPr>
        <p:txBody>
          <a:bodyPr wrap="square">
            <a:spAutoFit/>
          </a:bodyPr>
          <a:lstStyle/>
          <a:p>
            <a:pPr lvl="0" algn="ctr">
              <a:defRPr/>
            </a:pPr>
            <a:r>
              <a:rPr lang="en-US" altLang="zh-CN" sz="2000" b="1" dirty="0">
                <a:solidFill>
                  <a:prstClr val="black"/>
                </a:solidFill>
                <a:latin typeface="Times New Roman" panose="02020603050405020304" pitchFamily="18" charset="0"/>
                <a:cs typeface="Times New Roman" panose="02020603050405020304" pitchFamily="18" charset="0"/>
              </a:rPr>
              <a:t>IF/ID</a:t>
            </a:r>
          </a:p>
        </p:txBody>
      </p:sp>
      <p:grpSp>
        <p:nvGrpSpPr>
          <p:cNvPr id="116" name="组合 115"/>
          <p:cNvGrpSpPr/>
          <p:nvPr/>
        </p:nvGrpSpPr>
        <p:grpSpPr>
          <a:xfrm>
            <a:off x="3609121" y="1342138"/>
            <a:ext cx="1348740" cy="701675"/>
            <a:chOff x="3714425" y="1195713"/>
            <a:chExt cx="1050678" cy="1218723"/>
          </a:xfrm>
        </p:grpSpPr>
        <p:sp>
          <p:nvSpPr>
            <p:cNvPr id="114" name="椭圆 113"/>
            <p:cNvSpPr/>
            <p:nvPr/>
          </p:nvSpPr>
          <p:spPr>
            <a:xfrm>
              <a:off x="3936544" y="1195713"/>
              <a:ext cx="619821" cy="1218723"/>
            </a:xfrm>
            <a:prstGeom prst="ellipse">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B0F0"/>
                </a:solidFill>
              </a:endParaRPr>
            </a:p>
          </p:txBody>
        </p:sp>
        <p:sp>
          <p:nvSpPr>
            <p:cNvPr id="115" name="文本框 114"/>
            <p:cNvSpPr txBox="1"/>
            <p:nvPr/>
          </p:nvSpPr>
          <p:spPr>
            <a:xfrm>
              <a:off x="3714425" y="1494956"/>
              <a:ext cx="1050678" cy="639692"/>
            </a:xfrm>
            <a:prstGeom prst="rect">
              <a:avLst/>
            </a:prstGeom>
            <a:noFill/>
          </p:spPr>
          <p:txBody>
            <a:bodyPr wrap="square" rtlCol="0">
              <a:spAutoFit/>
            </a:bodyPr>
            <a:lstStyle/>
            <a:p>
              <a:pPr algn="ctr"/>
              <a:r>
                <a:rPr lang="en-US" altLang="zh-CN" b="1" dirty="0">
                  <a:solidFill>
                    <a:srgbClr val="00B0F0"/>
                  </a:solidFill>
                  <a:latin typeface="Times New Roman" panose="02020603050405020304" pitchFamily="18" charset="0"/>
                  <a:cs typeface="Times New Roman" panose="02020603050405020304" pitchFamily="18" charset="0"/>
                </a:rPr>
                <a:t>Control</a:t>
              </a:r>
            </a:p>
          </p:txBody>
        </p:sp>
      </p:grpSp>
      <p:sp>
        <p:nvSpPr>
          <p:cNvPr id="288" name="矩形: 圆角 287"/>
          <p:cNvSpPr/>
          <p:nvPr/>
        </p:nvSpPr>
        <p:spPr>
          <a:xfrm>
            <a:off x="7047689" y="5010292"/>
            <a:ext cx="1411053" cy="572285"/>
          </a:xfrm>
          <a:prstGeom prst="round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290" name="文本框 289"/>
          <p:cNvSpPr txBox="1"/>
          <p:nvPr/>
        </p:nvSpPr>
        <p:spPr>
          <a:xfrm>
            <a:off x="6946948" y="4941745"/>
            <a:ext cx="1658972" cy="707886"/>
          </a:xfrm>
          <a:prstGeom prst="rect">
            <a:avLst/>
          </a:prstGeom>
          <a:noFill/>
        </p:spPr>
        <p:txBody>
          <a:bodyPr wrap="square" rtlCol="0">
            <a:spAutoFit/>
          </a:bodyPr>
          <a:lstStyle/>
          <a:p>
            <a:pPr algn="ctr"/>
            <a:r>
              <a:rPr lang="en-US" altLang="zh-CN" sz="2000" b="1" dirty="0">
                <a:solidFill>
                  <a:srgbClr val="00B0F0"/>
                </a:solidFill>
                <a:latin typeface="Times New Roman" panose="02020603050405020304" pitchFamily="18" charset="0"/>
                <a:cs typeface="Times New Roman" panose="02020603050405020304" pitchFamily="18" charset="0"/>
              </a:rPr>
              <a:t>Forwarding                               unit</a:t>
            </a:r>
            <a:endParaRPr lang="zh-CN" altLang="en-US" sz="2000" b="1" dirty="0">
              <a:solidFill>
                <a:srgbClr val="00B0F0"/>
              </a:solidFill>
              <a:latin typeface="Times New Roman" panose="02020603050405020304" pitchFamily="18" charset="0"/>
              <a:cs typeface="Times New Roman" panose="02020603050405020304" pitchFamily="18" charset="0"/>
            </a:endParaRPr>
          </a:p>
        </p:txBody>
      </p:sp>
      <p:cxnSp>
        <p:nvCxnSpPr>
          <p:cNvPr id="385" name="连接符: 肘形 384"/>
          <p:cNvCxnSpPr/>
          <p:nvPr/>
        </p:nvCxnSpPr>
        <p:spPr bwMode="auto">
          <a:xfrm rot="10800000">
            <a:off x="7011526" y="4449263"/>
            <a:ext cx="254789" cy="126274"/>
          </a:xfrm>
          <a:prstGeom prst="bentConnector3">
            <a:avLst>
              <a:gd name="adj1" fmla="val 96096"/>
            </a:avLst>
          </a:prstGeom>
          <a:solidFill>
            <a:schemeClr val="accent1"/>
          </a:solid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9" name="矩形 438"/>
          <p:cNvSpPr/>
          <p:nvPr/>
        </p:nvSpPr>
        <p:spPr>
          <a:xfrm>
            <a:off x="5163574" y="914427"/>
            <a:ext cx="1345146" cy="400110"/>
          </a:xfrm>
          <a:prstGeom prst="rect">
            <a:avLst/>
          </a:prstGeom>
          <a:ln w="25400">
            <a:noFill/>
          </a:ln>
        </p:spPr>
        <p:txBody>
          <a:bodyPr wrap="square">
            <a:spAutoFit/>
          </a:bodyPr>
          <a:lstStyle/>
          <a:p>
            <a:pPr lvl="0" algn="ctr">
              <a:defRPr/>
            </a:pPr>
            <a:r>
              <a:rPr lang="en-US" altLang="zh-CN" sz="2000" b="1" dirty="0">
                <a:solidFill>
                  <a:prstClr val="black"/>
                </a:solidFill>
                <a:latin typeface="Times New Roman" panose="02020603050405020304" pitchFamily="18" charset="0"/>
                <a:cs typeface="Times New Roman" panose="02020603050405020304" pitchFamily="18" charset="0"/>
              </a:rPr>
              <a:t>ID/EX</a:t>
            </a:r>
            <a:endParaRPr lang="zh-CN" altLang="en-US" sz="2000" b="1" dirty="0">
              <a:solidFill>
                <a:prstClr val="black"/>
              </a:solidFill>
              <a:latin typeface="Times New Roman" panose="02020603050405020304" pitchFamily="18" charset="0"/>
              <a:cs typeface="Times New Roman" panose="02020603050405020304" pitchFamily="18" charset="0"/>
            </a:endParaRPr>
          </a:p>
        </p:txBody>
      </p:sp>
      <p:sp>
        <p:nvSpPr>
          <p:cNvPr id="440" name="矩形 439"/>
          <p:cNvSpPr/>
          <p:nvPr/>
        </p:nvSpPr>
        <p:spPr>
          <a:xfrm>
            <a:off x="8002347" y="1116864"/>
            <a:ext cx="1352136" cy="400110"/>
          </a:xfrm>
          <a:prstGeom prst="rect">
            <a:avLst/>
          </a:prstGeom>
          <a:ln w="25400">
            <a:noFill/>
          </a:ln>
        </p:spPr>
        <p:txBody>
          <a:bodyPr wrap="square">
            <a:spAutoFit/>
          </a:bodyPr>
          <a:lstStyle/>
          <a:p>
            <a:pPr lvl="0" algn="ctr">
              <a:defRPr/>
            </a:pPr>
            <a:r>
              <a:rPr lang="en-US" altLang="zh-CN" sz="2000" b="1" dirty="0">
                <a:solidFill>
                  <a:prstClr val="black"/>
                </a:solidFill>
                <a:latin typeface="Times New Roman" panose="02020603050405020304" pitchFamily="18" charset="0"/>
                <a:cs typeface="Times New Roman" panose="02020603050405020304" pitchFamily="18" charset="0"/>
              </a:rPr>
              <a:t>EX/MEM</a:t>
            </a:r>
            <a:endParaRPr lang="zh-CN" altLang="en-US" sz="2000" b="1" dirty="0">
              <a:solidFill>
                <a:prstClr val="black"/>
              </a:solidFill>
              <a:latin typeface="Times New Roman" panose="02020603050405020304" pitchFamily="18" charset="0"/>
              <a:cs typeface="Times New Roman" panose="02020603050405020304" pitchFamily="18" charset="0"/>
            </a:endParaRPr>
          </a:p>
        </p:txBody>
      </p:sp>
      <p:sp>
        <p:nvSpPr>
          <p:cNvPr id="441" name="矩形 440"/>
          <p:cNvSpPr/>
          <p:nvPr/>
        </p:nvSpPr>
        <p:spPr>
          <a:xfrm>
            <a:off x="10044525" y="1368713"/>
            <a:ext cx="1345146" cy="400110"/>
          </a:xfrm>
          <a:prstGeom prst="rect">
            <a:avLst/>
          </a:prstGeom>
          <a:ln w="25400">
            <a:noFill/>
          </a:ln>
        </p:spPr>
        <p:txBody>
          <a:bodyPr wrap="square">
            <a:spAutoFit/>
          </a:bodyPr>
          <a:lstStyle/>
          <a:p>
            <a:pPr lvl="0" algn="ctr">
              <a:defRPr/>
            </a:pPr>
            <a:r>
              <a:rPr lang="en-US" altLang="zh-CN" sz="2000" b="1" dirty="0">
                <a:solidFill>
                  <a:prstClr val="black"/>
                </a:solidFill>
                <a:latin typeface="Times New Roman" panose="02020603050405020304" pitchFamily="18" charset="0"/>
                <a:cs typeface="Times New Roman" panose="02020603050405020304" pitchFamily="18" charset="0"/>
              </a:rPr>
              <a:t>MEM/WB</a:t>
            </a:r>
            <a:endParaRPr lang="zh-CN" altLang="en-US" sz="2000" b="1" dirty="0">
              <a:solidFill>
                <a:prstClr val="black"/>
              </a:solidFill>
              <a:latin typeface="Times New Roman" panose="02020603050405020304" pitchFamily="18" charset="0"/>
              <a:cs typeface="Times New Roman" panose="02020603050405020304" pitchFamily="18" charset="0"/>
            </a:endParaRPr>
          </a:p>
        </p:txBody>
      </p:sp>
      <p:sp>
        <p:nvSpPr>
          <p:cNvPr id="467" name="矩形 466"/>
          <p:cNvSpPr/>
          <p:nvPr/>
        </p:nvSpPr>
        <p:spPr>
          <a:xfrm>
            <a:off x="4191716" y="5210020"/>
            <a:ext cx="1588898" cy="307777"/>
          </a:xfrm>
          <a:prstGeom prst="rect">
            <a:avLst/>
          </a:prstGeom>
          <a:ln w="25400">
            <a:noFill/>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0" algn="ctr">
              <a:defRPr/>
            </a:pPr>
            <a:r>
              <a:rPr lang="en-US" altLang="zh-CN" sz="1400" b="1" dirty="0">
                <a:solidFill>
                  <a:prstClr val="black"/>
                </a:solidFill>
                <a:latin typeface="Times New Roman" panose="02020603050405020304" pitchFamily="18" charset="0"/>
                <a:cs typeface="Times New Roman" panose="02020603050405020304" pitchFamily="18" charset="0"/>
              </a:rPr>
              <a:t>IF/ID.RegisterRs2</a:t>
            </a:r>
            <a:endParaRPr lang="zh-CN" altLang="en-US" sz="1400" b="1" dirty="0">
              <a:solidFill>
                <a:prstClr val="black"/>
              </a:solidFill>
              <a:latin typeface="Times New Roman" panose="02020603050405020304" pitchFamily="18" charset="0"/>
              <a:cs typeface="Times New Roman" panose="02020603050405020304" pitchFamily="18" charset="0"/>
            </a:endParaRPr>
          </a:p>
        </p:txBody>
      </p:sp>
      <p:sp>
        <p:nvSpPr>
          <p:cNvPr id="468" name="矩形 467"/>
          <p:cNvSpPr/>
          <p:nvPr/>
        </p:nvSpPr>
        <p:spPr>
          <a:xfrm>
            <a:off x="4206528" y="5517797"/>
            <a:ext cx="1527982" cy="307777"/>
          </a:xfrm>
          <a:prstGeom prst="rect">
            <a:avLst/>
          </a:prstGeom>
          <a:ln w="25400">
            <a:noFill/>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0" algn="ctr">
              <a:defRPr/>
            </a:pPr>
            <a:r>
              <a:rPr lang="en-US" altLang="zh-CN" sz="1400" b="1" dirty="0">
                <a:solidFill>
                  <a:prstClr val="black"/>
                </a:solidFill>
                <a:latin typeface="Times New Roman" panose="02020603050405020304" pitchFamily="18" charset="0"/>
                <a:cs typeface="Times New Roman" panose="02020603050405020304" pitchFamily="18" charset="0"/>
              </a:rPr>
              <a:t>IF/</a:t>
            </a:r>
            <a:r>
              <a:rPr lang="en-US" altLang="zh-CN" sz="1400" b="1" dirty="0" err="1">
                <a:solidFill>
                  <a:prstClr val="black"/>
                </a:solidFill>
                <a:latin typeface="Times New Roman" panose="02020603050405020304" pitchFamily="18" charset="0"/>
                <a:cs typeface="Times New Roman" panose="02020603050405020304" pitchFamily="18" charset="0"/>
              </a:rPr>
              <a:t>ID.RegisterRd</a:t>
            </a:r>
            <a:endParaRPr lang="zh-CN" altLang="en-US" sz="1400" b="1" dirty="0">
              <a:solidFill>
                <a:prstClr val="black"/>
              </a:solidFill>
              <a:latin typeface="Times New Roman" panose="02020603050405020304" pitchFamily="18" charset="0"/>
              <a:cs typeface="Times New Roman" panose="02020603050405020304" pitchFamily="18" charset="0"/>
            </a:endParaRPr>
          </a:p>
        </p:txBody>
      </p:sp>
      <p:sp>
        <p:nvSpPr>
          <p:cNvPr id="469" name="矩形 468"/>
          <p:cNvSpPr/>
          <p:nvPr/>
        </p:nvSpPr>
        <p:spPr>
          <a:xfrm>
            <a:off x="6565819" y="5473969"/>
            <a:ext cx="413896" cy="307777"/>
          </a:xfrm>
          <a:prstGeom prst="rect">
            <a:avLst/>
          </a:prstGeom>
          <a:ln w="25400">
            <a:noFill/>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0" algn="ctr">
              <a:defRPr/>
            </a:pPr>
            <a:r>
              <a:rPr lang="en-US" altLang="zh-CN" sz="1400" b="1" dirty="0">
                <a:solidFill>
                  <a:prstClr val="black"/>
                </a:solidFill>
                <a:latin typeface="Times New Roman" panose="02020603050405020304" pitchFamily="18" charset="0"/>
                <a:cs typeface="Times New Roman" panose="02020603050405020304" pitchFamily="18" charset="0"/>
              </a:rPr>
              <a:t>Rd</a:t>
            </a:r>
            <a:endParaRPr lang="zh-CN" altLang="en-US" sz="1400" b="1" dirty="0">
              <a:solidFill>
                <a:prstClr val="black"/>
              </a:solidFill>
              <a:latin typeface="Times New Roman" panose="02020603050405020304" pitchFamily="18" charset="0"/>
              <a:cs typeface="Times New Roman" panose="02020603050405020304" pitchFamily="18" charset="0"/>
            </a:endParaRPr>
          </a:p>
        </p:txBody>
      </p:sp>
      <p:sp>
        <p:nvSpPr>
          <p:cNvPr id="471" name="矩形 470"/>
          <p:cNvSpPr/>
          <p:nvPr/>
        </p:nvSpPr>
        <p:spPr>
          <a:xfrm>
            <a:off x="6555349" y="4919858"/>
            <a:ext cx="474810" cy="307777"/>
          </a:xfrm>
          <a:prstGeom prst="rect">
            <a:avLst/>
          </a:prstGeom>
          <a:ln w="25400">
            <a:noFill/>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0" algn="ctr">
              <a:defRPr/>
            </a:pPr>
            <a:r>
              <a:rPr lang="en-US" altLang="zh-CN" sz="1400" b="1" dirty="0">
                <a:solidFill>
                  <a:prstClr val="black"/>
                </a:solidFill>
                <a:latin typeface="Times New Roman" panose="02020603050405020304" pitchFamily="18" charset="0"/>
                <a:cs typeface="Times New Roman" panose="02020603050405020304" pitchFamily="18" charset="0"/>
              </a:rPr>
              <a:t>Rs1</a:t>
            </a:r>
            <a:endParaRPr lang="zh-CN" altLang="en-US" sz="1400" b="1" dirty="0">
              <a:solidFill>
                <a:prstClr val="black"/>
              </a:solidFill>
              <a:latin typeface="Times New Roman" panose="02020603050405020304" pitchFamily="18" charset="0"/>
              <a:cs typeface="Times New Roman" panose="02020603050405020304" pitchFamily="18" charset="0"/>
            </a:endParaRPr>
          </a:p>
        </p:txBody>
      </p:sp>
      <p:sp>
        <p:nvSpPr>
          <p:cNvPr id="472" name="矩形 471"/>
          <p:cNvSpPr/>
          <p:nvPr/>
        </p:nvSpPr>
        <p:spPr>
          <a:xfrm>
            <a:off x="6553780" y="5173546"/>
            <a:ext cx="474810" cy="307777"/>
          </a:xfrm>
          <a:prstGeom prst="rect">
            <a:avLst/>
          </a:prstGeom>
          <a:ln w="25400">
            <a:noFill/>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0" algn="ctr">
              <a:defRPr/>
            </a:pPr>
            <a:r>
              <a:rPr lang="en-US" altLang="zh-CN" sz="1400" b="1" dirty="0">
                <a:solidFill>
                  <a:prstClr val="black"/>
                </a:solidFill>
                <a:latin typeface="Times New Roman" panose="02020603050405020304" pitchFamily="18" charset="0"/>
                <a:cs typeface="Times New Roman" panose="02020603050405020304" pitchFamily="18" charset="0"/>
              </a:rPr>
              <a:t>Rs2</a:t>
            </a:r>
            <a:endParaRPr lang="zh-CN" altLang="en-US" sz="1400" b="1" dirty="0">
              <a:solidFill>
                <a:prstClr val="black"/>
              </a:solidFill>
              <a:latin typeface="Times New Roman" panose="02020603050405020304" pitchFamily="18" charset="0"/>
              <a:cs typeface="Times New Roman" panose="02020603050405020304" pitchFamily="18" charset="0"/>
            </a:endParaRPr>
          </a:p>
        </p:txBody>
      </p:sp>
      <p:sp>
        <p:nvSpPr>
          <p:cNvPr id="475" name="矩形 474"/>
          <p:cNvSpPr/>
          <p:nvPr/>
        </p:nvSpPr>
        <p:spPr>
          <a:xfrm>
            <a:off x="6495991" y="4543692"/>
            <a:ext cx="982962" cy="307777"/>
          </a:xfrm>
          <a:prstGeom prst="rect">
            <a:avLst/>
          </a:prstGeom>
          <a:ln w="25400">
            <a:noFill/>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0" algn="ctr">
              <a:defRPr/>
            </a:pPr>
            <a:r>
              <a:rPr lang="en-US" altLang="zh-CN" sz="1400" b="1" dirty="0" err="1">
                <a:solidFill>
                  <a:srgbClr val="00B0F0"/>
                </a:solidFill>
                <a:latin typeface="Times New Roman" panose="02020603050405020304" pitchFamily="18" charset="0"/>
                <a:cs typeface="Times New Roman" panose="02020603050405020304" pitchFamily="18" charset="0"/>
              </a:rPr>
              <a:t>ForwardB</a:t>
            </a:r>
            <a:endParaRPr lang="zh-CN" altLang="en-US" sz="1400" b="1" dirty="0">
              <a:solidFill>
                <a:srgbClr val="00B0F0"/>
              </a:solidFill>
              <a:latin typeface="Times New Roman" panose="02020603050405020304" pitchFamily="18" charset="0"/>
              <a:cs typeface="Times New Roman" panose="02020603050405020304" pitchFamily="18" charset="0"/>
            </a:endParaRPr>
          </a:p>
        </p:txBody>
      </p:sp>
      <p:sp>
        <p:nvSpPr>
          <p:cNvPr id="476" name="矩形 475"/>
          <p:cNvSpPr/>
          <p:nvPr/>
        </p:nvSpPr>
        <p:spPr>
          <a:xfrm>
            <a:off x="7094977" y="3371087"/>
            <a:ext cx="868680" cy="275590"/>
          </a:xfrm>
          <a:prstGeom prst="rect">
            <a:avLst/>
          </a:prstGeom>
          <a:ln w="25400">
            <a:noFill/>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0" algn="ctr">
              <a:defRPr/>
            </a:pPr>
            <a:r>
              <a:rPr lang="en-US" altLang="zh-CN" sz="1200" b="1" dirty="0" err="1">
                <a:solidFill>
                  <a:srgbClr val="00B0F0"/>
                </a:solidFill>
                <a:latin typeface="Times New Roman" panose="02020603050405020304" pitchFamily="18" charset="0"/>
                <a:cs typeface="Times New Roman" panose="02020603050405020304" pitchFamily="18" charset="0"/>
              </a:rPr>
              <a:t>ForwardA</a:t>
            </a:r>
          </a:p>
        </p:txBody>
      </p:sp>
      <p:sp>
        <p:nvSpPr>
          <p:cNvPr id="488" name="矩形: 圆角 487"/>
          <p:cNvSpPr/>
          <p:nvPr/>
        </p:nvSpPr>
        <p:spPr>
          <a:xfrm>
            <a:off x="3943089" y="100668"/>
            <a:ext cx="1167913" cy="903659"/>
          </a:xfrm>
          <a:prstGeom prst="round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1" name="直接连接符 160"/>
          <p:cNvCxnSpPr/>
          <p:nvPr/>
        </p:nvCxnSpPr>
        <p:spPr bwMode="auto">
          <a:xfrm>
            <a:off x="627823" y="240354"/>
            <a:ext cx="3315267" cy="0"/>
          </a:xfrm>
          <a:prstGeom prst="line">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文本框 3"/>
          <p:cNvSpPr txBox="1"/>
          <p:nvPr/>
        </p:nvSpPr>
        <p:spPr>
          <a:xfrm>
            <a:off x="9269806" y="3525072"/>
            <a:ext cx="1082348" cy="1200329"/>
          </a:xfrm>
          <a:prstGeom prst="rect">
            <a:avLst/>
          </a:prstGeom>
          <a:noFill/>
        </p:spPr>
        <p:txBody>
          <a:bodyPr wrap="none" rtlCol="0">
            <a:spAutoFit/>
          </a:bodyPr>
          <a:lstStyle/>
          <a:p>
            <a:pPr algn="ctr" fontAlgn="base">
              <a:spcBef>
                <a:spcPct val="0"/>
              </a:spcBef>
              <a:spcAft>
                <a:spcPct val="0"/>
              </a:spcAft>
            </a:pPr>
            <a:endPar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gn="ctr" fontAlgn="base">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Data</a:t>
            </a:r>
          </a:p>
          <a:p>
            <a:pPr algn="ctr" fontAlgn="base">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Memory</a:t>
            </a:r>
            <a:endParaRPr lang="zh-CN" altLang="en-US"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solidFill>
                <a:srgbClr val="FF0000"/>
              </a:solidFill>
            </a:endParaRPr>
          </a:p>
        </p:txBody>
      </p:sp>
      <p:sp>
        <p:nvSpPr>
          <p:cNvPr id="5" name="文本框 4"/>
          <p:cNvSpPr txBox="1"/>
          <p:nvPr/>
        </p:nvSpPr>
        <p:spPr>
          <a:xfrm>
            <a:off x="4452615" y="3260991"/>
            <a:ext cx="1194558" cy="400110"/>
          </a:xfrm>
          <a:prstGeom prst="rect">
            <a:avLst/>
          </a:prstGeom>
          <a:noFill/>
        </p:spPr>
        <p:txBody>
          <a:bodyPr wrap="none" rtlCol="0">
            <a:spAutoFit/>
          </a:bodyPr>
          <a:lstStyle/>
          <a:p>
            <a:pPr algn="ctr" fontAlgn="base">
              <a:spcBef>
                <a:spcPct val="0"/>
              </a:spcBef>
              <a:spcAft>
                <a:spcPct val="0"/>
              </a:spcAft>
            </a:pPr>
            <a:r>
              <a:rPr lang="en-US" altLang="zh-CN"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Registers</a:t>
            </a:r>
            <a:endPar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文本框 8"/>
          <p:cNvSpPr txBox="1"/>
          <p:nvPr/>
        </p:nvSpPr>
        <p:spPr>
          <a:xfrm>
            <a:off x="1312579" y="3638748"/>
            <a:ext cx="1471878" cy="707886"/>
          </a:xfrm>
          <a:prstGeom prst="rect">
            <a:avLst/>
          </a:prstGeom>
          <a:noFill/>
        </p:spPr>
        <p:txBody>
          <a:bodyPr wrap="none" rtlCol="0">
            <a:spAutoFit/>
          </a:bodyPr>
          <a:lstStyle/>
          <a:p>
            <a:r>
              <a:rPr lang="en-US" altLang="zh-CN"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Instruction </a:t>
            </a:r>
          </a:p>
          <a:p>
            <a:r>
              <a:rPr lang="en-US" altLang="zh-CN"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memory</a:t>
            </a:r>
            <a:endPar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6" name="矩形 165"/>
          <p:cNvSpPr/>
          <p:nvPr/>
        </p:nvSpPr>
        <p:spPr>
          <a:xfrm>
            <a:off x="5133442" y="425529"/>
            <a:ext cx="958917" cy="307777"/>
          </a:xfrm>
          <a:prstGeom prst="rect">
            <a:avLst/>
          </a:prstGeom>
          <a:ln w="25400">
            <a:noFill/>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0" algn="ctr">
              <a:defRPr/>
            </a:pPr>
            <a:r>
              <a:rPr lang="en-US" altLang="zh-CN" sz="1400" b="1" dirty="0">
                <a:solidFill>
                  <a:prstClr val="black"/>
                </a:solidFill>
                <a:latin typeface="Times New Roman" panose="02020603050405020304" pitchFamily="18" charset="0"/>
                <a:cs typeface="Times New Roman" panose="02020603050405020304" pitchFamily="18" charset="0"/>
              </a:rPr>
              <a:t>ID/</a:t>
            </a:r>
            <a:r>
              <a:rPr lang="en-US" altLang="zh-CN" sz="1400" b="1" dirty="0" err="1">
                <a:solidFill>
                  <a:prstClr val="black"/>
                </a:solidFill>
                <a:latin typeface="Times New Roman" panose="02020603050405020304" pitchFamily="18" charset="0"/>
                <a:cs typeface="Times New Roman" panose="02020603050405020304" pitchFamily="18" charset="0"/>
              </a:rPr>
              <a:t>EX.Rd</a:t>
            </a:r>
            <a:endParaRPr lang="zh-CN" altLang="en-US" sz="1400" b="1" dirty="0">
              <a:solidFill>
                <a:prstClr val="black"/>
              </a:solidFill>
              <a:latin typeface="Times New Roman" panose="02020603050405020304" pitchFamily="18" charset="0"/>
              <a:cs typeface="Times New Roman" panose="02020603050405020304" pitchFamily="18" charset="0"/>
            </a:endParaRPr>
          </a:p>
        </p:txBody>
      </p:sp>
      <p:sp>
        <p:nvSpPr>
          <p:cNvPr id="17" name="矩形 16"/>
          <p:cNvSpPr/>
          <p:nvPr/>
        </p:nvSpPr>
        <p:spPr>
          <a:xfrm>
            <a:off x="721149" y="784026"/>
            <a:ext cx="1384761" cy="13111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10000"/>
              </a:lnSpc>
            </a:pPr>
            <a:r>
              <a:rPr lang="zh-CN" altLang="en-US" dirty="0">
                <a:solidFill>
                  <a:schemeClr val="accent4">
                    <a:lumMod val="75000"/>
                  </a:schemeClr>
                </a:solidFill>
                <a:latin typeface="Times New Roman" panose="02020603050405020304" pitchFamily="18" charset="0"/>
                <a:cs typeface="Times New Roman" panose="02020603050405020304" pitchFamily="18" charset="0"/>
              </a:rPr>
              <a:t>禁止</a:t>
            </a:r>
            <a:r>
              <a:rPr lang="en-US" altLang="zh-CN" dirty="0">
                <a:solidFill>
                  <a:schemeClr val="accent4">
                    <a:lumMod val="75000"/>
                  </a:schemeClr>
                </a:solidFill>
                <a:latin typeface="Times New Roman" panose="02020603050405020304" pitchFamily="18" charset="0"/>
                <a:cs typeface="Times New Roman" panose="02020603050405020304" pitchFamily="18" charset="0"/>
              </a:rPr>
              <a:t>PC</a:t>
            </a:r>
            <a:r>
              <a:rPr lang="zh-CN" altLang="en-US" dirty="0">
                <a:solidFill>
                  <a:schemeClr val="accent4">
                    <a:lumMod val="75000"/>
                  </a:schemeClr>
                </a:solidFill>
                <a:latin typeface="Times New Roman" panose="02020603050405020304" pitchFamily="18" charset="0"/>
                <a:cs typeface="Times New Roman" panose="02020603050405020304" pitchFamily="18" charset="0"/>
              </a:rPr>
              <a:t>寄存器和</a:t>
            </a:r>
            <a:r>
              <a:rPr lang="en-US" altLang="zh-CN" dirty="0">
                <a:solidFill>
                  <a:schemeClr val="accent4">
                    <a:lumMod val="75000"/>
                  </a:schemeClr>
                </a:solidFill>
                <a:latin typeface="Times New Roman" panose="02020603050405020304" pitchFamily="18" charset="0"/>
                <a:cs typeface="Times New Roman" panose="02020603050405020304" pitchFamily="18" charset="0"/>
              </a:rPr>
              <a:t>IF/ID</a:t>
            </a:r>
            <a:r>
              <a:rPr lang="zh-CN" altLang="en-US" dirty="0">
                <a:solidFill>
                  <a:schemeClr val="accent4">
                    <a:lumMod val="75000"/>
                  </a:schemeClr>
                </a:solidFill>
                <a:latin typeface="Times New Roman" panose="02020603050405020304" pitchFamily="18" charset="0"/>
                <a:cs typeface="Times New Roman" panose="02020603050405020304" pitchFamily="18" charset="0"/>
              </a:rPr>
              <a:t>寄存器内容发生改变</a:t>
            </a:r>
            <a:endParaRPr lang="en-US" altLang="zh-CN"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18" name="矩形 17"/>
          <p:cNvSpPr/>
          <p:nvPr/>
        </p:nvSpPr>
        <p:spPr>
          <a:xfrm>
            <a:off x="3707487" y="2133621"/>
            <a:ext cx="1952277" cy="64633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zh-CN" altLang="en-US" dirty="0">
                <a:solidFill>
                  <a:schemeClr val="accent4">
                    <a:lumMod val="75000"/>
                  </a:schemeClr>
                </a:solidFill>
                <a:latin typeface="Times New Roman" panose="02020603050405020304" pitchFamily="18" charset="0"/>
                <a:cs typeface="Times New Roman" panose="02020603050405020304" pitchFamily="18" charset="0"/>
              </a:rPr>
              <a:t>将</a:t>
            </a:r>
            <a:r>
              <a:rPr lang="en-US" altLang="zh-CN" dirty="0">
                <a:solidFill>
                  <a:schemeClr val="accent4">
                    <a:lumMod val="75000"/>
                  </a:schemeClr>
                </a:solidFill>
                <a:latin typeface="Times New Roman" panose="02020603050405020304" pitchFamily="18" charset="0"/>
                <a:cs typeface="Times New Roman" panose="02020603050405020304" pitchFamily="18" charset="0"/>
              </a:rPr>
              <a:t>ID/EX</a:t>
            </a:r>
            <a:r>
              <a:rPr lang="zh-CN" altLang="en-US" dirty="0">
                <a:solidFill>
                  <a:schemeClr val="accent4">
                    <a:lumMod val="75000"/>
                  </a:schemeClr>
                </a:solidFill>
                <a:latin typeface="Times New Roman" panose="02020603050405020304" pitchFamily="18" charset="0"/>
                <a:cs typeface="Times New Roman" panose="02020603050405020304" pitchFamily="18" charset="0"/>
              </a:rPr>
              <a:t>寄存器中控制信号全置为</a:t>
            </a:r>
            <a:r>
              <a:rPr lang="en-US" altLang="zh-CN" dirty="0">
                <a:solidFill>
                  <a:schemeClr val="accent4">
                    <a:lumMod val="75000"/>
                  </a:schemeClr>
                </a:solidFill>
                <a:latin typeface="Times New Roman" panose="02020603050405020304" pitchFamily="18" charset="0"/>
                <a:cs typeface="Times New Roman" panose="02020603050405020304" pitchFamily="18" charset="0"/>
              </a:rPr>
              <a:t>0</a:t>
            </a:r>
            <a:endParaRPr lang="zh-CN" altLang="en-US" dirty="0">
              <a:solidFill>
                <a:schemeClr val="accent4">
                  <a:lumMod val="75000"/>
                </a:schemeClr>
              </a:solidFill>
            </a:endParaRPr>
          </a:p>
        </p:txBody>
      </p:sp>
      <p:sp>
        <p:nvSpPr>
          <p:cNvPr id="170" name="灯片编号占位符 1"/>
          <p:cNvSpPr>
            <a:spLocks noGrp="1"/>
          </p:cNvSpPr>
          <p:nvPr>
            <p:ph type="sldNum" sz="quarter" idx="12"/>
          </p:nvPr>
        </p:nvSpPr>
        <p:spPr>
          <a:xfrm>
            <a:off x="9204255" y="6536486"/>
            <a:ext cx="2743200" cy="365125"/>
          </a:xfrm>
        </p:spPr>
        <p:txBody>
          <a:bodyPr/>
          <a:lstStyle/>
          <a:p>
            <a:fld id="{8EE8E787-E6FE-45D8-9039-788B45E44EE7}" type="slidenum">
              <a:rPr lang="zh-CN" altLang="en-US" smtClean="0"/>
              <a:t>65</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3"/>
          <p:cNvSpPr>
            <a:spLocks noGrp="1" noChangeArrowheads="1"/>
          </p:cNvSpPr>
          <p:nvPr>
            <p:ph idx="1"/>
          </p:nvPr>
        </p:nvSpPr>
        <p:spPr/>
        <p:txBody>
          <a:bodyPr>
            <a:normAutofit/>
          </a:bodyPr>
          <a:lstStyle/>
          <a:p>
            <a:pPr eaLnBrk="1" hangingPunct="1"/>
            <a:r>
              <a:rPr lang="zh-CN" altLang="en-US" dirty="0"/>
              <a:t>停顿会导致性能下降</a:t>
            </a:r>
            <a:endParaRPr lang="en-US" altLang="zh-CN" dirty="0"/>
          </a:p>
          <a:p>
            <a:pPr lvl="1"/>
            <a:r>
              <a:rPr lang="zh-CN" altLang="en-US" dirty="0"/>
              <a:t>但为了得到正确的结果，需要停顿</a:t>
            </a:r>
            <a:endParaRPr lang="en-US" altLang="zh-CN" dirty="0"/>
          </a:p>
          <a:p>
            <a:pPr lvl="1"/>
            <a:endParaRPr lang="en-US" altLang="zh-CN" dirty="0"/>
          </a:p>
          <a:p>
            <a:pPr lvl="1"/>
            <a:endParaRPr lang="en-US" altLang="zh-CN" dirty="0"/>
          </a:p>
          <a:p>
            <a:r>
              <a:rPr lang="zh-CN" altLang="en-US" dirty="0"/>
              <a:t>编译器能编排代码，尽量避免冒险和停顿</a:t>
            </a:r>
            <a:endParaRPr lang="en-US" altLang="zh-CN" dirty="0"/>
          </a:p>
          <a:p>
            <a:pPr lvl="1"/>
            <a:r>
              <a:rPr lang="zh-CN" altLang="en-US" dirty="0"/>
              <a:t>这需要流水线结构的知识</a:t>
            </a:r>
            <a:endParaRPr lang="en-AU" altLang="en-US" dirty="0"/>
          </a:p>
        </p:txBody>
      </p:sp>
      <p:sp>
        <p:nvSpPr>
          <p:cNvPr id="2" name="灯片编号占位符 1"/>
          <p:cNvSpPr>
            <a:spLocks noGrp="1"/>
          </p:cNvSpPr>
          <p:nvPr>
            <p:ph type="sldNum" sz="quarter" idx="12"/>
          </p:nvPr>
        </p:nvSpPr>
        <p:spPr/>
        <p:txBody>
          <a:bodyPr/>
          <a:lstStyle/>
          <a:p>
            <a:fld id="{8EE8E787-E6FE-45D8-9039-788B45E44EE7}" type="slidenum">
              <a:rPr lang="zh-CN" altLang="en-US" smtClean="0"/>
              <a:t>66</a:t>
            </a:fld>
            <a:endParaRPr lang="zh-CN" altLang="en-US" dirty="0"/>
          </a:p>
        </p:txBody>
      </p:sp>
      <p:sp>
        <p:nvSpPr>
          <p:cNvPr id="4" name="标题 3"/>
          <p:cNvSpPr>
            <a:spLocks noGrp="1"/>
          </p:cNvSpPr>
          <p:nvPr>
            <p:ph type="title"/>
          </p:nvPr>
        </p:nvSpPr>
        <p:spPr/>
        <p:txBody>
          <a:bodyPr/>
          <a:lstStyle/>
          <a:p>
            <a:r>
              <a:rPr lang="zh-CN" altLang="en-US" dirty="0"/>
              <a:t>停顿与性能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748">
                                            <p:txEl>
                                              <p:pRg st="4" end="4"/>
                                            </p:txEl>
                                          </p:spTgt>
                                        </p:tgtEl>
                                        <p:attrNameLst>
                                          <p:attrName>style.visibility</p:attrName>
                                        </p:attrNameLst>
                                      </p:cBhvr>
                                      <p:to>
                                        <p:strVal val="visible"/>
                                      </p:to>
                                    </p:set>
                                    <p:animEffect transition="in" filter="fade">
                                      <p:cBhvr>
                                        <p:cTn id="7" dur="500"/>
                                        <p:tgtEl>
                                          <p:spTgt spid="31748">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1748">
                                            <p:txEl>
                                              <p:pRg st="5" end="5"/>
                                            </p:txEl>
                                          </p:spTgt>
                                        </p:tgtEl>
                                        <p:attrNameLst>
                                          <p:attrName>style.visibility</p:attrName>
                                        </p:attrNameLst>
                                      </p:cBhvr>
                                      <p:to>
                                        <p:strVal val="visible"/>
                                      </p:to>
                                    </p:set>
                                    <p:animEffect transition="in" filter="fade">
                                      <p:cBhvr>
                                        <p:cTn id="10" dur="500"/>
                                        <p:tgtEl>
                                          <p:spTgt spid="3174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38200" y="1605280"/>
            <a:ext cx="10515600" cy="4944110"/>
          </a:xfrm>
        </p:spPr>
        <p:txBody>
          <a:bodyPr>
            <a:normAutofit/>
          </a:bodyPr>
          <a:lstStyle/>
          <a:p>
            <a:pPr>
              <a:spcBef>
                <a:spcPct val="0"/>
              </a:spcBef>
            </a:pPr>
            <a:r>
              <a:rPr lang="zh-CN" altLang="en-US" dirty="0"/>
              <a:t>流水线概述</a:t>
            </a:r>
            <a:endParaRPr lang="en-US" altLang="zh-CN" dirty="0"/>
          </a:p>
          <a:p>
            <a:pPr>
              <a:spcBef>
                <a:spcPct val="0"/>
              </a:spcBef>
            </a:pPr>
            <a:r>
              <a:rPr lang="zh-CN" altLang="en-US" dirty="0"/>
              <a:t>流水线数据通路和控制</a:t>
            </a:r>
            <a:endParaRPr lang="en-US" altLang="zh-CN" dirty="0"/>
          </a:p>
          <a:p>
            <a:pPr>
              <a:spcBef>
                <a:spcPct val="0"/>
              </a:spcBef>
            </a:pPr>
            <a:r>
              <a:rPr lang="zh-CN" altLang="en-US" dirty="0"/>
              <a:t>数据冒险：前递与停顿</a:t>
            </a:r>
            <a:endParaRPr lang="en-US" altLang="zh-CN" dirty="0"/>
          </a:p>
          <a:p>
            <a:pPr>
              <a:spcBef>
                <a:spcPct val="0"/>
              </a:spcBef>
            </a:pPr>
            <a:r>
              <a:rPr lang="zh-CN" altLang="en-US" b="1" dirty="0"/>
              <a:t>控制冒险</a:t>
            </a:r>
            <a:endParaRPr lang="en-US" altLang="zh-CN" b="1" dirty="0"/>
          </a:p>
          <a:p>
            <a:pPr>
              <a:spcBef>
                <a:spcPct val="0"/>
              </a:spcBef>
            </a:pPr>
            <a:r>
              <a:rPr lang="zh-CN" altLang="en-US" dirty="0"/>
              <a:t>例外</a:t>
            </a:r>
            <a:endParaRPr lang="en-US" altLang="zh-CN" dirty="0"/>
          </a:p>
        </p:txBody>
      </p:sp>
      <p:sp>
        <p:nvSpPr>
          <p:cNvPr id="3" name="标题 2"/>
          <p:cNvSpPr>
            <a:spLocks noGrp="1"/>
          </p:cNvSpPr>
          <p:nvPr>
            <p:ph type="title"/>
          </p:nvPr>
        </p:nvSpPr>
        <p:spPr/>
        <p:txBody>
          <a:bodyPr/>
          <a:lstStyle/>
          <a:p>
            <a:r>
              <a:rPr lang="zh-CN" altLang="en-US" dirty="0"/>
              <a:t>第五章</a:t>
            </a:r>
          </a:p>
        </p:txBody>
      </p:sp>
      <p:sp>
        <p:nvSpPr>
          <p:cNvPr id="6" name="灯片编号占位符 5"/>
          <p:cNvSpPr>
            <a:spLocks noGrp="1"/>
          </p:cNvSpPr>
          <p:nvPr>
            <p:ph type="sldNum" sz="quarter" idx="12"/>
          </p:nvPr>
        </p:nvSpPr>
        <p:spPr/>
        <p:txBody>
          <a:bodyPr/>
          <a:lstStyle/>
          <a:p>
            <a:fld id="{8EE8E787-E6FE-45D8-9039-788B45E44EE7}" type="slidenum">
              <a:rPr lang="zh-CN" altLang="en-US" smtClean="0"/>
              <a:t>67</a:t>
            </a:fld>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3"/>
          <p:cNvSpPr>
            <a:spLocks noGrp="1" noChangeArrowheads="1"/>
          </p:cNvSpPr>
          <p:nvPr>
            <p:ph idx="1"/>
          </p:nvPr>
        </p:nvSpPr>
        <p:spPr/>
        <p:txBody>
          <a:bodyPr>
            <a:normAutofit/>
          </a:bodyPr>
          <a:lstStyle/>
          <a:p>
            <a:pPr eaLnBrk="1" hangingPunct="1"/>
            <a:r>
              <a:rPr lang="zh-CN" altLang="en-US" dirty="0">
                <a:latin typeface="Times New Roman" panose="02020603050405020304" pitchFamily="18" charset="0"/>
                <a:cs typeface="Times New Roman" panose="02020603050405020304" pitchFamily="18" charset="0"/>
              </a:rPr>
              <a:t>假设分支结果在</a:t>
            </a:r>
            <a:r>
              <a:rPr lang="en-US" altLang="zh-CN" dirty="0">
                <a:latin typeface="Times New Roman" panose="02020603050405020304" pitchFamily="18" charset="0"/>
                <a:cs typeface="Times New Roman" panose="02020603050405020304" pitchFamily="18" charset="0"/>
              </a:rPr>
              <a:t>MEM</a:t>
            </a:r>
            <a:r>
              <a:rPr lang="zh-CN" altLang="en-US" dirty="0">
                <a:latin typeface="Times New Roman" panose="02020603050405020304" pitchFamily="18" charset="0"/>
                <a:cs typeface="Times New Roman" panose="02020603050405020304" pitchFamily="18" charset="0"/>
              </a:rPr>
              <a:t>阶段完成确认</a:t>
            </a:r>
            <a:endParaRPr lang="en-US" altLang="zh-CN" dirty="0">
              <a:latin typeface="Times New Roman" panose="02020603050405020304" pitchFamily="18" charset="0"/>
              <a:cs typeface="Times New Roman" panose="02020603050405020304" pitchFamily="18" charset="0"/>
            </a:endParaRPr>
          </a:p>
          <a:p>
            <a:pPr lvl="1"/>
            <a:r>
              <a:rPr lang="zh-CN" altLang="en-US" dirty="0">
                <a:latin typeface="Times New Roman" panose="02020603050405020304" pitchFamily="18" charset="0"/>
                <a:cs typeface="Times New Roman" panose="02020603050405020304" pitchFamily="18" charset="0"/>
              </a:rPr>
              <a:t>分支指令修改</a:t>
            </a:r>
            <a:r>
              <a:rPr lang="en-US" altLang="zh-CN" dirty="0">
                <a:latin typeface="Times New Roman" panose="02020603050405020304" pitchFamily="18" charset="0"/>
                <a:cs typeface="Times New Roman" panose="02020603050405020304" pitchFamily="18" charset="0"/>
              </a:rPr>
              <a:t>PC</a:t>
            </a:r>
            <a:r>
              <a:rPr lang="zh-CN" altLang="en-US" dirty="0">
                <a:latin typeface="Times New Roman" panose="02020603050405020304" pitchFamily="18" charset="0"/>
                <a:cs typeface="Times New Roman" panose="02020603050405020304" pitchFamily="18" charset="0"/>
              </a:rPr>
              <a:t>值发生在</a:t>
            </a:r>
            <a:r>
              <a:rPr lang="en-US" altLang="zh-CN" dirty="0">
                <a:latin typeface="Times New Roman" panose="02020603050405020304" pitchFamily="18" charset="0"/>
                <a:cs typeface="Times New Roman" panose="02020603050405020304" pitchFamily="18" charset="0"/>
              </a:rPr>
              <a:t>MEM</a:t>
            </a:r>
            <a:r>
              <a:rPr lang="zh-CN" altLang="en-US" dirty="0">
                <a:latin typeface="Times New Roman" panose="02020603050405020304" pitchFamily="18" charset="0"/>
                <a:cs typeface="Times New Roman" panose="02020603050405020304" pitchFamily="18" charset="0"/>
              </a:rPr>
              <a:t>阶段</a:t>
            </a:r>
            <a:endParaRPr lang="en-US" altLang="en-US" dirty="0">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8EE8E787-E6FE-45D8-9039-788B45E44EE7}" type="slidenum">
              <a:rPr lang="zh-CN" altLang="en-US" smtClean="0"/>
              <a:t>68</a:t>
            </a:fld>
            <a:endParaRPr lang="zh-CN" altLang="en-US" dirty="0"/>
          </a:p>
        </p:txBody>
      </p:sp>
      <p:sp>
        <p:nvSpPr>
          <p:cNvPr id="4" name="标题 3"/>
          <p:cNvSpPr>
            <a:spLocks noGrp="1"/>
          </p:cNvSpPr>
          <p:nvPr>
            <p:ph type="title"/>
          </p:nvPr>
        </p:nvSpPr>
        <p:spPr/>
        <p:txBody>
          <a:bodyPr/>
          <a:lstStyle/>
          <a:p>
            <a:r>
              <a:rPr lang="zh-CN" altLang="en-US" dirty="0"/>
              <a:t>控制冒险</a:t>
            </a:r>
          </a:p>
        </p:txBody>
      </p:sp>
      <p:grpSp>
        <p:nvGrpSpPr>
          <p:cNvPr id="3" name="组合 2"/>
          <p:cNvGrpSpPr/>
          <p:nvPr/>
        </p:nvGrpSpPr>
        <p:grpSpPr>
          <a:xfrm>
            <a:off x="412160" y="2155045"/>
            <a:ext cx="11186274" cy="4411690"/>
            <a:chOff x="-322331" y="2155045"/>
            <a:chExt cx="11186274" cy="4411690"/>
          </a:xfrm>
        </p:grpSpPr>
        <p:sp>
          <p:nvSpPr>
            <p:cNvPr id="663" name="矩形 662"/>
            <p:cNvSpPr/>
            <p:nvPr/>
          </p:nvSpPr>
          <p:spPr>
            <a:xfrm rot="10800000">
              <a:off x="10394457" y="5940662"/>
              <a:ext cx="204183" cy="338243"/>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798" name="AutoShape 6"/>
            <p:cNvSpPr/>
            <p:nvPr/>
          </p:nvSpPr>
          <p:spPr bwMode="auto">
            <a:xfrm>
              <a:off x="4169847" y="6077588"/>
              <a:ext cx="831396" cy="489147"/>
            </a:xfrm>
            <a:prstGeom prst="borderCallout1">
              <a:avLst>
                <a:gd name="adj1" fmla="val 49452"/>
                <a:gd name="adj2" fmla="val 99478"/>
                <a:gd name="adj3" fmla="val 4207"/>
                <a:gd name="adj4" fmla="val 241610"/>
              </a:avLst>
            </a:prstGeom>
            <a:solidFill>
              <a:schemeClr val="accent1">
                <a:lumMod val="20000"/>
                <a:lumOff val="80000"/>
              </a:schemeClr>
            </a:solidFill>
            <a:ln w="19050">
              <a:solidFill>
                <a:schemeClr val="tx1"/>
              </a:solidFill>
              <a:miter lim="800000"/>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2400" dirty="0"/>
                <a:t>PC</a:t>
              </a:r>
              <a:endParaRPr lang="en-AU" altLang="en-US" sz="1400" dirty="0"/>
            </a:p>
          </p:txBody>
        </p:sp>
        <p:grpSp>
          <p:nvGrpSpPr>
            <p:cNvPr id="413" name="组合 412"/>
            <p:cNvGrpSpPr/>
            <p:nvPr/>
          </p:nvGrpSpPr>
          <p:grpSpPr>
            <a:xfrm>
              <a:off x="-322331" y="2218975"/>
              <a:ext cx="3777503" cy="4131502"/>
              <a:chOff x="-454442" y="2574409"/>
              <a:chExt cx="3777503" cy="4131502"/>
            </a:xfrm>
          </p:grpSpPr>
          <p:grpSp>
            <p:nvGrpSpPr>
              <p:cNvPr id="414" name="Program"/>
              <p:cNvGrpSpPr/>
              <p:nvPr/>
            </p:nvGrpSpPr>
            <p:grpSpPr>
              <a:xfrm>
                <a:off x="-454442" y="2574409"/>
                <a:ext cx="3340108" cy="4131502"/>
                <a:chOff x="-857403" y="2879228"/>
                <a:chExt cx="3340108" cy="4131502"/>
              </a:xfrm>
            </p:grpSpPr>
            <p:cxnSp>
              <p:nvCxnSpPr>
                <p:cNvPr id="418" name="直接箭头连接符 417"/>
                <p:cNvCxnSpPr/>
                <p:nvPr/>
              </p:nvCxnSpPr>
              <p:spPr>
                <a:xfrm>
                  <a:off x="527987" y="3135732"/>
                  <a:ext cx="0" cy="3874998"/>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419" name="文本框 418"/>
                <p:cNvSpPr txBox="1"/>
                <p:nvPr/>
              </p:nvSpPr>
              <p:spPr>
                <a:xfrm>
                  <a:off x="-857403" y="2879228"/>
                  <a:ext cx="2046532" cy="1323439"/>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Program execution </a:t>
                  </a:r>
                </a:p>
                <a:p>
                  <a:r>
                    <a:rPr lang="en-US" altLang="zh-CN" sz="2000" dirty="0">
                      <a:latin typeface="Times New Roman" panose="02020603050405020304" pitchFamily="18" charset="0"/>
                      <a:cs typeface="Times New Roman" panose="02020603050405020304" pitchFamily="18" charset="0"/>
                    </a:rPr>
                    <a:t>order  (in </a:t>
                  </a:r>
                </a:p>
                <a:p>
                  <a:r>
                    <a:rPr lang="en-US" altLang="zh-CN" sz="2000" dirty="0">
                      <a:latin typeface="Times New Roman" panose="02020603050405020304" pitchFamily="18" charset="0"/>
                      <a:cs typeface="Times New Roman" panose="02020603050405020304" pitchFamily="18" charset="0"/>
                    </a:rPr>
                    <a:t>instructions)</a:t>
                  </a:r>
                  <a:endParaRPr lang="zh-CN" altLang="en-US" sz="2000" dirty="0">
                    <a:latin typeface="Times New Roman" panose="02020603050405020304" pitchFamily="18" charset="0"/>
                    <a:cs typeface="Times New Roman" panose="02020603050405020304" pitchFamily="18" charset="0"/>
                  </a:endParaRPr>
                </a:p>
              </p:txBody>
            </p:sp>
            <p:sp>
              <p:nvSpPr>
                <p:cNvPr id="420" name="文本框 419"/>
                <p:cNvSpPr txBox="1"/>
                <p:nvPr/>
              </p:nvSpPr>
              <p:spPr>
                <a:xfrm>
                  <a:off x="510942" y="3061523"/>
                  <a:ext cx="1971763"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40 </a:t>
                  </a:r>
                  <a:r>
                    <a:rPr lang="en-US" altLang="zh-CN" dirty="0" err="1">
                      <a:latin typeface="Times New Roman" panose="02020603050405020304" pitchFamily="18" charset="0"/>
                      <a:cs typeface="Times New Roman" panose="02020603050405020304" pitchFamily="18" charset="0"/>
                    </a:rPr>
                    <a:t>beq</a:t>
                  </a:r>
                  <a:r>
                    <a:rPr lang="en-US" altLang="zh-CN" dirty="0">
                      <a:latin typeface="Times New Roman" panose="02020603050405020304" pitchFamily="18" charset="0"/>
                      <a:cs typeface="Times New Roman" panose="02020603050405020304" pitchFamily="18" charset="0"/>
                    </a:rPr>
                    <a:t> x1,x0,label</a:t>
                  </a:r>
                  <a:endParaRPr lang="zh-CN" altLang="en-US" dirty="0">
                    <a:latin typeface="Times New Roman" panose="02020603050405020304" pitchFamily="18" charset="0"/>
                    <a:cs typeface="Times New Roman" panose="02020603050405020304" pitchFamily="18" charset="0"/>
                  </a:endParaRPr>
                </a:p>
              </p:txBody>
            </p:sp>
            <p:sp>
              <p:nvSpPr>
                <p:cNvPr id="421" name="文本框 420"/>
                <p:cNvSpPr txBox="1"/>
                <p:nvPr/>
              </p:nvSpPr>
              <p:spPr>
                <a:xfrm>
                  <a:off x="522798" y="3896532"/>
                  <a:ext cx="1848412" cy="369332"/>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r>
                    <a:rPr lang="en-US" altLang="zh-CN" dirty="0"/>
                    <a:t>44 and x12,x2,x5</a:t>
                  </a:r>
                  <a:endParaRPr lang="zh-CN" altLang="en-US" dirty="0"/>
                </a:p>
              </p:txBody>
            </p:sp>
          </p:grpSp>
          <p:sp>
            <p:nvSpPr>
              <p:cNvPr id="415" name="文本框 414"/>
              <p:cNvSpPr txBox="1"/>
              <p:nvPr/>
            </p:nvSpPr>
            <p:spPr>
              <a:xfrm>
                <a:off x="913903" y="4480652"/>
                <a:ext cx="1928927" cy="369332"/>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r>
                  <a:rPr lang="en-US" altLang="zh-CN" dirty="0"/>
                  <a:t>48 or x13,x6,x2</a:t>
                </a:r>
                <a:endParaRPr lang="zh-CN" altLang="en-US" dirty="0"/>
              </a:p>
            </p:txBody>
          </p:sp>
          <p:sp>
            <p:nvSpPr>
              <p:cNvPr id="416" name="文本框 415"/>
              <p:cNvSpPr txBox="1"/>
              <p:nvPr/>
            </p:nvSpPr>
            <p:spPr>
              <a:xfrm>
                <a:off x="890366" y="5432321"/>
                <a:ext cx="1927423" cy="369332"/>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r>
                  <a:rPr lang="en-US" altLang="zh-CN" dirty="0"/>
                  <a:t>52 add x14,x2,x2</a:t>
                </a:r>
                <a:endParaRPr lang="zh-CN" altLang="en-US" dirty="0"/>
              </a:p>
            </p:txBody>
          </p:sp>
          <p:sp>
            <p:nvSpPr>
              <p:cNvPr id="417" name="文本框 416"/>
              <p:cNvSpPr txBox="1"/>
              <p:nvPr/>
            </p:nvSpPr>
            <p:spPr>
              <a:xfrm>
                <a:off x="942930" y="6273819"/>
                <a:ext cx="2380131" cy="369332"/>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r>
                  <a:rPr lang="en-US" altLang="zh-CN" dirty="0"/>
                  <a:t>72 label: </a:t>
                </a:r>
                <a:r>
                  <a:rPr lang="en-US" altLang="zh-CN" dirty="0" err="1"/>
                  <a:t>ld</a:t>
                </a:r>
                <a:r>
                  <a:rPr lang="en-US" altLang="zh-CN" dirty="0"/>
                  <a:t> x4,100(x7)</a:t>
                </a:r>
                <a:endParaRPr lang="zh-CN" altLang="en-US" dirty="0"/>
              </a:p>
            </p:txBody>
          </p:sp>
        </p:grpSp>
        <p:grpSp>
          <p:nvGrpSpPr>
            <p:cNvPr id="422" name="指令"/>
            <p:cNvGrpSpPr/>
            <p:nvPr/>
          </p:nvGrpSpPr>
          <p:grpSpPr>
            <a:xfrm>
              <a:off x="6663819" y="5685835"/>
              <a:ext cx="4200124" cy="848518"/>
              <a:chOff x="3708787" y="2899251"/>
              <a:chExt cx="4562188" cy="1058188"/>
            </a:xfrm>
          </p:grpSpPr>
          <p:grpSp>
            <p:nvGrpSpPr>
              <p:cNvPr id="423" name="指令"/>
              <p:cNvGrpSpPr/>
              <p:nvPr/>
            </p:nvGrpSpPr>
            <p:grpSpPr>
              <a:xfrm>
                <a:off x="3751739" y="2899251"/>
                <a:ext cx="4403588" cy="1058188"/>
                <a:chOff x="4036219" y="4360386"/>
                <a:chExt cx="2411301" cy="579439"/>
              </a:xfrm>
            </p:grpSpPr>
            <p:grpSp>
              <p:nvGrpSpPr>
                <p:cNvPr id="429" name="组合 428"/>
                <p:cNvGrpSpPr/>
                <p:nvPr/>
              </p:nvGrpSpPr>
              <p:grpSpPr>
                <a:xfrm>
                  <a:off x="4036219" y="4536600"/>
                  <a:ext cx="233362" cy="230981"/>
                  <a:chOff x="3459957" y="3198019"/>
                  <a:chExt cx="233362" cy="230981"/>
                </a:xfrm>
              </p:grpSpPr>
              <p:sp>
                <p:nvSpPr>
                  <p:cNvPr id="469" name="矩形 468"/>
                  <p:cNvSpPr/>
                  <p:nvPr/>
                </p:nvSpPr>
                <p:spPr>
                  <a:xfrm>
                    <a:off x="3571875" y="3198019"/>
                    <a:ext cx="121444" cy="230981"/>
                  </a:xfrm>
                  <a:prstGeom prst="rect">
                    <a:avLst/>
                  </a:prstGeom>
                  <a:solidFill>
                    <a:srgbClr val="9CD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0" name="矩形 469"/>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0" name="矩形 429"/>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1" name="直接连接符 430"/>
                <p:cNvCxnSpPr>
                  <a:stCxn id="470" idx="3"/>
                </p:cNvCxnSpPr>
                <p:nvPr/>
              </p:nvCxnSpPr>
              <p:spPr>
                <a:xfrm>
                  <a:off x="4269581" y="4652091"/>
                  <a:ext cx="111918" cy="0"/>
                </a:xfrm>
                <a:prstGeom prst="line">
                  <a:avLst/>
                </a:prstGeom>
                <a:ln w="19050">
                  <a:solidFill>
                    <a:srgbClr val="9CDCF9"/>
                  </a:solidFill>
                </a:ln>
              </p:spPr>
              <p:style>
                <a:lnRef idx="1">
                  <a:schemeClr val="accent1"/>
                </a:lnRef>
                <a:fillRef idx="0">
                  <a:schemeClr val="accent1"/>
                </a:fillRef>
                <a:effectRef idx="0">
                  <a:schemeClr val="accent1"/>
                </a:effectRef>
                <a:fontRef idx="minor">
                  <a:schemeClr val="tx1"/>
                </a:fontRef>
              </p:style>
            </p:cxnSp>
            <p:grpSp>
              <p:nvGrpSpPr>
                <p:cNvPr id="432" name="组合 431"/>
                <p:cNvGrpSpPr/>
                <p:nvPr/>
              </p:nvGrpSpPr>
              <p:grpSpPr>
                <a:xfrm>
                  <a:off x="4583677" y="4531622"/>
                  <a:ext cx="224066" cy="235402"/>
                  <a:chOff x="3971697" y="3537291"/>
                  <a:chExt cx="224066" cy="235402"/>
                </a:xfrm>
              </p:grpSpPr>
              <p:sp>
                <p:nvSpPr>
                  <p:cNvPr id="462" name="矩形 461"/>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63" name="直接连接符 462"/>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64" name="直接连接符 463"/>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65" name="直接连接符 464"/>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66" name="直接连接符 465"/>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7" name="直接连接符 466"/>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8" name="直接连接符 467"/>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33" name="直接连接符 432"/>
                <p:cNvCxnSpPr/>
                <p:nvPr/>
              </p:nvCxnSpPr>
              <p:spPr>
                <a:xfrm>
                  <a:off x="4456906" y="4653678"/>
                  <a:ext cx="127198" cy="0"/>
                </a:xfrm>
                <a:prstGeom prst="line">
                  <a:avLst/>
                </a:prstGeom>
                <a:ln w="19050">
                  <a:solidFill>
                    <a:srgbClr val="9CDCF9"/>
                  </a:solidFill>
                </a:ln>
              </p:spPr>
              <p:style>
                <a:lnRef idx="1">
                  <a:schemeClr val="accent1"/>
                </a:lnRef>
                <a:fillRef idx="0">
                  <a:schemeClr val="accent1"/>
                </a:fillRef>
                <a:effectRef idx="0">
                  <a:schemeClr val="accent1"/>
                </a:effectRef>
                <a:fontRef idx="minor">
                  <a:schemeClr val="tx1"/>
                </a:fontRef>
              </p:style>
            </p:cxnSp>
            <p:sp>
              <p:nvSpPr>
                <p:cNvPr id="434" name="任意多边形: 形状 433"/>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5" name="矩形 434"/>
                <p:cNvSpPr/>
                <p:nvPr/>
              </p:nvSpPr>
              <p:spPr>
                <a:xfrm>
                  <a:off x="4939315"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6" name="矩形 435"/>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37" name="组合 436"/>
                <p:cNvGrpSpPr/>
                <p:nvPr/>
              </p:nvGrpSpPr>
              <p:grpSpPr>
                <a:xfrm>
                  <a:off x="5688014" y="4536601"/>
                  <a:ext cx="233362" cy="230981"/>
                  <a:chOff x="3459957" y="3198019"/>
                  <a:chExt cx="233362" cy="230981"/>
                </a:xfrm>
              </p:grpSpPr>
              <p:sp>
                <p:nvSpPr>
                  <p:cNvPr id="460" name="矩形 459"/>
                  <p:cNvSpPr/>
                  <p:nvPr/>
                </p:nvSpPr>
                <p:spPr>
                  <a:xfrm>
                    <a:off x="3567578"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1" name="矩形 460"/>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8" name="矩形 437"/>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39" name="组合 438"/>
                <p:cNvGrpSpPr/>
                <p:nvPr/>
              </p:nvGrpSpPr>
              <p:grpSpPr>
                <a:xfrm rot="10800000">
                  <a:off x="6224134" y="4529592"/>
                  <a:ext cx="223386" cy="232211"/>
                  <a:chOff x="3970449" y="3542809"/>
                  <a:chExt cx="223386" cy="232211"/>
                </a:xfrm>
              </p:grpSpPr>
              <p:cxnSp>
                <p:nvCxnSpPr>
                  <p:cNvPr id="454" name="直接连接符 453"/>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55" name="直接连接符 454"/>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56" name="直接连接符 455"/>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57" name="直接连接符 456"/>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8" name="直接连接符 457"/>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9" name="直接连接符 458"/>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40" name="直接连接符 439"/>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1" name="直接连接符 440"/>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2" name="直接连接符 441"/>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3" name="直接连接符 442"/>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4" name="直接连接符 443"/>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5" name="直接连接符 444"/>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6" name="直接连接符 445"/>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7" name="直接连接符 446"/>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8" name="直接连接符 447"/>
                <p:cNvCxnSpPr>
                  <a:stCxn id="461" idx="3"/>
                  <a:endCxn id="438"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9" name="直接连接符 448"/>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0" name="直接连接符 449"/>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1" name="直接连接符 450"/>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2" name="直接连接符 451"/>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3" name="直接连接符 452"/>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24" name="文本框 423"/>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425" name="文本框 424"/>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426" name="文本框 425"/>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427" name="文本框 426"/>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428" name="文本框 427"/>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471" name="指令"/>
            <p:cNvGrpSpPr/>
            <p:nvPr/>
          </p:nvGrpSpPr>
          <p:grpSpPr>
            <a:xfrm>
              <a:off x="3872726" y="3027954"/>
              <a:ext cx="4200124" cy="848518"/>
              <a:chOff x="3708787" y="2899251"/>
              <a:chExt cx="4562188" cy="1058188"/>
            </a:xfrm>
          </p:grpSpPr>
          <p:grpSp>
            <p:nvGrpSpPr>
              <p:cNvPr id="472" name="指令"/>
              <p:cNvGrpSpPr/>
              <p:nvPr/>
            </p:nvGrpSpPr>
            <p:grpSpPr>
              <a:xfrm>
                <a:off x="3751739" y="2899251"/>
                <a:ext cx="4403588" cy="1058188"/>
                <a:chOff x="4036219" y="4360386"/>
                <a:chExt cx="2411301" cy="579439"/>
              </a:xfrm>
            </p:grpSpPr>
            <p:grpSp>
              <p:nvGrpSpPr>
                <p:cNvPr id="478" name="组合 477"/>
                <p:cNvGrpSpPr/>
                <p:nvPr/>
              </p:nvGrpSpPr>
              <p:grpSpPr>
                <a:xfrm>
                  <a:off x="4036219" y="4536600"/>
                  <a:ext cx="233362" cy="230981"/>
                  <a:chOff x="3459957" y="3198019"/>
                  <a:chExt cx="233362" cy="230981"/>
                </a:xfrm>
              </p:grpSpPr>
              <p:sp>
                <p:nvSpPr>
                  <p:cNvPr id="517" name="矩形 516"/>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8" name="矩形 517"/>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9" name="矩形 478"/>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80" name="直接连接符 479"/>
                <p:cNvCxnSpPr>
                  <a:stCxn id="518"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81" name="组合 480"/>
                <p:cNvGrpSpPr/>
                <p:nvPr/>
              </p:nvGrpSpPr>
              <p:grpSpPr>
                <a:xfrm>
                  <a:off x="4583677" y="4531622"/>
                  <a:ext cx="224066" cy="235402"/>
                  <a:chOff x="3971697" y="3537291"/>
                  <a:chExt cx="224066" cy="235402"/>
                </a:xfrm>
              </p:grpSpPr>
              <p:sp>
                <p:nvSpPr>
                  <p:cNvPr id="510" name="矩形 509"/>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11" name="直接连接符 510"/>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12" name="直接连接符 511"/>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13" name="直接连接符 512"/>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14" name="直接连接符 513"/>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5" name="直接连接符 514"/>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6" name="直接连接符 515"/>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82" name="直接连接符 481"/>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83" name="任意多边形: 形状 482"/>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4" name="矩形 483"/>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5" name="矩形 484"/>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6" name="矩形 485"/>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7" name="矩形 486"/>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88" name="组合 487"/>
                <p:cNvGrpSpPr/>
                <p:nvPr/>
              </p:nvGrpSpPr>
              <p:grpSpPr>
                <a:xfrm rot="10800000">
                  <a:off x="6224134" y="4529592"/>
                  <a:ext cx="223386" cy="233308"/>
                  <a:chOff x="3970449" y="3541712"/>
                  <a:chExt cx="223386" cy="233308"/>
                </a:xfrm>
              </p:grpSpPr>
              <p:sp>
                <p:nvSpPr>
                  <p:cNvPr id="503" name="矩形 502"/>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04" name="直接连接符 503"/>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05" name="直接连接符 504"/>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06" name="直接连接符 505"/>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07" name="直接连接符 506"/>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8" name="直接连接符 507"/>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9" name="直接连接符 508"/>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89" name="直接连接符 488"/>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0" name="直接连接符 489"/>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1" name="直接连接符 490"/>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2" name="直接连接符 491"/>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3" name="直接连接符 492"/>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4" name="直接连接符 493"/>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5" name="直接连接符 494"/>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6" name="直接连接符 495"/>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7" name="直接连接符 496"/>
                <p:cNvCxnSpPr>
                  <a:stCxn id="486" idx="3"/>
                  <a:endCxn id="487"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8" name="直接连接符 497"/>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9" name="直接连接符 498"/>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0" name="直接连接符 499"/>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1" name="直接连接符 500"/>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2" name="直接连接符 501"/>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73" name="文本框 472"/>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474" name="文本框 473"/>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475" name="文本框 474"/>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476" name="文本框 475"/>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477" name="文本框 476"/>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519" name="指令"/>
            <p:cNvGrpSpPr/>
            <p:nvPr/>
          </p:nvGrpSpPr>
          <p:grpSpPr>
            <a:xfrm>
              <a:off x="2940241" y="2155045"/>
              <a:ext cx="4200124" cy="848518"/>
              <a:chOff x="3708787" y="2899251"/>
              <a:chExt cx="4562188" cy="1058188"/>
            </a:xfrm>
          </p:grpSpPr>
          <p:grpSp>
            <p:nvGrpSpPr>
              <p:cNvPr id="520" name="指令"/>
              <p:cNvGrpSpPr/>
              <p:nvPr/>
            </p:nvGrpSpPr>
            <p:grpSpPr>
              <a:xfrm>
                <a:off x="3751739" y="2899251"/>
                <a:ext cx="4403588" cy="1058188"/>
                <a:chOff x="4036219" y="4360386"/>
                <a:chExt cx="2411301" cy="579439"/>
              </a:xfrm>
            </p:grpSpPr>
            <p:grpSp>
              <p:nvGrpSpPr>
                <p:cNvPr id="526" name="组合 525"/>
                <p:cNvGrpSpPr/>
                <p:nvPr/>
              </p:nvGrpSpPr>
              <p:grpSpPr>
                <a:xfrm>
                  <a:off x="4036219" y="4536600"/>
                  <a:ext cx="233362" cy="230981"/>
                  <a:chOff x="3459957" y="3198019"/>
                  <a:chExt cx="233362" cy="230981"/>
                </a:xfrm>
              </p:grpSpPr>
              <p:sp>
                <p:nvSpPr>
                  <p:cNvPr id="565" name="矩形 564"/>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6" name="矩形 565"/>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27" name="矩形 526"/>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28" name="直接连接符 527"/>
                <p:cNvCxnSpPr>
                  <a:stCxn id="566"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29" name="组合 528"/>
                <p:cNvGrpSpPr/>
                <p:nvPr/>
              </p:nvGrpSpPr>
              <p:grpSpPr>
                <a:xfrm>
                  <a:off x="4583677" y="4531622"/>
                  <a:ext cx="224066" cy="235402"/>
                  <a:chOff x="3971697" y="3537291"/>
                  <a:chExt cx="224066" cy="235402"/>
                </a:xfrm>
              </p:grpSpPr>
              <p:sp>
                <p:nvSpPr>
                  <p:cNvPr id="558" name="矩形 557"/>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59" name="直接连接符 558"/>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60" name="直接连接符 559"/>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61" name="直接连接符 560"/>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62" name="直接连接符 561"/>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3" name="直接连接符 562"/>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4" name="直接连接符 563"/>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30" name="直接连接符 529"/>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31" name="任意多边形: 形状 530"/>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2" name="矩形 531"/>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3" name="矩形 532"/>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4" name="矩形 533"/>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5" name="矩形 534"/>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36" name="组合 535"/>
                <p:cNvGrpSpPr/>
                <p:nvPr/>
              </p:nvGrpSpPr>
              <p:grpSpPr>
                <a:xfrm rot="10800000">
                  <a:off x="6224134" y="4529592"/>
                  <a:ext cx="223386" cy="232211"/>
                  <a:chOff x="3970449" y="3542809"/>
                  <a:chExt cx="223386" cy="232211"/>
                </a:xfrm>
              </p:grpSpPr>
              <p:cxnSp>
                <p:nvCxnSpPr>
                  <p:cNvPr id="552" name="直接连接符 551"/>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53" name="直接连接符 552"/>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54" name="直接连接符 553"/>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55" name="直接连接符 554"/>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6" name="直接连接符 555"/>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7" name="直接连接符 556"/>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37" name="直接连接符 536"/>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8" name="直接连接符 537"/>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9" name="直接连接符 538"/>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0" name="直接连接符 539"/>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1" name="直接连接符 540"/>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2" name="直接连接符 541"/>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3" name="直接连接符 542"/>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4" name="直接连接符 543"/>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5" name="直接连接符 544"/>
                <p:cNvCxnSpPr>
                  <a:stCxn id="534" idx="3"/>
                  <a:endCxn id="535"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6" name="直接连接符 545"/>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7" name="直接连接符 546"/>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8" name="直接连接符 547"/>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9" name="直接连接符 548"/>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0" name="直接连接符 549"/>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21" name="文本框 520"/>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522" name="文本框 521"/>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523" name="文本框 522"/>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524" name="文本框 523"/>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525" name="文本框 524"/>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567" name="指令"/>
            <p:cNvGrpSpPr/>
            <p:nvPr/>
          </p:nvGrpSpPr>
          <p:grpSpPr>
            <a:xfrm>
              <a:off x="4802738" y="3904907"/>
              <a:ext cx="4200124" cy="848518"/>
              <a:chOff x="3708787" y="2899251"/>
              <a:chExt cx="4562188" cy="1058188"/>
            </a:xfrm>
          </p:grpSpPr>
          <p:grpSp>
            <p:nvGrpSpPr>
              <p:cNvPr id="568" name="指令"/>
              <p:cNvGrpSpPr/>
              <p:nvPr/>
            </p:nvGrpSpPr>
            <p:grpSpPr>
              <a:xfrm>
                <a:off x="3751739" y="2899251"/>
                <a:ext cx="4403588" cy="1058188"/>
                <a:chOff x="4036219" y="4360386"/>
                <a:chExt cx="2411301" cy="579439"/>
              </a:xfrm>
            </p:grpSpPr>
            <p:grpSp>
              <p:nvGrpSpPr>
                <p:cNvPr id="574" name="组合 573"/>
                <p:cNvGrpSpPr/>
                <p:nvPr/>
              </p:nvGrpSpPr>
              <p:grpSpPr>
                <a:xfrm>
                  <a:off x="4036219" y="4536600"/>
                  <a:ext cx="233362" cy="230981"/>
                  <a:chOff x="3459957" y="3198019"/>
                  <a:chExt cx="233362" cy="230981"/>
                </a:xfrm>
              </p:grpSpPr>
              <p:sp>
                <p:nvSpPr>
                  <p:cNvPr id="613" name="矩形 612"/>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4" name="矩形 613"/>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75" name="矩形 574"/>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76" name="直接连接符 575"/>
                <p:cNvCxnSpPr>
                  <a:stCxn id="614"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77" name="组合 576"/>
                <p:cNvGrpSpPr/>
                <p:nvPr/>
              </p:nvGrpSpPr>
              <p:grpSpPr>
                <a:xfrm>
                  <a:off x="4583677" y="4531622"/>
                  <a:ext cx="224066" cy="235402"/>
                  <a:chOff x="3971697" y="3537291"/>
                  <a:chExt cx="224066" cy="235402"/>
                </a:xfrm>
              </p:grpSpPr>
              <p:sp>
                <p:nvSpPr>
                  <p:cNvPr id="606" name="矩形 605"/>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07" name="直接连接符 606"/>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08" name="直接连接符 607"/>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09" name="直接连接符 608"/>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10" name="直接连接符 609"/>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1" name="直接连接符 610"/>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2" name="直接连接符 611"/>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78" name="直接连接符 577"/>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79" name="任意多边形: 形状 578"/>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0" name="矩形 579"/>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1" name="矩形 580"/>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2" name="矩形 581"/>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3" name="矩形 582"/>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84" name="组合 583"/>
                <p:cNvGrpSpPr/>
                <p:nvPr/>
              </p:nvGrpSpPr>
              <p:grpSpPr>
                <a:xfrm rot="10800000">
                  <a:off x="6224134" y="4529592"/>
                  <a:ext cx="223386" cy="233308"/>
                  <a:chOff x="3970449" y="3541712"/>
                  <a:chExt cx="223386" cy="233308"/>
                </a:xfrm>
              </p:grpSpPr>
              <p:sp>
                <p:nvSpPr>
                  <p:cNvPr id="599" name="矩形 598"/>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00" name="直接连接符 599"/>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01" name="直接连接符 600"/>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02" name="直接连接符 601"/>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03" name="直接连接符 602"/>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4" name="直接连接符 603"/>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5" name="直接连接符 604"/>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85" name="直接连接符 584"/>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6" name="直接连接符 585"/>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7" name="直接连接符 586"/>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8" name="直接连接符 587"/>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9" name="直接连接符 588"/>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0" name="直接连接符 589"/>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1" name="直接连接符 590"/>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2" name="直接连接符 591"/>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3" name="直接连接符 592"/>
                <p:cNvCxnSpPr>
                  <a:stCxn id="582" idx="3"/>
                  <a:endCxn id="583"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4" name="直接连接符 593"/>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5" name="直接连接符 594"/>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6" name="直接连接符 595"/>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7" name="直接连接符 596"/>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8" name="直接连接符 597"/>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69" name="文本框 568"/>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570" name="文本框 569"/>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571" name="文本框 570"/>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572" name="文本框 571"/>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573" name="文本框 572"/>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615" name="指令"/>
            <p:cNvGrpSpPr/>
            <p:nvPr/>
          </p:nvGrpSpPr>
          <p:grpSpPr>
            <a:xfrm>
              <a:off x="5734608" y="4782693"/>
              <a:ext cx="4200124" cy="848518"/>
              <a:chOff x="3708787" y="2899251"/>
              <a:chExt cx="4562188" cy="1058188"/>
            </a:xfrm>
          </p:grpSpPr>
          <p:grpSp>
            <p:nvGrpSpPr>
              <p:cNvPr id="616" name="指令"/>
              <p:cNvGrpSpPr/>
              <p:nvPr/>
            </p:nvGrpSpPr>
            <p:grpSpPr>
              <a:xfrm>
                <a:off x="3751739" y="2899251"/>
                <a:ext cx="4403588" cy="1058188"/>
                <a:chOff x="4036219" y="4360386"/>
                <a:chExt cx="2411301" cy="579439"/>
              </a:xfrm>
            </p:grpSpPr>
            <p:grpSp>
              <p:nvGrpSpPr>
                <p:cNvPr id="622" name="组合 621"/>
                <p:cNvGrpSpPr/>
                <p:nvPr/>
              </p:nvGrpSpPr>
              <p:grpSpPr>
                <a:xfrm>
                  <a:off x="4036219" y="4536600"/>
                  <a:ext cx="233362" cy="230981"/>
                  <a:chOff x="3459957" y="3198019"/>
                  <a:chExt cx="233362" cy="230981"/>
                </a:xfrm>
              </p:grpSpPr>
              <p:sp>
                <p:nvSpPr>
                  <p:cNvPr id="661" name="矩形 660"/>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2" name="矩形 661"/>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3" name="矩形 622"/>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4" name="直接连接符 623"/>
                <p:cNvCxnSpPr>
                  <a:stCxn id="662"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25" name="组合 624"/>
                <p:cNvGrpSpPr/>
                <p:nvPr/>
              </p:nvGrpSpPr>
              <p:grpSpPr>
                <a:xfrm>
                  <a:off x="4583677" y="4531622"/>
                  <a:ext cx="224066" cy="235402"/>
                  <a:chOff x="3971697" y="3537291"/>
                  <a:chExt cx="224066" cy="235402"/>
                </a:xfrm>
              </p:grpSpPr>
              <p:sp>
                <p:nvSpPr>
                  <p:cNvPr id="654" name="矩形 653"/>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55" name="直接连接符 654"/>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56" name="直接连接符 655"/>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57" name="直接连接符 656"/>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58" name="直接连接符 657"/>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9" name="直接连接符 658"/>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0" name="直接连接符 659"/>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26" name="直接连接符 625"/>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27" name="任意多边形: 形状 626"/>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8" name="矩形 627"/>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9" name="矩形 628"/>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0" name="矩形 629"/>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1" name="矩形 630"/>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32" name="组合 631"/>
                <p:cNvGrpSpPr/>
                <p:nvPr/>
              </p:nvGrpSpPr>
              <p:grpSpPr>
                <a:xfrm rot="10800000">
                  <a:off x="6224134" y="4529592"/>
                  <a:ext cx="223386" cy="233308"/>
                  <a:chOff x="3970449" y="3541712"/>
                  <a:chExt cx="223386" cy="233308"/>
                </a:xfrm>
              </p:grpSpPr>
              <p:sp>
                <p:nvSpPr>
                  <p:cNvPr id="647" name="矩形 646"/>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48" name="直接连接符 647"/>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49" name="直接连接符 648"/>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50" name="直接连接符 649"/>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51" name="直接连接符 650"/>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2" name="直接连接符 651"/>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3" name="直接连接符 652"/>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33" name="直接连接符 632"/>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4" name="直接连接符 633"/>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5" name="直接连接符 634"/>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6" name="直接连接符 635"/>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7" name="直接连接符 636"/>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8" name="直接连接符 637"/>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9" name="直接连接符 638"/>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0" name="直接连接符 639"/>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1" name="直接连接符 640"/>
                <p:cNvCxnSpPr>
                  <a:stCxn id="630" idx="3"/>
                  <a:endCxn id="631"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2" name="直接连接符 641"/>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3" name="直接连接符 642"/>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4" name="直接连接符 643"/>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5" name="直接连接符 644"/>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6" name="直接连接符 645"/>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17" name="文本框 616"/>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618" name="文本框 617"/>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619" name="文本框 618"/>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620" name="文本框 619"/>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621" name="文本框 620"/>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cxnSp>
          <p:nvCxnSpPr>
            <p:cNvPr id="664" name="直接连接符 663"/>
            <p:cNvCxnSpPr/>
            <p:nvPr/>
          </p:nvCxnSpPr>
          <p:spPr>
            <a:xfrm flipV="1">
              <a:off x="6256879" y="2765711"/>
              <a:ext cx="156342" cy="3301889"/>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665" name="椭圆 664"/>
            <p:cNvSpPr/>
            <p:nvPr/>
          </p:nvSpPr>
          <p:spPr>
            <a:xfrm rot="10800000">
              <a:off x="6209205" y="6046105"/>
              <a:ext cx="100396" cy="100396"/>
            </a:xfrm>
            <a:prstGeom prst="ellipse">
              <a:avLst/>
            </a:prstGeom>
            <a:solidFill>
              <a:srgbClr val="54C9F5"/>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9" name="椭圆 668"/>
            <p:cNvSpPr/>
            <p:nvPr/>
          </p:nvSpPr>
          <p:spPr>
            <a:xfrm rot="10800000">
              <a:off x="6361660" y="2756688"/>
              <a:ext cx="100396" cy="100396"/>
            </a:xfrm>
            <a:prstGeom prst="ellipse">
              <a:avLst/>
            </a:prstGeom>
            <a:solidFill>
              <a:srgbClr val="54C9F5"/>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p:nvCxnSpPr>
          <p:spPr>
            <a:xfrm>
              <a:off x="2664823" y="2819687"/>
              <a:ext cx="0" cy="272197"/>
            </a:xfrm>
            <a:prstGeom prst="line">
              <a:avLst/>
            </a:prstGeom>
            <a:ln w="25400">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2656114" y="3091884"/>
              <a:ext cx="716021" cy="0"/>
            </a:xfrm>
            <a:prstGeom prst="line">
              <a:avLst/>
            </a:prstGeom>
            <a:ln w="25400">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3372135" y="3091884"/>
              <a:ext cx="0" cy="2476559"/>
            </a:xfrm>
            <a:prstGeom prst="line">
              <a:avLst/>
            </a:prstGeom>
            <a:ln w="25400">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267" name="直接连接符 266"/>
            <p:cNvCxnSpPr/>
            <p:nvPr/>
          </p:nvCxnSpPr>
          <p:spPr>
            <a:xfrm>
              <a:off x="2660464" y="5575964"/>
              <a:ext cx="0" cy="272197"/>
            </a:xfrm>
            <a:prstGeom prst="line">
              <a:avLst/>
            </a:prstGeom>
            <a:ln w="25400">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268" name="直接连接符 267"/>
            <p:cNvCxnSpPr/>
            <p:nvPr/>
          </p:nvCxnSpPr>
          <p:spPr>
            <a:xfrm>
              <a:off x="2651755" y="5560776"/>
              <a:ext cx="716021" cy="0"/>
            </a:xfrm>
            <a:prstGeom prst="line">
              <a:avLst/>
            </a:prstGeom>
            <a:ln w="25400">
              <a:solidFill>
                <a:srgbClr val="62CEF6"/>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3"/>
          <p:cNvSpPr>
            <a:spLocks noGrp="1" noChangeArrowheads="1"/>
          </p:cNvSpPr>
          <p:nvPr>
            <p:ph idx="1"/>
          </p:nvPr>
        </p:nvSpPr>
        <p:spPr/>
        <p:txBody>
          <a:bodyPr>
            <a:normAutofit/>
          </a:bodyPr>
          <a:lstStyle/>
          <a:p>
            <a:pPr eaLnBrk="1" hangingPunct="1"/>
            <a:r>
              <a:rPr lang="zh-CN" altLang="en-US" dirty="0">
                <a:latin typeface="Times New Roman" panose="02020603050405020304" pitchFamily="18" charset="0"/>
                <a:cs typeface="Times New Roman" panose="02020603050405020304" pitchFamily="18" charset="0"/>
              </a:rPr>
              <a:t>默认不发生分支跳转</a:t>
            </a:r>
            <a:endParaRPr lang="en-US" altLang="zh-CN" dirty="0">
              <a:latin typeface="Times New Roman" panose="02020603050405020304" pitchFamily="18" charset="0"/>
              <a:cs typeface="Times New Roman" panose="02020603050405020304" pitchFamily="18" charset="0"/>
            </a:endParaRPr>
          </a:p>
          <a:p>
            <a:pPr lvl="0"/>
            <a:r>
              <a:rPr lang="zh-CN" altLang="en-US" dirty="0">
                <a:latin typeface="Times New Roman" panose="02020603050405020304" pitchFamily="18" charset="0"/>
                <a:cs typeface="Times New Roman" panose="02020603050405020304" pitchFamily="18" charset="0"/>
              </a:rPr>
              <a:t>如果发生跳转，则清除掉后续的三条指令</a:t>
            </a:r>
            <a:endParaRPr lang="en-US" altLang="en-US" dirty="0">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8EE8E787-E6FE-45D8-9039-788B45E44EE7}" type="slidenum">
              <a:rPr lang="zh-CN" altLang="en-US" smtClean="0"/>
              <a:t>69</a:t>
            </a:fld>
            <a:endParaRPr lang="zh-CN" altLang="en-US" dirty="0"/>
          </a:p>
        </p:txBody>
      </p:sp>
      <p:sp>
        <p:nvSpPr>
          <p:cNvPr id="4" name="标题 3"/>
          <p:cNvSpPr>
            <a:spLocks noGrp="1"/>
          </p:cNvSpPr>
          <p:nvPr>
            <p:ph type="title"/>
          </p:nvPr>
        </p:nvSpPr>
        <p:spPr/>
        <p:txBody>
          <a:bodyPr/>
          <a:lstStyle/>
          <a:p>
            <a:r>
              <a:rPr lang="zh-CN" altLang="en-US" dirty="0"/>
              <a:t>假设分支不发生</a:t>
            </a:r>
          </a:p>
        </p:txBody>
      </p:sp>
      <p:grpSp>
        <p:nvGrpSpPr>
          <p:cNvPr id="3" name="组合 2"/>
          <p:cNvGrpSpPr/>
          <p:nvPr/>
        </p:nvGrpSpPr>
        <p:grpSpPr>
          <a:xfrm>
            <a:off x="48040" y="2155045"/>
            <a:ext cx="12001642" cy="4411690"/>
            <a:chOff x="-461479" y="2155045"/>
            <a:chExt cx="12001642" cy="4411690"/>
          </a:xfrm>
        </p:grpSpPr>
        <p:sp>
          <p:nvSpPr>
            <p:cNvPr id="663" name="矩形 662"/>
            <p:cNvSpPr/>
            <p:nvPr/>
          </p:nvSpPr>
          <p:spPr>
            <a:xfrm rot="10800000">
              <a:off x="10394457" y="5940662"/>
              <a:ext cx="204183" cy="338243"/>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798" name="AutoShape 6"/>
            <p:cNvSpPr/>
            <p:nvPr/>
          </p:nvSpPr>
          <p:spPr bwMode="auto">
            <a:xfrm>
              <a:off x="4169847" y="6077588"/>
              <a:ext cx="831396" cy="489147"/>
            </a:xfrm>
            <a:prstGeom prst="borderCallout1">
              <a:avLst>
                <a:gd name="adj1" fmla="val 49452"/>
                <a:gd name="adj2" fmla="val 99478"/>
                <a:gd name="adj3" fmla="val 4207"/>
                <a:gd name="adj4" fmla="val 241610"/>
              </a:avLst>
            </a:prstGeom>
            <a:solidFill>
              <a:schemeClr val="accent1">
                <a:lumMod val="20000"/>
                <a:lumOff val="80000"/>
              </a:schemeClr>
            </a:solidFill>
            <a:ln w="19050">
              <a:solidFill>
                <a:schemeClr val="tx1"/>
              </a:solidFill>
              <a:miter lim="800000"/>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2400" dirty="0"/>
                <a:t>PC</a:t>
              </a:r>
              <a:endParaRPr lang="en-AU" altLang="en-US" sz="1400" dirty="0"/>
            </a:p>
          </p:txBody>
        </p:sp>
        <p:sp>
          <p:nvSpPr>
            <p:cNvPr id="33799" name="Text Box 7"/>
            <p:cNvSpPr txBox="1">
              <a:spLocks noChangeArrowheads="1"/>
            </p:cNvSpPr>
            <p:nvPr/>
          </p:nvSpPr>
          <p:spPr bwMode="auto">
            <a:xfrm>
              <a:off x="10129343" y="3551247"/>
              <a:ext cx="1410820" cy="1569660"/>
            </a:xfrm>
            <a:prstGeom prst="rect">
              <a:avLst/>
            </a:prstGeom>
            <a:solidFill>
              <a:schemeClr val="accent1">
                <a:lumMod val="20000"/>
                <a:lumOff val="80000"/>
              </a:schemeClr>
            </a:solidFill>
            <a:ln w="9525">
              <a:solidFill>
                <a:schemeClr val="accent1">
                  <a:lumMod val="20000"/>
                  <a:lumOff val="80000"/>
                </a:schemeClr>
              </a:solidFill>
              <a:miter lim="800000"/>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2400" dirty="0"/>
                <a:t>这些指令</a:t>
              </a:r>
              <a:endParaRPr lang="en-US" altLang="zh-CN" sz="2400" dirty="0"/>
            </a:p>
            <a:p>
              <a:pPr>
                <a:spcBef>
                  <a:spcPct val="0"/>
                </a:spcBef>
                <a:buClrTx/>
                <a:buSzTx/>
                <a:buFontTx/>
                <a:buNone/>
              </a:pPr>
              <a:r>
                <a:rPr lang="zh-CN" altLang="en-US" sz="2400" dirty="0"/>
                <a:t>需要被清除（控制信号清</a:t>
              </a:r>
              <a:r>
                <a:rPr lang="en-US" altLang="zh-CN" sz="2400" dirty="0"/>
                <a:t>0</a:t>
              </a:r>
              <a:r>
                <a:rPr lang="zh-CN" altLang="en-US" sz="2400" dirty="0"/>
                <a:t>）</a:t>
              </a:r>
              <a:endParaRPr lang="en-AU" altLang="en-US" sz="2400" dirty="0"/>
            </a:p>
          </p:txBody>
        </p:sp>
        <p:sp>
          <p:nvSpPr>
            <p:cNvPr id="33800" name="AutoShape 8"/>
            <p:cNvSpPr/>
            <p:nvPr/>
          </p:nvSpPr>
          <p:spPr bwMode="auto">
            <a:xfrm>
              <a:off x="9768380" y="3506986"/>
              <a:ext cx="215900" cy="1800225"/>
            </a:xfrm>
            <a:prstGeom prst="rightBrace">
              <a:avLst>
                <a:gd name="adj1" fmla="val 69485"/>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en-US" sz="1600"/>
            </a:p>
          </p:txBody>
        </p:sp>
        <p:grpSp>
          <p:nvGrpSpPr>
            <p:cNvPr id="413" name="组合 412"/>
            <p:cNvGrpSpPr/>
            <p:nvPr/>
          </p:nvGrpSpPr>
          <p:grpSpPr>
            <a:xfrm>
              <a:off x="-461479" y="2218975"/>
              <a:ext cx="3629429" cy="4131502"/>
              <a:chOff x="-593590" y="2574409"/>
              <a:chExt cx="3629429" cy="4131502"/>
            </a:xfrm>
          </p:grpSpPr>
          <p:grpSp>
            <p:nvGrpSpPr>
              <p:cNvPr id="414" name="Program"/>
              <p:cNvGrpSpPr/>
              <p:nvPr/>
            </p:nvGrpSpPr>
            <p:grpSpPr>
              <a:xfrm>
                <a:off x="-593590" y="2574409"/>
                <a:ext cx="3481073" cy="4131502"/>
                <a:chOff x="-996551" y="2879228"/>
                <a:chExt cx="3481073" cy="4131502"/>
              </a:xfrm>
            </p:grpSpPr>
            <p:cxnSp>
              <p:nvCxnSpPr>
                <p:cNvPr id="418" name="直接箭头连接符 417"/>
                <p:cNvCxnSpPr/>
                <p:nvPr/>
              </p:nvCxnSpPr>
              <p:spPr>
                <a:xfrm>
                  <a:off x="388839" y="3135732"/>
                  <a:ext cx="0" cy="3874998"/>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419" name="文本框 418"/>
                <p:cNvSpPr txBox="1"/>
                <p:nvPr/>
              </p:nvSpPr>
              <p:spPr>
                <a:xfrm>
                  <a:off x="-996551" y="2879228"/>
                  <a:ext cx="2046532" cy="1323439"/>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Program execution </a:t>
                  </a:r>
                </a:p>
                <a:p>
                  <a:r>
                    <a:rPr lang="en-US" altLang="zh-CN" sz="2000" dirty="0">
                      <a:latin typeface="Times New Roman" panose="02020603050405020304" pitchFamily="18" charset="0"/>
                      <a:cs typeface="Times New Roman" panose="02020603050405020304" pitchFamily="18" charset="0"/>
                    </a:rPr>
                    <a:t>order  (in </a:t>
                  </a:r>
                </a:p>
                <a:p>
                  <a:r>
                    <a:rPr lang="en-US" altLang="zh-CN" sz="2000" dirty="0">
                      <a:latin typeface="Times New Roman" panose="02020603050405020304" pitchFamily="18" charset="0"/>
                      <a:cs typeface="Times New Roman" panose="02020603050405020304" pitchFamily="18" charset="0"/>
                    </a:rPr>
                    <a:t>instructions)</a:t>
                  </a:r>
                  <a:endParaRPr lang="zh-CN" altLang="en-US" sz="2000" dirty="0">
                    <a:latin typeface="Times New Roman" panose="02020603050405020304" pitchFamily="18" charset="0"/>
                    <a:cs typeface="Times New Roman" panose="02020603050405020304" pitchFamily="18" charset="0"/>
                  </a:endParaRPr>
                </a:p>
              </p:txBody>
            </p:sp>
            <p:sp>
              <p:nvSpPr>
                <p:cNvPr id="420" name="文本框 419"/>
                <p:cNvSpPr txBox="1"/>
                <p:nvPr/>
              </p:nvSpPr>
              <p:spPr>
                <a:xfrm>
                  <a:off x="371794" y="3061523"/>
                  <a:ext cx="2112728"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40 </a:t>
                  </a:r>
                  <a:r>
                    <a:rPr lang="en-US" altLang="zh-CN" dirty="0" err="1">
                      <a:latin typeface="Times New Roman" panose="02020603050405020304" pitchFamily="18" charset="0"/>
                      <a:cs typeface="Times New Roman" panose="02020603050405020304" pitchFamily="18" charset="0"/>
                    </a:rPr>
                    <a:t>beq</a:t>
                  </a:r>
                  <a:r>
                    <a:rPr lang="en-US" altLang="zh-CN" dirty="0">
                      <a:latin typeface="Times New Roman" panose="02020603050405020304" pitchFamily="18" charset="0"/>
                      <a:cs typeface="Times New Roman" panose="02020603050405020304" pitchFamily="18" charset="0"/>
                    </a:rPr>
                    <a:t> x1,x0,label</a:t>
                  </a:r>
                  <a:endParaRPr lang="zh-CN" altLang="en-US" dirty="0">
                    <a:latin typeface="Times New Roman" panose="02020603050405020304" pitchFamily="18" charset="0"/>
                    <a:cs typeface="Times New Roman" panose="02020603050405020304" pitchFamily="18" charset="0"/>
                  </a:endParaRPr>
                </a:p>
              </p:txBody>
            </p:sp>
            <p:sp>
              <p:nvSpPr>
                <p:cNvPr id="421" name="文本框 420"/>
                <p:cNvSpPr txBox="1"/>
                <p:nvPr/>
              </p:nvSpPr>
              <p:spPr>
                <a:xfrm>
                  <a:off x="383650" y="3896532"/>
                  <a:ext cx="1848412" cy="369332"/>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r>
                    <a:rPr lang="en-US" altLang="zh-CN" dirty="0"/>
                    <a:t>44 and x12,x2,x5</a:t>
                  </a:r>
                  <a:endParaRPr lang="zh-CN" altLang="en-US" dirty="0"/>
                </a:p>
              </p:txBody>
            </p:sp>
          </p:grpSp>
          <p:sp>
            <p:nvSpPr>
              <p:cNvPr id="415" name="文本框 414"/>
              <p:cNvSpPr txBox="1"/>
              <p:nvPr/>
            </p:nvSpPr>
            <p:spPr>
              <a:xfrm>
                <a:off x="774755" y="4480652"/>
                <a:ext cx="1928927" cy="369332"/>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r>
                  <a:rPr lang="en-US" altLang="zh-CN" dirty="0"/>
                  <a:t>48 or x13,x6,x2</a:t>
                </a:r>
                <a:endParaRPr lang="zh-CN" altLang="en-US" dirty="0"/>
              </a:p>
            </p:txBody>
          </p:sp>
          <p:sp>
            <p:nvSpPr>
              <p:cNvPr id="416" name="文本框 415"/>
              <p:cNvSpPr txBox="1"/>
              <p:nvPr/>
            </p:nvSpPr>
            <p:spPr>
              <a:xfrm>
                <a:off x="751218" y="5432321"/>
                <a:ext cx="1927423" cy="369332"/>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r>
                  <a:rPr lang="en-US" altLang="zh-CN" dirty="0"/>
                  <a:t>52 add x14,x2,x2</a:t>
                </a:r>
                <a:endParaRPr lang="zh-CN" altLang="en-US" dirty="0"/>
              </a:p>
            </p:txBody>
          </p:sp>
          <p:sp>
            <p:nvSpPr>
              <p:cNvPr id="417" name="文本框 416"/>
              <p:cNvSpPr txBox="1"/>
              <p:nvPr/>
            </p:nvSpPr>
            <p:spPr>
              <a:xfrm>
                <a:off x="803782" y="6273819"/>
                <a:ext cx="2232057" cy="369332"/>
              </a:xfrm>
              <a:prstGeom prst="rect">
                <a:avLst/>
              </a:prstGeom>
              <a:noFill/>
            </p:spPr>
            <p:txBody>
              <a:bodyPr wrap="square" rtlCol="0">
                <a:spAutoFit/>
              </a:bodyPr>
              <a:lstStyle>
                <a:defPPr>
                  <a:defRPr lang="zh-CN"/>
                </a:defPPr>
                <a:lvl1pPr>
                  <a:defRPr>
                    <a:latin typeface="Times New Roman" panose="02020603050405020304" pitchFamily="18" charset="0"/>
                    <a:cs typeface="Times New Roman" panose="02020603050405020304" pitchFamily="18" charset="0"/>
                  </a:defRPr>
                </a:lvl1pPr>
              </a:lstStyle>
              <a:p>
                <a:r>
                  <a:rPr lang="en-US" altLang="zh-CN" dirty="0"/>
                  <a:t>72 label: </a:t>
                </a:r>
                <a:r>
                  <a:rPr lang="en-US" altLang="zh-CN" dirty="0" err="1"/>
                  <a:t>ld</a:t>
                </a:r>
                <a:r>
                  <a:rPr lang="en-US" altLang="zh-CN" dirty="0"/>
                  <a:t> x4,100(x7)</a:t>
                </a:r>
                <a:endParaRPr lang="zh-CN" altLang="en-US" dirty="0"/>
              </a:p>
            </p:txBody>
          </p:sp>
        </p:grpSp>
        <p:grpSp>
          <p:nvGrpSpPr>
            <p:cNvPr id="422" name="指令"/>
            <p:cNvGrpSpPr/>
            <p:nvPr/>
          </p:nvGrpSpPr>
          <p:grpSpPr>
            <a:xfrm>
              <a:off x="6663819" y="5685835"/>
              <a:ext cx="4200124" cy="848518"/>
              <a:chOff x="3708787" y="2899251"/>
              <a:chExt cx="4562188" cy="1058188"/>
            </a:xfrm>
          </p:grpSpPr>
          <p:grpSp>
            <p:nvGrpSpPr>
              <p:cNvPr id="423" name="指令"/>
              <p:cNvGrpSpPr/>
              <p:nvPr/>
            </p:nvGrpSpPr>
            <p:grpSpPr>
              <a:xfrm>
                <a:off x="3751739" y="2899251"/>
                <a:ext cx="4403588" cy="1058188"/>
                <a:chOff x="4036219" y="4360386"/>
                <a:chExt cx="2411301" cy="579439"/>
              </a:xfrm>
            </p:grpSpPr>
            <p:grpSp>
              <p:nvGrpSpPr>
                <p:cNvPr id="429" name="组合 428"/>
                <p:cNvGrpSpPr/>
                <p:nvPr/>
              </p:nvGrpSpPr>
              <p:grpSpPr>
                <a:xfrm>
                  <a:off x="4036219" y="4536600"/>
                  <a:ext cx="233362" cy="230981"/>
                  <a:chOff x="3459957" y="3198019"/>
                  <a:chExt cx="233362" cy="230981"/>
                </a:xfrm>
              </p:grpSpPr>
              <p:sp>
                <p:nvSpPr>
                  <p:cNvPr id="469" name="矩形 468"/>
                  <p:cNvSpPr/>
                  <p:nvPr/>
                </p:nvSpPr>
                <p:spPr>
                  <a:xfrm>
                    <a:off x="3571875" y="3198019"/>
                    <a:ext cx="121444" cy="230981"/>
                  </a:xfrm>
                  <a:prstGeom prst="rect">
                    <a:avLst/>
                  </a:prstGeom>
                  <a:solidFill>
                    <a:srgbClr val="9CDC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0" name="矩形 469"/>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0" name="矩形 429"/>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1" name="直接连接符 430"/>
                <p:cNvCxnSpPr>
                  <a:stCxn id="470" idx="3"/>
                </p:cNvCxnSpPr>
                <p:nvPr/>
              </p:nvCxnSpPr>
              <p:spPr>
                <a:xfrm>
                  <a:off x="4269581" y="4652091"/>
                  <a:ext cx="111918" cy="0"/>
                </a:xfrm>
                <a:prstGeom prst="line">
                  <a:avLst/>
                </a:prstGeom>
                <a:ln w="19050">
                  <a:solidFill>
                    <a:srgbClr val="9CDCF9"/>
                  </a:solidFill>
                </a:ln>
              </p:spPr>
              <p:style>
                <a:lnRef idx="1">
                  <a:schemeClr val="accent1"/>
                </a:lnRef>
                <a:fillRef idx="0">
                  <a:schemeClr val="accent1"/>
                </a:fillRef>
                <a:effectRef idx="0">
                  <a:schemeClr val="accent1"/>
                </a:effectRef>
                <a:fontRef idx="minor">
                  <a:schemeClr val="tx1"/>
                </a:fontRef>
              </p:style>
            </p:cxnSp>
            <p:grpSp>
              <p:nvGrpSpPr>
                <p:cNvPr id="432" name="组合 431"/>
                <p:cNvGrpSpPr/>
                <p:nvPr/>
              </p:nvGrpSpPr>
              <p:grpSpPr>
                <a:xfrm>
                  <a:off x="4583677" y="4531622"/>
                  <a:ext cx="224066" cy="235402"/>
                  <a:chOff x="3971697" y="3537291"/>
                  <a:chExt cx="224066" cy="235402"/>
                </a:xfrm>
              </p:grpSpPr>
              <p:sp>
                <p:nvSpPr>
                  <p:cNvPr id="462" name="矩形 461"/>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63" name="直接连接符 462"/>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64" name="直接连接符 463"/>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65" name="直接连接符 464"/>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66" name="直接连接符 465"/>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7" name="直接连接符 466"/>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8" name="直接连接符 467"/>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33" name="直接连接符 432"/>
                <p:cNvCxnSpPr/>
                <p:nvPr/>
              </p:nvCxnSpPr>
              <p:spPr>
                <a:xfrm>
                  <a:off x="4456906" y="4653678"/>
                  <a:ext cx="127198" cy="0"/>
                </a:xfrm>
                <a:prstGeom prst="line">
                  <a:avLst/>
                </a:prstGeom>
                <a:ln w="19050">
                  <a:solidFill>
                    <a:srgbClr val="9CDCF9"/>
                  </a:solidFill>
                </a:ln>
              </p:spPr>
              <p:style>
                <a:lnRef idx="1">
                  <a:schemeClr val="accent1"/>
                </a:lnRef>
                <a:fillRef idx="0">
                  <a:schemeClr val="accent1"/>
                </a:fillRef>
                <a:effectRef idx="0">
                  <a:schemeClr val="accent1"/>
                </a:effectRef>
                <a:fontRef idx="minor">
                  <a:schemeClr val="tx1"/>
                </a:fontRef>
              </p:style>
            </p:cxnSp>
            <p:sp>
              <p:nvSpPr>
                <p:cNvPr id="434" name="任意多边形: 形状 433"/>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5" name="矩形 434"/>
                <p:cNvSpPr/>
                <p:nvPr/>
              </p:nvSpPr>
              <p:spPr>
                <a:xfrm>
                  <a:off x="4939315"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6" name="矩形 435"/>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37" name="组合 436"/>
                <p:cNvGrpSpPr/>
                <p:nvPr/>
              </p:nvGrpSpPr>
              <p:grpSpPr>
                <a:xfrm>
                  <a:off x="5688014" y="4536601"/>
                  <a:ext cx="233362" cy="230981"/>
                  <a:chOff x="3459957" y="3198019"/>
                  <a:chExt cx="233362" cy="230981"/>
                </a:xfrm>
              </p:grpSpPr>
              <p:sp>
                <p:nvSpPr>
                  <p:cNvPr id="460" name="矩形 459"/>
                  <p:cNvSpPr/>
                  <p:nvPr/>
                </p:nvSpPr>
                <p:spPr>
                  <a:xfrm>
                    <a:off x="3567578"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1" name="矩形 460"/>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8" name="矩形 437"/>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39" name="组合 438"/>
                <p:cNvGrpSpPr/>
                <p:nvPr/>
              </p:nvGrpSpPr>
              <p:grpSpPr>
                <a:xfrm rot="10800000">
                  <a:off x="6224134" y="4529592"/>
                  <a:ext cx="223386" cy="232211"/>
                  <a:chOff x="3970449" y="3542809"/>
                  <a:chExt cx="223386" cy="232211"/>
                </a:xfrm>
              </p:grpSpPr>
              <p:cxnSp>
                <p:nvCxnSpPr>
                  <p:cNvPr id="454" name="直接连接符 453"/>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55" name="直接连接符 454"/>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56" name="直接连接符 455"/>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57" name="直接连接符 456"/>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8" name="直接连接符 457"/>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9" name="直接连接符 458"/>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40" name="直接连接符 439"/>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1" name="直接连接符 440"/>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2" name="直接连接符 441"/>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3" name="直接连接符 442"/>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4" name="直接连接符 443"/>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5" name="直接连接符 444"/>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6" name="直接连接符 445"/>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7" name="直接连接符 446"/>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8" name="直接连接符 447"/>
                <p:cNvCxnSpPr>
                  <a:stCxn id="461" idx="3"/>
                  <a:endCxn id="438"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9" name="直接连接符 448"/>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0" name="直接连接符 449"/>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1" name="直接连接符 450"/>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2" name="直接连接符 451"/>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3" name="直接连接符 452"/>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24" name="文本框 423"/>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425" name="文本框 424"/>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426" name="文本框 425"/>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427" name="文本框 426"/>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428" name="文本框 427"/>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471" name="指令"/>
            <p:cNvGrpSpPr/>
            <p:nvPr/>
          </p:nvGrpSpPr>
          <p:grpSpPr>
            <a:xfrm>
              <a:off x="3872726" y="3027954"/>
              <a:ext cx="4200124" cy="848518"/>
              <a:chOff x="3708787" y="2899251"/>
              <a:chExt cx="4562188" cy="1058188"/>
            </a:xfrm>
          </p:grpSpPr>
          <p:grpSp>
            <p:nvGrpSpPr>
              <p:cNvPr id="472" name="指令"/>
              <p:cNvGrpSpPr/>
              <p:nvPr/>
            </p:nvGrpSpPr>
            <p:grpSpPr>
              <a:xfrm>
                <a:off x="3751739" y="2899251"/>
                <a:ext cx="4403588" cy="1058188"/>
                <a:chOff x="4036219" y="4360386"/>
                <a:chExt cx="2411301" cy="579439"/>
              </a:xfrm>
            </p:grpSpPr>
            <p:grpSp>
              <p:nvGrpSpPr>
                <p:cNvPr id="478" name="组合 477"/>
                <p:cNvGrpSpPr/>
                <p:nvPr/>
              </p:nvGrpSpPr>
              <p:grpSpPr>
                <a:xfrm>
                  <a:off x="4036219" y="4536600"/>
                  <a:ext cx="233362" cy="230981"/>
                  <a:chOff x="3459957" y="3198019"/>
                  <a:chExt cx="233362" cy="230981"/>
                </a:xfrm>
              </p:grpSpPr>
              <p:sp>
                <p:nvSpPr>
                  <p:cNvPr id="517" name="矩形 516"/>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8" name="矩形 517"/>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9" name="矩形 478"/>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80" name="直接连接符 479"/>
                <p:cNvCxnSpPr>
                  <a:stCxn id="518"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81" name="组合 480"/>
                <p:cNvGrpSpPr/>
                <p:nvPr/>
              </p:nvGrpSpPr>
              <p:grpSpPr>
                <a:xfrm>
                  <a:off x="4583677" y="4531622"/>
                  <a:ext cx="224066" cy="235402"/>
                  <a:chOff x="3971697" y="3537291"/>
                  <a:chExt cx="224066" cy="235402"/>
                </a:xfrm>
              </p:grpSpPr>
              <p:sp>
                <p:nvSpPr>
                  <p:cNvPr id="510" name="矩形 509"/>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11" name="直接连接符 510"/>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12" name="直接连接符 511"/>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13" name="直接连接符 512"/>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14" name="直接连接符 513"/>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5" name="直接连接符 514"/>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6" name="直接连接符 515"/>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82" name="直接连接符 481"/>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83" name="任意多边形: 形状 482"/>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4" name="矩形 483"/>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5" name="矩形 484"/>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86" name="矩形 485"/>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7" name="矩形 486"/>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88" name="组合 487"/>
                <p:cNvGrpSpPr/>
                <p:nvPr/>
              </p:nvGrpSpPr>
              <p:grpSpPr>
                <a:xfrm rot="10800000">
                  <a:off x="6224134" y="4529592"/>
                  <a:ext cx="223386" cy="233308"/>
                  <a:chOff x="3970449" y="3541712"/>
                  <a:chExt cx="223386" cy="233308"/>
                </a:xfrm>
              </p:grpSpPr>
              <p:sp>
                <p:nvSpPr>
                  <p:cNvPr id="503" name="矩形 502"/>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04" name="直接连接符 503"/>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05" name="直接连接符 504"/>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06" name="直接连接符 505"/>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07" name="直接连接符 506"/>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8" name="直接连接符 507"/>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9" name="直接连接符 508"/>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89" name="直接连接符 488"/>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0" name="直接连接符 489"/>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1" name="直接连接符 490"/>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2" name="直接连接符 491"/>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3" name="直接连接符 492"/>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4" name="直接连接符 493"/>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5" name="直接连接符 494"/>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6" name="直接连接符 495"/>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7" name="直接连接符 496"/>
                <p:cNvCxnSpPr>
                  <a:stCxn id="486" idx="3"/>
                  <a:endCxn id="487"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8" name="直接连接符 497"/>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9" name="直接连接符 498"/>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0" name="直接连接符 499"/>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1" name="直接连接符 500"/>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2" name="直接连接符 501"/>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73" name="文本框 472"/>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474" name="文本框 473"/>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475" name="文本框 474"/>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476" name="文本框 475"/>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477" name="文本框 476"/>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519" name="指令"/>
            <p:cNvGrpSpPr/>
            <p:nvPr/>
          </p:nvGrpSpPr>
          <p:grpSpPr>
            <a:xfrm>
              <a:off x="2940241" y="2155045"/>
              <a:ext cx="4200124" cy="848518"/>
              <a:chOff x="3708787" y="2899251"/>
              <a:chExt cx="4562188" cy="1058188"/>
            </a:xfrm>
          </p:grpSpPr>
          <p:grpSp>
            <p:nvGrpSpPr>
              <p:cNvPr id="520" name="指令"/>
              <p:cNvGrpSpPr/>
              <p:nvPr/>
            </p:nvGrpSpPr>
            <p:grpSpPr>
              <a:xfrm>
                <a:off x="3751739" y="2899251"/>
                <a:ext cx="4403588" cy="1058188"/>
                <a:chOff x="4036219" y="4360386"/>
                <a:chExt cx="2411301" cy="579439"/>
              </a:xfrm>
            </p:grpSpPr>
            <p:grpSp>
              <p:nvGrpSpPr>
                <p:cNvPr id="526" name="组合 525"/>
                <p:cNvGrpSpPr/>
                <p:nvPr/>
              </p:nvGrpSpPr>
              <p:grpSpPr>
                <a:xfrm>
                  <a:off x="4036219" y="4536600"/>
                  <a:ext cx="233362" cy="230981"/>
                  <a:chOff x="3459957" y="3198019"/>
                  <a:chExt cx="233362" cy="230981"/>
                </a:xfrm>
              </p:grpSpPr>
              <p:sp>
                <p:nvSpPr>
                  <p:cNvPr id="565" name="矩形 564"/>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6" name="矩形 565"/>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27" name="矩形 526"/>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28" name="直接连接符 527"/>
                <p:cNvCxnSpPr>
                  <a:stCxn id="566"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29" name="组合 528"/>
                <p:cNvGrpSpPr/>
                <p:nvPr/>
              </p:nvGrpSpPr>
              <p:grpSpPr>
                <a:xfrm>
                  <a:off x="4583677" y="4531622"/>
                  <a:ext cx="224066" cy="235402"/>
                  <a:chOff x="3971697" y="3537291"/>
                  <a:chExt cx="224066" cy="235402"/>
                </a:xfrm>
              </p:grpSpPr>
              <p:sp>
                <p:nvSpPr>
                  <p:cNvPr id="558" name="矩形 557"/>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559" name="直接连接符 558"/>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60" name="直接连接符 559"/>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61" name="直接连接符 560"/>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62" name="直接连接符 561"/>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3" name="直接连接符 562"/>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4" name="直接连接符 563"/>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30" name="直接连接符 529"/>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31" name="任意多边形: 形状 530"/>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2" name="矩形 531"/>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3" name="矩形 532"/>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4" name="矩形 533"/>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5" name="矩形 534"/>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36" name="组合 535"/>
                <p:cNvGrpSpPr/>
                <p:nvPr/>
              </p:nvGrpSpPr>
              <p:grpSpPr>
                <a:xfrm rot="10800000">
                  <a:off x="6224134" y="4529592"/>
                  <a:ext cx="223386" cy="232211"/>
                  <a:chOff x="3970449" y="3542809"/>
                  <a:chExt cx="223386" cy="232211"/>
                </a:xfrm>
              </p:grpSpPr>
              <p:cxnSp>
                <p:nvCxnSpPr>
                  <p:cNvPr id="552" name="直接连接符 551"/>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53" name="直接连接符 552"/>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54" name="直接连接符 553"/>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55" name="直接连接符 554"/>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6" name="直接连接符 555"/>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7" name="直接连接符 556"/>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37" name="直接连接符 536"/>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8" name="直接连接符 537"/>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9" name="直接连接符 538"/>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0" name="直接连接符 539"/>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1" name="直接连接符 540"/>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2" name="直接连接符 541"/>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3" name="直接连接符 542"/>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4" name="直接连接符 543"/>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5" name="直接连接符 544"/>
                <p:cNvCxnSpPr>
                  <a:stCxn id="534" idx="3"/>
                  <a:endCxn id="535"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6" name="直接连接符 545"/>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7" name="直接连接符 546"/>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8" name="直接连接符 547"/>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9" name="直接连接符 548"/>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0" name="直接连接符 549"/>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21" name="文本框 520"/>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522" name="文本框 521"/>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523" name="文本框 522"/>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524" name="文本框 523"/>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525" name="文本框 524"/>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567" name="指令"/>
            <p:cNvGrpSpPr/>
            <p:nvPr/>
          </p:nvGrpSpPr>
          <p:grpSpPr>
            <a:xfrm>
              <a:off x="4802738" y="3904907"/>
              <a:ext cx="4200124" cy="848518"/>
              <a:chOff x="3708787" y="2899251"/>
              <a:chExt cx="4562188" cy="1058188"/>
            </a:xfrm>
          </p:grpSpPr>
          <p:grpSp>
            <p:nvGrpSpPr>
              <p:cNvPr id="568" name="指令"/>
              <p:cNvGrpSpPr/>
              <p:nvPr/>
            </p:nvGrpSpPr>
            <p:grpSpPr>
              <a:xfrm>
                <a:off x="3751739" y="2899251"/>
                <a:ext cx="4403588" cy="1058188"/>
                <a:chOff x="4036219" y="4360386"/>
                <a:chExt cx="2411301" cy="579439"/>
              </a:xfrm>
            </p:grpSpPr>
            <p:grpSp>
              <p:nvGrpSpPr>
                <p:cNvPr id="574" name="组合 573"/>
                <p:cNvGrpSpPr/>
                <p:nvPr/>
              </p:nvGrpSpPr>
              <p:grpSpPr>
                <a:xfrm>
                  <a:off x="4036219" y="4536600"/>
                  <a:ext cx="233362" cy="230981"/>
                  <a:chOff x="3459957" y="3198019"/>
                  <a:chExt cx="233362" cy="230981"/>
                </a:xfrm>
              </p:grpSpPr>
              <p:sp>
                <p:nvSpPr>
                  <p:cNvPr id="613" name="矩形 612"/>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4" name="矩形 613"/>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75" name="矩形 574"/>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76" name="直接连接符 575"/>
                <p:cNvCxnSpPr>
                  <a:stCxn id="614"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77" name="组合 576"/>
                <p:cNvGrpSpPr/>
                <p:nvPr/>
              </p:nvGrpSpPr>
              <p:grpSpPr>
                <a:xfrm>
                  <a:off x="4583677" y="4531622"/>
                  <a:ext cx="224066" cy="235402"/>
                  <a:chOff x="3971697" y="3537291"/>
                  <a:chExt cx="224066" cy="235402"/>
                </a:xfrm>
              </p:grpSpPr>
              <p:sp>
                <p:nvSpPr>
                  <p:cNvPr id="606" name="矩形 605"/>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07" name="直接连接符 606"/>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08" name="直接连接符 607"/>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09" name="直接连接符 608"/>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10" name="直接连接符 609"/>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1" name="直接连接符 610"/>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2" name="直接连接符 611"/>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78" name="直接连接符 577"/>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79" name="任意多边形: 形状 578"/>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0" name="矩形 579"/>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1" name="矩形 580"/>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2" name="矩形 581"/>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3" name="矩形 582"/>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84" name="组合 583"/>
                <p:cNvGrpSpPr/>
                <p:nvPr/>
              </p:nvGrpSpPr>
              <p:grpSpPr>
                <a:xfrm rot="10800000">
                  <a:off x="6224134" y="4529592"/>
                  <a:ext cx="223386" cy="233308"/>
                  <a:chOff x="3970449" y="3541712"/>
                  <a:chExt cx="223386" cy="233308"/>
                </a:xfrm>
              </p:grpSpPr>
              <p:sp>
                <p:nvSpPr>
                  <p:cNvPr id="599" name="矩形 598"/>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00" name="直接连接符 599"/>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01" name="直接连接符 600"/>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02" name="直接连接符 601"/>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03" name="直接连接符 602"/>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4" name="直接连接符 603"/>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5" name="直接连接符 604"/>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85" name="直接连接符 584"/>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6" name="直接连接符 585"/>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7" name="直接连接符 586"/>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8" name="直接连接符 587"/>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9" name="直接连接符 588"/>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0" name="直接连接符 589"/>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1" name="直接连接符 590"/>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2" name="直接连接符 591"/>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3" name="直接连接符 592"/>
                <p:cNvCxnSpPr>
                  <a:stCxn id="582" idx="3"/>
                  <a:endCxn id="583"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4" name="直接连接符 593"/>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5" name="直接连接符 594"/>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6" name="直接连接符 595"/>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7" name="直接连接符 596"/>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8" name="直接连接符 597"/>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69" name="文本框 568"/>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570" name="文本框 569"/>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571" name="文本框 570"/>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572" name="文本框 571"/>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573" name="文本框 572"/>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grpSp>
          <p:nvGrpSpPr>
            <p:cNvPr id="615" name="指令"/>
            <p:cNvGrpSpPr/>
            <p:nvPr/>
          </p:nvGrpSpPr>
          <p:grpSpPr>
            <a:xfrm>
              <a:off x="5734608" y="4782693"/>
              <a:ext cx="4200124" cy="848518"/>
              <a:chOff x="3708787" y="2899251"/>
              <a:chExt cx="4562188" cy="1058188"/>
            </a:xfrm>
          </p:grpSpPr>
          <p:grpSp>
            <p:nvGrpSpPr>
              <p:cNvPr id="616" name="指令"/>
              <p:cNvGrpSpPr/>
              <p:nvPr/>
            </p:nvGrpSpPr>
            <p:grpSpPr>
              <a:xfrm>
                <a:off x="3751739" y="2899251"/>
                <a:ext cx="4403588" cy="1058188"/>
                <a:chOff x="4036219" y="4360386"/>
                <a:chExt cx="2411301" cy="579439"/>
              </a:xfrm>
            </p:grpSpPr>
            <p:grpSp>
              <p:nvGrpSpPr>
                <p:cNvPr id="622" name="组合 621"/>
                <p:cNvGrpSpPr/>
                <p:nvPr/>
              </p:nvGrpSpPr>
              <p:grpSpPr>
                <a:xfrm>
                  <a:off x="4036219" y="4536600"/>
                  <a:ext cx="233362" cy="230981"/>
                  <a:chOff x="3459957" y="3198019"/>
                  <a:chExt cx="233362" cy="230981"/>
                </a:xfrm>
              </p:grpSpPr>
              <p:sp>
                <p:nvSpPr>
                  <p:cNvPr id="661" name="矩形 660"/>
                  <p:cNvSpPr/>
                  <p:nvPr/>
                </p:nvSpPr>
                <p:spPr>
                  <a:xfrm>
                    <a:off x="3571875" y="3198019"/>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2" name="矩形 661"/>
                  <p:cNvSpPr/>
                  <p:nvPr/>
                </p:nvSpPr>
                <p:spPr>
                  <a:xfrm>
                    <a:off x="3459957" y="3198019"/>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23" name="矩形 622"/>
                <p:cNvSpPr/>
                <p:nvPr/>
              </p:nvSpPr>
              <p:spPr>
                <a:xfrm>
                  <a:off x="4383088" y="4360386"/>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4" name="直接连接符 623"/>
                <p:cNvCxnSpPr>
                  <a:stCxn id="662" idx="3"/>
                </p:cNvCxnSpPr>
                <p:nvPr/>
              </p:nvCxnSpPr>
              <p:spPr>
                <a:xfrm>
                  <a:off x="4269581" y="4652091"/>
                  <a:ext cx="11191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25" name="组合 624"/>
                <p:cNvGrpSpPr/>
                <p:nvPr/>
              </p:nvGrpSpPr>
              <p:grpSpPr>
                <a:xfrm>
                  <a:off x="4583677" y="4531622"/>
                  <a:ext cx="224066" cy="235402"/>
                  <a:chOff x="3971697" y="3537291"/>
                  <a:chExt cx="224066" cy="235402"/>
                </a:xfrm>
              </p:grpSpPr>
              <p:sp>
                <p:nvSpPr>
                  <p:cNvPr id="654" name="矩形 653"/>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55" name="直接连接符 654"/>
                  <p:cNvCxnSpPr/>
                  <p:nvPr/>
                </p:nvCxnSpPr>
                <p:spPr>
                  <a:xfrm>
                    <a:off x="3974306" y="3537291"/>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56" name="直接连接符 655"/>
                  <p:cNvCxnSpPr/>
                  <p:nvPr/>
                </p:nvCxnSpPr>
                <p:spPr>
                  <a:xfrm>
                    <a:off x="3971794" y="3770692"/>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57" name="直接连接符 656"/>
                  <p:cNvCxnSpPr/>
                  <p:nvPr/>
                </p:nvCxnSpPr>
                <p:spPr>
                  <a:xfrm>
                    <a:off x="3971697" y="353842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58" name="直接连接符 657"/>
                  <p:cNvCxnSpPr/>
                  <p:nvPr/>
                </p:nvCxnSpPr>
                <p:spPr>
                  <a:xfrm>
                    <a:off x="4095751" y="3539103"/>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9" name="直接连接符 658"/>
                  <p:cNvCxnSpPr/>
                  <p:nvPr/>
                </p:nvCxnSpPr>
                <p:spPr>
                  <a:xfrm>
                    <a:off x="4089514" y="3770541"/>
                    <a:ext cx="105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0" name="直接连接符 659"/>
                  <p:cNvCxnSpPr/>
                  <p:nvPr/>
                </p:nvCxnSpPr>
                <p:spPr>
                  <a:xfrm>
                    <a:off x="4192928" y="3537291"/>
                    <a:ext cx="0" cy="23239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26" name="直接连接符 625"/>
                <p:cNvCxnSpPr/>
                <p:nvPr/>
              </p:nvCxnSpPr>
              <p:spPr>
                <a:xfrm>
                  <a:off x="4456906" y="4653678"/>
                  <a:ext cx="1271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27" name="任意多边形: 形状 626"/>
                <p:cNvSpPr/>
                <p:nvPr/>
              </p:nvSpPr>
              <p:spPr>
                <a:xfrm>
                  <a:off x="5135563" y="4404043"/>
                  <a:ext cx="302418" cy="492919"/>
                </a:xfrm>
                <a:custGeom>
                  <a:avLst/>
                  <a:gdLst>
                    <a:gd name="connsiteX0" fmla="*/ 2381 w 302418"/>
                    <a:gd name="connsiteY0" fmla="*/ 0 h 492919"/>
                    <a:gd name="connsiteX1" fmla="*/ 0 w 302418"/>
                    <a:gd name="connsiteY1" fmla="*/ 188119 h 492919"/>
                    <a:gd name="connsiteX2" fmla="*/ 52387 w 302418"/>
                    <a:gd name="connsiteY2" fmla="*/ 247650 h 492919"/>
                    <a:gd name="connsiteX3" fmla="*/ 4762 w 302418"/>
                    <a:gd name="connsiteY3" fmla="*/ 295275 h 492919"/>
                    <a:gd name="connsiteX4" fmla="*/ 4762 w 302418"/>
                    <a:gd name="connsiteY4" fmla="*/ 492919 h 492919"/>
                    <a:gd name="connsiteX5" fmla="*/ 300037 w 302418"/>
                    <a:gd name="connsiteY5" fmla="*/ 328613 h 492919"/>
                    <a:gd name="connsiteX6" fmla="*/ 302418 w 302418"/>
                    <a:gd name="connsiteY6" fmla="*/ 169069 h 492919"/>
                    <a:gd name="connsiteX7" fmla="*/ 2381 w 302418"/>
                    <a:gd name="connsiteY7" fmla="*/ 0 h 492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2418" h="492919">
                      <a:moveTo>
                        <a:pt x="2381" y="0"/>
                      </a:moveTo>
                      <a:cubicBezTo>
                        <a:pt x="1587" y="62706"/>
                        <a:pt x="794" y="125413"/>
                        <a:pt x="0" y="188119"/>
                      </a:cubicBezTo>
                      <a:lnTo>
                        <a:pt x="52387" y="247650"/>
                      </a:lnTo>
                      <a:lnTo>
                        <a:pt x="4762" y="295275"/>
                      </a:lnTo>
                      <a:lnTo>
                        <a:pt x="4762" y="492919"/>
                      </a:lnTo>
                      <a:lnTo>
                        <a:pt x="300037" y="328613"/>
                      </a:lnTo>
                      <a:cubicBezTo>
                        <a:pt x="300831" y="275432"/>
                        <a:pt x="301624" y="222250"/>
                        <a:pt x="302418" y="169069"/>
                      </a:cubicBezTo>
                      <a:lnTo>
                        <a:pt x="2381" y="0"/>
                      </a:lnTo>
                      <a:close/>
                    </a:path>
                  </a:pathLst>
                </a:cu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8" name="矩形 627"/>
                <p:cNvSpPr/>
                <p:nvPr/>
              </p:nvSpPr>
              <p:spPr>
                <a:xfrm>
                  <a:off x="4935538" y="4362769"/>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9" name="矩形 628"/>
                <p:cNvSpPr/>
                <p:nvPr/>
              </p:nvSpPr>
              <p:spPr>
                <a:xfrm>
                  <a:off x="5492751" y="4361974"/>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0" name="矩形 629"/>
                <p:cNvSpPr/>
                <p:nvPr/>
              </p:nvSpPr>
              <p:spPr>
                <a:xfrm>
                  <a:off x="5688014" y="4536601"/>
                  <a:ext cx="233362" cy="2309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1" name="矩形 630"/>
                <p:cNvSpPr/>
                <p:nvPr/>
              </p:nvSpPr>
              <p:spPr>
                <a:xfrm>
                  <a:off x="6045593" y="4362768"/>
                  <a:ext cx="73818" cy="577056"/>
                </a:xfrm>
                <a:prstGeom prst="rect">
                  <a:avLst/>
                </a:prstGeom>
                <a:solidFill>
                  <a:srgbClr val="B2B3B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32" name="组合 631"/>
                <p:cNvGrpSpPr/>
                <p:nvPr/>
              </p:nvGrpSpPr>
              <p:grpSpPr>
                <a:xfrm rot="10800000">
                  <a:off x="6224134" y="4529592"/>
                  <a:ext cx="223386" cy="233308"/>
                  <a:chOff x="3970449" y="3541712"/>
                  <a:chExt cx="223386" cy="233308"/>
                </a:xfrm>
              </p:grpSpPr>
              <p:sp>
                <p:nvSpPr>
                  <p:cNvPr id="647" name="矩形 646"/>
                  <p:cNvSpPr/>
                  <p:nvPr/>
                </p:nvSpPr>
                <p:spPr>
                  <a:xfrm>
                    <a:off x="4071938" y="3541712"/>
                    <a:ext cx="121444" cy="230981"/>
                  </a:xfrm>
                  <a:prstGeom prst="rect">
                    <a:avLst/>
                  </a:prstGeom>
                  <a:solidFill>
                    <a:srgbClr val="B2B3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48" name="直接连接符 647"/>
                  <p:cNvCxnSpPr/>
                  <p:nvPr/>
                </p:nvCxnSpPr>
                <p:spPr>
                  <a:xfrm>
                    <a:off x="3974646" y="3544039"/>
                    <a:ext cx="0" cy="23098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49" name="直接连接符 648"/>
                  <p:cNvCxnSpPr/>
                  <p:nvPr/>
                </p:nvCxnSpPr>
                <p:spPr>
                  <a:xfrm>
                    <a:off x="3970508" y="3773265"/>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50" name="直接连接符 649"/>
                  <p:cNvCxnSpPr/>
                  <p:nvPr/>
                </p:nvCxnSpPr>
                <p:spPr>
                  <a:xfrm>
                    <a:off x="3970449" y="3543584"/>
                    <a:ext cx="126207" cy="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51" name="直接连接符 650"/>
                  <p:cNvCxnSpPr/>
                  <p:nvPr/>
                </p:nvCxnSpPr>
                <p:spPr>
                  <a:xfrm>
                    <a:off x="4093823" y="3542960"/>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2" name="直接连接符 651"/>
                  <p:cNvCxnSpPr/>
                  <p:nvPr/>
                </p:nvCxnSpPr>
                <p:spPr>
                  <a:xfrm>
                    <a:off x="4093370" y="3772471"/>
                    <a:ext cx="10001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3" name="直接连接符 652"/>
                  <p:cNvCxnSpPr/>
                  <p:nvPr/>
                </p:nvCxnSpPr>
                <p:spPr>
                  <a:xfrm>
                    <a:off x="4189339" y="3542809"/>
                    <a:ext cx="0" cy="22939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33" name="直接连接符 632"/>
                <p:cNvCxnSpPr/>
                <p:nvPr/>
              </p:nvCxnSpPr>
              <p:spPr>
                <a:xfrm>
                  <a:off x="4557710" y="4624070"/>
                  <a:ext cx="0" cy="296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4" name="直接连接符 633"/>
                <p:cNvCxnSpPr/>
                <p:nvPr/>
              </p:nvCxnSpPr>
              <p:spPr>
                <a:xfrm>
                  <a:off x="4557710" y="4625626"/>
                  <a:ext cx="285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5" name="直接连接符 634"/>
                <p:cNvCxnSpPr/>
                <p:nvPr/>
              </p:nvCxnSpPr>
              <p:spPr>
                <a:xfrm>
                  <a:off x="4802980" y="456128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6" name="直接连接符 635"/>
                <p:cNvCxnSpPr/>
                <p:nvPr/>
              </p:nvCxnSpPr>
              <p:spPr>
                <a:xfrm>
                  <a:off x="4802980" y="4717734"/>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7" name="直接连接符 636"/>
                <p:cNvCxnSpPr/>
                <p:nvPr/>
              </p:nvCxnSpPr>
              <p:spPr>
                <a:xfrm>
                  <a:off x="5009356" y="4561286"/>
                  <a:ext cx="1262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8" name="直接连接符 637"/>
                <p:cNvCxnSpPr/>
                <p:nvPr/>
              </p:nvCxnSpPr>
              <p:spPr>
                <a:xfrm>
                  <a:off x="5009356" y="4722496"/>
                  <a:ext cx="132558"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9" name="直接连接符 638"/>
                <p:cNvCxnSpPr/>
                <p:nvPr/>
              </p:nvCxnSpPr>
              <p:spPr>
                <a:xfrm>
                  <a:off x="5437981" y="4657329"/>
                  <a:ext cx="5477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0" name="直接连接符 639"/>
                <p:cNvCxnSpPr/>
                <p:nvPr/>
              </p:nvCxnSpPr>
              <p:spPr>
                <a:xfrm>
                  <a:off x="5566569" y="4658123"/>
                  <a:ext cx="12144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1" name="直接连接符 640"/>
                <p:cNvCxnSpPr>
                  <a:stCxn id="630" idx="3"/>
                  <a:endCxn id="631" idx="1"/>
                </p:cNvCxnSpPr>
                <p:nvPr/>
              </p:nvCxnSpPr>
              <p:spPr>
                <a:xfrm flipV="1">
                  <a:off x="5921376" y="4651297"/>
                  <a:ext cx="124217" cy="79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2" name="直接连接符 641"/>
                <p:cNvCxnSpPr/>
                <p:nvPr/>
              </p:nvCxnSpPr>
              <p:spPr>
                <a:xfrm>
                  <a:off x="6119411" y="4652091"/>
                  <a:ext cx="105176" cy="875"/>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3" name="直接连接符 642"/>
                <p:cNvCxnSpPr/>
                <p:nvPr/>
              </p:nvCxnSpPr>
              <p:spPr>
                <a:xfrm>
                  <a:off x="5636419" y="4659901"/>
                  <a:ext cx="0" cy="1575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4" name="直接连接符 643"/>
                <p:cNvCxnSpPr/>
                <p:nvPr/>
              </p:nvCxnSpPr>
              <p:spPr>
                <a:xfrm>
                  <a:off x="5635994" y="4814259"/>
                  <a:ext cx="37881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5" name="直接连接符 644"/>
                <p:cNvCxnSpPr/>
                <p:nvPr/>
              </p:nvCxnSpPr>
              <p:spPr>
                <a:xfrm>
                  <a:off x="6016115" y="4719752"/>
                  <a:ext cx="0" cy="9782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6" name="直接连接符 645"/>
                <p:cNvCxnSpPr/>
                <p:nvPr/>
              </p:nvCxnSpPr>
              <p:spPr>
                <a:xfrm>
                  <a:off x="6014811" y="4721534"/>
                  <a:ext cx="2817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17" name="文本框 616"/>
              <p:cNvSpPr txBox="1"/>
              <p:nvPr/>
            </p:nvSpPr>
            <p:spPr>
              <a:xfrm>
                <a:off x="3708787" y="3187962"/>
                <a:ext cx="632926" cy="408005"/>
              </a:xfrm>
              <a:prstGeom prst="rect">
                <a:avLst/>
              </a:prstGeom>
              <a:noFill/>
            </p:spPr>
            <p:txBody>
              <a:bodyPr wrap="square" rtlCol="0">
                <a:spAutoFit/>
              </a:bodyPr>
              <a:lstStyle/>
              <a:p>
                <a:r>
                  <a:rPr lang="en-US" altLang="zh-CN" sz="2000" dirty="0"/>
                  <a:t>IM</a:t>
                </a:r>
                <a:endParaRPr lang="zh-CN" altLang="en-US" sz="2000" dirty="0"/>
              </a:p>
            </p:txBody>
          </p:sp>
          <p:sp>
            <p:nvSpPr>
              <p:cNvPr id="618" name="文本框 617"/>
              <p:cNvSpPr txBox="1"/>
              <p:nvPr/>
            </p:nvSpPr>
            <p:spPr>
              <a:xfrm>
                <a:off x="4654820" y="3187962"/>
                <a:ext cx="678399" cy="399689"/>
              </a:xfrm>
              <a:prstGeom prst="rect">
                <a:avLst/>
              </a:prstGeom>
              <a:noFill/>
            </p:spPr>
            <p:txBody>
              <a:bodyPr wrap="square" rtlCol="0">
                <a:spAutoFit/>
              </a:bodyPr>
              <a:lstStyle/>
              <a:p>
                <a:r>
                  <a:rPr lang="en-US" altLang="zh-CN" dirty="0"/>
                  <a:t>Reg</a:t>
                </a:r>
                <a:endParaRPr lang="zh-CN" altLang="en-US" dirty="0"/>
              </a:p>
            </p:txBody>
          </p:sp>
          <p:sp>
            <p:nvSpPr>
              <p:cNvPr id="619" name="文本框 618"/>
              <p:cNvSpPr txBox="1"/>
              <p:nvPr/>
            </p:nvSpPr>
            <p:spPr>
              <a:xfrm>
                <a:off x="7648165" y="3188315"/>
                <a:ext cx="622810" cy="401170"/>
              </a:xfrm>
              <a:prstGeom prst="rect">
                <a:avLst/>
              </a:prstGeom>
              <a:noFill/>
            </p:spPr>
            <p:txBody>
              <a:bodyPr wrap="square" rtlCol="0">
                <a:spAutoFit/>
              </a:bodyPr>
              <a:lstStyle/>
              <a:p>
                <a:r>
                  <a:rPr lang="en-US" altLang="zh-CN" dirty="0"/>
                  <a:t>Reg</a:t>
                </a:r>
                <a:endParaRPr lang="zh-CN" altLang="en-US" dirty="0"/>
              </a:p>
            </p:txBody>
          </p:sp>
          <p:sp>
            <p:nvSpPr>
              <p:cNvPr id="620" name="文本框 619"/>
              <p:cNvSpPr txBox="1"/>
              <p:nvPr/>
            </p:nvSpPr>
            <p:spPr>
              <a:xfrm>
                <a:off x="5751707" y="3204357"/>
                <a:ext cx="641091" cy="401170"/>
              </a:xfrm>
              <a:prstGeom prst="rect">
                <a:avLst/>
              </a:prstGeom>
              <a:noFill/>
            </p:spPr>
            <p:txBody>
              <a:bodyPr wrap="square" rtlCol="0">
                <a:spAutoFit/>
              </a:bodyPr>
              <a:lstStyle/>
              <a:p>
                <a:r>
                  <a:rPr lang="en-US" altLang="zh-CN" dirty="0"/>
                  <a:t>ALU</a:t>
                </a:r>
                <a:endParaRPr lang="zh-CN" altLang="en-US" dirty="0"/>
              </a:p>
            </p:txBody>
          </p:sp>
          <p:sp>
            <p:nvSpPr>
              <p:cNvPr id="621" name="文本框 620"/>
              <p:cNvSpPr txBox="1"/>
              <p:nvPr/>
            </p:nvSpPr>
            <p:spPr>
              <a:xfrm>
                <a:off x="6697502" y="3209906"/>
                <a:ext cx="601980" cy="369332"/>
              </a:xfrm>
              <a:prstGeom prst="rect">
                <a:avLst/>
              </a:prstGeom>
              <a:noFill/>
            </p:spPr>
            <p:txBody>
              <a:bodyPr wrap="square" rtlCol="0">
                <a:spAutoFit/>
              </a:bodyPr>
              <a:lstStyle/>
              <a:p>
                <a:r>
                  <a:rPr lang="en-US" altLang="zh-CN" dirty="0"/>
                  <a:t>DM</a:t>
                </a:r>
                <a:endParaRPr lang="zh-CN" altLang="en-US" dirty="0"/>
              </a:p>
            </p:txBody>
          </p:sp>
        </p:grpSp>
        <p:cxnSp>
          <p:nvCxnSpPr>
            <p:cNvPr id="664" name="直接连接符 663"/>
            <p:cNvCxnSpPr/>
            <p:nvPr/>
          </p:nvCxnSpPr>
          <p:spPr>
            <a:xfrm flipV="1">
              <a:off x="6256879" y="2765711"/>
              <a:ext cx="156342" cy="3301889"/>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665" name="椭圆 664"/>
            <p:cNvSpPr/>
            <p:nvPr/>
          </p:nvSpPr>
          <p:spPr>
            <a:xfrm rot="10800000">
              <a:off x="6209205" y="6046105"/>
              <a:ext cx="100396" cy="100396"/>
            </a:xfrm>
            <a:prstGeom prst="ellipse">
              <a:avLst/>
            </a:prstGeom>
            <a:solidFill>
              <a:srgbClr val="54C9F5"/>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9" name="椭圆 668"/>
            <p:cNvSpPr/>
            <p:nvPr/>
          </p:nvSpPr>
          <p:spPr>
            <a:xfrm rot="10800000">
              <a:off x="6361660" y="2756688"/>
              <a:ext cx="100396" cy="100396"/>
            </a:xfrm>
            <a:prstGeom prst="ellipse">
              <a:avLst/>
            </a:prstGeom>
            <a:solidFill>
              <a:srgbClr val="54C9F5"/>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0FF"/>
                </a:solidFill>
              </a:endParaRPr>
            </a:p>
          </p:txBody>
        </p:sp>
        <p:cxnSp>
          <p:nvCxnSpPr>
            <p:cNvPr id="5" name="直接连接符 4"/>
            <p:cNvCxnSpPr/>
            <p:nvPr/>
          </p:nvCxnSpPr>
          <p:spPr>
            <a:xfrm>
              <a:off x="2664823" y="2819687"/>
              <a:ext cx="0" cy="272197"/>
            </a:xfrm>
            <a:prstGeom prst="line">
              <a:avLst/>
            </a:prstGeom>
            <a:ln w="25400">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2656114" y="3091884"/>
              <a:ext cx="716021" cy="0"/>
            </a:xfrm>
            <a:prstGeom prst="line">
              <a:avLst/>
            </a:prstGeom>
            <a:ln w="25400">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3372135" y="3091884"/>
              <a:ext cx="0" cy="2476559"/>
            </a:xfrm>
            <a:prstGeom prst="line">
              <a:avLst/>
            </a:prstGeom>
            <a:ln w="25400">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267" name="直接连接符 266"/>
            <p:cNvCxnSpPr/>
            <p:nvPr/>
          </p:nvCxnSpPr>
          <p:spPr>
            <a:xfrm>
              <a:off x="2660464" y="5575964"/>
              <a:ext cx="0" cy="272197"/>
            </a:xfrm>
            <a:prstGeom prst="line">
              <a:avLst/>
            </a:prstGeom>
            <a:ln w="25400">
              <a:solidFill>
                <a:srgbClr val="62CEF6"/>
              </a:solidFill>
            </a:ln>
          </p:spPr>
          <p:style>
            <a:lnRef idx="1">
              <a:schemeClr val="accent1"/>
            </a:lnRef>
            <a:fillRef idx="0">
              <a:schemeClr val="accent1"/>
            </a:fillRef>
            <a:effectRef idx="0">
              <a:schemeClr val="accent1"/>
            </a:effectRef>
            <a:fontRef idx="minor">
              <a:schemeClr val="tx1"/>
            </a:fontRef>
          </p:style>
        </p:cxnSp>
        <p:cxnSp>
          <p:nvCxnSpPr>
            <p:cNvPr id="268" name="直接连接符 267"/>
            <p:cNvCxnSpPr/>
            <p:nvPr/>
          </p:nvCxnSpPr>
          <p:spPr>
            <a:xfrm>
              <a:off x="2651755" y="5560776"/>
              <a:ext cx="716021" cy="0"/>
            </a:xfrm>
            <a:prstGeom prst="line">
              <a:avLst/>
            </a:prstGeom>
            <a:ln w="25400">
              <a:solidFill>
                <a:srgbClr val="62CEF6"/>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3"/>
          <p:cNvSpPr>
            <a:spLocks noGrp="1" noChangeArrowheads="1"/>
          </p:cNvSpPr>
          <p:nvPr>
            <p:ph idx="1"/>
          </p:nvPr>
        </p:nvSpPr>
        <p:spPr/>
        <p:txBody>
          <a:bodyPr>
            <a:noAutofit/>
          </a:bodyPr>
          <a:lstStyle/>
          <a:p>
            <a:pPr eaLnBrk="1" hangingPunct="1">
              <a:lnSpc>
                <a:spcPct val="100000"/>
              </a:lnSpc>
              <a:spcAft>
                <a:spcPts val="0"/>
              </a:spcAft>
            </a:pPr>
            <a:r>
              <a:rPr lang="zh-CN" altLang="en-US" dirty="0">
                <a:latin typeface="Times New Roman" panose="02020603050405020304" pitchFamily="18" charset="0"/>
                <a:cs typeface="Times New Roman" panose="02020603050405020304" pitchFamily="18" charset="0"/>
              </a:rPr>
              <a:t>移动硬件，使得分支决定提前到</a:t>
            </a:r>
            <a:r>
              <a:rPr lang="en-US" altLang="zh-CN" dirty="0">
                <a:latin typeface="Times New Roman" panose="02020603050405020304" pitchFamily="18" charset="0"/>
                <a:cs typeface="Times New Roman" panose="02020603050405020304" pitchFamily="18" charset="0"/>
              </a:rPr>
              <a:t>ID</a:t>
            </a:r>
            <a:r>
              <a:rPr lang="zh-CN" altLang="en-US" dirty="0">
                <a:latin typeface="Times New Roman" panose="02020603050405020304" pitchFamily="18" charset="0"/>
                <a:cs typeface="Times New Roman" panose="02020603050405020304" pitchFamily="18" charset="0"/>
              </a:rPr>
              <a:t>阶段</a:t>
            </a:r>
            <a:endParaRPr lang="en-US" altLang="en-US" dirty="0">
              <a:latin typeface="Times New Roman" panose="02020603050405020304" pitchFamily="18" charset="0"/>
              <a:cs typeface="Times New Roman" panose="02020603050405020304" pitchFamily="18" charset="0"/>
            </a:endParaRPr>
          </a:p>
          <a:p>
            <a:pPr lvl="1" eaLnBrk="1" hangingPunct="1">
              <a:lnSpc>
                <a:spcPct val="100000"/>
              </a:lnSpc>
              <a:spcAft>
                <a:spcPts val="0"/>
              </a:spcAft>
            </a:pPr>
            <a:r>
              <a:rPr lang="zh-CN" altLang="en-US" dirty="0">
                <a:latin typeface="Times New Roman" panose="02020603050405020304" pitchFamily="18" charset="0"/>
                <a:cs typeface="Times New Roman" panose="02020603050405020304" pitchFamily="18" charset="0"/>
              </a:rPr>
              <a:t>需要</a:t>
            </a:r>
            <a:r>
              <a:rPr lang="zh-CN" altLang="en-US" dirty="0">
                <a:solidFill>
                  <a:srgbClr val="0000FF"/>
                </a:solidFill>
                <a:latin typeface="Times New Roman" panose="02020603050405020304" pitchFamily="18" charset="0"/>
                <a:cs typeface="Times New Roman" panose="02020603050405020304" pitchFamily="18" charset="0"/>
              </a:rPr>
              <a:t>提早计算分支目标地址</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IF/ID</a:t>
            </a:r>
            <a:r>
              <a:rPr lang="zh-CN" altLang="en-US" dirty="0">
                <a:latin typeface="Times New Roman" panose="02020603050405020304" pitchFamily="18" charset="0"/>
                <a:cs typeface="Times New Roman" panose="02020603050405020304" pitchFamily="18" charset="0"/>
              </a:rPr>
              <a:t>寄存器中有</a:t>
            </a:r>
            <a:r>
              <a:rPr lang="en-US" altLang="zh-CN" dirty="0">
                <a:latin typeface="Times New Roman" panose="02020603050405020304" pitchFamily="18" charset="0"/>
                <a:cs typeface="Times New Roman" panose="02020603050405020304" pitchFamily="18" charset="0"/>
              </a:rPr>
              <a:t>PC</a:t>
            </a:r>
            <a:r>
              <a:rPr lang="zh-CN" altLang="en-US" dirty="0">
                <a:latin typeface="Times New Roman" panose="02020603050405020304" pitchFamily="18" charset="0"/>
                <a:cs typeface="Times New Roman" panose="02020603050405020304" pitchFamily="18" charset="0"/>
              </a:rPr>
              <a:t>和</a:t>
            </a:r>
            <a:r>
              <a:rPr lang="en-US" altLang="zh-CN" dirty="0">
                <a:latin typeface="Times New Roman" panose="02020603050405020304" pitchFamily="18" charset="0"/>
                <a:cs typeface="Times New Roman" panose="02020603050405020304" pitchFamily="18" charset="0"/>
              </a:rPr>
              <a:t>Immediate</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lvl="1" eaLnBrk="1" hangingPunct="1">
              <a:lnSpc>
                <a:spcPct val="100000"/>
              </a:lnSpc>
              <a:spcAft>
                <a:spcPts val="0"/>
              </a:spcAft>
            </a:pPr>
            <a:r>
              <a:rPr lang="zh-CN" altLang="en-US" dirty="0">
                <a:latin typeface="Times New Roman" panose="02020603050405020304" pitchFamily="18" charset="0"/>
                <a:cs typeface="Times New Roman" panose="02020603050405020304" pitchFamily="18" charset="0"/>
              </a:rPr>
              <a:t>需要</a:t>
            </a:r>
            <a:r>
              <a:rPr lang="zh-CN" altLang="en-US" dirty="0">
                <a:solidFill>
                  <a:srgbClr val="0000FF"/>
                </a:solidFill>
                <a:latin typeface="Times New Roman" panose="02020603050405020304" pitchFamily="18" charset="0"/>
                <a:cs typeface="Times New Roman" panose="02020603050405020304" pitchFamily="18" charset="0"/>
              </a:rPr>
              <a:t>提早判断分支条件</a:t>
            </a:r>
            <a:endParaRPr lang="en-US" altLang="zh-CN" dirty="0">
              <a:solidFill>
                <a:srgbClr val="0000FF"/>
              </a:solidFill>
              <a:latin typeface="Times New Roman" panose="02020603050405020304" pitchFamily="18" charset="0"/>
              <a:cs typeface="Times New Roman" panose="02020603050405020304" pitchFamily="18" charset="0"/>
            </a:endParaRPr>
          </a:p>
          <a:p>
            <a:pPr eaLnBrk="1" hangingPunct="1">
              <a:lnSpc>
                <a:spcPct val="100000"/>
              </a:lnSpc>
              <a:spcAft>
                <a:spcPts val="0"/>
              </a:spcAft>
            </a:pPr>
            <a:r>
              <a:rPr lang="zh-CN" altLang="en-US" dirty="0">
                <a:latin typeface="Times New Roman" panose="02020603050405020304" pitchFamily="18" charset="0"/>
                <a:cs typeface="Times New Roman" panose="02020603050405020304" pitchFamily="18" charset="0"/>
              </a:rPr>
              <a:t>例：分支跳转发生</a:t>
            </a:r>
            <a:endParaRPr lang="en-US" altLang="en-US" dirty="0">
              <a:latin typeface="Times New Roman" panose="02020603050405020304" pitchFamily="18" charset="0"/>
              <a:cs typeface="Times New Roman" panose="02020603050405020304" pitchFamily="18" charset="0"/>
            </a:endParaRPr>
          </a:p>
          <a:p>
            <a:pPr marL="287020" lvl="1" indent="9525" eaLnBrk="1" hangingPunct="1">
              <a:lnSpc>
                <a:spcPct val="100000"/>
              </a:lnSpc>
              <a:buFont typeface="Wingdings" panose="05000000000000000000" pitchFamily="2" charset="2"/>
              <a:buNone/>
            </a:pPr>
            <a:r>
              <a:rPr lang="en-US" altLang="en-US" sz="2400" dirty="0">
                <a:latin typeface="Times New Roman" panose="02020603050405020304" pitchFamily="18" charset="0"/>
                <a:cs typeface="Times New Roman" panose="02020603050405020304" pitchFamily="18" charset="0"/>
              </a:rPr>
              <a:t>36:  sub  x10, x4, x8</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40:  </a:t>
            </a:r>
            <a:r>
              <a:rPr lang="en-US" altLang="en-US" sz="2400" dirty="0" err="1">
                <a:latin typeface="Times New Roman" panose="02020603050405020304" pitchFamily="18" charset="0"/>
                <a:cs typeface="Times New Roman" panose="02020603050405020304" pitchFamily="18" charset="0"/>
              </a:rPr>
              <a:t>beq</a:t>
            </a:r>
            <a:r>
              <a:rPr lang="en-US" altLang="en-US" sz="2400" dirty="0">
                <a:latin typeface="Times New Roman" panose="02020603050405020304" pitchFamily="18" charset="0"/>
                <a:cs typeface="Times New Roman" panose="02020603050405020304" pitchFamily="18" charset="0"/>
              </a:rPr>
              <a:t>  x1,  x3, label  //PC-relative branch </a:t>
            </a:r>
            <a:r>
              <a:rPr lang="en-US" altLang="en-US" sz="2400" dirty="0">
                <a:latin typeface="Times New Roman" panose="02020603050405020304" pitchFamily="18" charset="0"/>
                <a:cs typeface="Times New Roman" panose="02020603050405020304" pitchFamily="18" charset="0"/>
                <a:sym typeface="+mn-ea"/>
              </a:rPr>
              <a:t>to 40+16*2=72</a:t>
            </a:r>
            <a:br>
              <a:rPr lang="en-US" altLang="en-US" sz="2400" dirty="0">
                <a:latin typeface="Times New Roman" panose="02020603050405020304" pitchFamily="18" charset="0"/>
                <a:cs typeface="Times New Roman" panose="02020603050405020304" pitchFamily="18" charset="0"/>
                <a:sym typeface="+mn-ea"/>
              </a:rPr>
            </a:br>
            <a:r>
              <a:rPr lang="en-US" altLang="en-US" sz="2400" dirty="0">
                <a:latin typeface="Times New Roman" panose="02020603050405020304" pitchFamily="18" charset="0"/>
                <a:cs typeface="Times New Roman" panose="02020603050405020304" pitchFamily="18" charset="0"/>
              </a:rPr>
              <a:t>44:  and  x12, x2, x5</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48:  or   x13, x2, x6</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52:  add  x14, x4, x2</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56:  sub  x15, x6, x7</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    ...</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72:  label: </a:t>
            </a:r>
            <a:r>
              <a:rPr lang="en-US" altLang="en-US" sz="2400" dirty="0" err="1">
                <a:latin typeface="Times New Roman" panose="02020603050405020304" pitchFamily="18" charset="0"/>
                <a:cs typeface="Times New Roman" panose="02020603050405020304" pitchFamily="18" charset="0"/>
              </a:rPr>
              <a:t>ld</a:t>
            </a:r>
            <a:r>
              <a:rPr lang="en-US" altLang="en-US" sz="2400" dirty="0">
                <a:latin typeface="Times New Roman" panose="02020603050405020304" pitchFamily="18" charset="0"/>
                <a:cs typeface="Times New Roman" panose="02020603050405020304" pitchFamily="18" charset="0"/>
              </a:rPr>
              <a:t>   x4, 50(x7)</a:t>
            </a:r>
          </a:p>
        </p:txBody>
      </p:sp>
      <p:sp>
        <p:nvSpPr>
          <p:cNvPr id="2" name="灯片编号占位符 1"/>
          <p:cNvSpPr>
            <a:spLocks noGrp="1"/>
          </p:cNvSpPr>
          <p:nvPr>
            <p:ph type="sldNum" sz="quarter" idx="12"/>
          </p:nvPr>
        </p:nvSpPr>
        <p:spPr/>
        <p:txBody>
          <a:bodyPr/>
          <a:lstStyle/>
          <a:p>
            <a:fld id="{8EE8E787-E6FE-45D8-9039-788B45E44EE7}" type="slidenum">
              <a:rPr lang="zh-CN" altLang="en-US" smtClean="0"/>
              <a:t>70</a:t>
            </a:fld>
            <a:endParaRPr lang="zh-CN" altLang="en-US" dirty="0"/>
          </a:p>
        </p:txBody>
      </p:sp>
      <p:sp>
        <p:nvSpPr>
          <p:cNvPr id="4" name="标题 3"/>
          <p:cNvSpPr>
            <a:spLocks noGrp="1"/>
          </p:cNvSpPr>
          <p:nvPr>
            <p:ph type="title"/>
          </p:nvPr>
        </p:nvSpPr>
        <p:spPr/>
        <p:txBody>
          <a:bodyPr/>
          <a:lstStyle/>
          <a:p>
            <a:r>
              <a:rPr lang="zh-CN" altLang="en-US" dirty="0"/>
              <a:t>缩短分支延迟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844">
                                            <p:txEl>
                                              <p:pRg st="1" end="1"/>
                                            </p:txEl>
                                          </p:spTgt>
                                        </p:tgtEl>
                                        <p:attrNameLst>
                                          <p:attrName>style.visibility</p:attrName>
                                        </p:attrNameLst>
                                      </p:cBhvr>
                                      <p:to>
                                        <p:strVal val="visible"/>
                                      </p:to>
                                    </p:set>
                                    <p:animEffect transition="in" filter="fade">
                                      <p:cBhvr>
                                        <p:cTn id="7" dur="500"/>
                                        <p:tgtEl>
                                          <p:spTgt spid="35844">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5844">
                                            <p:txEl>
                                              <p:pRg st="2" end="2"/>
                                            </p:txEl>
                                          </p:spTgt>
                                        </p:tgtEl>
                                        <p:attrNameLst>
                                          <p:attrName>style.visibility</p:attrName>
                                        </p:attrNameLst>
                                      </p:cBhvr>
                                      <p:to>
                                        <p:strVal val="visible"/>
                                      </p:to>
                                    </p:set>
                                    <p:animEffect transition="in" filter="fade">
                                      <p:cBhvr>
                                        <p:cTn id="10" dur="500"/>
                                        <p:tgtEl>
                                          <p:spTgt spid="35844">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5844">
                                            <p:txEl>
                                              <p:pRg st="3" end="3"/>
                                            </p:txEl>
                                          </p:spTgt>
                                        </p:tgtEl>
                                        <p:attrNameLst>
                                          <p:attrName>style.visibility</p:attrName>
                                        </p:attrNameLst>
                                      </p:cBhvr>
                                      <p:to>
                                        <p:strVal val="visible"/>
                                      </p:to>
                                    </p:set>
                                    <p:animEffect transition="in" filter="fade">
                                      <p:cBhvr>
                                        <p:cTn id="15" dur="500"/>
                                        <p:tgtEl>
                                          <p:spTgt spid="35844">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5844">
                                            <p:txEl>
                                              <p:pRg st="4" end="4"/>
                                            </p:txEl>
                                          </p:spTgt>
                                        </p:tgtEl>
                                        <p:attrNameLst>
                                          <p:attrName>style.visibility</p:attrName>
                                        </p:attrNameLst>
                                      </p:cBhvr>
                                      <p:to>
                                        <p:strVal val="visible"/>
                                      </p:to>
                                    </p:set>
                                    <p:animEffect transition="in" filter="fade">
                                      <p:cBhvr>
                                        <p:cTn id="18" dur="500"/>
                                        <p:tgtEl>
                                          <p:spTgt spid="3584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24" name="直接箭头连接符 523"/>
          <p:cNvCxnSpPr/>
          <p:nvPr/>
        </p:nvCxnSpPr>
        <p:spPr bwMode="auto">
          <a:xfrm>
            <a:off x="9297976" y="222513"/>
            <a:ext cx="0" cy="6479648"/>
          </a:xfrm>
          <a:prstGeom prst="straightConnector1">
            <a:avLst/>
          </a:prstGeom>
          <a:ln w="12700" cap="flat" cmpd="sng" algn="ctr">
            <a:solidFill>
              <a:schemeClr val="dk1"/>
            </a:solidFill>
            <a:prstDash val="dash"/>
            <a:round/>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grpSp>
        <p:nvGrpSpPr>
          <p:cNvPr id="11" name="组合 10"/>
          <p:cNvGrpSpPr/>
          <p:nvPr/>
        </p:nvGrpSpPr>
        <p:grpSpPr>
          <a:xfrm>
            <a:off x="4991100" y="3496310"/>
            <a:ext cx="910590" cy="1060450"/>
            <a:chOff x="7860" y="5506"/>
            <a:chExt cx="1434" cy="1670"/>
          </a:xfrm>
        </p:grpSpPr>
        <p:sp>
          <p:nvSpPr>
            <p:cNvPr id="33" name="矩形 32"/>
            <p:cNvSpPr/>
            <p:nvPr/>
          </p:nvSpPr>
          <p:spPr bwMode="auto">
            <a:xfrm>
              <a:off x="7860" y="5506"/>
              <a:ext cx="1435" cy="1671"/>
            </a:xfrm>
            <a:prstGeom prst="rect">
              <a:avLst/>
            </a:prstGeom>
            <a:solidFill>
              <a:schemeClr val="bg1"/>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algn="ctr" fontAlgn="base">
                <a:spcBef>
                  <a:spcPct val="0"/>
                </a:spcBef>
                <a:spcAft>
                  <a:spcPct val="0"/>
                </a:spcAft>
              </a:pPr>
              <a:endParaRPr lang="zh-CN" altLang="en-US" sz="1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矩形 6"/>
            <p:cNvSpPr/>
            <p:nvPr/>
          </p:nvSpPr>
          <p:spPr>
            <a:xfrm>
              <a:off x="8532" y="5528"/>
              <a:ext cx="750" cy="1638"/>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418" name="直接箭头连接符 417"/>
          <p:cNvCxnSpPr/>
          <p:nvPr/>
        </p:nvCxnSpPr>
        <p:spPr bwMode="auto">
          <a:xfrm>
            <a:off x="6581778" y="222513"/>
            <a:ext cx="0" cy="6479648"/>
          </a:xfrm>
          <a:prstGeom prst="straightConnector1">
            <a:avLst/>
          </a:prstGeom>
          <a:ln w="12700" cap="flat" cmpd="sng" algn="ctr">
            <a:solidFill>
              <a:schemeClr val="dk1"/>
            </a:solidFill>
            <a:prstDash val="dash"/>
            <a:round/>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grpSp>
        <p:nvGrpSpPr>
          <p:cNvPr id="10" name="组合 9"/>
          <p:cNvGrpSpPr/>
          <p:nvPr/>
        </p:nvGrpSpPr>
        <p:grpSpPr>
          <a:xfrm>
            <a:off x="1510030" y="3688715"/>
            <a:ext cx="906780" cy="1045210"/>
            <a:chOff x="2378" y="5809"/>
            <a:chExt cx="1428" cy="1646"/>
          </a:xfrm>
        </p:grpSpPr>
        <p:sp>
          <p:nvSpPr>
            <p:cNvPr id="12" name="矩形 11"/>
            <p:cNvSpPr/>
            <p:nvPr/>
          </p:nvSpPr>
          <p:spPr bwMode="auto">
            <a:xfrm>
              <a:off x="2378" y="5809"/>
              <a:ext cx="1429" cy="1646"/>
            </a:xfrm>
            <a:prstGeom prst="rect">
              <a:avLst/>
            </a:prstGeom>
            <a:solidFill>
              <a:schemeClr val="bg1"/>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矩形 3"/>
            <p:cNvSpPr/>
            <p:nvPr/>
          </p:nvSpPr>
          <p:spPr>
            <a:xfrm>
              <a:off x="3110" y="5824"/>
              <a:ext cx="697" cy="1616"/>
            </a:xfrm>
            <a:prstGeom prst="rect">
              <a:avLst/>
            </a:prstGeom>
            <a:solidFill>
              <a:schemeClr val="bg2">
                <a:lumMod val="90000"/>
              </a:schemeClr>
            </a:solidFill>
            <a:ln w="28575" cap="flat"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25" name="直接箭头连接符 524"/>
          <p:cNvCxnSpPr/>
          <p:nvPr/>
        </p:nvCxnSpPr>
        <p:spPr bwMode="auto">
          <a:xfrm>
            <a:off x="10715356" y="287056"/>
            <a:ext cx="0" cy="6479648"/>
          </a:xfrm>
          <a:prstGeom prst="straightConnector1">
            <a:avLst/>
          </a:prstGeom>
          <a:ln w="12700" cap="flat" cmpd="sng" algn="ctr">
            <a:solidFill>
              <a:schemeClr val="dk1"/>
            </a:solidFill>
            <a:prstDash val="dash"/>
            <a:round/>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8" name="矩形 7"/>
          <p:cNvSpPr/>
          <p:nvPr/>
        </p:nvSpPr>
        <p:spPr bwMode="auto">
          <a:xfrm>
            <a:off x="956909" y="3946130"/>
            <a:ext cx="283998" cy="543544"/>
          </a:xfrm>
          <a:prstGeom prst="rect">
            <a:avLst/>
          </a:prstGeom>
          <a:solidFill>
            <a:schemeClr val="bg2">
              <a:lumMod val="90000"/>
            </a:schemeClr>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lnSpc>
                <a:spcPts val="2000"/>
              </a:lnSpc>
              <a:spcBef>
                <a:spcPct val="0"/>
              </a:spcBef>
              <a:spcAft>
                <a:spcPct val="0"/>
              </a:spcAft>
            </a:pPr>
            <a:r>
              <a:rPr lang="en-US" altLang="zh-CN" sz="2000" b="1" dirty="0">
                <a:solidFill>
                  <a:srgbClr val="FF0000"/>
                </a:solidFill>
                <a:latin typeface="Times New Roman" panose="02020603050405020304" pitchFamily="18" charset="0"/>
                <a:cs typeface="Times New Roman" panose="02020603050405020304" pitchFamily="18" charset="0"/>
              </a:rPr>
              <a:t>PC</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cxnSp>
        <p:nvCxnSpPr>
          <p:cNvPr id="46" name="直接箭头连接符 45"/>
          <p:cNvCxnSpPr/>
          <p:nvPr/>
        </p:nvCxnSpPr>
        <p:spPr bwMode="auto">
          <a:xfrm flipV="1">
            <a:off x="10435791" y="4004908"/>
            <a:ext cx="192288" cy="2445"/>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 name="直接连接符 77"/>
          <p:cNvCxnSpPr>
            <a:stCxn id="12" idx="3"/>
          </p:cNvCxnSpPr>
          <p:nvPr/>
        </p:nvCxnSpPr>
        <p:spPr bwMode="auto">
          <a:xfrm>
            <a:off x="2417538" y="4211133"/>
            <a:ext cx="182854"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直接箭头连接符 88"/>
          <p:cNvCxnSpPr>
            <a:endCxn id="12" idx="1"/>
          </p:cNvCxnSpPr>
          <p:nvPr/>
        </p:nvCxnSpPr>
        <p:spPr bwMode="auto">
          <a:xfrm flipV="1">
            <a:off x="1252855" y="4211320"/>
            <a:ext cx="257175" cy="762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直接连接符 92"/>
          <p:cNvCxnSpPr/>
          <p:nvPr/>
        </p:nvCxnSpPr>
        <p:spPr bwMode="auto">
          <a:xfrm>
            <a:off x="10808332" y="2972320"/>
            <a:ext cx="360000" cy="0"/>
          </a:xfrm>
          <a:prstGeom prst="line">
            <a:avLst/>
          </a:prstGeom>
          <a:noFill/>
          <a:ln w="25400" cap="flat" cmpd="sng" algn="ctr">
            <a:solidFill>
              <a:srgbClr val="00B0F0"/>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4" name="矩形 93"/>
          <p:cNvSpPr/>
          <p:nvPr/>
        </p:nvSpPr>
        <p:spPr bwMode="auto">
          <a:xfrm>
            <a:off x="2620291" y="3230677"/>
            <a:ext cx="273550" cy="2458913"/>
          </a:xfrm>
          <a:prstGeom prst="rect">
            <a:avLst/>
          </a:prstGeom>
          <a:solidFill>
            <a:schemeClr val="bg2">
              <a:lumMod val="90000"/>
            </a:schemeClr>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49" name="直接箭头连接符 148"/>
          <p:cNvCxnSpPr>
            <a:endCxn id="8" idx="0"/>
          </p:cNvCxnSpPr>
          <p:nvPr/>
        </p:nvCxnSpPr>
        <p:spPr bwMode="auto">
          <a:xfrm rot="5400000">
            <a:off x="1073622" y="1489855"/>
            <a:ext cx="2481562" cy="2430989"/>
          </a:xfrm>
          <a:prstGeom prst="bentConnector3">
            <a:avLst>
              <a:gd name="adj1" fmla="val 486"/>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0" name="直接连接符 159"/>
          <p:cNvCxnSpPr>
            <a:endCxn id="173" idx="1"/>
          </p:cNvCxnSpPr>
          <p:nvPr/>
        </p:nvCxnSpPr>
        <p:spPr bwMode="auto">
          <a:xfrm>
            <a:off x="9424670" y="2792095"/>
            <a:ext cx="1177330" cy="178386"/>
          </a:xfrm>
          <a:prstGeom prst="bentConnector3">
            <a:avLst>
              <a:gd name="adj1" fmla="val 50000"/>
            </a:avLst>
          </a:prstGeom>
          <a:noFill/>
          <a:ln w="25400" cap="flat" cmpd="sng" algn="ctr">
            <a:solidFill>
              <a:srgbClr val="00B0F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 name="直接箭头连接符 132"/>
          <p:cNvCxnSpPr/>
          <p:nvPr/>
        </p:nvCxnSpPr>
        <p:spPr bwMode="auto">
          <a:xfrm flipV="1">
            <a:off x="6104890" y="2742565"/>
            <a:ext cx="306000" cy="635"/>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4" name="直接箭头连接符 133"/>
          <p:cNvCxnSpPr/>
          <p:nvPr/>
        </p:nvCxnSpPr>
        <p:spPr bwMode="auto">
          <a:xfrm>
            <a:off x="6230563" y="2952264"/>
            <a:ext cx="168360" cy="0"/>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接箭头连接符 153"/>
          <p:cNvCxnSpPr>
            <a:endCxn id="48" idx="1"/>
          </p:cNvCxnSpPr>
          <p:nvPr/>
        </p:nvCxnSpPr>
        <p:spPr bwMode="auto">
          <a:xfrm>
            <a:off x="6809614" y="2742673"/>
            <a:ext cx="2241784" cy="177057"/>
          </a:xfrm>
          <a:prstGeom prst="bentConnector3">
            <a:avLst>
              <a:gd name="adj1" fmla="val 50000"/>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2" name="矩形 171"/>
          <p:cNvSpPr/>
          <p:nvPr/>
        </p:nvSpPr>
        <p:spPr bwMode="auto">
          <a:xfrm>
            <a:off x="10603230" y="3098165"/>
            <a:ext cx="360000" cy="2723515"/>
          </a:xfrm>
          <a:prstGeom prst="rect">
            <a:avLst/>
          </a:prstGeom>
          <a:solidFill>
            <a:schemeClr val="bg1"/>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3" name="矩形 172"/>
          <p:cNvSpPr/>
          <p:nvPr/>
        </p:nvSpPr>
        <p:spPr bwMode="auto">
          <a:xfrm>
            <a:off x="10602000" y="2844701"/>
            <a:ext cx="360000" cy="251559"/>
          </a:xfrm>
          <a:prstGeom prst="rect">
            <a:avLst/>
          </a:prstGeom>
          <a:solidFill>
            <a:srgbClr val="9CDCF9"/>
          </a:solid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136525" rIns="0" bIns="136525" numCol="1" rtlCol="0" anchor="ctr" anchorCtr="0" compatLnSpc="1"/>
          <a:lstStyle/>
          <a:p>
            <a:pPr algn="ctr" fontAlgn="base">
              <a:spcBef>
                <a:spcPct val="0"/>
              </a:spcBef>
              <a:spcAft>
                <a:spcPct val="0"/>
              </a:spcAft>
            </a:pPr>
            <a:r>
              <a:rPr lang="en-GB"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W</a:t>
            </a: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B</a:t>
            </a:r>
          </a:p>
        </p:txBody>
      </p:sp>
      <p:cxnSp>
        <p:nvCxnSpPr>
          <p:cNvPr id="184" name="直接箭头连接符 183"/>
          <p:cNvCxnSpPr>
            <a:endCxn id="303" idx="2"/>
          </p:cNvCxnSpPr>
          <p:nvPr/>
        </p:nvCxnSpPr>
        <p:spPr bwMode="auto">
          <a:xfrm>
            <a:off x="4162634" y="2677585"/>
            <a:ext cx="1593756" cy="0"/>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1" name="直接连接符 200"/>
          <p:cNvCxnSpPr/>
          <p:nvPr/>
        </p:nvCxnSpPr>
        <p:spPr bwMode="auto">
          <a:xfrm>
            <a:off x="3100243" y="1753245"/>
            <a:ext cx="0" cy="3576580"/>
          </a:xfrm>
          <a:prstGeom prst="line">
            <a:avLst/>
          </a:prstGeom>
          <a:noFill/>
          <a:ln w="25400"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 name="直接箭头连接符 204"/>
          <p:cNvCxnSpPr/>
          <p:nvPr/>
        </p:nvCxnSpPr>
        <p:spPr bwMode="auto">
          <a:xfrm rot="16200000" flipH="1">
            <a:off x="-419736" y="3473546"/>
            <a:ext cx="1593199" cy="286282"/>
          </a:xfrm>
          <a:prstGeom prst="bentConnector3">
            <a:avLst>
              <a:gd name="adj1" fmla="val 99908"/>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9" name="直接连接符 208"/>
          <p:cNvCxnSpPr/>
          <p:nvPr/>
        </p:nvCxnSpPr>
        <p:spPr bwMode="auto">
          <a:xfrm flipV="1">
            <a:off x="2883821" y="4215087"/>
            <a:ext cx="232836" cy="3578"/>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5" name="直接箭头连接符 214"/>
          <p:cNvCxnSpPr>
            <a:endCxn id="33" idx="1"/>
          </p:cNvCxnSpPr>
          <p:nvPr/>
        </p:nvCxnSpPr>
        <p:spPr bwMode="auto">
          <a:xfrm flipV="1">
            <a:off x="3122720" y="4027208"/>
            <a:ext cx="1868291" cy="0"/>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9" name="直接箭头连接符 218"/>
          <p:cNvCxnSpPr/>
          <p:nvPr/>
        </p:nvCxnSpPr>
        <p:spPr bwMode="auto">
          <a:xfrm rot="10800000" flipV="1">
            <a:off x="2788643" y="1605107"/>
            <a:ext cx="714634" cy="1625570"/>
          </a:xfrm>
          <a:prstGeom prst="bentConnector2">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 name="直接连接符 234"/>
          <p:cNvCxnSpPr/>
          <p:nvPr/>
        </p:nvCxnSpPr>
        <p:spPr bwMode="auto">
          <a:xfrm>
            <a:off x="7400635" y="6337038"/>
            <a:ext cx="2315640"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9" name="直接连接符 278"/>
          <p:cNvCxnSpPr>
            <a:cxnSpLocks/>
          </p:cNvCxnSpPr>
          <p:nvPr/>
        </p:nvCxnSpPr>
        <p:spPr bwMode="auto">
          <a:xfrm>
            <a:off x="4134041" y="6534423"/>
            <a:ext cx="7664995"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2" name="直接连接符 291"/>
          <p:cNvCxnSpPr/>
          <p:nvPr/>
        </p:nvCxnSpPr>
        <p:spPr bwMode="auto">
          <a:xfrm>
            <a:off x="9441547" y="5334265"/>
            <a:ext cx="1153873"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9" name="直接连接符 298"/>
          <p:cNvCxnSpPr/>
          <p:nvPr/>
        </p:nvCxnSpPr>
        <p:spPr bwMode="auto">
          <a:xfrm flipV="1">
            <a:off x="4320000" y="5349240"/>
            <a:ext cx="2808000" cy="969010"/>
          </a:xfrm>
          <a:prstGeom prst="bentConnector3">
            <a:avLst>
              <a:gd name="adj1" fmla="val 99473"/>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3" name="直接连接符 342"/>
          <p:cNvCxnSpPr>
            <a:stCxn id="33" idx="0"/>
          </p:cNvCxnSpPr>
          <p:nvPr/>
        </p:nvCxnSpPr>
        <p:spPr bwMode="auto">
          <a:xfrm flipH="1" flipV="1">
            <a:off x="5433134" y="1002057"/>
            <a:ext cx="13579" cy="2494253"/>
          </a:xfrm>
          <a:prstGeom prst="line">
            <a:avLst/>
          </a:prstGeom>
          <a:noFill/>
          <a:ln w="25400" cap="flat" cmpd="sng" algn="ctr">
            <a:solidFill>
              <a:srgbClr val="00B0F0"/>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7" name="矩形 346"/>
          <p:cNvSpPr/>
          <p:nvPr/>
        </p:nvSpPr>
        <p:spPr>
          <a:xfrm>
            <a:off x="695239" y="342367"/>
            <a:ext cx="1869921" cy="400110"/>
          </a:xfrm>
          <a:prstGeom prst="rect">
            <a:avLst/>
          </a:prstGeom>
          <a:ln w="25400">
            <a:noFill/>
          </a:ln>
        </p:spPr>
        <p:txBody>
          <a:bodyPr wrap="square">
            <a:spAutoFit/>
          </a:bodyPr>
          <a:lstStyle/>
          <a:p>
            <a:pPr lvl="0" algn="ctr">
              <a:defRPr/>
            </a:pPr>
            <a:r>
              <a:rPr lang="en-US" altLang="zh-CN" sz="2000" b="1" dirty="0">
                <a:latin typeface="Times New Roman" panose="02020603050405020304" pitchFamily="18" charset="0"/>
                <a:cs typeface="Times New Roman" panose="02020603050405020304" pitchFamily="18" charset="0"/>
              </a:rPr>
              <a:t>and x12, x2, x5</a:t>
            </a:r>
          </a:p>
        </p:txBody>
      </p:sp>
      <p:cxnSp>
        <p:nvCxnSpPr>
          <p:cNvPr id="352" name="直接箭头连接符 351"/>
          <p:cNvCxnSpPr/>
          <p:nvPr/>
        </p:nvCxnSpPr>
        <p:spPr bwMode="auto">
          <a:xfrm flipV="1">
            <a:off x="3096000" y="5337543"/>
            <a:ext cx="3312000"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直接连接符 225"/>
          <p:cNvCxnSpPr/>
          <p:nvPr/>
        </p:nvCxnSpPr>
        <p:spPr bwMode="auto">
          <a:xfrm flipV="1">
            <a:off x="3666594" y="4025331"/>
            <a:ext cx="0" cy="1959519"/>
          </a:xfrm>
          <a:prstGeom prst="line">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8" name="直接箭头连接符 227"/>
          <p:cNvCxnSpPr/>
          <p:nvPr/>
        </p:nvCxnSpPr>
        <p:spPr bwMode="auto">
          <a:xfrm flipV="1">
            <a:off x="3931535" y="4246146"/>
            <a:ext cx="1054607"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7" name="直接连接符 236"/>
          <p:cNvCxnSpPr/>
          <p:nvPr/>
        </p:nvCxnSpPr>
        <p:spPr bwMode="auto">
          <a:xfrm flipV="1">
            <a:off x="4319522" y="2059619"/>
            <a:ext cx="16478" cy="4264662"/>
          </a:xfrm>
          <a:prstGeom prst="straightConnector1">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9" name="直接箭头连接符 238"/>
          <p:cNvCxnSpPr/>
          <p:nvPr/>
        </p:nvCxnSpPr>
        <p:spPr bwMode="auto">
          <a:xfrm flipV="1">
            <a:off x="3117995" y="3855927"/>
            <a:ext cx="1873017" cy="0"/>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3" name="直接箭头连接符 242"/>
          <p:cNvCxnSpPr>
            <a:endCxn id="166" idx="3"/>
          </p:cNvCxnSpPr>
          <p:nvPr/>
        </p:nvCxnSpPr>
        <p:spPr bwMode="auto">
          <a:xfrm>
            <a:off x="2918598" y="3303593"/>
            <a:ext cx="1799518" cy="9838"/>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9" name="直接连接符 248"/>
          <p:cNvCxnSpPr/>
          <p:nvPr/>
        </p:nvCxnSpPr>
        <p:spPr bwMode="auto">
          <a:xfrm>
            <a:off x="3437767" y="3867004"/>
            <a:ext cx="0" cy="1822586"/>
          </a:xfrm>
          <a:prstGeom prst="line">
            <a:avLst/>
          </a:prstGeom>
          <a:noFill/>
          <a:ln w="25400" cap="flat" cmpd="sng" algn="ctr">
            <a:solidFill>
              <a:schemeClr val="tx1"/>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1" name="直接连接符 250"/>
          <p:cNvCxnSpPr/>
          <p:nvPr/>
        </p:nvCxnSpPr>
        <p:spPr bwMode="auto">
          <a:xfrm rot="10800000">
            <a:off x="207010" y="2800985"/>
            <a:ext cx="1983105" cy="523240"/>
          </a:xfrm>
          <a:prstGeom prst="bentConnector3">
            <a:avLst>
              <a:gd name="adj1" fmla="val -4290"/>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4" name="直接箭头连接符 253"/>
          <p:cNvCxnSpPr/>
          <p:nvPr/>
        </p:nvCxnSpPr>
        <p:spPr bwMode="auto">
          <a:xfrm>
            <a:off x="3666594" y="5971895"/>
            <a:ext cx="2733004"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 name="直接箭头连接符 255"/>
          <p:cNvCxnSpPr/>
          <p:nvPr/>
        </p:nvCxnSpPr>
        <p:spPr bwMode="auto">
          <a:xfrm>
            <a:off x="3437767" y="5673265"/>
            <a:ext cx="2984954"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2" name="直接箭头连接符 261"/>
          <p:cNvCxnSpPr/>
          <p:nvPr/>
        </p:nvCxnSpPr>
        <p:spPr bwMode="auto">
          <a:xfrm>
            <a:off x="5902236" y="4332411"/>
            <a:ext cx="504495"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5" name="直接箭头连接符 264"/>
          <p:cNvCxnSpPr/>
          <p:nvPr/>
        </p:nvCxnSpPr>
        <p:spPr bwMode="auto">
          <a:xfrm flipV="1">
            <a:off x="5918537" y="3715000"/>
            <a:ext cx="488194" cy="6845"/>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6" name="直接箭头连接符 245"/>
          <p:cNvCxnSpPr/>
          <p:nvPr/>
        </p:nvCxnSpPr>
        <p:spPr bwMode="auto">
          <a:xfrm flipV="1">
            <a:off x="4896338" y="4914058"/>
            <a:ext cx="1502153" cy="12759"/>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9" name="直接箭头连接符 358"/>
          <p:cNvCxnSpPr/>
          <p:nvPr/>
        </p:nvCxnSpPr>
        <p:spPr bwMode="auto">
          <a:xfrm>
            <a:off x="6696613" y="5686306"/>
            <a:ext cx="827467"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3" name="直接箭头连接符 372"/>
          <p:cNvCxnSpPr/>
          <p:nvPr/>
        </p:nvCxnSpPr>
        <p:spPr bwMode="auto">
          <a:xfrm>
            <a:off x="6754030" y="5329825"/>
            <a:ext cx="2313878" cy="7718"/>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6" name="直接箭头连接符 375"/>
          <p:cNvCxnSpPr/>
          <p:nvPr/>
        </p:nvCxnSpPr>
        <p:spPr bwMode="auto">
          <a:xfrm>
            <a:off x="9716275" y="5116661"/>
            <a:ext cx="879145" cy="0"/>
          </a:xfrm>
          <a:prstGeom prst="straightConnector1">
            <a:avLst/>
          </a:prstGeom>
          <a:noFill/>
          <a:ln w="25400" cap="flat" cmpd="sng" algn="ctr">
            <a:solidFill>
              <a:schemeClr val="tx1"/>
            </a:solidFill>
            <a:prstDash val="solid"/>
            <a:round/>
            <a:headEnd type="oval"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9" name="直接箭头连接符 378"/>
          <p:cNvCxnSpPr/>
          <p:nvPr/>
        </p:nvCxnSpPr>
        <p:spPr bwMode="auto">
          <a:xfrm>
            <a:off x="2757066" y="123283"/>
            <a:ext cx="0" cy="6479648"/>
          </a:xfrm>
          <a:prstGeom prst="straightConnector1">
            <a:avLst/>
          </a:prstGeom>
          <a:ln w="12700" cap="flat" cmpd="sng" algn="ctr">
            <a:solidFill>
              <a:schemeClr val="dk1"/>
            </a:solidFill>
            <a:prstDash val="dash"/>
            <a:round/>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386" name="直接箭头连接符 385"/>
          <p:cNvCxnSpPr/>
          <p:nvPr/>
        </p:nvCxnSpPr>
        <p:spPr bwMode="auto">
          <a:xfrm rot="5400000">
            <a:off x="7741404" y="3896390"/>
            <a:ext cx="2979471" cy="778500"/>
          </a:xfrm>
          <a:prstGeom prst="bentConnector3">
            <a:avLst>
              <a:gd name="adj1" fmla="val 100057"/>
            </a:avLst>
          </a:prstGeom>
          <a:noFill/>
          <a:ln w="25400" cap="flat" cmpd="sng" algn="ctr">
            <a:solidFill>
              <a:srgbClr val="00B0F0"/>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3" name="直接连接符 392"/>
          <p:cNvCxnSpPr/>
          <p:nvPr/>
        </p:nvCxnSpPr>
        <p:spPr bwMode="auto">
          <a:xfrm>
            <a:off x="8827497" y="5620929"/>
            <a:ext cx="681519" cy="0"/>
          </a:xfrm>
          <a:prstGeom prst="line">
            <a:avLst/>
          </a:prstGeom>
          <a:noFill/>
          <a:ln w="25400" cap="flat" cmpd="sng" algn="ctr">
            <a:solidFill>
              <a:schemeClr val="tx1"/>
            </a:solidFill>
            <a:prstDash val="solid"/>
            <a:round/>
            <a:headEnd type="triangl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7" name="直接箭头连接符 396"/>
          <p:cNvCxnSpPr/>
          <p:nvPr/>
        </p:nvCxnSpPr>
        <p:spPr bwMode="auto">
          <a:xfrm>
            <a:off x="11165090" y="983469"/>
            <a:ext cx="0" cy="5045771"/>
          </a:xfrm>
          <a:prstGeom prst="straightConnector1">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9" name="直接连接符 398"/>
          <p:cNvCxnSpPr/>
          <p:nvPr/>
        </p:nvCxnSpPr>
        <p:spPr bwMode="auto">
          <a:xfrm>
            <a:off x="8828925" y="6029240"/>
            <a:ext cx="2336165" cy="0"/>
          </a:xfrm>
          <a:prstGeom prst="line">
            <a:avLst/>
          </a:prstGeom>
          <a:noFill/>
          <a:ln w="25400" cap="flat" cmpd="sng" algn="ctr">
            <a:solidFill>
              <a:srgbClr val="00B0F0"/>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1" name="直接箭头连接符 400"/>
          <p:cNvCxnSpPr/>
          <p:nvPr/>
        </p:nvCxnSpPr>
        <p:spPr bwMode="auto">
          <a:xfrm rot="10800000">
            <a:off x="5064977" y="1513169"/>
            <a:ext cx="2102719" cy="1228829"/>
          </a:xfrm>
          <a:prstGeom prst="bentConnector3">
            <a:avLst>
              <a:gd name="adj1" fmla="val 563"/>
            </a:avLst>
          </a:prstGeom>
          <a:noFill/>
          <a:ln w="25400" cap="flat" cmpd="sng" algn="ctr">
            <a:solidFill>
              <a:srgbClr val="00B0F0"/>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6" name="直接连接符 405"/>
          <p:cNvCxnSpPr/>
          <p:nvPr/>
        </p:nvCxnSpPr>
        <p:spPr bwMode="auto">
          <a:xfrm>
            <a:off x="10960499" y="5300121"/>
            <a:ext cx="115415"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1" name="直接连接符 410"/>
          <p:cNvCxnSpPr/>
          <p:nvPr/>
        </p:nvCxnSpPr>
        <p:spPr bwMode="auto">
          <a:xfrm flipV="1">
            <a:off x="8839554" y="5892888"/>
            <a:ext cx="2245482" cy="11282"/>
          </a:xfrm>
          <a:prstGeom prst="line">
            <a:avLst/>
          </a:prstGeom>
          <a:noFill/>
          <a:ln w="25400" cap="flat" cmpd="sng" algn="ctr">
            <a:solidFill>
              <a:schemeClr val="tx1"/>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8" name="直接箭头连接符 407"/>
          <p:cNvCxnSpPr/>
          <p:nvPr/>
        </p:nvCxnSpPr>
        <p:spPr bwMode="auto">
          <a:xfrm>
            <a:off x="11075914" y="5297444"/>
            <a:ext cx="0" cy="606726"/>
          </a:xfrm>
          <a:prstGeom prst="straightConnector1">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4" name="直接箭头连接符 413"/>
          <p:cNvCxnSpPr/>
          <p:nvPr/>
        </p:nvCxnSpPr>
        <p:spPr bwMode="auto">
          <a:xfrm rot="16200000" flipH="1">
            <a:off x="-1078678" y="2383614"/>
            <a:ext cx="2787687" cy="400717"/>
          </a:xfrm>
          <a:prstGeom prst="bentConnector3">
            <a:avLst>
              <a:gd name="adj1" fmla="val 99202"/>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0" name="连接符: 肘形 419"/>
          <p:cNvCxnSpPr>
            <a:endCxn id="312" idx="3"/>
          </p:cNvCxnSpPr>
          <p:nvPr/>
        </p:nvCxnSpPr>
        <p:spPr bwMode="auto">
          <a:xfrm rot="10800000">
            <a:off x="7697418" y="3932796"/>
            <a:ext cx="415708" cy="122715"/>
          </a:xfrm>
          <a:prstGeom prst="bentConnector2">
            <a:avLst/>
          </a:prstGeom>
          <a:solidFill>
            <a:schemeClr val="accent1"/>
          </a:solid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矩形 39"/>
          <p:cNvSpPr/>
          <p:nvPr/>
        </p:nvSpPr>
        <p:spPr bwMode="auto">
          <a:xfrm>
            <a:off x="9859831" y="3626448"/>
            <a:ext cx="583541" cy="1309728"/>
          </a:xfrm>
          <a:prstGeom prst="rect">
            <a:avLst/>
          </a:pr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36195" rIns="0" bIns="45720" numCol="1" rtlCol="0" anchor="t" anchorCtr="0" compatLnSpc="1"/>
          <a:lstStyle/>
          <a:p>
            <a:pPr algn="ctr" fontAlgn="base">
              <a:spcBef>
                <a:spcPct val="0"/>
              </a:spcBef>
              <a:spcAft>
                <a:spcPct val="0"/>
              </a:spcAft>
            </a:pPr>
            <a:endParaRPr lang="en-US" altLang="zh-CN"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gn="ctr" fontAlgn="base">
              <a:spcBef>
                <a:spcPct val="0"/>
              </a:spcBef>
              <a:spcAft>
                <a:spcPct val="0"/>
              </a:spcAft>
            </a:pPr>
            <a:r>
              <a:rPr lang="en-US" altLang="zh-CN"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DM</a:t>
            </a:r>
          </a:p>
        </p:txBody>
      </p:sp>
      <p:cxnSp>
        <p:nvCxnSpPr>
          <p:cNvPr id="437" name="直接箭头连接符 436"/>
          <p:cNvCxnSpPr/>
          <p:nvPr/>
        </p:nvCxnSpPr>
        <p:spPr bwMode="auto">
          <a:xfrm>
            <a:off x="9414961" y="4004908"/>
            <a:ext cx="451580"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梯形 43"/>
          <p:cNvSpPr/>
          <p:nvPr/>
        </p:nvSpPr>
        <p:spPr bwMode="auto">
          <a:xfrm rot="5400000">
            <a:off x="8001181" y="3670162"/>
            <a:ext cx="1292857" cy="371529"/>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solidFill>
            <a:schemeClr val="bg2">
              <a:lumMod val="90000"/>
            </a:schemeClr>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algn="ctr" fontAlgn="base">
              <a:spcBef>
                <a:spcPct val="0"/>
              </a:spcBef>
              <a:spcAft>
                <a:spcPct val="0"/>
              </a:spcAft>
            </a:pPr>
            <a:r>
              <a:rPr lang="en-US" altLang="zh-CN" sz="1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p>
          <a:p>
            <a:pPr algn="ctr" fontAlgn="base">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L</a:t>
            </a:r>
          </a:p>
          <a:p>
            <a:pPr algn="ctr" fontAlgn="base">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U</a:t>
            </a:r>
            <a:endParaRPr lang="zh-CN" altLang="en-US" sz="1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70" name="直接箭头连接符 269"/>
          <p:cNvCxnSpPr/>
          <p:nvPr/>
        </p:nvCxnSpPr>
        <p:spPr bwMode="auto">
          <a:xfrm>
            <a:off x="6768465" y="4315727"/>
            <a:ext cx="809559"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2" name="直接箭头连接符 271"/>
          <p:cNvCxnSpPr/>
          <p:nvPr/>
        </p:nvCxnSpPr>
        <p:spPr bwMode="auto">
          <a:xfrm>
            <a:off x="7400635" y="3857080"/>
            <a:ext cx="169641" cy="1"/>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1" name="直接连接符 280"/>
          <p:cNvCxnSpPr/>
          <p:nvPr/>
        </p:nvCxnSpPr>
        <p:spPr bwMode="auto">
          <a:xfrm>
            <a:off x="7400635" y="3855926"/>
            <a:ext cx="0" cy="2477878"/>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3" name="直接箭头连接符 282"/>
          <p:cNvCxnSpPr/>
          <p:nvPr/>
        </p:nvCxnSpPr>
        <p:spPr bwMode="auto">
          <a:xfrm>
            <a:off x="6747799" y="3697085"/>
            <a:ext cx="815573" cy="2662"/>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5" name="直接箭头连接符 284"/>
          <p:cNvCxnSpPr/>
          <p:nvPr/>
        </p:nvCxnSpPr>
        <p:spPr bwMode="auto">
          <a:xfrm>
            <a:off x="7257113" y="4494748"/>
            <a:ext cx="327841" cy="0"/>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3" name="直接箭头连接符 292"/>
          <p:cNvCxnSpPr/>
          <p:nvPr/>
        </p:nvCxnSpPr>
        <p:spPr bwMode="auto">
          <a:xfrm>
            <a:off x="8247115" y="4699405"/>
            <a:ext cx="820793"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 name="直接连接符 301"/>
          <p:cNvCxnSpPr>
            <a:cxnSpLocks/>
          </p:cNvCxnSpPr>
          <p:nvPr/>
        </p:nvCxnSpPr>
        <p:spPr bwMode="auto">
          <a:xfrm>
            <a:off x="3924665" y="4248200"/>
            <a:ext cx="6870" cy="2451308"/>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4" name="直接箭头连接符 303"/>
          <p:cNvCxnSpPr/>
          <p:nvPr/>
        </p:nvCxnSpPr>
        <p:spPr bwMode="auto">
          <a:xfrm rot="5400000" flipH="1" flipV="1">
            <a:off x="4210662" y="1886889"/>
            <a:ext cx="1842078" cy="405120"/>
          </a:xfrm>
          <a:prstGeom prst="bentConnector3">
            <a:avLst>
              <a:gd name="adj1" fmla="val -603"/>
            </a:avLst>
          </a:prstGeom>
          <a:noFill/>
          <a:ln w="25400"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 name="直接箭头连接符 306"/>
          <p:cNvCxnSpPr/>
          <p:nvPr/>
        </p:nvCxnSpPr>
        <p:spPr bwMode="auto">
          <a:xfrm>
            <a:off x="7400635" y="4652649"/>
            <a:ext cx="169641" cy="0"/>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8" name="直接箭头连接符 317"/>
          <p:cNvCxnSpPr>
            <a:stCxn id="321" idx="0"/>
          </p:cNvCxnSpPr>
          <p:nvPr/>
        </p:nvCxnSpPr>
        <p:spPr bwMode="auto">
          <a:xfrm>
            <a:off x="7825377" y="4494748"/>
            <a:ext cx="641193" cy="3867"/>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8" name="直接连接符 197"/>
          <p:cNvCxnSpPr/>
          <p:nvPr/>
        </p:nvCxnSpPr>
        <p:spPr bwMode="auto">
          <a:xfrm flipV="1">
            <a:off x="8247116" y="4482301"/>
            <a:ext cx="0" cy="242099"/>
          </a:xfrm>
          <a:prstGeom prst="line">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4" name="直接箭头连接符 213"/>
          <p:cNvCxnSpPr>
            <a:cxnSpLocks/>
          </p:cNvCxnSpPr>
          <p:nvPr/>
        </p:nvCxnSpPr>
        <p:spPr bwMode="auto">
          <a:xfrm flipH="1">
            <a:off x="9716275" y="4012741"/>
            <a:ext cx="2005" cy="2321063"/>
          </a:xfrm>
          <a:prstGeom prst="straightConnector1">
            <a:avLst/>
          </a:prstGeom>
          <a:noFill/>
          <a:ln w="25400" cap="flat" cmpd="sng" algn="ctr">
            <a:solidFill>
              <a:schemeClr val="tx1"/>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7" name="直接连接符 216"/>
          <p:cNvCxnSpPr/>
          <p:nvPr/>
        </p:nvCxnSpPr>
        <p:spPr bwMode="auto">
          <a:xfrm>
            <a:off x="9429014" y="4680191"/>
            <a:ext cx="430817"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8" name="直接连接符 217"/>
          <p:cNvCxnSpPr/>
          <p:nvPr/>
        </p:nvCxnSpPr>
        <p:spPr bwMode="auto">
          <a:xfrm flipV="1">
            <a:off x="11074126" y="4197640"/>
            <a:ext cx="228062" cy="375"/>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0" name="直接连接符 219"/>
          <p:cNvCxnSpPr/>
          <p:nvPr/>
        </p:nvCxnSpPr>
        <p:spPr bwMode="auto">
          <a:xfrm>
            <a:off x="10960499" y="3933701"/>
            <a:ext cx="339508"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3" name="直接箭头连接符 222"/>
          <p:cNvCxnSpPr/>
          <p:nvPr/>
        </p:nvCxnSpPr>
        <p:spPr bwMode="auto">
          <a:xfrm>
            <a:off x="11076158" y="4178288"/>
            <a:ext cx="3174" cy="926372"/>
          </a:xfrm>
          <a:prstGeom prst="straightConnector1">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4" name="直接连接符 223"/>
          <p:cNvCxnSpPr/>
          <p:nvPr/>
        </p:nvCxnSpPr>
        <p:spPr bwMode="auto">
          <a:xfrm>
            <a:off x="10962000" y="5096015"/>
            <a:ext cx="123036"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9" name="直接连接符 228"/>
          <p:cNvCxnSpPr/>
          <p:nvPr/>
        </p:nvCxnSpPr>
        <p:spPr bwMode="auto">
          <a:xfrm>
            <a:off x="11603765" y="4055512"/>
            <a:ext cx="205857"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1" name="直接箭头连接符 230"/>
          <p:cNvCxnSpPr/>
          <p:nvPr/>
        </p:nvCxnSpPr>
        <p:spPr bwMode="auto">
          <a:xfrm flipH="1">
            <a:off x="11799036" y="4055510"/>
            <a:ext cx="0" cy="2478913"/>
          </a:xfrm>
          <a:prstGeom prst="straightConnector1">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3" name="直接箭头连接符 262"/>
          <p:cNvCxnSpPr/>
          <p:nvPr/>
        </p:nvCxnSpPr>
        <p:spPr bwMode="auto">
          <a:xfrm>
            <a:off x="9509016" y="5329825"/>
            <a:ext cx="0" cy="311304"/>
          </a:xfrm>
          <a:prstGeom prst="straightConnector1">
            <a:avLst/>
          </a:prstGeom>
          <a:noFill/>
          <a:ln w="25400" cap="flat" cmpd="sng" algn="ctr">
            <a:solidFill>
              <a:schemeClr val="tx1"/>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接连接符 111"/>
          <p:cNvCxnSpPr/>
          <p:nvPr/>
        </p:nvCxnSpPr>
        <p:spPr>
          <a:xfrm flipH="1">
            <a:off x="8103870" y="4070544"/>
            <a:ext cx="9256" cy="1482981"/>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7" name="直接连接符 266"/>
          <p:cNvCxnSpPr/>
          <p:nvPr/>
        </p:nvCxnSpPr>
        <p:spPr>
          <a:xfrm>
            <a:off x="7952418" y="5099376"/>
            <a:ext cx="0" cy="451210"/>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 name="直接连接符 296"/>
          <p:cNvCxnSpPr/>
          <p:nvPr/>
        </p:nvCxnSpPr>
        <p:spPr bwMode="auto">
          <a:xfrm flipV="1">
            <a:off x="101832" y="1168412"/>
            <a:ext cx="5220748" cy="26754"/>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0" name="直接连接符 299"/>
          <p:cNvCxnSpPr>
            <a:stCxn id="303" idx="1"/>
          </p:cNvCxnSpPr>
          <p:nvPr/>
        </p:nvCxnSpPr>
        <p:spPr bwMode="auto">
          <a:xfrm rot="16200000" flipV="1">
            <a:off x="5218233" y="1590729"/>
            <a:ext cx="537153" cy="862185"/>
          </a:xfrm>
          <a:prstGeom prst="bentConnector2">
            <a:avLst/>
          </a:prstGeom>
          <a:noFill/>
          <a:ln w="25400" cap="flat" cmpd="sng" algn="ctr">
            <a:solidFill>
              <a:schemeClr val="tx1"/>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01" name="Mux 3"/>
          <p:cNvGrpSpPr/>
          <p:nvPr/>
        </p:nvGrpSpPr>
        <p:grpSpPr>
          <a:xfrm>
            <a:off x="5690294" y="2290399"/>
            <a:ext cx="426719" cy="800346"/>
            <a:chOff x="3490515" y="5448299"/>
            <a:chExt cx="907262" cy="1271787"/>
          </a:xfrm>
        </p:grpSpPr>
        <p:sp>
          <p:nvSpPr>
            <p:cNvPr id="303" name="mux"/>
            <p:cNvSpPr/>
            <p:nvPr/>
          </p:nvSpPr>
          <p:spPr>
            <a:xfrm rot="5400000">
              <a:off x="3360534" y="5718809"/>
              <a:ext cx="1230515" cy="689495"/>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310" name="文本框 309"/>
            <p:cNvSpPr txBox="1"/>
            <p:nvPr/>
          </p:nvSpPr>
          <p:spPr>
            <a:xfrm>
              <a:off x="3490515" y="5469184"/>
              <a:ext cx="907262" cy="1250902"/>
            </a:xfrm>
            <a:prstGeom prst="rect">
              <a:avLst/>
            </a:prstGeom>
            <a:noFill/>
            <a:ln w="25400">
              <a:noFill/>
            </a:ln>
          </p:spPr>
          <p:txBody>
            <a:bodyPr wrap="none" rtlCol="0">
              <a:spAutoFit/>
            </a:bodyPr>
            <a:lstStyle/>
            <a:p>
              <a:pPr algn="ctr">
                <a:lnSpc>
                  <a:spcPts val="1800"/>
                </a:lnSpc>
                <a:defRPr/>
              </a:pPr>
              <a:r>
                <a:rPr lang="en-US" altLang="zh-CN" sz="2000" b="1" dirty="0">
                  <a:solidFill>
                    <a:prstClr val="black"/>
                  </a:solidFill>
                  <a:latin typeface="Times New Roman" panose="02020603050405020304" pitchFamily="18" charset="0"/>
                  <a:cs typeface="Times New Roman" panose="02020603050405020304" pitchFamily="18" charset="0"/>
                </a:rPr>
                <a:t>M</a:t>
              </a:r>
            </a:p>
            <a:p>
              <a:pPr algn="ctr">
                <a:lnSpc>
                  <a:spcPts val="1800"/>
                </a:lnSpc>
                <a:defRPr/>
              </a:pPr>
              <a:r>
                <a:rPr lang="en-US" altLang="zh-CN" sz="2000" b="1" dirty="0">
                  <a:solidFill>
                    <a:prstClr val="black"/>
                  </a:solidFill>
                  <a:latin typeface="Times New Roman" panose="02020603050405020304" pitchFamily="18" charset="0"/>
                  <a:cs typeface="Times New Roman" panose="02020603050405020304" pitchFamily="18" charset="0"/>
                </a:rPr>
                <a:t>U</a:t>
              </a:r>
            </a:p>
            <a:p>
              <a:pPr algn="ctr">
                <a:lnSpc>
                  <a:spcPts val="1800"/>
                </a:lnSpc>
                <a:defRPr/>
              </a:pPr>
              <a:r>
                <a:rPr lang="en-US" altLang="zh-CN" sz="2000" b="1" dirty="0">
                  <a:solidFill>
                    <a:prstClr val="black"/>
                  </a:solidFill>
                  <a:latin typeface="Times New Roman" panose="02020603050405020304" pitchFamily="18" charset="0"/>
                  <a:cs typeface="Times New Roman" panose="02020603050405020304" pitchFamily="18" charset="0"/>
                </a:rPr>
                <a:t>X</a:t>
              </a:r>
              <a:endParaRPr lang="zh-CN" altLang="en-US" sz="2000" b="1" dirty="0">
                <a:solidFill>
                  <a:prstClr val="black"/>
                </a:solidFill>
                <a:latin typeface="Times New Roman" panose="02020603050405020304" pitchFamily="18" charset="0"/>
                <a:cs typeface="Times New Roman" panose="02020603050405020304" pitchFamily="18" charset="0"/>
              </a:endParaRPr>
            </a:p>
          </p:txBody>
        </p:sp>
      </p:grpSp>
      <p:grpSp>
        <p:nvGrpSpPr>
          <p:cNvPr id="311" name="Mux 3"/>
          <p:cNvGrpSpPr/>
          <p:nvPr/>
        </p:nvGrpSpPr>
        <p:grpSpPr>
          <a:xfrm>
            <a:off x="7485162" y="3192291"/>
            <a:ext cx="426720" cy="805228"/>
            <a:chOff x="3429899" y="5448299"/>
            <a:chExt cx="1097464" cy="1338068"/>
          </a:xfrm>
        </p:grpSpPr>
        <p:sp>
          <p:nvSpPr>
            <p:cNvPr id="312" name="mux"/>
            <p:cNvSpPr/>
            <p:nvPr/>
          </p:nvSpPr>
          <p:spPr>
            <a:xfrm rot="5400000">
              <a:off x="3360534" y="5718809"/>
              <a:ext cx="1230515" cy="689495"/>
            </a:xfrm>
            <a:prstGeom prst="flowChartTerminator">
              <a:avLst/>
            </a:prstGeom>
            <a:solidFill>
              <a:schemeClr val="bg2">
                <a:lumMod val="90000"/>
              </a:schemeClr>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314" name="文本框 313"/>
            <p:cNvSpPr txBox="1"/>
            <p:nvPr/>
          </p:nvSpPr>
          <p:spPr>
            <a:xfrm>
              <a:off x="3429899" y="5478252"/>
              <a:ext cx="1097464" cy="1308115"/>
            </a:xfrm>
            <a:prstGeom prst="rect">
              <a:avLst/>
            </a:prstGeom>
            <a:noFill/>
            <a:ln w="25400">
              <a:noFill/>
            </a:ln>
          </p:spPr>
          <p:txBody>
            <a:bodyPr wrap="none" rtlCol="0">
              <a:spAutoFit/>
            </a:bodyPr>
            <a:lstStyle/>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grpSp>
        <p:nvGrpSpPr>
          <p:cNvPr id="320" name="Mux 3"/>
          <p:cNvGrpSpPr/>
          <p:nvPr/>
        </p:nvGrpSpPr>
        <p:grpSpPr>
          <a:xfrm>
            <a:off x="7501671" y="4083331"/>
            <a:ext cx="426720" cy="836932"/>
            <a:chOff x="3389700" y="5448299"/>
            <a:chExt cx="1227068" cy="1251589"/>
          </a:xfrm>
        </p:grpSpPr>
        <p:sp>
          <p:nvSpPr>
            <p:cNvPr id="321" name="mux"/>
            <p:cNvSpPr/>
            <p:nvPr/>
          </p:nvSpPr>
          <p:spPr>
            <a:xfrm rot="5400000">
              <a:off x="3360534" y="5718809"/>
              <a:ext cx="1230515" cy="689495"/>
            </a:xfrm>
            <a:prstGeom prst="flowChartTerminator">
              <a:avLst/>
            </a:prstGeom>
            <a:solidFill>
              <a:schemeClr val="bg2">
                <a:lumMod val="90000"/>
              </a:schemeClr>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322" name="文本框 321"/>
            <p:cNvSpPr txBox="1"/>
            <p:nvPr/>
          </p:nvSpPr>
          <p:spPr>
            <a:xfrm>
              <a:off x="3389700" y="5522666"/>
              <a:ext cx="1227068" cy="1177222"/>
            </a:xfrm>
            <a:prstGeom prst="rect">
              <a:avLst/>
            </a:prstGeom>
            <a:noFill/>
            <a:ln w="25400">
              <a:noFill/>
            </a:ln>
          </p:spPr>
          <p:txBody>
            <a:bodyPr wrap="none" rtlCol="0">
              <a:spAutoFit/>
            </a:bodyPr>
            <a:lstStyle/>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grpSp>
        <p:nvGrpSpPr>
          <p:cNvPr id="324" name="Mux 3"/>
          <p:cNvGrpSpPr/>
          <p:nvPr/>
        </p:nvGrpSpPr>
        <p:grpSpPr>
          <a:xfrm>
            <a:off x="11232300" y="3663384"/>
            <a:ext cx="426719" cy="836042"/>
            <a:chOff x="3477358" y="5448299"/>
            <a:chExt cx="968604" cy="1252706"/>
          </a:xfrm>
        </p:grpSpPr>
        <p:sp>
          <p:nvSpPr>
            <p:cNvPr id="326" name="mux"/>
            <p:cNvSpPr/>
            <p:nvPr/>
          </p:nvSpPr>
          <p:spPr>
            <a:xfrm rot="5400000">
              <a:off x="3360535" y="5718809"/>
              <a:ext cx="1230515" cy="689496"/>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328" name="文本框 327"/>
            <p:cNvSpPr txBox="1"/>
            <p:nvPr/>
          </p:nvSpPr>
          <p:spPr>
            <a:xfrm>
              <a:off x="3477358" y="5521478"/>
              <a:ext cx="968604" cy="1179527"/>
            </a:xfrm>
            <a:prstGeom prst="rect">
              <a:avLst/>
            </a:prstGeom>
            <a:noFill/>
            <a:ln w="25400">
              <a:noFill/>
            </a:ln>
          </p:spPr>
          <p:txBody>
            <a:bodyPr wrap="none" rtlCol="0">
              <a:spAutoFit/>
            </a:bodyPr>
            <a:lstStyle/>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sp>
        <p:nvSpPr>
          <p:cNvPr id="163" name="矩形 162"/>
          <p:cNvSpPr/>
          <p:nvPr/>
        </p:nvSpPr>
        <p:spPr>
          <a:xfrm>
            <a:off x="2345511" y="2874184"/>
            <a:ext cx="806861" cy="369332"/>
          </a:xfrm>
          <a:prstGeom prst="rect">
            <a:avLst/>
          </a:prstGeom>
          <a:ln w="25400">
            <a:noFill/>
          </a:ln>
        </p:spPr>
        <p:txBody>
          <a:bodyPr wrap="square">
            <a:spAutoFit/>
          </a:bodyPr>
          <a:lstStyle/>
          <a:p>
            <a:pPr lvl="0" algn="ctr">
              <a:defRPr/>
            </a:pPr>
            <a:r>
              <a:rPr lang="en-US" altLang="zh-CN" b="1" dirty="0">
                <a:solidFill>
                  <a:prstClr val="black"/>
                </a:solidFill>
                <a:latin typeface="Times New Roman" panose="02020603050405020304" pitchFamily="18" charset="0"/>
                <a:cs typeface="Times New Roman" panose="02020603050405020304" pitchFamily="18" charset="0"/>
              </a:rPr>
              <a:t>IF/ID</a:t>
            </a:r>
            <a:endParaRPr lang="zh-CN" altLang="en-US" b="1" dirty="0">
              <a:solidFill>
                <a:prstClr val="black"/>
              </a:solidFill>
              <a:latin typeface="Times New Roman" panose="02020603050405020304" pitchFamily="18" charset="0"/>
              <a:cs typeface="Times New Roman" panose="02020603050405020304" pitchFamily="18" charset="0"/>
            </a:endParaRPr>
          </a:p>
        </p:txBody>
      </p:sp>
      <p:sp>
        <p:nvSpPr>
          <p:cNvPr id="288" name="矩形: 圆角 287"/>
          <p:cNvSpPr/>
          <p:nvPr/>
        </p:nvSpPr>
        <p:spPr>
          <a:xfrm>
            <a:off x="7534664" y="5534323"/>
            <a:ext cx="1286218" cy="513736"/>
          </a:xfrm>
          <a:prstGeom prst="round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290" name="文本框 289"/>
          <p:cNvSpPr txBox="1"/>
          <p:nvPr/>
        </p:nvSpPr>
        <p:spPr>
          <a:xfrm>
            <a:off x="7408712" y="5542982"/>
            <a:ext cx="1554331" cy="556371"/>
          </a:xfrm>
          <a:prstGeom prst="rect">
            <a:avLst/>
          </a:prstGeom>
          <a:noFill/>
        </p:spPr>
        <p:txBody>
          <a:bodyPr wrap="square" rtlCol="0">
            <a:spAutoFit/>
          </a:bodyPr>
          <a:lstStyle/>
          <a:p>
            <a:pPr algn="ctr">
              <a:lnSpc>
                <a:spcPts val="1800"/>
              </a:lnSpc>
            </a:pPr>
            <a:r>
              <a:rPr lang="en-US" altLang="zh-CN" sz="2000" b="1" dirty="0">
                <a:solidFill>
                  <a:srgbClr val="00B0F0"/>
                </a:solidFill>
                <a:latin typeface="Times New Roman" panose="02020603050405020304" pitchFamily="18" charset="0"/>
                <a:cs typeface="Times New Roman" panose="02020603050405020304" pitchFamily="18" charset="0"/>
              </a:rPr>
              <a:t>Forwarding unit</a:t>
            </a:r>
            <a:endParaRPr lang="zh-CN" altLang="en-US" sz="2000" b="1" dirty="0">
              <a:solidFill>
                <a:srgbClr val="00B0F0"/>
              </a:solidFill>
              <a:latin typeface="Times New Roman" panose="02020603050405020304" pitchFamily="18" charset="0"/>
              <a:cs typeface="Times New Roman" panose="02020603050405020304" pitchFamily="18" charset="0"/>
            </a:endParaRPr>
          </a:p>
        </p:txBody>
      </p:sp>
      <p:cxnSp>
        <p:nvCxnSpPr>
          <p:cNvPr id="385" name="连接符: 肘形 384"/>
          <p:cNvCxnSpPr/>
          <p:nvPr/>
        </p:nvCxnSpPr>
        <p:spPr bwMode="auto">
          <a:xfrm rot="10800000">
            <a:off x="7705489" y="4897290"/>
            <a:ext cx="246930" cy="210495"/>
          </a:xfrm>
          <a:prstGeom prst="bentConnector2">
            <a:avLst/>
          </a:prstGeom>
          <a:solidFill>
            <a:schemeClr val="accent1"/>
          </a:solid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2" name="直接箭头连接符 131"/>
          <p:cNvCxnSpPr/>
          <p:nvPr/>
        </p:nvCxnSpPr>
        <p:spPr bwMode="auto">
          <a:xfrm flipV="1">
            <a:off x="6230620" y="2536825"/>
            <a:ext cx="181610" cy="1905"/>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 name="直接连接符 193"/>
          <p:cNvCxnSpPr/>
          <p:nvPr/>
        </p:nvCxnSpPr>
        <p:spPr bwMode="auto">
          <a:xfrm flipV="1">
            <a:off x="6229985" y="2526030"/>
            <a:ext cx="635" cy="440690"/>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0" name="矩形 439"/>
          <p:cNvSpPr/>
          <p:nvPr/>
        </p:nvSpPr>
        <p:spPr>
          <a:xfrm>
            <a:off x="8637938" y="2146864"/>
            <a:ext cx="1267599" cy="400110"/>
          </a:xfrm>
          <a:prstGeom prst="rect">
            <a:avLst/>
          </a:prstGeom>
          <a:ln w="25400">
            <a:noFill/>
          </a:ln>
        </p:spPr>
        <p:txBody>
          <a:bodyPr wrap="square">
            <a:spAutoFit/>
          </a:bodyPr>
          <a:lstStyle/>
          <a:p>
            <a:pPr algn="ctr">
              <a:defRPr/>
            </a:pPr>
            <a:r>
              <a:rPr lang="en-US" altLang="zh-CN" sz="2000" b="1" dirty="0">
                <a:solidFill>
                  <a:prstClr val="black"/>
                </a:solidFill>
                <a:latin typeface="Times New Roman" panose="02020603050405020304" pitchFamily="18" charset="0"/>
                <a:cs typeface="Times New Roman" panose="02020603050405020304" pitchFamily="18" charset="0"/>
              </a:rPr>
              <a:t>EX/MEM</a:t>
            </a:r>
            <a:endParaRPr lang="zh-CN" altLang="en-US" sz="2000" b="1" dirty="0">
              <a:solidFill>
                <a:prstClr val="black"/>
              </a:solidFill>
              <a:latin typeface="Times New Roman" panose="02020603050405020304" pitchFamily="18" charset="0"/>
              <a:cs typeface="Times New Roman" panose="02020603050405020304" pitchFamily="18" charset="0"/>
            </a:endParaRPr>
          </a:p>
        </p:txBody>
      </p:sp>
      <p:sp>
        <p:nvSpPr>
          <p:cNvPr id="441" name="矩形 440"/>
          <p:cNvSpPr/>
          <p:nvPr/>
        </p:nvSpPr>
        <p:spPr>
          <a:xfrm>
            <a:off x="9930721" y="2484737"/>
            <a:ext cx="1464264" cy="400110"/>
          </a:xfrm>
          <a:prstGeom prst="rect">
            <a:avLst/>
          </a:prstGeom>
          <a:ln w="25400">
            <a:noFill/>
          </a:ln>
        </p:spPr>
        <p:txBody>
          <a:bodyPr wrap="square">
            <a:spAutoFit/>
          </a:bodyPr>
          <a:lstStyle/>
          <a:p>
            <a:pPr algn="ctr">
              <a:defRPr/>
            </a:pPr>
            <a:r>
              <a:rPr lang="en-US" altLang="zh-CN" sz="2000" b="1" dirty="0">
                <a:solidFill>
                  <a:prstClr val="black"/>
                </a:solidFill>
                <a:latin typeface="Times New Roman" panose="02020603050405020304" pitchFamily="18" charset="0"/>
                <a:cs typeface="Times New Roman" panose="02020603050405020304" pitchFamily="18" charset="0"/>
              </a:rPr>
              <a:t>MEM/WB</a:t>
            </a:r>
            <a:endParaRPr lang="zh-CN" altLang="en-US" sz="2000" b="1" dirty="0">
              <a:solidFill>
                <a:prstClr val="black"/>
              </a:solidFill>
              <a:latin typeface="Times New Roman" panose="02020603050405020304" pitchFamily="18" charset="0"/>
              <a:cs typeface="Times New Roman" panose="02020603050405020304" pitchFamily="18" charset="0"/>
            </a:endParaRPr>
          </a:p>
        </p:txBody>
      </p:sp>
      <p:cxnSp>
        <p:nvCxnSpPr>
          <p:cNvPr id="161" name="直接连接符 160"/>
          <p:cNvCxnSpPr/>
          <p:nvPr/>
        </p:nvCxnSpPr>
        <p:spPr bwMode="auto">
          <a:xfrm>
            <a:off x="5418137" y="1002057"/>
            <a:ext cx="5746953" cy="0"/>
          </a:xfrm>
          <a:prstGeom prst="line">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75" name="Mux 3"/>
          <p:cNvGrpSpPr/>
          <p:nvPr/>
        </p:nvGrpSpPr>
        <p:grpSpPr>
          <a:xfrm>
            <a:off x="525047" y="3701447"/>
            <a:ext cx="278377" cy="933746"/>
            <a:chOff x="3631044" y="5448299"/>
            <a:chExt cx="781892" cy="1230515"/>
          </a:xfrm>
        </p:grpSpPr>
        <p:sp>
          <p:nvSpPr>
            <p:cNvPr id="176" name="mux"/>
            <p:cNvSpPr/>
            <p:nvPr/>
          </p:nvSpPr>
          <p:spPr>
            <a:xfrm rot="5400000">
              <a:off x="3360534" y="5718809"/>
              <a:ext cx="1230515" cy="689495"/>
            </a:xfrm>
            <a:prstGeom prst="flowChartTerminator">
              <a:avLst/>
            </a:prstGeom>
            <a:solidFill>
              <a:schemeClr val="bg2">
                <a:lumMod val="90000"/>
              </a:schemeClr>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177" name="文本框 176"/>
            <p:cNvSpPr txBox="1"/>
            <p:nvPr/>
          </p:nvSpPr>
          <p:spPr>
            <a:xfrm>
              <a:off x="3680029" y="5538959"/>
              <a:ext cx="732907" cy="1037397"/>
            </a:xfrm>
            <a:prstGeom prst="rect">
              <a:avLst/>
            </a:prstGeom>
            <a:noFill/>
            <a:ln w="25400">
              <a:noFill/>
            </a:ln>
          </p:spPr>
          <p:txBody>
            <a:bodyPr wrap="square" rtlCol="0">
              <a:spAutoFit/>
            </a:bodyPr>
            <a:lstStyle/>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sp>
        <p:nvSpPr>
          <p:cNvPr id="181" name="梯形 43"/>
          <p:cNvSpPr/>
          <p:nvPr/>
        </p:nvSpPr>
        <p:spPr bwMode="auto">
          <a:xfrm rot="5400000">
            <a:off x="1757137" y="3241307"/>
            <a:ext cx="432037" cy="173951"/>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solidFill>
            <a:schemeClr val="bg2">
              <a:lumMod val="90000"/>
            </a:schemeClr>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algn="ctr" fontAlgn="base">
              <a:spcBef>
                <a:spcPct val="0"/>
              </a:spcBef>
              <a:spcAft>
                <a:spcPct val="0"/>
              </a:spcAft>
            </a:pPr>
            <a:r>
              <a:rPr lang="en-US" altLang="zh-CN"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4" name="椭圆 163"/>
          <p:cNvSpPr/>
          <p:nvPr/>
        </p:nvSpPr>
        <p:spPr>
          <a:xfrm>
            <a:off x="4373880" y="3505835"/>
            <a:ext cx="574040" cy="288000"/>
          </a:xfrm>
          <a:prstGeom prst="ellipse">
            <a:avLst/>
          </a:prstGeom>
          <a:solidFill>
            <a:schemeClr val="bg2">
              <a:lumMod val="90000"/>
            </a:schemeClr>
          </a:solidFill>
          <a:ln w="25400">
            <a:solidFill>
              <a:srgbClr val="0000FF"/>
            </a:solidFill>
          </a:ln>
        </p:spPr>
        <p:style>
          <a:lnRef idx="2">
            <a:schemeClr val="dk1"/>
          </a:lnRef>
          <a:fillRef idx="1">
            <a:schemeClr val="lt1"/>
          </a:fillRef>
          <a:effectRef idx="0">
            <a:schemeClr val="dk1"/>
          </a:effectRef>
          <a:fontRef idx="minor">
            <a:schemeClr val="dk1"/>
          </a:fontRef>
        </p:style>
        <p:txBody>
          <a:bodyPr lIns="0" tIns="0" rIns="0" bIns="0" rtlCol="0" anchor="t" anchorCtr="1"/>
          <a:lstStyle/>
          <a:p>
            <a:pPr algn="ctr">
              <a:lnSpc>
                <a:spcPts val="1000"/>
              </a:lnSpc>
            </a:pPr>
            <a:r>
              <a:rPr lang="en-GB" altLang="zh-CN" sz="1200" b="1" dirty="0">
                <a:solidFill>
                  <a:srgbClr val="FF0000"/>
                </a:solidFill>
                <a:latin typeface="Times New Roman" panose="02020603050405020304" pitchFamily="18" charset="0"/>
                <a:cs typeface="Times New Roman" panose="02020603050405020304" pitchFamily="18" charset="0"/>
              </a:rPr>
              <a:t>Shift left 1</a:t>
            </a:r>
          </a:p>
        </p:txBody>
      </p:sp>
      <p:sp>
        <p:nvSpPr>
          <p:cNvPr id="166" name="梯形 43"/>
          <p:cNvSpPr/>
          <p:nvPr/>
        </p:nvSpPr>
        <p:spPr bwMode="auto">
          <a:xfrm rot="5400000">
            <a:off x="4547141" y="2944309"/>
            <a:ext cx="540097" cy="198147"/>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solidFill>
            <a:schemeClr val="bg2">
              <a:lumMod val="90000"/>
            </a:schemeClr>
          </a:solidFill>
          <a:ln w="25400">
            <a:solidFill>
              <a:srgbClr val="0000FF"/>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algn="ctr" fontAlgn="base">
              <a:spcBef>
                <a:spcPct val="0"/>
              </a:spcBef>
              <a:spcAft>
                <a:spcPct val="0"/>
              </a:spcAft>
            </a:pPr>
            <a:r>
              <a:rPr lang="en-GB" altLang="zh-CN"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5" name="椭圆 184"/>
          <p:cNvSpPr/>
          <p:nvPr/>
        </p:nvSpPr>
        <p:spPr>
          <a:xfrm>
            <a:off x="4573272" y="4680191"/>
            <a:ext cx="973031" cy="471344"/>
          </a:xfrm>
          <a:prstGeom prst="ellipse">
            <a:avLst/>
          </a:prstGeom>
          <a:solidFill>
            <a:schemeClr val="bg2">
              <a:lumMod val="90000"/>
            </a:schemeClr>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lnSpc>
                <a:spcPts val="1800"/>
              </a:lnSpc>
            </a:pPr>
            <a:r>
              <a:rPr lang="en-GB" altLang="zh-CN" sz="2000" dirty="0" err="1">
                <a:solidFill>
                  <a:srgbClr val="FF0000"/>
                </a:solidFill>
                <a:latin typeface="Times New Roman" panose="02020603050405020304" pitchFamily="18" charset="0"/>
                <a:cs typeface="Times New Roman" panose="02020603050405020304" pitchFamily="18" charset="0"/>
              </a:rPr>
              <a:t>Imm</a:t>
            </a:r>
            <a:r>
              <a:rPr lang="en-GB" altLang="zh-CN" sz="2000" dirty="0">
                <a:solidFill>
                  <a:srgbClr val="FF0000"/>
                </a:solidFill>
                <a:latin typeface="Times New Roman" panose="02020603050405020304" pitchFamily="18" charset="0"/>
                <a:cs typeface="Times New Roman" panose="02020603050405020304" pitchFamily="18" charset="0"/>
              </a:rPr>
              <a:t> Gen</a:t>
            </a:r>
            <a:endParaRPr lang="zh-CN" altLang="en-US" sz="2000" dirty="0">
              <a:solidFill>
                <a:srgbClr val="FF0000"/>
              </a:solidFill>
              <a:latin typeface="Times New Roman" panose="02020603050405020304" pitchFamily="18" charset="0"/>
              <a:cs typeface="Times New Roman" panose="02020603050405020304" pitchFamily="18" charset="0"/>
            </a:endParaRPr>
          </a:p>
        </p:txBody>
      </p:sp>
      <p:cxnSp>
        <p:nvCxnSpPr>
          <p:cNvPr id="222" name="直接连接符 221"/>
          <p:cNvCxnSpPr/>
          <p:nvPr/>
        </p:nvCxnSpPr>
        <p:spPr bwMode="auto">
          <a:xfrm>
            <a:off x="770191" y="4207505"/>
            <a:ext cx="182854"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5" name="直接箭头连接符 224"/>
          <p:cNvCxnSpPr>
            <a:endCxn id="185" idx="2"/>
          </p:cNvCxnSpPr>
          <p:nvPr/>
        </p:nvCxnSpPr>
        <p:spPr bwMode="auto">
          <a:xfrm flipV="1">
            <a:off x="3096000" y="4915863"/>
            <a:ext cx="1477272" cy="4046"/>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0" name="直接箭头连接符 239"/>
          <p:cNvCxnSpPr/>
          <p:nvPr/>
        </p:nvCxnSpPr>
        <p:spPr bwMode="auto">
          <a:xfrm>
            <a:off x="7248235" y="3533702"/>
            <a:ext cx="324623"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4" name="直接箭头连接符 293"/>
          <p:cNvCxnSpPr/>
          <p:nvPr/>
        </p:nvCxnSpPr>
        <p:spPr bwMode="auto">
          <a:xfrm>
            <a:off x="6747510" y="5950851"/>
            <a:ext cx="794711"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3" name="直接箭头连接符 352"/>
          <p:cNvCxnSpPr/>
          <p:nvPr/>
        </p:nvCxnSpPr>
        <p:spPr bwMode="auto">
          <a:xfrm>
            <a:off x="3117850" y="2667000"/>
            <a:ext cx="242858" cy="0"/>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0" name="直接箭头连接符 359"/>
          <p:cNvCxnSpPr/>
          <p:nvPr/>
        </p:nvCxnSpPr>
        <p:spPr bwMode="auto">
          <a:xfrm flipH="1">
            <a:off x="2057103" y="3328282"/>
            <a:ext cx="173615" cy="0"/>
          </a:xfrm>
          <a:prstGeom prst="straightConnector1">
            <a:avLst/>
          </a:prstGeom>
          <a:noFill/>
          <a:ln w="25400"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0" name="直接箭头连接符 399"/>
          <p:cNvCxnSpPr>
            <a:endCxn id="181" idx="0"/>
          </p:cNvCxnSpPr>
          <p:nvPr/>
        </p:nvCxnSpPr>
        <p:spPr bwMode="auto">
          <a:xfrm rot="5400000" flipH="1" flipV="1">
            <a:off x="1064663" y="3390796"/>
            <a:ext cx="1100049" cy="542986"/>
          </a:xfrm>
          <a:prstGeom prst="bentConnector3">
            <a:avLst>
              <a:gd name="adj1" fmla="val 99874"/>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2" name="直接箭头连接符 411"/>
          <p:cNvCxnSpPr/>
          <p:nvPr/>
        </p:nvCxnSpPr>
        <p:spPr bwMode="auto">
          <a:xfrm flipV="1">
            <a:off x="1338997" y="3582195"/>
            <a:ext cx="1277638" cy="16951"/>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6" name="直接箭头连接符 435"/>
          <p:cNvCxnSpPr/>
          <p:nvPr/>
        </p:nvCxnSpPr>
        <p:spPr bwMode="auto">
          <a:xfrm rot="16200000">
            <a:off x="4204970" y="3060700"/>
            <a:ext cx="755650" cy="269875"/>
          </a:xfrm>
          <a:prstGeom prst="bentConnector3">
            <a:avLst>
              <a:gd name="adj1" fmla="val 100378"/>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6" name="直接箭头连接符 153"/>
          <p:cNvCxnSpPr>
            <a:endCxn id="45" idx="1"/>
          </p:cNvCxnSpPr>
          <p:nvPr/>
        </p:nvCxnSpPr>
        <p:spPr bwMode="auto">
          <a:xfrm>
            <a:off x="6807590" y="2557843"/>
            <a:ext cx="2260318" cy="113285"/>
          </a:xfrm>
          <a:prstGeom prst="bentConnector3">
            <a:avLst>
              <a:gd name="adj1" fmla="val 50000"/>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52" name="矩形 551"/>
          <p:cNvSpPr/>
          <p:nvPr/>
        </p:nvSpPr>
        <p:spPr>
          <a:xfrm>
            <a:off x="3358463" y="342367"/>
            <a:ext cx="1975798" cy="400110"/>
          </a:xfrm>
          <a:prstGeom prst="rect">
            <a:avLst/>
          </a:prstGeom>
          <a:ln w="25400">
            <a:noFill/>
          </a:ln>
        </p:spPr>
        <p:txBody>
          <a:bodyPr wrap="square">
            <a:spAutoFit/>
          </a:bodyPr>
          <a:lstStyle/>
          <a:p>
            <a:pPr lvl="0" algn="ctr">
              <a:defRPr/>
            </a:pPr>
            <a:r>
              <a:rPr lang="en-US" altLang="zh-CN" sz="2000" b="1" dirty="0" err="1">
                <a:latin typeface="Times New Roman" panose="02020603050405020304" pitchFamily="18" charset="0"/>
                <a:cs typeface="Times New Roman" panose="02020603050405020304" pitchFamily="18" charset="0"/>
              </a:rPr>
              <a:t>beq</a:t>
            </a:r>
            <a:r>
              <a:rPr lang="en-US" altLang="zh-CN" sz="2000" b="1" dirty="0">
                <a:latin typeface="Times New Roman" panose="02020603050405020304" pitchFamily="18" charset="0"/>
                <a:cs typeface="Times New Roman" panose="02020603050405020304" pitchFamily="18" charset="0"/>
              </a:rPr>
              <a:t> x1, x3, label</a:t>
            </a:r>
          </a:p>
        </p:txBody>
      </p:sp>
      <p:sp>
        <p:nvSpPr>
          <p:cNvPr id="553" name="矩形 552"/>
          <p:cNvSpPr/>
          <p:nvPr/>
        </p:nvSpPr>
        <p:spPr>
          <a:xfrm>
            <a:off x="9233704" y="308111"/>
            <a:ext cx="1673559" cy="400110"/>
          </a:xfrm>
          <a:prstGeom prst="rect">
            <a:avLst/>
          </a:prstGeom>
          <a:ln w="25400">
            <a:noFill/>
          </a:ln>
        </p:spPr>
        <p:txBody>
          <a:bodyPr wrap="square">
            <a:spAutoFit/>
          </a:bodyPr>
          <a:lstStyle/>
          <a:p>
            <a:pPr lvl="0" algn="ctr">
              <a:defRPr/>
            </a:pPr>
            <a:r>
              <a:rPr lang="en-GB" altLang="zh-CN" sz="2000" b="1" dirty="0">
                <a:latin typeface="Times New Roman" panose="02020603050405020304" pitchFamily="18" charset="0"/>
                <a:cs typeface="Times New Roman" panose="02020603050405020304" pitchFamily="18" charset="0"/>
              </a:rPr>
              <a:t>b</a:t>
            </a:r>
            <a:r>
              <a:rPr lang="en-US" altLang="zh-CN" sz="2000" b="1" dirty="0" err="1">
                <a:latin typeface="Times New Roman" panose="02020603050405020304" pitchFamily="18" charset="0"/>
                <a:cs typeface="Times New Roman" panose="02020603050405020304" pitchFamily="18" charset="0"/>
              </a:rPr>
              <a:t>efore</a:t>
            </a:r>
            <a:r>
              <a:rPr lang="en-US" altLang="zh-CN" sz="2000" b="1" dirty="0">
                <a:latin typeface="Times New Roman" panose="02020603050405020304" pitchFamily="18" charset="0"/>
                <a:cs typeface="Times New Roman" panose="02020603050405020304" pitchFamily="18" charset="0"/>
              </a:rPr>
              <a:t>&lt;1&gt;</a:t>
            </a:r>
          </a:p>
        </p:txBody>
      </p:sp>
      <p:sp>
        <p:nvSpPr>
          <p:cNvPr id="554" name="矩形 553"/>
          <p:cNvSpPr/>
          <p:nvPr/>
        </p:nvSpPr>
        <p:spPr>
          <a:xfrm>
            <a:off x="10659981" y="304753"/>
            <a:ext cx="1673559" cy="400110"/>
          </a:xfrm>
          <a:prstGeom prst="rect">
            <a:avLst/>
          </a:prstGeom>
          <a:ln w="25400">
            <a:noFill/>
          </a:ln>
        </p:spPr>
        <p:txBody>
          <a:bodyPr wrap="square">
            <a:spAutoFit/>
          </a:bodyPr>
          <a:lstStyle/>
          <a:p>
            <a:pPr lvl="0" algn="ctr">
              <a:defRPr/>
            </a:pPr>
            <a:r>
              <a:rPr lang="en-GB" altLang="zh-CN" sz="2000" b="1" dirty="0">
                <a:latin typeface="Times New Roman" panose="02020603050405020304" pitchFamily="18" charset="0"/>
                <a:cs typeface="Times New Roman" panose="02020603050405020304" pitchFamily="18" charset="0"/>
              </a:rPr>
              <a:t>before&lt;2&gt;</a:t>
            </a:r>
          </a:p>
        </p:txBody>
      </p:sp>
      <p:sp>
        <p:nvSpPr>
          <p:cNvPr id="555" name="矩形 554"/>
          <p:cNvSpPr/>
          <p:nvPr/>
        </p:nvSpPr>
        <p:spPr>
          <a:xfrm>
            <a:off x="7129355" y="340326"/>
            <a:ext cx="1857134" cy="400110"/>
          </a:xfrm>
          <a:prstGeom prst="rect">
            <a:avLst/>
          </a:prstGeom>
          <a:ln w="25400">
            <a:noFill/>
          </a:ln>
        </p:spPr>
        <p:txBody>
          <a:bodyPr wrap="square">
            <a:spAutoFit/>
          </a:bodyPr>
          <a:lstStyle/>
          <a:p>
            <a:pPr lvl="0" algn="ctr">
              <a:defRPr/>
            </a:pPr>
            <a:r>
              <a:rPr lang="en-GB" altLang="zh-CN" sz="2000" b="1" dirty="0">
                <a:latin typeface="Times New Roman" panose="02020603050405020304" pitchFamily="18" charset="0"/>
                <a:cs typeface="Times New Roman" panose="02020603050405020304" pitchFamily="18" charset="0"/>
              </a:rPr>
              <a:t>sub x10, x4, x8</a:t>
            </a:r>
          </a:p>
        </p:txBody>
      </p:sp>
      <p:cxnSp>
        <p:nvCxnSpPr>
          <p:cNvPr id="579" name="直接连接符 578"/>
          <p:cNvCxnSpPr>
            <a:endCxn id="164" idx="4"/>
          </p:cNvCxnSpPr>
          <p:nvPr/>
        </p:nvCxnSpPr>
        <p:spPr bwMode="auto">
          <a:xfrm flipV="1">
            <a:off x="4657725" y="3794125"/>
            <a:ext cx="3175" cy="96120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9" name="直接箭头连接符 588"/>
          <p:cNvCxnSpPr/>
          <p:nvPr/>
        </p:nvCxnSpPr>
        <p:spPr bwMode="auto">
          <a:xfrm>
            <a:off x="4140200" y="4427162"/>
            <a:ext cx="861789"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2" name="直接连接符 591"/>
          <p:cNvCxnSpPr>
            <a:cxnSpLocks/>
          </p:cNvCxnSpPr>
          <p:nvPr/>
        </p:nvCxnSpPr>
        <p:spPr bwMode="auto">
          <a:xfrm>
            <a:off x="4134041" y="4413285"/>
            <a:ext cx="0" cy="2111019"/>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3" name="直接连接符 592"/>
          <p:cNvCxnSpPr>
            <a:cxnSpLocks/>
          </p:cNvCxnSpPr>
          <p:nvPr/>
        </p:nvCxnSpPr>
        <p:spPr bwMode="auto">
          <a:xfrm flipV="1">
            <a:off x="3924665" y="5892888"/>
            <a:ext cx="6366567" cy="806620"/>
          </a:xfrm>
          <a:prstGeom prst="bentConnector3">
            <a:avLst>
              <a:gd name="adj1" fmla="val 100037"/>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1" name="直接箭头连接符 148"/>
          <p:cNvCxnSpPr/>
          <p:nvPr/>
        </p:nvCxnSpPr>
        <p:spPr bwMode="auto">
          <a:xfrm rot="16200000" flipH="1">
            <a:off x="-766009" y="2069502"/>
            <a:ext cx="4512149" cy="2215891"/>
          </a:xfrm>
          <a:prstGeom prst="bentConnector3">
            <a:avLst>
              <a:gd name="adj1" fmla="val 10017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2" name="文本框 641"/>
          <p:cNvSpPr txBox="1"/>
          <p:nvPr/>
        </p:nvSpPr>
        <p:spPr>
          <a:xfrm>
            <a:off x="-94127" y="564957"/>
            <a:ext cx="1094082" cy="400110"/>
          </a:xfrm>
          <a:prstGeom prst="rect">
            <a:avLst/>
          </a:prstGeom>
          <a:noFill/>
        </p:spPr>
        <p:txBody>
          <a:bodyPr wrap="none" rtlCol="0">
            <a:spAutoFit/>
          </a:bodyPr>
          <a:lstStyle/>
          <a:p>
            <a:r>
              <a:rPr lang="en-GB" altLang="zh-CN" sz="2000" b="1" dirty="0" err="1">
                <a:solidFill>
                  <a:srgbClr val="0000FF"/>
                </a:solidFill>
                <a:latin typeface="Times New Roman" panose="02020603050405020304" pitchFamily="18" charset="0"/>
                <a:cs typeface="Times New Roman" panose="02020603050405020304" pitchFamily="18" charset="0"/>
              </a:rPr>
              <a:t>IF.Flush</a:t>
            </a:r>
            <a:endParaRPr lang="zh-CN" altLang="en-US" sz="2000" b="1" dirty="0">
              <a:solidFill>
                <a:srgbClr val="0000FF"/>
              </a:solidFill>
              <a:latin typeface="Times New Roman" panose="02020603050405020304" pitchFamily="18" charset="0"/>
              <a:cs typeface="Times New Roman" panose="02020603050405020304" pitchFamily="18" charset="0"/>
            </a:endParaRPr>
          </a:p>
        </p:txBody>
      </p:sp>
      <p:cxnSp>
        <p:nvCxnSpPr>
          <p:cNvPr id="645" name="直接箭头连接符 644"/>
          <p:cNvCxnSpPr/>
          <p:nvPr/>
        </p:nvCxnSpPr>
        <p:spPr bwMode="auto">
          <a:xfrm>
            <a:off x="5487444" y="2935121"/>
            <a:ext cx="265588"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8" name="文本框 647"/>
          <p:cNvSpPr txBox="1"/>
          <p:nvPr/>
        </p:nvSpPr>
        <p:spPr>
          <a:xfrm>
            <a:off x="611157" y="4599439"/>
            <a:ext cx="41549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72</a:t>
            </a:r>
            <a:endParaRPr lang="zh-CN" altLang="en-US" b="1" dirty="0">
              <a:latin typeface="Times New Roman" panose="02020603050405020304" pitchFamily="18" charset="0"/>
              <a:cs typeface="Times New Roman" panose="02020603050405020304" pitchFamily="18" charset="0"/>
            </a:endParaRPr>
          </a:p>
        </p:txBody>
      </p:sp>
      <p:sp>
        <p:nvSpPr>
          <p:cNvPr id="654" name="文本框 653"/>
          <p:cNvSpPr txBox="1"/>
          <p:nvPr/>
        </p:nvSpPr>
        <p:spPr>
          <a:xfrm>
            <a:off x="1892051" y="2488321"/>
            <a:ext cx="415498" cy="369332"/>
          </a:xfrm>
          <a:prstGeom prst="rect">
            <a:avLst/>
          </a:prstGeom>
          <a:noFill/>
        </p:spPr>
        <p:txBody>
          <a:bodyPr wrap="none" rtlCol="0">
            <a:spAutoFit/>
          </a:bodyPr>
          <a:lstStyle/>
          <a:p>
            <a:r>
              <a:rPr lang="en-GB" altLang="zh-CN" b="1" dirty="0">
                <a:latin typeface="Times New Roman" panose="02020603050405020304" pitchFamily="18" charset="0"/>
                <a:cs typeface="Times New Roman" panose="02020603050405020304" pitchFamily="18" charset="0"/>
              </a:rPr>
              <a:t>48</a:t>
            </a:r>
            <a:endParaRPr lang="zh-CN" altLang="en-US" b="1" dirty="0">
              <a:latin typeface="Times New Roman" panose="02020603050405020304" pitchFamily="18" charset="0"/>
              <a:cs typeface="Times New Roman" panose="02020603050405020304" pitchFamily="18" charset="0"/>
            </a:endParaRPr>
          </a:p>
        </p:txBody>
      </p:sp>
      <p:sp>
        <p:nvSpPr>
          <p:cNvPr id="655" name="文本框 654"/>
          <p:cNvSpPr txBox="1"/>
          <p:nvPr/>
        </p:nvSpPr>
        <p:spPr>
          <a:xfrm>
            <a:off x="1356273" y="3209001"/>
            <a:ext cx="300082" cy="369332"/>
          </a:xfrm>
          <a:prstGeom prst="rect">
            <a:avLst/>
          </a:prstGeom>
          <a:noFill/>
        </p:spPr>
        <p:txBody>
          <a:bodyPr wrap="none" rtlCol="0">
            <a:spAutoFit/>
          </a:bodyPr>
          <a:lstStyle/>
          <a:p>
            <a:r>
              <a:rPr lang="en-GB" altLang="zh-CN" b="1" dirty="0">
                <a:latin typeface="Times New Roman" panose="02020603050405020304" pitchFamily="18" charset="0"/>
                <a:cs typeface="Times New Roman" panose="02020603050405020304" pitchFamily="18" charset="0"/>
              </a:rPr>
              <a:t>4</a:t>
            </a:r>
            <a:endParaRPr lang="zh-CN" altLang="en-US" b="1" dirty="0">
              <a:latin typeface="Times New Roman" panose="02020603050405020304" pitchFamily="18" charset="0"/>
              <a:cs typeface="Times New Roman" panose="02020603050405020304" pitchFamily="18" charset="0"/>
            </a:endParaRPr>
          </a:p>
        </p:txBody>
      </p:sp>
      <p:sp>
        <p:nvSpPr>
          <p:cNvPr id="656" name="文本框 655"/>
          <p:cNvSpPr txBox="1"/>
          <p:nvPr/>
        </p:nvSpPr>
        <p:spPr>
          <a:xfrm>
            <a:off x="1110925" y="4454141"/>
            <a:ext cx="415498" cy="369332"/>
          </a:xfrm>
          <a:prstGeom prst="rect">
            <a:avLst/>
          </a:prstGeom>
          <a:noFill/>
        </p:spPr>
        <p:txBody>
          <a:bodyPr wrap="none" rtlCol="0">
            <a:spAutoFit/>
          </a:bodyPr>
          <a:lstStyle/>
          <a:p>
            <a:r>
              <a:rPr lang="en-GB" altLang="zh-CN" b="1" dirty="0">
                <a:latin typeface="Times New Roman" panose="02020603050405020304" pitchFamily="18" charset="0"/>
                <a:cs typeface="Times New Roman" panose="02020603050405020304" pitchFamily="18" charset="0"/>
              </a:rPr>
              <a:t>44</a:t>
            </a:r>
            <a:endParaRPr lang="zh-CN" altLang="en-US" b="1" dirty="0">
              <a:latin typeface="Times New Roman" panose="02020603050405020304" pitchFamily="18" charset="0"/>
              <a:cs typeface="Times New Roman" panose="02020603050405020304" pitchFamily="18" charset="0"/>
            </a:endParaRPr>
          </a:p>
        </p:txBody>
      </p:sp>
      <p:cxnSp>
        <p:nvCxnSpPr>
          <p:cNvPr id="658" name="直接箭头连接符 657"/>
          <p:cNvCxnSpPr/>
          <p:nvPr/>
        </p:nvCxnSpPr>
        <p:spPr bwMode="auto">
          <a:xfrm>
            <a:off x="1614687" y="3468112"/>
            <a:ext cx="265588"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59" name="文本框 658"/>
          <p:cNvSpPr txBox="1"/>
          <p:nvPr/>
        </p:nvSpPr>
        <p:spPr>
          <a:xfrm>
            <a:off x="4926920" y="3001715"/>
            <a:ext cx="415498" cy="369332"/>
          </a:xfrm>
          <a:prstGeom prst="rect">
            <a:avLst/>
          </a:prstGeom>
          <a:noFill/>
        </p:spPr>
        <p:txBody>
          <a:bodyPr wrap="none" rtlCol="0">
            <a:spAutoFit/>
          </a:bodyPr>
          <a:lstStyle/>
          <a:p>
            <a:r>
              <a:rPr lang="en-GB" altLang="zh-CN" b="1" dirty="0">
                <a:latin typeface="Times New Roman" panose="02020603050405020304" pitchFamily="18" charset="0"/>
                <a:cs typeface="Times New Roman" panose="02020603050405020304" pitchFamily="18" charset="0"/>
              </a:rPr>
              <a:t>72</a:t>
            </a:r>
            <a:endParaRPr lang="zh-CN" altLang="en-US" b="1" dirty="0">
              <a:latin typeface="Times New Roman" panose="02020603050405020304" pitchFamily="18" charset="0"/>
              <a:cs typeface="Times New Roman" panose="02020603050405020304" pitchFamily="18" charset="0"/>
            </a:endParaRPr>
          </a:p>
        </p:txBody>
      </p:sp>
      <p:sp>
        <p:nvSpPr>
          <p:cNvPr id="660" name="文本框 659"/>
          <p:cNvSpPr txBox="1"/>
          <p:nvPr/>
        </p:nvSpPr>
        <p:spPr>
          <a:xfrm>
            <a:off x="3090217" y="2977413"/>
            <a:ext cx="41549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40</a:t>
            </a:r>
            <a:endParaRPr lang="zh-CN" altLang="en-US" b="1" dirty="0">
              <a:latin typeface="Times New Roman" panose="02020603050405020304" pitchFamily="18" charset="0"/>
              <a:cs typeface="Times New Roman" panose="02020603050405020304" pitchFamily="18" charset="0"/>
            </a:endParaRPr>
          </a:p>
        </p:txBody>
      </p:sp>
      <p:sp>
        <p:nvSpPr>
          <p:cNvPr id="661" name="文本框 660"/>
          <p:cNvSpPr txBox="1"/>
          <p:nvPr/>
        </p:nvSpPr>
        <p:spPr>
          <a:xfrm>
            <a:off x="4363879" y="2747625"/>
            <a:ext cx="41549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3</a:t>
            </a:r>
            <a:r>
              <a:rPr lang="en-GB" altLang="zh-CN" b="1" dirty="0">
                <a:latin typeface="Times New Roman" panose="02020603050405020304" pitchFamily="18" charset="0"/>
                <a:cs typeface="Times New Roman" panose="02020603050405020304" pitchFamily="18" charset="0"/>
              </a:rPr>
              <a:t>2</a:t>
            </a:r>
            <a:endParaRPr lang="zh-CN" altLang="en-US" b="1" dirty="0">
              <a:latin typeface="Times New Roman" panose="02020603050405020304" pitchFamily="18" charset="0"/>
              <a:cs typeface="Times New Roman" panose="02020603050405020304" pitchFamily="18" charset="0"/>
            </a:endParaRPr>
          </a:p>
        </p:txBody>
      </p:sp>
      <p:sp>
        <p:nvSpPr>
          <p:cNvPr id="662" name="文本框 661"/>
          <p:cNvSpPr txBox="1"/>
          <p:nvPr/>
        </p:nvSpPr>
        <p:spPr>
          <a:xfrm>
            <a:off x="4319070" y="4454587"/>
            <a:ext cx="41549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16</a:t>
            </a:r>
          </a:p>
        </p:txBody>
      </p:sp>
      <p:sp>
        <p:nvSpPr>
          <p:cNvPr id="663" name="文本框 662"/>
          <p:cNvSpPr txBox="1"/>
          <p:nvPr/>
        </p:nvSpPr>
        <p:spPr>
          <a:xfrm>
            <a:off x="5390298" y="2900094"/>
            <a:ext cx="300082"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0</a:t>
            </a:r>
            <a:endParaRPr lang="zh-CN" altLang="en-US" b="1" dirty="0">
              <a:latin typeface="Times New Roman" panose="02020603050405020304" pitchFamily="18" charset="0"/>
              <a:cs typeface="Times New Roman" panose="02020603050405020304" pitchFamily="18" charset="0"/>
            </a:endParaRPr>
          </a:p>
        </p:txBody>
      </p:sp>
      <p:sp>
        <p:nvSpPr>
          <p:cNvPr id="664" name="文本框 663"/>
          <p:cNvSpPr txBox="1"/>
          <p:nvPr/>
        </p:nvSpPr>
        <p:spPr>
          <a:xfrm>
            <a:off x="8055976" y="4022889"/>
            <a:ext cx="441146" cy="400110"/>
          </a:xfrm>
          <a:prstGeom prst="rect">
            <a:avLst/>
          </a:prstGeom>
          <a:noFill/>
        </p:spPr>
        <p:txBody>
          <a:bodyPr wrap="none" rtlCol="0">
            <a:spAutoFit/>
          </a:bodyPr>
          <a:lstStyle/>
          <a:p>
            <a:r>
              <a:rPr lang="en-GB" altLang="zh-CN" sz="2000" b="1" dirty="0">
                <a:latin typeface="Times New Roman" panose="02020603050405020304" pitchFamily="18" charset="0"/>
                <a:cs typeface="Times New Roman" panose="02020603050405020304" pitchFamily="18" charset="0"/>
              </a:rPr>
              <a:t>x8</a:t>
            </a:r>
          </a:p>
        </p:txBody>
      </p:sp>
      <p:sp>
        <p:nvSpPr>
          <p:cNvPr id="665" name="文本框 664"/>
          <p:cNvSpPr txBox="1"/>
          <p:nvPr/>
        </p:nvSpPr>
        <p:spPr>
          <a:xfrm>
            <a:off x="8065982" y="3142627"/>
            <a:ext cx="441146" cy="400110"/>
          </a:xfrm>
          <a:prstGeom prst="rect">
            <a:avLst/>
          </a:prstGeom>
          <a:noFill/>
        </p:spPr>
        <p:txBody>
          <a:bodyPr wrap="none" rtlCol="0">
            <a:spAutoFit/>
          </a:bodyPr>
          <a:lstStyle/>
          <a:p>
            <a:r>
              <a:rPr lang="en-GB" altLang="zh-CN" sz="2000" b="1" dirty="0">
                <a:latin typeface="Times New Roman" panose="02020603050405020304" pitchFamily="18" charset="0"/>
                <a:cs typeface="Times New Roman" panose="02020603050405020304" pitchFamily="18" charset="0"/>
              </a:rPr>
              <a:t>x4</a:t>
            </a:r>
          </a:p>
        </p:txBody>
      </p:sp>
      <p:sp>
        <p:nvSpPr>
          <p:cNvPr id="666" name="文本框 665"/>
          <p:cNvSpPr txBox="1"/>
          <p:nvPr/>
        </p:nvSpPr>
        <p:spPr>
          <a:xfrm>
            <a:off x="5984491" y="4324935"/>
            <a:ext cx="441146" cy="400110"/>
          </a:xfrm>
          <a:prstGeom prst="rect">
            <a:avLst/>
          </a:prstGeom>
          <a:noFill/>
        </p:spPr>
        <p:txBody>
          <a:bodyPr wrap="none" rtlCol="0">
            <a:spAutoFit/>
          </a:bodyPr>
          <a:lstStyle/>
          <a:p>
            <a:r>
              <a:rPr lang="en-GB" altLang="zh-CN" sz="2000" b="1" dirty="0">
                <a:latin typeface="Times New Roman" panose="02020603050405020304" pitchFamily="18" charset="0"/>
                <a:cs typeface="Times New Roman" panose="02020603050405020304" pitchFamily="18" charset="0"/>
              </a:rPr>
              <a:t>x3</a:t>
            </a:r>
          </a:p>
        </p:txBody>
      </p:sp>
      <p:sp>
        <p:nvSpPr>
          <p:cNvPr id="667" name="文本框 666"/>
          <p:cNvSpPr txBox="1"/>
          <p:nvPr/>
        </p:nvSpPr>
        <p:spPr>
          <a:xfrm>
            <a:off x="5949684" y="3362561"/>
            <a:ext cx="441146" cy="400110"/>
          </a:xfrm>
          <a:prstGeom prst="rect">
            <a:avLst/>
          </a:prstGeom>
          <a:noFill/>
        </p:spPr>
        <p:txBody>
          <a:bodyPr wrap="none" rtlCol="0">
            <a:spAutoFit/>
          </a:bodyPr>
          <a:lstStyle/>
          <a:p>
            <a:r>
              <a:rPr lang="en-US" altLang="zh-CN" sz="2000" b="1" dirty="0">
                <a:latin typeface="Times New Roman" panose="02020603050405020304" pitchFamily="18" charset="0"/>
                <a:cs typeface="Times New Roman" panose="02020603050405020304" pitchFamily="18" charset="0"/>
              </a:rPr>
              <a:t>x1</a:t>
            </a:r>
          </a:p>
        </p:txBody>
      </p:sp>
      <p:sp>
        <p:nvSpPr>
          <p:cNvPr id="668" name="椭圆 667"/>
          <p:cNvSpPr/>
          <p:nvPr/>
        </p:nvSpPr>
        <p:spPr>
          <a:xfrm>
            <a:off x="5951098" y="3829730"/>
            <a:ext cx="373358" cy="366022"/>
          </a:xfrm>
          <a:prstGeom prst="ellipse">
            <a:avLst/>
          </a:prstGeom>
          <a:solidFill>
            <a:schemeClr val="bg2">
              <a:lumMod val="90000"/>
            </a:schemeClr>
          </a:solidFill>
          <a:ln w="25400">
            <a:solidFill>
              <a:srgbClr val="0000FF"/>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p:txBody>
      </p:sp>
      <p:cxnSp>
        <p:nvCxnSpPr>
          <p:cNvPr id="669" name="直接连接符 668"/>
          <p:cNvCxnSpPr>
            <a:endCxn id="668" idx="0"/>
          </p:cNvCxnSpPr>
          <p:nvPr/>
        </p:nvCxnSpPr>
        <p:spPr bwMode="auto">
          <a:xfrm>
            <a:off x="6131657" y="3721845"/>
            <a:ext cx="6120" cy="107885"/>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3" name="直接连接符 672"/>
          <p:cNvCxnSpPr/>
          <p:nvPr/>
        </p:nvCxnSpPr>
        <p:spPr bwMode="auto">
          <a:xfrm flipH="1">
            <a:off x="6128754" y="4207504"/>
            <a:ext cx="5461" cy="144716"/>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8" name="矩形 677"/>
          <p:cNvSpPr/>
          <p:nvPr/>
        </p:nvSpPr>
        <p:spPr>
          <a:xfrm>
            <a:off x="300862" y="6283758"/>
            <a:ext cx="1673559" cy="307777"/>
          </a:xfrm>
          <a:prstGeom prst="rect">
            <a:avLst/>
          </a:prstGeom>
          <a:ln w="25400">
            <a:noFill/>
          </a:ln>
        </p:spPr>
        <p:txBody>
          <a:bodyPr wrap="square">
            <a:spAutoFit/>
          </a:bodyPr>
          <a:lstStyle/>
          <a:p>
            <a:pPr lvl="0" algn="ctr">
              <a:defRPr/>
            </a:pPr>
            <a:r>
              <a:rPr lang="en-US" altLang="zh-CN" sz="1400" b="1" dirty="0">
                <a:latin typeface="Times New Roman" panose="02020603050405020304" pitchFamily="18" charset="0"/>
                <a:cs typeface="Times New Roman" panose="02020603050405020304" pitchFamily="18" charset="0"/>
              </a:rPr>
              <a:t>Clock 3</a:t>
            </a:r>
            <a:endParaRPr lang="zh-CN" altLang="en-US" sz="1400" b="1" dirty="0">
              <a:latin typeface="Times New Roman" panose="02020603050405020304" pitchFamily="18" charset="0"/>
              <a:cs typeface="Times New Roman" panose="02020603050405020304" pitchFamily="18" charset="0"/>
            </a:endParaRPr>
          </a:p>
        </p:txBody>
      </p:sp>
      <p:sp>
        <p:nvSpPr>
          <p:cNvPr id="192" name="文本框 191"/>
          <p:cNvSpPr txBox="1"/>
          <p:nvPr/>
        </p:nvSpPr>
        <p:spPr>
          <a:xfrm>
            <a:off x="6809910" y="5012265"/>
            <a:ext cx="386080" cy="337185"/>
          </a:xfrm>
          <a:prstGeom prst="rect">
            <a:avLst/>
          </a:prstGeom>
          <a:noFill/>
        </p:spPr>
        <p:txBody>
          <a:bodyPr wrap="none" rtlCol="0">
            <a:spAutoFit/>
          </a:bodyPr>
          <a:lstStyle/>
          <a:p>
            <a:r>
              <a:rPr lang="en-GB" altLang="zh-CN" sz="1600" b="1" dirty="0">
                <a:latin typeface="Times New Roman" panose="02020603050405020304" pitchFamily="18" charset="0"/>
                <a:cs typeface="Times New Roman" panose="02020603050405020304" pitchFamily="18" charset="0"/>
              </a:rPr>
              <a:t>10</a:t>
            </a:r>
          </a:p>
        </p:txBody>
      </p:sp>
      <p:sp>
        <p:nvSpPr>
          <p:cNvPr id="5" name="文本框 4"/>
          <p:cNvSpPr txBox="1"/>
          <p:nvPr/>
        </p:nvSpPr>
        <p:spPr>
          <a:xfrm>
            <a:off x="1243490" y="3974442"/>
            <a:ext cx="1413844" cy="400110"/>
          </a:xfrm>
          <a:prstGeom prst="rect">
            <a:avLst/>
          </a:prstGeom>
          <a:noFill/>
        </p:spPr>
        <p:txBody>
          <a:bodyPr wrap="square" rtlCol="0">
            <a:spAutoFit/>
          </a:bodyPr>
          <a:lstStyle/>
          <a:p>
            <a:pPr algn="ctr"/>
            <a:r>
              <a:rPr lang="en-US" altLang="zh-CN"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IM</a:t>
            </a:r>
            <a:endPar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文本框 8"/>
          <p:cNvSpPr txBox="1"/>
          <p:nvPr/>
        </p:nvSpPr>
        <p:spPr>
          <a:xfrm>
            <a:off x="4871085" y="3276000"/>
            <a:ext cx="1151255" cy="1200329"/>
          </a:xfrm>
          <a:prstGeom prst="rect">
            <a:avLst/>
          </a:prstGeom>
          <a:noFill/>
        </p:spPr>
        <p:txBody>
          <a:bodyPr wrap="square" rtlCol="0">
            <a:spAutoFit/>
          </a:bodyPr>
          <a:lstStyle/>
          <a:p>
            <a:pPr algn="ctr" fontAlgn="base">
              <a:spcBef>
                <a:spcPct val="0"/>
              </a:spcBef>
              <a:spcAft>
                <a:spcPct val="0"/>
              </a:spcAft>
            </a:pPr>
            <a:endPar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gn="ctr" fontAlgn="base">
              <a:spcBef>
                <a:spcPct val="0"/>
              </a:spcBef>
              <a:spcAft>
                <a:spcPct val="0"/>
              </a:spcAft>
            </a:pPr>
            <a:endPar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gn="ctr" fontAlgn="base">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Registers</a:t>
            </a:r>
            <a:endParaRPr lang="zh-CN" altLang="en-US"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gn="ctr"/>
            <a:endParaRPr lang="zh-CN" altLang="en-US" dirty="0">
              <a:solidFill>
                <a:srgbClr val="FF0000"/>
              </a:solidFill>
            </a:endParaRPr>
          </a:p>
        </p:txBody>
      </p:sp>
      <p:sp>
        <p:nvSpPr>
          <p:cNvPr id="2" name="文本框 1"/>
          <p:cNvSpPr txBox="1"/>
          <p:nvPr/>
        </p:nvSpPr>
        <p:spPr>
          <a:xfrm>
            <a:off x="2218245" y="3208211"/>
            <a:ext cx="41549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44</a:t>
            </a:r>
          </a:p>
        </p:txBody>
      </p:sp>
      <p:grpSp>
        <p:nvGrpSpPr>
          <p:cNvPr id="26" name="组合 25"/>
          <p:cNvGrpSpPr/>
          <p:nvPr/>
        </p:nvGrpSpPr>
        <p:grpSpPr>
          <a:xfrm>
            <a:off x="3366368" y="2251576"/>
            <a:ext cx="1063151" cy="831697"/>
            <a:chOff x="3936460" y="1083848"/>
            <a:chExt cx="937968" cy="1102503"/>
          </a:xfrm>
          <a:solidFill>
            <a:srgbClr val="9CDCF9"/>
          </a:solidFill>
        </p:grpSpPr>
        <p:sp>
          <p:nvSpPr>
            <p:cNvPr id="27" name="椭圆 26"/>
            <p:cNvSpPr/>
            <p:nvPr/>
          </p:nvSpPr>
          <p:spPr>
            <a:xfrm>
              <a:off x="3936460" y="1083848"/>
              <a:ext cx="706910" cy="1102503"/>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B0F0"/>
                </a:solidFill>
              </a:endParaRPr>
            </a:p>
          </p:txBody>
        </p:sp>
        <p:sp>
          <p:nvSpPr>
            <p:cNvPr id="28" name="文本框 27"/>
            <p:cNvSpPr txBox="1"/>
            <p:nvPr/>
          </p:nvSpPr>
          <p:spPr>
            <a:xfrm>
              <a:off x="3941731" y="1418443"/>
              <a:ext cx="932697" cy="367192"/>
            </a:xfrm>
            <a:prstGeom prst="rect">
              <a:avLst/>
            </a:prstGeom>
            <a:noFill/>
          </p:spPr>
          <p:txBody>
            <a:bodyPr wrap="square" lIns="0" tIns="0" rIns="0" bIns="0" rtlCol="0">
              <a:spAutoFit/>
            </a:bodyPr>
            <a:lstStyle/>
            <a:p>
              <a:r>
                <a:rPr lang="en-US" altLang="zh-CN" b="1" dirty="0">
                  <a:solidFill>
                    <a:srgbClr val="00B0F0"/>
                  </a:solidFill>
                  <a:latin typeface="Times New Roman" panose="02020603050405020304" pitchFamily="18" charset="0"/>
                  <a:cs typeface="Times New Roman" panose="02020603050405020304" pitchFamily="18" charset="0"/>
                </a:rPr>
                <a:t>Control</a:t>
              </a:r>
              <a:endParaRPr lang="zh-CN" altLang="en-US" b="1" dirty="0">
                <a:solidFill>
                  <a:srgbClr val="00B0F0"/>
                </a:solidFill>
                <a:latin typeface="Times New Roman" panose="02020603050405020304" pitchFamily="18" charset="0"/>
                <a:cs typeface="Times New Roman" panose="02020603050405020304" pitchFamily="18" charset="0"/>
              </a:endParaRPr>
            </a:p>
          </p:txBody>
        </p:sp>
      </p:grpSp>
      <p:grpSp>
        <p:nvGrpSpPr>
          <p:cNvPr id="29" name="组合 28"/>
          <p:cNvGrpSpPr/>
          <p:nvPr/>
        </p:nvGrpSpPr>
        <p:grpSpPr>
          <a:xfrm>
            <a:off x="6043295" y="2068195"/>
            <a:ext cx="1014730" cy="4107180"/>
            <a:chOff x="9529" y="3377"/>
            <a:chExt cx="1598" cy="6468"/>
          </a:xfrm>
        </p:grpSpPr>
        <p:sp>
          <p:nvSpPr>
            <p:cNvPr id="30" name="矩形 29"/>
            <p:cNvSpPr/>
            <p:nvPr/>
          </p:nvSpPr>
          <p:spPr>
            <a:xfrm>
              <a:off x="10160" y="3798"/>
              <a:ext cx="404" cy="434"/>
            </a:xfrm>
            <a:prstGeom prst="rect">
              <a:avLst/>
            </a:prstGeom>
            <a:noFill/>
            <a:ln w="25400">
              <a:noFill/>
            </a:ln>
          </p:spPr>
          <p:txBody>
            <a:bodyPr wrap="square" lIns="0" rIns="0">
              <a:spAutoFit/>
            </a:bodyPr>
            <a:lstStyle/>
            <a:p>
              <a:pPr algn="ctr" fontAlgn="base">
                <a:spcBef>
                  <a:spcPct val="0"/>
                </a:spcBef>
                <a:spcAft>
                  <a:spcPct val="0"/>
                </a:spcAft>
              </a:pPr>
              <a:r>
                <a:rPr lang="en-US" altLang="zh-CN"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WB</a:t>
              </a:r>
            </a:p>
          </p:txBody>
        </p:sp>
        <p:sp>
          <p:nvSpPr>
            <p:cNvPr id="31" name="矩形 30"/>
            <p:cNvSpPr/>
            <p:nvPr/>
          </p:nvSpPr>
          <p:spPr bwMode="auto">
            <a:xfrm>
              <a:off x="10071" y="4760"/>
              <a:ext cx="567" cy="5085"/>
            </a:xfrm>
            <a:prstGeom prst="rect">
              <a:avLst/>
            </a:prstGeom>
            <a:solidFill>
              <a:schemeClr val="bg2">
                <a:lumMod val="90000"/>
              </a:schemeClr>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32" name="组合 31"/>
            <p:cNvGrpSpPr/>
            <p:nvPr/>
          </p:nvGrpSpPr>
          <p:grpSpPr>
            <a:xfrm>
              <a:off x="10071" y="3864"/>
              <a:ext cx="567" cy="886"/>
              <a:chOff x="10099" y="3867"/>
              <a:chExt cx="573" cy="887"/>
            </a:xfrm>
          </p:grpSpPr>
          <p:sp>
            <p:nvSpPr>
              <p:cNvPr id="34" name="矩形 33"/>
              <p:cNvSpPr/>
              <p:nvPr/>
            </p:nvSpPr>
            <p:spPr bwMode="auto">
              <a:xfrm>
                <a:off x="10099" y="3867"/>
                <a:ext cx="573" cy="294"/>
              </a:xfrm>
              <a:prstGeom prst="rect">
                <a:avLst/>
              </a:prstGeom>
              <a:solidFill>
                <a:srgbClr val="9CDCF9"/>
              </a:solid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45720" rIns="0" bIns="45720" numCol="1" rtlCol="0" anchor="ctr" anchorCtr="0" compatLnSpc="1"/>
              <a:lstStyle/>
              <a:p>
                <a:pPr algn="ctr" fontAlgn="base">
                  <a:spcBef>
                    <a:spcPct val="0"/>
                  </a:spcBef>
                  <a:spcAft>
                    <a:spcPct val="0"/>
                  </a:spcAft>
                </a:pP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WB</a:t>
                </a:r>
              </a:p>
            </p:txBody>
          </p:sp>
          <p:sp>
            <p:nvSpPr>
              <p:cNvPr id="35" name="矩形 34"/>
              <p:cNvSpPr/>
              <p:nvPr/>
            </p:nvSpPr>
            <p:spPr bwMode="auto">
              <a:xfrm>
                <a:off x="10099" y="4147"/>
                <a:ext cx="573" cy="294"/>
              </a:xfrm>
              <a:prstGeom prst="rect">
                <a:avLst/>
              </a:prstGeom>
              <a:solidFill>
                <a:srgbClr val="9CDCF9"/>
              </a:solid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 name="矩形 35"/>
              <p:cNvSpPr/>
              <p:nvPr/>
            </p:nvSpPr>
            <p:spPr bwMode="auto">
              <a:xfrm>
                <a:off x="10099" y="4460"/>
                <a:ext cx="573" cy="294"/>
              </a:xfrm>
              <a:prstGeom prst="rect">
                <a:avLst/>
              </a:prstGeom>
              <a:solidFill>
                <a:srgbClr val="9CDCF9"/>
              </a:solid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矩形 36"/>
              <p:cNvSpPr/>
              <p:nvPr/>
            </p:nvSpPr>
            <p:spPr>
              <a:xfrm>
                <a:off x="10183" y="4142"/>
                <a:ext cx="408" cy="388"/>
              </a:xfrm>
              <a:prstGeom prst="rect">
                <a:avLst/>
              </a:prstGeom>
              <a:noFill/>
              <a:ln w="25400">
                <a:noFill/>
              </a:ln>
            </p:spPr>
            <p:txBody>
              <a:bodyPr wrap="square" lIns="0" tIns="0" rIns="0" bIns="0">
                <a:spAutoFit/>
              </a:bodyPr>
              <a:lstStyle/>
              <a:p>
                <a:pPr algn="ctr" fontAlgn="base">
                  <a:spcBef>
                    <a:spcPct val="0"/>
                  </a:spcBef>
                  <a:spcAft>
                    <a:spcPct val="0"/>
                  </a:spcAft>
                </a:pP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M</a:t>
                </a:r>
              </a:p>
            </p:txBody>
          </p:sp>
        </p:grpSp>
        <p:grpSp>
          <p:nvGrpSpPr>
            <p:cNvPr id="38" name="组合 37"/>
            <p:cNvGrpSpPr/>
            <p:nvPr/>
          </p:nvGrpSpPr>
          <p:grpSpPr>
            <a:xfrm>
              <a:off x="9529" y="3377"/>
              <a:ext cx="1598" cy="1384"/>
              <a:chOff x="9529" y="3377"/>
              <a:chExt cx="1598" cy="1384"/>
            </a:xfrm>
          </p:grpSpPr>
          <p:sp>
            <p:nvSpPr>
              <p:cNvPr id="39" name="矩形 38"/>
              <p:cNvSpPr/>
              <p:nvPr/>
            </p:nvSpPr>
            <p:spPr>
              <a:xfrm>
                <a:off x="10115" y="4422"/>
                <a:ext cx="556" cy="339"/>
              </a:xfrm>
              <a:prstGeom prst="rect">
                <a:avLst/>
              </a:prstGeom>
              <a:noFill/>
              <a:ln w="25400">
                <a:noFill/>
              </a:ln>
            </p:spPr>
            <p:txBody>
              <a:bodyPr wrap="square" lIns="0" tIns="0" rIns="0" bIns="0">
                <a:spAutoFit/>
              </a:bodyPr>
              <a:lstStyle/>
              <a:p>
                <a:pPr algn="ctr" fontAlgn="base">
                  <a:spcBef>
                    <a:spcPct val="0"/>
                  </a:spcBef>
                  <a:spcAft>
                    <a:spcPct val="0"/>
                  </a:spcAft>
                </a:pPr>
                <a:r>
                  <a:rPr lang="en-US" altLang="zh-CN" sz="14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EX</a:t>
                </a:r>
              </a:p>
            </p:txBody>
          </p:sp>
          <p:sp>
            <p:nvSpPr>
              <p:cNvPr id="41" name="矩形 40"/>
              <p:cNvSpPr/>
              <p:nvPr/>
            </p:nvSpPr>
            <p:spPr>
              <a:xfrm>
                <a:off x="9529" y="3377"/>
                <a:ext cx="1598" cy="485"/>
              </a:xfrm>
              <a:prstGeom prst="rect">
                <a:avLst/>
              </a:prstGeom>
              <a:ln w="25400">
                <a:noFill/>
              </a:ln>
            </p:spPr>
            <p:txBody>
              <a:bodyPr wrap="square" lIns="0" tIns="0" rIns="0" bIns="0">
                <a:spAutoFit/>
              </a:bodyPr>
              <a:lstStyle/>
              <a:p>
                <a:pPr lvl="0" algn="ctr">
                  <a:defRPr/>
                </a:pPr>
                <a:r>
                  <a:rPr lang="en-US" altLang="zh-CN" sz="2000" b="1" dirty="0">
                    <a:solidFill>
                      <a:prstClr val="black"/>
                    </a:solidFill>
                    <a:latin typeface="Times New Roman" panose="02020603050405020304" pitchFamily="18" charset="0"/>
                    <a:cs typeface="Times New Roman" panose="02020603050405020304" pitchFamily="18" charset="0"/>
                  </a:rPr>
                  <a:t>ID/EX</a:t>
                </a:r>
                <a:endParaRPr lang="zh-CN" altLang="en-US" sz="2000" b="1" dirty="0">
                  <a:solidFill>
                    <a:prstClr val="black"/>
                  </a:solidFill>
                  <a:latin typeface="Times New Roman" panose="02020603050405020304" pitchFamily="18" charset="0"/>
                  <a:cs typeface="Times New Roman" panose="02020603050405020304" pitchFamily="18" charset="0"/>
                </a:endParaRPr>
              </a:p>
            </p:txBody>
          </p:sp>
        </p:grpSp>
      </p:grpSp>
      <p:grpSp>
        <p:nvGrpSpPr>
          <p:cNvPr id="42" name="组合 41"/>
          <p:cNvGrpSpPr/>
          <p:nvPr/>
        </p:nvGrpSpPr>
        <p:grpSpPr>
          <a:xfrm>
            <a:off x="8841213" y="2541905"/>
            <a:ext cx="601345" cy="2908300"/>
            <a:chOff x="14049" y="4003"/>
            <a:chExt cx="947" cy="4580"/>
          </a:xfrm>
        </p:grpSpPr>
        <p:sp>
          <p:nvSpPr>
            <p:cNvPr id="43" name="矩形 42"/>
            <p:cNvSpPr/>
            <p:nvPr/>
          </p:nvSpPr>
          <p:spPr>
            <a:xfrm>
              <a:off x="14218" y="4003"/>
              <a:ext cx="778" cy="400"/>
            </a:xfrm>
            <a:prstGeom prst="rect">
              <a:avLst/>
            </a:prstGeom>
            <a:noFill/>
            <a:ln w="25400">
              <a:noFill/>
            </a:ln>
          </p:spPr>
          <p:txBody>
            <a:bodyPr wrap="square">
              <a:spAutoFit/>
            </a:bodyPr>
            <a:lstStyle/>
            <a:p>
              <a:pPr algn="ctr" fontAlgn="base">
                <a:spcBef>
                  <a:spcPct val="0"/>
                </a:spcBef>
                <a:spcAft>
                  <a:spcPct val="0"/>
                </a:spcAft>
              </a:pPr>
              <a:r>
                <a:rPr lang="en-US" altLang="zh-CN" sz="105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WB</a:t>
              </a:r>
              <a:endParaRPr lang="zh-CN" altLang="en-US" sz="105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4" name="矩形 43"/>
            <p:cNvSpPr/>
            <p:nvPr/>
          </p:nvSpPr>
          <p:spPr bwMode="auto">
            <a:xfrm>
              <a:off x="14408" y="4798"/>
              <a:ext cx="567" cy="3785"/>
            </a:xfrm>
            <a:prstGeom prst="rect">
              <a:avLst/>
            </a:prstGeom>
            <a:solidFill>
              <a:schemeClr val="bg2">
                <a:lumMod val="90000"/>
              </a:schemeClr>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5" name="矩形 44"/>
            <p:cNvSpPr/>
            <p:nvPr/>
          </p:nvSpPr>
          <p:spPr bwMode="auto">
            <a:xfrm>
              <a:off x="14406" y="4007"/>
              <a:ext cx="567" cy="399"/>
            </a:xfrm>
            <a:prstGeom prst="rect">
              <a:avLst/>
            </a:prstGeom>
            <a:solidFill>
              <a:srgbClr val="9CDCF9"/>
            </a:solid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45720" rIns="0" bIns="45720" numCol="1" rtlCol="0" anchor="ctr" anchorCtr="0" compatLnSpc="1"/>
            <a:lstStyle/>
            <a:p>
              <a:pPr algn="ctr" fontAlgn="base">
                <a:spcBef>
                  <a:spcPct val="0"/>
                </a:spcBef>
                <a:spcAft>
                  <a:spcPct val="0"/>
                </a:spcAft>
              </a:pP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WB</a:t>
              </a:r>
            </a:p>
          </p:txBody>
        </p:sp>
        <p:sp>
          <p:nvSpPr>
            <p:cNvPr id="47" name="矩形 46"/>
            <p:cNvSpPr/>
            <p:nvPr/>
          </p:nvSpPr>
          <p:spPr bwMode="auto">
            <a:xfrm>
              <a:off x="14406" y="4396"/>
              <a:ext cx="567" cy="390"/>
            </a:xfrm>
            <a:prstGeom prst="rect">
              <a:avLst/>
            </a:prstGeom>
            <a:solidFill>
              <a:srgbClr val="9CDCF9"/>
            </a:solid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8" name="矩形 47"/>
            <p:cNvSpPr/>
            <p:nvPr/>
          </p:nvSpPr>
          <p:spPr>
            <a:xfrm>
              <a:off x="14380" y="4404"/>
              <a:ext cx="423" cy="388"/>
            </a:xfrm>
            <a:prstGeom prst="rect">
              <a:avLst/>
            </a:prstGeom>
            <a:noFill/>
            <a:ln w="25400">
              <a:noFill/>
            </a:ln>
          </p:spPr>
          <p:txBody>
            <a:bodyPr wrap="square" lIns="0" tIns="0" rIns="0" bIns="0">
              <a:spAutoFit/>
            </a:bodyPr>
            <a:lstStyle/>
            <a:p>
              <a:pPr algn="ctr" fontAlgn="base">
                <a:spcBef>
                  <a:spcPct val="0"/>
                </a:spcBef>
                <a:spcAft>
                  <a:spcPct val="0"/>
                </a:spcAft>
              </a:pP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M</a:t>
              </a:r>
              <a:endParaRPr lang="zh-CN" altLang="en-US"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49" name="直接箭头连接符 48"/>
            <p:cNvCxnSpPr/>
            <p:nvPr/>
          </p:nvCxnSpPr>
          <p:spPr bwMode="auto">
            <a:xfrm>
              <a:off x="14049" y="6334"/>
              <a:ext cx="357"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95" name="直接连接符 194"/>
          <p:cNvCxnSpPr/>
          <p:nvPr/>
        </p:nvCxnSpPr>
        <p:spPr bwMode="auto">
          <a:xfrm>
            <a:off x="7257760" y="3520799"/>
            <a:ext cx="0" cy="3003505"/>
          </a:xfrm>
          <a:prstGeom prst="line">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6" name="直接箭头连接符 195"/>
          <p:cNvCxnSpPr/>
          <p:nvPr/>
        </p:nvCxnSpPr>
        <p:spPr bwMode="auto">
          <a:xfrm>
            <a:off x="3116657" y="1753245"/>
            <a:ext cx="436708"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9" name="矩形: 圆角 198"/>
          <p:cNvSpPr/>
          <p:nvPr/>
        </p:nvSpPr>
        <p:spPr>
          <a:xfrm>
            <a:off x="3553365" y="1265617"/>
            <a:ext cx="1491668" cy="742252"/>
          </a:xfrm>
          <a:prstGeom prst="round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0" name="文本框 199"/>
          <p:cNvSpPr txBox="1"/>
          <p:nvPr/>
        </p:nvSpPr>
        <p:spPr>
          <a:xfrm>
            <a:off x="3503277" y="1281941"/>
            <a:ext cx="1665445" cy="787203"/>
          </a:xfrm>
          <a:prstGeom prst="rect">
            <a:avLst/>
          </a:prstGeom>
          <a:noFill/>
          <a:ln>
            <a:noFill/>
          </a:ln>
        </p:spPr>
        <p:txBody>
          <a:bodyPr wrap="square" rtlCol="0">
            <a:spAutoFit/>
          </a:bodyPr>
          <a:lstStyle/>
          <a:p>
            <a:pPr algn="ctr" fontAlgn="base">
              <a:lnSpc>
                <a:spcPts val="1800"/>
              </a:lnSpc>
              <a:spcBef>
                <a:spcPct val="0"/>
              </a:spcBef>
              <a:spcAft>
                <a:spcPct val="0"/>
              </a:spcAft>
              <a:defRPr/>
            </a:pPr>
            <a:r>
              <a:rPr lang="en-US" altLang="zh-CN"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Hazard detection</a:t>
            </a:r>
            <a:r>
              <a:rPr lang="zh-CN" altLang="en-US"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unit</a:t>
            </a:r>
            <a:endParaRPr lang="zh-CN" altLang="en-US"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02" name="直接箭头连接符 201"/>
          <p:cNvCxnSpPr/>
          <p:nvPr/>
        </p:nvCxnSpPr>
        <p:spPr bwMode="auto">
          <a:xfrm>
            <a:off x="7820124" y="3512031"/>
            <a:ext cx="641193" cy="3867"/>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24" name="直接箭头连接符 523"/>
          <p:cNvCxnSpPr/>
          <p:nvPr/>
        </p:nvCxnSpPr>
        <p:spPr bwMode="auto">
          <a:xfrm>
            <a:off x="9297976" y="222513"/>
            <a:ext cx="0" cy="6479648"/>
          </a:xfrm>
          <a:prstGeom prst="straightConnector1">
            <a:avLst/>
          </a:prstGeom>
          <a:ln w="12700" cap="flat" cmpd="sng" algn="ctr">
            <a:solidFill>
              <a:schemeClr val="dk1"/>
            </a:solidFill>
            <a:prstDash val="dash"/>
            <a:round/>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grpSp>
        <p:nvGrpSpPr>
          <p:cNvPr id="11" name="组合 10"/>
          <p:cNvGrpSpPr/>
          <p:nvPr/>
        </p:nvGrpSpPr>
        <p:grpSpPr>
          <a:xfrm>
            <a:off x="4991100" y="3496310"/>
            <a:ext cx="910590" cy="1060450"/>
            <a:chOff x="7860" y="5506"/>
            <a:chExt cx="1434" cy="1670"/>
          </a:xfrm>
        </p:grpSpPr>
        <p:sp>
          <p:nvSpPr>
            <p:cNvPr id="33" name="矩形 32"/>
            <p:cNvSpPr/>
            <p:nvPr/>
          </p:nvSpPr>
          <p:spPr bwMode="auto">
            <a:xfrm>
              <a:off x="7860" y="5506"/>
              <a:ext cx="1435" cy="1671"/>
            </a:xfrm>
            <a:prstGeom prst="rect">
              <a:avLst/>
            </a:prstGeom>
            <a:solidFill>
              <a:schemeClr val="bg1"/>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algn="ctr" fontAlgn="base">
                <a:spcBef>
                  <a:spcPct val="0"/>
                </a:spcBef>
                <a:spcAft>
                  <a:spcPct val="0"/>
                </a:spcAft>
              </a:pPr>
              <a:endParaRPr lang="zh-CN" altLang="en-US" sz="1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矩形 6"/>
            <p:cNvSpPr/>
            <p:nvPr/>
          </p:nvSpPr>
          <p:spPr>
            <a:xfrm>
              <a:off x="8532" y="5528"/>
              <a:ext cx="750" cy="16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cxnSp>
        <p:nvCxnSpPr>
          <p:cNvPr id="418" name="直接箭头连接符 417"/>
          <p:cNvCxnSpPr/>
          <p:nvPr/>
        </p:nvCxnSpPr>
        <p:spPr bwMode="auto">
          <a:xfrm>
            <a:off x="6581778" y="222513"/>
            <a:ext cx="0" cy="6479648"/>
          </a:xfrm>
          <a:prstGeom prst="straightConnector1">
            <a:avLst/>
          </a:prstGeom>
          <a:ln w="12700" cap="flat" cmpd="sng" algn="ctr">
            <a:solidFill>
              <a:schemeClr val="dk1"/>
            </a:solidFill>
            <a:prstDash val="dash"/>
            <a:round/>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grpSp>
        <p:nvGrpSpPr>
          <p:cNvPr id="10" name="组合 9"/>
          <p:cNvGrpSpPr/>
          <p:nvPr/>
        </p:nvGrpSpPr>
        <p:grpSpPr>
          <a:xfrm>
            <a:off x="1510030" y="3688715"/>
            <a:ext cx="906780" cy="1045210"/>
            <a:chOff x="2378" y="5809"/>
            <a:chExt cx="1428" cy="1646"/>
          </a:xfrm>
        </p:grpSpPr>
        <p:sp>
          <p:nvSpPr>
            <p:cNvPr id="12" name="矩形 11"/>
            <p:cNvSpPr/>
            <p:nvPr/>
          </p:nvSpPr>
          <p:spPr bwMode="auto">
            <a:xfrm>
              <a:off x="2378" y="5809"/>
              <a:ext cx="1429" cy="1646"/>
            </a:xfrm>
            <a:prstGeom prst="rect">
              <a:avLst/>
            </a:prstGeom>
            <a:solidFill>
              <a:schemeClr val="bg1"/>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矩形 3"/>
            <p:cNvSpPr/>
            <p:nvPr/>
          </p:nvSpPr>
          <p:spPr>
            <a:xfrm>
              <a:off x="3110" y="5824"/>
              <a:ext cx="697" cy="1616"/>
            </a:xfrm>
            <a:prstGeom prst="rect">
              <a:avLst/>
            </a:prstGeom>
            <a:solidFill>
              <a:schemeClr val="bg2">
                <a:lumMod val="90000"/>
              </a:schemeClr>
            </a:solidFill>
            <a:ln w="28575" cap="flat"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25" name="直接箭头连接符 524"/>
          <p:cNvCxnSpPr/>
          <p:nvPr/>
        </p:nvCxnSpPr>
        <p:spPr bwMode="auto">
          <a:xfrm>
            <a:off x="10715356" y="287056"/>
            <a:ext cx="0" cy="6479648"/>
          </a:xfrm>
          <a:prstGeom prst="straightConnector1">
            <a:avLst/>
          </a:prstGeom>
          <a:ln w="12700" cap="flat" cmpd="sng" algn="ctr">
            <a:solidFill>
              <a:schemeClr val="dk1"/>
            </a:solidFill>
            <a:prstDash val="dash"/>
            <a:round/>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8" name="直接连接符 77"/>
          <p:cNvCxnSpPr>
            <a:stCxn id="12" idx="3"/>
          </p:cNvCxnSpPr>
          <p:nvPr/>
        </p:nvCxnSpPr>
        <p:spPr bwMode="auto">
          <a:xfrm>
            <a:off x="2417538" y="4211133"/>
            <a:ext cx="182854"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直接箭头连接符 88"/>
          <p:cNvCxnSpPr>
            <a:endCxn id="12" idx="1"/>
          </p:cNvCxnSpPr>
          <p:nvPr/>
        </p:nvCxnSpPr>
        <p:spPr bwMode="auto">
          <a:xfrm flipV="1">
            <a:off x="1252855" y="4211320"/>
            <a:ext cx="257175" cy="762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4" name="矩形 93"/>
          <p:cNvSpPr/>
          <p:nvPr/>
        </p:nvSpPr>
        <p:spPr bwMode="auto">
          <a:xfrm>
            <a:off x="2620291" y="3230677"/>
            <a:ext cx="273550" cy="2458913"/>
          </a:xfrm>
          <a:prstGeom prst="rect">
            <a:avLst/>
          </a:prstGeom>
          <a:solidFill>
            <a:schemeClr val="bg2">
              <a:lumMod val="90000"/>
            </a:schemeClr>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49" name="直接箭头连接符 148"/>
          <p:cNvCxnSpPr>
            <a:endCxn id="192" idx="0"/>
          </p:cNvCxnSpPr>
          <p:nvPr/>
        </p:nvCxnSpPr>
        <p:spPr bwMode="auto">
          <a:xfrm rot="5400000">
            <a:off x="1066951" y="1483191"/>
            <a:ext cx="2494896" cy="2430982"/>
          </a:xfrm>
          <a:prstGeom prst="bentConnector3">
            <a:avLst>
              <a:gd name="adj1" fmla="val -13"/>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 name="直接箭头连接符 132"/>
          <p:cNvCxnSpPr/>
          <p:nvPr/>
        </p:nvCxnSpPr>
        <p:spPr bwMode="auto">
          <a:xfrm flipV="1">
            <a:off x="6104890" y="2742565"/>
            <a:ext cx="306000" cy="635"/>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4" name="直接箭头连接符 133"/>
          <p:cNvCxnSpPr/>
          <p:nvPr/>
        </p:nvCxnSpPr>
        <p:spPr bwMode="auto">
          <a:xfrm>
            <a:off x="6230563" y="2952264"/>
            <a:ext cx="168360" cy="0"/>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4" name="直接箭头连接符 183"/>
          <p:cNvCxnSpPr>
            <a:endCxn id="303" idx="2"/>
          </p:cNvCxnSpPr>
          <p:nvPr/>
        </p:nvCxnSpPr>
        <p:spPr bwMode="auto">
          <a:xfrm>
            <a:off x="4162634" y="2677585"/>
            <a:ext cx="1593756" cy="0"/>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1" name="直接连接符 200"/>
          <p:cNvCxnSpPr/>
          <p:nvPr/>
        </p:nvCxnSpPr>
        <p:spPr bwMode="auto">
          <a:xfrm>
            <a:off x="3100243" y="1753245"/>
            <a:ext cx="0" cy="3576580"/>
          </a:xfrm>
          <a:prstGeom prst="line">
            <a:avLst/>
          </a:prstGeom>
          <a:noFill/>
          <a:ln w="25400"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 name="直接箭头连接符 204"/>
          <p:cNvCxnSpPr/>
          <p:nvPr/>
        </p:nvCxnSpPr>
        <p:spPr bwMode="auto">
          <a:xfrm rot="16200000" flipH="1">
            <a:off x="-419736" y="3473546"/>
            <a:ext cx="1593199" cy="286282"/>
          </a:xfrm>
          <a:prstGeom prst="bentConnector3">
            <a:avLst>
              <a:gd name="adj1" fmla="val 99908"/>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9" name="直接连接符 208"/>
          <p:cNvCxnSpPr/>
          <p:nvPr/>
        </p:nvCxnSpPr>
        <p:spPr bwMode="auto">
          <a:xfrm flipV="1">
            <a:off x="2883821" y="4215087"/>
            <a:ext cx="232836" cy="3578"/>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5" name="直接箭头连接符 214"/>
          <p:cNvCxnSpPr>
            <a:endCxn id="33" idx="1"/>
          </p:cNvCxnSpPr>
          <p:nvPr/>
        </p:nvCxnSpPr>
        <p:spPr bwMode="auto">
          <a:xfrm flipV="1">
            <a:off x="3122720" y="4027208"/>
            <a:ext cx="1868291" cy="0"/>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9" name="直接箭头连接符 218"/>
          <p:cNvCxnSpPr/>
          <p:nvPr/>
        </p:nvCxnSpPr>
        <p:spPr bwMode="auto">
          <a:xfrm rot="10800000" flipV="1">
            <a:off x="2779118" y="1605107"/>
            <a:ext cx="714634" cy="1625570"/>
          </a:xfrm>
          <a:prstGeom prst="bentConnector2">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9" name="直接连接符 278"/>
          <p:cNvCxnSpPr>
            <a:cxnSpLocks/>
          </p:cNvCxnSpPr>
          <p:nvPr/>
        </p:nvCxnSpPr>
        <p:spPr bwMode="auto">
          <a:xfrm>
            <a:off x="4134041" y="6534423"/>
            <a:ext cx="7664995"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9" name="直接连接符 298"/>
          <p:cNvCxnSpPr/>
          <p:nvPr/>
        </p:nvCxnSpPr>
        <p:spPr bwMode="auto">
          <a:xfrm flipV="1">
            <a:off x="4320000" y="5329825"/>
            <a:ext cx="2820110" cy="988425"/>
          </a:xfrm>
          <a:prstGeom prst="bentConnector3">
            <a:avLst>
              <a:gd name="adj1" fmla="val 99738"/>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3" name="直接连接符 342"/>
          <p:cNvCxnSpPr>
            <a:stCxn id="33" idx="0"/>
          </p:cNvCxnSpPr>
          <p:nvPr/>
        </p:nvCxnSpPr>
        <p:spPr bwMode="auto">
          <a:xfrm flipH="1" flipV="1">
            <a:off x="5433134" y="1002057"/>
            <a:ext cx="13579" cy="2494253"/>
          </a:xfrm>
          <a:prstGeom prst="line">
            <a:avLst/>
          </a:prstGeom>
          <a:noFill/>
          <a:ln w="25400" cap="flat" cmpd="sng" algn="ctr">
            <a:solidFill>
              <a:srgbClr val="00B0F0"/>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2" name="直接箭头连接符 351"/>
          <p:cNvCxnSpPr/>
          <p:nvPr/>
        </p:nvCxnSpPr>
        <p:spPr bwMode="auto">
          <a:xfrm flipV="1">
            <a:off x="3096000" y="5337543"/>
            <a:ext cx="3312000"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直接连接符 225"/>
          <p:cNvCxnSpPr/>
          <p:nvPr/>
        </p:nvCxnSpPr>
        <p:spPr bwMode="auto">
          <a:xfrm flipV="1">
            <a:off x="3666594" y="4025331"/>
            <a:ext cx="0" cy="1959519"/>
          </a:xfrm>
          <a:prstGeom prst="line">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8" name="直接箭头连接符 227"/>
          <p:cNvCxnSpPr/>
          <p:nvPr/>
        </p:nvCxnSpPr>
        <p:spPr bwMode="auto">
          <a:xfrm flipV="1">
            <a:off x="3931535" y="4246146"/>
            <a:ext cx="1054607"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7" name="直接连接符 236"/>
          <p:cNvCxnSpPr/>
          <p:nvPr/>
        </p:nvCxnSpPr>
        <p:spPr bwMode="auto">
          <a:xfrm flipV="1">
            <a:off x="4319522" y="2059619"/>
            <a:ext cx="16478" cy="4264662"/>
          </a:xfrm>
          <a:prstGeom prst="straightConnector1">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9" name="直接箭头连接符 238"/>
          <p:cNvCxnSpPr/>
          <p:nvPr/>
        </p:nvCxnSpPr>
        <p:spPr bwMode="auto">
          <a:xfrm flipV="1">
            <a:off x="3117995" y="3855927"/>
            <a:ext cx="1873017" cy="0"/>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3" name="直接箭头连接符 242"/>
          <p:cNvCxnSpPr>
            <a:endCxn id="166" idx="3"/>
          </p:cNvCxnSpPr>
          <p:nvPr/>
        </p:nvCxnSpPr>
        <p:spPr bwMode="auto">
          <a:xfrm>
            <a:off x="2918598" y="3303593"/>
            <a:ext cx="1799518" cy="9838"/>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9" name="直接连接符 248"/>
          <p:cNvCxnSpPr/>
          <p:nvPr/>
        </p:nvCxnSpPr>
        <p:spPr bwMode="auto">
          <a:xfrm>
            <a:off x="3437767" y="3867004"/>
            <a:ext cx="0" cy="1822586"/>
          </a:xfrm>
          <a:prstGeom prst="line">
            <a:avLst/>
          </a:prstGeom>
          <a:noFill/>
          <a:ln w="25400" cap="flat" cmpd="sng" algn="ctr">
            <a:solidFill>
              <a:schemeClr val="tx1"/>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1" name="直接连接符 250"/>
          <p:cNvCxnSpPr/>
          <p:nvPr/>
        </p:nvCxnSpPr>
        <p:spPr bwMode="auto">
          <a:xfrm rot="10800000">
            <a:off x="207010" y="2800985"/>
            <a:ext cx="1983105" cy="523240"/>
          </a:xfrm>
          <a:prstGeom prst="bentConnector3">
            <a:avLst>
              <a:gd name="adj1" fmla="val -4290"/>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4" name="直接箭头连接符 253"/>
          <p:cNvCxnSpPr/>
          <p:nvPr/>
        </p:nvCxnSpPr>
        <p:spPr bwMode="auto">
          <a:xfrm>
            <a:off x="3666594" y="5971895"/>
            <a:ext cx="2733004"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 name="直接箭头连接符 255"/>
          <p:cNvCxnSpPr/>
          <p:nvPr/>
        </p:nvCxnSpPr>
        <p:spPr bwMode="auto">
          <a:xfrm>
            <a:off x="3437767" y="5673265"/>
            <a:ext cx="2984954"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2" name="直接箭头连接符 261"/>
          <p:cNvCxnSpPr/>
          <p:nvPr/>
        </p:nvCxnSpPr>
        <p:spPr bwMode="auto">
          <a:xfrm>
            <a:off x="5902236" y="4332411"/>
            <a:ext cx="504495"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5" name="直接箭头连接符 264"/>
          <p:cNvCxnSpPr/>
          <p:nvPr/>
        </p:nvCxnSpPr>
        <p:spPr bwMode="auto">
          <a:xfrm flipV="1">
            <a:off x="5918537" y="3715000"/>
            <a:ext cx="488194" cy="6845"/>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6" name="直接箭头连接符 245"/>
          <p:cNvCxnSpPr>
            <a:stCxn id="185" idx="6"/>
          </p:cNvCxnSpPr>
          <p:nvPr/>
        </p:nvCxnSpPr>
        <p:spPr bwMode="auto">
          <a:xfrm flipV="1">
            <a:off x="5546303" y="4914059"/>
            <a:ext cx="852188" cy="1804"/>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9" name="直接箭头连接符 378"/>
          <p:cNvCxnSpPr/>
          <p:nvPr/>
        </p:nvCxnSpPr>
        <p:spPr bwMode="auto">
          <a:xfrm>
            <a:off x="2757066" y="123283"/>
            <a:ext cx="0" cy="6479648"/>
          </a:xfrm>
          <a:prstGeom prst="straightConnector1">
            <a:avLst/>
          </a:prstGeom>
          <a:ln w="12700" cap="flat" cmpd="sng" algn="ctr">
            <a:solidFill>
              <a:schemeClr val="dk1"/>
            </a:solidFill>
            <a:prstDash val="dash"/>
            <a:round/>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401" name="直接箭头连接符 400"/>
          <p:cNvCxnSpPr/>
          <p:nvPr/>
        </p:nvCxnSpPr>
        <p:spPr bwMode="auto">
          <a:xfrm rot="10800000">
            <a:off x="5064977" y="1513169"/>
            <a:ext cx="2102719" cy="1228829"/>
          </a:xfrm>
          <a:prstGeom prst="bentConnector3">
            <a:avLst>
              <a:gd name="adj1" fmla="val 563"/>
            </a:avLst>
          </a:prstGeom>
          <a:noFill/>
          <a:ln w="25400" cap="flat" cmpd="sng" algn="ctr">
            <a:solidFill>
              <a:srgbClr val="00B0F0"/>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4" name="直接箭头连接符 413"/>
          <p:cNvCxnSpPr/>
          <p:nvPr/>
        </p:nvCxnSpPr>
        <p:spPr bwMode="auto">
          <a:xfrm rot="16200000" flipH="1">
            <a:off x="-1203577" y="2486887"/>
            <a:ext cx="3010824" cy="427375"/>
          </a:xfrm>
          <a:prstGeom prst="bentConnector2">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 name="直接连接符 301"/>
          <p:cNvCxnSpPr>
            <a:cxnSpLocks/>
          </p:cNvCxnSpPr>
          <p:nvPr/>
        </p:nvCxnSpPr>
        <p:spPr bwMode="auto">
          <a:xfrm>
            <a:off x="3924665" y="4248200"/>
            <a:ext cx="0" cy="2451308"/>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4" name="直接箭头连接符 303"/>
          <p:cNvCxnSpPr/>
          <p:nvPr/>
        </p:nvCxnSpPr>
        <p:spPr bwMode="auto">
          <a:xfrm rot="5400000" flipH="1" flipV="1">
            <a:off x="4210662" y="1886889"/>
            <a:ext cx="1842078" cy="405120"/>
          </a:xfrm>
          <a:prstGeom prst="bentConnector3">
            <a:avLst>
              <a:gd name="adj1" fmla="val -603"/>
            </a:avLst>
          </a:prstGeom>
          <a:noFill/>
          <a:ln w="25400"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 name="直接连接符 296"/>
          <p:cNvCxnSpPr/>
          <p:nvPr/>
        </p:nvCxnSpPr>
        <p:spPr bwMode="auto">
          <a:xfrm flipV="1">
            <a:off x="101832" y="1168412"/>
            <a:ext cx="5220748" cy="26754"/>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0" name="直接连接符 299"/>
          <p:cNvCxnSpPr>
            <a:stCxn id="303" idx="1"/>
          </p:cNvCxnSpPr>
          <p:nvPr/>
        </p:nvCxnSpPr>
        <p:spPr bwMode="auto">
          <a:xfrm rot="16200000" flipV="1">
            <a:off x="5218233" y="1590729"/>
            <a:ext cx="537153" cy="862185"/>
          </a:xfrm>
          <a:prstGeom prst="bentConnector2">
            <a:avLst/>
          </a:prstGeom>
          <a:noFill/>
          <a:ln w="25400" cap="flat" cmpd="sng" algn="ctr">
            <a:solidFill>
              <a:schemeClr val="tx1"/>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01" name="Mux 3"/>
          <p:cNvGrpSpPr/>
          <p:nvPr/>
        </p:nvGrpSpPr>
        <p:grpSpPr>
          <a:xfrm>
            <a:off x="5690294" y="2290398"/>
            <a:ext cx="426720" cy="800346"/>
            <a:chOff x="3490515" y="5448299"/>
            <a:chExt cx="907264" cy="1271787"/>
          </a:xfrm>
        </p:grpSpPr>
        <p:sp>
          <p:nvSpPr>
            <p:cNvPr id="303" name="mux"/>
            <p:cNvSpPr/>
            <p:nvPr/>
          </p:nvSpPr>
          <p:spPr>
            <a:xfrm rot="5400000">
              <a:off x="3360534" y="5718809"/>
              <a:ext cx="1230515" cy="689495"/>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310" name="文本框 309"/>
            <p:cNvSpPr txBox="1"/>
            <p:nvPr/>
          </p:nvSpPr>
          <p:spPr>
            <a:xfrm>
              <a:off x="3490515" y="5469184"/>
              <a:ext cx="907264" cy="1250902"/>
            </a:xfrm>
            <a:prstGeom prst="rect">
              <a:avLst/>
            </a:prstGeom>
            <a:noFill/>
            <a:ln w="25400">
              <a:noFill/>
            </a:ln>
          </p:spPr>
          <p:txBody>
            <a:bodyPr wrap="none" rtlCol="0">
              <a:spAutoFit/>
            </a:bodyPr>
            <a:lstStyle/>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sp>
        <p:nvSpPr>
          <p:cNvPr id="163" name="矩形 162"/>
          <p:cNvSpPr/>
          <p:nvPr/>
        </p:nvSpPr>
        <p:spPr>
          <a:xfrm>
            <a:off x="2345511" y="2874184"/>
            <a:ext cx="806861" cy="369332"/>
          </a:xfrm>
          <a:prstGeom prst="rect">
            <a:avLst/>
          </a:prstGeom>
          <a:ln w="25400">
            <a:noFill/>
          </a:ln>
        </p:spPr>
        <p:txBody>
          <a:bodyPr wrap="square">
            <a:spAutoFit/>
          </a:bodyPr>
          <a:lstStyle/>
          <a:p>
            <a:pPr lvl="0" algn="ctr">
              <a:defRPr/>
            </a:pPr>
            <a:r>
              <a:rPr lang="en-US" altLang="zh-CN" b="1" dirty="0">
                <a:solidFill>
                  <a:prstClr val="black"/>
                </a:solidFill>
                <a:latin typeface="Times New Roman" panose="02020603050405020304" pitchFamily="18" charset="0"/>
                <a:cs typeface="Times New Roman" panose="02020603050405020304" pitchFamily="18" charset="0"/>
              </a:rPr>
              <a:t>IF/ID</a:t>
            </a:r>
            <a:endParaRPr lang="zh-CN" altLang="en-US" b="1" dirty="0">
              <a:solidFill>
                <a:prstClr val="black"/>
              </a:solidFill>
              <a:latin typeface="Times New Roman" panose="02020603050405020304" pitchFamily="18" charset="0"/>
              <a:cs typeface="Times New Roman" panose="02020603050405020304" pitchFamily="18" charset="0"/>
            </a:endParaRPr>
          </a:p>
        </p:txBody>
      </p:sp>
      <p:cxnSp>
        <p:nvCxnSpPr>
          <p:cNvPr id="132" name="直接箭头连接符 131"/>
          <p:cNvCxnSpPr/>
          <p:nvPr/>
        </p:nvCxnSpPr>
        <p:spPr bwMode="auto">
          <a:xfrm flipV="1">
            <a:off x="6230620" y="2536825"/>
            <a:ext cx="181610" cy="1905"/>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 name="直接连接符 193"/>
          <p:cNvCxnSpPr/>
          <p:nvPr/>
        </p:nvCxnSpPr>
        <p:spPr bwMode="auto">
          <a:xfrm flipV="1">
            <a:off x="6229985" y="2526030"/>
            <a:ext cx="635" cy="440690"/>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8" name="矩形: 圆角 487"/>
          <p:cNvSpPr/>
          <p:nvPr/>
        </p:nvSpPr>
        <p:spPr>
          <a:xfrm>
            <a:off x="3553365" y="1265617"/>
            <a:ext cx="1491668" cy="742252"/>
          </a:xfrm>
          <a:prstGeom prst="round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1" name="文本框 490"/>
          <p:cNvSpPr txBox="1"/>
          <p:nvPr/>
        </p:nvSpPr>
        <p:spPr>
          <a:xfrm>
            <a:off x="3503277" y="1281941"/>
            <a:ext cx="1665445" cy="787203"/>
          </a:xfrm>
          <a:prstGeom prst="rect">
            <a:avLst/>
          </a:prstGeom>
          <a:noFill/>
          <a:ln>
            <a:noFill/>
          </a:ln>
        </p:spPr>
        <p:txBody>
          <a:bodyPr wrap="square" rtlCol="0">
            <a:spAutoFit/>
          </a:bodyPr>
          <a:lstStyle/>
          <a:p>
            <a:pPr algn="ctr" fontAlgn="base">
              <a:lnSpc>
                <a:spcPts val="1800"/>
              </a:lnSpc>
              <a:spcBef>
                <a:spcPct val="0"/>
              </a:spcBef>
              <a:spcAft>
                <a:spcPct val="0"/>
              </a:spcAft>
              <a:defRPr/>
            </a:pPr>
            <a:r>
              <a:rPr lang="en-US" altLang="zh-CN"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Hazard detection</a:t>
            </a:r>
            <a:r>
              <a:rPr lang="zh-CN" altLang="en-US"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unit</a:t>
            </a:r>
            <a:endParaRPr lang="zh-CN" altLang="en-US"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61" name="直接连接符 160"/>
          <p:cNvCxnSpPr/>
          <p:nvPr/>
        </p:nvCxnSpPr>
        <p:spPr bwMode="auto">
          <a:xfrm>
            <a:off x="5418137" y="1002057"/>
            <a:ext cx="5746953" cy="0"/>
          </a:xfrm>
          <a:prstGeom prst="line">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1" name="梯形 43"/>
          <p:cNvSpPr/>
          <p:nvPr/>
        </p:nvSpPr>
        <p:spPr bwMode="auto">
          <a:xfrm rot="5400000">
            <a:off x="1757137" y="3241307"/>
            <a:ext cx="432037" cy="173951"/>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solidFill>
            <a:schemeClr val="bg2">
              <a:lumMod val="90000"/>
            </a:schemeClr>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algn="ctr" fontAlgn="base">
              <a:spcBef>
                <a:spcPct val="0"/>
              </a:spcBef>
              <a:spcAft>
                <a:spcPct val="0"/>
              </a:spcAft>
            </a:pPr>
            <a:r>
              <a:rPr lang="en-US" altLang="zh-CN"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4" name="椭圆 163"/>
          <p:cNvSpPr/>
          <p:nvPr/>
        </p:nvSpPr>
        <p:spPr>
          <a:xfrm>
            <a:off x="4373880" y="3505835"/>
            <a:ext cx="574040" cy="288000"/>
          </a:xfrm>
          <a:prstGeom prst="ellipse">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lIns="0" tIns="0" rIns="0" bIns="0" rtlCol="0" anchor="t" anchorCtr="1"/>
          <a:lstStyle/>
          <a:p>
            <a:pPr algn="ctr">
              <a:lnSpc>
                <a:spcPts val="1000"/>
              </a:lnSpc>
            </a:pPr>
            <a:r>
              <a:rPr lang="en-GB" altLang="zh-CN" sz="1200" b="1" dirty="0">
                <a:solidFill>
                  <a:srgbClr val="FF0000"/>
                </a:solidFill>
                <a:latin typeface="Times New Roman" panose="02020603050405020304" pitchFamily="18" charset="0"/>
                <a:cs typeface="Times New Roman" panose="02020603050405020304" pitchFamily="18" charset="0"/>
              </a:rPr>
              <a:t>Shift </a:t>
            </a:r>
          </a:p>
          <a:p>
            <a:pPr algn="ctr">
              <a:lnSpc>
                <a:spcPts val="1000"/>
              </a:lnSpc>
            </a:pPr>
            <a:r>
              <a:rPr lang="en-GB" altLang="zh-CN" sz="1200" b="1" dirty="0">
                <a:solidFill>
                  <a:srgbClr val="FF0000"/>
                </a:solidFill>
                <a:latin typeface="Times New Roman" panose="02020603050405020304" pitchFamily="18" charset="0"/>
                <a:cs typeface="Times New Roman" panose="02020603050405020304" pitchFamily="18" charset="0"/>
              </a:rPr>
              <a:t>left 1</a:t>
            </a:r>
          </a:p>
        </p:txBody>
      </p:sp>
      <p:sp>
        <p:nvSpPr>
          <p:cNvPr id="166" name="梯形 43"/>
          <p:cNvSpPr/>
          <p:nvPr/>
        </p:nvSpPr>
        <p:spPr bwMode="auto">
          <a:xfrm rot="5400000">
            <a:off x="4547141" y="2944309"/>
            <a:ext cx="540097" cy="198147"/>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algn="ctr" fontAlgn="base">
              <a:spcBef>
                <a:spcPct val="0"/>
              </a:spcBef>
              <a:spcAft>
                <a:spcPct val="0"/>
              </a:spcAft>
            </a:pPr>
            <a:r>
              <a:rPr lang="en-GB" altLang="zh-CN"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5" name="椭圆 184"/>
          <p:cNvSpPr/>
          <p:nvPr/>
        </p:nvSpPr>
        <p:spPr>
          <a:xfrm>
            <a:off x="4573272" y="4680191"/>
            <a:ext cx="973031" cy="471344"/>
          </a:xfrm>
          <a:prstGeom prst="ellipse">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GB" altLang="zh-CN" dirty="0" err="1">
                <a:solidFill>
                  <a:srgbClr val="FF0000"/>
                </a:solidFill>
                <a:latin typeface="Times New Roman" panose="02020603050405020304" pitchFamily="18" charset="0"/>
                <a:cs typeface="Times New Roman" panose="02020603050405020304" pitchFamily="18" charset="0"/>
              </a:rPr>
              <a:t>Imm</a:t>
            </a:r>
            <a:r>
              <a:rPr lang="en-GB" altLang="zh-CN" dirty="0">
                <a:solidFill>
                  <a:srgbClr val="FF0000"/>
                </a:solidFill>
                <a:latin typeface="Times New Roman" panose="02020603050405020304" pitchFamily="18" charset="0"/>
                <a:cs typeface="Times New Roman" panose="02020603050405020304" pitchFamily="18" charset="0"/>
              </a:rPr>
              <a:t> Gen</a:t>
            </a:r>
            <a:endParaRPr lang="zh-CN" altLang="en-US" dirty="0">
              <a:solidFill>
                <a:srgbClr val="FF0000"/>
              </a:solidFill>
              <a:latin typeface="Times New Roman" panose="02020603050405020304" pitchFamily="18" charset="0"/>
              <a:cs typeface="Times New Roman" panose="02020603050405020304" pitchFamily="18" charset="0"/>
            </a:endParaRPr>
          </a:p>
        </p:txBody>
      </p:sp>
      <p:cxnSp>
        <p:nvCxnSpPr>
          <p:cNvPr id="222" name="直接连接符 221"/>
          <p:cNvCxnSpPr/>
          <p:nvPr/>
        </p:nvCxnSpPr>
        <p:spPr bwMode="auto">
          <a:xfrm>
            <a:off x="770191" y="4207505"/>
            <a:ext cx="182854"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5" name="直接箭头连接符 224"/>
          <p:cNvCxnSpPr>
            <a:endCxn id="185" idx="2"/>
          </p:cNvCxnSpPr>
          <p:nvPr/>
        </p:nvCxnSpPr>
        <p:spPr bwMode="auto">
          <a:xfrm flipV="1">
            <a:off x="3096000" y="4915863"/>
            <a:ext cx="1477272" cy="4046"/>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3" name="直接箭头连接符 352"/>
          <p:cNvCxnSpPr/>
          <p:nvPr/>
        </p:nvCxnSpPr>
        <p:spPr bwMode="auto">
          <a:xfrm>
            <a:off x="3117850" y="2667000"/>
            <a:ext cx="242858" cy="0"/>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0" name="直接箭头连接符 359"/>
          <p:cNvCxnSpPr/>
          <p:nvPr/>
        </p:nvCxnSpPr>
        <p:spPr bwMode="auto">
          <a:xfrm flipH="1">
            <a:off x="2057103" y="3328282"/>
            <a:ext cx="173615" cy="0"/>
          </a:xfrm>
          <a:prstGeom prst="straightConnector1">
            <a:avLst/>
          </a:prstGeom>
          <a:noFill/>
          <a:ln w="25400"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0" name="直接箭头连接符 399"/>
          <p:cNvCxnSpPr>
            <a:endCxn id="181" idx="0"/>
          </p:cNvCxnSpPr>
          <p:nvPr/>
        </p:nvCxnSpPr>
        <p:spPr bwMode="auto">
          <a:xfrm rot="5400000" flipH="1" flipV="1">
            <a:off x="1064663" y="3390796"/>
            <a:ext cx="1100049" cy="542986"/>
          </a:xfrm>
          <a:prstGeom prst="bentConnector3">
            <a:avLst>
              <a:gd name="adj1" fmla="val 99874"/>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2" name="直接箭头连接符 411"/>
          <p:cNvCxnSpPr/>
          <p:nvPr/>
        </p:nvCxnSpPr>
        <p:spPr bwMode="auto">
          <a:xfrm flipV="1">
            <a:off x="1338997" y="3582195"/>
            <a:ext cx="1277638" cy="16951"/>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6" name="直接箭头连接符 435"/>
          <p:cNvCxnSpPr/>
          <p:nvPr/>
        </p:nvCxnSpPr>
        <p:spPr bwMode="auto">
          <a:xfrm rot="16200000">
            <a:off x="4204970" y="3060700"/>
            <a:ext cx="755650" cy="269875"/>
          </a:xfrm>
          <a:prstGeom prst="bentConnector3">
            <a:avLst>
              <a:gd name="adj1" fmla="val 100378"/>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9" name="直接连接符 578"/>
          <p:cNvCxnSpPr>
            <a:endCxn id="164" idx="4"/>
          </p:cNvCxnSpPr>
          <p:nvPr/>
        </p:nvCxnSpPr>
        <p:spPr bwMode="auto">
          <a:xfrm flipV="1">
            <a:off x="4657725" y="3794125"/>
            <a:ext cx="3175" cy="96120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9" name="直接箭头连接符 588"/>
          <p:cNvCxnSpPr/>
          <p:nvPr/>
        </p:nvCxnSpPr>
        <p:spPr bwMode="auto">
          <a:xfrm>
            <a:off x="4140200" y="4427162"/>
            <a:ext cx="861789"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2" name="直接连接符 591"/>
          <p:cNvCxnSpPr>
            <a:cxnSpLocks/>
          </p:cNvCxnSpPr>
          <p:nvPr/>
        </p:nvCxnSpPr>
        <p:spPr bwMode="auto">
          <a:xfrm>
            <a:off x="4134041" y="4413285"/>
            <a:ext cx="0" cy="2121138"/>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3" name="直接连接符 592"/>
          <p:cNvCxnSpPr>
            <a:cxnSpLocks/>
          </p:cNvCxnSpPr>
          <p:nvPr/>
        </p:nvCxnSpPr>
        <p:spPr bwMode="auto">
          <a:xfrm flipV="1">
            <a:off x="3924665" y="5892888"/>
            <a:ext cx="6366567" cy="806620"/>
          </a:xfrm>
          <a:prstGeom prst="bentConnector3">
            <a:avLst>
              <a:gd name="adj1" fmla="val 100037"/>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1" name="直接箭头连接符 148"/>
          <p:cNvCxnSpPr/>
          <p:nvPr/>
        </p:nvCxnSpPr>
        <p:spPr bwMode="auto">
          <a:xfrm rot="16200000" flipH="1">
            <a:off x="-766009" y="2069502"/>
            <a:ext cx="4512149" cy="2215891"/>
          </a:xfrm>
          <a:prstGeom prst="bentConnector3">
            <a:avLst>
              <a:gd name="adj1" fmla="val 10017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2" name="文本框 641"/>
          <p:cNvSpPr txBox="1"/>
          <p:nvPr/>
        </p:nvSpPr>
        <p:spPr>
          <a:xfrm>
            <a:off x="-54724" y="612360"/>
            <a:ext cx="1094082" cy="400110"/>
          </a:xfrm>
          <a:prstGeom prst="rect">
            <a:avLst/>
          </a:prstGeom>
          <a:noFill/>
        </p:spPr>
        <p:txBody>
          <a:bodyPr wrap="none" rtlCol="0">
            <a:spAutoFit/>
          </a:bodyPr>
          <a:lstStyle/>
          <a:p>
            <a:r>
              <a:rPr lang="en-GB" altLang="zh-CN" sz="2000" b="1" dirty="0" err="1">
                <a:solidFill>
                  <a:schemeClr val="accent5"/>
                </a:solidFill>
                <a:latin typeface="Times New Roman" panose="02020603050405020304" pitchFamily="18" charset="0"/>
                <a:cs typeface="Times New Roman" panose="02020603050405020304" pitchFamily="18" charset="0"/>
              </a:rPr>
              <a:t>IF.Flush</a:t>
            </a:r>
            <a:endParaRPr lang="zh-CN" altLang="en-US" sz="2000" b="1" dirty="0">
              <a:solidFill>
                <a:schemeClr val="accent5"/>
              </a:solidFill>
              <a:latin typeface="Times New Roman" panose="02020603050405020304" pitchFamily="18" charset="0"/>
              <a:cs typeface="Times New Roman" panose="02020603050405020304" pitchFamily="18" charset="0"/>
            </a:endParaRPr>
          </a:p>
        </p:txBody>
      </p:sp>
      <p:cxnSp>
        <p:nvCxnSpPr>
          <p:cNvPr id="645" name="直接箭头连接符 644"/>
          <p:cNvCxnSpPr/>
          <p:nvPr/>
        </p:nvCxnSpPr>
        <p:spPr bwMode="auto">
          <a:xfrm>
            <a:off x="5487444" y="2935121"/>
            <a:ext cx="265588"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8" name="文本框 647"/>
          <p:cNvSpPr txBox="1"/>
          <p:nvPr/>
        </p:nvSpPr>
        <p:spPr>
          <a:xfrm>
            <a:off x="632178" y="4374451"/>
            <a:ext cx="41549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76</a:t>
            </a:r>
            <a:endParaRPr lang="zh-CN" altLang="en-US" b="1" dirty="0">
              <a:latin typeface="Times New Roman" panose="02020603050405020304" pitchFamily="18" charset="0"/>
              <a:cs typeface="Times New Roman" panose="02020603050405020304" pitchFamily="18" charset="0"/>
            </a:endParaRPr>
          </a:p>
        </p:txBody>
      </p:sp>
      <p:sp>
        <p:nvSpPr>
          <p:cNvPr id="654" name="文本框 653"/>
          <p:cNvSpPr txBox="1"/>
          <p:nvPr/>
        </p:nvSpPr>
        <p:spPr>
          <a:xfrm>
            <a:off x="1892051" y="2446278"/>
            <a:ext cx="441146" cy="400110"/>
          </a:xfrm>
          <a:prstGeom prst="rect">
            <a:avLst/>
          </a:prstGeom>
          <a:noFill/>
        </p:spPr>
        <p:txBody>
          <a:bodyPr wrap="none" rtlCol="0">
            <a:spAutoFit/>
          </a:bodyPr>
          <a:lstStyle/>
          <a:p>
            <a:r>
              <a:rPr lang="en-GB" altLang="zh-CN" sz="2000" b="1" dirty="0">
                <a:latin typeface="Times New Roman" panose="02020603050405020304" pitchFamily="18" charset="0"/>
                <a:cs typeface="Times New Roman" panose="02020603050405020304" pitchFamily="18" charset="0"/>
              </a:rPr>
              <a:t>76</a:t>
            </a:r>
            <a:endParaRPr lang="zh-CN" altLang="en-US" sz="2000" b="1" dirty="0">
              <a:latin typeface="Times New Roman" panose="02020603050405020304" pitchFamily="18" charset="0"/>
              <a:cs typeface="Times New Roman" panose="02020603050405020304" pitchFamily="18" charset="0"/>
            </a:endParaRPr>
          </a:p>
        </p:txBody>
      </p:sp>
      <p:sp>
        <p:nvSpPr>
          <p:cNvPr id="655" name="文本框 654"/>
          <p:cNvSpPr txBox="1"/>
          <p:nvPr/>
        </p:nvSpPr>
        <p:spPr>
          <a:xfrm>
            <a:off x="1356273" y="3166959"/>
            <a:ext cx="312906" cy="400110"/>
          </a:xfrm>
          <a:prstGeom prst="rect">
            <a:avLst/>
          </a:prstGeom>
          <a:noFill/>
        </p:spPr>
        <p:txBody>
          <a:bodyPr wrap="none" rtlCol="0">
            <a:spAutoFit/>
          </a:bodyPr>
          <a:lstStyle/>
          <a:p>
            <a:r>
              <a:rPr lang="en-GB" altLang="zh-CN" sz="2000" b="1" dirty="0">
                <a:latin typeface="Times New Roman" panose="02020603050405020304" pitchFamily="18" charset="0"/>
                <a:cs typeface="Times New Roman" panose="02020603050405020304" pitchFamily="18" charset="0"/>
              </a:rPr>
              <a:t>4</a:t>
            </a:r>
            <a:endParaRPr lang="zh-CN" altLang="en-US" sz="2000" b="1" dirty="0">
              <a:latin typeface="Times New Roman" panose="02020603050405020304" pitchFamily="18" charset="0"/>
              <a:cs typeface="Times New Roman" panose="02020603050405020304" pitchFamily="18" charset="0"/>
            </a:endParaRPr>
          </a:p>
        </p:txBody>
      </p:sp>
      <p:sp>
        <p:nvSpPr>
          <p:cNvPr id="656" name="文本框 655"/>
          <p:cNvSpPr txBox="1"/>
          <p:nvPr/>
        </p:nvSpPr>
        <p:spPr>
          <a:xfrm>
            <a:off x="1110925" y="4391078"/>
            <a:ext cx="415498" cy="369332"/>
          </a:xfrm>
          <a:prstGeom prst="rect">
            <a:avLst/>
          </a:prstGeom>
          <a:noFill/>
        </p:spPr>
        <p:txBody>
          <a:bodyPr wrap="none" rtlCol="0">
            <a:spAutoFit/>
          </a:bodyPr>
          <a:lstStyle/>
          <a:p>
            <a:r>
              <a:rPr lang="en-GB" altLang="zh-CN" b="1" dirty="0">
                <a:latin typeface="Times New Roman" panose="02020603050405020304" pitchFamily="18" charset="0"/>
                <a:cs typeface="Times New Roman" panose="02020603050405020304" pitchFamily="18" charset="0"/>
              </a:rPr>
              <a:t>72</a:t>
            </a:r>
            <a:endParaRPr lang="zh-CN" altLang="en-US" b="1" dirty="0">
              <a:latin typeface="Times New Roman" panose="02020603050405020304" pitchFamily="18" charset="0"/>
              <a:cs typeface="Times New Roman" panose="02020603050405020304" pitchFamily="18" charset="0"/>
            </a:endParaRPr>
          </a:p>
        </p:txBody>
      </p:sp>
      <p:cxnSp>
        <p:nvCxnSpPr>
          <p:cNvPr id="658" name="直接箭头连接符 657"/>
          <p:cNvCxnSpPr/>
          <p:nvPr/>
        </p:nvCxnSpPr>
        <p:spPr bwMode="auto">
          <a:xfrm>
            <a:off x="1614687" y="3468112"/>
            <a:ext cx="265588"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3" name="文本框 662"/>
          <p:cNvSpPr txBox="1"/>
          <p:nvPr/>
        </p:nvSpPr>
        <p:spPr>
          <a:xfrm>
            <a:off x="5432338" y="2921114"/>
            <a:ext cx="300082"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0</a:t>
            </a:r>
            <a:endParaRPr lang="zh-CN" altLang="en-US" b="1" dirty="0">
              <a:latin typeface="Times New Roman" panose="02020603050405020304" pitchFamily="18" charset="0"/>
              <a:cs typeface="Times New Roman" panose="02020603050405020304" pitchFamily="18" charset="0"/>
            </a:endParaRPr>
          </a:p>
        </p:txBody>
      </p:sp>
      <p:sp>
        <p:nvSpPr>
          <p:cNvPr id="668" name="椭圆 667"/>
          <p:cNvSpPr/>
          <p:nvPr/>
        </p:nvSpPr>
        <p:spPr>
          <a:xfrm>
            <a:off x="5951098" y="3829730"/>
            <a:ext cx="373358" cy="366022"/>
          </a:xfrm>
          <a:prstGeom prst="ellipse">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p:txBody>
      </p:sp>
      <p:cxnSp>
        <p:nvCxnSpPr>
          <p:cNvPr id="669" name="直接连接符 668"/>
          <p:cNvCxnSpPr>
            <a:endCxn id="668" idx="0"/>
          </p:cNvCxnSpPr>
          <p:nvPr/>
        </p:nvCxnSpPr>
        <p:spPr bwMode="auto">
          <a:xfrm>
            <a:off x="6137777" y="3712223"/>
            <a:ext cx="0" cy="117507"/>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3" name="直接连接符 672"/>
          <p:cNvCxnSpPr/>
          <p:nvPr/>
        </p:nvCxnSpPr>
        <p:spPr bwMode="auto">
          <a:xfrm>
            <a:off x="6134216" y="4207504"/>
            <a:ext cx="0" cy="124907"/>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8" name="矩形 677"/>
          <p:cNvSpPr/>
          <p:nvPr/>
        </p:nvSpPr>
        <p:spPr>
          <a:xfrm>
            <a:off x="300862" y="6283758"/>
            <a:ext cx="1673559" cy="306705"/>
          </a:xfrm>
          <a:prstGeom prst="rect">
            <a:avLst/>
          </a:prstGeom>
          <a:ln w="25400">
            <a:noFill/>
          </a:ln>
        </p:spPr>
        <p:txBody>
          <a:bodyPr wrap="square">
            <a:spAutoFit/>
          </a:bodyPr>
          <a:lstStyle/>
          <a:p>
            <a:pPr lvl="0" algn="ctr">
              <a:defRPr/>
            </a:pPr>
            <a:r>
              <a:rPr lang="en-US" altLang="zh-CN" sz="1400" b="1" dirty="0">
                <a:latin typeface="Times New Roman" panose="02020603050405020304" pitchFamily="18" charset="0"/>
                <a:cs typeface="Times New Roman" panose="02020603050405020304" pitchFamily="18" charset="0"/>
              </a:rPr>
              <a:t>Clock 4</a:t>
            </a:r>
            <a:endParaRPr lang="zh-CN" altLang="en-US" sz="1400" b="1" dirty="0">
              <a:latin typeface="Times New Roman" panose="02020603050405020304" pitchFamily="18" charset="0"/>
              <a:cs typeface="Times New Roman" panose="02020603050405020304" pitchFamily="18" charset="0"/>
            </a:endParaRPr>
          </a:p>
        </p:txBody>
      </p:sp>
      <p:sp>
        <p:nvSpPr>
          <p:cNvPr id="5" name="文本框 4"/>
          <p:cNvSpPr txBox="1"/>
          <p:nvPr/>
        </p:nvSpPr>
        <p:spPr>
          <a:xfrm>
            <a:off x="1243490" y="3974442"/>
            <a:ext cx="1413844" cy="400110"/>
          </a:xfrm>
          <a:prstGeom prst="rect">
            <a:avLst/>
          </a:prstGeom>
          <a:noFill/>
        </p:spPr>
        <p:txBody>
          <a:bodyPr wrap="square" rtlCol="0">
            <a:spAutoFit/>
          </a:bodyPr>
          <a:lstStyle/>
          <a:p>
            <a:pPr algn="ctr"/>
            <a:r>
              <a:rPr lang="en-US" altLang="zh-CN"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IM</a:t>
            </a:r>
            <a:endPar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文本框 8"/>
          <p:cNvSpPr txBox="1"/>
          <p:nvPr/>
        </p:nvSpPr>
        <p:spPr>
          <a:xfrm>
            <a:off x="4871085" y="3276000"/>
            <a:ext cx="1151255" cy="1200329"/>
          </a:xfrm>
          <a:prstGeom prst="rect">
            <a:avLst/>
          </a:prstGeom>
          <a:noFill/>
        </p:spPr>
        <p:txBody>
          <a:bodyPr wrap="square" rtlCol="0">
            <a:spAutoFit/>
          </a:bodyPr>
          <a:lstStyle/>
          <a:p>
            <a:pPr algn="ctr" fontAlgn="base">
              <a:spcBef>
                <a:spcPct val="0"/>
              </a:spcBef>
              <a:spcAft>
                <a:spcPct val="0"/>
              </a:spcAft>
            </a:pPr>
            <a:endPar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gn="ctr" fontAlgn="base">
              <a:spcBef>
                <a:spcPct val="0"/>
              </a:spcBef>
              <a:spcAft>
                <a:spcPct val="0"/>
              </a:spcAft>
            </a:pPr>
            <a:endPar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gn="ctr" fontAlgn="base">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Registers</a:t>
            </a:r>
            <a:endParaRPr lang="zh-CN" altLang="en-US"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gn="ctr"/>
            <a:endParaRPr lang="zh-CN" altLang="en-US" dirty="0">
              <a:solidFill>
                <a:srgbClr val="FF0000"/>
              </a:solidFill>
            </a:endParaRPr>
          </a:p>
        </p:txBody>
      </p:sp>
      <p:sp>
        <p:nvSpPr>
          <p:cNvPr id="2" name="文本框 1"/>
          <p:cNvSpPr txBox="1"/>
          <p:nvPr/>
        </p:nvSpPr>
        <p:spPr>
          <a:xfrm>
            <a:off x="2218245" y="3250253"/>
            <a:ext cx="441146" cy="400110"/>
          </a:xfrm>
          <a:prstGeom prst="rect">
            <a:avLst/>
          </a:prstGeom>
          <a:noFill/>
        </p:spPr>
        <p:txBody>
          <a:bodyPr wrap="none" rtlCol="0">
            <a:spAutoFit/>
          </a:bodyPr>
          <a:lstStyle/>
          <a:p>
            <a:r>
              <a:rPr lang="en-US" altLang="zh-CN" sz="2000" b="1" dirty="0">
                <a:latin typeface="Times New Roman" panose="02020603050405020304" pitchFamily="18" charset="0"/>
                <a:cs typeface="Times New Roman" panose="02020603050405020304" pitchFamily="18" charset="0"/>
              </a:rPr>
              <a:t>72</a:t>
            </a:r>
          </a:p>
        </p:txBody>
      </p:sp>
      <p:grpSp>
        <p:nvGrpSpPr>
          <p:cNvPr id="26" name="组合 25"/>
          <p:cNvGrpSpPr/>
          <p:nvPr/>
        </p:nvGrpSpPr>
        <p:grpSpPr>
          <a:xfrm>
            <a:off x="3366368" y="2251576"/>
            <a:ext cx="1063151" cy="831697"/>
            <a:chOff x="3936460" y="1083848"/>
            <a:chExt cx="937968" cy="1102503"/>
          </a:xfrm>
          <a:solidFill>
            <a:srgbClr val="9CDCF9"/>
          </a:solidFill>
        </p:grpSpPr>
        <p:sp>
          <p:nvSpPr>
            <p:cNvPr id="27" name="椭圆 26"/>
            <p:cNvSpPr/>
            <p:nvPr/>
          </p:nvSpPr>
          <p:spPr>
            <a:xfrm>
              <a:off x="3936460" y="1083848"/>
              <a:ext cx="706910" cy="1102503"/>
            </a:xfrm>
            <a:prstGeom prst="ellipse">
              <a:avLst/>
            </a:prstGeom>
            <a:solidFill>
              <a:srgbClr val="CCEDFC"/>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B0F0"/>
                </a:solidFill>
              </a:endParaRPr>
            </a:p>
          </p:txBody>
        </p:sp>
        <p:sp>
          <p:nvSpPr>
            <p:cNvPr id="28" name="文本框 27"/>
            <p:cNvSpPr txBox="1"/>
            <p:nvPr/>
          </p:nvSpPr>
          <p:spPr>
            <a:xfrm>
              <a:off x="3941731" y="1418443"/>
              <a:ext cx="932697" cy="367192"/>
            </a:xfrm>
            <a:prstGeom prst="rect">
              <a:avLst/>
            </a:prstGeom>
            <a:noFill/>
          </p:spPr>
          <p:txBody>
            <a:bodyPr wrap="square" lIns="0" tIns="0" rIns="0" bIns="0" rtlCol="0">
              <a:spAutoFit/>
            </a:bodyPr>
            <a:lstStyle/>
            <a:p>
              <a:r>
                <a:rPr lang="en-US" altLang="zh-CN" b="1" dirty="0">
                  <a:solidFill>
                    <a:srgbClr val="00B0F0"/>
                  </a:solidFill>
                  <a:latin typeface="Times New Roman" panose="02020603050405020304" pitchFamily="18" charset="0"/>
                  <a:cs typeface="Times New Roman" panose="02020603050405020304" pitchFamily="18" charset="0"/>
                </a:rPr>
                <a:t>Control</a:t>
              </a:r>
              <a:endParaRPr lang="zh-CN" altLang="en-US" b="1" dirty="0">
                <a:solidFill>
                  <a:srgbClr val="00B0F0"/>
                </a:solidFill>
                <a:latin typeface="Times New Roman" panose="02020603050405020304" pitchFamily="18" charset="0"/>
                <a:cs typeface="Times New Roman" panose="02020603050405020304" pitchFamily="18" charset="0"/>
              </a:endParaRPr>
            </a:p>
          </p:txBody>
        </p:sp>
      </p:grpSp>
      <p:grpSp>
        <p:nvGrpSpPr>
          <p:cNvPr id="29" name="组合 28"/>
          <p:cNvGrpSpPr/>
          <p:nvPr/>
        </p:nvGrpSpPr>
        <p:grpSpPr>
          <a:xfrm>
            <a:off x="6043295" y="2068195"/>
            <a:ext cx="1014730" cy="4107180"/>
            <a:chOff x="9529" y="3377"/>
            <a:chExt cx="1598" cy="6468"/>
          </a:xfrm>
        </p:grpSpPr>
        <p:sp>
          <p:nvSpPr>
            <p:cNvPr id="30" name="矩形 29"/>
            <p:cNvSpPr/>
            <p:nvPr/>
          </p:nvSpPr>
          <p:spPr>
            <a:xfrm>
              <a:off x="10160" y="3798"/>
              <a:ext cx="404" cy="434"/>
            </a:xfrm>
            <a:prstGeom prst="rect">
              <a:avLst/>
            </a:prstGeom>
            <a:noFill/>
            <a:ln w="25400">
              <a:noFill/>
            </a:ln>
          </p:spPr>
          <p:txBody>
            <a:bodyPr wrap="square" lIns="0" rIns="0">
              <a:spAutoFit/>
            </a:bodyPr>
            <a:lstStyle/>
            <a:p>
              <a:pPr algn="ctr" fontAlgn="base">
                <a:spcBef>
                  <a:spcPct val="0"/>
                </a:spcBef>
                <a:spcAft>
                  <a:spcPct val="0"/>
                </a:spcAft>
              </a:pPr>
              <a:r>
                <a:rPr lang="en-US" altLang="zh-CN"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WB</a:t>
              </a:r>
            </a:p>
          </p:txBody>
        </p:sp>
        <p:sp>
          <p:nvSpPr>
            <p:cNvPr id="31" name="矩形 30"/>
            <p:cNvSpPr/>
            <p:nvPr/>
          </p:nvSpPr>
          <p:spPr bwMode="auto">
            <a:xfrm>
              <a:off x="10083" y="4760"/>
              <a:ext cx="587" cy="5085"/>
            </a:xfrm>
            <a:prstGeom prst="rect">
              <a:avLst/>
            </a:prstGeom>
            <a:solidFill>
              <a:schemeClr val="bg2">
                <a:lumMod val="90000"/>
              </a:schemeClr>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32" name="组合 31"/>
            <p:cNvGrpSpPr/>
            <p:nvPr/>
          </p:nvGrpSpPr>
          <p:grpSpPr>
            <a:xfrm>
              <a:off x="10077" y="3864"/>
              <a:ext cx="601" cy="886"/>
              <a:chOff x="10099" y="3867"/>
              <a:chExt cx="607" cy="887"/>
            </a:xfrm>
          </p:grpSpPr>
          <p:sp>
            <p:nvSpPr>
              <p:cNvPr id="34" name="矩形 33"/>
              <p:cNvSpPr/>
              <p:nvPr/>
            </p:nvSpPr>
            <p:spPr bwMode="auto">
              <a:xfrm>
                <a:off x="10099" y="3867"/>
                <a:ext cx="607" cy="294"/>
              </a:xfrm>
              <a:prstGeom prst="rect">
                <a:avLst/>
              </a:prstGeom>
              <a:solidFill>
                <a:srgbClr val="9CDCF9"/>
              </a:solid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45720" rIns="0" bIns="45720" numCol="1" rtlCol="0" anchor="ctr" anchorCtr="0" compatLnSpc="1"/>
              <a:lstStyle/>
              <a:p>
                <a:pPr algn="ctr" fontAlgn="base">
                  <a:spcBef>
                    <a:spcPct val="0"/>
                  </a:spcBef>
                  <a:spcAft>
                    <a:spcPct val="0"/>
                  </a:spcAft>
                </a:pPr>
                <a:r>
                  <a:rPr lang="en-US" altLang="zh-CN"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WB</a:t>
                </a:r>
              </a:p>
            </p:txBody>
          </p:sp>
          <p:sp>
            <p:nvSpPr>
              <p:cNvPr id="35" name="矩形 34"/>
              <p:cNvSpPr/>
              <p:nvPr/>
            </p:nvSpPr>
            <p:spPr bwMode="auto">
              <a:xfrm>
                <a:off x="10099" y="4147"/>
                <a:ext cx="607" cy="294"/>
              </a:xfrm>
              <a:prstGeom prst="rect">
                <a:avLst/>
              </a:prstGeom>
              <a:solidFill>
                <a:srgbClr val="9CDCF9"/>
              </a:solid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 name="矩形 35"/>
              <p:cNvSpPr/>
              <p:nvPr/>
            </p:nvSpPr>
            <p:spPr bwMode="auto">
              <a:xfrm>
                <a:off x="10099" y="4460"/>
                <a:ext cx="607" cy="294"/>
              </a:xfrm>
              <a:prstGeom prst="rect">
                <a:avLst/>
              </a:prstGeom>
              <a:solidFill>
                <a:srgbClr val="9CDCF9"/>
              </a:solid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矩形 36"/>
              <p:cNvSpPr/>
              <p:nvPr/>
            </p:nvSpPr>
            <p:spPr>
              <a:xfrm>
                <a:off x="10183" y="4142"/>
                <a:ext cx="408" cy="388"/>
              </a:xfrm>
              <a:prstGeom prst="rect">
                <a:avLst/>
              </a:prstGeom>
              <a:noFill/>
              <a:ln w="25400">
                <a:noFill/>
              </a:ln>
            </p:spPr>
            <p:txBody>
              <a:bodyPr wrap="square" lIns="0" tIns="0" rIns="0" bIns="0">
                <a:spAutoFit/>
              </a:bodyPr>
              <a:lstStyle/>
              <a:p>
                <a:pPr algn="ctr" fontAlgn="base">
                  <a:spcBef>
                    <a:spcPct val="0"/>
                  </a:spcBef>
                  <a:spcAft>
                    <a:spcPct val="0"/>
                  </a:spcAft>
                </a:pP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M</a:t>
                </a:r>
              </a:p>
            </p:txBody>
          </p:sp>
        </p:grpSp>
        <p:grpSp>
          <p:nvGrpSpPr>
            <p:cNvPr id="38" name="组合 37"/>
            <p:cNvGrpSpPr/>
            <p:nvPr/>
          </p:nvGrpSpPr>
          <p:grpSpPr>
            <a:xfrm>
              <a:off x="9529" y="3377"/>
              <a:ext cx="1598" cy="1433"/>
              <a:chOff x="9529" y="3377"/>
              <a:chExt cx="1598" cy="1433"/>
            </a:xfrm>
          </p:grpSpPr>
          <p:sp>
            <p:nvSpPr>
              <p:cNvPr id="39" name="矩形 38"/>
              <p:cNvSpPr/>
              <p:nvPr/>
            </p:nvSpPr>
            <p:spPr>
              <a:xfrm>
                <a:off x="10115" y="4422"/>
                <a:ext cx="556" cy="388"/>
              </a:xfrm>
              <a:prstGeom prst="rect">
                <a:avLst/>
              </a:prstGeom>
              <a:noFill/>
              <a:ln w="25400">
                <a:noFill/>
              </a:ln>
            </p:spPr>
            <p:txBody>
              <a:bodyPr wrap="square" lIns="0" tIns="0" rIns="0" bIns="0">
                <a:spAutoFit/>
              </a:bodyPr>
              <a:lstStyle/>
              <a:p>
                <a:pPr algn="ctr" fontAlgn="base">
                  <a:spcBef>
                    <a:spcPct val="0"/>
                  </a:spcBef>
                  <a:spcAft>
                    <a:spcPct val="0"/>
                  </a:spcAft>
                </a:pP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EX</a:t>
                </a:r>
              </a:p>
            </p:txBody>
          </p:sp>
          <p:sp>
            <p:nvSpPr>
              <p:cNvPr id="41" name="矩形 40"/>
              <p:cNvSpPr/>
              <p:nvPr/>
            </p:nvSpPr>
            <p:spPr>
              <a:xfrm>
                <a:off x="9529" y="3377"/>
                <a:ext cx="1598" cy="436"/>
              </a:xfrm>
              <a:prstGeom prst="rect">
                <a:avLst/>
              </a:prstGeom>
              <a:ln w="25400">
                <a:noFill/>
              </a:ln>
            </p:spPr>
            <p:txBody>
              <a:bodyPr wrap="square" lIns="0" tIns="0" rIns="0" bIns="0">
                <a:spAutoFit/>
              </a:bodyPr>
              <a:lstStyle/>
              <a:p>
                <a:pPr lvl="0" algn="ctr">
                  <a:defRPr/>
                </a:pPr>
                <a:r>
                  <a:rPr lang="en-US" altLang="zh-CN" b="1" dirty="0">
                    <a:solidFill>
                      <a:prstClr val="black"/>
                    </a:solidFill>
                    <a:latin typeface="Times New Roman" panose="02020603050405020304" pitchFamily="18" charset="0"/>
                    <a:cs typeface="Times New Roman" panose="02020603050405020304" pitchFamily="18" charset="0"/>
                  </a:rPr>
                  <a:t>ID/EX</a:t>
                </a:r>
                <a:endParaRPr lang="zh-CN" altLang="en-US" b="1" dirty="0">
                  <a:solidFill>
                    <a:prstClr val="black"/>
                  </a:solidFill>
                  <a:latin typeface="Times New Roman" panose="02020603050405020304" pitchFamily="18" charset="0"/>
                  <a:cs typeface="Times New Roman" panose="02020603050405020304" pitchFamily="18" charset="0"/>
                </a:endParaRPr>
              </a:p>
            </p:txBody>
          </p:sp>
        </p:grpSp>
      </p:grpSp>
      <p:cxnSp>
        <p:nvCxnSpPr>
          <p:cNvPr id="196" name="直接箭头连接符 195"/>
          <p:cNvCxnSpPr/>
          <p:nvPr/>
        </p:nvCxnSpPr>
        <p:spPr bwMode="auto">
          <a:xfrm>
            <a:off x="3116657" y="1753245"/>
            <a:ext cx="436708"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8" name="矩形 187"/>
          <p:cNvSpPr/>
          <p:nvPr/>
        </p:nvSpPr>
        <p:spPr>
          <a:xfrm>
            <a:off x="695239" y="342367"/>
            <a:ext cx="1673559" cy="400110"/>
          </a:xfrm>
          <a:prstGeom prst="rect">
            <a:avLst/>
          </a:prstGeom>
          <a:ln w="25400">
            <a:noFill/>
          </a:ln>
        </p:spPr>
        <p:txBody>
          <a:bodyPr wrap="square">
            <a:spAutoFit/>
          </a:bodyPr>
          <a:lstStyle/>
          <a:p>
            <a:pPr lvl="0" algn="ctr">
              <a:defRPr/>
            </a:pPr>
            <a:r>
              <a:rPr lang="en-US" altLang="zh-CN" sz="2000" b="1" dirty="0" err="1">
                <a:latin typeface="Times New Roman" panose="02020603050405020304" pitchFamily="18" charset="0"/>
                <a:cs typeface="Times New Roman" panose="02020603050405020304" pitchFamily="18" charset="0"/>
              </a:rPr>
              <a:t>ld</a:t>
            </a:r>
            <a:r>
              <a:rPr lang="en-US" altLang="zh-CN" sz="2000" b="1" dirty="0">
                <a:latin typeface="Times New Roman" panose="02020603050405020304" pitchFamily="18" charset="0"/>
                <a:cs typeface="Times New Roman" panose="02020603050405020304" pitchFamily="18" charset="0"/>
              </a:rPr>
              <a:t> x4, 50(x7)</a:t>
            </a:r>
          </a:p>
        </p:txBody>
      </p:sp>
      <p:sp>
        <p:nvSpPr>
          <p:cNvPr id="189" name="矩形 188"/>
          <p:cNvSpPr/>
          <p:nvPr/>
        </p:nvSpPr>
        <p:spPr>
          <a:xfrm>
            <a:off x="3358463" y="342367"/>
            <a:ext cx="1673559" cy="461665"/>
          </a:xfrm>
          <a:prstGeom prst="rect">
            <a:avLst/>
          </a:prstGeom>
          <a:ln w="25400">
            <a:noFill/>
          </a:ln>
        </p:spPr>
        <p:txBody>
          <a:bodyPr wrap="square">
            <a:spAutoFit/>
          </a:bodyPr>
          <a:lstStyle/>
          <a:p>
            <a:pPr lvl="0" algn="ctr">
              <a:defRPr/>
            </a:pPr>
            <a:r>
              <a:rPr lang="en-US" altLang="zh-CN" sz="2400" b="1" dirty="0">
                <a:latin typeface="Times New Roman" panose="02020603050405020304" pitchFamily="18" charset="0"/>
                <a:cs typeface="Times New Roman" panose="02020603050405020304" pitchFamily="18" charset="0"/>
              </a:rPr>
              <a:t>Bubble</a:t>
            </a:r>
            <a:r>
              <a:rPr lang="en-US" altLang="zh-CN" sz="2000" b="1" dirty="0">
                <a:latin typeface="Times New Roman" panose="02020603050405020304" pitchFamily="18" charset="0"/>
                <a:cs typeface="Times New Roman" panose="02020603050405020304" pitchFamily="18" charset="0"/>
              </a:rPr>
              <a:t> (</a:t>
            </a:r>
            <a:r>
              <a:rPr lang="en-US" altLang="zh-CN" sz="2000" b="1" dirty="0" err="1">
                <a:latin typeface="Times New Roman" panose="02020603050405020304" pitchFamily="18" charset="0"/>
                <a:cs typeface="Times New Roman" panose="02020603050405020304" pitchFamily="18" charset="0"/>
              </a:rPr>
              <a:t>nop</a:t>
            </a:r>
            <a:r>
              <a:rPr lang="en-US" altLang="zh-CN" sz="2000" b="1" dirty="0">
                <a:latin typeface="Times New Roman" panose="02020603050405020304" pitchFamily="18" charset="0"/>
                <a:cs typeface="Times New Roman" panose="02020603050405020304" pitchFamily="18" charset="0"/>
              </a:rPr>
              <a:t>)</a:t>
            </a:r>
          </a:p>
        </p:txBody>
      </p:sp>
      <p:sp>
        <p:nvSpPr>
          <p:cNvPr id="190" name="矩形 189"/>
          <p:cNvSpPr/>
          <p:nvPr/>
        </p:nvSpPr>
        <p:spPr>
          <a:xfrm>
            <a:off x="9233704" y="308111"/>
            <a:ext cx="1673559" cy="400110"/>
          </a:xfrm>
          <a:prstGeom prst="rect">
            <a:avLst/>
          </a:prstGeom>
          <a:ln w="25400">
            <a:noFill/>
          </a:ln>
        </p:spPr>
        <p:txBody>
          <a:bodyPr wrap="square">
            <a:spAutoFit/>
          </a:bodyPr>
          <a:lstStyle/>
          <a:p>
            <a:pPr lvl="0" algn="ctr">
              <a:defRPr/>
            </a:pPr>
            <a:r>
              <a:rPr lang="en-US" altLang="zh-CN" sz="2000" b="1" dirty="0">
                <a:latin typeface="Times New Roman" panose="02020603050405020304" pitchFamily="18" charset="0"/>
                <a:cs typeface="Times New Roman" panose="02020603050405020304" pitchFamily="18" charset="0"/>
              </a:rPr>
              <a:t>sub x10, …</a:t>
            </a:r>
          </a:p>
        </p:txBody>
      </p:sp>
      <p:sp>
        <p:nvSpPr>
          <p:cNvPr id="191" name="矩形 190"/>
          <p:cNvSpPr/>
          <p:nvPr/>
        </p:nvSpPr>
        <p:spPr>
          <a:xfrm>
            <a:off x="10659981" y="304753"/>
            <a:ext cx="1673559" cy="400110"/>
          </a:xfrm>
          <a:prstGeom prst="rect">
            <a:avLst/>
          </a:prstGeom>
          <a:ln w="25400">
            <a:noFill/>
          </a:ln>
        </p:spPr>
        <p:txBody>
          <a:bodyPr wrap="square">
            <a:spAutoFit/>
          </a:bodyPr>
          <a:lstStyle/>
          <a:p>
            <a:pPr lvl="0" algn="ctr">
              <a:defRPr/>
            </a:pPr>
            <a:r>
              <a:rPr lang="en-GB" altLang="zh-CN" sz="2000" b="1" dirty="0">
                <a:latin typeface="Times New Roman" panose="02020603050405020304" pitchFamily="18" charset="0"/>
                <a:cs typeface="Times New Roman" panose="02020603050405020304" pitchFamily="18" charset="0"/>
              </a:rPr>
              <a:t>before</a:t>
            </a:r>
            <a:r>
              <a:rPr lang="en-GB" altLang="zh-CN" b="1" dirty="0">
                <a:latin typeface="Times New Roman" panose="02020603050405020304" pitchFamily="18" charset="0"/>
                <a:cs typeface="Times New Roman" panose="02020603050405020304" pitchFamily="18" charset="0"/>
              </a:rPr>
              <a:t>&lt;1&gt;</a:t>
            </a:r>
          </a:p>
        </p:txBody>
      </p:sp>
      <p:sp>
        <p:nvSpPr>
          <p:cNvPr id="193" name="矩形 192"/>
          <p:cNvSpPr/>
          <p:nvPr/>
        </p:nvSpPr>
        <p:spPr>
          <a:xfrm>
            <a:off x="7129355" y="340326"/>
            <a:ext cx="2024040" cy="400110"/>
          </a:xfrm>
          <a:prstGeom prst="rect">
            <a:avLst/>
          </a:prstGeom>
          <a:ln w="25400">
            <a:noFill/>
          </a:ln>
        </p:spPr>
        <p:txBody>
          <a:bodyPr wrap="square">
            <a:spAutoFit/>
          </a:bodyPr>
          <a:lstStyle/>
          <a:p>
            <a:pPr lvl="0" algn="ctr">
              <a:defRPr/>
            </a:pPr>
            <a:r>
              <a:rPr lang="en-GB" altLang="zh-CN" sz="2000" b="1" dirty="0" err="1">
                <a:latin typeface="Times New Roman" panose="02020603050405020304" pitchFamily="18" charset="0"/>
                <a:cs typeface="Times New Roman" panose="02020603050405020304" pitchFamily="18" charset="0"/>
              </a:rPr>
              <a:t>beq</a:t>
            </a:r>
            <a:r>
              <a:rPr lang="en-GB" altLang="zh-CN" sz="2000" b="1" dirty="0">
                <a:latin typeface="Times New Roman" panose="02020603050405020304" pitchFamily="18" charset="0"/>
                <a:cs typeface="Times New Roman" panose="02020603050405020304" pitchFamily="18" charset="0"/>
              </a:rPr>
              <a:t> x1, x3, label</a:t>
            </a:r>
          </a:p>
        </p:txBody>
      </p:sp>
      <p:grpSp>
        <p:nvGrpSpPr>
          <p:cNvPr id="199" name="Mux 3"/>
          <p:cNvGrpSpPr/>
          <p:nvPr/>
        </p:nvGrpSpPr>
        <p:grpSpPr>
          <a:xfrm>
            <a:off x="525047" y="3701447"/>
            <a:ext cx="278377" cy="933746"/>
            <a:chOff x="3631044" y="5448299"/>
            <a:chExt cx="781892" cy="1230515"/>
          </a:xfrm>
        </p:grpSpPr>
        <p:sp>
          <p:nvSpPr>
            <p:cNvPr id="200" name="mux"/>
            <p:cNvSpPr/>
            <p:nvPr/>
          </p:nvSpPr>
          <p:spPr>
            <a:xfrm rot="5400000">
              <a:off x="3360534" y="5718809"/>
              <a:ext cx="1230515" cy="689495"/>
            </a:xfrm>
            <a:prstGeom prst="flowChartTerminator">
              <a:avLst/>
            </a:prstGeom>
            <a:solidFill>
              <a:schemeClr val="bg2">
                <a:lumMod val="90000"/>
              </a:schemeClr>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202" name="文本框 201"/>
            <p:cNvSpPr txBox="1"/>
            <p:nvPr/>
          </p:nvSpPr>
          <p:spPr>
            <a:xfrm>
              <a:off x="3680029" y="5538959"/>
              <a:ext cx="732907" cy="1037397"/>
            </a:xfrm>
            <a:prstGeom prst="rect">
              <a:avLst/>
            </a:prstGeom>
            <a:noFill/>
            <a:ln w="25400">
              <a:noFill/>
            </a:ln>
          </p:spPr>
          <p:txBody>
            <a:bodyPr wrap="square" rtlCol="0">
              <a:spAutoFit/>
            </a:bodyPr>
            <a:lstStyle/>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cxnSp>
        <p:nvCxnSpPr>
          <p:cNvPr id="182" name="直接箭头连接符 181"/>
          <p:cNvCxnSpPr/>
          <p:nvPr/>
        </p:nvCxnSpPr>
        <p:spPr bwMode="auto">
          <a:xfrm>
            <a:off x="10427133" y="4007353"/>
            <a:ext cx="174867" cy="5388"/>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3" name="直接连接符 182"/>
          <p:cNvCxnSpPr/>
          <p:nvPr/>
        </p:nvCxnSpPr>
        <p:spPr bwMode="auto">
          <a:xfrm>
            <a:off x="10808332" y="2972320"/>
            <a:ext cx="360000" cy="0"/>
          </a:xfrm>
          <a:prstGeom prst="line">
            <a:avLst/>
          </a:prstGeom>
          <a:noFill/>
          <a:ln w="25400" cap="flat" cmpd="sng" algn="ctr">
            <a:solidFill>
              <a:srgbClr val="00B0F0"/>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6" name="直接连接符 159"/>
          <p:cNvCxnSpPr>
            <a:endCxn id="204" idx="1"/>
          </p:cNvCxnSpPr>
          <p:nvPr/>
        </p:nvCxnSpPr>
        <p:spPr bwMode="auto">
          <a:xfrm>
            <a:off x="9424670" y="2792095"/>
            <a:ext cx="1177330" cy="178386"/>
          </a:xfrm>
          <a:prstGeom prst="bentConnector3">
            <a:avLst>
              <a:gd name="adj1" fmla="val 50000"/>
            </a:avLst>
          </a:prstGeom>
          <a:noFill/>
          <a:ln w="25400" cap="flat" cmpd="sng" algn="ctr">
            <a:solidFill>
              <a:srgbClr val="00B0F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7" name="直接箭头连接符 153"/>
          <p:cNvCxnSpPr>
            <a:endCxn id="323" idx="1"/>
          </p:cNvCxnSpPr>
          <p:nvPr/>
        </p:nvCxnSpPr>
        <p:spPr bwMode="auto">
          <a:xfrm>
            <a:off x="6809614" y="2742673"/>
            <a:ext cx="2241784" cy="177057"/>
          </a:xfrm>
          <a:prstGeom prst="bentConnector3">
            <a:avLst>
              <a:gd name="adj1" fmla="val 50000"/>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3" name="矩形 202"/>
          <p:cNvSpPr/>
          <p:nvPr/>
        </p:nvSpPr>
        <p:spPr bwMode="auto">
          <a:xfrm>
            <a:off x="10603230" y="3098165"/>
            <a:ext cx="360000" cy="2723515"/>
          </a:xfrm>
          <a:prstGeom prst="rect">
            <a:avLst/>
          </a:prstGeom>
          <a:solidFill>
            <a:schemeClr val="bg1"/>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4" name="矩形 203"/>
          <p:cNvSpPr/>
          <p:nvPr/>
        </p:nvSpPr>
        <p:spPr bwMode="auto">
          <a:xfrm>
            <a:off x="10602000" y="2844701"/>
            <a:ext cx="360000" cy="251559"/>
          </a:xfrm>
          <a:prstGeom prst="rect">
            <a:avLst/>
          </a:prstGeom>
          <a:solidFill>
            <a:srgbClr val="9CDCF9"/>
          </a:solid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136525" rIns="0" bIns="136525" numCol="1" rtlCol="0" anchor="ctr" anchorCtr="0" compatLnSpc="1"/>
          <a:lstStyle/>
          <a:p>
            <a:pPr algn="ctr" fontAlgn="base">
              <a:spcBef>
                <a:spcPct val="0"/>
              </a:spcBef>
              <a:spcAft>
                <a:spcPct val="0"/>
              </a:spcAft>
            </a:pPr>
            <a:r>
              <a:rPr lang="en-GB"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W</a:t>
            </a: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rPr>
              <a:t>B</a:t>
            </a:r>
          </a:p>
        </p:txBody>
      </p:sp>
      <p:cxnSp>
        <p:nvCxnSpPr>
          <p:cNvPr id="206" name="直接连接符 205"/>
          <p:cNvCxnSpPr/>
          <p:nvPr/>
        </p:nvCxnSpPr>
        <p:spPr bwMode="auto">
          <a:xfrm>
            <a:off x="7400635" y="6337038"/>
            <a:ext cx="2315640"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 name="直接连接符 206"/>
          <p:cNvCxnSpPr/>
          <p:nvPr/>
        </p:nvCxnSpPr>
        <p:spPr bwMode="auto">
          <a:xfrm>
            <a:off x="9441547" y="5334265"/>
            <a:ext cx="1153873"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8" name="直接箭头连接符 207"/>
          <p:cNvCxnSpPr/>
          <p:nvPr/>
        </p:nvCxnSpPr>
        <p:spPr bwMode="auto">
          <a:xfrm flipV="1">
            <a:off x="6767830" y="5686306"/>
            <a:ext cx="756250" cy="3284"/>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0" name="直接箭头连接符 209"/>
          <p:cNvCxnSpPr/>
          <p:nvPr/>
        </p:nvCxnSpPr>
        <p:spPr bwMode="auto">
          <a:xfrm>
            <a:off x="6754030" y="5329825"/>
            <a:ext cx="2313878" cy="7718"/>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1" name="直接箭头连接符 210"/>
          <p:cNvCxnSpPr/>
          <p:nvPr/>
        </p:nvCxnSpPr>
        <p:spPr bwMode="auto">
          <a:xfrm>
            <a:off x="9716275" y="5116661"/>
            <a:ext cx="879145" cy="0"/>
          </a:xfrm>
          <a:prstGeom prst="straightConnector1">
            <a:avLst/>
          </a:prstGeom>
          <a:noFill/>
          <a:ln w="25400" cap="flat" cmpd="sng" algn="ctr">
            <a:solidFill>
              <a:schemeClr val="tx1"/>
            </a:solidFill>
            <a:prstDash val="solid"/>
            <a:round/>
            <a:headEnd type="oval"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2" name="直接箭头连接符 385"/>
          <p:cNvCxnSpPr/>
          <p:nvPr/>
        </p:nvCxnSpPr>
        <p:spPr bwMode="auto">
          <a:xfrm rot="5400000">
            <a:off x="7741404" y="3896390"/>
            <a:ext cx="2979471" cy="778500"/>
          </a:xfrm>
          <a:prstGeom prst="bentConnector3">
            <a:avLst>
              <a:gd name="adj1" fmla="val 100057"/>
            </a:avLst>
          </a:prstGeom>
          <a:noFill/>
          <a:ln w="25400" cap="flat" cmpd="sng" algn="ctr">
            <a:solidFill>
              <a:srgbClr val="00B0F0"/>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3" name="直接连接符 212"/>
          <p:cNvCxnSpPr/>
          <p:nvPr/>
        </p:nvCxnSpPr>
        <p:spPr bwMode="auto">
          <a:xfrm>
            <a:off x="8827497" y="5620929"/>
            <a:ext cx="681519" cy="0"/>
          </a:xfrm>
          <a:prstGeom prst="line">
            <a:avLst/>
          </a:prstGeom>
          <a:noFill/>
          <a:ln w="25400" cap="flat" cmpd="sng" algn="ctr">
            <a:solidFill>
              <a:schemeClr val="tx1"/>
            </a:solidFill>
            <a:prstDash val="solid"/>
            <a:round/>
            <a:headEnd type="triangl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6" name="直接箭头连接符 215"/>
          <p:cNvCxnSpPr/>
          <p:nvPr/>
        </p:nvCxnSpPr>
        <p:spPr bwMode="auto">
          <a:xfrm>
            <a:off x="11165090" y="983469"/>
            <a:ext cx="0" cy="5045771"/>
          </a:xfrm>
          <a:prstGeom prst="straightConnector1">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1" name="直接连接符 220"/>
          <p:cNvCxnSpPr/>
          <p:nvPr/>
        </p:nvCxnSpPr>
        <p:spPr bwMode="auto">
          <a:xfrm>
            <a:off x="8828925" y="6029240"/>
            <a:ext cx="2336165" cy="0"/>
          </a:xfrm>
          <a:prstGeom prst="line">
            <a:avLst/>
          </a:prstGeom>
          <a:noFill/>
          <a:ln w="25400" cap="flat" cmpd="sng" algn="ctr">
            <a:solidFill>
              <a:srgbClr val="00B0F0"/>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7" name="直接连接符 226"/>
          <p:cNvCxnSpPr/>
          <p:nvPr/>
        </p:nvCxnSpPr>
        <p:spPr bwMode="auto">
          <a:xfrm>
            <a:off x="10960499" y="5300121"/>
            <a:ext cx="115415"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直接连接符 229"/>
          <p:cNvCxnSpPr/>
          <p:nvPr/>
        </p:nvCxnSpPr>
        <p:spPr bwMode="auto">
          <a:xfrm flipV="1">
            <a:off x="8839554" y="5892888"/>
            <a:ext cx="2245482" cy="11282"/>
          </a:xfrm>
          <a:prstGeom prst="line">
            <a:avLst/>
          </a:prstGeom>
          <a:noFill/>
          <a:ln w="25400" cap="flat" cmpd="sng" algn="ctr">
            <a:solidFill>
              <a:schemeClr val="tx1"/>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2" name="直接箭头连接符 231"/>
          <p:cNvCxnSpPr/>
          <p:nvPr/>
        </p:nvCxnSpPr>
        <p:spPr bwMode="auto">
          <a:xfrm>
            <a:off x="11075914" y="5297444"/>
            <a:ext cx="0" cy="606726"/>
          </a:xfrm>
          <a:prstGeom prst="straightConnector1">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3" name="连接符: 肘形 232"/>
          <p:cNvCxnSpPr>
            <a:endCxn id="274" idx="3"/>
          </p:cNvCxnSpPr>
          <p:nvPr/>
        </p:nvCxnSpPr>
        <p:spPr bwMode="auto">
          <a:xfrm rot="10800000">
            <a:off x="7697418" y="3932796"/>
            <a:ext cx="415708" cy="122715"/>
          </a:xfrm>
          <a:prstGeom prst="bentConnector2">
            <a:avLst/>
          </a:prstGeom>
          <a:solidFill>
            <a:schemeClr val="accent1"/>
          </a:solid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4" name="矩形 233"/>
          <p:cNvSpPr/>
          <p:nvPr/>
        </p:nvSpPr>
        <p:spPr bwMode="auto">
          <a:xfrm>
            <a:off x="9859831" y="3626448"/>
            <a:ext cx="583541" cy="1309728"/>
          </a:xfrm>
          <a:prstGeom prst="rect">
            <a:avLst/>
          </a:pr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36195" rIns="0" bIns="45720" numCol="1" rtlCol="0" anchor="t" anchorCtr="0" compatLnSpc="1"/>
          <a:lstStyle/>
          <a:p>
            <a:pPr algn="ctr" fontAlgn="base">
              <a:spcBef>
                <a:spcPct val="0"/>
              </a:spcBef>
              <a:spcAft>
                <a:spcPct val="0"/>
              </a:spcAft>
            </a:pPr>
            <a:endParaRPr lang="en-US" altLang="zh-CN" sz="1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gn="ctr" fontAlgn="base">
              <a:spcBef>
                <a:spcPct val="0"/>
              </a:spcBef>
              <a:spcAft>
                <a:spcPct val="0"/>
              </a:spcAft>
            </a:pPr>
            <a:r>
              <a:rPr lang="en-US" altLang="zh-CN"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DM</a:t>
            </a:r>
          </a:p>
        </p:txBody>
      </p:sp>
      <p:cxnSp>
        <p:nvCxnSpPr>
          <p:cNvPr id="236" name="直接箭头连接符 235"/>
          <p:cNvCxnSpPr/>
          <p:nvPr/>
        </p:nvCxnSpPr>
        <p:spPr bwMode="auto">
          <a:xfrm>
            <a:off x="9414961" y="4004908"/>
            <a:ext cx="451580"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8" name="梯形 43"/>
          <p:cNvSpPr/>
          <p:nvPr/>
        </p:nvSpPr>
        <p:spPr bwMode="auto">
          <a:xfrm rot="5400000">
            <a:off x="8001181" y="3670162"/>
            <a:ext cx="1292857" cy="371529"/>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solidFill>
            <a:schemeClr val="bg2">
              <a:lumMod val="90000"/>
            </a:schemeClr>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algn="ctr" fontAlgn="base">
              <a:spcBef>
                <a:spcPct val="0"/>
              </a:spcBef>
              <a:spcAft>
                <a:spcPct val="0"/>
              </a:spcAft>
            </a:pPr>
            <a:r>
              <a:rPr lang="en-US" altLang="zh-CN" sz="1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p>
          <a:p>
            <a:pPr algn="ctr" fontAlgn="base">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L</a:t>
            </a:r>
          </a:p>
          <a:p>
            <a:pPr algn="ctr" fontAlgn="base">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U</a:t>
            </a:r>
            <a:endParaRPr lang="zh-CN" altLang="en-US" sz="1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41" name="直接箭头连接符 240"/>
          <p:cNvCxnSpPr/>
          <p:nvPr/>
        </p:nvCxnSpPr>
        <p:spPr bwMode="auto">
          <a:xfrm>
            <a:off x="6768465" y="4315727"/>
            <a:ext cx="809559"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2" name="直接箭头连接符 241"/>
          <p:cNvCxnSpPr/>
          <p:nvPr/>
        </p:nvCxnSpPr>
        <p:spPr bwMode="auto">
          <a:xfrm>
            <a:off x="7400635" y="3857080"/>
            <a:ext cx="169641" cy="1"/>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4" name="直接连接符 243"/>
          <p:cNvCxnSpPr/>
          <p:nvPr/>
        </p:nvCxnSpPr>
        <p:spPr bwMode="auto">
          <a:xfrm>
            <a:off x="7400635" y="3855926"/>
            <a:ext cx="0" cy="2477878"/>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5" name="直接箭头连接符 244"/>
          <p:cNvCxnSpPr/>
          <p:nvPr/>
        </p:nvCxnSpPr>
        <p:spPr bwMode="auto">
          <a:xfrm>
            <a:off x="6747799" y="3697085"/>
            <a:ext cx="815573" cy="2662"/>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7" name="直接箭头连接符 246"/>
          <p:cNvCxnSpPr/>
          <p:nvPr/>
        </p:nvCxnSpPr>
        <p:spPr bwMode="auto">
          <a:xfrm>
            <a:off x="7257113" y="4494748"/>
            <a:ext cx="327841" cy="0"/>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8" name="直接箭头连接符 247"/>
          <p:cNvCxnSpPr/>
          <p:nvPr/>
        </p:nvCxnSpPr>
        <p:spPr bwMode="auto">
          <a:xfrm>
            <a:off x="8247115" y="4699405"/>
            <a:ext cx="820793"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0" name="直接箭头连接符 249"/>
          <p:cNvCxnSpPr/>
          <p:nvPr/>
        </p:nvCxnSpPr>
        <p:spPr bwMode="auto">
          <a:xfrm>
            <a:off x="7400635" y="4652649"/>
            <a:ext cx="169641" cy="0"/>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2" name="直接箭头连接符 251"/>
          <p:cNvCxnSpPr>
            <a:stCxn id="277" idx="0"/>
          </p:cNvCxnSpPr>
          <p:nvPr/>
        </p:nvCxnSpPr>
        <p:spPr bwMode="auto">
          <a:xfrm>
            <a:off x="7825377" y="4494748"/>
            <a:ext cx="641193" cy="3867"/>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3" name="直接连接符 252"/>
          <p:cNvCxnSpPr/>
          <p:nvPr/>
        </p:nvCxnSpPr>
        <p:spPr bwMode="auto">
          <a:xfrm flipV="1">
            <a:off x="8247116" y="4482301"/>
            <a:ext cx="0" cy="242099"/>
          </a:xfrm>
          <a:prstGeom prst="line">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5" name="直接箭头连接符 254"/>
          <p:cNvCxnSpPr/>
          <p:nvPr/>
        </p:nvCxnSpPr>
        <p:spPr bwMode="auto">
          <a:xfrm>
            <a:off x="9718280" y="4012741"/>
            <a:ext cx="0" cy="2305153"/>
          </a:xfrm>
          <a:prstGeom prst="straightConnector1">
            <a:avLst/>
          </a:prstGeom>
          <a:noFill/>
          <a:ln w="25400" cap="flat" cmpd="sng" algn="ctr">
            <a:solidFill>
              <a:schemeClr val="tx1"/>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 name="直接连接符 256"/>
          <p:cNvCxnSpPr/>
          <p:nvPr/>
        </p:nvCxnSpPr>
        <p:spPr bwMode="auto">
          <a:xfrm>
            <a:off x="9429014" y="4680191"/>
            <a:ext cx="430817"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8" name="直接连接符 257"/>
          <p:cNvCxnSpPr/>
          <p:nvPr/>
        </p:nvCxnSpPr>
        <p:spPr bwMode="auto">
          <a:xfrm flipV="1">
            <a:off x="11074126" y="4197640"/>
            <a:ext cx="228062" cy="375"/>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9" name="直接连接符 258"/>
          <p:cNvCxnSpPr/>
          <p:nvPr/>
        </p:nvCxnSpPr>
        <p:spPr bwMode="auto">
          <a:xfrm>
            <a:off x="10960499" y="3933701"/>
            <a:ext cx="339508"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0" name="直接箭头连接符 259"/>
          <p:cNvCxnSpPr/>
          <p:nvPr/>
        </p:nvCxnSpPr>
        <p:spPr bwMode="auto">
          <a:xfrm>
            <a:off x="11076158" y="4178288"/>
            <a:ext cx="3174" cy="926372"/>
          </a:xfrm>
          <a:prstGeom prst="straightConnector1">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1" name="直接连接符 260"/>
          <p:cNvCxnSpPr/>
          <p:nvPr/>
        </p:nvCxnSpPr>
        <p:spPr bwMode="auto">
          <a:xfrm>
            <a:off x="10962000" y="5096015"/>
            <a:ext cx="123036"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4" name="直接连接符 263"/>
          <p:cNvCxnSpPr/>
          <p:nvPr/>
        </p:nvCxnSpPr>
        <p:spPr bwMode="auto">
          <a:xfrm>
            <a:off x="11603765" y="4055512"/>
            <a:ext cx="205857"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6" name="直接箭头连接符 265"/>
          <p:cNvCxnSpPr/>
          <p:nvPr/>
        </p:nvCxnSpPr>
        <p:spPr bwMode="auto">
          <a:xfrm flipH="1">
            <a:off x="11799036" y="4055510"/>
            <a:ext cx="0" cy="2478913"/>
          </a:xfrm>
          <a:prstGeom prst="straightConnector1">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8" name="直接箭头连接符 267"/>
          <p:cNvCxnSpPr/>
          <p:nvPr/>
        </p:nvCxnSpPr>
        <p:spPr bwMode="auto">
          <a:xfrm>
            <a:off x="9509016" y="5329825"/>
            <a:ext cx="0" cy="311304"/>
          </a:xfrm>
          <a:prstGeom prst="straightConnector1">
            <a:avLst/>
          </a:prstGeom>
          <a:noFill/>
          <a:ln w="25400" cap="flat" cmpd="sng" algn="ctr">
            <a:solidFill>
              <a:schemeClr val="tx1"/>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9" name="直接连接符 268"/>
          <p:cNvCxnSpPr/>
          <p:nvPr/>
        </p:nvCxnSpPr>
        <p:spPr>
          <a:xfrm flipH="1">
            <a:off x="8103870" y="4070544"/>
            <a:ext cx="9256" cy="1482981"/>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1" name="直接连接符 270"/>
          <p:cNvCxnSpPr/>
          <p:nvPr/>
        </p:nvCxnSpPr>
        <p:spPr>
          <a:xfrm>
            <a:off x="7952418" y="5099376"/>
            <a:ext cx="0" cy="451210"/>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73" name="Mux 3"/>
          <p:cNvGrpSpPr/>
          <p:nvPr/>
        </p:nvGrpSpPr>
        <p:grpSpPr>
          <a:xfrm>
            <a:off x="7485162" y="3192291"/>
            <a:ext cx="426720" cy="805228"/>
            <a:chOff x="3429899" y="5448299"/>
            <a:chExt cx="1097464" cy="1338068"/>
          </a:xfrm>
        </p:grpSpPr>
        <p:sp>
          <p:nvSpPr>
            <p:cNvPr id="274" name="mux"/>
            <p:cNvSpPr/>
            <p:nvPr/>
          </p:nvSpPr>
          <p:spPr>
            <a:xfrm rot="5400000">
              <a:off x="3360534" y="5718809"/>
              <a:ext cx="1230515" cy="689495"/>
            </a:xfrm>
            <a:prstGeom prst="flowChartTerminator">
              <a:avLst/>
            </a:prstGeom>
            <a:solidFill>
              <a:schemeClr val="bg2">
                <a:lumMod val="90000"/>
              </a:schemeClr>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275" name="文本框 274"/>
            <p:cNvSpPr txBox="1"/>
            <p:nvPr/>
          </p:nvSpPr>
          <p:spPr>
            <a:xfrm>
              <a:off x="3429899" y="5478252"/>
              <a:ext cx="1097464" cy="1308115"/>
            </a:xfrm>
            <a:prstGeom prst="rect">
              <a:avLst/>
            </a:prstGeom>
            <a:noFill/>
            <a:ln w="25400">
              <a:noFill/>
            </a:ln>
          </p:spPr>
          <p:txBody>
            <a:bodyPr wrap="none" rtlCol="0">
              <a:spAutoFit/>
            </a:bodyPr>
            <a:lstStyle/>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grpSp>
        <p:nvGrpSpPr>
          <p:cNvPr id="276" name="Mux 3"/>
          <p:cNvGrpSpPr/>
          <p:nvPr/>
        </p:nvGrpSpPr>
        <p:grpSpPr>
          <a:xfrm>
            <a:off x="7501671" y="4083331"/>
            <a:ext cx="426720" cy="836932"/>
            <a:chOff x="3389700" y="5448299"/>
            <a:chExt cx="1227068" cy="1251589"/>
          </a:xfrm>
        </p:grpSpPr>
        <p:sp>
          <p:nvSpPr>
            <p:cNvPr id="277" name="mux"/>
            <p:cNvSpPr/>
            <p:nvPr/>
          </p:nvSpPr>
          <p:spPr>
            <a:xfrm rot="5400000">
              <a:off x="3360534" y="5718809"/>
              <a:ext cx="1230515" cy="689495"/>
            </a:xfrm>
            <a:prstGeom prst="flowChartTerminator">
              <a:avLst/>
            </a:prstGeom>
            <a:solidFill>
              <a:schemeClr val="bg2">
                <a:lumMod val="90000"/>
              </a:schemeClr>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278" name="文本框 277"/>
            <p:cNvSpPr txBox="1"/>
            <p:nvPr/>
          </p:nvSpPr>
          <p:spPr>
            <a:xfrm>
              <a:off x="3389700" y="5522666"/>
              <a:ext cx="1227068" cy="1177222"/>
            </a:xfrm>
            <a:prstGeom prst="rect">
              <a:avLst/>
            </a:prstGeom>
            <a:noFill/>
            <a:ln w="25400">
              <a:noFill/>
            </a:ln>
          </p:spPr>
          <p:txBody>
            <a:bodyPr wrap="none" rtlCol="0">
              <a:spAutoFit/>
            </a:bodyPr>
            <a:lstStyle/>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grpSp>
        <p:nvGrpSpPr>
          <p:cNvPr id="280" name="Mux 3"/>
          <p:cNvGrpSpPr/>
          <p:nvPr/>
        </p:nvGrpSpPr>
        <p:grpSpPr>
          <a:xfrm>
            <a:off x="11232300" y="3663384"/>
            <a:ext cx="426719" cy="836042"/>
            <a:chOff x="3477358" y="5448299"/>
            <a:chExt cx="968604" cy="1252706"/>
          </a:xfrm>
        </p:grpSpPr>
        <p:sp>
          <p:nvSpPr>
            <p:cNvPr id="282" name="mux"/>
            <p:cNvSpPr/>
            <p:nvPr/>
          </p:nvSpPr>
          <p:spPr>
            <a:xfrm rot="5400000">
              <a:off x="3360535" y="5718809"/>
              <a:ext cx="1230515" cy="689496"/>
            </a:xfrm>
            <a:prstGeom prst="flowChartTerminator">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284" name="文本框 283"/>
            <p:cNvSpPr txBox="1"/>
            <p:nvPr/>
          </p:nvSpPr>
          <p:spPr>
            <a:xfrm>
              <a:off x="3477358" y="5521478"/>
              <a:ext cx="968604" cy="1179527"/>
            </a:xfrm>
            <a:prstGeom prst="rect">
              <a:avLst/>
            </a:prstGeom>
            <a:noFill/>
            <a:ln w="25400">
              <a:noFill/>
            </a:ln>
          </p:spPr>
          <p:txBody>
            <a:bodyPr wrap="none" rtlCol="0">
              <a:spAutoFit/>
            </a:bodyPr>
            <a:lstStyle/>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defRPr/>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sp>
        <p:nvSpPr>
          <p:cNvPr id="286" name="矩形: 圆角 285"/>
          <p:cNvSpPr/>
          <p:nvPr/>
        </p:nvSpPr>
        <p:spPr>
          <a:xfrm>
            <a:off x="7534664" y="5534323"/>
            <a:ext cx="1286218" cy="513736"/>
          </a:xfrm>
          <a:prstGeom prst="round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287" name="文本框 286"/>
          <p:cNvSpPr txBox="1"/>
          <p:nvPr/>
        </p:nvSpPr>
        <p:spPr>
          <a:xfrm>
            <a:off x="7408712" y="5542982"/>
            <a:ext cx="1554331" cy="556371"/>
          </a:xfrm>
          <a:prstGeom prst="rect">
            <a:avLst/>
          </a:prstGeom>
          <a:noFill/>
        </p:spPr>
        <p:txBody>
          <a:bodyPr wrap="square" rtlCol="0">
            <a:spAutoFit/>
          </a:bodyPr>
          <a:lstStyle/>
          <a:p>
            <a:pPr algn="ctr">
              <a:lnSpc>
                <a:spcPts val="1800"/>
              </a:lnSpc>
            </a:pPr>
            <a:r>
              <a:rPr lang="en-US" altLang="zh-CN" sz="2000" b="1" dirty="0">
                <a:solidFill>
                  <a:srgbClr val="00B0F0"/>
                </a:solidFill>
                <a:latin typeface="Times New Roman" panose="02020603050405020304" pitchFamily="18" charset="0"/>
                <a:cs typeface="Times New Roman" panose="02020603050405020304" pitchFamily="18" charset="0"/>
              </a:rPr>
              <a:t>Forwarding unit</a:t>
            </a:r>
            <a:endParaRPr lang="zh-CN" altLang="en-US" sz="2000" b="1" dirty="0">
              <a:solidFill>
                <a:srgbClr val="00B0F0"/>
              </a:solidFill>
              <a:latin typeface="Times New Roman" panose="02020603050405020304" pitchFamily="18" charset="0"/>
              <a:cs typeface="Times New Roman" panose="02020603050405020304" pitchFamily="18" charset="0"/>
            </a:endParaRPr>
          </a:p>
        </p:txBody>
      </p:sp>
      <p:cxnSp>
        <p:nvCxnSpPr>
          <p:cNvPr id="289" name="连接符: 肘形 288"/>
          <p:cNvCxnSpPr/>
          <p:nvPr/>
        </p:nvCxnSpPr>
        <p:spPr bwMode="auto">
          <a:xfrm rot="10800000">
            <a:off x="7705489" y="4897290"/>
            <a:ext cx="246930" cy="210495"/>
          </a:xfrm>
          <a:prstGeom prst="bentConnector2">
            <a:avLst/>
          </a:prstGeom>
          <a:solidFill>
            <a:schemeClr val="accent1"/>
          </a:solid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1" name="矩形 290"/>
          <p:cNvSpPr/>
          <p:nvPr/>
        </p:nvSpPr>
        <p:spPr>
          <a:xfrm>
            <a:off x="8637938" y="2146864"/>
            <a:ext cx="1267599" cy="400110"/>
          </a:xfrm>
          <a:prstGeom prst="rect">
            <a:avLst/>
          </a:prstGeom>
          <a:ln w="25400">
            <a:noFill/>
          </a:ln>
        </p:spPr>
        <p:txBody>
          <a:bodyPr wrap="square">
            <a:spAutoFit/>
          </a:bodyPr>
          <a:lstStyle/>
          <a:p>
            <a:pPr algn="ctr">
              <a:defRPr/>
            </a:pPr>
            <a:r>
              <a:rPr lang="en-US" altLang="zh-CN" sz="2000" b="1" dirty="0">
                <a:solidFill>
                  <a:prstClr val="black"/>
                </a:solidFill>
                <a:latin typeface="Times New Roman" panose="02020603050405020304" pitchFamily="18" charset="0"/>
                <a:cs typeface="Times New Roman" panose="02020603050405020304" pitchFamily="18" charset="0"/>
              </a:rPr>
              <a:t>EX/MEM</a:t>
            </a:r>
            <a:endParaRPr lang="zh-CN" altLang="en-US" sz="2000" b="1" dirty="0">
              <a:solidFill>
                <a:prstClr val="black"/>
              </a:solidFill>
              <a:latin typeface="Times New Roman" panose="02020603050405020304" pitchFamily="18" charset="0"/>
              <a:cs typeface="Times New Roman" panose="02020603050405020304" pitchFamily="18" charset="0"/>
            </a:endParaRPr>
          </a:p>
        </p:txBody>
      </p:sp>
      <p:sp>
        <p:nvSpPr>
          <p:cNvPr id="295" name="矩形 294"/>
          <p:cNvSpPr/>
          <p:nvPr/>
        </p:nvSpPr>
        <p:spPr>
          <a:xfrm>
            <a:off x="9930721" y="2484737"/>
            <a:ext cx="1464264" cy="400110"/>
          </a:xfrm>
          <a:prstGeom prst="rect">
            <a:avLst/>
          </a:prstGeom>
          <a:ln w="25400">
            <a:noFill/>
          </a:ln>
        </p:spPr>
        <p:txBody>
          <a:bodyPr wrap="square">
            <a:spAutoFit/>
          </a:bodyPr>
          <a:lstStyle/>
          <a:p>
            <a:pPr algn="ctr">
              <a:defRPr/>
            </a:pPr>
            <a:r>
              <a:rPr lang="en-US" altLang="zh-CN" sz="2000" b="1" dirty="0">
                <a:solidFill>
                  <a:prstClr val="black"/>
                </a:solidFill>
                <a:latin typeface="Times New Roman" panose="02020603050405020304" pitchFamily="18" charset="0"/>
                <a:cs typeface="Times New Roman" panose="02020603050405020304" pitchFamily="18" charset="0"/>
              </a:rPr>
              <a:t>MEM/WB</a:t>
            </a:r>
            <a:endParaRPr lang="zh-CN" altLang="en-US" sz="2000" b="1" dirty="0">
              <a:solidFill>
                <a:prstClr val="black"/>
              </a:solidFill>
              <a:latin typeface="Times New Roman" panose="02020603050405020304" pitchFamily="18" charset="0"/>
              <a:cs typeface="Times New Roman" panose="02020603050405020304" pitchFamily="18" charset="0"/>
            </a:endParaRPr>
          </a:p>
        </p:txBody>
      </p:sp>
      <p:cxnSp>
        <p:nvCxnSpPr>
          <p:cNvPr id="296" name="直接箭头连接符 295"/>
          <p:cNvCxnSpPr/>
          <p:nvPr/>
        </p:nvCxnSpPr>
        <p:spPr bwMode="auto">
          <a:xfrm>
            <a:off x="7248235" y="3533702"/>
            <a:ext cx="324623"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8" name="直接箭头连接符 297"/>
          <p:cNvCxnSpPr/>
          <p:nvPr/>
        </p:nvCxnSpPr>
        <p:spPr bwMode="auto">
          <a:xfrm>
            <a:off x="6767830" y="5950851"/>
            <a:ext cx="774391"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5" name="直接箭头连接符 153"/>
          <p:cNvCxnSpPr>
            <a:endCxn id="317" idx="1"/>
          </p:cNvCxnSpPr>
          <p:nvPr/>
        </p:nvCxnSpPr>
        <p:spPr bwMode="auto">
          <a:xfrm>
            <a:off x="6807590" y="2557843"/>
            <a:ext cx="2260318" cy="113285"/>
          </a:xfrm>
          <a:prstGeom prst="bentConnector3">
            <a:avLst>
              <a:gd name="adj1" fmla="val 50000"/>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9" name="文本框 308"/>
          <p:cNvSpPr txBox="1"/>
          <p:nvPr/>
        </p:nvSpPr>
        <p:spPr>
          <a:xfrm>
            <a:off x="6781335" y="5000835"/>
            <a:ext cx="386080" cy="337185"/>
          </a:xfrm>
          <a:prstGeom prst="rect">
            <a:avLst/>
          </a:prstGeom>
          <a:noFill/>
        </p:spPr>
        <p:txBody>
          <a:bodyPr wrap="none" rtlCol="0">
            <a:spAutoFit/>
          </a:bodyPr>
          <a:lstStyle/>
          <a:p>
            <a:r>
              <a:rPr lang="en-GB" altLang="zh-CN" sz="1600" b="1" dirty="0">
                <a:latin typeface="Times New Roman" panose="02020603050405020304" pitchFamily="18" charset="0"/>
                <a:cs typeface="Times New Roman" panose="02020603050405020304" pitchFamily="18" charset="0"/>
              </a:rPr>
              <a:t>10</a:t>
            </a:r>
          </a:p>
        </p:txBody>
      </p:sp>
      <p:grpSp>
        <p:nvGrpSpPr>
          <p:cNvPr id="313" name="组合 312"/>
          <p:cNvGrpSpPr/>
          <p:nvPr/>
        </p:nvGrpSpPr>
        <p:grpSpPr>
          <a:xfrm>
            <a:off x="8841213" y="2541905"/>
            <a:ext cx="601345" cy="2908300"/>
            <a:chOff x="14049" y="4003"/>
            <a:chExt cx="947" cy="4580"/>
          </a:xfrm>
        </p:grpSpPr>
        <p:sp>
          <p:nvSpPr>
            <p:cNvPr id="315" name="矩形 314"/>
            <p:cNvSpPr/>
            <p:nvPr/>
          </p:nvSpPr>
          <p:spPr>
            <a:xfrm>
              <a:off x="14218" y="4003"/>
              <a:ext cx="778" cy="400"/>
            </a:xfrm>
            <a:prstGeom prst="rect">
              <a:avLst/>
            </a:prstGeom>
            <a:noFill/>
            <a:ln w="25400">
              <a:noFill/>
            </a:ln>
          </p:spPr>
          <p:txBody>
            <a:bodyPr wrap="square">
              <a:spAutoFit/>
            </a:bodyPr>
            <a:lstStyle/>
            <a:p>
              <a:pPr algn="ctr" fontAlgn="base">
                <a:spcBef>
                  <a:spcPct val="0"/>
                </a:spcBef>
                <a:spcAft>
                  <a:spcPct val="0"/>
                </a:spcAft>
              </a:pPr>
              <a:r>
                <a:rPr lang="en-US" altLang="zh-CN" sz="105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WB</a:t>
              </a:r>
              <a:endParaRPr lang="zh-CN" altLang="en-US" sz="105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16" name="矩形 315"/>
            <p:cNvSpPr/>
            <p:nvPr/>
          </p:nvSpPr>
          <p:spPr bwMode="auto">
            <a:xfrm>
              <a:off x="14408" y="4798"/>
              <a:ext cx="567" cy="3785"/>
            </a:xfrm>
            <a:prstGeom prst="rect">
              <a:avLst/>
            </a:prstGeom>
            <a:solidFill>
              <a:schemeClr val="bg2">
                <a:lumMod val="90000"/>
              </a:schemeClr>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17" name="矩形 316"/>
            <p:cNvSpPr/>
            <p:nvPr/>
          </p:nvSpPr>
          <p:spPr bwMode="auto">
            <a:xfrm>
              <a:off x="14406" y="4007"/>
              <a:ext cx="567" cy="399"/>
            </a:xfrm>
            <a:prstGeom prst="rect">
              <a:avLst/>
            </a:prstGeom>
            <a:solidFill>
              <a:srgbClr val="9CDCF9"/>
            </a:solid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45720" rIns="0" bIns="45720" numCol="1" rtlCol="0" anchor="ctr" anchorCtr="0" compatLnSpc="1"/>
            <a:lstStyle/>
            <a:p>
              <a:pPr algn="ctr" fontAlgn="base">
                <a:spcBef>
                  <a:spcPct val="0"/>
                </a:spcBef>
                <a:spcAft>
                  <a:spcPct val="0"/>
                </a:spcAft>
              </a:pP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WB</a:t>
              </a:r>
            </a:p>
          </p:txBody>
        </p:sp>
        <p:sp>
          <p:nvSpPr>
            <p:cNvPr id="319" name="矩形 318"/>
            <p:cNvSpPr/>
            <p:nvPr/>
          </p:nvSpPr>
          <p:spPr bwMode="auto">
            <a:xfrm>
              <a:off x="14406" y="4396"/>
              <a:ext cx="567" cy="390"/>
            </a:xfrm>
            <a:prstGeom prst="rect">
              <a:avLst/>
            </a:prstGeom>
            <a:solidFill>
              <a:srgbClr val="9CDCF9"/>
            </a:solid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23" name="矩形 322"/>
            <p:cNvSpPr/>
            <p:nvPr/>
          </p:nvSpPr>
          <p:spPr>
            <a:xfrm>
              <a:off x="14380" y="4404"/>
              <a:ext cx="423" cy="388"/>
            </a:xfrm>
            <a:prstGeom prst="rect">
              <a:avLst/>
            </a:prstGeom>
            <a:noFill/>
            <a:ln w="25400">
              <a:noFill/>
            </a:ln>
          </p:spPr>
          <p:txBody>
            <a:bodyPr wrap="square" lIns="0" tIns="0" rIns="0" bIns="0">
              <a:spAutoFit/>
            </a:bodyPr>
            <a:lstStyle/>
            <a:p>
              <a:pPr algn="ctr" fontAlgn="base">
                <a:spcBef>
                  <a:spcPct val="0"/>
                </a:spcBef>
                <a:spcAft>
                  <a:spcPct val="0"/>
                </a:spcAft>
              </a:pP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M</a:t>
              </a:r>
              <a:endParaRPr lang="zh-CN" altLang="en-US"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25" name="直接箭头连接符 324"/>
            <p:cNvCxnSpPr/>
            <p:nvPr/>
          </p:nvCxnSpPr>
          <p:spPr bwMode="auto">
            <a:xfrm>
              <a:off x="14049" y="6334"/>
              <a:ext cx="357"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327" name="直接连接符 326"/>
          <p:cNvCxnSpPr/>
          <p:nvPr/>
        </p:nvCxnSpPr>
        <p:spPr bwMode="auto">
          <a:xfrm>
            <a:off x="7257760" y="3520799"/>
            <a:ext cx="0" cy="3003505"/>
          </a:xfrm>
          <a:prstGeom prst="line">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9" name="直接箭头连接符 328"/>
          <p:cNvCxnSpPr/>
          <p:nvPr/>
        </p:nvCxnSpPr>
        <p:spPr bwMode="auto">
          <a:xfrm>
            <a:off x="7820124" y="3512031"/>
            <a:ext cx="641193" cy="3867"/>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2" name="矩形 191"/>
          <p:cNvSpPr/>
          <p:nvPr/>
        </p:nvSpPr>
        <p:spPr bwMode="auto">
          <a:xfrm>
            <a:off x="956909" y="3946130"/>
            <a:ext cx="283998" cy="543544"/>
          </a:xfrm>
          <a:prstGeom prst="rect">
            <a:avLst/>
          </a:prstGeom>
          <a:solidFill>
            <a:schemeClr val="bg2">
              <a:lumMod val="90000"/>
            </a:schemeClr>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lnSpc>
                <a:spcPts val="2000"/>
              </a:lnSpc>
              <a:spcBef>
                <a:spcPct val="0"/>
              </a:spcBef>
              <a:spcAft>
                <a:spcPct val="0"/>
              </a:spcAft>
            </a:pPr>
            <a:r>
              <a:rPr lang="en-US" altLang="zh-CN" sz="2000" b="1" dirty="0">
                <a:solidFill>
                  <a:srgbClr val="FF0000"/>
                </a:solidFill>
                <a:latin typeface="Times New Roman" panose="02020603050405020304" pitchFamily="18" charset="0"/>
                <a:cs typeface="Times New Roman" panose="02020603050405020304" pitchFamily="18" charset="0"/>
              </a:rPr>
              <a:t>PC</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3"/>
          <p:cNvSpPr>
            <a:spLocks noGrp="1" noChangeArrowheads="1"/>
          </p:cNvSpPr>
          <p:nvPr>
            <p:ph idx="1"/>
          </p:nvPr>
        </p:nvSpPr>
        <p:spPr/>
        <p:txBody>
          <a:bodyPr>
            <a:normAutofit/>
          </a:bodyPr>
          <a:lstStyle/>
          <a:p>
            <a:pPr eaLnBrk="1" hangingPunct="1">
              <a:lnSpc>
                <a:spcPct val="110000"/>
              </a:lnSpc>
            </a:pPr>
            <a:r>
              <a:rPr lang="zh-CN" altLang="en-US" sz="2800" dirty="0">
                <a:latin typeface="Times New Roman" panose="02020603050405020304" pitchFamily="18" charset="0"/>
                <a:cs typeface="Times New Roman" panose="02020603050405020304" pitchFamily="18" charset="0"/>
              </a:rPr>
              <a:t>对于更深的流水线，从时钟周期数的角度来说，分支预测错误的代价会增大。</a:t>
            </a:r>
            <a:endParaRPr lang="en-US" altLang="zh-CN" sz="2800" dirty="0">
              <a:latin typeface="Times New Roman" panose="02020603050405020304" pitchFamily="18" charset="0"/>
              <a:cs typeface="Times New Roman" panose="02020603050405020304" pitchFamily="18" charset="0"/>
            </a:endParaRPr>
          </a:p>
          <a:p>
            <a:pPr eaLnBrk="1" hangingPunct="1">
              <a:lnSpc>
                <a:spcPct val="110000"/>
              </a:lnSpc>
            </a:pPr>
            <a:r>
              <a:rPr lang="zh-CN" altLang="en-US" sz="2800" dirty="0">
                <a:latin typeface="Times New Roman" panose="02020603050405020304" pitchFamily="18" charset="0"/>
                <a:cs typeface="Times New Roman" panose="02020603050405020304" pitchFamily="18" charset="0"/>
              </a:rPr>
              <a:t>使用动态分支预测</a:t>
            </a:r>
            <a:endParaRPr lang="en-US" altLang="zh-CN" sz="2800" dirty="0">
              <a:latin typeface="Times New Roman" panose="02020603050405020304" pitchFamily="18" charset="0"/>
              <a:cs typeface="Times New Roman" panose="02020603050405020304" pitchFamily="18" charset="0"/>
            </a:endParaRPr>
          </a:p>
          <a:p>
            <a:pPr lvl="1" eaLnBrk="1" hangingPunct="1">
              <a:lnSpc>
                <a:spcPct val="110000"/>
              </a:lnSpc>
            </a:pPr>
            <a:r>
              <a:rPr lang="zh-CN" altLang="en-US" sz="2400" dirty="0">
                <a:latin typeface="Times New Roman" panose="02020603050405020304" pitchFamily="18" charset="0"/>
                <a:cs typeface="Times New Roman" panose="02020603050405020304" pitchFamily="18" charset="0"/>
              </a:rPr>
              <a:t>一种实现方式：采用</a:t>
            </a:r>
            <a:r>
              <a:rPr lang="zh-CN" altLang="en-US" sz="2400" b="1" dirty="0">
                <a:latin typeface="Times New Roman" panose="02020603050405020304" pitchFamily="18" charset="0"/>
                <a:cs typeface="Times New Roman" panose="02020603050405020304" pitchFamily="18" charset="0"/>
              </a:rPr>
              <a:t>分支预测缓存</a:t>
            </a:r>
            <a:r>
              <a:rPr lang="zh-CN" altLang="en-US" sz="2400" dirty="0">
                <a:latin typeface="Times New Roman" panose="02020603050405020304" pitchFamily="18" charset="0"/>
                <a:cs typeface="Times New Roman" panose="02020603050405020304" pitchFamily="18" charset="0"/>
              </a:rPr>
              <a:t>或</a:t>
            </a:r>
            <a:r>
              <a:rPr lang="zh-CN" altLang="en-US" sz="2400" b="1" dirty="0">
                <a:latin typeface="Times New Roman" panose="02020603050405020304" pitchFamily="18" charset="0"/>
                <a:cs typeface="Times New Roman" panose="02020603050405020304" pitchFamily="18" charset="0"/>
              </a:rPr>
              <a:t>分支历史表</a:t>
            </a:r>
            <a:endParaRPr lang="en-US" altLang="zh-CN" sz="2400" b="1" dirty="0">
              <a:latin typeface="Times New Roman" panose="02020603050405020304" pitchFamily="18" charset="0"/>
              <a:cs typeface="Times New Roman" panose="02020603050405020304" pitchFamily="18" charset="0"/>
            </a:endParaRPr>
          </a:p>
          <a:p>
            <a:pPr lvl="1" eaLnBrk="1" hangingPunct="1">
              <a:lnSpc>
                <a:spcPct val="110000"/>
              </a:lnSpc>
            </a:pPr>
            <a:r>
              <a:rPr lang="zh-CN" altLang="en-US" sz="2400" dirty="0">
                <a:latin typeface="Times New Roman" panose="02020603050405020304" pitchFamily="18" charset="0"/>
                <a:cs typeface="Times New Roman" panose="02020603050405020304" pitchFamily="18" charset="0"/>
              </a:rPr>
              <a:t>是一块按照分支指令的低位地址索引定位的小容量存储器</a:t>
            </a:r>
            <a:endParaRPr lang="en-US" altLang="zh-CN" sz="2400" dirty="0">
              <a:latin typeface="Times New Roman" panose="02020603050405020304" pitchFamily="18" charset="0"/>
              <a:cs typeface="Times New Roman" panose="02020603050405020304" pitchFamily="18" charset="0"/>
            </a:endParaRPr>
          </a:p>
          <a:p>
            <a:pPr lvl="1" eaLnBrk="1" hangingPunct="1">
              <a:lnSpc>
                <a:spcPct val="110000"/>
              </a:lnSpc>
            </a:pPr>
            <a:r>
              <a:rPr lang="zh-CN" altLang="en-US" sz="2400" dirty="0">
                <a:latin typeface="Times New Roman" panose="02020603050405020304" pitchFamily="18" charset="0"/>
                <a:cs typeface="Times New Roman" panose="02020603050405020304" pitchFamily="18" charset="0"/>
              </a:rPr>
              <a:t>包含一个或多个位（</a:t>
            </a:r>
            <a:r>
              <a:rPr lang="en-US" altLang="zh-CN" sz="2400" dirty="0">
                <a:latin typeface="Times New Roman" panose="02020603050405020304" pitchFamily="18" charset="0"/>
                <a:cs typeface="Times New Roman" panose="02020603050405020304" pitchFamily="18" charset="0"/>
              </a:rPr>
              <a:t>bit</a:t>
            </a:r>
            <a:r>
              <a:rPr lang="zh-CN" altLang="en-US" sz="2400" dirty="0">
                <a:latin typeface="Times New Roman" panose="02020603050405020304" pitchFamily="18" charset="0"/>
                <a:cs typeface="Times New Roman" panose="02020603050405020304" pitchFamily="18" charset="0"/>
              </a:rPr>
              <a:t>）以表明一个分支最近是否发生了跳转</a:t>
            </a:r>
            <a:endParaRPr lang="en-US" altLang="zh-CN" sz="2400" dirty="0">
              <a:latin typeface="Times New Roman" panose="02020603050405020304" pitchFamily="18" charset="0"/>
              <a:cs typeface="Times New Roman" panose="02020603050405020304" pitchFamily="18" charset="0"/>
            </a:endParaRPr>
          </a:p>
          <a:p>
            <a:pPr eaLnBrk="1" hangingPunct="1">
              <a:lnSpc>
                <a:spcPct val="110000"/>
              </a:lnSpc>
            </a:pPr>
            <a:r>
              <a:rPr lang="en-US" altLang="zh-CN" sz="2800" dirty="0">
                <a:latin typeface="Times New Roman" panose="02020603050405020304" pitchFamily="18" charset="0"/>
                <a:cs typeface="Times New Roman" panose="02020603050405020304" pitchFamily="18" charset="0"/>
              </a:rPr>
              <a:t>1-Bit</a:t>
            </a:r>
            <a:r>
              <a:rPr lang="zh-CN" altLang="en-US" sz="2800" dirty="0">
                <a:latin typeface="Times New Roman" panose="02020603050405020304" pitchFamily="18" charset="0"/>
                <a:cs typeface="Times New Roman" panose="02020603050405020304" pitchFamily="18" charset="0"/>
              </a:rPr>
              <a:t>预测机制：用</a:t>
            </a:r>
            <a:r>
              <a:rPr lang="en-US" altLang="zh-CN" sz="2800" dirty="0">
                <a:latin typeface="Times New Roman" panose="02020603050405020304" pitchFamily="18" charset="0"/>
                <a:cs typeface="Times New Roman" panose="02020603050405020304" pitchFamily="18" charset="0"/>
              </a:rPr>
              <a:t>1</a:t>
            </a:r>
            <a:r>
              <a:rPr lang="zh-CN" altLang="en-US" sz="2800" dirty="0">
                <a:latin typeface="Times New Roman" panose="02020603050405020304" pitchFamily="18" charset="0"/>
                <a:cs typeface="Times New Roman" panose="02020603050405020304" pitchFamily="18" charset="0"/>
              </a:rPr>
              <a:t>位表示最近是否发生了跳转</a:t>
            </a:r>
            <a:endParaRPr lang="en-US" altLang="zh-CN" sz="2800" dirty="0">
              <a:latin typeface="Times New Roman" panose="02020603050405020304" pitchFamily="18" charset="0"/>
              <a:cs typeface="Times New Roman" panose="02020603050405020304" pitchFamily="18" charset="0"/>
            </a:endParaRPr>
          </a:p>
          <a:p>
            <a:pPr lvl="1" eaLnBrk="1" hangingPunct="1">
              <a:lnSpc>
                <a:spcPct val="110000"/>
              </a:lnSpc>
            </a:pPr>
            <a:r>
              <a:rPr lang="zh-CN" altLang="en-US" sz="2330" dirty="0">
                <a:latin typeface="Times New Roman" panose="02020603050405020304" pitchFamily="18" charset="0"/>
                <a:cs typeface="Times New Roman" panose="02020603050405020304" pitchFamily="18" charset="0"/>
              </a:rPr>
              <a:t>查表，使用表中记录结果作为预测结果</a:t>
            </a:r>
            <a:endParaRPr lang="en-US" altLang="zh-CN" sz="2330" dirty="0">
              <a:latin typeface="Times New Roman" panose="02020603050405020304" pitchFamily="18" charset="0"/>
              <a:cs typeface="Times New Roman" panose="02020603050405020304" pitchFamily="18" charset="0"/>
            </a:endParaRPr>
          </a:p>
          <a:p>
            <a:pPr lvl="1" eaLnBrk="1" hangingPunct="1">
              <a:lnSpc>
                <a:spcPct val="110000"/>
              </a:lnSpc>
            </a:pPr>
            <a:r>
              <a:rPr lang="zh-CN" altLang="en-US" sz="2330" dirty="0">
                <a:latin typeface="Times New Roman" panose="02020603050405020304" pitchFamily="18" charset="0"/>
                <a:cs typeface="Times New Roman" panose="02020603050405020304" pitchFamily="18" charset="0"/>
              </a:rPr>
              <a:t>开始取指令</a:t>
            </a:r>
            <a:endParaRPr lang="en-US" altLang="zh-CN" sz="2330" dirty="0">
              <a:latin typeface="Times New Roman" panose="02020603050405020304" pitchFamily="18" charset="0"/>
              <a:cs typeface="Times New Roman" panose="02020603050405020304" pitchFamily="18" charset="0"/>
            </a:endParaRPr>
          </a:p>
          <a:p>
            <a:pPr lvl="1" eaLnBrk="1" hangingPunct="1">
              <a:lnSpc>
                <a:spcPct val="110000"/>
              </a:lnSpc>
            </a:pPr>
            <a:r>
              <a:rPr lang="zh-CN" altLang="en-US" sz="2330" dirty="0">
                <a:latin typeface="Times New Roman" panose="02020603050405020304" pitchFamily="18" charset="0"/>
                <a:cs typeface="Times New Roman" panose="02020603050405020304" pitchFamily="18" charset="0"/>
              </a:rPr>
              <a:t>如果预测错误，则清掉错误指令，并更改分支预测缓存中的记录</a:t>
            </a:r>
            <a:endParaRPr lang="en-US" altLang="zh-CN" sz="2330" dirty="0">
              <a:latin typeface="Times New Roman" panose="02020603050405020304" pitchFamily="18" charset="0"/>
              <a:cs typeface="Times New Roman" panose="02020603050405020304" pitchFamily="18" charset="0"/>
            </a:endParaRPr>
          </a:p>
          <a:p>
            <a:pPr lvl="2" eaLnBrk="1" hangingPunct="1">
              <a:lnSpc>
                <a:spcPct val="110000"/>
              </a:lnSpc>
            </a:pPr>
            <a:endParaRPr lang="en-US" altLang="zh-CN" sz="2000" dirty="0">
              <a:latin typeface="Times New Roman" panose="02020603050405020304" pitchFamily="18" charset="0"/>
              <a:cs typeface="Times New Roman" panose="02020603050405020304" pitchFamily="18" charset="0"/>
            </a:endParaRPr>
          </a:p>
          <a:p>
            <a:pPr lvl="1"/>
            <a:endParaRPr lang="en-US" altLang="en-US" sz="2400" dirty="0">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8EE8E787-E6FE-45D8-9039-788B45E44EE7}" type="slidenum">
              <a:rPr lang="zh-CN" altLang="en-US" smtClean="0"/>
              <a:t>73</a:t>
            </a:fld>
            <a:endParaRPr lang="zh-CN" altLang="en-US" dirty="0"/>
          </a:p>
        </p:txBody>
      </p:sp>
      <p:sp>
        <p:nvSpPr>
          <p:cNvPr id="4" name="标题 3"/>
          <p:cNvSpPr>
            <a:spLocks noGrp="1"/>
          </p:cNvSpPr>
          <p:nvPr>
            <p:ph type="title"/>
          </p:nvPr>
        </p:nvSpPr>
        <p:spPr/>
        <p:txBody>
          <a:bodyPr/>
          <a:lstStyle/>
          <a:p>
            <a:r>
              <a:rPr lang="zh-CN" altLang="en-US" dirty="0"/>
              <a:t>动态分支预测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988">
                                            <p:txEl>
                                              <p:pRg st="1" end="1"/>
                                            </p:txEl>
                                          </p:spTgt>
                                        </p:tgtEl>
                                        <p:attrNameLst>
                                          <p:attrName>style.visibility</p:attrName>
                                        </p:attrNameLst>
                                      </p:cBhvr>
                                      <p:to>
                                        <p:strVal val="visible"/>
                                      </p:to>
                                    </p:set>
                                    <p:animEffect transition="in" filter="fade">
                                      <p:cBhvr>
                                        <p:cTn id="7" dur="500"/>
                                        <p:tgtEl>
                                          <p:spTgt spid="41988">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1988">
                                            <p:txEl>
                                              <p:pRg st="2" end="2"/>
                                            </p:txEl>
                                          </p:spTgt>
                                        </p:tgtEl>
                                        <p:attrNameLst>
                                          <p:attrName>style.visibility</p:attrName>
                                        </p:attrNameLst>
                                      </p:cBhvr>
                                      <p:to>
                                        <p:strVal val="visible"/>
                                      </p:to>
                                    </p:set>
                                    <p:animEffect transition="in" filter="fade">
                                      <p:cBhvr>
                                        <p:cTn id="10" dur="500"/>
                                        <p:tgtEl>
                                          <p:spTgt spid="41988">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1988">
                                            <p:txEl>
                                              <p:pRg st="3" end="3"/>
                                            </p:txEl>
                                          </p:spTgt>
                                        </p:tgtEl>
                                        <p:attrNameLst>
                                          <p:attrName>style.visibility</p:attrName>
                                        </p:attrNameLst>
                                      </p:cBhvr>
                                      <p:to>
                                        <p:strVal val="visible"/>
                                      </p:to>
                                    </p:set>
                                    <p:animEffect transition="in" filter="fade">
                                      <p:cBhvr>
                                        <p:cTn id="15" dur="500"/>
                                        <p:tgtEl>
                                          <p:spTgt spid="41988">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1988">
                                            <p:txEl>
                                              <p:pRg st="4" end="4"/>
                                            </p:txEl>
                                          </p:spTgt>
                                        </p:tgtEl>
                                        <p:attrNameLst>
                                          <p:attrName>style.visibility</p:attrName>
                                        </p:attrNameLst>
                                      </p:cBhvr>
                                      <p:to>
                                        <p:strVal val="visible"/>
                                      </p:to>
                                    </p:set>
                                    <p:animEffect transition="in" filter="fade">
                                      <p:cBhvr>
                                        <p:cTn id="18" dur="500"/>
                                        <p:tgtEl>
                                          <p:spTgt spid="41988">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1988">
                                            <p:txEl>
                                              <p:pRg st="5" end="5"/>
                                            </p:txEl>
                                          </p:spTgt>
                                        </p:tgtEl>
                                        <p:attrNameLst>
                                          <p:attrName>style.visibility</p:attrName>
                                        </p:attrNameLst>
                                      </p:cBhvr>
                                      <p:to>
                                        <p:strVal val="visible"/>
                                      </p:to>
                                    </p:set>
                                    <p:animEffect transition="in" filter="fade">
                                      <p:cBhvr>
                                        <p:cTn id="23" dur="500"/>
                                        <p:tgtEl>
                                          <p:spTgt spid="41988">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41988">
                                            <p:txEl>
                                              <p:pRg st="6" end="6"/>
                                            </p:txEl>
                                          </p:spTgt>
                                        </p:tgtEl>
                                        <p:attrNameLst>
                                          <p:attrName>style.visibility</p:attrName>
                                        </p:attrNameLst>
                                      </p:cBhvr>
                                      <p:to>
                                        <p:strVal val="visible"/>
                                      </p:to>
                                    </p:set>
                                    <p:animEffect transition="in" filter="fade">
                                      <p:cBhvr>
                                        <p:cTn id="26" dur="500"/>
                                        <p:tgtEl>
                                          <p:spTgt spid="41988">
                                            <p:txEl>
                                              <p:pRg st="6" end="6"/>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41988">
                                            <p:txEl>
                                              <p:pRg st="7" end="7"/>
                                            </p:txEl>
                                          </p:spTgt>
                                        </p:tgtEl>
                                        <p:attrNameLst>
                                          <p:attrName>style.visibility</p:attrName>
                                        </p:attrNameLst>
                                      </p:cBhvr>
                                      <p:to>
                                        <p:strVal val="visible"/>
                                      </p:to>
                                    </p:set>
                                    <p:animEffect transition="in" filter="fade">
                                      <p:cBhvr>
                                        <p:cTn id="29" dur="500"/>
                                        <p:tgtEl>
                                          <p:spTgt spid="41988">
                                            <p:txEl>
                                              <p:pRg st="7" end="7"/>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41988">
                                            <p:txEl>
                                              <p:pRg st="8" end="8"/>
                                            </p:txEl>
                                          </p:spTgt>
                                        </p:tgtEl>
                                        <p:attrNameLst>
                                          <p:attrName>style.visibility</p:attrName>
                                        </p:attrNameLst>
                                      </p:cBhvr>
                                      <p:to>
                                        <p:strVal val="visible"/>
                                      </p:to>
                                    </p:set>
                                    <p:animEffect transition="in" filter="fade">
                                      <p:cBhvr>
                                        <p:cTn id="32" dur="500"/>
                                        <p:tgtEl>
                                          <p:spTgt spid="4198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Rectangle 4"/>
          <p:cNvSpPr>
            <a:spLocks noGrp="1" noChangeArrowheads="1"/>
          </p:cNvSpPr>
          <p:nvPr>
            <p:ph idx="1"/>
          </p:nvPr>
        </p:nvSpPr>
        <p:spPr/>
        <p:txBody>
          <a:bodyPr>
            <a:normAutofit/>
          </a:bodyPr>
          <a:lstStyle/>
          <a:p>
            <a:pPr eaLnBrk="1" hangingPunct="1"/>
            <a:r>
              <a:rPr lang="zh-CN" altLang="en-US" sz="2800" dirty="0"/>
              <a:t>一个条件分支总是发生跳转，但一旦其不发生跳转时，会导致两次预测错误，而不是只造成一次错误</a:t>
            </a:r>
            <a:endParaRPr lang="en-US" altLang="en-US" sz="2800" dirty="0"/>
          </a:p>
        </p:txBody>
      </p:sp>
      <p:sp>
        <p:nvSpPr>
          <p:cNvPr id="2" name="灯片编号占位符 1"/>
          <p:cNvSpPr>
            <a:spLocks noGrp="1"/>
          </p:cNvSpPr>
          <p:nvPr>
            <p:ph type="sldNum" sz="quarter" idx="12"/>
          </p:nvPr>
        </p:nvSpPr>
        <p:spPr/>
        <p:txBody>
          <a:bodyPr/>
          <a:lstStyle/>
          <a:p>
            <a:fld id="{8EE8E787-E6FE-45D8-9039-788B45E44EE7}" type="slidenum">
              <a:rPr lang="zh-CN" altLang="en-US" smtClean="0"/>
              <a:t>74</a:t>
            </a:fld>
            <a:endParaRPr lang="zh-CN" altLang="en-US" dirty="0"/>
          </a:p>
        </p:txBody>
      </p:sp>
      <p:sp>
        <p:nvSpPr>
          <p:cNvPr id="44035" name="Rectangle 2"/>
          <p:cNvSpPr>
            <a:spLocks noChangeArrowheads="1"/>
          </p:cNvSpPr>
          <p:nvPr/>
        </p:nvSpPr>
        <p:spPr bwMode="auto">
          <a:xfrm>
            <a:off x="4224339" y="3140075"/>
            <a:ext cx="2447925" cy="431800"/>
          </a:xfrm>
          <a:prstGeom prst="rect">
            <a:avLst/>
          </a:prstGeom>
          <a:solidFill>
            <a:schemeClr val="accent1">
              <a:lumMod val="20000"/>
              <a:lumOff val="80000"/>
            </a:schemeClr>
          </a:solidFill>
          <a:ln w="9525">
            <a:solidFill>
              <a:schemeClr val="tx1"/>
            </a:solidFill>
            <a:miter lim="800000"/>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endParaRPr lang="en-US" altLang="en-US" sz="1600"/>
          </a:p>
        </p:txBody>
      </p:sp>
      <p:sp>
        <p:nvSpPr>
          <p:cNvPr id="44038" name="Text Box 5"/>
          <p:cNvSpPr txBox="1">
            <a:spLocks noChangeArrowheads="1"/>
          </p:cNvSpPr>
          <p:nvPr/>
        </p:nvSpPr>
        <p:spPr bwMode="auto">
          <a:xfrm>
            <a:off x="3141664" y="1916113"/>
            <a:ext cx="3549650" cy="2245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en-US" sz="2000" dirty="0">
                <a:latin typeface="Lucida Console" panose="020B0609040504020204" pitchFamily="49" charset="0"/>
              </a:rPr>
              <a:t>outer: …</a:t>
            </a:r>
            <a:br>
              <a:rPr lang="en-US" altLang="en-US" sz="2000" dirty="0">
                <a:latin typeface="Lucida Console" panose="020B0609040504020204" pitchFamily="49" charset="0"/>
              </a:rPr>
            </a:br>
            <a:r>
              <a:rPr lang="en-US" altLang="en-US" sz="2000" dirty="0">
                <a:latin typeface="Lucida Console" panose="020B0609040504020204" pitchFamily="49" charset="0"/>
              </a:rPr>
              <a:t>       …</a:t>
            </a:r>
            <a:br>
              <a:rPr lang="en-US" altLang="en-US" sz="2000" dirty="0">
                <a:latin typeface="Lucida Console" panose="020B0609040504020204" pitchFamily="49" charset="0"/>
              </a:rPr>
            </a:br>
            <a:r>
              <a:rPr lang="en-US" altLang="en-US" sz="2000" dirty="0">
                <a:latin typeface="Lucida Console" panose="020B0609040504020204" pitchFamily="49" charset="0"/>
              </a:rPr>
              <a:t>inner: …</a:t>
            </a:r>
          </a:p>
          <a:p>
            <a:pPr>
              <a:spcBef>
                <a:spcPct val="0"/>
              </a:spcBef>
              <a:buClrTx/>
              <a:buSzTx/>
              <a:buFontTx/>
              <a:buNone/>
            </a:pPr>
            <a:r>
              <a:rPr lang="en-US" altLang="en-US" sz="2000" dirty="0">
                <a:latin typeface="Lucida Console" panose="020B0609040504020204" pitchFamily="49" charset="0"/>
              </a:rPr>
              <a:t>       …</a:t>
            </a:r>
          </a:p>
          <a:p>
            <a:pPr>
              <a:spcBef>
                <a:spcPct val="0"/>
              </a:spcBef>
              <a:buClrTx/>
              <a:buSzTx/>
              <a:buFontTx/>
              <a:buNone/>
            </a:pPr>
            <a:r>
              <a:rPr lang="en-US" altLang="en-US" sz="2000" dirty="0">
                <a:latin typeface="Lucida Console" panose="020B0609040504020204" pitchFamily="49" charset="0"/>
              </a:rPr>
              <a:t>       </a:t>
            </a:r>
            <a:r>
              <a:rPr lang="en-US" altLang="en-US" sz="2000" dirty="0" err="1">
                <a:latin typeface="Lucida Console" panose="020B0609040504020204" pitchFamily="49" charset="0"/>
              </a:rPr>
              <a:t>beq</a:t>
            </a:r>
            <a:r>
              <a:rPr lang="en-US" altLang="en-US" sz="2000" dirty="0">
                <a:latin typeface="Lucida Console" panose="020B0609040504020204" pitchFamily="49" charset="0"/>
              </a:rPr>
              <a:t> …, …, inner</a:t>
            </a:r>
            <a:br>
              <a:rPr lang="en-US" altLang="en-US" sz="2000" dirty="0">
                <a:latin typeface="Lucida Console" panose="020B0609040504020204" pitchFamily="49" charset="0"/>
              </a:rPr>
            </a:br>
            <a:r>
              <a:rPr lang="en-US" altLang="en-US" sz="2000" dirty="0">
                <a:latin typeface="Lucida Console" panose="020B0609040504020204" pitchFamily="49" charset="0"/>
              </a:rPr>
              <a:t>       …</a:t>
            </a:r>
            <a:br>
              <a:rPr lang="en-US" altLang="en-US" sz="2000" dirty="0">
                <a:latin typeface="Lucida Console" panose="020B0609040504020204" pitchFamily="49" charset="0"/>
              </a:rPr>
            </a:br>
            <a:r>
              <a:rPr lang="en-US" altLang="en-US" sz="2000" dirty="0">
                <a:latin typeface="Lucida Console" panose="020B0609040504020204" pitchFamily="49" charset="0"/>
              </a:rPr>
              <a:t>       </a:t>
            </a:r>
            <a:r>
              <a:rPr lang="en-US" altLang="en-US" sz="2000" dirty="0" err="1">
                <a:latin typeface="Lucida Console" panose="020B0609040504020204" pitchFamily="49" charset="0"/>
              </a:rPr>
              <a:t>beq</a:t>
            </a:r>
            <a:r>
              <a:rPr lang="en-US" altLang="en-US" sz="2000" dirty="0">
                <a:latin typeface="Lucida Console" panose="020B0609040504020204" pitchFamily="49" charset="0"/>
              </a:rPr>
              <a:t> …, …, outer</a:t>
            </a:r>
            <a:endParaRPr lang="en-AU" altLang="en-US" sz="2000" dirty="0">
              <a:latin typeface="Lucida Console" panose="020B0609040504020204" pitchFamily="49" charset="0"/>
            </a:endParaRPr>
          </a:p>
        </p:txBody>
      </p:sp>
      <p:sp>
        <p:nvSpPr>
          <p:cNvPr id="44039" name="Line 6"/>
          <p:cNvSpPr>
            <a:spLocks noChangeShapeType="1"/>
          </p:cNvSpPr>
          <p:nvPr/>
        </p:nvSpPr>
        <p:spPr bwMode="auto">
          <a:xfrm>
            <a:off x="6743701" y="3378200"/>
            <a:ext cx="360363"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40" name="Line 7"/>
          <p:cNvSpPr>
            <a:spLocks noChangeShapeType="1"/>
          </p:cNvSpPr>
          <p:nvPr/>
        </p:nvSpPr>
        <p:spPr bwMode="auto">
          <a:xfrm flipV="1">
            <a:off x="7104063" y="2730500"/>
            <a:ext cx="0" cy="6477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41" name="Line 8"/>
          <p:cNvSpPr>
            <a:spLocks noChangeShapeType="1"/>
          </p:cNvSpPr>
          <p:nvPr/>
        </p:nvSpPr>
        <p:spPr bwMode="auto">
          <a:xfrm flipH="1">
            <a:off x="5880101" y="2730500"/>
            <a:ext cx="122396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42" name="Line 9"/>
          <p:cNvSpPr>
            <a:spLocks noChangeShapeType="1"/>
          </p:cNvSpPr>
          <p:nvPr/>
        </p:nvSpPr>
        <p:spPr bwMode="auto">
          <a:xfrm>
            <a:off x="6743701" y="3954463"/>
            <a:ext cx="72072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43" name="Line 10"/>
          <p:cNvSpPr>
            <a:spLocks noChangeShapeType="1"/>
          </p:cNvSpPr>
          <p:nvPr/>
        </p:nvSpPr>
        <p:spPr bwMode="auto">
          <a:xfrm flipV="1">
            <a:off x="7464425" y="2082801"/>
            <a:ext cx="0" cy="18716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044" name="Line 11"/>
          <p:cNvSpPr>
            <a:spLocks noChangeShapeType="1"/>
          </p:cNvSpPr>
          <p:nvPr/>
        </p:nvSpPr>
        <p:spPr bwMode="auto">
          <a:xfrm flipH="1">
            <a:off x="5880101" y="2082800"/>
            <a:ext cx="1584325"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4045" name="Rectangle 12"/>
          <p:cNvSpPr>
            <a:spLocks noChangeArrowheads="1"/>
          </p:cNvSpPr>
          <p:nvPr/>
        </p:nvSpPr>
        <p:spPr bwMode="auto">
          <a:xfrm>
            <a:off x="971550" y="4364355"/>
            <a:ext cx="10483215"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lvl="1" eaLnBrk="1" hangingPunct="1"/>
            <a:r>
              <a:rPr lang="zh-CN" altLang="en-US" dirty="0">
                <a:latin typeface="宋体" panose="02010600030101010101" pitchFamily="2" charset="-122"/>
                <a:ea typeface="宋体" panose="02010600030101010101" pitchFamily="2" charset="-122"/>
              </a:rPr>
              <a:t>内层循环的最后一次迭代不发生跳转，预测发生跳转，预测</a:t>
            </a:r>
            <a:r>
              <a:rPr lang="zh-CN" altLang="en-US" dirty="0">
                <a:solidFill>
                  <a:srgbClr val="FF0000"/>
                </a:solidFill>
                <a:latin typeface="宋体" panose="02010600030101010101" pitchFamily="2" charset="-122"/>
                <a:ea typeface="宋体" panose="02010600030101010101" pitchFamily="2" charset="-122"/>
              </a:rPr>
              <a:t>错误</a:t>
            </a:r>
            <a:r>
              <a:rPr lang="zh-CN" altLang="en-US" dirty="0">
                <a:latin typeface="宋体" panose="02010600030101010101" pitchFamily="2" charset="-122"/>
                <a:ea typeface="宋体" panose="02010600030101010101" pitchFamily="2" charset="-122"/>
              </a:rPr>
              <a:t>，更改预测值为</a:t>
            </a:r>
            <a:r>
              <a:rPr lang="zh-CN" altLang="en-US" dirty="0">
                <a:solidFill>
                  <a:srgbClr val="FF0000"/>
                </a:solidFill>
                <a:latin typeface="宋体" panose="02010600030101010101" pitchFamily="2" charset="-122"/>
                <a:ea typeface="宋体" panose="02010600030101010101" pitchFamily="2" charset="-122"/>
              </a:rPr>
              <a:t>不跳转</a:t>
            </a:r>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lvl="1" eaLnBrk="1" hangingPunct="1"/>
            <a:r>
              <a:rPr lang="zh-CN" altLang="en-US" dirty="0">
                <a:latin typeface="宋体" panose="02010600030101010101" pitchFamily="2" charset="-122"/>
                <a:ea typeface="宋体" panose="02010600030101010101" pitchFamily="2" charset="-122"/>
              </a:rPr>
              <a:t>下一次外层循环开始后，内层循环第一次迭代</a:t>
            </a:r>
            <a:r>
              <a:rPr lang="zh-CN" altLang="en-US" dirty="0">
                <a:solidFill>
                  <a:srgbClr val="FF0000"/>
                </a:solidFill>
                <a:latin typeface="宋体" panose="02010600030101010101" pitchFamily="2" charset="-122"/>
                <a:ea typeface="宋体" panose="02010600030101010101" pitchFamily="2" charset="-122"/>
              </a:rPr>
              <a:t>发生跳转</a:t>
            </a:r>
            <a:r>
              <a:rPr lang="zh-CN" altLang="en-US" dirty="0">
                <a:latin typeface="宋体" panose="02010600030101010101" pitchFamily="2" charset="-122"/>
                <a:ea typeface="宋体" panose="02010600030101010101" pitchFamily="2" charset="-122"/>
              </a:rPr>
              <a:t>，预测不发生跳转，预测</a:t>
            </a:r>
            <a:r>
              <a:rPr lang="zh-CN" altLang="en-US" dirty="0">
                <a:solidFill>
                  <a:srgbClr val="FF0000"/>
                </a:solidFill>
                <a:latin typeface="宋体" panose="02010600030101010101" pitchFamily="2" charset="-122"/>
                <a:ea typeface="宋体" panose="02010600030101010101" pitchFamily="2" charset="-122"/>
              </a:rPr>
              <a:t>错误</a:t>
            </a:r>
            <a:r>
              <a:rPr lang="zh-CN" altLang="en-US" dirty="0">
                <a:latin typeface="宋体" panose="02010600030101010101" pitchFamily="2" charset="-122"/>
                <a:ea typeface="宋体" panose="02010600030101010101" pitchFamily="2" charset="-122"/>
              </a:rPr>
              <a:t>，更改预测值为</a:t>
            </a:r>
            <a:r>
              <a:rPr lang="zh-CN" altLang="en-US" dirty="0">
                <a:solidFill>
                  <a:srgbClr val="FF0000"/>
                </a:solidFill>
                <a:latin typeface="宋体" panose="02010600030101010101" pitchFamily="2" charset="-122"/>
                <a:ea typeface="宋体" panose="02010600030101010101" pitchFamily="2" charset="-122"/>
                <a:sym typeface="+mn-ea"/>
              </a:rPr>
              <a:t>跳转</a:t>
            </a:r>
            <a:endParaRPr lang="en-US" altLang="en-US" dirty="0">
              <a:latin typeface="宋体" panose="02010600030101010101" pitchFamily="2" charset="-122"/>
              <a:ea typeface="宋体" panose="02010600030101010101" pitchFamily="2" charset="-122"/>
            </a:endParaRPr>
          </a:p>
        </p:txBody>
      </p:sp>
      <p:sp>
        <p:nvSpPr>
          <p:cNvPr id="4" name="标题 3"/>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1-Bit</a:t>
            </a:r>
            <a:r>
              <a:rPr lang="zh-CN" altLang="en-US" dirty="0">
                <a:latin typeface="Times New Roman" panose="02020603050405020304" pitchFamily="18" charset="0"/>
                <a:cs typeface="Times New Roman" panose="02020603050405020304" pitchFamily="18" charset="0"/>
              </a:rPr>
              <a:t>预测机制的缺点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045">
                                            <p:txEl>
                                              <p:pRg st="0" end="0"/>
                                            </p:txEl>
                                          </p:spTgt>
                                        </p:tgtEl>
                                        <p:attrNameLst>
                                          <p:attrName>style.visibility</p:attrName>
                                        </p:attrNameLst>
                                      </p:cBhvr>
                                      <p:to>
                                        <p:strVal val="visible"/>
                                      </p:to>
                                    </p:set>
                                    <p:animEffect transition="in" filter="fade">
                                      <p:cBhvr>
                                        <p:cTn id="7" dur="500"/>
                                        <p:tgtEl>
                                          <p:spTgt spid="440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045">
                                            <p:txEl>
                                              <p:pRg st="1" end="1"/>
                                            </p:txEl>
                                          </p:spTgt>
                                        </p:tgtEl>
                                        <p:attrNameLst>
                                          <p:attrName>style.visibility</p:attrName>
                                        </p:attrNameLst>
                                      </p:cBhvr>
                                      <p:to>
                                        <p:strVal val="visible"/>
                                      </p:to>
                                    </p:set>
                                    <p:animEffect transition="in" filter="fade">
                                      <p:cBhvr>
                                        <p:cTn id="12" dur="500"/>
                                        <p:tgtEl>
                                          <p:spTgt spid="4404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5" name="Rectangle 3"/>
          <p:cNvSpPr>
            <a:spLocks noGrp="1" noChangeArrowheads="1"/>
          </p:cNvSpPr>
          <p:nvPr>
            <p:ph idx="1"/>
          </p:nvPr>
        </p:nvSpPr>
        <p:spPr/>
        <p:txBody>
          <a:bodyPr/>
          <a:lstStyle/>
          <a:p>
            <a:pPr eaLnBrk="1" hangingPunct="1"/>
            <a:r>
              <a:rPr lang="zh-CN" altLang="en-US" dirty="0"/>
              <a:t>对于左侧两个状态，只有在发生了连续两次错误时预测结果才会被改变（跳转加</a:t>
            </a:r>
            <a:r>
              <a:rPr lang="en-US" altLang="zh-CN" dirty="0"/>
              <a:t>1</a:t>
            </a:r>
            <a:r>
              <a:rPr lang="zh-CN" altLang="en-US" dirty="0"/>
              <a:t>，不跳转减</a:t>
            </a:r>
            <a:r>
              <a:rPr lang="en-US" altLang="zh-CN" dirty="0"/>
              <a:t>1</a:t>
            </a:r>
            <a:r>
              <a:rPr lang="zh-CN" altLang="en-US" dirty="0"/>
              <a:t>）</a:t>
            </a:r>
            <a:endParaRPr lang="en-US" altLang="en-US" dirty="0"/>
          </a:p>
          <a:p>
            <a:pPr eaLnBrk="1" hangingPunct="1"/>
            <a:endParaRPr lang="en-AU" altLang="en-US" dirty="0"/>
          </a:p>
        </p:txBody>
      </p:sp>
      <p:sp>
        <p:nvSpPr>
          <p:cNvPr id="2" name="灯片编号占位符 1"/>
          <p:cNvSpPr>
            <a:spLocks noGrp="1"/>
          </p:cNvSpPr>
          <p:nvPr>
            <p:ph type="sldNum" sz="quarter" idx="12"/>
          </p:nvPr>
        </p:nvSpPr>
        <p:spPr/>
        <p:txBody>
          <a:bodyPr/>
          <a:lstStyle/>
          <a:p>
            <a:fld id="{8EE8E787-E6FE-45D8-9039-788B45E44EE7}" type="slidenum">
              <a:rPr lang="zh-CN" altLang="en-US" smtClean="0"/>
              <a:t>75</a:t>
            </a:fld>
            <a:endParaRPr lang="zh-CN" altLang="en-US" dirty="0"/>
          </a:p>
        </p:txBody>
      </p:sp>
      <p:sp>
        <p:nvSpPr>
          <p:cNvPr id="3" name="文本框 2"/>
          <p:cNvSpPr txBox="1"/>
          <p:nvPr/>
        </p:nvSpPr>
        <p:spPr>
          <a:xfrm>
            <a:off x="2888092" y="5790204"/>
            <a:ext cx="6873412" cy="830997"/>
          </a:xfrm>
          <a:prstGeom prst="rect">
            <a:avLst/>
          </a:prstGeom>
          <a:solidFill>
            <a:schemeClr val="accent1">
              <a:lumMod val="20000"/>
              <a:lumOff val="80000"/>
            </a:schemeClr>
          </a:solidFill>
        </p:spPr>
        <p:txBody>
          <a:bodyPr wrap="square" rtlCol="0">
            <a:spAutoFit/>
          </a:bodyPr>
          <a:lstStyle/>
          <a:p>
            <a:r>
              <a:rPr lang="zh-CN" altLang="en-US" sz="2400" dirty="0"/>
              <a:t>在一个分支经常跳转或经常不跳转的情况下（大多数分支都是这样的），只会发生一次预测失效</a:t>
            </a:r>
          </a:p>
        </p:txBody>
      </p:sp>
      <p:sp>
        <p:nvSpPr>
          <p:cNvPr id="5" name="标题 4"/>
          <p:cNvSpPr>
            <a:spLocks noGrp="1"/>
          </p:cNvSpPr>
          <p:nvPr>
            <p:ph type="title"/>
          </p:nvPr>
        </p:nvSpPr>
        <p:spPr/>
        <p:txBody>
          <a:bodyPr/>
          <a:lstStyle/>
          <a:p>
            <a:r>
              <a:rPr lang="en-US" altLang="en-US" dirty="0"/>
              <a:t>2-Bit</a:t>
            </a:r>
            <a:r>
              <a:rPr lang="zh-CN" altLang="en-US" dirty="0"/>
              <a:t>预测机制</a:t>
            </a:r>
          </a:p>
        </p:txBody>
      </p:sp>
      <p:sp>
        <p:nvSpPr>
          <p:cNvPr id="4" name="椭圆 3"/>
          <p:cNvSpPr/>
          <p:nvPr/>
        </p:nvSpPr>
        <p:spPr>
          <a:xfrm>
            <a:off x="2360198" y="2495228"/>
            <a:ext cx="2107770" cy="1060272"/>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宋体" panose="02010600030101010101" pitchFamily="2" charset="-122"/>
                <a:ea typeface="宋体" panose="02010600030101010101" pitchFamily="2" charset="-122"/>
              </a:rPr>
              <a:t>分支跳转</a:t>
            </a:r>
            <a:r>
              <a:rPr lang="en-US" altLang="zh-CN" sz="2400" dirty="0">
                <a:solidFill>
                  <a:schemeClr val="tx1"/>
                </a:solidFill>
                <a:latin typeface="宋体" panose="02010600030101010101" pitchFamily="2" charset="-122"/>
                <a:ea typeface="宋体" panose="02010600030101010101" pitchFamily="2" charset="-122"/>
              </a:rPr>
              <a:t>11</a:t>
            </a:r>
          </a:p>
        </p:txBody>
      </p:sp>
      <p:sp>
        <p:nvSpPr>
          <p:cNvPr id="11" name="椭圆 10"/>
          <p:cNvSpPr/>
          <p:nvPr/>
        </p:nvSpPr>
        <p:spPr>
          <a:xfrm>
            <a:off x="7830650" y="2508143"/>
            <a:ext cx="2107770" cy="1060272"/>
          </a:xfrm>
          <a:prstGeom prst="ellips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宋体" panose="02010600030101010101" pitchFamily="2" charset="-122"/>
                <a:ea typeface="宋体" panose="02010600030101010101" pitchFamily="2" charset="-122"/>
              </a:rPr>
              <a:t>分支跳转</a:t>
            </a:r>
            <a:r>
              <a:rPr lang="en-US" altLang="zh-CN" sz="2400" dirty="0">
                <a:solidFill>
                  <a:schemeClr val="tx1"/>
                </a:solidFill>
                <a:latin typeface="宋体" panose="02010600030101010101" pitchFamily="2" charset="-122"/>
                <a:ea typeface="宋体" panose="02010600030101010101" pitchFamily="2" charset="-122"/>
              </a:rPr>
              <a:t>10</a:t>
            </a:r>
          </a:p>
        </p:txBody>
      </p:sp>
      <p:sp>
        <p:nvSpPr>
          <p:cNvPr id="12" name="椭圆 11"/>
          <p:cNvSpPr/>
          <p:nvPr/>
        </p:nvSpPr>
        <p:spPr>
          <a:xfrm>
            <a:off x="2205212" y="4057975"/>
            <a:ext cx="2464231" cy="1060272"/>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宋体" panose="02010600030101010101" pitchFamily="2" charset="-122"/>
                <a:ea typeface="宋体" panose="02010600030101010101" pitchFamily="2" charset="-122"/>
              </a:rPr>
              <a:t>分支不跳转</a:t>
            </a:r>
            <a:r>
              <a:rPr lang="en-US" altLang="zh-CN" sz="2400" dirty="0">
                <a:solidFill>
                  <a:schemeClr val="tx1"/>
                </a:solidFill>
                <a:latin typeface="宋体" panose="02010600030101010101" pitchFamily="2" charset="-122"/>
                <a:ea typeface="宋体" panose="02010600030101010101" pitchFamily="2" charset="-122"/>
              </a:rPr>
              <a:t>00</a:t>
            </a:r>
          </a:p>
        </p:txBody>
      </p:sp>
      <p:sp>
        <p:nvSpPr>
          <p:cNvPr id="13" name="椭圆 12"/>
          <p:cNvSpPr/>
          <p:nvPr/>
        </p:nvSpPr>
        <p:spPr>
          <a:xfrm>
            <a:off x="7564597" y="4070890"/>
            <a:ext cx="2593380" cy="1060272"/>
          </a:xfrm>
          <a:prstGeom prst="ellipse">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tx1"/>
                </a:solidFill>
                <a:latin typeface="宋体" panose="02010600030101010101" pitchFamily="2" charset="-122"/>
                <a:ea typeface="宋体" panose="02010600030101010101" pitchFamily="2" charset="-122"/>
              </a:rPr>
              <a:t>分支不跳转</a:t>
            </a:r>
            <a:r>
              <a:rPr lang="en-US" altLang="zh-CN" sz="2400" dirty="0">
                <a:solidFill>
                  <a:schemeClr val="tx1"/>
                </a:solidFill>
                <a:latin typeface="宋体" panose="02010600030101010101" pitchFamily="2" charset="-122"/>
                <a:ea typeface="宋体" panose="02010600030101010101" pitchFamily="2" charset="-122"/>
              </a:rPr>
              <a:t>01</a:t>
            </a:r>
          </a:p>
        </p:txBody>
      </p:sp>
      <p:cxnSp>
        <p:nvCxnSpPr>
          <p:cNvPr id="15" name="直接连接符 14"/>
          <p:cNvCxnSpPr/>
          <p:nvPr/>
        </p:nvCxnSpPr>
        <p:spPr>
          <a:xfrm>
            <a:off x="4343982" y="2727702"/>
            <a:ext cx="3633370" cy="0"/>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4310403" y="3314053"/>
            <a:ext cx="3666949" cy="0"/>
          </a:xfrm>
          <a:prstGeom prst="line">
            <a:avLst/>
          </a:prstGeom>
          <a:ln w="25400">
            <a:solidFill>
              <a:schemeClr val="accent1">
                <a:lumMod val="60000"/>
                <a:lumOff val="40000"/>
              </a:schemeClr>
            </a:solidFill>
            <a:headEnd type="triangle"/>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4539484" y="4321445"/>
            <a:ext cx="3196130" cy="0"/>
          </a:xfrm>
          <a:prstGeom prst="line">
            <a:avLst/>
          </a:prstGeom>
          <a:ln w="25400">
            <a:headEnd type="triangle"/>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4467968" y="4907796"/>
            <a:ext cx="3362682" cy="0"/>
          </a:xfrm>
          <a:prstGeom prst="line">
            <a:avLst/>
          </a:prstGeom>
          <a:ln w="254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8466079" y="3543300"/>
            <a:ext cx="0" cy="565690"/>
          </a:xfrm>
          <a:prstGeom prst="line">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9351904" y="3517900"/>
            <a:ext cx="0" cy="591090"/>
          </a:xfrm>
          <a:prstGeom prst="line">
            <a:avLst/>
          </a:prstGeom>
          <a:ln w="25400">
            <a:solidFill>
              <a:schemeClr val="accent1">
                <a:lumMod val="60000"/>
                <a:lumOff val="40000"/>
              </a:schemeClr>
            </a:solidFill>
            <a:headEnd type="triangl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5305608" y="2322789"/>
            <a:ext cx="1723549" cy="461665"/>
          </a:xfrm>
          <a:prstGeom prst="rect">
            <a:avLst/>
          </a:prstGeom>
          <a:noFill/>
        </p:spPr>
        <p:txBody>
          <a:bodyPr wrap="none" rtlCol="0">
            <a:spAutoFit/>
          </a:bodyPr>
          <a:lstStyle/>
          <a:p>
            <a:pPr algn="ctr"/>
            <a:r>
              <a:rPr lang="zh-CN" altLang="en-US" sz="2400" dirty="0">
                <a:latin typeface="宋体" panose="02010600030101010101" pitchFamily="2" charset="-122"/>
                <a:ea typeface="宋体" panose="02010600030101010101" pitchFamily="2" charset="-122"/>
              </a:rPr>
              <a:t>未发生跳转</a:t>
            </a:r>
          </a:p>
        </p:txBody>
      </p:sp>
      <p:sp>
        <p:nvSpPr>
          <p:cNvPr id="34" name="文本框 33"/>
          <p:cNvSpPr txBox="1"/>
          <p:nvPr/>
        </p:nvSpPr>
        <p:spPr>
          <a:xfrm>
            <a:off x="5342392" y="3883570"/>
            <a:ext cx="1723549" cy="461665"/>
          </a:xfrm>
          <a:prstGeom prst="rect">
            <a:avLst/>
          </a:prstGeom>
          <a:noFill/>
        </p:spPr>
        <p:txBody>
          <a:bodyPr wrap="none" rtlCol="0">
            <a:spAutoFit/>
          </a:bodyPr>
          <a:lstStyle/>
          <a:p>
            <a:pPr algn="ctr"/>
            <a:r>
              <a:rPr lang="zh-CN" altLang="en-US" sz="2400" dirty="0">
                <a:latin typeface="宋体" panose="02010600030101010101" pitchFamily="2" charset="-122"/>
                <a:ea typeface="宋体" panose="02010600030101010101" pitchFamily="2" charset="-122"/>
              </a:rPr>
              <a:t>未发生跳转</a:t>
            </a:r>
          </a:p>
        </p:txBody>
      </p:sp>
      <p:sp>
        <p:nvSpPr>
          <p:cNvPr id="35" name="文本框 34"/>
          <p:cNvSpPr txBox="1"/>
          <p:nvPr/>
        </p:nvSpPr>
        <p:spPr>
          <a:xfrm>
            <a:off x="5394318" y="4908327"/>
            <a:ext cx="1415772" cy="461665"/>
          </a:xfrm>
          <a:prstGeom prst="rect">
            <a:avLst/>
          </a:prstGeom>
          <a:noFill/>
        </p:spPr>
        <p:txBody>
          <a:bodyPr wrap="none" rtlCol="0">
            <a:spAutoFit/>
          </a:bodyPr>
          <a:lstStyle/>
          <a:p>
            <a:pPr algn="ctr"/>
            <a:r>
              <a:rPr lang="zh-CN" altLang="en-US" sz="2400" dirty="0">
                <a:latin typeface="宋体" panose="02010600030101010101" pitchFamily="2" charset="-122"/>
                <a:ea typeface="宋体" panose="02010600030101010101" pitchFamily="2" charset="-122"/>
              </a:rPr>
              <a:t>发生跳转</a:t>
            </a:r>
          </a:p>
        </p:txBody>
      </p:sp>
      <p:sp>
        <p:nvSpPr>
          <p:cNvPr id="36" name="文本框 35"/>
          <p:cNvSpPr txBox="1"/>
          <p:nvPr/>
        </p:nvSpPr>
        <p:spPr>
          <a:xfrm>
            <a:off x="5410084" y="3316012"/>
            <a:ext cx="1415772" cy="461665"/>
          </a:xfrm>
          <a:prstGeom prst="rect">
            <a:avLst/>
          </a:prstGeom>
          <a:noFill/>
        </p:spPr>
        <p:txBody>
          <a:bodyPr wrap="none" rtlCol="0">
            <a:spAutoFit/>
          </a:bodyPr>
          <a:lstStyle/>
          <a:p>
            <a:pPr algn="ctr"/>
            <a:r>
              <a:rPr lang="zh-CN" altLang="en-US" sz="2400" dirty="0">
                <a:latin typeface="宋体" panose="02010600030101010101" pitchFamily="2" charset="-122"/>
                <a:ea typeface="宋体" panose="02010600030101010101" pitchFamily="2" charset="-122"/>
              </a:rPr>
              <a:t>发生跳转</a:t>
            </a:r>
          </a:p>
        </p:txBody>
      </p:sp>
      <p:sp>
        <p:nvSpPr>
          <p:cNvPr id="41" name="文本框 40"/>
          <p:cNvSpPr txBox="1"/>
          <p:nvPr/>
        </p:nvSpPr>
        <p:spPr>
          <a:xfrm>
            <a:off x="6866392" y="3568260"/>
            <a:ext cx="1723549" cy="461665"/>
          </a:xfrm>
          <a:prstGeom prst="rect">
            <a:avLst/>
          </a:prstGeom>
          <a:noFill/>
        </p:spPr>
        <p:txBody>
          <a:bodyPr wrap="none" rtlCol="0">
            <a:spAutoFit/>
          </a:bodyPr>
          <a:lstStyle/>
          <a:p>
            <a:pPr algn="ctr"/>
            <a:r>
              <a:rPr lang="zh-CN" altLang="en-US" sz="2400" dirty="0">
                <a:latin typeface="宋体" panose="02010600030101010101" pitchFamily="2" charset="-122"/>
                <a:ea typeface="宋体" panose="02010600030101010101" pitchFamily="2" charset="-122"/>
              </a:rPr>
              <a:t>未发生跳转</a:t>
            </a:r>
          </a:p>
        </p:txBody>
      </p:sp>
      <p:sp>
        <p:nvSpPr>
          <p:cNvPr id="42" name="文本框 41"/>
          <p:cNvSpPr txBox="1"/>
          <p:nvPr/>
        </p:nvSpPr>
        <p:spPr>
          <a:xfrm>
            <a:off x="9304159" y="3573514"/>
            <a:ext cx="1415772" cy="461665"/>
          </a:xfrm>
          <a:prstGeom prst="rect">
            <a:avLst/>
          </a:prstGeom>
          <a:noFill/>
        </p:spPr>
        <p:txBody>
          <a:bodyPr wrap="none" rtlCol="0">
            <a:spAutoFit/>
          </a:bodyPr>
          <a:lstStyle/>
          <a:p>
            <a:pPr algn="ctr"/>
            <a:r>
              <a:rPr lang="zh-CN" altLang="en-US" sz="2400" dirty="0">
                <a:latin typeface="宋体" panose="02010600030101010101" pitchFamily="2" charset="-122"/>
                <a:ea typeface="宋体" panose="02010600030101010101" pitchFamily="2" charset="-122"/>
              </a:rPr>
              <a:t>发生跳转</a:t>
            </a:r>
          </a:p>
        </p:txBody>
      </p:sp>
      <p:sp>
        <p:nvSpPr>
          <p:cNvPr id="40" name="弧形 39"/>
          <p:cNvSpPr/>
          <p:nvPr/>
        </p:nvSpPr>
        <p:spPr>
          <a:xfrm>
            <a:off x="2817015" y="2092284"/>
            <a:ext cx="1175301" cy="1060272"/>
          </a:xfrm>
          <a:prstGeom prst="arc">
            <a:avLst>
              <a:gd name="adj1" fmla="val 10846914"/>
              <a:gd name="adj2" fmla="val 0"/>
            </a:avLst>
          </a:prstGeom>
          <a:ln w="254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5" name="文本框 44"/>
          <p:cNvSpPr txBox="1"/>
          <p:nvPr/>
        </p:nvSpPr>
        <p:spPr>
          <a:xfrm>
            <a:off x="1421421" y="2238704"/>
            <a:ext cx="1415772" cy="461665"/>
          </a:xfrm>
          <a:prstGeom prst="rect">
            <a:avLst/>
          </a:prstGeom>
          <a:noFill/>
        </p:spPr>
        <p:txBody>
          <a:bodyPr wrap="none" rtlCol="0">
            <a:spAutoFit/>
          </a:bodyPr>
          <a:lstStyle/>
          <a:p>
            <a:pPr algn="ctr"/>
            <a:r>
              <a:rPr lang="zh-CN" altLang="en-US" sz="2400" dirty="0">
                <a:latin typeface="宋体" panose="02010600030101010101" pitchFamily="2" charset="-122"/>
                <a:ea typeface="宋体" panose="02010600030101010101" pitchFamily="2" charset="-122"/>
              </a:rPr>
              <a:t>发生跳转</a:t>
            </a:r>
          </a:p>
        </p:txBody>
      </p:sp>
      <p:sp>
        <p:nvSpPr>
          <p:cNvPr id="46" name="弧形 45"/>
          <p:cNvSpPr/>
          <p:nvPr/>
        </p:nvSpPr>
        <p:spPr>
          <a:xfrm rot="10800000">
            <a:off x="2811761" y="4514914"/>
            <a:ext cx="1175301" cy="1060272"/>
          </a:xfrm>
          <a:prstGeom prst="arc">
            <a:avLst>
              <a:gd name="adj1" fmla="val 10846914"/>
              <a:gd name="adj2" fmla="val 0"/>
            </a:avLst>
          </a:prstGeom>
          <a:ln w="254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文本框 46"/>
          <p:cNvSpPr txBox="1"/>
          <p:nvPr/>
        </p:nvSpPr>
        <p:spPr>
          <a:xfrm>
            <a:off x="1164543" y="5013435"/>
            <a:ext cx="1723549" cy="461665"/>
          </a:xfrm>
          <a:prstGeom prst="rect">
            <a:avLst/>
          </a:prstGeom>
          <a:noFill/>
        </p:spPr>
        <p:txBody>
          <a:bodyPr wrap="none" rtlCol="0">
            <a:spAutoFit/>
          </a:bodyPr>
          <a:lstStyle/>
          <a:p>
            <a:pPr algn="ctr"/>
            <a:r>
              <a:rPr lang="zh-CN" altLang="en-US" sz="2400" dirty="0">
                <a:latin typeface="宋体" panose="02010600030101010101" pitchFamily="2" charset="-122"/>
                <a:ea typeface="宋体" panose="02010600030101010101" pitchFamily="2" charset="-122"/>
              </a:rPr>
              <a:t>未发生跳转</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3"/>
          <p:cNvSpPr>
            <a:spLocks noGrp="1" noChangeArrowheads="1"/>
          </p:cNvSpPr>
          <p:nvPr>
            <p:ph idx="1"/>
          </p:nvPr>
        </p:nvSpPr>
        <p:spPr/>
        <p:txBody>
          <a:bodyPr>
            <a:normAutofit/>
          </a:bodyPr>
          <a:lstStyle/>
          <a:p>
            <a:pPr eaLnBrk="1" hangingPunct="1">
              <a:lnSpc>
                <a:spcPct val="150000"/>
              </a:lnSpc>
            </a:pPr>
            <a:r>
              <a:rPr lang="zh-CN" altLang="en-US" dirty="0">
                <a:latin typeface="Times New Roman" panose="02020603050405020304" pitchFamily="18" charset="0"/>
                <a:cs typeface="Times New Roman" panose="02020603050405020304" pitchFamily="18" charset="0"/>
              </a:rPr>
              <a:t>除了判断分支是否发生，还要计算分支目标地址</a:t>
            </a:r>
            <a:endParaRPr lang="en-US" altLang="zh-CN" dirty="0">
              <a:latin typeface="Times New Roman" panose="02020603050405020304" pitchFamily="18" charset="0"/>
              <a:cs typeface="Times New Roman" panose="02020603050405020304" pitchFamily="18" charset="0"/>
            </a:endParaRPr>
          </a:p>
          <a:p>
            <a:pPr lvl="1" eaLnBrk="1" hangingPunct="1">
              <a:lnSpc>
                <a:spcPct val="150000"/>
              </a:lnSpc>
            </a:pPr>
            <a:r>
              <a:rPr lang="zh-CN" altLang="en-US" dirty="0">
                <a:latin typeface="Times New Roman" panose="02020603050405020304" pitchFamily="18" charset="0"/>
                <a:cs typeface="Times New Roman" panose="02020603050405020304" pitchFamily="18" charset="0"/>
              </a:rPr>
              <a:t>发生跳转时需要一个时钟周期的代价来计算分支目标地址</a:t>
            </a:r>
            <a:endParaRPr lang="en-US" altLang="zh-CN" dirty="0">
              <a:latin typeface="Times New Roman" panose="02020603050405020304" pitchFamily="18" charset="0"/>
              <a:cs typeface="Times New Roman" panose="02020603050405020304" pitchFamily="18" charset="0"/>
            </a:endParaRPr>
          </a:p>
          <a:p>
            <a:pPr eaLnBrk="1" hangingPunct="1">
              <a:lnSpc>
                <a:spcPct val="150000"/>
              </a:lnSpc>
            </a:pPr>
            <a:r>
              <a:rPr lang="zh-CN" altLang="en-US" dirty="0">
                <a:latin typeface="Times New Roman" panose="02020603050405020304" pitchFamily="18" charset="0"/>
                <a:cs typeface="Times New Roman" panose="02020603050405020304" pitchFamily="18" charset="0"/>
              </a:rPr>
              <a:t>使用分支目标缓存</a:t>
            </a:r>
            <a:endParaRPr lang="en-US" altLang="zh-CN" dirty="0">
              <a:latin typeface="Times New Roman" panose="02020603050405020304" pitchFamily="18" charset="0"/>
              <a:cs typeface="Times New Roman" panose="02020603050405020304" pitchFamily="18" charset="0"/>
            </a:endParaRPr>
          </a:p>
          <a:p>
            <a:pPr lvl="1" eaLnBrk="1" hangingPunct="1">
              <a:lnSpc>
                <a:spcPct val="150000"/>
              </a:lnSpc>
            </a:pPr>
            <a:r>
              <a:rPr lang="zh-CN" altLang="en-US" dirty="0">
                <a:latin typeface="Times New Roman" panose="02020603050405020304" pitchFamily="18" charset="0"/>
                <a:cs typeface="Times New Roman" panose="02020603050405020304" pitchFamily="18" charset="0"/>
              </a:rPr>
              <a:t>缓存分支目标</a:t>
            </a:r>
            <a:r>
              <a:rPr lang="en-US" altLang="zh-CN" dirty="0">
                <a:latin typeface="Times New Roman" panose="02020603050405020304" pitchFamily="18" charset="0"/>
                <a:cs typeface="Times New Roman" panose="02020603050405020304" pitchFamily="18" charset="0"/>
              </a:rPr>
              <a:t>PC</a:t>
            </a:r>
            <a:r>
              <a:rPr lang="zh-CN" altLang="en-US" dirty="0">
                <a:latin typeface="Times New Roman" panose="02020603050405020304" pitchFamily="18" charset="0"/>
                <a:cs typeface="Times New Roman" panose="02020603050405020304" pitchFamily="18" charset="0"/>
              </a:rPr>
              <a:t>值或目标指令</a:t>
            </a:r>
            <a:endParaRPr lang="en-US" altLang="zh-CN" dirty="0">
              <a:latin typeface="Times New Roman" panose="02020603050405020304" pitchFamily="18" charset="0"/>
              <a:cs typeface="Times New Roman" panose="02020603050405020304" pitchFamily="18" charset="0"/>
            </a:endParaRPr>
          </a:p>
          <a:p>
            <a:pPr lvl="1" eaLnBrk="1" hangingPunct="1">
              <a:lnSpc>
                <a:spcPct val="150000"/>
              </a:lnSpc>
            </a:pPr>
            <a:r>
              <a:rPr lang="zh-CN" altLang="en-US" dirty="0">
                <a:latin typeface="Times New Roman" panose="02020603050405020304" pitchFamily="18" charset="0"/>
                <a:cs typeface="Times New Roman" panose="02020603050405020304" pitchFamily="18" charset="0"/>
              </a:rPr>
              <a:t>根据当前分支指令的</a:t>
            </a:r>
            <a:r>
              <a:rPr lang="en-US" altLang="zh-CN" dirty="0">
                <a:latin typeface="Times New Roman" panose="02020603050405020304" pitchFamily="18" charset="0"/>
                <a:cs typeface="Times New Roman" panose="02020603050405020304" pitchFamily="18" charset="0"/>
              </a:rPr>
              <a:t>PC</a:t>
            </a:r>
            <a:r>
              <a:rPr lang="zh-CN" altLang="en-US" dirty="0">
                <a:latin typeface="Times New Roman" panose="02020603050405020304" pitchFamily="18" charset="0"/>
                <a:cs typeface="Times New Roman" panose="02020603050405020304" pitchFamily="18" charset="0"/>
              </a:rPr>
              <a:t>值来索引定位</a:t>
            </a:r>
            <a:endParaRPr lang="en-US" altLang="zh-CN" dirty="0">
              <a:latin typeface="Times New Roman" panose="02020603050405020304" pitchFamily="18" charset="0"/>
              <a:cs typeface="Times New Roman" panose="02020603050405020304" pitchFamily="18" charset="0"/>
            </a:endParaRPr>
          </a:p>
          <a:p>
            <a:pPr lvl="2" eaLnBrk="1" hangingPunct="1">
              <a:lnSpc>
                <a:spcPct val="150000"/>
              </a:lnSpc>
            </a:pPr>
            <a:r>
              <a:rPr lang="zh-CN" altLang="en-US" dirty="0">
                <a:latin typeface="Times New Roman" panose="02020603050405020304" pitchFamily="18" charset="0"/>
                <a:cs typeface="Times New Roman" panose="02020603050405020304" pitchFamily="18" charset="0"/>
              </a:rPr>
              <a:t>如果缓存中有目标</a:t>
            </a:r>
            <a:r>
              <a:rPr lang="en-US" altLang="zh-CN" dirty="0">
                <a:latin typeface="Times New Roman" panose="02020603050405020304" pitchFamily="18" charset="0"/>
                <a:cs typeface="Times New Roman" panose="02020603050405020304" pitchFamily="18" charset="0"/>
              </a:rPr>
              <a:t>PC</a:t>
            </a:r>
            <a:r>
              <a:rPr lang="zh-CN" altLang="en-US" dirty="0">
                <a:latin typeface="Times New Roman" panose="02020603050405020304" pitchFamily="18" charset="0"/>
                <a:cs typeface="Times New Roman" panose="02020603050405020304" pitchFamily="18" charset="0"/>
              </a:rPr>
              <a:t>值或指令，且分支预测跳转，就能读取缓存结果，立即使用</a:t>
            </a:r>
            <a:endParaRPr lang="en-US" altLang="zh-CN" dirty="0">
              <a:latin typeface="Times New Roman" panose="02020603050405020304" pitchFamily="18" charset="0"/>
              <a:cs typeface="Times New Roman" panose="02020603050405020304" pitchFamily="18" charset="0"/>
            </a:endParaRPr>
          </a:p>
          <a:p>
            <a:pPr lvl="1"/>
            <a:endParaRPr lang="en-US" altLang="en-US" dirty="0">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8EE8E787-E6FE-45D8-9039-788B45E44EE7}" type="slidenum">
              <a:rPr lang="zh-CN" altLang="en-US" smtClean="0"/>
              <a:t>76</a:t>
            </a:fld>
            <a:endParaRPr lang="zh-CN" altLang="en-US" dirty="0"/>
          </a:p>
        </p:txBody>
      </p:sp>
      <p:sp>
        <p:nvSpPr>
          <p:cNvPr id="4" name="标题 3"/>
          <p:cNvSpPr>
            <a:spLocks noGrp="1"/>
          </p:cNvSpPr>
          <p:nvPr>
            <p:ph type="title"/>
          </p:nvPr>
        </p:nvSpPr>
        <p:spPr/>
        <p:txBody>
          <a:bodyPr/>
          <a:lstStyle/>
          <a:p>
            <a:r>
              <a:rPr lang="zh-CN" altLang="en-US" dirty="0"/>
              <a:t>分支目标计算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132">
                                            <p:txEl>
                                              <p:pRg st="1" end="1"/>
                                            </p:txEl>
                                          </p:spTgt>
                                        </p:tgtEl>
                                        <p:attrNameLst>
                                          <p:attrName>style.visibility</p:attrName>
                                        </p:attrNameLst>
                                      </p:cBhvr>
                                      <p:to>
                                        <p:strVal val="visible"/>
                                      </p:to>
                                    </p:set>
                                    <p:animEffect transition="in" filter="fade">
                                      <p:cBhvr>
                                        <p:cTn id="7" dur="500"/>
                                        <p:tgtEl>
                                          <p:spTgt spid="4813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132">
                                            <p:txEl>
                                              <p:pRg st="2" end="2"/>
                                            </p:txEl>
                                          </p:spTgt>
                                        </p:tgtEl>
                                        <p:attrNameLst>
                                          <p:attrName>style.visibility</p:attrName>
                                        </p:attrNameLst>
                                      </p:cBhvr>
                                      <p:to>
                                        <p:strVal val="visible"/>
                                      </p:to>
                                    </p:set>
                                    <p:animEffect transition="in" filter="fade">
                                      <p:cBhvr>
                                        <p:cTn id="12" dur="500"/>
                                        <p:tgtEl>
                                          <p:spTgt spid="48132">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8132">
                                            <p:txEl>
                                              <p:pRg st="3" end="3"/>
                                            </p:txEl>
                                          </p:spTgt>
                                        </p:tgtEl>
                                        <p:attrNameLst>
                                          <p:attrName>style.visibility</p:attrName>
                                        </p:attrNameLst>
                                      </p:cBhvr>
                                      <p:to>
                                        <p:strVal val="visible"/>
                                      </p:to>
                                    </p:set>
                                    <p:animEffect transition="in" filter="fade">
                                      <p:cBhvr>
                                        <p:cTn id="15" dur="500"/>
                                        <p:tgtEl>
                                          <p:spTgt spid="48132">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8132">
                                            <p:txEl>
                                              <p:pRg st="4" end="4"/>
                                            </p:txEl>
                                          </p:spTgt>
                                        </p:tgtEl>
                                        <p:attrNameLst>
                                          <p:attrName>style.visibility</p:attrName>
                                        </p:attrNameLst>
                                      </p:cBhvr>
                                      <p:to>
                                        <p:strVal val="visible"/>
                                      </p:to>
                                    </p:set>
                                    <p:animEffect transition="in" filter="fade">
                                      <p:cBhvr>
                                        <p:cTn id="20" dur="500"/>
                                        <p:tgtEl>
                                          <p:spTgt spid="48132">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48132">
                                            <p:txEl>
                                              <p:pRg st="5" end="5"/>
                                            </p:txEl>
                                          </p:spTgt>
                                        </p:tgtEl>
                                        <p:attrNameLst>
                                          <p:attrName>style.visibility</p:attrName>
                                        </p:attrNameLst>
                                      </p:cBhvr>
                                      <p:to>
                                        <p:strVal val="visible"/>
                                      </p:to>
                                    </p:set>
                                    <p:animEffect transition="in" filter="fade">
                                      <p:cBhvr>
                                        <p:cTn id="23" dur="500"/>
                                        <p:tgtEl>
                                          <p:spTgt spid="4813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38200" y="1666240"/>
            <a:ext cx="10515600" cy="4944110"/>
          </a:xfrm>
        </p:spPr>
        <p:txBody>
          <a:bodyPr>
            <a:normAutofit/>
          </a:bodyPr>
          <a:lstStyle/>
          <a:p>
            <a:pPr>
              <a:spcBef>
                <a:spcPct val="0"/>
              </a:spcBef>
            </a:pPr>
            <a:r>
              <a:rPr lang="zh-CN" altLang="en-US" dirty="0"/>
              <a:t>流水线概述</a:t>
            </a:r>
            <a:endParaRPr lang="en-US" altLang="zh-CN" dirty="0"/>
          </a:p>
          <a:p>
            <a:pPr>
              <a:spcBef>
                <a:spcPct val="0"/>
              </a:spcBef>
            </a:pPr>
            <a:r>
              <a:rPr lang="zh-CN" altLang="en-US" dirty="0"/>
              <a:t>流水线数据通路和控制</a:t>
            </a:r>
            <a:endParaRPr lang="en-US" altLang="zh-CN" dirty="0"/>
          </a:p>
          <a:p>
            <a:pPr>
              <a:spcBef>
                <a:spcPct val="0"/>
              </a:spcBef>
            </a:pPr>
            <a:r>
              <a:rPr lang="zh-CN" altLang="en-US" dirty="0"/>
              <a:t>数据冒险：前递与停顿</a:t>
            </a:r>
            <a:endParaRPr lang="en-US" altLang="zh-CN" dirty="0"/>
          </a:p>
          <a:p>
            <a:pPr>
              <a:spcBef>
                <a:spcPct val="0"/>
              </a:spcBef>
            </a:pPr>
            <a:r>
              <a:rPr lang="zh-CN" altLang="en-US" dirty="0"/>
              <a:t>控制冒险</a:t>
            </a:r>
            <a:endParaRPr lang="en-US" altLang="zh-CN" dirty="0"/>
          </a:p>
          <a:p>
            <a:pPr>
              <a:spcBef>
                <a:spcPct val="0"/>
              </a:spcBef>
            </a:pPr>
            <a:r>
              <a:rPr lang="zh-CN" altLang="en-US" b="1" dirty="0"/>
              <a:t>例外</a:t>
            </a:r>
            <a:endParaRPr lang="en-US" altLang="zh-CN" b="1" dirty="0"/>
          </a:p>
        </p:txBody>
      </p:sp>
      <p:sp>
        <p:nvSpPr>
          <p:cNvPr id="3" name="标题 2"/>
          <p:cNvSpPr>
            <a:spLocks noGrp="1"/>
          </p:cNvSpPr>
          <p:nvPr>
            <p:ph type="title"/>
          </p:nvPr>
        </p:nvSpPr>
        <p:spPr/>
        <p:txBody>
          <a:bodyPr/>
          <a:lstStyle/>
          <a:p>
            <a:r>
              <a:rPr lang="zh-CN" altLang="en-US" dirty="0"/>
              <a:t>第五章</a:t>
            </a:r>
          </a:p>
        </p:txBody>
      </p:sp>
      <p:sp>
        <p:nvSpPr>
          <p:cNvPr id="6" name="灯片编号占位符 5"/>
          <p:cNvSpPr>
            <a:spLocks noGrp="1"/>
          </p:cNvSpPr>
          <p:nvPr>
            <p:ph type="sldNum" sz="quarter" idx="12"/>
          </p:nvPr>
        </p:nvSpPr>
        <p:spPr/>
        <p:txBody>
          <a:bodyPr/>
          <a:lstStyle/>
          <a:p>
            <a:fld id="{8EE8E787-E6FE-45D8-9039-788B45E44EE7}" type="slidenum">
              <a:rPr lang="zh-CN" altLang="en-US" smtClean="0"/>
              <a:t>77</a:t>
            </a:fld>
            <a:endParaRPr lang="zh-CN" altLang="en-US" dirty="0"/>
          </a:p>
        </p:txBody>
      </p:sp>
    </p:spTree>
    <p:extLst>
      <p:ext uri="{BB962C8B-B14F-4D97-AF65-F5344CB8AC3E}">
        <p14:creationId xmlns:p14="http://schemas.microsoft.com/office/powerpoint/2010/main" val="11316964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3"/>
          <p:cNvSpPr>
            <a:spLocks noGrp="1" noChangeArrowheads="1"/>
          </p:cNvSpPr>
          <p:nvPr>
            <p:ph idx="1"/>
          </p:nvPr>
        </p:nvSpPr>
        <p:spPr/>
        <p:txBody>
          <a:bodyPr>
            <a:normAutofit/>
          </a:bodyPr>
          <a:lstStyle/>
          <a:p>
            <a:pPr eaLnBrk="1" hangingPunct="1">
              <a:lnSpc>
                <a:spcPct val="130000"/>
              </a:lnSpc>
            </a:pPr>
            <a:r>
              <a:rPr lang="zh-CN" altLang="en-US" sz="2800" dirty="0">
                <a:latin typeface="Times New Roman" panose="02020603050405020304" pitchFamily="18" charset="0"/>
                <a:cs typeface="Times New Roman" panose="02020603050405020304" pitchFamily="18" charset="0"/>
              </a:rPr>
              <a:t>例外和中断是控制逻辑需要实现的任务之一</a:t>
            </a:r>
            <a:endParaRPr lang="en-US" altLang="zh-CN" sz="2800" dirty="0">
              <a:latin typeface="Times New Roman" panose="02020603050405020304" pitchFamily="18" charset="0"/>
              <a:cs typeface="Times New Roman" panose="02020603050405020304" pitchFamily="18" charset="0"/>
            </a:endParaRPr>
          </a:p>
          <a:p>
            <a:pPr lvl="1" eaLnBrk="1" hangingPunct="1">
              <a:lnSpc>
                <a:spcPct val="130000"/>
              </a:lnSpc>
            </a:pPr>
            <a:r>
              <a:rPr lang="zh-CN" altLang="en-US" sz="2400" dirty="0">
                <a:latin typeface="Times New Roman" panose="02020603050405020304" pitchFamily="18" charset="0"/>
                <a:cs typeface="Times New Roman" panose="02020603050405020304" pitchFamily="18" charset="0"/>
              </a:rPr>
              <a:t>除分支指令外，另一种改变指令执行控制流的方式</a:t>
            </a:r>
            <a:endParaRPr lang="en-US" altLang="zh-CN" sz="2400" dirty="0">
              <a:latin typeface="Times New Roman" panose="02020603050405020304" pitchFamily="18" charset="0"/>
              <a:cs typeface="Times New Roman" panose="02020603050405020304" pitchFamily="18" charset="0"/>
            </a:endParaRPr>
          </a:p>
          <a:p>
            <a:pPr eaLnBrk="1" hangingPunct="1">
              <a:lnSpc>
                <a:spcPct val="130000"/>
              </a:lnSpc>
            </a:pPr>
            <a:r>
              <a:rPr lang="zh-CN" altLang="en-US" sz="2800" dirty="0">
                <a:latin typeface="Times New Roman" panose="02020603050405020304" pitchFamily="18" charset="0"/>
                <a:cs typeface="Times New Roman" panose="02020603050405020304" pitchFamily="18" charset="0"/>
              </a:rPr>
              <a:t>不同的</a:t>
            </a:r>
            <a:r>
              <a:rPr lang="en-US" altLang="zh-CN" sz="2800" dirty="0">
                <a:latin typeface="Times New Roman" panose="02020603050405020304" pitchFamily="18" charset="0"/>
                <a:cs typeface="Times New Roman" panose="02020603050405020304" pitchFamily="18" charset="0"/>
              </a:rPr>
              <a:t>ISA</a:t>
            </a:r>
            <a:r>
              <a:rPr lang="zh-CN" altLang="en-US" sz="2800" dirty="0">
                <a:latin typeface="Times New Roman" panose="02020603050405020304" pitchFamily="18" charset="0"/>
                <a:cs typeface="Times New Roman" panose="02020603050405020304" pitchFamily="18" charset="0"/>
              </a:rPr>
              <a:t>对于例外和中断的定义不同</a:t>
            </a:r>
          </a:p>
          <a:p>
            <a:pPr lvl="1" eaLnBrk="1" hangingPunct="1">
              <a:lnSpc>
                <a:spcPct val="130000"/>
              </a:lnSpc>
            </a:pPr>
            <a:r>
              <a:rPr lang="en-US" altLang="zh-CN" sz="2400" dirty="0">
                <a:latin typeface="Times New Roman" panose="02020603050405020304" pitchFamily="18" charset="0"/>
                <a:cs typeface="Times New Roman" panose="02020603050405020304" pitchFamily="18" charset="0"/>
              </a:rPr>
              <a:t>Intel x86</a:t>
            </a:r>
            <a:r>
              <a:rPr lang="zh-CN" altLang="en-US" sz="2400" dirty="0">
                <a:latin typeface="Times New Roman" panose="02020603050405020304" pitchFamily="18" charset="0"/>
                <a:cs typeface="Times New Roman" panose="02020603050405020304" pitchFamily="18" charset="0"/>
              </a:rPr>
              <a:t>使用中断同时指代两者</a:t>
            </a:r>
            <a:endParaRPr lang="en-US" altLang="zh-CN" sz="2400" dirty="0">
              <a:latin typeface="Times New Roman" panose="02020603050405020304" pitchFamily="18" charset="0"/>
              <a:cs typeface="Times New Roman" panose="02020603050405020304" pitchFamily="18" charset="0"/>
            </a:endParaRPr>
          </a:p>
          <a:p>
            <a:pPr lvl="1" eaLnBrk="1" hangingPunct="1">
              <a:lnSpc>
                <a:spcPct val="130000"/>
              </a:lnSpc>
            </a:pPr>
            <a:r>
              <a:rPr lang="zh-CN" altLang="en-US" sz="2450" dirty="0">
                <a:latin typeface="Times New Roman" panose="02020603050405020304" pitchFamily="18" charset="0"/>
                <a:cs typeface="Times New Roman" panose="02020603050405020304" pitchFamily="18" charset="0"/>
              </a:rPr>
              <a:t>对于</a:t>
            </a:r>
            <a:r>
              <a:rPr lang="en-US" altLang="zh-CN" sz="2450" dirty="0">
                <a:latin typeface="Times New Roman" panose="02020603050405020304" pitchFamily="18" charset="0"/>
                <a:cs typeface="Times New Roman" panose="02020603050405020304" pitchFamily="18" charset="0"/>
              </a:rPr>
              <a:t>RISC-V</a:t>
            </a:r>
          </a:p>
          <a:p>
            <a:pPr marL="457200" lvl="1" indent="0" eaLnBrk="1" hangingPunct="1">
              <a:lnSpc>
                <a:spcPct val="130000"/>
              </a:lnSpc>
              <a:buNone/>
            </a:pPr>
            <a:r>
              <a:rPr lang="zh-CN" altLang="en-US" sz="2400" dirty="0">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例外</a:t>
            </a:r>
            <a:r>
              <a:rPr lang="zh-CN" altLang="en-US" sz="2400" dirty="0">
                <a:latin typeface="Times New Roman" panose="02020603050405020304" pitchFamily="18" charset="0"/>
                <a:cs typeface="Times New Roman" panose="02020603050405020304" pitchFamily="18" charset="0"/>
              </a:rPr>
              <a:t> 指 </a:t>
            </a:r>
            <a:r>
              <a:rPr lang="zh-CN" altLang="en-US" sz="2400" b="1" dirty="0">
                <a:latin typeface="Times New Roman" panose="02020603050405020304" pitchFamily="18" charset="0"/>
                <a:cs typeface="Times New Roman" panose="02020603050405020304" pitchFamily="18" charset="0"/>
              </a:rPr>
              <a:t>意外的控制流变化</a:t>
            </a:r>
            <a:r>
              <a:rPr lang="zh-CN" altLang="en-US" sz="2400" dirty="0">
                <a:latin typeface="Times New Roman" panose="02020603050405020304" pitchFamily="18" charset="0"/>
                <a:cs typeface="Times New Roman" panose="02020603050405020304" pitchFamily="18" charset="0"/>
              </a:rPr>
              <a:t>，而这些变化无须区分产生原因是来自于处理器内部还是外部</a:t>
            </a:r>
            <a:endParaRPr lang="en-US" altLang="zh-CN" sz="2400" dirty="0">
              <a:latin typeface="Times New Roman" panose="02020603050405020304" pitchFamily="18" charset="0"/>
              <a:cs typeface="Times New Roman" panose="02020603050405020304" pitchFamily="18" charset="0"/>
            </a:endParaRPr>
          </a:p>
          <a:p>
            <a:pPr marL="457200" lvl="1" indent="0" algn="l" eaLnBrk="1" hangingPunct="1">
              <a:lnSpc>
                <a:spcPct val="130000"/>
              </a:lnSpc>
              <a:buSzTx/>
              <a:buNone/>
            </a:pPr>
            <a:r>
              <a:rPr lang="zh-CN" altLang="en-US" sz="2400" dirty="0">
                <a:latin typeface="Times New Roman" panose="02020603050405020304" pitchFamily="18" charset="0"/>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中断 </a:t>
            </a:r>
            <a:r>
              <a:rPr lang="zh-CN" altLang="en-US" sz="2400" dirty="0">
                <a:latin typeface="Times New Roman" panose="02020603050405020304" pitchFamily="18" charset="0"/>
                <a:cs typeface="Times New Roman" panose="02020603050405020304" pitchFamily="18" charset="0"/>
              </a:rPr>
              <a:t>仅指 </a:t>
            </a:r>
            <a:r>
              <a:rPr lang="zh-CN" altLang="en-US" sz="2400" b="1" dirty="0">
                <a:latin typeface="Times New Roman" panose="02020603050405020304" pitchFamily="18" charset="0"/>
                <a:cs typeface="Times New Roman" panose="02020603050405020304" pitchFamily="18" charset="0"/>
              </a:rPr>
              <a:t>由处理器外部事件引发 </a:t>
            </a:r>
            <a:r>
              <a:rPr lang="zh-CN" altLang="en-US" sz="2400" dirty="0">
                <a:latin typeface="Times New Roman" panose="02020603050405020304" pitchFamily="18" charset="0"/>
                <a:cs typeface="Times New Roman" panose="02020603050405020304" pitchFamily="18" charset="0"/>
              </a:rPr>
              <a:t>的控制流变化</a:t>
            </a:r>
          </a:p>
          <a:p>
            <a:pPr eaLnBrk="1" hangingPunct="1">
              <a:lnSpc>
                <a:spcPct val="130000"/>
              </a:lnSpc>
            </a:pPr>
            <a:r>
              <a:rPr lang="zh-CN" altLang="en-US" sz="2800" dirty="0">
                <a:latin typeface="Times New Roman" panose="02020603050405020304" pitchFamily="18" charset="0"/>
                <a:cs typeface="Times New Roman" panose="02020603050405020304" pitchFamily="18" charset="0"/>
              </a:rPr>
              <a:t>对例外进行时序优化是困难的</a:t>
            </a:r>
            <a:endParaRPr lang="en-US" altLang="en-US" sz="2800" dirty="0">
              <a:latin typeface="Times New Roman" panose="02020603050405020304" pitchFamily="18" charset="0"/>
              <a:cs typeface="Times New Roman" panose="02020603050405020304" pitchFamily="18" charset="0"/>
            </a:endParaRPr>
          </a:p>
        </p:txBody>
      </p:sp>
      <p:sp>
        <p:nvSpPr>
          <p:cNvPr id="5123" name="Rectangle 2"/>
          <p:cNvSpPr>
            <a:spLocks noGrp="1" noChangeArrowheads="1"/>
          </p:cNvSpPr>
          <p:nvPr>
            <p:ph type="title"/>
          </p:nvPr>
        </p:nvSpPr>
        <p:spPr/>
        <p:txBody>
          <a:bodyPr>
            <a:normAutofit fontScale="90000"/>
          </a:bodyPr>
          <a:lstStyle/>
          <a:p>
            <a:pPr eaLnBrk="1" hangingPunct="1"/>
            <a:r>
              <a:rPr lang="zh-CN" altLang="en-US" dirty="0"/>
              <a:t>例外</a:t>
            </a:r>
            <a:r>
              <a:rPr lang="en-US" altLang="zh-CN" dirty="0">
                <a:latin typeface="Times New Roman" panose="02020603050405020304" pitchFamily="18" charset="0"/>
                <a:cs typeface="Times New Roman" panose="02020603050405020304" pitchFamily="18" charset="0"/>
                <a:sym typeface="+mn-ea"/>
              </a:rPr>
              <a:t>(exception)</a:t>
            </a:r>
            <a:r>
              <a:rPr lang="zh-CN" altLang="en-US" dirty="0"/>
              <a:t>和中断</a:t>
            </a:r>
            <a:r>
              <a:rPr lang="en-US" altLang="zh-CN" dirty="0">
                <a:latin typeface="Times New Roman" panose="02020603050405020304" pitchFamily="18" charset="0"/>
                <a:cs typeface="Times New Roman" panose="02020603050405020304" pitchFamily="18" charset="0"/>
                <a:sym typeface="+mn-ea"/>
              </a:rPr>
              <a:t>(interrupt)</a:t>
            </a:r>
            <a:endParaRPr lang="en-AU" altLang="en-US" dirty="0"/>
          </a:p>
        </p:txBody>
      </p:sp>
      <p:sp>
        <p:nvSpPr>
          <p:cNvPr id="2" name="灯片编号占位符 1"/>
          <p:cNvSpPr>
            <a:spLocks noGrp="1"/>
          </p:cNvSpPr>
          <p:nvPr>
            <p:ph type="sldNum" sz="quarter" idx="12"/>
          </p:nvPr>
        </p:nvSpPr>
        <p:spPr/>
        <p:txBody>
          <a:bodyPr/>
          <a:lstStyle/>
          <a:p>
            <a:fld id="{8EE8E787-E6FE-45D8-9039-788B45E44EE7}" type="slidenum">
              <a:rPr lang="zh-CN" altLang="en-US" smtClean="0"/>
              <a:t>78</a:t>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24">
                                            <p:txEl>
                                              <p:pRg st="1" end="1"/>
                                            </p:txEl>
                                          </p:spTgt>
                                        </p:tgtEl>
                                        <p:attrNameLst>
                                          <p:attrName>style.visibility</p:attrName>
                                        </p:attrNameLst>
                                      </p:cBhvr>
                                      <p:to>
                                        <p:strVal val="visible"/>
                                      </p:to>
                                    </p:set>
                                    <p:animEffect transition="in" filter="fade">
                                      <p:cBhvr>
                                        <p:cTn id="7" dur="500"/>
                                        <p:tgtEl>
                                          <p:spTgt spid="512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24">
                                            <p:txEl>
                                              <p:pRg st="2" end="2"/>
                                            </p:txEl>
                                          </p:spTgt>
                                        </p:tgtEl>
                                        <p:attrNameLst>
                                          <p:attrName>style.visibility</p:attrName>
                                        </p:attrNameLst>
                                      </p:cBhvr>
                                      <p:to>
                                        <p:strVal val="visible"/>
                                      </p:to>
                                    </p:set>
                                    <p:animEffect transition="in" filter="fade">
                                      <p:cBhvr>
                                        <p:cTn id="12" dur="500"/>
                                        <p:tgtEl>
                                          <p:spTgt spid="512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124">
                                            <p:txEl>
                                              <p:pRg st="3" end="3"/>
                                            </p:txEl>
                                          </p:spTgt>
                                        </p:tgtEl>
                                        <p:attrNameLst>
                                          <p:attrName>style.visibility</p:attrName>
                                        </p:attrNameLst>
                                      </p:cBhvr>
                                      <p:to>
                                        <p:strVal val="visible"/>
                                      </p:to>
                                    </p:set>
                                    <p:animEffect transition="in" filter="fade">
                                      <p:cBhvr>
                                        <p:cTn id="17" dur="500"/>
                                        <p:tgtEl>
                                          <p:spTgt spid="512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124">
                                            <p:txEl>
                                              <p:pRg st="4" end="4"/>
                                            </p:txEl>
                                          </p:spTgt>
                                        </p:tgtEl>
                                        <p:attrNameLst>
                                          <p:attrName>style.visibility</p:attrName>
                                        </p:attrNameLst>
                                      </p:cBhvr>
                                      <p:to>
                                        <p:strVal val="visible"/>
                                      </p:to>
                                    </p:set>
                                    <p:animEffect transition="in" filter="fade">
                                      <p:cBhvr>
                                        <p:cTn id="22" dur="500"/>
                                        <p:tgtEl>
                                          <p:spTgt spid="512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124">
                                            <p:txEl>
                                              <p:pRg st="5" end="5"/>
                                            </p:txEl>
                                          </p:spTgt>
                                        </p:tgtEl>
                                        <p:attrNameLst>
                                          <p:attrName>style.visibility</p:attrName>
                                        </p:attrNameLst>
                                      </p:cBhvr>
                                      <p:to>
                                        <p:strVal val="visible"/>
                                      </p:to>
                                    </p:set>
                                    <p:animEffect transition="in" filter="fade">
                                      <p:cBhvr>
                                        <p:cTn id="27" dur="500"/>
                                        <p:tgtEl>
                                          <p:spTgt spid="512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124">
                                            <p:txEl>
                                              <p:pRg st="6" end="6"/>
                                            </p:txEl>
                                          </p:spTgt>
                                        </p:tgtEl>
                                        <p:attrNameLst>
                                          <p:attrName>style.visibility</p:attrName>
                                        </p:attrNameLst>
                                      </p:cBhvr>
                                      <p:to>
                                        <p:strVal val="visible"/>
                                      </p:to>
                                    </p:set>
                                    <p:animEffect transition="in" filter="fade">
                                      <p:cBhvr>
                                        <p:cTn id="32" dur="500"/>
                                        <p:tgtEl>
                                          <p:spTgt spid="512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124">
                                            <p:txEl>
                                              <p:pRg st="7" end="7"/>
                                            </p:txEl>
                                          </p:spTgt>
                                        </p:tgtEl>
                                        <p:attrNameLst>
                                          <p:attrName>style.visibility</p:attrName>
                                        </p:attrNameLst>
                                      </p:cBhvr>
                                      <p:to>
                                        <p:strVal val="visible"/>
                                      </p:to>
                                    </p:set>
                                    <p:animEffect transition="in" filter="fade">
                                      <p:cBhvr>
                                        <p:cTn id="37" dur="500"/>
                                        <p:tgtEl>
                                          <p:spTgt spid="512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5"/>
          <p:cNvGraphicFramePr>
            <a:graphicFrameLocks noGrp="1"/>
          </p:cNvGraphicFramePr>
          <p:nvPr>
            <p:ph idx="1"/>
            <p:custDataLst>
              <p:tags r:id="rId1"/>
            </p:custDataLst>
            <p:extLst>
              <p:ext uri="{D42A27DB-BD31-4B8C-83A1-F6EECF244321}">
                <p14:modId xmlns:p14="http://schemas.microsoft.com/office/powerpoint/2010/main" val="4028019745"/>
              </p:ext>
            </p:extLst>
          </p:nvPr>
        </p:nvGraphicFramePr>
        <p:xfrm>
          <a:off x="943610" y="1428750"/>
          <a:ext cx="10515597" cy="3474720"/>
        </p:xfrm>
        <a:graphic>
          <a:graphicData uri="http://schemas.openxmlformats.org/drawingml/2006/table">
            <a:tbl>
              <a:tblPr firstRow="1" bandRow="1">
                <a:tableStyleId>{5C22544A-7EE6-4342-B048-85BDC9FD1C3A}</a:tableStyleId>
              </a:tblPr>
              <a:tblGrid>
                <a:gridCol w="5464175">
                  <a:extLst>
                    <a:ext uri="{9D8B030D-6E8A-4147-A177-3AD203B41FA5}">
                      <a16:colId xmlns:a16="http://schemas.microsoft.com/office/drawing/2014/main" val="20000"/>
                    </a:ext>
                  </a:extLst>
                </a:gridCol>
                <a:gridCol w="1823084">
                  <a:extLst>
                    <a:ext uri="{9D8B030D-6E8A-4147-A177-3AD203B41FA5}">
                      <a16:colId xmlns:a16="http://schemas.microsoft.com/office/drawing/2014/main" val="20001"/>
                    </a:ext>
                  </a:extLst>
                </a:gridCol>
                <a:gridCol w="3228338">
                  <a:extLst>
                    <a:ext uri="{9D8B030D-6E8A-4147-A177-3AD203B41FA5}">
                      <a16:colId xmlns:a16="http://schemas.microsoft.com/office/drawing/2014/main" val="20002"/>
                    </a:ext>
                  </a:extLst>
                </a:gridCol>
              </a:tblGrid>
              <a:tr h="370840">
                <a:tc>
                  <a:txBody>
                    <a:bodyPr/>
                    <a:lstStyle/>
                    <a:p>
                      <a:r>
                        <a:rPr lang="zh-CN" altLang="en-US" sz="3200" dirty="0">
                          <a:latin typeface="宋体" panose="02010600030101010101" pitchFamily="2" charset="-122"/>
                          <a:ea typeface="宋体" panose="02010600030101010101" pitchFamily="2" charset="-122"/>
                        </a:rPr>
                        <a:t>事件类型</a:t>
                      </a:r>
                    </a:p>
                  </a:txBody>
                  <a:tcPr/>
                </a:tc>
                <a:tc>
                  <a:txBody>
                    <a:bodyPr/>
                    <a:lstStyle/>
                    <a:p>
                      <a:pPr algn="ctr"/>
                      <a:r>
                        <a:rPr lang="zh-CN" altLang="en-US" sz="3200" dirty="0">
                          <a:latin typeface="宋体" panose="02010600030101010101" pitchFamily="2" charset="-122"/>
                          <a:ea typeface="宋体" panose="02010600030101010101" pitchFamily="2" charset="-122"/>
                        </a:rPr>
                        <a:t>来源</a:t>
                      </a:r>
                    </a:p>
                  </a:txBody>
                  <a:tcPr/>
                </a:tc>
                <a:tc>
                  <a:txBody>
                    <a:bodyPr/>
                    <a:lstStyle/>
                    <a:p>
                      <a:r>
                        <a:rPr lang="en-US" altLang="zh-CN" sz="3200" dirty="0">
                          <a:latin typeface="宋体" panose="02010600030101010101" pitchFamily="2" charset="-122"/>
                          <a:ea typeface="宋体" panose="02010600030101010101" pitchFamily="2" charset="-122"/>
                        </a:rPr>
                        <a:t>RISC-V</a:t>
                      </a:r>
                      <a:r>
                        <a:rPr lang="zh-CN" altLang="en-US" sz="3200" dirty="0">
                          <a:latin typeface="宋体" panose="02010600030101010101" pitchFamily="2" charset="-122"/>
                          <a:ea typeface="宋体" panose="02010600030101010101" pitchFamily="2" charset="-122"/>
                        </a:rPr>
                        <a:t>中的表示</a:t>
                      </a:r>
                    </a:p>
                  </a:txBody>
                  <a:tcPr/>
                </a:tc>
                <a:extLst>
                  <a:ext uri="{0D108BD9-81ED-4DB2-BD59-A6C34878D82A}">
                    <a16:rowId xmlns:a16="http://schemas.microsoft.com/office/drawing/2014/main" val="10000"/>
                  </a:ext>
                </a:extLst>
              </a:tr>
              <a:tr h="579120">
                <a:tc>
                  <a:txBody>
                    <a:bodyPr/>
                    <a:lstStyle/>
                    <a:p>
                      <a:r>
                        <a:rPr lang="zh-CN" altLang="en-US" sz="3200" dirty="0">
                          <a:latin typeface="宋体" panose="02010600030101010101" pitchFamily="2" charset="-122"/>
                          <a:ea typeface="宋体" panose="02010600030101010101" pitchFamily="2" charset="-122"/>
                        </a:rPr>
                        <a:t>系统重启</a:t>
                      </a:r>
                    </a:p>
                  </a:txBody>
                  <a:tcPr/>
                </a:tc>
                <a:tc>
                  <a:txBody>
                    <a:bodyPr/>
                    <a:lstStyle/>
                    <a:p>
                      <a:pPr algn="ctr"/>
                      <a:r>
                        <a:rPr lang="zh-CN" altLang="en-US" sz="3200" dirty="0">
                          <a:latin typeface="宋体" panose="02010600030101010101" pitchFamily="2" charset="-122"/>
                          <a:ea typeface="宋体" panose="02010600030101010101" pitchFamily="2" charset="-122"/>
                        </a:rPr>
                        <a:t>外部</a:t>
                      </a:r>
                    </a:p>
                  </a:txBody>
                  <a:tcPr/>
                </a:tc>
                <a:tc>
                  <a:txBody>
                    <a:bodyPr/>
                    <a:lstStyle/>
                    <a:p>
                      <a:pPr algn="ctr"/>
                      <a:r>
                        <a:rPr lang="zh-CN" altLang="en-US" sz="3200" dirty="0">
                          <a:latin typeface="宋体" panose="02010600030101010101" pitchFamily="2" charset="-122"/>
                          <a:ea typeface="宋体" panose="02010600030101010101" pitchFamily="2" charset="-122"/>
                        </a:rPr>
                        <a:t>例外</a:t>
                      </a:r>
                    </a:p>
                  </a:txBody>
                  <a:tcPr/>
                </a:tc>
                <a:extLst>
                  <a:ext uri="{0D108BD9-81ED-4DB2-BD59-A6C34878D82A}">
                    <a16:rowId xmlns:a16="http://schemas.microsoft.com/office/drawing/2014/main" val="10001"/>
                  </a:ext>
                </a:extLst>
              </a:tr>
              <a:tr h="370840">
                <a:tc>
                  <a:txBody>
                    <a:bodyPr/>
                    <a:lstStyle/>
                    <a:p>
                      <a:r>
                        <a:rPr lang="en-US" altLang="zh-CN" sz="3200" dirty="0">
                          <a:latin typeface="宋体" panose="02010600030101010101" pitchFamily="2" charset="-122"/>
                          <a:ea typeface="宋体" panose="02010600030101010101" pitchFamily="2" charset="-122"/>
                        </a:rPr>
                        <a:t>I/O</a:t>
                      </a:r>
                      <a:r>
                        <a:rPr lang="zh-CN" altLang="en-US" sz="3200" dirty="0">
                          <a:latin typeface="宋体" panose="02010600030101010101" pitchFamily="2" charset="-122"/>
                          <a:ea typeface="宋体" panose="02010600030101010101" pitchFamily="2" charset="-122"/>
                        </a:rPr>
                        <a:t>设备请求</a:t>
                      </a:r>
                    </a:p>
                  </a:txBody>
                  <a:tcPr/>
                </a:tc>
                <a:tc>
                  <a:txBody>
                    <a:bodyPr/>
                    <a:lstStyle/>
                    <a:p>
                      <a:pPr algn="ctr"/>
                      <a:r>
                        <a:rPr lang="zh-CN" altLang="en-US" sz="3200" dirty="0">
                          <a:latin typeface="宋体" panose="02010600030101010101" pitchFamily="2" charset="-122"/>
                          <a:ea typeface="宋体" panose="02010600030101010101" pitchFamily="2" charset="-122"/>
                        </a:rPr>
                        <a:t>外部</a:t>
                      </a:r>
                    </a:p>
                  </a:txBody>
                  <a:tcPr/>
                </a:tc>
                <a:tc>
                  <a:txBody>
                    <a:bodyPr/>
                    <a:lstStyle/>
                    <a:p>
                      <a:pPr algn="ctr"/>
                      <a:r>
                        <a:rPr lang="zh-CN" altLang="en-US" sz="3200" dirty="0">
                          <a:latin typeface="宋体" panose="02010600030101010101" pitchFamily="2" charset="-122"/>
                          <a:ea typeface="宋体" panose="02010600030101010101" pitchFamily="2" charset="-122"/>
                        </a:rPr>
                        <a:t>中断</a:t>
                      </a:r>
                    </a:p>
                  </a:txBody>
                  <a:tcPr/>
                </a:tc>
                <a:extLst>
                  <a:ext uri="{0D108BD9-81ED-4DB2-BD59-A6C34878D82A}">
                    <a16:rowId xmlns:a16="http://schemas.microsoft.com/office/drawing/2014/main" val="10002"/>
                  </a:ext>
                </a:extLst>
              </a:tr>
              <a:tr h="579120">
                <a:tc>
                  <a:txBody>
                    <a:bodyPr/>
                    <a:lstStyle/>
                    <a:p>
                      <a:r>
                        <a:rPr lang="zh-CN" altLang="en-US" sz="3200" dirty="0">
                          <a:latin typeface="宋体" panose="02010600030101010101" pitchFamily="2" charset="-122"/>
                          <a:ea typeface="宋体" panose="02010600030101010101" pitchFamily="2" charset="-122"/>
                        </a:rPr>
                        <a:t>用户程序进行操作系统调用</a:t>
                      </a:r>
                    </a:p>
                  </a:txBody>
                  <a:tcPr/>
                </a:tc>
                <a:tc>
                  <a:txBody>
                    <a:bodyPr/>
                    <a:lstStyle/>
                    <a:p>
                      <a:pPr algn="ctr"/>
                      <a:r>
                        <a:rPr lang="zh-CN" altLang="en-US" sz="3200" dirty="0">
                          <a:latin typeface="宋体" panose="02010600030101010101" pitchFamily="2" charset="-122"/>
                          <a:ea typeface="宋体" panose="02010600030101010101" pitchFamily="2" charset="-122"/>
                        </a:rPr>
                        <a:t>内部</a:t>
                      </a:r>
                    </a:p>
                  </a:txBody>
                  <a:tcPr/>
                </a:tc>
                <a:tc>
                  <a:txBody>
                    <a:bodyPr/>
                    <a:lstStyle/>
                    <a:p>
                      <a:pPr algn="ctr"/>
                      <a:r>
                        <a:rPr lang="zh-CN" altLang="en-US" sz="3200" dirty="0">
                          <a:latin typeface="宋体" panose="02010600030101010101" pitchFamily="2" charset="-122"/>
                          <a:ea typeface="宋体" panose="02010600030101010101" pitchFamily="2" charset="-122"/>
                        </a:rPr>
                        <a:t>例外</a:t>
                      </a:r>
                    </a:p>
                  </a:txBody>
                  <a:tcPr/>
                </a:tc>
                <a:extLst>
                  <a:ext uri="{0D108BD9-81ED-4DB2-BD59-A6C34878D82A}">
                    <a16:rowId xmlns:a16="http://schemas.microsoft.com/office/drawing/2014/main" val="10003"/>
                  </a:ext>
                </a:extLst>
              </a:tr>
              <a:tr h="370840">
                <a:tc>
                  <a:txBody>
                    <a:bodyPr/>
                    <a:lstStyle/>
                    <a:p>
                      <a:r>
                        <a:rPr lang="zh-CN" altLang="en-US" sz="3200" dirty="0">
                          <a:latin typeface="宋体" panose="02010600030101010101" pitchFamily="2" charset="-122"/>
                          <a:ea typeface="宋体" panose="02010600030101010101" pitchFamily="2" charset="-122"/>
                        </a:rPr>
                        <a:t>未定义指令</a:t>
                      </a:r>
                    </a:p>
                  </a:txBody>
                  <a:tcPr/>
                </a:tc>
                <a:tc>
                  <a:txBody>
                    <a:bodyPr/>
                    <a:lstStyle/>
                    <a:p>
                      <a:pPr algn="ctr"/>
                      <a:r>
                        <a:rPr lang="zh-CN" altLang="en-US" sz="3200" dirty="0">
                          <a:latin typeface="宋体" panose="02010600030101010101" pitchFamily="2" charset="-122"/>
                          <a:ea typeface="宋体" panose="02010600030101010101" pitchFamily="2" charset="-122"/>
                        </a:rPr>
                        <a:t>内部</a:t>
                      </a:r>
                    </a:p>
                  </a:txBody>
                  <a:tcPr/>
                </a:tc>
                <a:tc>
                  <a:txBody>
                    <a:bodyPr/>
                    <a:lstStyle/>
                    <a:p>
                      <a:pPr algn="ctr"/>
                      <a:r>
                        <a:rPr lang="zh-CN" altLang="en-US" sz="3200" dirty="0">
                          <a:latin typeface="宋体" panose="02010600030101010101" pitchFamily="2" charset="-122"/>
                          <a:ea typeface="宋体" panose="02010600030101010101" pitchFamily="2" charset="-122"/>
                        </a:rPr>
                        <a:t>例外</a:t>
                      </a:r>
                    </a:p>
                  </a:txBody>
                  <a:tcPr/>
                </a:tc>
                <a:extLst>
                  <a:ext uri="{0D108BD9-81ED-4DB2-BD59-A6C34878D82A}">
                    <a16:rowId xmlns:a16="http://schemas.microsoft.com/office/drawing/2014/main" val="10004"/>
                  </a:ext>
                </a:extLst>
              </a:tr>
              <a:tr h="370840">
                <a:tc>
                  <a:txBody>
                    <a:bodyPr/>
                    <a:lstStyle/>
                    <a:p>
                      <a:r>
                        <a:rPr lang="zh-CN" altLang="en-US" sz="3200" dirty="0">
                          <a:latin typeface="宋体" panose="02010600030101010101" pitchFamily="2" charset="-122"/>
                          <a:ea typeface="宋体" panose="02010600030101010101" pitchFamily="2" charset="-122"/>
                        </a:rPr>
                        <a:t>硬件故障</a:t>
                      </a:r>
                    </a:p>
                  </a:txBody>
                  <a:tcPr/>
                </a:tc>
                <a:tc>
                  <a:txBody>
                    <a:bodyPr/>
                    <a:lstStyle/>
                    <a:p>
                      <a:pPr algn="ctr"/>
                      <a:r>
                        <a:rPr lang="zh-CN" altLang="en-US" sz="3200" dirty="0">
                          <a:latin typeface="宋体" panose="02010600030101010101" pitchFamily="2" charset="-122"/>
                          <a:ea typeface="宋体" panose="02010600030101010101" pitchFamily="2" charset="-122"/>
                        </a:rPr>
                        <a:t>皆可</a:t>
                      </a:r>
                    </a:p>
                  </a:txBody>
                  <a:tcPr/>
                </a:tc>
                <a:tc>
                  <a:txBody>
                    <a:bodyPr/>
                    <a:lstStyle/>
                    <a:p>
                      <a:pPr algn="ctr"/>
                      <a:r>
                        <a:rPr lang="zh-CN" altLang="en-US" sz="3200" dirty="0">
                          <a:latin typeface="宋体" panose="02010600030101010101" pitchFamily="2" charset="-122"/>
                          <a:ea typeface="宋体" panose="02010600030101010101" pitchFamily="2" charset="-122"/>
                        </a:rPr>
                        <a:t>皆可</a:t>
                      </a:r>
                    </a:p>
                  </a:txBody>
                  <a:tcPr/>
                </a:tc>
                <a:extLst>
                  <a:ext uri="{0D108BD9-81ED-4DB2-BD59-A6C34878D82A}">
                    <a16:rowId xmlns:a16="http://schemas.microsoft.com/office/drawing/2014/main" val="10005"/>
                  </a:ext>
                </a:extLst>
              </a:tr>
            </a:tbl>
          </a:graphicData>
        </a:graphic>
      </p:graphicFrame>
      <p:sp>
        <p:nvSpPr>
          <p:cNvPr id="4" name="灯片编号占位符 3"/>
          <p:cNvSpPr>
            <a:spLocks noGrp="1"/>
          </p:cNvSpPr>
          <p:nvPr>
            <p:ph type="sldNum" sz="quarter" idx="12"/>
          </p:nvPr>
        </p:nvSpPr>
        <p:spPr/>
        <p:txBody>
          <a:bodyPr/>
          <a:lstStyle/>
          <a:p>
            <a:fld id="{8EE8E787-E6FE-45D8-9039-788B45E44EE7}" type="slidenum">
              <a:rPr lang="zh-CN" altLang="en-US" smtClean="0"/>
              <a:t>79</a:t>
            </a:fld>
            <a:endParaRPr lang="zh-CN" altLang="en-US" dirty="0"/>
          </a:p>
        </p:txBody>
      </p:sp>
      <p:sp>
        <p:nvSpPr>
          <p:cNvPr id="7" name="标题 6"/>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RISC-V</a:t>
            </a:r>
            <a:r>
              <a:rPr lang="zh-CN" altLang="en-US" dirty="0">
                <a:latin typeface="Times New Roman" panose="02020603050405020304" pitchFamily="18" charset="0"/>
                <a:cs typeface="Times New Roman" panose="02020603050405020304" pitchFamily="18" charset="0"/>
              </a:rPr>
              <a:t>中的例外和中断示例</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3"/>
          <p:cNvSpPr>
            <a:spLocks noGrp="1" noChangeArrowheads="1"/>
          </p:cNvSpPr>
          <p:nvPr>
            <p:ph idx="1"/>
          </p:nvPr>
        </p:nvSpPr>
        <p:spPr/>
        <p:txBody>
          <a:bodyPr>
            <a:noAutofit/>
          </a:bodyPr>
          <a:lstStyle/>
          <a:p>
            <a:pPr>
              <a:lnSpc>
                <a:spcPct val="130000"/>
              </a:lnSpc>
            </a:pPr>
            <a:r>
              <a:rPr lang="zh-CN" altLang="en-US" sz="2800" dirty="0">
                <a:latin typeface="Times New Roman" panose="02020603050405020304" pitchFamily="18" charset="0"/>
                <a:cs typeface="Times New Roman" panose="02020603050405020304" pitchFamily="18" charset="0"/>
              </a:rPr>
              <a:t>保存发生例外的指令地址，将控制权转交给操作系统</a:t>
            </a:r>
            <a:endParaRPr lang="en-US" altLang="zh-CN" sz="2800" dirty="0">
              <a:latin typeface="Times New Roman" panose="02020603050405020304" pitchFamily="18" charset="0"/>
              <a:cs typeface="Times New Roman" panose="02020603050405020304" pitchFamily="18" charset="0"/>
            </a:endParaRPr>
          </a:p>
          <a:p>
            <a:pPr lvl="1">
              <a:lnSpc>
                <a:spcPct val="130000"/>
              </a:lnSpc>
            </a:pPr>
            <a:r>
              <a:rPr lang="zh-CN" altLang="en-US" sz="2400" dirty="0">
                <a:latin typeface="Times New Roman" panose="02020603050405020304" pitchFamily="18" charset="0"/>
                <a:cs typeface="Times New Roman" panose="02020603050405020304" pitchFamily="18" charset="0"/>
              </a:rPr>
              <a:t>使用</a:t>
            </a:r>
            <a:r>
              <a:rPr lang="zh-CN" altLang="en-US" sz="2400" b="1" dirty="0">
                <a:latin typeface="Times New Roman" panose="02020603050405020304" pitchFamily="18" charset="0"/>
                <a:cs typeface="Times New Roman" panose="02020603050405020304" pitchFamily="18" charset="0"/>
              </a:rPr>
              <a:t>系统例外程序计数器</a:t>
            </a:r>
            <a:r>
              <a:rPr lang="en-US" altLang="zh-CN" sz="2400" dirty="0">
                <a:latin typeface="Times New Roman" panose="02020603050405020304" pitchFamily="18" charset="0"/>
                <a:cs typeface="Times New Roman" panose="02020603050405020304" pitchFamily="18" charset="0"/>
              </a:rPr>
              <a:t>(Supervisor Exception Program Counter, SEPC)</a:t>
            </a:r>
            <a:r>
              <a:rPr lang="zh-CN" altLang="en-US" sz="2400" dirty="0">
                <a:latin typeface="Times New Roman" panose="02020603050405020304" pitchFamily="18" charset="0"/>
                <a:cs typeface="Times New Roman" panose="02020603050405020304" pitchFamily="18" charset="0"/>
              </a:rPr>
              <a:t>保存发生例外的指令地址，</a:t>
            </a:r>
            <a:r>
              <a:rPr lang="en-US" altLang="zh-CN" sz="2400" dirty="0">
                <a:latin typeface="Times New Roman" panose="02020603050405020304" pitchFamily="18" charset="0"/>
                <a:cs typeface="Times New Roman" panose="02020603050405020304" pitchFamily="18" charset="0"/>
              </a:rPr>
              <a:t>64</a:t>
            </a:r>
            <a:r>
              <a:rPr lang="zh-CN" altLang="en-US" sz="2400" dirty="0">
                <a:latin typeface="Times New Roman" panose="02020603050405020304" pitchFamily="18" charset="0"/>
                <a:cs typeface="Times New Roman" panose="02020603050405020304" pitchFamily="18" charset="0"/>
              </a:rPr>
              <a:t>位</a:t>
            </a:r>
          </a:p>
          <a:p>
            <a:pPr>
              <a:lnSpc>
                <a:spcPct val="130000"/>
              </a:lnSpc>
            </a:pPr>
            <a:r>
              <a:rPr lang="zh-CN" altLang="en-US" sz="2800" dirty="0">
                <a:latin typeface="Times New Roman" panose="02020603050405020304" pitchFamily="18" charset="0"/>
                <a:cs typeface="Times New Roman" panose="02020603050405020304" pitchFamily="18" charset="0"/>
                <a:sym typeface="+mn-ea"/>
              </a:rPr>
              <a:t>跳转到统一的入口地址，进行例外处理</a:t>
            </a:r>
            <a:endParaRPr lang="en-US" altLang="en-US" sz="2800" dirty="0">
              <a:latin typeface="Times New Roman" panose="02020603050405020304" pitchFamily="18" charset="0"/>
              <a:cs typeface="Times New Roman" panose="02020603050405020304" pitchFamily="18" charset="0"/>
            </a:endParaRPr>
          </a:p>
          <a:p>
            <a:pPr lvl="1" eaLnBrk="1" hangingPunct="1">
              <a:lnSpc>
                <a:spcPct val="130000"/>
              </a:lnSpc>
            </a:pPr>
            <a:r>
              <a:rPr lang="en-US" altLang="en-US" sz="2400" dirty="0">
                <a:latin typeface="Times New Roman" panose="02020603050405020304" pitchFamily="18" charset="0"/>
                <a:cs typeface="Times New Roman" panose="02020603050405020304" pitchFamily="18" charset="0"/>
                <a:sym typeface="+mn-ea"/>
              </a:rPr>
              <a:t>0000 0000 1C09 0000</a:t>
            </a:r>
            <a:r>
              <a:rPr lang="en-US" altLang="en-US" sz="2400" baseline="-25000" dirty="0">
                <a:latin typeface="Times New Roman" panose="02020603050405020304" pitchFamily="18" charset="0"/>
                <a:cs typeface="Times New Roman" panose="02020603050405020304" pitchFamily="18" charset="0"/>
                <a:sym typeface="+mn-ea"/>
              </a:rPr>
              <a:t>hex</a:t>
            </a:r>
            <a:endParaRPr lang="en-US" altLang="en-US" sz="2400" dirty="0">
              <a:latin typeface="Times New Roman" panose="02020603050405020304" pitchFamily="18" charset="0"/>
              <a:cs typeface="Times New Roman" panose="02020603050405020304" pitchFamily="18" charset="0"/>
            </a:endParaRPr>
          </a:p>
          <a:p>
            <a:pPr>
              <a:lnSpc>
                <a:spcPct val="130000"/>
              </a:lnSpc>
            </a:pPr>
            <a:r>
              <a:rPr lang="zh-CN" altLang="en-US" sz="2800" dirty="0">
                <a:latin typeface="Times New Roman" panose="02020603050405020304" pitchFamily="18" charset="0"/>
                <a:cs typeface="Times New Roman" panose="02020603050405020304" pitchFamily="18" charset="0"/>
              </a:rPr>
              <a:t>保存例外发生的原因</a:t>
            </a:r>
            <a:endParaRPr lang="en-US" altLang="zh-CN" sz="2800" dirty="0">
              <a:latin typeface="Times New Roman" panose="02020603050405020304" pitchFamily="18" charset="0"/>
              <a:cs typeface="Times New Roman" panose="02020603050405020304" pitchFamily="18" charset="0"/>
            </a:endParaRPr>
          </a:p>
          <a:p>
            <a:pPr lvl="1">
              <a:lnSpc>
                <a:spcPct val="130000"/>
              </a:lnSpc>
            </a:pPr>
            <a:r>
              <a:rPr lang="zh-CN" altLang="en-US" sz="2400" b="1" dirty="0">
                <a:latin typeface="Times New Roman" panose="02020603050405020304" pitchFamily="18" charset="0"/>
                <a:cs typeface="Times New Roman" panose="02020603050405020304" pitchFamily="18" charset="0"/>
              </a:rPr>
              <a:t>系统例外原因寄存器</a:t>
            </a:r>
            <a:r>
              <a:rPr lang="en-US" altLang="zh-CN" sz="2400" dirty="0">
                <a:latin typeface="Times New Roman" panose="02020603050405020304" pitchFamily="18" charset="0"/>
                <a:cs typeface="Times New Roman" panose="02020603050405020304" pitchFamily="18" charset="0"/>
              </a:rPr>
              <a:t>(Supervisor Exception Cause Register, SCAUSE)</a:t>
            </a:r>
          </a:p>
          <a:p>
            <a:pPr lvl="1">
              <a:lnSpc>
                <a:spcPct val="130000"/>
              </a:lnSpc>
            </a:pPr>
            <a:r>
              <a:rPr lang="en-US" altLang="en-US" sz="2400" dirty="0">
                <a:latin typeface="Times New Roman" panose="02020603050405020304" pitchFamily="18" charset="0"/>
                <a:cs typeface="Times New Roman" panose="02020603050405020304" pitchFamily="18" charset="0"/>
              </a:rPr>
              <a:t>SCAUSE</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64</a:t>
            </a:r>
            <a:r>
              <a:rPr lang="zh-CN" altLang="en-US" sz="2400" dirty="0">
                <a:latin typeface="Times New Roman" panose="02020603050405020304" pitchFamily="18" charset="0"/>
                <a:cs typeface="Times New Roman" panose="02020603050405020304" pitchFamily="18" charset="0"/>
              </a:rPr>
              <a:t>位寄存器，大多数位未被使用。</a:t>
            </a:r>
            <a:endParaRPr lang="en-US" altLang="en-US" sz="2400" dirty="0">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8EE8E787-E6FE-45D8-9039-788B45E44EE7}" type="slidenum">
              <a:rPr lang="zh-CN" altLang="en-US" smtClean="0"/>
              <a:t>80</a:t>
            </a:fld>
            <a:endParaRPr lang="zh-CN" altLang="en-US" dirty="0"/>
          </a:p>
        </p:txBody>
      </p:sp>
      <p:sp>
        <p:nvSpPr>
          <p:cNvPr id="4" name="标题 3"/>
          <p:cNvSpPr>
            <a:spLocks noGrp="1"/>
          </p:cNvSpPr>
          <p:nvPr>
            <p:ph type="title"/>
          </p:nvPr>
        </p:nvSpPr>
        <p:spPr/>
        <p:txBody>
          <a:bodyPr/>
          <a:lstStyle/>
          <a:p>
            <a:r>
              <a:rPr lang="en-AU" altLang="en-US" dirty="0"/>
              <a:t>RISC-V</a:t>
            </a:r>
            <a:r>
              <a:rPr lang="zh-CN" altLang="en-US" dirty="0"/>
              <a:t>体系结构中如何处理例外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2">
                                            <p:txEl>
                                              <p:pRg st="1" end="1"/>
                                            </p:txEl>
                                          </p:spTgt>
                                        </p:tgtEl>
                                        <p:attrNameLst>
                                          <p:attrName>style.visibility</p:attrName>
                                        </p:attrNameLst>
                                      </p:cBhvr>
                                      <p:to>
                                        <p:strVal val="visible"/>
                                      </p:to>
                                    </p:set>
                                    <p:animEffect transition="in" filter="fade">
                                      <p:cBhvr>
                                        <p:cTn id="7" dur="500"/>
                                        <p:tgtEl>
                                          <p:spTgt spid="717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172">
                                            <p:txEl>
                                              <p:pRg st="2" end="2"/>
                                            </p:txEl>
                                          </p:spTgt>
                                        </p:tgtEl>
                                        <p:attrNameLst>
                                          <p:attrName>style.visibility</p:attrName>
                                        </p:attrNameLst>
                                      </p:cBhvr>
                                      <p:to>
                                        <p:strVal val="visible"/>
                                      </p:to>
                                    </p:set>
                                    <p:animEffect transition="in" filter="fade">
                                      <p:cBhvr>
                                        <p:cTn id="12" dur="500"/>
                                        <p:tgtEl>
                                          <p:spTgt spid="717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172">
                                            <p:txEl>
                                              <p:pRg st="3" end="3"/>
                                            </p:txEl>
                                          </p:spTgt>
                                        </p:tgtEl>
                                        <p:attrNameLst>
                                          <p:attrName>style.visibility</p:attrName>
                                        </p:attrNameLst>
                                      </p:cBhvr>
                                      <p:to>
                                        <p:strVal val="visible"/>
                                      </p:to>
                                    </p:set>
                                    <p:animEffect transition="in" filter="fade">
                                      <p:cBhvr>
                                        <p:cTn id="17" dur="500"/>
                                        <p:tgtEl>
                                          <p:spTgt spid="717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172">
                                            <p:txEl>
                                              <p:pRg st="4" end="4"/>
                                            </p:txEl>
                                          </p:spTgt>
                                        </p:tgtEl>
                                        <p:attrNameLst>
                                          <p:attrName>style.visibility</p:attrName>
                                        </p:attrNameLst>
                                      </p:cBhvr>
                                      <p:to>
                                        <p:strVal val="visible"/>
                                      </p:to>
                                    </p:set>
                                    <p:animEffect transition="in" filter="fade">
                                      <p:cBhvr>
                                        <p:cTn id="22" dur="500"/>
                                        <p:tgtEl>
                                          <p:spTgt spid="717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172">
                                            <p:txEl>
                                              <p:pRg st="5" end="5"/>
                                            </p:txEl>
                                          </p:spTgt>
                                        </p:tgtEl>
                                        <p:attrNameLst>
                                          <p:attrName>style.visibility</p:attrName>
                                        </p:attrNameLst>
                                      </p:cBhvr>
                                      <p:to>
                                        <p:strVal val="visible"/>
                                      </p:to>
                                    </p:set>
                                    <p:animEffect transition="in" filter="fade">
                                      <p:cBhvr>
                                        <p:cTn id="27" dur="500"/>
                                        <p:tgtEl>
                                          <p:spTgt spid="717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172">
                                            <p:txEl>
                                              <p:pRg st="6" end="6"/>
                                            </p:txEl>
                                          </p:spTgt>
                                        </p:tgtEl>
                                        <p:attrNameLst>
                                          <p:attrName>style.visibility</p:attrName>
                                        </p:attrNameLst>
                                      </p:cBhvr>
                                      <p:to>
                                        <p:strVal val="visible"/>
                                      </p:to>
                                    </p:set>
                                    <p:animEffect transition="in" filter="fade">
                                      <p:cBhvr>
                                        <p:cTn id="32" dur="500"/>
                                        <p:tgtEl>
                                          <p:spTgt spid="717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3"/>
          <p:cNvSpPr>
            <a:spLocks noGrp="1" noChangeArrowheads="1"/>
          </p:cNvSpPr>
          <p:nvPr>
            <p:ph idx="1"/>
          </p:nvPr>
        </p:nvSpPr>
        <p:spPr/>
        <p:txBody>
          <a:bodyPr>
            <a:normAutofit/>
          </a:bodyPr>
          <a:lstStyle/>
          <a:p>
            <a:pPr eaLnBrk="1" hangingPunct="1">
              <a:lnSpc>
                <a:spcPct val="150000"/>
              </a:lnSpc>
            </a:pPr>
            <a:r>
              <a:rPr lang="zh-CN" altLang="en-US" dirty="0">
                <a:latin typeface="Times New Roman" panose="02020603050405020304" pitchFamily="18" charset="0"/>
                <a:cs typeface="Times New Roman" panose="02020603050405020304" pitchFamily="18" charset="0"/>
              </a:rPr>
              <a:t>采用向量式中断（</a:t>
            </a:r>
            <a:r>
              <a:rPr lang="en-US" altLang="zh-CN" dirty="0">
                <a:latin typeface="Times New Roman" panose="02020603050405020304" pitchFamily="18" charset="0"/>
                <a:cs typeface="Times New Roman" panose="02020603050405020304" pitchFamily="18" charset="0"/>
              </a:rPr>
              <a:t>x86</a:t>
            </a:r>
            <a:r>
              <a:rPr lang="zh-CN" altLang="en-US" dirty="0">
                <a:latin typeface="Times New Roman" panose="02020603050405020304" pitchFamily="18" charset="0"/>
                <a:cs typeface="Times New Roman" panose="02020603050405020304" pitchFamily="18" charset="0"/>
              </a:rPr>
              <a:t>中统称为中断）</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例外原因决定后续控制流的起始地址</a:t>
            </a:r>
            <a:endParaRPr lang="en-US" altLang="zh-CN" dirty="0">
              <a:latin typeface="Times New Roman" panose="02020603050405020304" pitchFamily="18" charset="0"/>
              <a:cs typeface="Times New Roman" panose="02020603050405020304" pitchFamily="18" charset="0"/>
            </a:endParaRPr>
          </a:p>
          <a:p>
            <a:pPr eaLnBrk="1" hangingPunct="1">
              <a:lnSpc>
                <a:spcPct val="150000"/>
              </a:lnSpc>
            </a:pPr>
            <a:r>
              <a:rPr lang="zh-CN" altLang="en-US" dirty="0">
                <a:latin typeface="Times New Roman" panose="02020603050405020304" pitchFamily="18" charset="0"/>
                <a:cs typeface="Times New Roman" panose="02020603050405020304" pitchFamily="18" charset="0"/>
              </a:rPr>
              <a:t>基址寄存器 </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例外原因（作为偏移量）</a:t>
            </a:r>
            <a:endParaRPr lang="en-US" altLang="en-US" dirty="0">
              <a:latin typeface="Times New Roman" panose="02020603050405020304" pitchFamily="18" charset="0"/>
              <a:cs typeface="Times New Roman" panose="02020603050405020304" pitchFamily="18" charset="0"/>
            </a:endParaRPr>
          </a:p>
          <a:p>
            <a:pPr lvl="1" eaLnBrk="1" hangingPunct="1">
              <a:lnSpc>
                <a:spcPct val="150000"/>
              </a:lnSpc>
            </a:pPr>
            <a:r>
              <a:rPr lang="zh-CN" altLang="en-US" dirty="0">
                <a:latin typeface="Times New Roman" panose="02020603050405020304" pitchFamily="18" charset="0"/>
                <a:cs typeface="Times New Roman" panose="02020603050405020304" pitchFamily="18" charset="0"/>
              </a:rPr>
              <a:t>未定义指令的偏移量：</a:t>
            </a:r>
            <a:r>
              <a:rPr lang="en-US" altLang="en-US" dirty="0">
                <a:latin typeface="Times New Roman" panose="02020603050405020304" pitchFamily="18" charset="0"/>
                <a:cs typeface="Times New Roman" panose="02020603050405020304" pitchFamily="18" charset="0"/>
              </a:rPr>
              <a:t>	00 0100 0000</a:t>
            </a:r>
            <a:r>
              <a:rPr lang="en-US" altLang="en-US" baseline="-25000" dirty="0">
                <a:latin typeface="Times New Roman" panose="02020603050405020304" pitchFamily="18" charset="0"/>
                <a:cs typeface="Times New Roman" panose="02020603050405020304" pitchFamily="18" charset="0"/>
              </a:rPr>
              <a:t>2</a:t>
            </a:r>
          </a:p>
          <a:p>
            <a:pPr lvl="1" eaLnBrk="1" hangingPunct="1">
              <a:lnSpc>
                <a:spcPct val="150000"/>
              </a:lnSpc>
            </a:pPr>
            <a:r>
              <a:rPr lang="zh-CN" altLang="en-US" dirty="0">
                <a:latin typeface="Times New Roman" panose="02020603050405020304" pitchFamily="18" charset="0"/>
                <a:cs typeface="Times New Roman" panose="02020603050405020304" pitchFamily="18" charset="0"/>
              </a:rPr>
              <a:t>硬件故障的偏移量</a:t>
            </a:r>
            <a:r>
              <a:rPr lang="en-US" altLang="en-US"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01 1000 0000</a:t>
            </a:r>
            <a:r>
              <a:rPr lang="en-US" altLang="en-US" baseline="-25000" dirty="0">
                <a:latin typeface="Times New Roman" panose="02020603050405020304" pitchFamily="18" charset="0"/>
                <a:cs typeface="Times New Roman" panose="02020603050405020304" pitchFamily="18" charset="0"/>
              </a:rPr>
              <a:t>2</a:t>
            </a:r>
          </a:p>
          <a:p>
            <a:pPr>
              <a:lnSpc>
                <a:spcPct val="150000"/>
              </a:lnSpc>
            </a:pPr>
            <a:r>
              <a:rPr lang="zh-CN" altLang="en-US" dirty="0">
                <a:latin typeface="Times New Roman" panose="02020603050405020304" pitchFamily="18" charset="0"/>
                <a:cs typeface="Times New Roman" panose="02020603050405020304" pitchFamily="18" charset="0"/>
              </a:rPr>
              <a:t>转到例外处理程序</a:t>
            </a:r>
            <a:endParaRPr lang="en-US" altLang="en-US" dirty="0">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8EE8E787-E6FE-45D8-9039-788B45E44EE7}" type="slidenum">
              <a:rPr lang="zh-CN" altLang="en-US" smtClean="0"/>
              <a:t>81</a:t>
            </a:fld>
            <a:endParaRPr lang="zh-CN" altLang="en-US" dirty="0"/>
          </a:p>
        </p:txBody>
      </p:sp>
      <p:sp>
        <p:nvSpPr>
          <p:cNvPr id="4" name="标题 3"/>
          <p:cNvSpPr>
            <a:spLocks noGrp="1"/>
          </p:cNvSpPr>
          <p:nvPr>
            <p:ph type="title"/>
          </p:nvPr>
        </p:nvSpPr>
        <p:spPr/>
        <p:txBody>
          <a:bodyPr/>
          <a:lstStyle/>
          <a:p>
            <a:r>
              <a:rPr lang="zh-CN" altLang="en-US" dirty="0"/>
              <a:t>另一种例外处理方式</a:t>
            </a:r>
            <a:r>
              <a:rPr lang="en-US" altLang="zh-CN" dirty="0"/>
              <a:t>(x86</a:t>
            </a:r>
            <a:r>
              <a:rPr lang="zh-CN" altLang="en-US" dirty="0"/>
              <a:t>等</a:t>
            </a:r>
            <a:r>
              <a:rPr lang="en-US" altLang="zh-CN" dirty="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220">
                                            <p:txEl>
                                              <p:pRg st="0" end="0"/>
                                            </p:txEl>
                                          </p:spTgt>
                                        </p:tgtEl>
                                        <p:attrNameLst>
                                          <p:attrName>style.visibility</p:attrName>
                                        </p:attrNameLst>
                                      </p:cBhvr>
                                      <p:to>
                                        <p:strVal val="visible"/>
                                      </p:to>
                                    </p:set>
                                    <p:animEffect transition="in" filter="fade">
                                      <p:cBhvr>
                                        <p:cTn id="7" dur="500"/>
                                        <p:tgtEl>
                                          <p:spTgt spid="92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220">
                                            <p:txEl>
                                              <p:pRg st="1" end="1"/>
                                            </p:txEl>
                                          </p:spTgt>
                                        </p:tgtEl>
                                        <p:attrNameLst>
                                          <p:attrName>style.visibility</p:attrName>
                                        </p:attrNameLst>
                                      </p:cBhvr>
                                      <p:to>
                                        <p:strVal val="visible"/>
                                      </p:to>
                                    </p:set>
                                    <p:animEffect transition="in" filter="fade">
                                      <p:cBhvr>
                                        <p:cTn id="12" dur="500"/>
                                        <p:tgtEl>
                                          <p:spTgt spid="922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20">
                                            <p:txEl>
                                              <p:pRg st="2" end="2"/>
                                            </p:txEl>
                                          </p:spTgt>
                                        </p:tgtEl>
                                        <p:attrNameLst>
                                          <p:attrName>style.visibility</p:attrName>
                                        </p:attrNameLst>
                                      </p:cBhvr>
                                      <p:to>
                                        <p:strVal val="visible"/>
                                      </p:to>
                                    </p:set>
                                    <p:animEffect transition="in" filter="fade">
                                      <p:cBhvr>
                                        <p:cTn id="17" dur="500"/>
                                        <p:tgtEl>
                                          <p:spTgt spid="922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220">
                                            <p:txEl>
                                              <p:pRg st="3" end="3"/>
                                            </p:txEl>
                                          </p:spTgt>
                                        </p:tgtEl>
                                        <p:attrNameLst>
                                          <p:attrName>style.visibility</p:attrName>
                                        </p:attrNameLst>
                                      </p:cBhvr>
                                      <p:to>
                                        <p:strVal val="visible"/>
                                      </p:to>
                                    </p:set>
                                    <p:animEffect transition="in" filter="fade">
                                      <p:cBhvr>
                                        <p:cTn id="22" dur="500"/>
                                        <p:tgtEl>
                                          <p:spTgt spid="922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220">
                                            <p:txEl>
                                              <p:pRg st="4" end="4"/>
                                            </p:txEl>
                                          </p:spTgt>
                                        </p:tgtEl>
                                        <p:attrNameLst>
                                          <p:attrName>style.visibility</p:attrName>
                                        </p:attrNameLst>
                                      </p:cBhvr>
                                      <p:to>
                                        <p:strVal val="visible"/>
                                      </p:to>
                                    </p:set>
                                    <p:animEffect transition="in" filter="fade">
                                      <p:cBhvr>
                                        <p:cTn id="27" dur="500"/>
                                        <p:tgtEl>
                                          <p:spTgt spid="922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220">
                                            <p:txEl>
                                              <p:pRg st="5" end="5"/>
                                            </p:txEl>
                                          </p:spTgt>
                                        </p:tgtEl>
                                        <p:attrNameLst>
                                          <p:attrName>style.visibility</p:attrName>
                                        </p:attrNameLst>
                                      </p:cBhvr>
                                      <p:to>
                                        <p:strVal val="visible"/>
                                      </p:to>
                                    </p:set>
                                    <p:animEffect transition="in" filter="fade">
                                      <p:cBhvr>
                                        <p:cTn id="32" dur="500"/>
                                        <p:tgtEl>
                                          <p:spTgt spid="922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3"/>
          <p:cNvSpPr>
            <a:spLocks noGrp="1" noChangeArrowheads="1"/>
          </p:cNvSpPr>
          <p:nvPr>
            <p:ph idx="1"/>
          </p:nvPr>
        </p:nvSpPr>
        <p:spPr/>
        <p:txBody>
          <a:bodyPr>
            <a:normAutofit/>
          </a:bodyPr>
          <a:lstStyle/>
          <a:p>
            <a:pPr eaLnBrk="1" hangingPunct="1">
              <a:lnSpc>
                <a:spcPct val="150000"/>
              </a:lnSpc>
            </a:pPr>
            <a:r>
              <a:rPr lang="zh-CN" altLang="en-US" dirty="0">
                <a:latin typeface="Times New Roman" panose="02020603050405020304" pitchFamily="18" charset="0"/>
                <a:cs typeface="Times New Roman" panose="02020603050405020304" pitchFamily="18" charset="0"/>
              </a:rPr>
              <a:t>如果可以重启程序的执行（</a:t>
            </a:r>
            <a:r>
              <a:rPr lang="en-US" altLang="zh-CN" dirty="0">
                <a:latin typeface="Times New Roman" panose="02020603050405020304" pitchFamily="18" charset="0"/>
                <a:cs typeface="Times New Roman" panose="02020603050405020304" pitchFamily="18" charset="0"/>
              </a:rPr>
              <a:t>I/O</a:t>
            </a:r>
            <a:r>
              <a:rPr lang="zh-CN" altLang="en-US" dirty="0">
                <a:latin typeface="Times New Roman" panose="02020603050405020304" pitchFamily="18" charset="0"/>
                <a:cs typeface="Times New Roman" panose="02020603050405020304" pitchFamily="18" charset="0"/>
              </a:rPr>
              <a:t>设备请求等）</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完成例外处理的所有操作</a:t>
            </a:r>
            <a:endParaRPr lang="en-US" altLang="zh-CN" dirty="0">
              <a:latin typeface="Times New Roman" panose="02020603050405020304" pitchFamily="18" charset="0"/>
              <a:cs typeface="Times New Roman" panose="02020603050405020304" pitchFamily="18" charset="0"/>
            </a:endParaRPr>
          </a:p>
          <a:p>
            <a:pPr lvl="1" eaLnBrk="1" hangingPunct="1">
              <a:lnSpc>
                <a:spcPct val="150000"/>
              </a:lnSpc>
            </a:pPr>
            <a:r>
              <a:rPr lang="zh-CN" altLang="en-US" dirty="0">
                <a:latin typeface="Times New Roman" panose="02020603050405020304" pitchFamily="18" charset="0"/>
                <a:cs typeface="Times New Roman" panose="02020603050405020304" pitchFamily="18" charset="0"/>
              </a:rPr>
              <a:t>使用</a:t>
            </a:r>
            <a:r>
              <a:rPr lang="en-US" altLang="zh-CN" dirty="0">
                <a:latin typeface="Times New Roman" panose="02020603050405020304" pitchFamily="18" charset="0"/>
                <a:cs typeface="Times New Roman" panose="02020603050405020304" pitchFamily="18" charset="0"/>
              </a:rPr>
              <a:t>SEPC</a:t>
            </a:r>
            <a:r>
              <a:rPr lang="zh-CN" altLang="en-US" dirty="0">
                <a:latin typeface="Times New Roman" panose="02020603050405020304" pitchFamily="18" charset="0"/>
                <a:cs typeface="Times New Roman" panose="02020603050405020304" pitchFamily="18" charset="0"/>
              </a:rPr>
              <a:t>寄存器中的内容重启程序的正常执行</a:t>
            </a:r>
            <a:endParaRPr lang="en-US" altLang="en-US" dirty="0">
              <a:latin typeface="Times New Roman" panose="02020603050405020304" pitchFamily="18" charset="0"/>
              <a:cs typeface="Times New Roman" panose="02020603050405020304" pitchFamily="18" charset="0"/>
            </a:endParaRPr>
          </a:p>
          <a:p>
            <a:pPr eaLnBrk="1" hangingPunct="1">
              <a:lnSpc>
                <a:spcPct val="150000"/>
              </a:lnSpc>
            </a:pPr>
            <a:r>
              <a:rPr lang="zh-CN" altLang="en-US" dirty="0">
                <a:latin typeface="Times New Roman" panose="02020603050405020304" pitchFamily="18" charset="0"/>
                <a:cs typeface="Times New Roman" panose="02020603050405020304" pitchFamily="18" charset="0"/>
              </a:rPr>
              <a:t>否则（未定义指令或硬件故障等）</a:t>
            </a:r>
            <a:endParaRPr lang="en-US" altLang="en-US"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停止当前程序的执行</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使用</a:t>
            </a:r>
            <a:r>
              <a:rPr lang="en-US" altLang="zh-CN" dirty="0">
                <a:latin typeface="Times New Roman" panose="02020603050405020304" pitchFamily="18" charset="0"/>
                <a:cs typeface="Times New Roman" panose="02020603050405020304" pitchFamily="18" charset="0"/>
              </a:rPr>
              <a:t>SEPC, SCAUSE</a:t>
            </a:r>
            <a:r>
              <a:rPr lang="zh-CN" altLang="en-US" dirty="0">
                <a:latin typeface="Times New Roman" panose="02020603050405020304" pitchFamily="18" charset="0"/>
                <a:cs typeface="Times New Roman" panose="02020603050405020304" pitchFamily="18" charset="0"/>
              </a:rPr>
              <a:t>等来报告错误</a:t>
            </a:r>
            <a:endParaRPr lang="en-US" altLang="en-US" dirty="0">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8EE8E787-E6FE-45D8-9039-788B45E44EE7}" type="slidenum">
              <a:rPr lang="zh-CN" altLang="en-US" smtClean="0"/>
              <a:t>82</a:t>
            </a:fld>
            <a:endParaRPr lang="zh-CN" altLang="en-US" dirty="0"/>
          </a:p>
        </p:txBody>
      </p:sp>
      <p:sp>
        <p:nvSpPr>
          <p:cNvPr id="4" name="标题 3"/>
          <p:cNvSpPr>
            <a:spLocks noGrp="1"/>
          </p:cNvSpPr>
          <p:nvPr>
            <p:ph type="title"/>
          </p:nvPr>
        </p:nvSpPr>
        <p:spPr/>
        <p:txBody>
          <a:bodyPr/>
          <a:lstStyle/>
          <a:p>
            <a:r>
              <a:rPr lang="zh-CN" altLang="en-US" dirty="0"/>
              <a:t>例外处理程序的工作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268">
                                            <p:txEl>
                                              <p:pRg st="1" end="1"/>
                                            </p:txEl>
                                          </p:spTgt>
                                        </p:tgtEl>
                                        <p:attrNameLst>
                                          <p:attrName>style.visibility</p:attrName>
                                        </p:attrNameLst>
                                      </p:cBhvr>
                                      <p:to>
                                        <p:strVal val="visible"/>
                                      </p:to>
                                    </p:set>
                                    <p:animEffect transition="in" filter="fade">
                                      <p:cBhvr>
                                        <p:cTn id="7" dur="500"/>
                                        <p:tgtEl>
                                          <p:spTgt spid="1126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268">
                                            <p:txEl>
                                              <p:pRg st="2" end="2"/>
                                            </p:txEl>
                                          </p:spTgt>
                                        </p:tgtEl>
                                        <p:attrNameLst>
                                          <p:attrName>style.visibility</p:attrName>
                                        </p:attrNameLst>
                                      </p:cBhvr>
                                      <p:to>
                                        <p:strVal val="visible"/>
                                      </p:to>
                                    </p:set>
                                    <p:animEffect transition="in" filter="fade">
                                      <p:cBhvr>
                                        <p:cTn id="12" dur="500"/>
                                        <p:tgtEl>
                                          <p:spTgt spid="1126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268">
                                            <p:txEl>
                                              <p:pRg st="3" end="3"/>
                                            </p:txEl>
                                          </p:spTgt>
                                        </p:tgtEl>
                                        <p:attrNameLst>
                                          <p:attrName>style.visibility</p:attrName>
                                        </p:attrNameLst>
                                      </p:cBhvr>
                                      <p:to>
                                        <p:strVal val="visible"/>
                                      </p:to>
                                    </p:set>
                                    <p:animEffect transition="in" filter="fade">
                                      <p:cBhvr>
                                        <p:cTn id="17" dur="500"/>
                                        <p:tgtEl>
                                          <p:spTgt spid="1126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268">
                                            <p:txEl>
                                              <p:pRg st="4" end="4"/>
                                            </p:txEl>
                                          </p:spTgt>
                                        </p:tgtEl>
                                        <p:attrNameLst>
                                          <p:attrName>style.visibility</p:attrName>
                                        </p:attrNameLst>
                                      </p:cBhvr>
                                      <p:to>
                                        <p:strVal val="visible"/>
                                      </p:to>
                                    </p:set>
                                    <p:animEffect transition="in" filter="fade">
                                      <p:cBhvr>
                                        <p:cTn id="22" dur="500"/>
                                        <p:tgtEl>
                                          <p:spTgt spid="11268">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268">
                                            <p:txEl>
                                              <p:pRg st="5" end="5"/>
                                            </p:txEl>
                                          </p:spTgt>
                                        </p:tgtEl>
                                        <p:attrNameLst>
                                          <p:attrName>style.visibility</p:attrName>
                                        </p:attrNameLst>
                                      </p:cBhvr>
                                      <p:to>
                                        <p:strVal val="visible"/>
                                      </p:to>
                                    </p:set>
                                    <p:animEffect transition="in" filter="fade">
                                      <p:cBhvr>
                                        <p:cTn id="27" dur="500"/>
                                        <p:tgtEl>
                                          <p:spTgt spid="1126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3"/>
          <p:cNvSpPr>
            <a:spLocks noGrp="1" noChangeArrowheads="1"/>
          </p:cNvSpPr>
          <p:nvPr>
            <p:ph idx="1"/>
          </p:nvPr>
        </p:nvSpPr>
        <p:spPr/>
        <p:txBody>
          <a:bodyPr>
            <a:noAutofit/>
          </a:bodyPr>
          <a:lstStyle/>
          <a:p>
            <a:pPr eaLnBrk="1" hangingPunct="1">
              <a:lnSpc>
                <a:spcPct val="100000"/>
              </a:lnSpc>
            </a:pPr>
            <a:r>
              <a:rPr lang="zh-CN" altLang="en-US" sz="2800" dirty="0">
                <a:latin typeface="Times New Roman" panose="02020603050405020304" pitchFamily="18" charset="0"/>
                <a:cs typeface="Times New Roman" panose="02020603050405020304" pitchFamily="18" charset="0"/>
                <a:sym typeface="+mn-ea"/>
              </a:rPr>
              <a:t>流水线实现中，将例外处理看作另一种控制冒险。</a:t>
            </a:r>
            <a:endParaRPr lang="en-US" altLang="zh-CN" sz="2800" dirty="0">
              <a:latin typeface="Times New Roman" panose="02020603050405020304" pitchFamily="18" charset="0"/>
              <a:cs typeface="Times New Roman" panose="02020603050405020304" pitchFamily="18" charset="0"/>
            </a:endParaRPr>
          </a:p>
          <a:p>
            <a:pPr eaLnBrk="1" hangingPunct="1">
              <a:lnSpc>
                <a:spcPct val="100000"/>
              </a:lnSpc>
            </a:pPr>
            <a:r>
              <a:rPr lang="zh-CN" altLang="en-US" sz="2800">
                <a:latin typeface="Times New Roman" panose="02020603050405020304" pitchFamily="18" charset="0"/>
                <a:cs typeface="Times New Roman" panose="02020603050405020304" pitchFamily="18" charset="0"/>
              </a:rPr>
              <a:t>假设</a:t>
            </a:r>
            <a:r>
              <a:rPr lang="en-US" altLang="zh-CN" sz="2800">
                <a:latin typeface="Times New Roman" panose="02020603050405020304" pitchFamily="18" charset="0"/>
                <a:cs typeface="Times New Roman" panose="02020603050405020304" pitchFamily="18" charset="0"/>
              </a:rPr>
              <a:t>add</a:t>
            </a:r>
            <a:r>
              <a:rPr lang="zh-CN" altLang="en-US" sz="2800">
                <a:latin typeface="Times New Roman" panose="02020603050405020304" pitchFamily="18" charset="0"/>
                <a:cs typeface="Times New Roman" panose="02020603050405020304" pitchFamily="18" charset="0"/>
              </a:rPr>
              <a:t>指令执行阶段发生了硬件故障。</a:t>
            </a:r>
            <a:endParaRPr lang="en-US" altLang="en-US" sz="2800">
              <a:latin typeface="Times New Roman" panose="02020603050405020304" pitchFamily="18" charset="0"/>
              <a:cs typeface="Times New Roman" panose="02020603050405020304" pitchFamily="18" charset="0"/>
            </a:endParaRPr>
          </a:p>
          <a:p>
            <a:pPr lvl="1" eaLnBrk="1" hangingPunct="1">
              <a:lnSpc>
                <a:spcPct val="100000"/>
              </a:lnSpc>
              <a:buFont typeface="Wingdings" panose="05000000000000000000" pitchFamily="2" charset="2"/>
              <a:buNone/>
            </a:pPr>
            <a:r>
              <a:rPr lang="en-AU" altLang="en-US" sz="2400">
                <a:latin typeface="Times New Roman" panose="02020603050405020304" pitchFamily="18" charset="0"/>
                <a:cs typeface="Times New Roman" panose="02020603050405020304" pitchFamily="18" charset="0"/>
              </a:rPr>
              <a:t>	40	sub  x11, x2, x4</a:t>
            </a:r>
            <a:br>
              <a:rPr lang="en-AU" altLang="en-US" sz="2400">
                <a:latin typeface="Times New Roman" panose="02020603050405020304" pitchFamily="18" charset="0"/>
                <a:cs typeface="Times New Roman" panose="02020603050405020304" pitchFamily="18" charset="0"/>
              </a:rPr>
            </a:br>
            <a:r>
              <a:rPr lang="en-AU" altLang="en-US" sz="2400">
                <a:latin typeface="Times New Roman" panose="02020603050405020304" pitchFamily="18" charset="0"/>
                <a:cs typeface="Times New Roman" panose="02020603050405020304" pitchFamily="18" charset="0"/>
              </a:rPr>
              <a:t>44	and  x12, x2, x5</a:t>
            </a:r>
            <a:br>
              <a:rPr lang="en-AU" altLang="en-US" sz="2400">
                <a:latin typeface="Times New Roman" panose="02020603050405020304" pitchFamily="18" charset="0"/>
                <a:cs typeface="Times New Roman" panose="02020603050405020304" pitchFamily="18" charset="0"/>
              </a:rPr>
            </a:br>
            <a:r>
              <a:rPr lang="en-AU" altLang="en-US" sz="2400">
                <a:latin typeface="Times New Roman" panose="02020603050405020304" pitchFamily="18" charset="0"/>
                <a:cs typeface="Times New Roman" panose="02020603050405020304" pitchFamily="18" charset="0"/>
              </a:rPr>
              <a:t>48	or    x13, x2, x6</a:t>
            </a:r>
            <a:br>
              <a:rPr lang="en-AU" altLang="en-US" sz="2400">
                <a:latin typeface="Times New Roman" panose="02020603050405020304" pitchFamily="18" charset="0"/>
                <a:cs typeface="Times New Roman" panose="02020603050405020304" pitchFamily="18" charset="0"/>
              </a:rPr>
            </a:br>
            <a:r>
              <a:rPr lang="en-AU" altLang="en-US" sz="2400">
                <a:solidFill>
                  <a:schemeClr val="hlink"/>
                </a:solidFill>
                <a:latin typeface="Times New Roman" panose="02020603050405020304" pitchFamily="18" charset="0"/>
                <a:cs typeface="Times New Roman" panose="02020603050405020304" pitchFamily="18" charset="0"/>
              </a:rPr>
              <a:t>4</a:t>
            </a:r>
            <a:r>
              <a:rPr lang="en-US" altLang="en-AU" sz="2400">
                <a:solidFill>
                  <a:schemeClr val="hlink"/>
                </a:solidFill>
                <a:latin typeface="Times New Roman" panose="02020603050405020304" pitchFamily="18" charset="0"/>
                <a:cs typeface="Times New Roman" panose="02020603050405020304" pitchFamily="18" charset="0"/>
              </a:rPr>
              <a:t>C</a:t>
            </a:r>
            <a:r>
              <a:rPr lang="en-AU" altLang="en-US" sz="2400">
                <a:solidFill>
                  <a:schemeClr val="hlink"/>
                </a:solidFill>
                <a:latin typeface="Times New Roman" panose="02020603050405020304" pitchFamily="18" charset="0"/>
                <a:cs typeface="Times New Roman" panose="02020603050405020304" pitchFamily="18" charset="0"/>
              </a:rPr>
              <a:t>	add  x1,  x2, x1</a:t>
            </a:r>
            <a:br>
              <a:rPr lang="en-AU" altLang="en-US" sz="2400">
                <a:latin typeface="Times New Roman" panose="02020603050405020304" pitchFamily="18" charset="0"/>
                <a:cs typeface="Times New Roman" panose="02020603050405020304" pitchFamily="18" charset="0"/>
              </a:rPr>
            </a:br>
            <a:r>
              <a:rPr lang="en-AU" altLang="en-US" sz="2400">
                <a:latin typeface="Times New Roman" panose="02020603050405020304" pitchFamily="18" charset="0"/>
                <a:cs typeface="Times New Roman" panose="02020603050405020304" pitchFamily="18" charset="0"/>
              </a:rPr>
              <a:t>50	sub  x15, x6, x7</a:t>
            </a:r>
            <a:br>
              <a:rPr lang="en-AU" altLang="en-US" sz="2400">
                <a:latin typeface="Times New Roman" panose="02020603050405020304" pitchFamily="18" charset="0"/>
                <a:cs typeface="Times New Roman" panose="02020603050405020304" pitchFamily="18" charset="0"/>
              </a:rPr>
            </a:br>
            <a:r>
              <a:rPr lang="en-AU" altLang="en-US" sz="2400">
                <a:latin typeface="Times New Roman" panose="02020603050405020304" pitchFamily="18" charset="0"/>
                <a:cs typeface="Times New Roman" panose="02020603050405020304" pitchFamily="18" charset="0"/>
              </a:rPr>
              <a:t>54	ld   x16, 100(x7)</a:t>
            </a:r>
            <a:br>
              <a:rPr lang="en-AU" altLang="en-US" sz="2400">
                <a:latin typeface="Times New Roman" panose="02020603050405020304" pitchFamily="18" charset="0"/>
                <a:cs typeface="Times New Roman" panose="02020603050405020304" pitchFamily="18" charset="0"/>
              </a:rPr>
            </a:br>
            <a:r>
              <a:rPr lang="en-AU" altLang="en-US" sz="2400">
                <a:latin typeface="Times New Roman" panose="02020603050405020304" pitchFamily="18" charset="0"/>
                <a:cs typeface="Times New Roman" panose="02020603050405020304" pitchFamily="18" charset="0"/>
              </a:rPr>
              <a:t>…</a:t>
            </a:r>
          </a:p>
          <a:p>
            <a:pPr eaLnBrk="1" hangingPunct="1">
              <a:lnSpc>
                <a:spcPct val="100000"/>
              </a:lnSpc>
            </a:pPr>
            <a:r>
              <a:rPr lang="en-US" altLang="en-US" sz="2800">
                <a:latin typeface="Times New Roman" panose="02020603050405020304" pitchFamily="18" charset="0"/>
                <a:cs typeface="Times New Roman" panose="02020603050405020304" pitchFamily="18" charset="0"/>
              </a:rPr>
              <a:t>Handler</a:t>
            </a:r>
          </a:p>
          <a:p>
            <a:pPr lvl="1" eaLnBrk="1" hangingPunct="1">
              <a:lnSpc>
                <a:spcPct val="100000"/>
              </a:lnSpc>
              <a:buFont typeface="Wingdings" panose="05000000000000000000" pitchFamily="2" charset="2"/>
              <a:buNone/>
            </a:pPr>
            <a:r>
              <a:rPr lang="en-AU" altLang="en-US" sz="2400">
                <a:latin typeface="Times New Roman" panose="02020603050405020304" pitchFamily="18" charset="0"/>
                <a:cs typeface="Times New Roman" panose="02020603050405020304" pitchFamily="18" charset="0"/>
              </a:rPr>
              <a:t>	1C090000	sd  x26, 1000(x10)</a:t>
            </a:r>
            <a:br>
              <a:rPr lang="en-AU" altLang="en-US" sz="2400">
                <a:latin typeface="Times New Roman" panose="02020603050405020304" pitchFamily="18" charset="0"/>
                <a:cs typeface="Times New Roman" panose="02020603050405020304" pitchFamily="18" charset="0"/>
              </a:rPr>
            </a:br>
            <a:r>
              <a:rPr lang="en-AU" altLang="en-US" sz="2400">
                <a:latin typeface="Times New Roman" panose="02020603050405020304" pitchFamily="18" charset="0"/>
                <a:cs typeface="Times New Roman" panose="02020603050405020304" pitchFamily="18" charset="0"/>
              </a:rPr>
              <a:t>1</a:t>
            </a:r>
            <a:r>
              <a:rPr lang="en-US" altLang="en-AU" sz="2400">
                <a:latin typeface="Times New Roman" panose="02020603050405020304" pitchFamily="18" charset="0"/>
                <a:cs typeface="Times New Roman" panose="02020603050405020304" pitchFamily="18" charset="0"/>
              </a:rPr>
              <a:t>C</a:t>
            </a:r>
            <a:r>
              <a:rPr lang="en-AU" altLang="en-US" sz="2400">
                <a:latin typeface="Times New Roman" panose="02020603050405020304" pitchFamily="18" charset="0"/>
                <a:cs typeface="Times New Roman" panose="02020603050405020304" pitchFamily="18" charset="0"/>
              </a:rPr>
              <a:t>090004 </a:t>
            </a:r>
            <a:r>
              <a:rPr lang="en-US" altLang="en-AU" sz="2400">
                <a:latin typeface="Times New Roman" panose="02020603050405020304" pitchFamily="18" charset="0"/>
                <a:cs typeface="Times New Roman" panose="02020603050405020304" pitchFamily="18" charset="0"/>
              </a:rPr>
              <a:t>	</a:t>
            </a:r>
            <a:r>
              <a:rPr lang="en-AU" altLang="en-US" sz="2400">
                <a:latin typeface="Times New Roman" panose="02020603050405020304" pitchFamily="18" charset="0"/>
                <a:cs typeface="Times New Roman" panose="02020603050405020304" pitchFamily="18" charset="0"/>
              </a:rPr>
              <a:t>sd  x27, 1008(x10)</a:t>
            </a:r>
            <a:br>
              <a:rPr lang="en-AU" altLang="en-US" sz="2400">
                <a:latin typeface="Times New Roman" panose="02020603050405020304" pitchFamily="18" charset="0"/>
                <a:cs typeface="Times New Roman" panose="02020603050405020304" pitchFamily="18" charset="0"/>
              </a:rPr>
            </a:br>
            <a:r>
              <a:rPr lang="en-AU" altLang="en-US" sz="2400">
                <a:latin typeface="Times New Roman" panose="02020603050405020304" pitchFamily="18" charset="0"/>
                <a:cs typeface="Times New Roman" panose="02020603050405020304" pitchFamily="18" charset="0"/>
              </a:rPr>
              <a:t>…</a:t>
            </a:r>
          </a:p>
        </p:txBody>
      </p:sp>
      <p:sp>
        <p:nvSpPr>
          <p:cNvPr id="2" name="灯片编号占位符 1"/>
          <p:cNvSpPr>
            <a:spLocks noGrp="1"/>
          </p:cNvSpPr>
          <p:nvPr>
            <p:ph type="sldNum" sz="quarter" idx="12"/>
          </p:nvPr>
        </p:nvSpPr>
        <p:spPr/>
        <p:txBody>
          <a:bodyPr/>
          <a:lstStyle/>
          <a:p>
            <a:fld id="{8EE8E787-E6FE-45D8-9039-788B45E44EE7}" type="slidenum">
              <a:rPr lang="zh-CN" altLang="en-US" smtClean="0"/>
              <a:t>83</a:t>
            </a:fld>
            <a:endParaRPr lang="zh-CN" altLang="en-US" dirty="0"/>
          </a:p>
        </p:txBody>
      </p:sp>
      <p:sp>
        <p:nvSpPr>
          <p:cNvPr id="4" name="标题 3"/>
          <p:cNvSpPr>
            <a:spLocks noGrp="1"/>
          </p:cNvSpPr>
          <p:nvPr>
            <p:ph type="title"/>
          </p:nvPr>
        </p:nvSpPr>
        <p:spPr/>
        <p:txBody>
          <a:bodyPr/>
          <a:lstStyle/>
          <a:p>
            <a:r>
              <a:rPr lang="zh-CN" altLang="en-US" dirty="0">
                <a:sym typeface="+mn-ea"/>
              </a:rPr>
              <a:t>流水线实现中的例外</a:t>
            </a:r>
            <a:endParaRPr lang="zh-CN"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3"/>
          <p:cNvSpPr>
            <a:spLocks noGrp="1" noChangeArrowheads="1"/>
          </p:cNvSpPr>
          <p:nvPr>
            <p:ph idx="1"/>
          </p:nvPr>
        </p:nvSpPr>
        <p:spPr/>
        <p:txBody>
          <a:bodyPr>
            <a:normAutofit/>
          </a:bodyPr>
          <a:lstStyle/>
          <a:p>
            <a:pPr eaLnBrk="1" hangingPunct="1">
              <a:lnSpc>
                <a:spcPct val="150000"/>
              </a:lnSpc>
            </a:pPr>
            <a:r>
              <a:rPr lang="zh-CN" altLang="en-US" dirty="0">
                <a:latin typeface="Times New Roman" panose="02020603050405020304" pitchFamily="18" charset="0"/>
                <a:cs typeface="Times New Roman" panose="02020603050405020304" pitchFamily="18" charset="0"/>
              </a:rPr>
              <a:t>考虑</a:t>
            </a:r>
            <a:r>
              <a:rPr lang="en-US" altLang="zh-CN" dirty="0">
                <a:latin typeface="Times New Roman" panose="02020603050405020304" pitchFamily="18" charset="0"/>
                <a:cs typeface="Times New Roman" panose="02020603050405020304" pitchFamily="18" charset="0"/>
              </a:rPr>
              <a:t>add</a:t>
            </a:r>
            <a:r>
              <a:rPr lang="zh-CN" altLang="en-US" dirty="0">
                <a:latin typeface="Times New Roman" panose="02020603050405020304" pitchFamily="18" charset="0"/>
                <a:cs typeface="Times New Roman" panose="02020603050405020304" pitchFamily="18" charset="0"/>
              </a:rPr>
              <a:t>指令 </a:t>
            </a:r>
            <a:r>
              <a:rPr lang="en-US" altLang="zh-CN" dirty="0">
                <a:latin typeface="Times New Roman" panose="02020603050405020304" pitchFamily="18" charset="0"/>
                <a:cs typeface="Times New Roman" panose="02020603050405020304" pitchFamily="18" charset="0"/>
              </a:rPr>
              <a:t>add x1, x2, x1 </a:t>
            </a:r>
            <a:r>
              <a:rPr lang="zh-CN" altLang="en-US" dirty="0">
                <a:latin typeface="Times New Roman" panose="02020603050405020304" pitchFamily="18" charset="0"/>
                <a:cs typeface="Times New Roman" panose="02020603050405020304" pitchFamily="18" charset="0"/>
              </a:rPr>
              <a:t>的</a:t>
            </a:r>
            <a:r>
              <a:rPr lang="en-US" altLang="zh-CN" dirty="0">
                <a:latin typeface="Times New Roman" panose="02020603050405020304" pitchFamily="18" charset="0"/>
                <a:cs typeface="Times New Roman" panose="02020603050405020304" pitchFamily="18" charset="0"/>
              </a:rPr>
              <a:t>EX</a:t>
            </a:r>
            <a:r>
              <a:rPr lang="zh-CN" altLang="en-US" dirty="0">
                <a:latin typeface="Times New Roman" panose="02020603050405020304" pitchFamily="18" charset="0"/>
                <a:cs typeface="Times New Roman" panose="02020603050405020304" pitchFamily="18" charset="0"/>
              </a:rPr>
              <a:t>阶段发生了硬件故障</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en-US" altLang="zh-CN" dirty="0">
                <a:latin typeface="Times New Roman" panose="02020603050405020304" pitchFamily="18" charset="0"/>
                <a:cs typeface="Times New Roman" panose="02020603050405020304" pitchFamily="18" charset="0"/>
              </a:rPr>
              <a:t>IF</a:t>
            </a:r>
            <a:r>
              <a:rPr lang="zh-CN" altLang="en-US" dirty="0">
                <a:latin typeface="Times New Roman" panose="02020603050405020304" pitchFamily="18" charset="0"/>
                <a:cs typeface="Times New Roman" panose="02020603050405020304" pitchFamily="18" charset="0"/>
              </a:rPr>
              <a:t>阶段的指令：变为</a:t>
            </a:r>
            <a:r>
              <a:rPr lang="en-US" altLang="zh-CN" dirty="0" err="1">
                <a:latin typeface="Times New Roman" panose="02020603050405020304" pitchFamily="18" charset="0"/>
                <a:cs typeface="Times New Roman" panose="02020603050405020304" pitchFamily="18" charset="0"/>
              </a:rPr>
              <a:t>nop</a:t>
            </a:r>
            <a:r>
              <a:rPr lang="zh-CN" altLang="en-US" dirty="0">
                <a:latin typeface="Times New Roman" panose="02020603050405020304" pitchFamily="18" charset="0"/>
                <a:cs typeface="Times New Roman" panose="02020603050405020304" pitchFamily="18" charset="0"/>
              </a:rPr>
              <a:t>操作</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en-US" altLang="zh-CN" dirty="0">
                <a:latin typeface="Times New Roman" panose="02020603050405020304" pitchFamily="18" charset="0"/>
                <a:cs typeface="Times New Roman" panose="02020603050405020304" pitchFamily="18" charset="0"/>
              </a:rPr>
              <a:t>ID</a:t>
            </a:r>
            <a:r>
              <a:rPr lang="zh-CN" altLang="en-US" dirty="0">
                <a:latin typeface="Times New Roman" panose="02020603050405020304" pitchFamily="18" charset="0"/>
                <a:cs typeface="Times New Roman" panose="02020603050405020304" pitchFamily="18" charset="0"/>
              </a:rPr>
              <a:t>阶段的指令：增加新的逻辑部件，使得译码阶段的输出为</a:t>
            </a:r>
            <a:r>
              <a:rPr lang="en-US" altLang="zh-CN" dirty="0">
                <a:latin typeface="Times New Roman" panose="02020603050405020304" pitchFamily="18" charset="0"/>
                <a:cs typeface="Times New Roman" panose="02020603050405020304" pitchFamily="18" charset="0"/>
              </a:rPr>
              <a:t>0</a:t>
            </a:r>
          </a:p>
          <a:p>
            <a:pPr lvl="1">
              <a:lnSpc>
                <a:spcPct val="150000"/>
              </a:lnSpc>
            </a:pPr>
            <a:r>
              <a:rPr lang="en-US" altLang="zh-CN" dirty="0">
                <a:latin typeface="Times New Roman" panose="02020603050405020304" pitchFamily="18" charset="0"/>
                <a:cs typeface="Times New Roman" panose="02020603050405020304" pitchFamily="18" charset="0"/>
              </a:rPr>
              <a:t>EX</a:t>
            </a:r>
            <a:r>
              <a:rPr lang="zh-CN" altLang="en-US" dirty="0">
                <a:latin typeface="Times New Roman" panose="02020603050405020304" pitchFamily="18" charset="0"/>
                <a:cs typeface="Times New Roman" panose="02020603050405020304" pitchFamily="18" charset="0"/>
              </a:rPr>
              <a:t>阶段的指令：需要保留</a:t>
            </a:r>
            <a:r>
              <a:rPr lang="en-US" altLang="zh-CN" dirty="0">
                <a:latin typeface="Times New Roman" panose="02020603050405020304" pitchFamily="18" charset="0"/>
                <a:cs typeface="Times New Roman" panose="02020603050405020304" pitchFamily="18" charset="0"/>
              </a:rPr>
              <a:t>x1</a:t>
            </a:r>
            <a:r>
              <a:rPr lang="zh-CN" altLang="en-US" dirty="0">
                <a:latin typeface="Times New Roman" panose="02020603050405020304" pitchFamily="18" charset="0"/>
                <a:cs typeface="Times New Roman" panose="02020603050405020304" pitchFamily="18" charset="0"/>
              </a:rPr>
              <a:t>原本的值</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en-US" altLang="zh-CN" dirty="0">
                <a:latin typeface="Times New Roman" panose="02020603050405020304" pitchFamily="18" charset="0"/>
                <a:cs typeface="Times New Roman" panose="02020603050405020304" pitchFamily="18" charset="0"/>
              </a:rPr>
              <a:t>add</a:t>
            </a:r>
            <a:r>
              <a:rPr lang="zh-CN" altLang="en-US" dirty="0">
                <a:latin typeface="Times New Roman" panose="02020603050405020304" pitchFamily="18" charset="0"/>
                <a:cs typeface="Times New Roman" panose="02020603050405020304" pitchFamily="18" charset="0"/>
              </a:rPr>
              <a:t>之前的指令，正常完成</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设置</a:t>
            </a:r>
            <a:r>
              <a:rPr lang="en-US" altLang="zh-CN" dirty="0">
                <a:latin typeface="Times New Roman" panose="02020603050405020304" pitchFamily="18" charset="0"/>
                <a:cs typeface="Times New Roman" panose="02020603050405020304" pitchFamily="18" charset="0"/>
              </a:rPr>
              <a:t>SEPC</a:t>
            </a:r>
            <a:r>
              <a:rPr lang="zh-CN" altLang="en-US" dirty="0">
                <a:latin typeface="Times New Roman" panose="02020603050405020304" pitchFamily="18" charset="0"/>
                <a:cs typeface="Times New Roman" panose="02020603050405020304" pitchFamily="18" charset="0"/>
              </a:rPr>
              <a:t>和</a:t>
            </a:r>
            <a:r>
              <a:rPr lang="en-US" altLang="zh-CN" dirty="0">
                <a:latin typeface="Times New Roman" panose="02020603050405020304" pitchFamily="18" charset="0"/>
                <a:cs typeface="Times New Roman" panose="02020603050405020304" pitchFamily="18" charset="0"/>
              </a:rPr>
              <a:t>SCAUSE</a:t>
            </a:r>
            <a:r>
              <a:rPr lang="zh-CN" altLang="en-US" dirty="0">
                <a:latin typeface="Times New Roman" panose="02020603050405020304" pitchFamily="18" charset="0"/>
                <a:cs typeface="Times New Roman" panose="02020603050405020304" pitchFamily="18" charset="0"/>
              </a:rPr>
              <a:t>的寄存器值</a:t>
            </a:r>
            <a:endParaRPr lang="en-US" altLang="zh-CN" dirty="0">
              <a:latin typeface="Times New Roman" panose="02020603050405020304" pitchFamily="18" charset="0"/>
              <a:cs typeface="Times New Roman" panose="02020603050405020304" pitchFamily="18" charset="0"/>
            </a:endParaRPr>
          </a:p>
          <a:p>
            <a:pPr lvl="1">
              <a:lnSpc>
                <a:spcPct val="150000"/>
              </a:lnSpc>
            </a:pPr>
            <a:r>
              <a:rPr lang="zh-CN" altLang="en-US" dirty="0">
                <a:latin typeface="Times New Roman" panose="02020603050405020304" pitchFamily="18" charset="0"/>
                <a:cs typeface="Times New Roman" panose="02020603050405020304" pitchFamily="18" charset="0"/>
              </a:rPr>
              <a:t>转到例外处理程序</a:t>
            </a:r>
            <a:endParaRPr lang="en-US" altLang="en-US" dirty="0">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8EE8E787-E6FE-45D8-9039-788B45E44EE7}" type="slidenum">
              <a:rPr lang="zh-CN" altLang="en-US" smtClean="0"/>
              <a:t>84</a:t>
            </a:fld>
            <a:endParaRPr lang="zh-CN" altLang="en-US" dirty="0"/>
          </a:p>
        </p:txBody>
      </p:sp>
      <p:sp>
        <p:nvSpPr>
          <p:cNvPr id="4" name="标题 3"/>
          <p:cNvSpPr>
            <a:spLocks noGrp="1"/>
          </p:cNvSpPr>
          <p:nvPr>
            <p:ph type="title"/>
          </p:nvPr>
        </p:nvSpPr>
        <p:spPr/>
        <p:txBody>
          <a:bodyPr/>
          <a:lstStyle/>
          <a:p>
            <a:r>
              <a:rPr lang="zh-CN" altLang="en-US" dirty="0"/>
              <a:t>流水线实现中的例外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16">
                                            <p:txEl>
                                              <p:pRg st="1" end="1"/>
                                            </p:txEl>
                                          </p:spTgt>
                                        </p:tgtEl>
                                        <p:attrNameLst>
                                          <p:attrName>style.visibility</p:attrName>
                                        </p:attrNameLst>
                                      </p:cBhvr>
                                      <p:to>
                                        <p:strVal val="visible"/>
                                      </p:to>
                                    </p:set>
                                    <p:animEffect transition="in" filter="fade">
                                      <p:cBhvr>
                                        <p:cTn id="7" dur="500"/>
                                        <p:tgtEl>
                                          <p:spTgt spid="1331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316">
                                            <p:txEl>
                                              <p:pRg st="2" end="2"/>
                                            </p:txEl>
                                          </p:spTgt>
                                        </p:tgtEl>
                                        <p:attrNameLst>
                                          <p:attrName>style.visibility</p:attrName>
                                        </p:attrNameLst>
                                      </p:cBhvr>
                                      <p:to>
                                        <p:strVal val="visible"/>
                                      </p:to>
                                    </p:set>
                                    <p:animEffect transition="in" filter="fade">
                                      <p:cBhvr>
                                        <p:cTn id="12" dur="500"/>
                                        <p:tgtEl>
                                          <p:spTgt spid="1331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316">
                                            <p:txEl>
                                              <p:pRg st="3" end="3"/>
                                            </p:txEl>
                                          </p:spTgt>
                                        </p:tgtEl>
                                        <p:attrNameLst>
                                          <p:attrName>style.visibility</p:attrName>
                                        </p:attrNameLst>
                                      </p:cBhvr>
                                      <p:to>
                                        <p:strVal val="visible"/>
                                      </p:to>
                                    </p:set>
                                    <p:animEffect transition="in" filter="fade">
                                      <p:cBhvr>
                                        <p:cTn id="17" dur="500"/>
                                        <p:tgtEl>
                                          <p:spTgt spid="1331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316">
                                            <p:txEl>
                                              <p:pRg st="4" end="4"/>
                                            </p:txEl>
                                          </p:spTgt>
                                        </p:tgtEl>
                                        <p:attrNameLst>
                                          <p:attrName>style.visibility</p:attrName>
                                        </p:attrNameLst>
                                      </p:cBhvr>
                                      <p:to>
                                        <p:strVal val="visible"/>
                                      </p:to>
                                    </p:set>
                                    <p:animEffect transition="in" filter="fade">
                                      <p:cBhvr>
                                        <p:cTn id="22" dur="500"/>
                                        <p:tgtEl>
                                          <p:spTgt spid="1331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316">
                                            <p:txEl>
                                              <p:pRg st="5" end="5"/>
                                            </p:txEl>
                                          </p:spTgt>
                                        </p:tgtEl>
                                        <p:attrNameLst>
                                          <p:attrName>style.visibility</p:attrName>
                                        </p:attrNameLst>
                                      </p:cBhvr>
                                      <p:to>
                                        <p:strVal val="visible"/>
                                      </p:to>
                                    </p:set>
                                    <p:animEffect transition="in" filter="fade">
                                      <p:cBhvr>
                                        <p:cTn id="27" dur="500"/>
                                        <p:tgtEl>
                                          <p:spTgt spid="1331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316">
                                            <p:txEl>
                                              <p:pRg st="6" end="6"/>
                                            </p:txEl>
                                          </p:spTgt>
                                        </p:tgtEl>
                                        <p:attrNameLst>
                                          <p:attrName>style.visibility</p:attrName>
                                        </p:attrNameLst>
                                      </p:cBhvr>
                                      <p:to>
                                        <p:strVal val="visible"/>
                                      </p:to>
                                    </p:set>
                                    <p:animEffect transition="in" filter="fade">
                                      <p:cBhvr>
                                        <p:cTn id="32" dur="500"/>
                                        <p:tgtEl>
                                          <p:spTgt spid="1331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bwMode="auto">
          <a:xfrm>
            <a:off x="956909" y="4027492"/>
            <a:ext cx="283998" cy="409195"/>
          </a:xfrm>
          <a:prstGeom prst="rect">
            <a:avLst/>
          </a:pr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lnSpc>
                <a:spcPct val="70000"/>
              </a:lnSpc>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PC</a:t>
            </a:r>
            <a:endParaRPr lang="zh-CN" altLang="en-US"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46" name="直接箭头连接符 45"/>
          <p:cNvCxnSpPr/>
          <p:nvPr/>
        </p:nvCxnSpPr>
        <p:spPr bwMode="auto">
          <a:xfrm flipV="1">
            <a:off x="10437569" y="4025329"/>
            <a:ext cx="148518" cy="1"/>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 name="直接连接符 77"/>
          <p:cNvCxnSpPr/>
          <p:nvPr/>
        </p:nvCxnSpPr>
        <p:spPr bwMode="auto">
          <a:xfrm>
            <a:off x="2417538" y="4196528"/>
            <a:ext cx="182854"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直接箭头连接符 88"/>
          <p:cNvCxnSpPr>
            <a:stCxn id="8" idx="3"/>
            <a:endCxn id="12" idx="1"/>
          </p:cNvCxnSpPr>
          <p:nvPr/>
        </p:nvCxnSpPr>
        <p:spPr bwMode="auto">
          <a:xfrm flipV="1">
            <a:off x="1240907" y="4209229"/>
            <a:ext cx="296430" cy="13336"/>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直接连接符 92"/>
          <p:cNvCxnSpPr>
            <a:stCxn id="174" idx="3"/>
          </p:cNvCxnSpPr>
          <p:nvPr/>
        </p:nvCxnSpPr>
        <p:spPr bwMode="auto">
          <a:xfrm>
            <a:off x="10951796" y="2921233"/>
            <a:ext cx="238338" cy="0"/>
          </a:xfrm>
          <a:prstGeom prst="line">
            <a:avLst/>
          </a:prstGeom>
          <a:noFill/>
          <a:ln w="25400" cap="flat" cmpd="sng" algn="ctr">
            <a:solidFill>
              <a:srgbClr val="00B0F0"/>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4" name="矩形 93"/>
          <p:cNvSpPr/>
          <p:nvPr/>
        </p:nvSpPr>
        <p:spPr bwMode="auto">
          <a:xfrm>
            <a:off x="2620291" y="3230677"/>
            <a:ext cx="273550" cy="2458913"/>
          </a:xfrm>
          <a:prstGeom prst="rect">
            <a:avLst/>
          </a:pr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49" name="直接箭头连接符 148"/>
          <p:cNvCxnSpPr>
            <a:endCxn id="8" idx="0"/>
          </p:cNvCxnSpPr>
          <p:nvPr/>
        </p:nvCxnSpPr>
        <p:spPr bwMode="auto">
          <a:xfrm rot="10800000" flipV="1">
            <a:off x="1098909" y="1434004"/>
            <a:ext cx="2749295" cy="2593487"/>
          </a:xfrm>
          <a:prstGeom prst="bentConnector2">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0" name="直接连接符 159"/>
          <p:cNvCxnSpPr>
            <a:stCxn id="139" idx="3"/>
            <a:endCxn id="174" idx="1"/>
          </p:cNvCxnSpPr>
          <p:nvPr/>
        </p:nvCxnSpPr>
        <p:spPr bwMode="auto">
          <a:xfrm>
            <a:off x="9429919" y="2792104"/>
            <a:ext cx="1161877" cy="129129"/>
          </a:xfrm>
          <a:prstGeom prst="bentConnector3">
            <a:avLst>
              <a:gd name="adj1" fmla="val 50000"/>
            </a:avLst>
          </a:prstGeom>
          <a:noFill/>
          <a:ln w="25400" cap="flat" cmpd="sng" algn="ctr">
            <a:solidFill>
              <a:srgbClr val="00B0F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2" name="直接箭头连接符 131"/>
          <p:cNvCxnSpPr>
            <a:stCxn id="129" idx="1"/>
          </p:cNvCxnSpPr>
          <p:nvPr/>
        </p:nvCxnSpPr>
        <p:spPr bwMode="auto">
          <a:xfrm>
            <a:off x="6224683" y="2451213"/>
            <a:ext cx="180000" cy="0"/>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 name="直接箭头连接符 132"/>
          <p:cNvCxnSpPr/>
          <p:nvPr/>
        </p:nvCxnSpPr>
        <p:spPr bwMode="auto">
          <a:xfrm>
            <a:off x="6069448" y="2635580"/>
            <a:ext cx="306391" cy="13144"/>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4" name="直接箭头连接符 133"/>
          <p:cNvCxnSpPr/>
          <p:nvPr/>
        </p:nvCxnSpPr>
        <p:spPr bwMode="auto">
          <a:xfrm>
            <a:off x="6212507" y="2847266"/>
            <a:ext cx="183983" cy="5174"/>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矩形 117"/>
          <p:cNvSpPr/>
          <p:nvPr/>
        </p:nvSpPr>
        <p:spPr bwMode="auto">
          <a:xfrm>
            <a:off x="9069027" y="3037676"/>
            <a:ext cx="360000" cy="2403293"/>
          </a:xfrm>
          <a:prstGeom prst="rect">
            <a:avLst/>
          </a:pr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7" name="矩形 136"/>
          <p:cNvSpPr/>
          <p:nvPr/>
        </p:nvSpPr>
        <p:spPr bwMode="auto">
          <a:xfrm>
            <a:off x="9070743" y="2544632"/>
            <a:ext cx="360000" cy="253456"/>
          </a:xfrm>
          <a:prstGeom prst="rect">
            <a:avLst/>
          </a:prstGeom>
          <a:no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9" name="矩形 138"/>
          <p:cNvSpPr/>
          <p:nvPr/>
        </p:nvSpPr>
        <p:spPr bwMode="auto">
          <a:xfrm>
            <a:off x="9069919" y="2544632"/>
            <a:ext cx="360000" cy="494943"/>
          </a:xfrm>
          <a:prstGeom prst="rect">
            <a:avLst/>
          </a:prstGeom>
          <a:no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8" name="矩形 137"/>
          <p:cNvSpPr/>
          <p:nvPr/>
        </p:nvSpPr>
        <p:spPr>
          <a:xfrm>
            <a:off x="9010061" y="2768997"/>
            <a:ext cx="429373" cy="338554"/>
          </a:xfrm>
          <a:prstGeom prst="rect">
            <a:avLst/>
          </a:prstGeom>
          <a:noFill/>
          <a:ln w="25400">
            <a:noFill/>
          </a:ln>
        </p:spPr>
        <p:txBody>
          <a:bodyPr wrap="square">
            <a:spAutoFit/>
          </a:bodyPr>
          <a:lstStyle/>
          <a:p>
            <a:pPr algn="ctr" fontAlgn="base">
              <a:spcBef>
                <a:spcPct val="0"/>
              </a:spcBef>
              <a:spcAft>
                <a:spcPct val="0"/>
              </a:spcAft>
            </a:pP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M</a:t>
            </a:r>
            <a:endParaRPr lang="zh-CN" altLang="en-US"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0" name="矩形 139"/>
          <p:cNvSpPr/>
          <p:nvPr/>
        </p:nvSpPr>
        <p:spPr>
          <a:xfrm>
            <a:off x="8975434" y="2507668"/>
            <a:ext cx="564678" cy="338554"/>
          </a:xfrm>
          <a:prstGeom prst="rect">
            <a:avLst/>
          </a:prstGeom>
          <a:noFill/>
          <a:ln w="25400">
            <a:noFill/>
          </a:ln>
        </p:spPr>
        <p:txBody>
          <a:bodyPr wrap="square">
            <a:spAutoFit/>
          </a:bodyPr>
          <a:lstStyle/>
          <a:p>
            <a:pPr algn="ctr" fontAlgn="base">
              <a:spcBef>
                <a:spcPct val="0"/>
              </a:spcBef>
              <a:spcAft>
                <a:spcPct val="0"/>
              </a:spcAft>
            </a:pP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WB</a:t>
            </a:r>
          </a:p>
        </p:txBody>
      </p:sp>
      <p:sp>
        <p:nvSpPr>
          <p:cNvPr id="172" name="矩形 171"/>
          <p:cNvSpPr/>
          <p:nvPr/>
        </p:nvSpPr>
        <p:spPr bwMode="auto">
          <a:xfrm>
            <a:off x="10591796" y="3091442"/>
            <a:ext cx="360000" cy="2730378"/>
          </a:xfrm>
          <a:prstGeom prst="rect">
            <a:avLst/>
          </a:pr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74" name="矩形 173"/>
          <p:cNvSpPr/>
          <p:nvPr/>
        </p:nvSpPr>
        <p:spPr>
          <a:xfrm>
            <a:off x="10591796" y="2751956"/>
            <a:ext cx="360000" cy="338554"/>
          </a:xfrm>
          <a:prstGeom prst="rect">
            <a:avLst/>
          </a:prstGeom>
          <a:noFill/>
          <a:ln w="25400">
            <a:solidFill>
              <a:srgbClr val="00B0F0"/>
            </a:solidFill>
          </a:ln>
        </p:spPr>
        <p:txBody>
          <a:bodyPr wrap="square" lIns="0" rIns="0">
            <a:spAutoFit/>
          </a:bodyPr>
          <a:lstStyle/>
          <a:p>
            <a:pPr algn="ctr" fontAlgn="base">
              <a:spcBef>
                <a:spcPct val="0"/>
              </a:spcBef>
              <a:spcAft>
                <a:spcPct val="0"/>
              </a:spcAft>
            </a:pPr>
            <a:r>
              <a:rPr lang="en-GB"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a:t>
            </a: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B</a:t>
            </a:r>
            <a:endParaRPr lang="zh-CN" altLang="en-US"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84" name="直接箭头连接符 183"/>
          <p:cNvCxnSpPr/>
          <p:nvPr/>
        </p:nvCxnSpPr>
        <p:spPr bwMode="auto">
          <a:xfrm>
            <a:off x="4223697" y="2670300"/>
            <a:ext cx="1542217" cy="7285"/>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 name="直接连接符 193"/>
          <p:cNvCxnSpPr>
            <a:endCxn id="129" idx="1"/>
          </p:cNvCxnSpPr>
          <p:nvPr/>
        </p:nvCxnSpPr>
        <p:spPr bwMode="auto">
          <a:xfrm flipH="1" flipV="1">
            <a:off x="6224683" y="2451213"/>
            <a:ext cx="2185" cy="382781"/>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1" name="直接连接符 200"/>
          <p:cNvCxnSpPr/>
          <p:nvPr/>
        </p:nvCxnSpPr>
        <p:spPr bwMode="auto">
          <a:xfrm>
            <a:off x="3100243" y="1781303"/>
            <a:ext cx="0" cy="3539661"/>
          </a:xfrm>
          <a:prstGeom prst="line">
            <a:avLst/>
          </a:prstGeom>
          <a:noFill/>
          <a:ln w="25400"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9" name="直接连接符 208"/>
          <p:cNvCxnSpPr/>
          <p:nvPr/>
        </p:nvCxnSpPr>
        <p:spPr bwMode="auto">
          <a:xfrm flipV="1">
            <a:off x="2883821" y="4215087"/>
            <a:ext cx="232836" cy="3578"/>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5" name="直接箭头连接符 214"/>
          <p:cNvCxnSpPr/>
          <p:nvPr/>
        </p:nvCxnSpPr>
        <p:spPr bwMode="auto">
          <a:xfrm flipV="1">
            <a:off x="3122720" y="4014508"/>
            <a:ext cx="1868291" cy="21970"/>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9" name="直接箭头连接符 218"/>
          <p:cNvCxnSpPr>
            <a:endCxn id="94" idx="0"/>
          </p:cNvCxnSpPr>
          <p:nvPr/>
        </p:nvCxnSpPr>
        <p:spPr bwMode="auto">
          <a:xfrm rot="5400000">
            <a:off x="2447623" y="1822611"/>
            <a:ext cx="1717509" cy="1098622"/>
          </a:xfrm>
          <a:prstGeom prst="bentConnector3">
            <a:avLst>
              <a:gd name="adj1" fmla="val 1390"/>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 name="直接连接符 234"/>
          <p:cNvCxnSpPr/>
          <p:nvPr/>
        </p:nvCxnSpPr>
        <p:spPr bwMode="auto">
          <a:xfrm>
            <a:off x="7422860" y="6337038"/>
            <a:ext cx="2219220"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9" name="直接连接符 278"/>
          <p:cNvCxnSpPr/>
          <p:nvPr/>
        </p:nvCxnSpPr>
        <p:spPr bwMode="auto">
          <a:xfrm>
            <a:off x="4134041" y="6534423"/>
            <a:ext cx="7697876"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2" name="直接连接符 291"/>
          <p:cNvCxnSpPr/>
          <p:nvPr/>
        </p:nvCxnSpPr>
        <p:spPr bwMode="auto">
          <a:xfrm>
            <a:off x="9423791" y="5334265"/>
            <a:ext cx="1153873"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9" name="直接连接符 298"/>
          <p:cNvCxnSpPr/>
          <p:nvPr/>
        </p:nvCxnSpPr>
        <p:spPr bwMode="auto">
          <a:xfrm flipV="1">
            <a:off x="4352626" y="5346001"/>
            <a:ext cx="2679747" cy="971893"/>
          </a:xfrm>
          <a:prstGeom prst="bentConnector3">
            <a:avLst>
              <a:gd name="adj1" fmla="val 99288"/>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直接连接符 225"/>
          <p:cNvCxnSpPr/>
          <p:nvPr/>
        </p:nvCxnSpPr>
        <p:spPr bwMode="auto">
          <a:xfrm flipV="1">
            <a:off x="3666594" y="4025331"/>
            <a:ext cx="0" cy="1921164"/>
          </a:xfrm>
          <a:prstGeom prst="line">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8" name="直接箭头连接符 227"/>
          <p:cNvCxnSpPr/>
          <p:nvPr/>
        </p:nvCxnSpPr>
        <p:spPr bwMode="auto">
          <a:xfrm>
            <a:off x="3924665" y="4246146"/>
            <a:ext cx="1061477"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7" name="直接连接符 236"/>
          <p:cNvCxnSpPr/>
          <p:nvPr/>
        </p:nvCxnSpPr>
        <p:spPr bwMode="auto">
          <a:xfrm flipV="1">
            <a:off x="4352626" y="2153285"/>
            <a:ext cx="0" cy="4187247"/>
          </a:xfrm>
          <a:prstGeom prst="straightConnector1">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9" name="直接箭头连接符 238"/>
          <p:cNvCxnSpPr/>
          <p:nvPr/>
        </p:nvCxnSpPr>
        <p:spPr bwMode="auto">
          <a:xfrm flipV="1">
            <a:off x="3117995" y="3855927"/>
            <a:ext cx="1873017" cy="24872"/>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3" name="直接箭头连接符 242"/>
          <p:cNvCxnSpPr>
            <a:endCxn id="166" idx="3"/>
          </p:cNvCxnSpPr>
          <p:nvPr/>
        </p:nvCxnSpPr>
        <p:spPr bwMode="auto">
          <a:xfrm>
            <a:off x="2918598" y="3303593"/>
            <a:ext cx="1799518" cy="9838"/>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9" name="直接连接符 248"/>
          <p:cNvCxnSpPr/>
          <p:nvPr/>
        </p:nvCxnSpPr>
        <p:spPr bwMode="auto">
          <a:xfrm>
            <a:off x="3437767" y="3867004"/>
            <a:ext cx="0" cy="1793561"/>
          </a:xfrm>
          <a:prstGeom prst="line">
            <a:avLst/>
          </a:prstGeom>
          <a:noFill/>
          <a:ln w="25400" cap="flat" cmpd="sng" algn="ctr">
            <a:solidFill>
              <a:schemeClr val="tx1"/>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1" name="直接连接符 250"/>
          <p:cNvCxnSpPr/>
          <p:nvPr/>
        </p:nvCxnSpPr>
        <p:spPr bwMode="auto">
          <a:xfrm rot="10800000">
            <a:off x="225270" y="2812724"/>
            <a:ext cx="2005451" cy="515562"/>
          </a:xfrm>
          <a:prstGeom prst="bentConnector3">
            <a:avLst>
              <a:gd name="adj1" fmla="val -908"/>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4" name="直接箭头连接符 253"/>
          <p:cNvCxnSpPr/>
          <p:nvPr/>
        </p:nvCxnSpPr>
        <p:spPr bwMode="auto">
          <a:xfrm>
            <a:off x="3666594" y="5946495"/>
            <a:ext cx="2733004"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 name="直接箭头连接符 255"/>
          <p:cNvCxnSpPr/>
          <p:nvPr/>
        </p:nvCxnSpPr>
        <p:spPr bwMode="auto">
          <a:xfrm>
            <a:off x="3437767" y="5660565"/>
            <a:ext cx="2984954"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2" name="直接箭头连接符 261"/>
          <p:cNvCxnSpPr/>
          <p:nvPr/>
        </p:nvCxnSpPr>
        <p:spPr bwMode="auto">
          <a:xfrm>
            <a:off x="5902236" y="4535611"/>
            <a:ext cx="504495"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5" name="直接箭头连接符 264"/>
          <p:cNvCxnSpPr/>
          <p:nvPr/>
        </p:nvCxnSpPr>
        <p:spPr bwMode="auto">
          <a:xfrm flipV="1">
            <a:off x="5918537" y="3918200"/>
            <a:ext cx="488194" cy="6845"/>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6" name="直接箭头连接符 245"/>
          <p:cNvCxnSpPr>
            <a:stCxn id="185" idx="6"/>
          </p:cNvCxnSpPr>
          <p:nvPr/>
        </p:nvCxnSpPr>
        <p:spPr bwMode="auto">
          <a:xfrm flipV="1">
            <a:off x="5541710" y="5041265"/>
            <a:ext cx="857185" cy="1598"/>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 name="直接箭头连接符 357"/>
          <p:cNvCxnSpPr/>
          <p:nvPr/>
        </p:nvCxnSpPr>
        <p:spPr bwMode="auto">
          <a:xfrm>
            <a:off x="6776279" y="4505208"/>
            <a:ext cx="795531" cy="10352"/>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3" name="直接箭头连接符 372"/>
          <p:cNvCxnSpPr/>
          <p:nvPr/>
        </p:nvCxnSpPr>
        <p:spPr bwMode="auto">
          <a:xfrm>
            <a:off x="6787153" y="5329825"/>
            <a:ext cx="2254380"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6" name="直接箭头连接符 375"/>
          <p:cNvCxnSpPr/>
          <p:nvPr/>
        </p:nvCxnSpPr>
        <p:spPr bwMode="auto">
          <a:xfrm>
            <a:off x="9643358" y="5107783"/>
            <a:ext cx="934306" cy="0"/>
          </a:xfrm>
          <a:prstGeom prst="straightConnector1">
            <a:avLst/>
          </a:prstGeom>
          <a:noFill/>
          <a:ln w="25400" cap="flat" cmpd="sng" algn="ctr">
            <a:solidFill>
              <a:schemeClr val="tx1"/>
            </a:solidFill>
            <a:prstDash val="solid"/>
            <a:round/>
            <a:headEnd type="oval"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6" name="直接箭头连接符 385"/>
          <p:cNvCxnSpPr/>
          <p:nvPr/>
        </p:nvCxnSpPr>
        <p:spPr bwMode="auto">
          <a:xfrm rot="5400000">
            <a:off x="7786111" y="3839367"/>
            <a:ext cx="2995365" cy="900837"/>
          </a:xfrm>
          <a:prstGeom prst="bentConnector3">
            <a:avLst>
              <a:gd name="adj1" fmla="val 100088"/>
            </a:avLst>
          </a:prstGeom>
          <a:noFill/>
          <a:ln w="25400" cap="flat" cmpd="sng" algn="ctr">
            <a:solidFill>
              <a:srgbClr val="00B0F0"/>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3" name="直接连接符 392"/>
          <p:cNvCxnSpPr/>
          <p:nvPr/>
        </p:nvCxnSpPr>
        <p:spPr bwMode="auto">
          <a:xfrm>
            <a:off x="8827497" y="5641129"/>
            <a:ext cx="738669" cy="0"/>
          </a:xfrm>
          <a:prstGeom prst="line">
            <a:avLst/>
          </a:prstGeom>
          <a:noFill/>
          <a:ln w="25400" cap="flat" cmpd="sng" algn="ctr">
            <a:solidFill>
              <a:schemeClr val="tx1"/>
            </a:solidFill>
            <a:prstDash val="solid"/>
            <a:round/>
            <a:headEnd type="triangl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7" name="直接箭头连接符 396"/>
          <p:cNvCxnSpPr/>
          <p:nvPr/>
        </p:nvCxnSpPr>
        <p:spPr bwMode="auto">
          <a:xfrm>
            <a:off x="11174298" y="1022882"/>
            <a:ext cx="44372" cy="4965675"/>
          </a:xfrm>
          <a:prstGeom prst="straightConnector1">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9" name="直接连接符 398"/>
          <p:cNvCxnSpPr/>
          <p:nvPr/>
        </p:nvCxnSpPr>
        <p:spPr bwMode="auto">
          <a:xfrm>
            <a:off x="8837803" y="5984850"/>
            <a:ext cx="2380867" cy="0"/>
          </a:xfrm>
          <a:prstGeom prst="line">
            <a:avLst/>
          </a:prstGeom>
          <a:noFill/>
          <a:ln w="25400" cap="flat" cmpd="sng" algn="ctr">
            <a:solidFill>
              <a:srgbClr val="00B0F0"/>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1" name="直接箭头连接符 400"/>
          <p:cNvCxnSpPr/>
          <p:nvPr/>
        </p:nvCxnSpPr>
        <p:spPr bwMode="auto">
          <a:xfrm rot="10800000">
            <a:off x="5058833" y="1512001"/>
            <a:ext cx="1901403" cy="1143551"/>
          </a:xfrm>
          <a:prstGeom prst="bentConnector3">
            <a:avLst>
              <a:gd name="adj1" fmla="val -425"/>
            </a:avLst>
          </a:prstGeom>
          <a:noFill/>
          <a:ln w="25400" cap="flat" cmpd="sng" algn="ctr">
            <a:solidFill>
              <a:srgbClr val="00B0F0"/>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6" name="直接连接符 405"/>
          <p:cNvCxnSpPr/>
          <p:nvPr/>
        </p:nvCxnSpPr>
        <p:spPr bwMode="auto">
          <a:xfrm>
            <a:off x="10956796" y="5310159"/>
            <a:ext cx="125371"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1" name="直接连接符 410"/>
          <p:cNvCxnSpPr/>
          <p:nvPr/>
        </p:nvCxnSpPr>
        <p:spPr bwMode="auto">
          <a:xfrm flipV="1">
            <a:off x="8839554" y="5913009"/>
            <a:ext cx="2229020" cy="38"/>
          </a:xfrm>
          <a:prstGeom prst="line">
            <a:avLst/>
          </a:prstGeom>
          <a:noFill/>
          <a:ln w="25400" cap="flat" cmpd="sng" algn="ctr">
            <a:solidFill>
              <a:schemeClr val="tx1"/>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8" name="直接箭头连接符 407"/>
          <p:cNvCxnSpPr/>
          <p:nvPr/>
        </p:nvCxnSpPr>
        <p:spPr bwMode="auto">
          <a:xfrm>
            <a:off x="11068904" y="5306525"/>
            <a:ext cx="1398" cy="603843"/>
          </a:xfrm>
          <a:prstGeom prst="straightConnector1">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0" name="连接符: 肘形 419"/>
          <p:cNvCxnSpPr>
            <a:endCxn id="312" idx="3"/>
          </p:cNvCxnSpPr>
          <p:nvPr/>
        </p:nvCxnSpPr>
        <p:spPr bwMode="auto">
          <a:xfrm rot="10800000">
            <a:off x="7696203" y="4069641"/>
            <a:ext cx="375728" cy="145447"/>
          </a:xfrm>
          <a:prstGeom prst="bentConnector2">
            <a:avLst/>
          </a:prstGeom>
          <a:solidFill>
            <a:schemeClr val="accent1"/>
          </a:solid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0" name="矩形 39"/>
          <p:cNvSpPr/>
          <p:nvPr/>
        </p:nvSpPr>
        <p:spPr bwMode="auto">
          <a:xfrm>
            <a:off x="9859831" y="3626448"/>
            <a:ext cx="583541" cy="1309728"/>
          </a:xfrm>
          <a:prstGeom prst="rect">
            <a:avLst/>
          </a:pr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algn="ctr" fontAlgn="base">
              <a:spcBef>
                <a:spcPct val="0"/>
              </a:spcBef>
              <a:spcAft>
                <a:spcPct val="0"/>
              </a:spcAft>
            </a:pPr>
            <a:endPar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gn="ctr" fontAlgn="base">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DM</a:t>
            </a:r>
          </a:p>
        </p:txBody>
      </p:sp>
      <p:cxnSp>
        <p:nvCxnSpPr>
          <p:cNvPr id="437" name="直接箭头连接符 436"/>
          <p:cNvCxnSpPr/>
          <p:nvPr/>
        </p:nvCxnSpPr>
        <p:spPr bwMode="auto">
          <a:xfrm>
            <a:off x="9414961" y="4004908"/>
            <a:ext cx="451580"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梯形 43"/>
          <p:cNvSpPr/>
          <p:nvPr/>
        </p:nvSpPr>
        <p:spPr bwMode="auto">
          <a:xfrm rot="5400000">
            <a:off x="8001181" y="3733662"/>
            <a:ext cx="1292857" cy="371529"/>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algn="ctr" fontAlgn="base">
              <a:spcBef>
                <a:spcPct val="0"/>
              </a:spcBef>
              <a:spcAft>
                <a:spcPct val="0"/>
              </a:spcAft>
            </a:pPr>
            <a:r>
              <a:rPr lang="en-US" altLang="zh-CN" sz="1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p>
          <a:p>
            <a:pPr algn="ctr" fontAlgn="base">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L</a:t>
            </a:r>
          </a:p>
          <a:p>
            <a:pPr algn="ctr" fontAlgn="base">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U</a:t>
            </a:r>
            <a:endParaRPr lang="zh-CN" altLang="en-US" sz="1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70" name="直接箭头连接符 269"/>
          <p:cNvCxnSpPr/>
          <p:nvPr/>
        </p:nvCxnSpPr>
        <p:spPr bwMode="auto">
          <a:xfrm>
            <a:off x="7257760" y="3718827"/>
            <a:ext cx="320264"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2" name="直接箭头连接符 271"/>
          <p:cNvCxnSpPr/>
          <p:nvPr/>
        </p:nvCxnSpPr>
        <p:spPr bwMode="auto">
          <a:xfrm>
            <a:off x="7422860" y="3844381"/>
            <a:ext cx="147416"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1" name="直接连接符 280"/>
          <p:cNvCxnSpPr/>
          <p:nvPr/>
        </p:nvCxnSpPr>
        <p:spPr bwMode="auto">
          <a:xfrm>
            <a:off x="7422860" y="3855085"/>
            <a:ext cx="0" cy="2478719"/>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5" name="直接箭头连接符 284"/>
          <p:cNvCxnSpPr/>
          <p:nvPr/>
        </p:nvCxnSpPr>
        <p:spPr bwMode="auto">
          <a:xfrm flipV="1">
            <a:off x="7264140" y="4812248"/>
            <a:ext cx="321461" cy="0"/>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3" name="直接箭头连接符 292"/>
          <p:cNvCxnSpPr/>
          <p:nvPr/>
        </p:nvCxnSpPr>
        <p:spPr bwMode="auto">
          <a:xfrm flipV="1">
            <a:off x="8247115" y="4258146"/>
            <a:ext cx="214730" cy="3005"/>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 name="直接连接符 301"/>
          <p:cNvCxnSpPr/>
          <p:nvPr/>
        </p:nvCxnSpPr>
        <p:spPr bwMode="auto">
          <a:xfrm>
            <a:off x="3924665" y="4248200"/>
            <a:ext cx="6870" cy="2475453"/>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4" name="直接箭头连接符 303"/>
          <p:cNvCxnSpPr/>
          <p:nvPr/>
        </p:nvCxnSpPr>
        <p:spPr bwMode="auto">
          <a:xfrm rot="5400000" flipH="1" flipV="1">
            <a:off x="4210662" y="1886889"/>
            <a:ext cx="1842078" cy="405120"/>
          </a:xfrm>
          <a:prstGeom prst="bentConnector3">
            <a:avLst>
              <a:gd name="adj1" fmla="val -603"/>
            </a:avLst>
          </a:prstGeom>
          <a:noFill/>
          <a:ln w="25400"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 name="直接箭头连接符 306"/>
          <p:cNvCxnSpPr/>
          <p:nvPr/>
        </p:nvCxnSpPr>
        <p:spPr bwMode="auto">
          <a:xfrm>
            <a:off x="7412350" y="4678049"/>
            <a:ext cx="147416" cy="0"/>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8" name="直接箭头连接符 317"/>
          <p:cNvCxnSpPr>
            <a:stCxn id="321" idx="0"/>
          </p:cNvCxnSpPr>
          <p:nvPr/>
        </p:nvCxnSpPr>
        <p:spPr bwMode="auto">
          <a:xfrm>
            <a:off x="7825376" y="4685248"/>
            <a:ext cx="1243651"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9" name="直接箭头连接符 318"/>
          <p:cNvCxnSpPr/>
          <p:nvPr/>
        </p:nvCxnSpPr>
        <p:spPr bwMode="auto">
          <a:xfrm>
            <a:off x="8823714" y="3923120"/>
            <a:ext cx="245313"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8" name="直接连接符 197"/>
          <p:cNvCxnSpPr/>
          <p:nvPr/>
        </p:nvCxnSpPr>
        <p:spPr bwMode="auto">
          <a:xfrm flipV="1">
            <a:off x="8247116" y="4281312"/>
            <a:ext cx="0" cy="399043"/>
          </a:xfrm>
          <a:prstGeom prst="line">
            <a:avLst/>
          </a:prstGeom>
          <a:noFill/>
          <a:ln w="25400" cap="flat" cmpd="sng" algn="ctr">
            <a:solidFill>
              <a:schemeClr val="tx1"/>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4" name="直接箭头连接符 213"/>
          <p:cNvCxnSpPr/>
          <p:nvPr/>
        </p:nvCxnSpPr>
        <p:spPr bwMode="auto">
          <a:xfrm flipH="1">
            <a:off x="9640751" y="3991333"/>
            <a:ext cx="1329" cy="2349199"/>
          </a:xfrm>
          <a:prstGeom prst="straightConnector1">
            <a:avLst/>
          </a:prstGeom>
          <a:noFill/>
          <a:ln w="25400" cap="flat" cmpd="sng" algn="ctr">
            <a:solidFill>
              <a:schemeClr val="tx1"/>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7" name="直接连接符 216"/>
          <p:cNvCxnSpPr/>
          <p:nvPr/>
        </p:nvCxnSpPr>
        <p:spPr bwMode="auto">
          <a:xfrm>
            <a:off x="9429014" y="4680191"/>
            <a:ext cx="467651" cy="3938"/>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8" name="直接连接符 217"/>
          <p:cNvCxnSpPr/>
          <p:nvPr/>
        </p:nvCxnSpPr>
        <p:spPr bwMode="auto">
          <a:xfrm>
            <a:off x="11056370" y="4198016"/>
            <a:ext cx="347449"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0" name="直接连接符 219"/>
          <p:cNvCxnSpPr/>
          <p:nvPr/>
        </p:nvCxnSpPr>
        <p:spPr bwMode="auto">
          <a:xfrm>
            <a:off x="10949262" y="3898795"/>
            <a:ext cx="439645"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3" name="直接箭头连接符 222"/>
          <p:cNvCxnSpPr/>
          <p:nvPr/>
        </p:nvCxnSpPr>
        <p:spPr bwMode="auto">
          <a:xfrm>
            <a:off x="11068574" y="4187166"/>
            <a:ext cx="1976" cy="993927"/>
          </a:xfrm>
          <a:prstGeom prst="straightConnector1">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4" name="直接连接符 223"/>
          <p:cNvCxnSpPr/>
          <p:nvPr/>
        </p:nvCxnSpPr>
        <p:spPr bwMode="auto">
          <a:xfrm>
            <a:off x="10949262" y="5175576"/>
            <a:ext cx="119312" cy="4049"/>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9" name="直接连接符 228"/>
          <p:cNvCxnSpPr/>
          <p:nvPr/>
        </p:nvCxnSpPr>
        <p:spPr bwMode="auto">
          <a:xfrm>
            <a:off x="11701538" y="4091013"/>
            <a:ext cx="130379"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1" name="直接箭头连接符 230"/>
          <p:cNvCxnSpPr/>
          <p:nvPr/>
        </p:nvCxnSpPr>
        <p:spPr bwMode="auto">
          <a:xfrm flipH="1">
            <a:off x="11823450" y="4095039"/>
            <a:ext cx="8468" cy="2439384"/>
          </a:xfrm>
          <a:prstGeom prst="straightConnector1">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3" name="直接箭头连接符 262"/>
          <p:cNvCxnSpPr/>
          <p:nvPr/>
        </p:nvCxnSpPr>
        <p:spPr bwMode="auto">
          <a:xfrm flipH="1">
            <a:off x="9539351" y="5346001"/>
            <a:ext cx="761" cy="278250"/>
          </a:xfrm>
          <a:prstGeom prst="straightConnector1">
            <a:avLst/>
          </a:prstGeom>
          <a:noFill/>
          <a:ln w="25400" cap="flat" cmpd="sng" algn="ctr">
            <a:solidFill>
              <a:schemeClr val="tx1"/>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接连接符 111"/>
          <p:cNvCxnSpPr/>
          <p:nvPr/>
        </p:nvCxnSpPr>
        <p:spPr>
          <a:xfrm>
            <a:off x="8071931" y="4215087"/>
            <a:ext cx="0" cy="1329881"/>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 name="直接连接符 296"/>
          <p:cNvCxnSpPr/>
          <p:nvPr/>
        </p:nvCxnSpPr>
        <p:spPr bwMode="auto">
          <a:xfrm flipV="1">
            <a:off x="101832" y="1168412"/>
            <a:ext cx="5220748" cy="26754"/>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01" name="Mux 3"/>
          <p:cNvGrpSpPr/>
          <p:nvPr/>
        </p:nvGrpSpPr>
        <p:grpSpPr>
          <a:xfrm>
            <a:off x="5717383" y="2286190"/>
            <a:ext cx="426720" cy="787203"/>
            <a:chOff x="3548111" y="5441614"/>
            <a:chExt cx="907264" cy="1250903"/>
          </a:xfrm>
          <a:noFill/>
        </p:grpSpPr>
        <p:sp>
          <p:nvSpPr>
            <p:cNvPr id="303" name="mux"/>
            <p:cNvSpPr/>
            <p:nvPr/>
          </p:nvSpPr>
          <p:spPr>
            <a:xfrm rot="5400000">
              <a:off x="3360534" y="5718809"/>
              <a:ext cx="1230515" cy="689495"/>
            </a:xfrm>
            <a:prstGeom prst="flowChartTerminator">
              <a:avLst/>
            </a:prstGeom>
            <a:grpFill/>
            <a:ln w="25400">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310" name="文本框 309"/>
            <p:cNvSpPr txBox="1"/>
            <p:nvPr/>
          </p:nvSpPr>
          <p:spPr>
            <a:xfrm>
              <a:off x="3548111" y="5441614"/>
              <a:ext cx="907264" cy="1250903"/>
            </a:xfrm>
            <a:prstGeom prst="rect">
              <a:avLst/>
            </a:prstGeom>
            <a:grpFill/>
            <a:ln w="25400">
              <a:noFill/>
            </a:ln>
          </p:spPr>
          <p:txBody>
            <a:bodyPr wrap="none" rtlCol="0">
              <a:spAutoFit/>
            </a:bodyPr>
            <a:lstStyle/>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grpSp>
        <p:nvGrpSpPr>
          <p:cNvPr id="311" name="Mux 3"/>
          <p:cNvGrpSpPr/>
          <p:nvPr/>
        </p:nvGrpSpPr>
        <p:grpSpPr>
          <a:xfrm>
            <a:off x="7508000" y="3280455"/>
            <a:ext cx="378630" cy="830997"/>
            <a:chOff x="3491757" y="5367408"/>
            <a:chExt cx="973783" cy="1380886"/>
          </a:xfrm>
          <a:noFill/>
        </p:grpSpPr>
        <p:sp>
          <p:nvSpPr>
            <p:cNvPr id="312" name="mux"/>
            <p:cNvSpPr/>
            <p:nvPr/>
          </p:nvSpPr>
          <p:spPr>
            <a:xfrm rot="5400000">
              <a:off x="3360534" y="5718809"/>
              <a:ext cx="1230515" cy="689495"/>
            </a:xfrm>
            <a:prstGeom prst="flowChartTerminator">
              <a:avLst/>
            </a:prstGeom>
            <a:grp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314" name="文本框 313"/>
            <p:cNvSpPr txBox="1"/>
            <p:nvPr/>
          </p:nvSpPr>
          <p:spPr>
            <a:xfrm>
              <a:off x="3491757" y="5367408"/>
              <a:ext cx="973783" cy="1380886"/>
            </a:xfrm>
            <a:prstGeom prst="rect">
              <a:avLst/>
            </a:prstGeom>
            <a:grpFill/>
            <a:ln w="25400">
              <a:noFill/>
            </a:ln>
          </p:spPr>
          <p:txBody>
            <a:bodyPr wrap="none" rtlCol="0">
              <a:spAutoFit/>
            </a:bodyPr>
            <a:lstStyle/>
            <a:p>
              <a:pPr algn="ctr"/>
              <a:r>
                <a:rPr lang="en-US" altLang="zh-CN" sz="1600" b="1" dirty="0">
                  <a:solidFill>
                    <a:srgbClr val="FF0000"/>
                  </a:solidFill>
                  <a:latin typeface="Times New Roman" panose="02020603050405020304" pitchFamily="18" charset="0"/>
                  <a:cs typeface="Times New Roman" panose="02020603050405020304" pitchFamily="18" charset="0"/>
                </a:rPr>
                <a:t>M</a:t>
              </a:r>
            </a:p>
            <a:p>
              <a:pPr algn="ctr"/>
              <a:r>
                <a:rPr lang="en-US" altLang="zh-CN" sz="1600" b="1" dirty="0">
                  <a:solidFill>
                    <a:srgbClr val="FF0000"/>
                  </a:solidFill>
                  <a:latin typeface="Times New Roman" panose="02020603050405020304" pitchFamily="18" charset="0"/>
                  <a:cs typeface="Times New Roman" panose="02020603050405020304" pitchFamily="18" charset="0"/>
                </a:rPr>
                <a:t>U</a:t>
              </a:r>
            </a:p>
            <a:p>
              <a:pPr algn="ctr"/>
              <a:r>
                <a:rPr lang="en-US" altLang="zh-CN" sz="1600" b="1" dirty="0">
                  <a:solidFill>
                    <a:srgbClr val="FF0000"/>
                  </a:solidFill>
                  <a:latin typeface="Times New Roman" panose="02020603050405020304" pitchFamily="18" charset="0"/>
                  <a:cs typeface="Times New Roman" panose="02020603050405020304" pitchFamily="18" charset="0"/>
                </a:rPr>
                <a:t>X</a:t>
              </a:r>
              <a:endParaRPr lang="zh-CN" altLang="en-US" sz="1600" b="1" dirty="0">
                <a:solidFill>
                  <a:srgbClr val="FF0000"/>
                </a:solidFill>
                <a:latin typeface="Times New Roman" panose="02020603050405020304" pitchFamily="18" charset="0"/>
                <a:cs typeface="Times New Roman" panose="02020603050405020304" pitchFamily="18" charset="0"/>
              </a:endParaRPr>
            </a:p>
          </p:txBody>
        </p:sp>
      </p:grpSp>
      <p:grpSp>
        <p:nvGrpSpPr>
          <p:cNvPr id="320" name="Mux 3"/>
          <p:cNvGrpSpPr/>
          <p:nvPr/>
        </p:nvGrpSpPr>
        <p:grpSpPr>
          <a:xfrm>
            <a:off x="7525716" y="4273827"/>
            <a:ext cx="378630" cy="880726"/>
            <a:chOff x="3458843" y="5448299"/>
            <a:chExt cx="1088781" cy="1317082"/>
          </a:xfrm>
          <a:noFill/>
        </p:grpSpPr>
        <p:sp>
          <p:nvSpPr>
            <p:cNvPr id="321" name="mux"/>
            <p:cNvSpPr/>
            <p:nvPr/>
          </p:nvSpPr>
          <p:spPr>
            <a:xfrm rot="5400000">
              <a:off x="3360534" y="5718809"/>
              <a:ext cx="1230515" cy="689495"/>
            </a:xfrm>
            <a:prstGeom prst="flowChartTerminator">
              <a:avLst/>
            </a:prstGeom>
            <a:grp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322" name="文本框 321"/>
            <p:cNvSpPr txBox="1"/>
            <p:nvPr/>
          </p:nvSpPr>
          <p:spPr>
            <a:xfrm>
              <a:off x="3458843" y="5522666"/>
              <a:ext cx="1088781" cy="1242715"/>
            </a:xfrm>
            <a:prstGeom prst="rect">
              <a:avLst/>
            </a:prstGeom>
            <a:grpFill/>
            <a:ln w="25400">
              <a:noFill/>
            </a:ln>
          </p:spPr>
          <p:txBody>
            <a:bodyPr wrap="none" rtlCol="0">
              <a:spAutoFit/>
            </a:bodyPr>
            <a:lstStyle/>
            <a:p>
              <a:pPr algn="ctr"/>
              <a:r>
                <a:rPr lang="en-US" altLang="zh-CN" sz="1600" b="1" dirty="0">
                  <a:solidFill>
                    <a:srgbClr val="FF0000"/>
                  </a:solidFill>
                  <a:latin typeface="Times New Roman" panose="02020603050405020304" pitchFamily="18" charset="0"/>
                  <a:cs typeface="Times New Roman" panose="02020603050405020304" pitchFamily="18" charset="0"/>
                </a:rPr>
                <a:t>M</a:t>
              </a:r>
            </a:p>
            <a:p>
              <a:pPr algn="ctr"/>
              <a:r>
                <a:rPr lang="en-US" altLang="zh-CN" sz="1600" b="1" dirty="0">
                  <a:solidFill>
                    <a:srgbClr val="FF0000"/>
                  </a:solidFill>
                  <a:latin typeface="Times New Roman" panose="02020603050405020304" pitchFamily="18" charset="0"/>
                  <a:cs typeface="Times New Roman" panose="02020603050405020304" pitchFamily="18" charset="0"/>
                </a:rPr>
                <a:t>U</a:t>
              </a:r>
            </a:p>
            <a:p>
              <a:pPr algn="ctr"/>
              <a:r>
                <a:rPr lang="en-US" altLang="zh-CN" sz="1600" b="1" dirty="0">
                  <a:solidFill>
                    <a:srgbClr val="FF0000"/>
                  </a:solidFill>
                  <a:latin typeface="Times New Roman" panose="02020603050405020304" pitchFamily="18" charset="0"/>
                  <a:cs typeface="Times New Roman" panose="02020603050405020304" pitchFamily="18" charset="0"/>
                </a:rPr>
                <a:t>X</a:t>
              </a:r>
              <a:endParaRPr lang="zh-CN" altLang="en-US" sz="1600" b="1" dirty="0">
                <a:solidFill>
                  <a:srgbClr val="FF0000"/>
                </a:solidFill>
                <a:latin typeface="Times New Roman" panose="02020603050405020304" pitchFamily="18" charset="0"/>
                <a:cs typeface="Times New Roman" panose="02020603050405020304" pitchFamily="18" charset="0"/>
              </a:endParaRPr>
            </a:p>
          </p:txBody>
        </p:sp>
      </p:grpSp>
      <p:grpSp>
        <p:nvGrpSpPr>
          <p:cNvPr id="324" name="Mux 3"/>
          <p:cNvGrpSpPr/>
          <p:nvPr/>
        </p:nvGrpSpPr>
        <p:grpSpPr>
          <a:xfrm>
            <a:off x="11322443" y="3663382"/>
            <a:ext cx="426720" cy="821232"/>
            <a:chOff x="3480179" y="5448299"/>
            <a:chExt cx="968606" cy="1230515"/>
          </a:xfrm>
          <a:solidFill>
            <a:srgbClr val="A6A6A6"/>
          </a:solidFill>
        </p:grpSpPr>
        <p:sp>
          <p:nvSpPr>
            <p:cNvPr id="326" name="mux"/>
            <p:cNvSpPr/>
            <p:nvPr/>
          </p:nvSpPr>
          <p:spPr>
            <a:xfrm rot="5400000">
              <a:off x="3360535" y="5718809"/>
              <a:ext cx="1230515" cy="689496"/>
            </a:xfrm>
            <a:prstGeom prst="flowChartTerminator">
              <a:avLst/>
            </a:prstGeom>
            <a:solidFill>
              <a:srgbClr val="D0CECE"/>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328" name="文本框 327"/>
            <p:cNvSpPr txBox="1"/>
            <p:nvPr/>
          </p:nvSpPr>
          <p:spPr>
            <a:xfrm>
              <a:off x="3480179" y="5499287"/>
              <a:ext cx="968606" cy="1179527"/>
            </a:xfrm>
            <a:prstGeom prst="rect">
              <a:avLst/>
            </a:prstGeom>
            <a:noFill/>
            <a:ln w="25400">
              <a:noFill/>
            </a:ln>
          </p:spPr>
          <p:txBody>
            <a:bodyPr wrap="none" rtlCol="0">
              <a:spAutoFit/>
            </a:bodyPr>
            <a:lstStyle/>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sp>
        <p:nvSpPr>
          <p:cNvPr id="163" name="矩形 162"/>
          <p:cNvSpPr/>
          <p:nvPr/>
        </p:nvSpPr>
        <p:spPr>
          <a:xfrm>
            <a:off x="2363714" y="2865027"/>
            <a:ext cx="837811" cy="400110"/>
          </a:xfrm>
          <a:prstGeom prst="rect">
            <a:avLst/>
          </a:prstGeom>
          <a:ln w="25400">
            <a:noFill/>
          </a:ln>
        </p:spPr>
        <p:txBody>
          <a:bodyPr wrap="square">
            <a:spAutoFit/>
          </a:bodyPr>
          <a:lstStyle/>
          <a:p>
            <a:pPr lvl="0" algn="ctr">
              <a:defRPr/>
            </a:pPr>
            <a:r>
              <a:rPr lang="en-US" altLang="zh-CN" sz="2000" b="1" dirty="0">
                <a:solidFill>
                  <a:prstClr val="black"/>
                </a:solidFill>
                <a:latin typeface="Times New Roman" panose="02020603050405020304" pitchFamily="18" charset="0"/>
                <a:cs typeface="Times New Roman" panose="02020603050405020304" pitchFamily="18" charset="0"/>
              </a:rPr>
              <a:t>IF</a:t>
            </a:r>
            <a:r>
              <a:rPr lang="en-US" altLang="zh-CN" b="1" dirty="0">
                <a:solidFill>
                  <a:prstClr val="black"/>
                </a:solidFill>
                <a:latin typeface="Times New Roman" panose="02020603050405020304" pitchFamily="18" charset="0"/>
                <a:cs typeface="Times New Roman" panose="02020603050405020304" pitchFamily="18" charset="0"/>
              </a:rPr>
              <a:t>/ID</a:t>
            </a:r>
            <a:endParaRPr lang="zh-CN" altLang="en-US" b="1" dirty="0">
              <a:solidFill>
                <a:prstClr val="black"/>
              </a:solidFill>
              <a:latin typeface="Times New Roman" panose="02020603050405020304" pitchFamily="18" charset="0"/>
              <a:cs typeface="Times New Roman" panose="02020603050405020304" pitchFamily="18" charset="0"/>
            </a:endParaRPr>
          </a:p>
        </p:txBody>
      </p:sp>
      <p:cxnSp>
        <p:nvCxnSpPr>
          <p:cNvPr id="385" name="连接符: 肘形 384"/>
          <p:cNvCxnSpPr>
            <a:endCxn id="321" idx="3"/>
          </p:cNvCxnSpPr>
          <p:nvPr/>
        </p:nvCxnSpPr>
        <p:spPr bwMode="auto">
          <a:xfrm rot="16200000" flipV="1">
            <a:off x="7613405" y="5188751"/>
            <a:ext cx="431098" cy="246929"/>
          </a:xfrm>
          <a:prstGeom prst="bentConnector3">
            <a:avLst>
              <a:gd name="adj1" fmla="val 67676"/>
            </a:avLst>
          </a:prstGeom>
          <a:solidFill>
            <a:schemeClr val="accent1"/>
          </a:solid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0" name="矩形 439"/>
          <p:cNvSpPr/>
          <p:nvPr/>
        </p:nvSpPr>
        <p:spPr>
          <a:xfrm>
            <a:off x="8879925" y="2218698"/>
            <a:ext cx="1247500" cy="400110"/>
          </a:xfrm>
          <a:prstGeom prst="rect">
            <a:avLst/>
          </a:prstGeom>
          <a:ln w="25400">
            <a:noFill/>
          </a:ln>
        </p:spPr>
        <p:txBody>
          <a:bodyPr wrap="square">
            <a:spAutoFit/>
          </a:bodyPr>
          <a:lstStyle/>
          <a:p>
            <a:pPr lvl="0" algn="ctr">
              <a:defRPr/>
            </a:pPr>
            <a:r>
              <a:rPr lang="en-US" altLang="zh-CN" b="1" dirty="0">
                <a:solidFill>
                  <a:prstClr val="black"/>
                </a:solidFill>
                <a:latin typeface="Times New Roman" panose="02020603050405020304" pitchFamily="18" charset="0"/>
                <a:cs typeface="Times New Roman" panose="02020603050405020304" pitchFamily="18" charset="0"/>
              </a:rPr>
              <a:t>EX/</a:t>
            </a:r>
            <a:r>
              <a:rPr lang="en-US" altLang="zh-CN" sz="2000" b="1" dirty="0">
                <a:solidFill>
                  <a:prstClr val="black"/>
                </a:solidFill>
                <a:latin typeface="Times New Roman" panose="02020603050405020304" pitchFamily="18" charset="0"/>
                <a:cs typeface="Times New Roman" panose="02020603050405020304" pitchFamily="18" charset="0"/>
              </a:rPr>
              <a:t>MEM</a:t>
            </a:r>
            <a:endParaRPr lang="zh-CN" altLang="en-US" b="1" dirty="0">
              <a:solidFill>
                <a:prstClr val="black"/>
              </a:solidFill>
              <a:latin typeface="Times New Roman" panose="02020603050405020304" pitchFamily="18" charset="0"/>
              <a:cs typeface="Times New Roman" panose="02020603050405020304" pitchFamily="18" charset="0"/>
            </a:endParaRPr>
          </a:p>
        </p:txBody>
      </p:sp>
      <p:sp>
        <p:nvSpPr>
          <p:cNvPr id="441" name="矩形 440"/>
          <p:cNvSpPr/>
          <p:nvPr/>
        </p:nvSpPr>
        <p:spPr>
          <a:xfrm>
            <a:off x="10091286" y="2388425"/>
            <a:ext cx="1312533" cy="400110"/>
          </a:xfrm>
          <a:prstGeom prst="rect">
            <a:avLst/>
          </a:prstGeom>
          <a:ln w="25400">
            <a:noFill/>
          </a:ln>
        </p:spPr>
        <p:txBody>
          <a:bodyPr wrap="square">
            <a:spAutoFit/>
          </a:bodyPr>
          <a:lstStyle/>
          <a:p>
            <a:pPr lvl="0" algn="ctr">
              <a:defRPr/>
            </a:pPr>
            <a:r>
              <a:rPr lang="en-US" altLang="zh-CN" sz="2000" b="1" dirty="0">
                <a:solidFill>
                  <a:prstClr val="black"/>
                </a:solidFill>
                <a:latin typeface="Times New Roman" panose="02020603050405020304" pitchFamily="18" charset="0"/>
                <a:cs typeface="Times New Roman" panose="02020603050405020304" pitchFamily="18" charset="0"/>
              </a:rPr>
              <a:t>MEM</a:t>
            </a:r>
            <a:r>
              <a:rPr lang="en-US" altLang="zh-CN" sz="1200" b="1" dirty="0">
                <a:solidFill>
                  <a:prstClr val="black"/>
                </a:solidFill>
                <a:latin typeface="Times New Roman" panose="02020603050405020304" pitchFamily="18" charset="0"/>
                <a:cs typeface="Times New Roman" panose="02020603050405020304" pitchFamily="18" charset="0"/>
              </a:rPr>
              <a:t>/</a:t>
            </a:r>
            <a:r>
              <a:rPr lang="en-US" altLang="zh-CN" b="1" dirty="0">
                <a:solidFill>
                  <a:prstClr val="black"/>
                </a:solidFill>
                <a:latin typeface="Times New Roman" panose="02020603050405020304" pitchFamily="18" charset="0"/>
                <a:cs typeface="Times New Roman" panose="02020603050405020304" pitchFamily="18" charset="0"/>
              </a:rPr>
              <a:t>WB</a:t>
            </a:r>
            <a:endParaRPr lang="zh-CN" altLang="en-US" b="1" dirty="0">
              <a:solidFill>
                <a:prstClr val="black"/>
              </a:solidFill>
              <a:latin typeface="Times New Roman" panose="02020603050405020304" pitchFamily="18" charset="0"/>
              <a:cs typeface="Times New Roman" panose="02020603050405020304" pitchFamily="18" charset="0"/>
            </a:endParaRPr>
          </a:p>
        </p:txBody>
      </p:sp>
      <p:cxnSp>
        <p:nvCxnSpPr>
          <p:cNvPr id="161" name="直接连接符 160"/>
          <p:cNvCxnSpPr/>
          <p:nvPr/>
        </p:nvCxnSpPr>
        <p:spPr bwMode="auto">
          <a:xfrm>
            <a:off x="5408579" y="1038134"/>
            <a:ext cx="5720999" cy="0"/>
          </a:xfrm>
          <a:prstGeom prst="line">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75" name="Mux 3"/>
          <p:cNvGrpSpPr/>
          <p:nvPr/>
        </p:nvGrpSpPr>
        <p:grpSpPr>
          <a:xfrm>
            <a:off x="525047" y="3769320"/>
            <a:ext cx="268852" cy="919560"/>
            <a:chOff x="3631044" y="5448299"/>
            <a:chExt cx="755139" cy="1230515"/>
          </a:xfrm>
          <a:noFill/>
        </p:grpSpPr>
        <p:sp>
          <p:nvSpPr>
            <p:cNvPr id="176" name="mux"/>
            <p:cNvSpPr/>
            <p:nvPr/>
          </p:nvSpPr>
          <p:spPr>
            <a:xfrm rot="5400000">
              <a:off x="3360534" y="5718809"/>
              <a:ext cx="1230515" cy="689495"/>
            </a:xfrm>
            <a:prstGeom prst="flowChartTerminator">
              <a:avLst/>
            </a:prstGeom>
            <a:grp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177" name="文本框 176"/>
            <p:cNvSpPr txBox="1"/>
            <p:nvPr/>
          </p:nvSpPr>
          <p:spPr>
            <a:xfrm>
              <a:off x="3653276" y="5470467"/>
              <a:ext cx="732907" cy="1153188"/>
            </a:xfrm>
            <a:prstGeom prst="rect">
              <a:avLst/>
            </a:prstGeom>
            <a:grpFill/>
            <a:ln w="25400">
              <a:noFill/>
            </a:ln>
          </p:spPr>
          <p:txBody>
            <a:bodyPr wrap="square" rtlCol="0">
              <a:spAutoFit/>
            </a:bodyPr>
            <a:lstStyle/>
            <a:p>
              <a:pPr algn="ctr">
                <a:lnSpc>
                  <a:spcPts val="2000"/>
                </a:lnSpc>
              </a:pPr>
              <a:r>
                <a:rPr lang="en-US" altLang="zh-CN" b="1" dirty="0">
                  <a:solidFill>
                    <a:srgbClr val="FF0000"/>
                  </a:solidFill>
                  <a:latin typeface="Times New Roman" panose="02020603050405020304" pitchFamily="18" charset="0"/>
                  <a:cs typeface="Times New Roman" panose="02020603050405020304" pitchFamily="18" charset="0"/>
                </a:rPr>
                <a:t>M</a:t>
              </a:r>
            </a:p>
            <a:p>
              <a:pPr algn="ctr">
                <a:lnSpc>
                  <a:spcPts val="2000"/>
                </a:lnSpc>
              </a:pPr>
              <a:r>
                <a:rPr lang="en-US" altLang="zh-CN" b="1" dirty="0">
                  <a:solidFill>
                    <a:srgbClr val="FF0000"/>
                  </a:solidFill>
                  <a:latin typeface="Times New Roman" panose="02020603050405020304" pitchFamily="18" charset="0"/>
                  <a:cs typeface="Times New Roman" panose="02020603050405020304" pitchFamily="18" charset="0"/>
                </a:rPr>
                <a:t>U</a:t>
              </a:r>
            </a:p>
            <a:p>
              <a:pPr algn="ctr">
                <a:lnSpc>
                  <a:spcPts val="2000"/>
                </a:lnSpc>
              </a:pPr>
              <a:r>
                <a:rPr lang="en-US" altLang="zh-CN" b="1" dirty="0">
                  <a:solidFill>
                    <a:srgbClr val="FF0000"/>
                  </a:solidFill>
                  <a:latin typeface="Times New Roman" panose="02020603050405020304" pitchFamily="18" charset="0"/>
                  <a:cs typeface="Times New Roman" panose="02020603050405020304" pitchFamily="18" charset="0"/>
                </a:rPr>
                <a:t>X</a:t>
              </a:r>
              <a:endParaRPr lang="zh-CN" altLang="en-US" b="1" dirty="0">
                <a:solidFill>
                  <a:srgbClr val="FF0000"/>
                </a:solidFill>
                <a:latin typeface="Times New Roman" panose="02020603050405020304" pitchFamily="18" charset="0"/>
                <a:cs typeface="Times New Roman" panose="02020603050405020304" pitchFamily="18" charset="0"/>
              </a:endParaRPr>
            </a:p>
          </p:txBody>
        </p:sp>
      </p:grpSp>
      <p:sp>
        <p:nvSpPr>
          <p:cNvPr id="181" name="梯形 43"/>
          <p:cNvSpPr/>
          <p:nvPr/>
        </p:nvSpPr>
        <p:spPr bwMode="auto">
          <a:xfrm rot="5400000">
            <a:off x="1757137" y="3241307"/>
            <a:ext cx="432037" cy="173951"/>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algn="ctr" fontAlgn="base">
              <a:spcBef>
                <a:spcPct val="0"/>
              </a:spcBef>
              <a:spcAft>
                <a:spcPct val="0"/>
              </a:spcAft>
            </a:pPr>
            <a:r>
              <a:rPr lang="en-US" altLang="zh-CN"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4" name="椭圆 163"/>
          <p:cNvSpPr/>
          <p:nvPr/>
        </p:nvSpPr>
        <p:spPr>
          <a:xfrm>
            <a:off x="4395792" y="3505720"/>
            <a:ext cx="551925" cy="282377"/>
          </a:xfrm>
          <a:prstGeom prst="ellipse">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GB" altLang="zh-CN" sz="700" b="1" dirty="0">
                <a:solidFill>
                  <a:srgbClr val="FF0000"/>
                </a:solidFill>
                <a:latin typeface="Times New Roman" panose="02020603050405020304" pitchFamily="18" charset="0"/>
                <a:cs typeface="Times New Roman" panose="02020603050405020304" pitchFamily="18" charset="0"/>
              </a:rPr>
              <a:t>Shift left 1</a:t>
            </a:r>
            <a:endParaRPr lang="zh-CN" altLang="en-US" sz="700" b="1" dirty="0">
              <a:solidFill>
                <a:srgbClr val="FF0000"/>
              </a:solidFill>
              <a:latin typeface="Times New Roman" panose="02020603050405020304" pitchFamily="18" charset="0"/>
              <a:cs typeface="Times New Roman" panose="02020603050405020304" pitchFamily="18" charset="0"/>
            </a:endParaRPr>
          </a:p>
        </p:txBody>
      </p:sp>
      <p:sp>
        <p:nvSpPr>
          <p:cNvPr id="166" name="梯形 43"/>
          <p:cNvSpPr/>
          <p:nvPr/>
        </p:nvSpPr>
        <p:spPr bwMode="auto">
          <a:xfrm rot="5400000">
            <a:off x="4547141" y="2944309"/>
            <a:ext cx="540097" cy="198147"/>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algn="ctr" fontAlgn="base">
              <a:spcBef>
                <a:spcPct val="0"/>
              </a:spcBef>
              <a:spcAft>
                <a:spcPct val="0"/>
              </a:spcAft>
            </a:pPr>
            <a:r>
              <a:rPr lang="en-GB" altLang="zh-CN"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5" name="椭圆 184"/>
          <p:cNvSpPr/>
          <p:nvPr/>
        </p:nvSpPr>
        <p:spPr>
          <a:xfrm>
            <a:off x="4573272" y="4807191"/>
            <a:ext cx="968438" cy="471344"/>
          </a:xfrm>
          <a:prstGeom prst="ellipse">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lnSpc>
                <a:spcPts val="1800"/>
              </a:lnSpc>
            </a:pPr>
            <a:r>
              <a:rPr lang="en-GB" altLang="zh-CN" sz="2000" dirty="0" err="1">
                <a:solidFill>
                  <a:srgbClr val="FF0000"/>
                </a:solidFill>
                <a:latin typeface="Times New Roman" panose="02020603050405020304" pitchFamily="18" charset="0"/>
                <a:cs typeface="Times New Roman" panose="02020603050405020304" pitchFamily="18" charset="0"/>
              </a:rPr>
              <a:t>Imm</a:t>
            </a:r>
            <a:r>
              <a:rPr lang="en-GB" altLang="zh-CN" sz="2000" dirty="0">
                <a:solidFill>
                  <a:srgbClr val="FF0000"/>
                </a:solidFill>
                <a:latin typeface="Times New Roman" panose="02020603050405020304" pitchFamily="18" charset="0"/>
                <a:cs typeface="Times New Roman" panose="02020603050405020304" pitchFamily="18" charset="0"/>
              </a:rPr>
              <a:t> Gen</a:t>
            </a:r>
            <a:endParaRPr lang="zh-CN" altLang="en-US" sz="2000" dirty="0">
              <a:solidFill>
                <a:srgbClr val="FF0000"/>
              </a:solidFill>
              <a:latin typeface="Times New Roman" panose="02020603050405020304" pitchFamily="18" charset="0"/>
              <a:cs typeface="Times New Roman" panose="02020603050405020304" pitchFamily="18" charset="0"/>
            </a:endParaRPr>
          </a:p>
        </p:txBody>
      </p:sp>
      <p:cxnSp>
        <p:nvCxnSpPr>
          <p:cNvPr id="222" name="直接连接符 221"/>
          <p:cNvCxnSpPr/>
          <p:nvPr/>
        </p:nvCxnSpPr>
        <p:spPr bwMode="auto">
          <a:xfrm>
            <a:off x="770191" y="4207505"/>
            <a:ext cx="182854"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5" name="直接箭头连接符 224"/>
          <p:cNvCxnSpPr>
            <a:endCxn id="185" idx="2"/>
          </p:cNvCxnSpPr>
          <p:nvPr/>
        </p:nvCxnSpPr>
        <p:spPr bwMode="auto">
          <a:xfrm flipV="1">
            <a:off x="3134140" y="5042863"/>
            <a:ext cx="1439132" cy="4046"/>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0" name="直接箭头连接符 239"/>
          <p:cNvCxnSpPr/>
          <p:nvPr/>
        </p:nvCxnSpPr>
        <p:spPr bwMode="auto">
          <a:xfrm>
            <a:off x="7021863" y="3603833"/>
            <a:ext cx="548802"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3" name="直接箭头连接符 352"/>
          <p:cNvCxnSpPr/>
          <p:nvPr/>
        </p:nvCxnSpPr>
        <p:spPr bwMode="auto">
          <a:xfrm>
            <a:off x="3101632" y="2698414"/>
            <a:ext cx="199949" cy="0"/>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0" name="直接箭头连接符 359"/>
          <p:cNvCxnSpPr/>
          <p:nvPr/>
        </p:nvCxnSpPr>
        <p:spPr bwMode="auto">
          <a:xfrm flipH="1">
            <a:off x="2057103" y="3328282"/>
            <a:ext cx="173615" cy="0"/>
          </a:xfrm>
          <a:prstGeom prst="straightConnector1">
            <a:avLst/>
          </a:prstGeom>
          <a:noFill/>
          <a:ln w="25400"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0" name="直接箭头连接符 399"/>
          <p:cNvCxnSpPr>
            <a:endCxn id="181" idx="0"/>
          </p:cNvCxnSpPr>
          <p:nvPr/>
        </p:nvCxnSpPr>
        <p:spPr bwMode="auto">
          <a:xfrm rot="5400000" flipH="1" flipV="1">
            <a:off x="1064663" y="3390796"/>
            <a:ext cx="1100049" cy="542986"/>
          </a:xfrm>
          <a:prstGeom prst="bentConnector3">
            <a:avLst>
              <a:gd name="adj1" fmla="val 99874"/>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2" name="直接箭头连接符 411"/>
          <p:cNvCxnSpPr/>
          <p:nvPr/>
        </p:nvCxnSpPr>
        <p:spPr bwMode="auto">
          <a:xfrm flipV="1">
            <a:off x="1338997" y="3582195"/>
            <a:ext cx="1277638" cy="16951"/>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6" name="直接箭头连接符 435"/>
          <p:cNvCxnSpPr/>
          <p:nvPr/>
        </p:nvCxnSpPr>
        <p:spPr bwMode="auto">
          <a:xfrm rot="5400000" flipH="1" flipV="1">
            <a:off x="4210499" y="3029931"/>
            <a:ext cx="773739" cy="241496"/>
          </a:xfrm>
          <a:prstGeom prst="bentConnector3">
            <a:avLst>
              <a:gd name="adj1" fmla="val 100062"/>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9" name="直接连接符 578"/>
          <p:cNvCxnSpPr/>
          <p:nvPr/>
        </p:nvCxnSpPr>
        <p:spPr bwMode="auto">
          <a:xfrm flipH="1" flipV="1">
            <a:off x="4671755" y="3778572"/>
            <a:ext cx="9753" cy="1088121"/>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9" name="直接箭头连接符 588"/>
          <p:cNvCxnSpPr/>
          <p:nvPr/>
        </p:nvCxnSpPr>
        <p:spPr bwMode="auto">
          <a:xfrm>
            <a:off x="4140200" y="4427162"/>
            <a:ext cx="861789"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2" name="直接连接符 591"/>
          <p:cNvCxnSpPr/>
          <p:nvPr/>
        </p:nvCxnSpPr>
        <p:spPr bwMode="auto">
          <a:xfrm>
            <a:off x="4134041" y="4413285"/>
            <a:ext cx="0" cy="2121138"/>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3" name="直接连接符 592"/>
          <p:cNvCxnSpPr/>
          <p:nvPr/>
        </p:nvCxnSpPr>
        <p:spPr bwMode="auto">
          <a:xfrm flipV="1">
            <a:off x="3931535" y="5911943"/>
            <a:ext cx="6366262" cy="811710"/>
          </a:xfrm>
          <a:prstGeom prst="bentConnector3">
            <a:avLst>
              <a:gd name="adj1" fmla="val 99584"/>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1" name="直接箭头连接符 148"/>
          <p:cNvCxnSpPr/>
          <p:nvPr/>
        </p:nvCxnSpPr>
        <p:spPr bwMode="auto">
          <a:xfrm rot="16200000" flipH="1">
            <a:off x="-567712" y="2264625"/>
            <a:ext cx="4114718" cy="2220536"/>
          </a:xfrm>
          <a:prstGeom prst="bentConnector3">
            <a:avLst>
              <a:gd name="adj1" fmla="val 99384"/>
            </a:avLst>
          </a:prstGeom>
          <a:ln w="25400">
            <a:solidFill>
              <a:srgbClr val="00B0F0"/>
            </a:solidFill>
            <a:headEnd type="none" w="med" len="med"/>
            <a:tailEnd type="triangl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5"/>
          </a:lnRef>
          <a:fillRef idx="0">
            <a:schemeClr val="accent5"/>
          </a:fillRef>
          <a:effectRef idx="0">
            <a:schemeClr val="accent5"/>
          </a:effectRef>
          <a:fontRef idx="minor">
            <a:schemeClr val="tx1"/>
          </a:fontRef>
        </p:style>
      </p:cxnSp>
      <p:cxnSp>
        <p:nvCxnSpPr>
          <p:cNvPr id="645" name="直接箭头连接符 644"/>
          <p:cNvCxnSpPr/>
          <p:nvPr/>
        </p:nvCxnSpPr>
        <p:spPr bwMode="auto">
          <a:xfrm>
            <a:off x="5504984" y="2935122"/>
            <a:ext cx="248048" cy="0"/>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8" name="直接箭头连接符 657"/>
          <p:cNvCxnSpPr/>
          <p:nvPr/>
        </p:nvCxnSpPr>
        <p:spPr bwMode="auto">
          <a:xfrm>
            <a:off x="1614687" y="3468112"/>
            <a:ext cx="265588"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3" name="文本框 662"/>
          <p:cNvSpPr txBox="1"/>
          <p:nvPr/>
        </p:nvSpPr>
        <p:spPr>
          <a:xfrm>
            <a:off x="5391202" y="2888008"/>
            <a:ext cx="300082" cy="369332"/>
          </a:xfrm>
          <a:prstGeom prst="rect">
            <a:avLst/>
          </a:prstGeom>
          <a:noFill/>
        </p:spPr>
        <p:txBody>
          <a:bodyPr wrap="none" rtlCol="0">
            <a:spAutoFit/>
          </a:bodyPr>
          <a:lstStyle/>
          <a:p>
            <a:r>
              <a:rPr lang="en-US" altLang="zh-CN" b="1" dirty="0">
                <a:solidFill>
                  <a:srgbClr val="00B0F0"/>
                </a:solidFill>
                <a:latin typeface="Times New Roman" panose="02020603050405020304" pitchFamily="18" charset="0"/>
                <a:cs typeface="Times New Roman" panose="02020603050405020304" pitchFamily="18" charset="0"/>
              </a:rPr>
              <a:t>0</a:t>
            </a:r>
            <a:endParaRPr lang="zh-CN" altLang="en-US" b="1" dirty="0">
              <a:solidFill>
                <a:srgbClr val="00B0F0"/>
              </a:solidFill>
              <a:latin typeface="Times New Roman" panose="02020603050405020304" pitchFamily="18" charset="0"/>
              <a:cs typeface="Times New Roman" panose="02020603050405020304" pitchFamily="18" charset="0"/>
            </a:endParaRPr>
          </a:p>
        </p:txBody>
      </p:sp>
      <p:sp>
        <p:nvSpPr>
          <p:cNvPr id="668" name="椭圆 667"/>
          <p:cNvSpPr/>
          <p:nvPr/>
        </p:nvSpPr>
        <p:spPr>
          <a:xfrm>
            <a:off x="5951098" y="4032930"/>
            <a:ext cx="373358" cy="366022"/>
          </a:xfrm>
          <a:prstGeom prst="ellipse">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p:txBody>
      </p:sp>
      <p:cxnSp>
        <p:nvCxnSpPr>
          <p:cNvPr id="669" name="直接连接符 668"/>
          <p:cNvCxnSpPr>
            <a:endCxn id="668" idx="0"/>
          </p:cNvCxnSpPr>
          <p:nvPr/>
        </p:nvCxnSpPr>
        <p:spPr bwMode="auto">
          <a:xfrm>
            <a:off x="6131657" y="3925045"/>
            <a:ext cx="6120" cy="107885"/>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3" name="直接连接符 672"/>
          <p:cNvCxnSpPr/>
          <p:nvPr/>
        </p:nvCxnSpPr>
        <p:spPr bwMode="auto">
          <a:xfrm flipH="1">
            <a:off x="6128754" y="4410704"/>
            <a:ext cx="5461" cy="144716"/>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16" name="Mux 3"/>
          <p:cNvGrpSpPr/>
          <p:nvPr/>
        </p:nvGrpSpPr>
        <p:grpSpPr>
          <a:xfrm>
            <a:off x="8256708" y="1278258"/>
            <a:ext cx="426720" cy="795674"/>
            <a:chOff x="3429917" y="5448299"/>
            <a:chExt cx="1097464" cy="1322189"/>
          </a:xfrm>
          <a:noFill/>
        </p:grpSpPr>
        <p:sp>
          <p:nvSpPr>
            <p:cNvPr id="221" name="mux"/>
            <p:cNvSpPr/>
            <p:nvPr/>
          </p:nvSpPr>
          <p:spPr>
            <a:xfrm rot="5400000">
              <a:off x="3360534" y="5718809"/>
              <a:ext cx="1230515" cy="689495"/>
            </a:xfrm>
            <a:prstGeom prst="flowChartTerminator">
              <a:avLst/>
            </a:prstGeom>
            <a:grpFill/>
            <a:ln w="25400">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227" name="文本框 226"/>
            <p:cNvSpPr txBox="1"/>
            <p:nvPr/>
          </p:nvSpPr>
          <p:spPr>
            <a:xfrm>
              <a:off x="3429917" y="5462376"/>
              <a:ext cx="1097464" cy="1308112"/>
            </a:xfrm>
            <a:prstGeom prst="rect">
              <a:avLst/>
            </a:prstGeom>
            <a:grpFill/>
            <a:ln w="25400">
              <a:noFill/>
            </a:ln>
          </p:spPr>
          <p:txBody>
            <a:bodyPr wrap="none" rtlCol="0">
              <a:spAutoFit/>
            </a:bodyPr>
            <a:lstStyle/>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grpSp>
        <p:nvGrpSpPr>
          <p:cNvPr id="230" name="Mux 3"/>
          <p:cNvGrpSpPr/>
          <p:nvPr/>
        </p:nvGrpSpPr>
        <p:grpSpPr>
          <a:xfrm>
            <a:off x="8226767" y="2141151"/>
            <a:ext cx="426720" cy="814724"/>
            <a:chOff x="3429917" y="5448299"/>
            <a:chExt cx="1097464" cy="1353845"/>
          </a:xfrm>
          <a:noFill/>
        </p:grpSpPr>
        <p:sp>
          <p:nvSpPr>
            <p:cNvPr id="232" name="mux"/>
            <p:cNvSpPr/>
            <p:nvPr/>
          </p:nvSpPr>
          <p:spPr>
            <a:xfrm rot="5400000">
              <a:off x="3360534" y="5718809"/>
              <a:ext cx="1230515" cy="689495"/>
            </a:xfrm>
            <a:prstGeom prst="flowChartTerminator">
              <a:avLst/>
            </a:prstGeom>
            <a:grpFill/>
            <a:ln w="25400">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233" name="文本框 232"/>
            <p:cNvSpPr txBox="1"/>
            <p:nvPr/>
          </p:nvSpPr>
          <p:spPr>
            <a:xfrm>
              <a:off x="3429917" y="5494031"/>
              <a:ext cx="1097464" cy="1308113"/>
            </a:xfrm>
            <a:prstGeom prst="rect">
              <a:avLst/>
            </a:prstGeom>
            <a:grpFill/>
            <a:ln w="25400">
              <a:noFill/>
            </a:ln>
          </p:spPr>
          <p:txBody>
            <a:bodyPr wrap="none" rtlCol="0">
              <a:spAutoFit/>
            </a:bodyPr>
            <a:lstStyle/>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cxnSp>
        <p:nvCxnSpPr>
          <p:cNvPr id="234" name="直接连接符 207"/>
          <p:cNvCxnSpPr/>
          <p:nvPr/>
        </p:nvCxnSpPr>
        <p:spPr bwMode="auto">
          <a:xfrm rot="5400000" flipH="1" flipV="1">
            <a:off x="5609424" y="-619577"/>
            <a:ext cx="1021996" cy="4699291"/>
          </a:xfrm>
          <a:prstGeom prst="bentConnector3">
            <a:avLst>
              <a:gd name="adj1" fmla="val 141907"/>
            </a:avLst>
          </a:prstGeom>
          <a:noFill/>
          <a:ln w="25400" cap="flat" cmpd="sng" algn="ctr">
            <a:solidFill>
              <a:srgbClr val="00B0F0"/>
            </a:solidFill>
            <a:prstDash val="solid"/>
            <a:round/>
            <a:headEnd type="none" w="med" len="med"/>
            <a:tailEnd type="stealth"/>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6" name="直接箭头连接符 153"/>
          <p:cNvCxnSpPr/>
          <p:nvPr/>
        </p:nvCxnSpPr>
        <p:spPr bwMode="auto">
          <a:xfrm flipV="1">
            <a:off x="6772220" y="1552958"/>
            <a:ext cx="1571199" cy="892960"/>
          </a:xfrm>
          <a:prstGeom prst="bentConnector3">
            <a:avLst>
              <a:gd name="adj1" fmla="val 36259"/>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8" name="文本框 237"/>
          <p:cNvSpPr txBox="1"/>
          <p:nvPr/>
        </p:nvSpPr>
        <p:spPr>
          <a:xfrm>
            <a:off x="7789314" y="1679873"/>
            <a:ext cx="300082" cy="369332"/>
          </a:xfrm>
          <a:prstGeom prst="rect">
            <a:avLst/>
          </a:prstGeom>
          <a:noFill/>
        </p:spPr>
        <p:txBody>
          <a:bodyPr wrap="none" rtlCol="0">
            <a:spAutoFit/>
          </a:bodyPr>
          <a:lstStyle/>
          <a:p>
            <a:r>
              <a:rPr lang="en-US" altLang="zh-CN" b="1" dirty="0">
                <a:solidFill>
                  <a:srgbClr val="00B0F0"/>
                </a:solidFill>
                <a:latin typeface="Times New Roman" panose="02020603050405020304" pitchFamily="18" charset="0"/>
                <a:cs typeface="Times New Roman" panose="02020603050405020304" pitchFamily="18" charset="0"/>
              </a:rPr>
              <a:t>0</a:t>
            </a:r>
            <a:endParaRPr lang="zh-CN" altLang="en-US" b="1" dirty="0">
              <a:solidFill>
                <a:srgbClr val="00B0F0"/>
              </a:solidFill>
              <a:latin typeface="Times New Roman" panose="02020603050405020304" pitchFamily="18" charset="0"/>
              <a:cs typeface="Times New Roman" panose="02020603050405020304" pitchFamily="18" charset="0"/>
            </a:endParaRPr>
          </a:p>
        </p:txBody>
      </p:sp>
      <p:cxnSp>
        <p:nvCxnSpPr>
          <p:cNvPr id="241" name="直接箭头连接符 240"/>
          <p:cNvCxnSpPr>
            <a:stCxn id="238" idx="3"/>
          </p:cNvCxnSpPr>
          <p:nvPr/>
        </p:nvCxnSpPr>
        <p:spPr bwMode="auto">
          <a:xfrm>
            <a:off x="8089396" y="1864539"/>
            <a:ext cx="232278" cy="4588"/>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 name="直接箭头连接符 153"/>
          <p:cNvCxnSpPr/>
          <p:nvPr/>
        </p:nvCxnSpPr>
        <p:spPr bwMode="auto">
          <a:xfrm>
            <a:off x="8469976" y="932880"/>
            <a:ext cx="828000" cy="0"/>
          </a:xfrm>
          <a:prstGeom prst="straightConnector1">
            <a:avLst/>
          </a:prstGeom>
          <a:noFill/>
          <a:ln w="25400" cap="flat" cmpd="sng" algn="ctr">
            <a:solidFill>
              <a:srgbClr val="00B0F0"/>
            </a:solidFill>
            <a:prstDash val="solid"/>
            <a:round/>
            <a:headEnd type="oval"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 name="直接箭头连接符 3"/>
          <p:cNvCxnSpPr/>
          <p:nvPr/>
        </p:nvCxnSpPr>
        <p:spPr bwMode="auto">
          <a:xfrm>
            <a:off x="1614805" y="3468370"/>
            <a:ext cx="265430"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 name="组合 13"/>
          <p:cNvGrpSpPr/>
          <p:nvPr/>
        </p:nvGrpSpPr>
        <p:grpSpPr>
          <a:xfrm>
            <a:off x="1464310" y="3688715"/>
            <a:ext cx="1045210" cy="1045210"/>
            <a:chOff x="1464310" y="3688715"/>
            <a:chExt cx="1045210" cy="1045210"/>
          </a:xfrm>
        </p:grpSpPr>
        <p:sp>
          <p:nvSpPr>
            <p:cNvPr id="5" name="矩形 4"/>
            <p:cNvSpPr/>
            <p:nvPr/>
          </p:nvSpPr>
          <p:spPr bwMode="auto">
            <a:xfrm>
              <a:off x="1510030" y="3688715"/>
              <a:ext cx="907415" cy="1045210"/>
            </a:xfrm>
            <a:prstGeom prst="rect">
              <a:avLst/>
            </a:prstGeom>
            <a:solidFill>
              <a:schemeClr val="bg1"/>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p:cNvSpPr txBox="1"/>
            <p:nvPr/>
          </p:nvSpPr>
          <p:spPr>
            <a:xfrm>
              <a:off x="1464310" y="3855085"/>
              <a:ext cx="1045210" cy="400110"/>
            </a:xfrm>
            <a:prstGeom prst="rect">
              <a:avLst/>
            </a:prstGeom>
            <a:noFill/>
          </p:spPr>
          <p:txBody>
            <a:bodyPr wrap="square" rtlCol="0">
              <a:spAutoFit/>
            </a:bodyPr>
            <a:lstStyle/>
            <a:p>
              <a:pPr algn="ctr"/>
              <a:r>
                <a:rPr lang="en-US" altLang="zh-CN"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IM</a:t>
              </a:r>
              <a:endPar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cxnSp>
        <p:nvCxnSpPr>
          <p:cNvPr id="12" name="直接箭头连接符 11"/>
          <p:cNvCxnSpPr/>
          <p:nvPr/>
        </p:nvCxnSpPr>
        <p:spPr bwMode="auto">
          <a:xfrm>
            <a:off x="3105442" y="5320964"/>
            <a:ext cx="3276000"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97" name="组合 196"/>
          <p:cNvGrpSpPr/>
          <p:nvPr/>
        </p:nvGrpSpPr>
        <p:grpSpPr>
          <a:xfrm rot="10800000">
            <a:off x="5251540" y="1194973"/>
            <a:ext cx="1286869" cy="1063404"/>
            <a:chOff x="4500562" y="590422"/>
            <a:chExt cx="5053016" cy="4076707"/>
          </a:xfrm>
        </p:grpSpPr>
        <p:sp>
          <p:nvSpPr>
            <p:cNvPr id="199" name="弧形 198"/>
            <p:cNvSpPr/>
            <p:nvPr/>
          </p:nvSpPr>
          <p:spPr>
            <a:xfrm>
              <a:off x="4500562" y="590429"/>
              <a:ext cx="3190875" cy="4076700"/>
            </a:xfrm>
            <a:prstGeom prst="arc">
              <a:avLst>
                <a:gd name="adj1" fmla="val 17963000"/>
                <a:gd name="adj2" fmla="val 0"/>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200" name="弧形 199"/>
            <p:cNvSpPr/>
            <p:nvPr/>
          </p:nvSpPr>
          <p:spPr>
            <a:xfrm>
              <a:off x="6564107" y="2419350"/>
              <a:ext cx="1127337" cy="398008"/>
            </a:xfrm>
            <a:prstGeom prst="arc">
              <a:avLst>
                <a:gd name="adj1" fmla="val 14641131"/>
                <a:gd name="adj2" fmla="val 21435582"/>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202" name="弧形 201"/>
            <p:cNvSpPr/>
            <p:nvPr/>
          </p:nvSpPr>
          <p:spPr>
            <a:xfrm flipH="1">
              <a:off x="6362703" y="590422"/>
              <a:ext cx="3190875" cy="4076700"/>
            </a:xfrm>
            <a:prstGeom prst="arc">
              <a:avLst>
                <a:gd name="adj1" fmla="val 17963000"/>
                <a:gd name="adj2" fmla="val 0"/>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203" name="弧形 202"/>
            <p:cNvSpPr/>
            <p:nvPr/>
          </p:nvSpPr>
          <p:spPr>
            <a:xfrm flipH="1">
              <a:off x="6368828" y="2419343"/>
              <a:ext cx="1127337" cy="398008"/>
            </a:xfrm>
            <a:prstGeom prst="arc">
              <a:avLst>
                <a:gd name="adj1" fmla="val 14641131"/>
                <a:gd name="adj2" fmla="val 21435582"/>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cxnSp>
        <p:nvCxnSpPr>
          <p:cNvPr id="204" name="直接箭头连接符 203"/>
          <p:cNvCxnSpPr/>
          <p:nvPr/>
        </p:nvCxnSpPr>
        <p:spPr bwMode="auto">
          <a:xfrm>
            <a:off x="9294733" y="910612"/>
            <a:ext cx="3243" cy="1342340"/>
          </a:xfrm>
          <a:prstGeom prst="straightConnector1">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6" name="直接箭头连接符 153"/>
          <p:cNvCxnSpPr/>
          <p:nvPr/>
        </p:nvCxnSpPr>
        <p:spPr bwMode="auto">
          <a:xfrm>
            <a:off x="8602980" y="2264220"/>
            <a:ext cx="691753" cy="0"/>
          </a:xfrm>
          <a:prstGeom prst="straightConnector1">
            <a:avLst/>
          </a:prstGeom>
          <a:noFill/>
          <a:ln w="25400" cap="flat" cmpd="sng" algn="ctr">
            <a:solidFill>
              <a:srgbClr val="00B0F0"/>
            </a:solidFill>
            <a:prstDash val="solid"/>
            <a:round/>
            <a:headEnd type="triangl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1" name="直接箭头连接符 210"/>
          <p:cNvCxnSpPr/>
          <p:nvPr/>
        </p:nvCxnSpPr>
        <p:spPr>
          <a:xfrm>
            <a:off x="5894815" y="2092473"/>
            <a:ext cx="0" cy="223365"/>
          </a:xfrm>
          <a:prstGeom prst="straightConnector1">
            <a:avLst/>
          </a:prstGeom>
          <a:ln w="2540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bwMode="auto">
          <a:xfrm>
            <a:off x="7257760" y="3699387"/>
            <a:ext cx="0" cy="2837617"/>
          </a:xfrm>
          <a:prstGeom prst="line">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4" name="直接箭头连接符 243"/>
          <p:cNvCxnSpPr/>
          <p:nvPr/>
        </p:nvCxnSpPr>
        <p:spPr bwMode="auto">
          <a:xfrm>
            <a:off x="6778373" y="3921333"/>
            <a:ext cx="254000" cy="0"/>
          </a:xfrm>
          <a:prstGeom prst="straightConnector1">
            <a:avLst/>
          </a:prstGeom>
          <a:noFill/>
          <a:ln w="25400"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5" name="直接连接符 244"/>
          <p:cNvCxnSpPr/>
          <p:nvPr/>
        </p:nvCxnSpPr>
        <p:spPr bwMode="auto">
          <a:xfrm>
            <a:off x="7021863" y="3597787"/>
            <a:ext cx="0" cy="327258"/>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2" name="直接箭头连接符 251"/>
          <p:cNvCxnSpPr/>
          <p:nvPr/>
        </p:nvCxnSpPr>
        <p:spPr bwMode="auto">
          <a:xfrm flipV="1">
            <a:off x="7802615" y="3715052"/>
            <a:ext cx="667287" cy="1"/>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5" name="直接箭头连接符 254"/>
          <p:cNvCxnSpPr/>
          <p:nvPr/>
        </p:nvCxnSpPr>
        <p:spPr bwMode="auto">
          <a:xfrm flipV="1">
            <a:off x="8784895" y="2926386"/>
            <a:ext cx="284391" cy="1211"/>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8" name="直接连接符 257"/>
          <p:cNvCxnSpPr/>
          <p:nvPr/>
        </p:nvCxnSpPr>
        <p:spPr>
          <a:xfrm>
            <a:off x="8785719" y="2628000"/>
            <a:ext cx="0" cy="293233"/>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9" name="直接箭头连接符 258"/>
          <p:cNvCxnSpPr/>
          <p:nvPr/>
        </p:nvCxnSpPr>
        <p:spPr bwMode="auto">
          <a:xfrm>
            <a:off x="8564301" y="2632300"/>
            <a:ext cx="221418" cy="3280"/>
          </a:xfrm>
          <a:prstGeom prst="straightConnector1">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1" name="直接连接符 270"/>
          <p:cNvCxnSpPr/>
          <p:nvPr/>
        </p:nvCxnSpPr>
        <p:spPr bwMode="auto">
          <a:xfrm>
            <a:off x="3612515" y="1304925"/>
            <a:ext cx="4445" cy="981075"/>
          </a:xfrm>
          <a:prstGeom prst="line">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3" name="直接连接符 272"/>
          <p:cNvCxnSpPr/>
          <p:nvPr/>
        </p:nvCxnSpPr>
        <p:spPr bwMode="auto">
          <a:xfrm>
            <a:off x="379379" y="1317534"/>
            <a:ext cx="3237858" cy="0"/>
          </a:xfrm>
          <a:prstGeom prst="line">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 name="组合 1"/>
          <p:cNvGrpSpPr/>
          <p:nvPr/>
        </p:nvGrpSpPr>
        <p:grpSpPr>
          <a:xfrm>
            <a:off x="4973955" y="3648710"/>
            <a:ext cx="946150" cy="1061085"/>
            <a:chOff x="4973955" y="3648710"/>
            <a:chExt cx="946150" cy="1061085"/>
          </a:xfrm>
          <a:noFill/>
        </p:grpSpPr>
        <p:sp>
          <p:nvSpPr>
            <p:cNvPr id="33" name="矩形 32"/>
            <p:cNvSpPr/>
            <p:nvPr/>
          </p:nvSpPr>
          <p:spPr bwMode="auto">
            <a:xfrm>
              <a:off x="4991100" y="3648710"/>
              <a:ext cx="911225" cy="1061085"/>
            </a:xfrm>
            <a:prstGeom prst="rect">
              <a:avLst/>
            </a:prstGeom>
            <a:grp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algn="ctr" fontAlgn="base">
                <a:spcBef>
                  <a:spcPct val="0"/>
                </a:spcBef>
                <a:spcAft>
                  <a:spcPct val="0"/>
                </a:spcAft>
              </a:pPr>
              <a:endParaRPr lang="zh-CN" altLang="en-US" sz="1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 name="文本框 34"/>
            <p:cNvSpPr txBox="1"/>
            <p:nvPr/>
          </p:nvSpPr>
          <p:spPr>
            <a:xfrm>
              <a:off x="4973955" y="4026535"/>
              <a:ext cx="946150" cy="276860"/>
            </a:xfrm>
            <a:prstGeom prst="rect">
              <a:avLst/>
            </a:prstGeom>
            <a:grpFill/>
          </p:spPr>
          <p:txBody>
            <a:bodyPr wrap="square" lIns="0" tIns="0" rIns="0" bIns="0" rtlCol="0" anchor="ctr" anchorCtr="1">
              <a:spAutoFit/>
            </a:bodyPr>
            <a:lstStyle/>
            <a:p>
              <a:pPr algn="ctr" fontAlgn="base">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Registers</a:t>
              </a:r>
              <a:endParaRPr lang="zh-CN" altLang="en-US" dirty="0">
                <a:solidFill>
                  <a:srgbClr val="FF0000"/>
                </a:solidFill>
              </a:endParaRPr>
            </a:p>
          </p:txBody>
        </p:sp>
      </p:grpSp>
      <p:cxnSp>
        <p:nvCxnSpPr>
          <p:cNvPr id="213" name="直接箭头连接符 212"/>
          <p:cNvCxnSpPr/>
          <p:nvPr/>
        </p:nvCxnSpPr>
        <p:spPr bwMode="auto">
          <a:xfrm>
            <a:off x="6787153" y="5679537"/>
            <a:ext cx="832373" cy="7646"/>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7" name="矩形: 圆角 246"/>
          <p:cNvSpPr/>
          <p:nvPr/>
        </p:nvSpPr>
        <p:spPr>
          <a:xfrm>
            <a:off x="7641982" y="5534323"/>
            <a:ext cx="1178899" cy="513736"/>
          </a:xfrm>
          <a:prstGeom prst="round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250" name="文本框 249"/>
          <p:cNvSpPr txBox="1"/>
          <p:nvPr/>
        </p:nvSpPr>
        <p:spPr>
          <a:xfrm>
            <a:off x="7505209" y="5519056"/>
            <a:ext cx="1463788" cy="553998"/>
          </a:xfrm>
          <a:prstGeom prst="rect">
            <a:avLst/>
          </a:prstGeom>
          <a:noFill/>
        </p:spPr>
        <p:txBody>
          <a:bodyPr wrap="square" rtlCol="0">
            <a:spAutoFit/>
          </a:bodyPr>
          <a:lstStyle/>
          <a:p>
            <a:pPr algn="ctr">
              <a:lnSpc>
                <a:spcPts val="1800"/>
              </a:lnSpc>
            </a:pPr>
            <a:r>
              <a:rPr lang="en-US" altLang="zh-CN" b="1" dirty="0">
                <a:solidFill>
                  <a:srgbClr val="00B0F0"/>
                </a:solidFill>
                <a:latin typeface="Times New Roman" panose="02020603050405020304" pitchFamily="18" charset="0"/>
                <a:cs typeface="Times New Roman" panose="02020603050405020304" pitchFamily="18" charset="0"/>
              </a:rPr>
              <a:t>Forwarding</a:t>
            </a:r>
          </a:p>
          <a:p>
            <a:pPr algn="ctr">
              <a:lnSpc>
                <a:spcPts val="1800"/>
              </a:lnSpc>
            </a:pPr>
            <a:r>
              <a:rPr lang="en-US" altLang="zh-CN" b="1" dirty="0">
                <a:solidFill>
                  <a:srgbClr val="00B0F0"/>
                </a:solidFill>
                <a:latin typeface="Times New Roman" panose="02020603050405020304" pitchFamily="18" charset="0"/>
                <a:cs typeface="Times New Roman" panose="02020603050405020304" pitchFamily="18" charset="0"/>
              </a:rPr>
              <a:t>unit</a:t>
            </a:r>
            <a:endParaRPr lang="zh-CN" altLang="en-US" b="1" dirty="0">
              <a:solidFill>
                <a:srgbClr val="00B0F0"/>
              </a:solidFill>
              <a:latin typeface="Times New Roman" panose="02020603050405020304" pitchFamily="18" charset="0"/>
              <a:cs typeface="Times New Roman" panose="02020603050405020304" pitchFamily="18" charset="0"/>
            </a:endParaRPr>
          </a:p>
        </p:txBody>
      </p:sp>
      <p:cxnSp>
        <p:nvCxnSpPr>
          <p:cNvPr id="253" name="直接箭头连接符 252"/>
          <p:cNvCxnSpPr/>
          <p:nvPr/>
        </p:nvCxnSpPr>
        <p:spPr bwMode="auto">
          <a:xfrm>
            <a:off x="6787153" y="5950851"/>
            <a:ext cx="841268"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0" name="文本框 279"/>
          <p:cNvSpPr txBox="1"/>
          <p:nvPr/>
        </p:nvSpPr>
        <p:spPr>
          <a:xfrm>
            <a:off x="81483" y="1381193"/>
            <a:ext cx="1055097" cy="400110"/>
          </a:xfrm>
          <a:prstGeom prst="rect">
            <a:avLst/>
          </a:prstGeom>
          <a:noFill/>
        </p:spPr>
        <p:txBody>
          <a:bodyPr wrap="none" rtlCol="0">
            <a:spAutoFit/>
          </a:bodyPr>
          <a:lstStyle/>
          <a:p>
            <a:r>
              <a:rPr lang="en-GB" altLang="zh-CN" sz="2000" b="1" dirty="0" err="1">
                <a:solidFill>
                  <a:schemeClr val="accent5"/>
                </a:solidFill>
              </a:rPr>
              <a:t>IF.Flush</a:t>
            </a:r>
            <a:endParaRPr lang="zh-CN" altLang="en-US" sz="2000" b="1" dirty="0">
              <a:solidFill>
                <a:schemeClr val="accent5"/>
              </a:solidFill>
            </a:endParaRPr>
          </a:p>
        </p:txBody>
      </p:sp>
      <p:sp>
        <p:nvSpPr>
          <p:cNvPr id="282" name="文本框 281"/>
          <p:cNvSpPr txBox="1"/>
          <p:nvPr/>
        </p:nvSpPr>
        <p:spPr>
          <a:xfrm>
            <a:off x="4360111" y="2231840"/>
            <a:ext cx="1103187" cy="400110"/>
          </a:xfrm>
          <a:prstGeom prst="rect">
            <a:avLst/>
          </a:prstGeom>
          <a:noFill/>
        </p:spPr>
        <p:txBody>
          <a:bodyPr wrap="none" rtlCol="0">
            <a:spAutoFit/>
          </a:bodyPr>
          <a:lstStyle/>
          <a:p>
            <a:r>
              <a:rPr lang="en-GB" altLang="zh-CN" sz="2000" b="1" dirty="0" err="1">
                <a:solidFill>
                  <a:schemeClr val="accent5"/>
                </a:solidFill>
              </a:rPr>
              <a:t>lD.Flush</a:t>
            </a:r>
            <a:endParaRPr lang="zh-CN" altLang="en-US" sz="2000" b="1" dirty="0">
              <a:solidFill>
                <a:schemeClr val="accent5"/>
              </a:solidFill>
            </a:endParaRPr>
          </a:p>
        </p:txBody>
      </p:sp>
      <p:sp>
        <p:nvSpPr>
          <p:cNvPr id="283" name="文本框 282"/>
          <p:cNvSpPr txBox="1"/>
          <p:nvPr/>
        </p:nvSpPr>
        <p:spPr>
          <a:xfrm>
            <a:off x="6960236" y="427902"/>
            <a:ext cx="1143262" cy="400110"/>
          </a:xfrm>
          <a:prstGeom prst="rect">
            <a:avLst/>
          </a:prstGeom>
          <a:noFill/>
        </p:spPr>
        <p:txBody>
          <a:bodyPr wrap="none" rtlCol="0">
            <a:spAutoFit/>
          </a:bodyPr>
          <a:lstStyle/>
          <a:p>
            <a:r>
              <a:rPr lang="en-GB" altLang="zh-CN" sz="2000" b="1" dirty="0" err="1">
                <a:solidFill>
                  <a:schemeClr val="accent5"/>
                </a:solidFill>
              </a:rPr>
              <a:t>EX.Flush</a:t>
            </a:r>
            <a:endParaRPr lang="zh-CN" altLang="en-US" sz="2000" b="1" dirty="0">
              <a:solidFill>
                <a:schemeClr val="accent5"/>
              </a:solidFill>
            </a:endParaRPr>
          </a:p>
        </p:txBody>
      </p:sp>
      <p:cxnSp>
        <p:nvCxnSpPr>
          <p:cNvPr id="284" name="直接连接符 283"/>
          <p:cNvCxnSpPr/>
          <p:nvPr/>
        </p:nvCxnSpPr>
        <p:spPr bwMode="auto">
          <a:xfrm>
            <a:off x="3100241" y="1785286"/>
            <a:ext cx="716456" cy="0"/>
          </a:xfrm>
          <a:prstGeom prst="line">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 name="直接箭头连接符 285"/>
          <p:cNvCxnSpPr/>
          <p:nvPr/>
        </p:nvCxnSpPr>
        <p:spPr bwMode="auto">
          <a:xfrm>
            <a:off x="5057172" y="1617551"/>
            <a:ext cx="893926" cy="0"/>
          </a:xfrm>
          <a:prstGeom prst="straightConnector1">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7" name="直接箭头连接符 286"/>
          <p:cNvCxnSpPr/>
          <p:nvPr/>
        </p:nvCxnSpPr>
        <p:spPr bwMode="auto">
          <a:xfrm>
            <a:off x="5954309" y="1605460"/>
            <a:ext cx="0" cy="175843"/>
          </a:xfrm>
          <a:prstGeom prst="straightConnector1">
            <a:avLst/>
          </a:prstGeom>
          <a:noFill/>
          <a:ln w="25400" cap="flat" cmpd="sng" algn="ctr">
            <a:solidFill>
              <a:srgbClr val="00B0F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1" name="直接箭头连接符 290"/>
          <p:cNvCxnSpPr/>
          <p:nvPr/>
        </p:nvCxnSpPr>
        <p:spPr bwMode="auto">
          <a:xfrm flipV="1">
            <a:off x="4164611" y="2471449"/>
            <a:ext cx="1071340" cy="11699"/>
          </a:xfrm>
          <a:prstGeom prst="straightConnector1">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 name="直接箭头连接符 294"/>
          <p:cNvCxnSpPr/>
          <p:nvPr/>
        </p:nvCxnSpPr>
        <p:spPr bwMode="auto">
          <a:xfrm>
            <a:off x="5854462" y="1677482"/>
            <a:ext cx="0" cy="130097"/>
          </a:xfrm>
          <a:prstGeom prst="straightConnector1">
            <a:avLst/>
          </a:prstGeom>
          <a:noFill/>
          <a:ln w="25400" cap="flat" cmpd="sng" algn="ctr">
            <a:solidFill>
              <a:srgbClr val="00B0F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 name="直接箭头连接符 295"/>
          <p:cNvCxnSpPr/>
          <p:nvPr/>
        </p:nvCxnSpPr>
        <p:spPr bwMode="auto">
          <a:xfrm>
            <a:off x="5209504" y="1685869"/>
            <a:ext cx="641748" cy="0"/>
          </a:xfrm>
          <a:prstGeom prst="straightConnector1">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8" name="直接箭头连接符 297"/>
          <p:cNvCxnSpPr/>
          <p:nvPr/>
        </p:nvCxnSpPr>
        <p:spPr bwMode="auto">
          <a:xfrm>
            <a:off x="5236038" y="1657496"/>
            <a:ext cx="5300" cy="810846"/>
          </a:xfrm>
          <a:prstGeom prst="straightConnector1">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08" name="组合 307"/>
          <p:cNvGrpSpPr/>
          <p:nvPr/>
        </p:nvGrpSpPr>
        <p:grpSpPr>
          <a:xfrm>
            <a:off x="3301578" y="2262069"/>
            <a:ext cx="912594" cy="831696"/>
            <a:chOff x="3754414" y="1097758"/>
            <a:chExt cx="1041577" cy="1102503"/>
          </a:xfrm>
          <a:noFill/>
        </p:grpSpPr>
        <p:sp>
          <p:nvSpPr>
            <p:cNvPr id="309" name="椭圆 308"/>
            <p:cNvSpPr/>
            <p:nvPr/>
          </p:nvSpPr>
          <p:spPr>
            <a:xfrm>
              <a:off x="3754414" y="1097758"/>
              <a:ext cx="1014572" cy="1102503"/>
            </a:xfrm>
            <a:prstGeom prst="ellipse">
              <a:avLst/>
            </a:prstGeom>
            <a:grp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B0F0"/>
                </a:solidFill>
              </a:endParaRPr>
            </a:p>
          </p:txBody>
        </p:sp>
        <p:sp>
          <p:nvSpPr>
            <p:cNvPr id="313" name="文本框 312"/>
            <p:cNvSpPr txBox="1"/>
            <p:nvPr/>
          </p:nvSpPr>
          <p:spPr>
            <a:xfrm>
              <a:off x="3800489" y="1404317"/>
              <a:ext cx="995502" cy="469190"/>
            </a:xfrm>
            <a:prstGeom prst="rect">
              <a:avLst/>
            </a:prstGeom>
            <a:grpFill/>
          </p:spPr>
          <p:txBody>
            <a:bodyPr wrap="square" lIns="0" rIns="0" bIns="0" rtlCol="0">
              <a:spAutoFit/>
            </a:bodyPr>
            <a:lstStyle/>
            <a:p>
              <a:r>
                <a:rPr lang="en-US" altLang="zh-CN" sz="2000" b="1" dirty="0">
                  <a:solidFill>
                    <a:srgbClr val="00B0F0"/>
                  </a:solidFill>
                  <a:latin typeface="Times New Roman" panose="02020603050405020304" pitchFamily="18" charset="0"/>
                  <a:cs typeface="Times New Roman" panose="02020603050405020304" pitchFamily="18" charset="0"/>
                </a:rPr>
                <a:t>Control</a:t>
              </a:r>
              <a:endParaRPr lang="zh-CN" altLang="en-US" sz="1200" b="1" dirty="0">
                <a:solidFill>
                  <a:srgbClr val="00B0F0"/>
                </a:solidFill>
                <a:latin typeface="Times New Roman" panose="02020603050405020304" pitchFamily="18" charset="0"/>
                <a:cs typeface="Times New Roman" panose="02020603050405020304" pitchFamily="18" charset="0"/>
              </a:endParaRPr>
            </a:p>
          </p:txBody>
        </p:sp>
      </p:grpSp>
      <p:sp>
        <p:nvSpPr>
          <p:cNvPr id="315" name="矩形: 圆角 314"/>
          <p:cNvSpPr/>
          <p:nvPr/>
        </p:nvSpPr>
        <p:spPr>
          <a:xfrm>
            <a:off x="3855779" y="1376533"/>
            <a:ext cx="1189253" cy="824385"/>
          </a:xfrm>
          <a:prstGeom prst="round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6" name="文本框 315"/>
          <p:cNvSpPr txBox="1"/>
          <p:nvPr/>
        </p:nvSpPr>
        <p:spPr>
          <a:xfrm>
            <a:off x="3816699" y="1347958"/>
            <a:ext cx="1284914" cy="829945"/>
          </a:xfrm>
          <a:prstGeom prst="rect">
            <a:avLst/>
          </a:prstGeom>
          <a:noFill/>
          <a:ln>
            <a:noFill/>
          </a:ln>
        </p:spPr>
        <p:txBody>
          <a:bodyPr wrap="square" rtlCol="0">
            <a:spAutoFit/>
          </a:bodyPr>
          <a:lstStyle/>
          <a:p>
            <a:pPr algn="ctr" fontAlgn="base">
              <a:lnSpc>
                <a:spcPct val="80000"/>
              </a:lnSpc>
              <a:spcBef>
                <a:spcPct val="0"/>
              </a:spcBef>
              <a:spcAft>
                <a:spcPct val="0"/>
              </a:spcAft>
              <a:defRPr/>
            </a:pPr>
            <a:r>
              <a:rPr lang="en-US" altLang="zh-CN"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Hazard detection</a:t>
            </a:r>
            <a:r>
              <a:rPr lang="zh-CN" altLang="en-US"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unit</a:t>
            </a:r>
            <a:endParaRPr lang="zh-CN" altLang="en-US"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17" name="文本框 316"/>
          <p:cNvSpPr txBox="1"/>
          <p:nvPr/>
        </p:nvSpPr>
        <p:spPr>
          <a:xfrm>
            <a:off x="1356273" y="3170243"/>
            <a:ext cx="312906" cy="400110"/>
          </a:xfrm>
          <a:prstGeom prst="rect">
            <a:avLst/>
          </a:prstGeom>
          <a:noFill/>
        </p:spPr>
        <p:txBody>
          <a:bodyPr wrap="none" rtlCol="0">
            <a:spAutoFit/>
          </a:bodyPr>
          <a:lstStyle/>
          <a:p>
            <a:r>
              <a:rPr lang="en-GB" altLang="zh-CN" sz="2000" b="1" dirty="0">
                <a:latin typeface="Times New Roman" panose="02020603050405020304" pitchFamily="18" charset="0"/>
                <a:cs typeface="Times New Roman" panose="02020603050405020304" pitchFamily="18" charset="0"/>
              </a:rPr>
              <a:t>4</a:t>
            </a:r>
            <a:endParaRPr lang="zh-CN" altLang="en-US" sz="2000" b="1" dirty="0">
              <a:latin typeface="Times New Roman" panose="02020603050405020304" pitchFamily="18" charset="0"/>
              <a:cs typeface="Times New Roman" panose="02020603050405020304" pitchFamily="18" charset="0"/>
            </a:endParaRPr>
          </a:p>
        </p:txBody>
      </p:sp>
      <p:cxnSp>
        <p:nvCxnSpPr>
          <p:cNvPr id="260" name="直接箭头连接符 259"/>
          <p:cNvCxnSpPr/>
          <p:nvPr/>
        </p:nvCxnSpPr>
        <p:spPr bwMode="auto">
          <a:xfrm flipV="1">
            <a:off x="8873240" y="2698309"/>
            <a:ext cx="196046" cy="105"/>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1" name="直接连接符 260"/>
          <p:cNvCxnSpPr/>
          <p:nvPr/>
        </p:nvCxnSpPr>
        <p:spPr>
          <a:xfrm flipH="1">
            <a:off x="8879925" y="1636687"/>
            <a:ext cx="4051" cy="1054561"/>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4" name="直接箭头连接符 263"/>
          <p:cNvCxnSpPr/>
          <p:nvPr/>
        </p:nvCxnSpPr>
        <p:spPr bwMode="auto">
          <a:xfrm>
            <a:off x="8602980" y="1636687"/>
            <a:ext cx="273800" cy="2596"/>
          </a:xfrm>
          <a:prstGeom prst="straightConnector1">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4" name="直接箭头连接符 153"/>
          <p:cNvCxnSpPr/>
          <p:nvPr/>
        </p:nvCxnSpPr>
        <p:spPr bwMode="auto">
          <a:xfrm flipV="1">
            <a:off x="6781482" y="2264902"/>
            <a:ext cx="1538154" cy="390649"/>
          </a:xfrm>
          <a:prstGeom prst="bentConnector3">
            <a:avLst>
              <a:gd name="adj1" fmla="val 50000"/>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5" name="文本框 274"/>
          <p:cNvSpPr txBox="1"/>
          <p:nvPr/>
        </p:nvSpPr>
        <p:spPr>
          <a:xfrm>
            <a:off x="7750554" y="2369743"/>
            <a:ext cx="300082" cy="369332"/>
          </a:xfrm>
          <a:prstGeom prst="rect">
            <a:avLst/>
          </a:prstGeom>
          <a:noFill/>
        </p:spPr>
        <p:txBody>
          <a:bodyPr wrap="none" rtlCol="0">
            <a:spAutoFit/>
          </a:bodyPr>
          <a:lstStyle/>
          <a:p>
            <a:r>
              <a:rPr lang="en-US" altLang="zh-CN" b="1" dirty="0">
                <a:solidFill>
                  <a:srgbClr val="00B0F0"/>
                </a:solidFill>
                <a:latin typeface="Times New Roman" panose="02020603050405020304" pitchFamily="18" charset="0"/>
                <a:cs typeface="Times New Roman" panose="02020603050405020304" pitchFamily="18" charset="0"/>
              </a:rPr>
              <a:t>0</a:t>
            </a:r>
            <a:endParaRPr lang="zh-CN" altLang="en-US" b="1" dirty="0">
              <a:solidFill>
                <a:srgbClr val="00B0F0"/>
              </a:solidFill>
              <a:latin typeface="Times New Roman" panose="02020603050405020304" pitchFamily="18" charset="0"/>
              <a:cs typeface="Times New Roman" panose="02020603050405020304" pitchFamily="18" charset="0"/>
            </a:endParaRPr>
          </a:p>
        </p:txBody>
      </p:sp>
      <p:cxnSp>
        <p:nvCxnSpPr>
          <p:cNvPr id="288" name="直接箭头连接符 287"/>
          <p:cNvCxnSpPr/>
          <p:nvPr/>
        </p:nvCxnSpPr>
        <p:spPr bwMode="auto">
          <a:xfrm>
            <a:off x="7983919" y="2537487"/>
            <a:ext cx="308075" cy="1986"/>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90" name="组合 289"/>
          <p:cNvGrpSpPr/>
          <p:nvPr/>
        </p:nvGrpSpPr>
        <p:grpSpPr>
          <a:xfrm>
            <a:off x="7189335" y="2725423"/>
            <a:ext cx="1005905" cy="563889"/>
            <a:chOff x="6964003" y="2765814"/>
            <a:chExt cx="1005905" cy="563889"/>
          </a:xfrm>
          <a:noFill/>
        </p:grpSpPr>
        <p:sp>
          <p:nvSpPr>
            <p:cNvPr id="294" name="文本框 293"/>
            <p:cNvSpPr txBox="1"/>
            <p:nvPr/>
          </p:nvSpPr>
          <p:spPr>
            <a:xfrm>
              <a:off x="6964967" y="2765814"/>
              <a:ext cx="1004941" cy="276860"/>
            </a:xfrm>
            <a:prstGeom prst="rect">
              <a:avLst/>
            </a:prstGeom>
            <a:grpFill/>
            <a:ln w="25400">
              <a:solidFill>
                <a:schemeClr val="tx1"/>
              </a:solidFill>
            </a:ln>
          </p:spPr>
          <p:txBody>
            <a:bodyPr wrap="square" lIns="0" tIns="0" rIns="0" bIns="0" rtlCol="0">
              <a:spAutoFit/>
            </a:bodyPr>
            <a:lstStyle/>
            <a:p>
              <a:pPr algn="ctr"/>
              <a:r>
                <a:rPr lang="en-GB" altLang="zh-CN"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SCAUSE</a:t>
              </a:r>
            </a:p>
          </p:txBody>
        </p:sp>
        <p:sp>
          <p:nvSpPr>
            <p:cNvPr id="300" name="文本框 299"/>
            <p:cNvSpPr txBox="1"/>
            <p:nvPr/>
          </p:nvSpPr>
          <p:spPr>
            <a:xfrm>
              <a:off x="6964003" y="3052843"/>
              <a:ext cx="1001051" cy="276860"/>
            </a:xfrm>
            <a:prstGeom prst="rect">
              <a:avLst/>
            </a:prstGeom>
            <a:grpFill/>
            <a:ln w="25400">
              <a:solidFill>
                <a:schemeClr val="tx1"/>
              </a:solidFill>
            </a:ln>
          </p:spPr>
          <p:txBody>
            <a:bodyPr wrap="square" lIns="0" tIns="0" rIns="0" bIns="0" rtlCol="0">
              <a:spAutoFit/>
            </a:bodyPr>
            <a:lstStyle/>
            <a:p>
              <a:pPr algn="ctr"/>
              <a:r>
                <a:rPr lang="en-GB" altLang="zh-CN"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SEPC</a:t>
              </a:r>
            </a:p>
          </p:txBody>
        </p:sp>
      </p:grpSp>
      <p:cxnSp>
        <p:nvCxnSpPr>
          <p:cNvPr id="325" name="直接连接符 324"/>
          <p:cNvCxnSpPr/>
          <p:nvPr/>
        </p:nvCxnSpPr>
        <p:spPr bwMode="auto">
          <a:xfrm flipH="1">
            <a:off x="6767830" y="3167005"/>
            <a:ext cx="435515" cy="0"/>
          </a:xfrm>
          <a:prstGeom prst="line">
            <a:avLst/>
          </a:prstGeom>
          <a:noFill/>
          <a:ln w="25400" cap="flat" cmpd="sng" algn="ctr">
            <a:solidFill>
              <a:schemeClr val="tx1"/>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12" name="组合 211">
            <a:extLst>
              <a:ext uri="{FF2B5EF4-FFF2-40B4-BE49-F238E27FC236}">
                <a16:creationId xmlns:a16="http://schemas.microsoft.com/office/drawing/2014/main" id="{F08032C6-4B93-4BBF-B662-DED7FE7386C4}"/>
              </a:ext>
            </a:extLst>
          </p:cNvPr>
          <p:cNvGrpSpPr/>
          <p:nvPr/>
        </p:nvGrpSpPr>
        <p:grpSpPr>
          <a:xfrm>
            <a:off x="6160135" y="2019300"/>
            <a:ext cx="828675" cy="4156075"/>
            <a:chOff x="9713" y="3300"/>
            <a:chExt cx="1305" cy="6545"/>
          </a:xfrm>
        </p:grpSpPr>
        <p:sp>
          <p:nvSpPr>
            <p:cNvPr id="266" name="矩形 265">
              <a:extLst>
                <a:ext uri="{FF2B5EF4-FFF2-40B4-BE49-F238E27FC236}">
                  <a16:creationId xmlns:a16="http://schemas.microsoft.com/office/drawing/2014/main" id="{3BBC9210-7D4F-4F41-984D-DACAF394586C}"/>
                </a:ext>
              </a:extLst>
            </p:cNvPr>
            <p:cNvSpPr/>
            <p:nvPr/>
          </p:nvSpPr>
          <p:spPr>
            <a:xfrm>
              <a:off x="10085" y="3739"/>
              <a:ext cx="594" cy="533"/>
            </a:xfrm>
            <a:prstGeom prst="rect">
              <a:avLst/>
            </a:prstGeom>
            <a:noFill/>
            <a:ln w="25400">
              <a:noFill/>
            </a:ln>
          </p:spPr>
          <p:txBody>
            <a:bodyPr wrap="square" lIns="0" rIns="0">
              <a:spAutoFit/>
            </a:bodyPr>
            <a:lstStyle/>
            <a:p>
              <a:pPr algn="ctr" fontAlgn="base">
                <a:spcBef>
                  <a:spcPct val="0"/>
                </a:spcBef>
                <a:spcAft>
                  <a:spcPct val="0"/>
                </a:spcAft>
              </a:pP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WB</a:t>
              </a:r>
            </a:p>
          </p:txBody>
        </p:sp>
        <p:sp>
          <p:nvSpPr>
            <p:cNvPr id="267" name="矩形 266">
              <a:extLst>
                <a:ext uri="{FF2B5EF4-FFF2-40B4-BE49-F238E27FC236}">
                  <a16:creationId xmlns:a16="http://schemas.microsoft.com/office/drawing/2014/main" id="{6EB1D064-87C8-4D35-AE4D-E84C978AF8E6}"/>
                </a:ext>
              </a:extLst>
            </p:cNvPr>
            <p:cNvSpPr/>
            <p:nvPr/>
          </p:nvSpPr>
          <p:spPr bwMode="auto">
            <a:xfrm>
              <a:off x="10083" y="4760"/>
              <a:ext cx="587" cy="5085"/>
            </a:xfrm>
            <a:prstGeom prst="rect">
              <a:avLst/>
            </a:pr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268" name="组合 267">
              <a:extLst>
                <a:ext uri="{FF2B5EF4-FFF2-40B4-BE49-F238E27FC236}">
                  <a16:creationId xmlns:a16="http://schemas.microsoft.com/office/drawing/2014/main" id="{2EC45771-E180-44F5-A324-60EF693CE789}"/>
                </a:ext>
              </a:extLst>
            </p:cNvPr>
            <p:cNvGrpSpPr/>
            <p:nvPr/>
          </p:nvGrpSpPr>
          <p:grpSpPr>
            <a:xfrm>
              <a:off x="10077" y="3864"/>
              <a:ext cx="601" cy="886"/>
              <a:chOff x="10099" y="3867"/>
              <a:chExt cx="607" cy="887"/>
            </a:xfrm>
          </p:grpSpPr>
          <p:sp>
            <p:nvSpPr>
              <p:cNvPr id="278" name="矩形 277">
                <a:extLst>
                  <a:ext uri="{FF2B5EF4-FFF2-40B4-BE49-F238E27FC236}">
                    <a16:creationId xmlns:a16="http://schemas.microsoft.com/office/drawing/2014/main" id="{B7CD0C52-9FD0-477F-A440-47EA7E1638BE}"/>
                  </a:ext>
                </a:extLst>
              </p:cNvPr>
              <p:cNvSpPr/>
              <p:nvPr/>
            </p:nvSpPr>
            <p:spPr bwMode="auto">
              <a:xfrm>
                <a:off x="10099" y="3867"/>
                <a:ext cx="607" cy="294"/>
              </a:xfrm>
              <a:prstGeom prst="rect">
                <a:avLst/>
              </a:prstGeom>
              <a:no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05" name="矩形 304">
                <a:extLst>
                  <a:ext uri="{FF2B5EF4-FFF2-40B4-BE49-F238E27FC236}">
                    <a16:creationId xmlns:a16="http://schemas.microsoft.com/office/drawing/2014/main" id="{16A54ACD-6D8D-4742-8E28-FC35610684F3}"/>
                  </a:ext>
                </a:extLst>
              </p:cNvPr>
              <p:cNvSpPr/>
              <p:nvPr/>
            </p:nvSpPr>
            <p:spPr bwMode="auto">
              <a:xfrm>
                <a:off x="10099" y="4147"/>
                <a:ext cx="607" cy="294"/>
              </a:xfrm>
              <a:prstGeom prst="rect">
                <a:avLst/>
              </a:prstGeom>
              <a:no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06" name="矩形 305">
                <a:extLst>
                  <a:ext uri="{FF2B5EF4-FFF2-40B4-BE49-F238E27FC236}">
                    <a16:creationId xmlns:a16="http://schemas.microsoft.com/office/drawing/2014/main" id="{7EFC4DD9-D7A0-450E-A363-F5CCBD9BAA96}"/>
                  </a:ext>
                </a:extLst>
              </p:cNvPr>
              <p:cNvSpPr/>
              <p:nvPr/>
            </p:nvSpPr>
            <p:spPr bwMode="auto">
              <a:xfrm>
                <a:off x="10099" y="4460"/>
                <a:ext cx="607" cy="294"/>
              </a:xfrm>
              <a:prstGeom prst="rect">
                <a:avLst/>
              </a:prstGeom>
              <a:no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23" name="矩形 322">
                <a:extLst>
                  <a:ext uri="{FF2B5EF4-FFF2-40B4-BE49-F238E27FC236}">
                    <a16:creationId xmlns:a16="http://schemas.microsoft.com/office/drawing/2014/main" id="{7C8A2309-48CB-4AC1-8A68-EAAA25DC0667}"/>
                  </a:ext>
                </a:extLst>
              </p:cNvPr>
              <p:cNvSpPr/>
              <p:nvPr/>
            </p:nvSpPr>
            <p:spPr>
              <a:xfrm>
                <a:off x="10185" y="4112"/>
                <a:ext cx="408" cy="388"/>
              </a:xfrm>
              <a:prstGeom prst="rect">
                <a:avLst/>
              </a:prstGeom>
              <a:noFill/>
              <a:ln w="25400">
                <a:noFill/>
              </a:ln>
            </p:spPr>
            <p:txBody>
              <a:bodyPr wrap="square" lIns="0" tIns="0" rIns="0" bIns="0">
                <a:spAutoFit/>
              </a:bodyPr>
              <a:lstStyle/>
              <a:p>
                <a:pPr algn="ctr" fontAlgn="base">
                  <a:spcBef>
                    <a:spcPct val="0"/>
                  </a:spcBef>
                  <a:spcAft>
                    <a:spcPct val="0"/>
                  </a:spcAft>
                </a:pP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M</a:t>
                </a:r>
              </a:p>
            </p:txBody>
          </p:sp>
        </p:grpSp>
        <p:grpSp>
          <p:nvGrpSpPr>
            <p:cNvPr id="269" name="组合 268">
              <a:extLst>
                <a:ext uri="{FF2B5EF4-FFF2-40B4-BE49-F238E27FC236}">
                  <a16:creationId xmlns:a16="http://schemas.microsoft.com/office/drawing/2014/main" id="{107139CB-F34E-4D83-9E81-6E82351C352A}"/>
                </a:ext>
              </a:extLst>
            </p:cNvPr>
            <p:cNvGrpSpPr/>
            <p:nvPr/>
          </p:nvGrpSpPr>
          <p:grpSpPr>
            <a:xfrm>
              <a:off x="9713" y="3300"/>
              <a:ext cx="1305" cy="1507"/>
              <a:chOff x="9713" y="3300"/>
              <a:chExt cx="1305" cy="1507"/>
            </a:xfrm>
          </p:grpSpPr>
          <p:sp>
            <p:nvSpPr>
              <p:cNvPr id="276" name="矩形 275">
                <a:extLst>
                  <a:ext uri="{FF2B5EF4-FFF2-40B4-BE49-F238E27FC236}">
                    <a16:creationId xmlns:a16="http://schemas.microsoft.com/office/drawing/2014/main" id="{8233453F-06E8-45AD-8EB2-6ACB300AAACB}"/>
                  </a:ext>
                </a:extLst>
              </p:cNvPr>
              <p:cNvSpPr/>
              <p:nvPr/>
            </p:nvSpPr>
            <p:spPr>
              <a:xfrm>
                <a:off x="10098" y="4419"/>
                <a:ext cx="556" cy="388"/>
              </a:xfrm>
              <a:prstGeom prst="rect">
                <a:avLst/>
              </a:prstGeom>
              <a:noFill/>
              <a:ln w="25400">
                <a:noFill/>
              </a:ln>
            </p:spPr>
            <p:txBody>
              <a:bodyPr wrap="square" lIns="0" tIns="0" rIns="0" bIns="0">
                <a:spAutoFit/>
              </a:bodyPr>
              <a:lstStyle/>
              <a:p>
                <a:pPr algn="ctr" fontAlgn="base">
                  <a:spcBef>
                    <a:spcPct val="0"/>
                  </a:spcBef>
                  <a:spcAft>
                    <a:spcPct val="0"/>
                  </a:spcAft>
                </a:pP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EX</a:t>
                </a:r>
              </a:p>
            </p:txBody>
          </p:sp>
          <p:sp>
            <p:nvSpPr>
              <p:cNvPr id="277" name="矩形 276">
                <a:extLst>
                  <a:ext uri="{FF2B5EF4-FFF2-40B4-BE49-F238E27FC236}">
                    <a16:creationId xmlns:a16="http://schemas.microsoft.com/office/drawing/2014/main" id="{8B332D80-33D9-475A-9060-A4387B632148}"/>
                  </a:ext>
                </a:extLst>
              </p:cNvPr>
              <p:cNvSpPr/>
              <p:nvPr/>
            </p:nvSpPr>
            <p:spPr>
              <a:xfrm>
                <a:off x="9713" y="3300"/>
                <a:ext cx="1305" cy="485"/>
              </a:xfrm>
              <a:prstGeom prst="rect">
                <a:avLst/>
              </a:prstGeom>
              <a:ln w="25400">
                <a:noFill/>
              </a:ln>
            </p:spPr>
            <p:txBody>
              <a:bodyPr wrap="square" lIns="0" tIns="0" rIns="0" bIns="0">
                <a:spAutoFit/>
              </a:bodyPr>
              <a:lstStyle/>
              <a:p>
                <a:pPr lvl="0" algn="ctr">
                  <a:defRPr/>
                </a:pPr>
                <a:r>
                  <a:rPr lang="en-US" altLang="zh-CN" sz="2000" b="1" dirty="0">
                    <a:solidFill>
                      <a:prstClr val="black"/>
                    </a:solidFill>
                    <a:latin typeface="Times New Roman" panose="02020603050405020304" pitchFamily="18" charset="0"/>
                    <a:cs typeface="Times New Roman" panose="02020603050405020304" pitchFamily="18" charset="0"/>
                  </a:rPr>
                  <a:t>ID/EX</a:t>
                </a:r>
                <a:endParaRPr lang="zh-CN" altLang="en-US" sz="2000" b="1" dirty="0">
                  <a:solidFill>
                    <a:prstClr val="black"/>
                  </a:solidFill>
                  <a:latin typeface="Times New Roman" panose="02020603050405020304" pitchFamily="18" charset="0"/>
                  <a:cs typeface="Times New Roman" panose="02020603050405020304" pitchFamily="18" charset="0"/>
                </a:endParaRPr>
              </a:p>
            </p:txBody>
          </p:sp>
        </p:grpSp>
      </p:grpSp>
      <p:cxnSp>
        <p:nvCxnSpPr>
          <p:cNvPr id="329" name="直接箭头连接符 204">
            <a:extLst>
              <a:ext uri="{FF2B5EF4-FFF2-40B4-BE49-F238E27FC236}">
                <a16:creationId xmlns:a16="http://schemas.microsoft.com/office/drawing/2014/main" id="{2A26D575-4428-4F2C-B990-83B20DFD0AC1}"/>
              </a:ext>
            </a:extLst>
          </p:cNvPr>
          <p:cNvCxnSpPr>
            <a:cxnSpLocks/>
          </p:cNvCxnSpPr>
          <p:nvPr/>
        </p:nvCxnSpPr>
        <p:spPr bwMode="auto">
          <a:xfrm rot="16200000" flipH="1">
            <a:off x="-402236" y="3456046"/>
            <a:ext cx="1562543" cy="290624"/>
          </a:xfrm>
          <a:prstGeom prst="bentConnector3">
            <a:avLst>
              <a:gd name="adj1" fmla="val 100340"/>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0" name="直接箭头连接符 413">
            <a:extLst>
              <a:ext uri="{FF2B5EF4-FFF2-40B4-BE49-F238E27FC236}">
                <a16:creationId xmlns:a16="http://schemas.microsoft.com/office/drawing/2014/main" id="{DB4BC00D-D0A7-49E4-9E95-510D70203167}"/>
              </a:ext>
            </a:extLst>
          </p:cNvPr>
          <p:cNvCxnSpPr>
            <a:cxnSpLocks/>
          </p:cNvCxnSpPr>
          <p:nvPr/>
        </p:nvCxnSpPr>
        <p:spPr bwMode="auto">
          <a:xfrm rot="16200000" flipH="1">
            <a:off x="-1130806" y="2414115"/>
            <a:ext cx="2859979" cy="422073"/>
          </a:xfrm>
          <a:prstGeom prst="bentConnector3">
            <a:avLst>
              <a:gd name="adj1" fmla="val 100193"/>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1" name="矩形 330">
            <a:extLst>
              <a:ext uri="{FF2B5EF4-FFF2-40B4-BE49-F238E27FC236}">
                <a16:creationId xmlns:a16="http://schemas.microsoft.com/office/drawing/2014/main" id="{8C192C0E-859E-431B-9129-4FCF0027D7A3}"/>
              </a:ext>
            </a:extLst>
          </p:cNvPr>
          <p:cNvSpPr/>
          <p:nvPr/>
        </p:nvSpPr>
        <p:spPr>
          <a:xfrm>
            <a:off x="-226985" y="4735313"/>
            <a:ext cx="1231900" cy="307777"/>
          </a:xfrm>
          <a:prstGeom prst="rect">
            <a:avLst/>
          </a:prstGeom>
          <a:ln w="25400">
            <a:noFill/>
          </a:ln>
        </p:spPr>
        <p:txBody>
          <a:bodyPr wrap="square">
            <a:spAutoFit/>
          </a:bodyPr>
          <a:lstStyle/>
          <a:p>
            <a:pPr lvl="0" algn="ctr">
              <a:defRPr/>
            </a:pPr>
            <a:r>
              <a:rPr lang="en-GB" altLang="zh-CN" sz="1400" b="1" dirty="0">
                <a:solidFill>
                  <a:srgbClr val="FF0000"/>
                </a:solidFill>
                <a:latin typeface="Times New Roman" panose="02020603050405020304" pitchFamily="18" charset="0"/>
                <a:cs typeface="Times New Roman" panose="02020603050405020304" pitchFamily="18" charset="0"/>
              </a:rPr>
              <a:t>1</a:t>
            </a:r>
            <a:r>
              <a:rPr lang="en-US" altLang="zh-CN" sz="1400" b="1" dirty="0">
                <a:solidFill>
                  <a:srgbClr val="FF0000"/>
                </a:solidFill>
                <a:latin typeface="Times New Roman" panose="02020603050405020304" pitchFamily="18" charset="0"/>
                <a:cs typeface="Times New Roman" panose="02020603050405020304" pitchFamily="18" charset="0"/>
              </a:rPr>
              <a:t>C090000</a:t>
            </a:r>
          </a:p>
        </p:txBody>
      </p:sp>
      <p:cxnSp>
        <p:nvCxnSpPr>
          <p:cNvPr id="332" name="直接连接符 331">
            <a:extLst>
              <a:ext uri="{FF2B5EF4-FFF2-40B4-BE49-F238E27FC236}">
                <a16:creationId xmlns:a16="http://schemas.microsoft.com/office/drawing/2014/main" id="{776D10EF-7C1C-434D-9115-532D102046F7}"/>
              </a:ext>
            </a:extLst>
          </p:cNvPr>
          <p:cNvCxnSpPr/>
          <p:nvPr/>
        </p:nvCxnSpPr>
        <p:spPr bwMode="auto">
          <a:xfrm flipV="1">
            <a:off x="80010" y="4555490"/>
            <a:ext cx="473075" cy="1016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 name="图片 2">
            <a:extLst>
              <a:ext uri="{FF2B5EF4-FFF2-40B4-BE49-F238E27FC236}">
                <a16:creationId xmlns:a16="http://schemas.microsoft.com/office/drawing/2014/main" id="{BEC54CE9-5425-4EFC-BC03-9FEA78DE4146}"/>
              </a:ext>
            </a:extLst>
          </p:cNvPr>
          <p:cNvPicPr>
            <a:picLocks noChangeAspect="1"/>
          </p:cNvPicPr>
          <p:nvPr/>
        </p:nvPicPr>
        <p:blipFill>
          <a:blip r:embed="rId3"/>
          <a:stretch>
            <a:fillRect/>
          </a:stretch>
        </p:blipFill>
        <p:spPr>
          <a:xfrm>
            <a:off x="9805147" y="382667"/>
            <a:ext cx="2240232" cy="1693898"/>
          </a:xfrm>
          <a:prstGeom prst="rect">
            <a:avLst/>
          </a:prstGeom>
          <a:ln w="22225">
            <a:solidFill>
              <a:srgbClr val="FF0000"/>
            </a:solidFill>
          </a:ln>
        </p:spPr>
      </p:pic>
      <p:cxnSp>
        <p:nvCxnSpPr>
          <p:cNvPr id="207" name="直接箭头连接符 206">
            <a:extLst>
              <a:ext uri="{FF2B5EF4-FFF2-40B4-BE49-F238E27FC236}">
                <a16:creationId xmlns:a16="http://schemas.microsoft.com/office/drawing/2014/main" id="{8B33FF89-5AF0-4043-882F-8D2377CA8FD6}"/>
              </a:ext>
            </a:extLst>
          </p:cNvPr>
          <p:cNvCxnSpPr/>
          <p:nvPr/>
        </p:nvCxnSpPr>
        <p:spPr>
          <a:xfrm>
            <a:off x="5440045" y="1019175"/>
            <a:ext cx="6668" cy="2629535"/>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18" name="直接箭头连接符 417"/>
          <p:cNvCxnSpPr/>
          <p:nvPr/>
        </p:nvCxnSpPr>
        <p:spPr bwMode="auto">
          <a:xfrm>
            <a:off x="6566702" y="222513"/>
            <a:ext cx="0" cy="6479648"/>
          </a:xfrm>
          <a:prstGeom prst="straightConnector1">
            <a:avLst/>
          </a:prstGeom>
          <a:ln w="12700" cap="flat" cmpd="sng" algn="ctr">
            <a:solidFill>
              <a:schemeClr val="dk1"/>
            </a:solidFill>
            <a:prstDash val="dash"/>
            <a:round/>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379" name="直接箭头连接符 378"/>
          <p:cNvCxnSpPr/>
          <p:nvPr/>
        </p:nvCxnSpPr>
        <p:spPr bwMode="auto">
          <a:xfrm>
            <a:off x="2757066" y="123283"/>
            <a:ext cx="0" cy="6479648"/>
          </a:xfrm>
          <a:prstGeom prst="straightConnector1">
            <a:avLst/>
          </a:prstGeom>
          <a:ln w="12700" cap="flat" cmpd="sng" algn="ctr">
            <a:solidFill>
              <a:schemeClr val="dk1"/>
            </a:solidFill>
            <a:prstDash val="dash"/>
            <a:round/>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525" name="直接箭头连接符 524"/>
          <p:cNvCxnSpPr/>
          <p:nvPr/>
        </p:nvCxnSpPr>
        <p:spPr bwMode="auto">
          <a:xfrm>
            <a:off x="10715356" y="287056"/>
            <a:ext cx="0" cy="6479648"/>
          </a:xfrm>
          <a:prstGeom prst="straightConnector1">
            <a:avLst/>
          </a:prstGeom>
          <a:ln w="12700" cap="flat" cmpd="sng" algn="ctr">
            <a:solidFill>
              <a:schemeClr val="dk1"/>
            </a:solidFill>
            <a:prstDash val="dash"/>
            <a:round/>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8" name="直接连接符 77"/>
          <p:cNvCxnSpPr/>
          <p:nvPr/>
        </p:nvCxnSpPr>
        <p:spPr bwMode="auto">
          <a:xfrm>
            <a:off x="2417538" y="4196528"/>
            <a:ext cx="182854"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4" name="矩形 93"/>
          <p:cNvSpPr/>
          <p:nvPr/>
        </p:nvSpPr>
        <p:spPr bwMode="auto">
          <a:xfrm>
            <a:off x="2620291" y="3230677"/>
            <a:ext cx="273550" cy="2458913"/>
          </a:xfrm>
          <a:prstGeom prst="rect">
            <a:avLst/>
          </a:prstGeom>
          <a:solidFill>
            <a:srgbClr val="D0CECE"/>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49" name="直接箭头连接符 148"/>
          <p:cNvCxnSpPr>
            <a:cxnSpLocks/>
          </p:cNvCxnSpPr>
          <p:nvPr/>
        </p:nvCxnSpPr>
        <p:spPr bwMode="auto">
          <a:xfrm rot="10800000" flipV="1">
            <a:off x="1098909" y="1424479"/>
            <a:ext cx="2749295" cy="2593487"/>
          </a:xfrm>
          <a:prstGeom prst="bentConnector2">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2" name="直接箭头连接符 131"/>
          <p:cNvCxnSpPr>
            <a:stCxn id="129" idx="1"/>
          </p:cNvCxnSpPr>
          <p:nvPr/>
        </p:nvCxnSpPr>
        <p:spPr bwMode="auto">
          <a:xfrm>
            <a:off x="6224683" y="2451213"/>
            <a:ext cx="180000" cy="0"/>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 name="直接箭头连接符 132"/>
          <p:cNvCxnSpPr/>
          <p:nvPr/>
        </p:nvCxnSpPr>
        <p:spPr bwMode="auto">
          <a:xfrm>
            <a:off x="6069448" y="2635580"/>
            <a:ext cx="306391" cy="13144"/>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4" name="直接箭头连接符 133"/>
          <p:cNvCxnSpPr/>
          <p:nvPr/>
        </p:nvCxnSpPr>
        <p:spPr bwMode="auto">
          <a:xfrm>
            <a:off x="6212507" y="2847266"/>
            <a:ext cx="183983" cy="5174"/>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4" name="直接箭头连接符 183"/>
          <p:cNvCxnSpPr/>
          <p:nvPr/>
        </p:nvCxnSpPr>
        <p:spPr bwMode="auto">
          <a:xfrm>
            <a:off x="4223697" y="2670300"/>
            <a:ext cx="1542217" cy="7285"/>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 name="直接连接符 193"/>
          <p:cNvCxnSpPr>
            <a:endCxn id="129" idx="1"/>
          </p:cNvCxnSpPr>
          <p:nvPr/>
        </p:nvCxnSpPr>
        <p:spPr bwMode="auto">
          <a:xfrm flipH="1" flipV="1">
            <a:off x="6224683" y="2451213"/>
            <a:ext cx="2185" cy="382781"/>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1" name="直接连接符 200"/>
          <p:cNvCxnSpPr/>
          <p:nvPr/>
        </p:nvCxnSpPr>
        <p:spPr bwMode="auto">
          <a:xfrm>
            <a:off x="3100243" y="1781303"/>
            <a:ext cx="0" cy="3539661"/>
          </a:xfrm>
          <a:prstGeom prst="line">
            <a:avLst/>
          </a:prstGeom>
          <a:noFill/>
          <a:ln w="25400"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9" name="直接连接符 208"/>
          <p:cNvCxnSpPr/>
          <p:nvPr/>
        </p:nvCxnSpPr>
        <p:spPr bwMode="auto">
          <a:xfrm flipV="1">
            <a:off x="2883821" y="4215087"/>
            <a:ext cx="232836" cy="3578"/>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5" name="直接箭头连接符 214"/>
          <p:cNvCxnSpPr/>
          <p:nvPr/>
        </p:nvCxnSpPr>
        <p:spPr bwMode="auto">
          <a:xfrm flipV="1">
            <a:off x="3122720" y="4014508"/>
            <a:ext cx="1868291" cy="21970"/>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9" name="直接箭头连接符 218"/>
          <p:cNvCxnSpPr>
            <a:endCxn id="94" idx="0"/>
          </p:cNvCxnSpPr>
          <p:nvPr/>
        </p:nvCxnSpPr>
        <p:spPr bwMode="auto">
          <a:xfrm rot="5400000">
            <a:off x="2447623" y="1822611"/>
            <a:ext cx="1717509" cy="1098622"/>
          </a:xfrm>
          <a:prstGeom prst="bentConnector3">
            <a:avLst>
              <a:gd name="adj1" fmla="val 1390"/>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 name="直接连接符 234"/>
          <p:cNvCxnSpPr/>
          <p:nvPr/>
        </p:nvCxnSpPr>
        <p:spPr bwMode="auto">
          <a:xfrm>
            <a:off x="7422860" y="6337038"/>
            <a:ext cx="2219220"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9" name="直接连接符 278"/>
          <p:cNvCxnSpPr>
            <a:cxnSpLocks/>
          </p:cNvCxnSpPr>
          <p:nvPr/>
        </p:nvCxnSpPr>
        <p:spPr bwMode="auto">
          <a:xfrm>
            <a:off x="4134041" y="6534423"/>
            <a:ext cx="7697876"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9" name="直接连接符 298"/>
          <p:cNvCxnSpPr/>
          <p:nvPr/>
        </p:nvCxnSpPr>
        <p:spPr bwMode="auto">
          <a:xfrm flipV="1">
            <a:off x="4352626" y="5346001"/>
            <a:ext cx="2679747" cy="971893"/>
          </a:xfrm>
          <a:prstGeom prst="bentConnector3">
            <a:avLst>
              <a:gd name="adj1" fmla="val 99288"/>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直接连接符 225"/>
          <p:cNvCxnSpPr/>
          <p:nvPr/>
        </p:nvCxnSpPr>
        <p:spPr bwMode="auto">
          <a:xfrm flipV="1">
            <a:off x="3666594" y="4025331"/>
            <a:ext cx="0" cy="1921164"/>
          </a:xfrm>
          <a:prstGeom prst="line">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8" name="直接箭头连接符 227"/>
          <p:cNvCxnSpPr/>
          <p:nvPr/>
        </p:nvCxnSpPr>
        <p:spPr bwMode="auto">
          <a:xfrm>
            <a:off x="3924665" y="4246146"/>
            <a:ext cx="1061477"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7" name="直接连接符 236"/>
          <p:cNvCxnSpPr/>
          <p:nvPr/>
        </p:nvCxnSpPr>
        <p:spPr bwMode="auto">
          <a:xfrm flipV="1">
            <a:off x="4352626" y="2153285"/>
            <a:ext cx="0" cy="4187247"/>
          </a:xfrm>
          <a:prstGeom prst="straightConnector1">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9" name="直接箭头连接符 238"/>
          <p:cNvCxnSpPr/>
          <p:nvPr/>
        </p:nvCxnSpPr>
        <p:spPr bwMode="auto">
          <a:xfrm flipV="1">
            <a:off x="3117995" y="3855927"/>
            <a:ext cx="1873017" cy="24872"/>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3" name="直接箭头连接符 242"/>
          <p:cNvCxnSpPr>
            <a:endCxn id="166" idx="3"/>
          </p:cNvCxnSpPr>
          <p:nvPr/>
        </p:nvCxnSpPr>
        <p:spPr bwMode="auto">
          <a:xfrm>
            <a:off x="2918598" y="3303593"/>
            <a:ext cx="1799518" cy="9838"/>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9" name="直接连接符 248"/>
          <p:cNvCxnSpPr/>
          <p:nvPr/>
        </p:nvCxnSpPr>
        <p:spPr bwMode="auto">
          <a:xfrm>
            <a:off x="3437767" y="3867004"/>
            <a:ext cx="0" cy="1793561"/>
          </a:xfrm>
          <a:prstGeom prst="line">
            <a:avLst/>
          </a:prstGeom>
          <a:noFill/>
          <a:ln w="25400" cap="flat" cmpd="sng" algn="ctr">
            <a:solidFill>
              <a:schemeClr val="tx1"/>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1" name="直接连接符 250"/>
          <p:cNvCxnSpPr/>
          <p:nvPr/>
        </p:nvCxnSpPr>
        <p:spPr bwMode="auto">
          <a:xfrm rot="10800000">
            <a:off x="225270" y="2812724"/>
            <a:ext cx="2005451" cy="515562"/>
          </a:xfrm>
          <a:prstGeom prst="bentConnector3">
            <a:avLst>
              <a:gd name="adj1" fmla="val -908"/>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4" name="直接箭头连接符 253"/>
          <p:cNvCxnSpPr/>
          <p:nvPr/>
        </p:nvCxnSpPr>
        <p:spPr bwMode="auto">
          <a:xfrm>
            <a:off x="3666594" y="5946495"/>
            <a:ext cx="2733004"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 name="直接箭头连接符 255"/>
          <p:cNvCxnSpPr/>
          <p:nvPr/>
        </p:nvCxnSpPr>
        <p:spPr bwMode="auto">
          <a:xfrm>
            <a:off x="3437767" y="5660565"/>
            <a:ext cx="2984954"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2" name="直接箭头连接符 261"/>
          <p:cNvCxnSpPr/>
          <p:nvPr/>
        </p:nvCxnSpPr>
        <p:spPr bwMode="auto">
          <a:xfrm>
            <a:off x="5902236" y="4535611"/>
            <a:ext cx="504495"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5" name="直接箭头连接符 264"/>
          <p:cNvCxnSpPr/>
          <p:nvPr/>
        </p:nvCxnSpPr>
        <p:spPr bwMode="auto">
          <a:xfrm flipV="1">
            <a:off x="5918537" y="3918200"/>
            <a:ext cx="488194" cy="6845"/>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6" name="直接箭头连接符 245"/>
          <p:cNvCxnSpPr>
            <a:stCxn id="185" idx="6"/>
          </p:cNvCxnSpPr>
          <p:nvPr/>
        </p:nvCxnSpPr>
        <p:spPr bwMode="auto">
          <a:xfrm flipV="1">
            <a:off x="5541710" y="5041265"/>
            <a:ext cx="857185" cy="1598"/>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 name="直接箭头连接符 357"/>
          <p:cNvCxnSpPr/>
          <p:nvPr/>
        </p:nvCxnSpPr>
        <p:spPr bwMode="auto">
          <a:xfrm>
            <a:off x="6776279" y="4505208"/>
            <a:ext cx="795531" cy="10352"/>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3" name="直接箭头连接符 372"/>
          <p:cNvCxnSpPr/>
          <p:nvPr/>
        </p:nvCxnSpPr>
        <p:spPr bwMode="auto">
          <a:xfrm flipV="1">
            <a:off x="6787153" y="5329825"/>
            <a:ext cx="2345307"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7" name="直接箭头连接符 396"/>
          <p:cNvCxnSpPr/>
          <p:nvPr/>
        </p:nvCxnSpPr>
        <p:spPr bwMode="auto">
          <a:xfrm>
            <a:off x="11190134" y="1015205"/>
            <a:ext cx="28536" cy="4969645"/>
          </a:xfrm>
          <a:prstGeom prst="straightConnector1">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1" name="直接箭头连接符 400"/>
          <p:cNvCxnSpPr/>
          <p:nvPr/>
        </p:nvCxnSpPr>
        <p:spPr bwMode="auto">
          <a:xfrm rot="10800000">
            <a:off x="5058833" y="1512001"/>
            <a:ext cx="1963031" cy="1143551"/>
          </a:xfrm>
          <a:prstGeom prst="bentConnector3">
            <a:avLst>
              <a:gd name="adj1" fmla="val -651"/>
            </a:avLst>
          </a:prstGeom>
          <a:noFill/>
          <a:ln w="25400" cap="flat" cmpd="sng" algn="ctr">
            <a:solidFill>
              <a:srgbClr val="00B0F0"/>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0" name="连接符: 肘形 419"/>
          <p:cNvCxnSpPr>
            <a:endCxn id="312" idx="3"/>
          </p:cNvCxnSpPr>
          <p:nvPr/>
        </p:nvCxnSpPr>
        <p:spPr bwMode="auto">
          <a:xfrm rot="10800000">
            <a:off x="7696203" y="4069641"/>
            <a:ext cx="375728" cy="145447"/>
          </a:xfrm>
          <a:prstGeom prst="bentConnector2">
            <a:avLst/>
          </a:prstGeom>
          <a:solidFill>
            <a:schemeClr val="accent1"/>
          </a:solid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0" name="直接箭头连接符 269"/>
          <p:cNvCxnSpPr/>
          <p:nvPr/>
        </p:nvCxnSpPr>
        <p:spPr bwMode="auto">
          <a:xfrm>
            <a:off x="7257760" y="3718827"/>
            <a:ext cx="320264"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2" name="直接箭头连接符 271"/>
          <p:cNvCxnSpPr/>
          <p:nvPr/>
        </p:nvCxnSpPr>
        <p:spPr bwMode="auto">
          <a:xfrm>
            <a:off x="7422860" y="3844381"/>
            <a:ext cx="147416"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1" name="直接连接符 280"/>
          <p:cNvCxnSpPr/>
          <p:nvPr/>
        </p:nvCxnSpPr>
        <p:spPr bwMode="auto">
          <a:xfrm>
            <a:off x="7422860" y="3855085"/>
            <a:ext cx="0" cy="2478719"/>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5" name="直接箭头连接符 284"/>
          <p:cNvCxnSpPr/>
          <p:nvPr/>
        </p:nvCxnSpPr>
        <p:spPr bwMode="auto">
          <a:xfrm flipV="1">
            <a:off x="7264140" y="4812248"/>
            <a:ext cx="321461" cy="0"/>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 name="直接连接符 301"/>
          <p:cNvCxnSpPr>
            <a:cxnSpLocks/>
          </p:cNvCxnSpPr>
          <p:nvPr/>
        </p:nvCxnSpPr>
        <p:spPr bwMode="auto">
          <a:xfrm>
            <a:off x="3924665" y="4248200"/>
            <a:ext cx="0" cy="2453961"/>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4" name="直接箭头连接符 303"/>
          <p:cNvCxnSpPr/>
          <p:nvPr/>
        </p:nvCxnSpPr>
        <p:spPr bwMode="auto">
          <a:xfrm rot="5400000" flipH="1" flipV="1">
            <a:off x="4210662" y="1886889"/>
            <a:ext cx="1842078" cy="405120"/>
          </a:xfrm>
          <a:prstGeom prst="bentConnector3">
            <a:avLst>
              <a:gd name="adj1" fmla="val -603"/>
            </a:avLst>
          </a:prstGeom>
          <a:noFill/>
          <a:ln w="25400"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 name="直接箭头连接符 306"/>
          <p:cNvCxnSpPr/>
          <p:nvPr/>
        </p:nvCxnSpPr>
        <p:spPr bwMode="auto">
          <a:xfrm>
            <a:off x="7422860" y="4678049"/>
            <a:ext cx="147416" cy="0"/>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8" name="直接箭头连接符 317"/>
          <p:cNvCxnSpPr>
            <a:stCxn id="321" idx="0"/>
          </p:cNvCxnSpPr>
          <p:nvPr/>
        </p:nvCxnSpPr>
        <p:spPr bwMode="auto">
          <a:xfrm>
            <a:off x="7825377" y="4685248"/>
            <a:ext cx="1315567"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接连接符 111"/>
          <p:cNvCxnSpPr/>
          <p:nvPr/>
        </p:nvCxnSpPr>
        <p:spPr>
          <a:xfrm>
            <a:off x="8071931" y="4215087"/>
            <a:ext cx="0" cy="1329881"/>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 name="直接连接符 296"/>
          <p:cNvCxnSpPr/>
          <p:nvPr/>
        </p:nvCxnSpPr>
        <p:spPr bwMode="auto">
          <a:xfrm flipV="1">
            <a:off x="101832" y="1168412"/>
            <a:ext cx="5220748" cy="26754"/>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01" name="Mux 3"/>
          <p:cNvGrpSpPr/>
          <p:nvPr/>
        </p:nvGrpSpPr>
        <p:grpSpPr>
          <a:xfrm>
            <a:off x="5717383" y="2286190"/>
            <a:ext cx="426720" cy="787203"/>
            <a:chOff x="3548111" y="5441614"/>
            <a:chExt cx="907264" cy="1250903"/>
          </a:xfrm>
          <a:solidFill>
            <a:srgbClr val="9CDCF9"/>
          </a:solidFill>
        </p:grpSpPr>
        <p:sp>
          <p:nvSpPr>
            <p:cNvPr id="303" name="mux"/>
            <p:cNvSpPr/>
            <p:nvPr/>
          </p:nvSpPr>
          <p:spPr>
            <a:xfrm rot="5400000">
              <a:off x="3360534" y="5718809"/>
              <a:ext cx="1230515" cy="689495"/>
            </a:xfrm>
            <a:prstGeom prst="flowChartTerminator">
              <a:avLst/>
            </a:prstGeom>
            <a:grpFill/>
            <a:ln w="25400">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310" name="文本框 309"/>
            <p:cNvSpPr txBox="1"/>
            <p:nvPr/>
          </p:nvSpPr>
          <p:spPr>
            <a:xfrm>
              <a:off x="3548111" y="5441614"/>
              <a:ext cx="907264" cy="1250903"/>
            </a:xfrm>
            <a:prstGeom prst="rect">
              <a:avLst/>
            </a:prstGeom>
            <a:noFill/>
            <a:ln w="25400">
              <a:noFill/>
            </a:ln>
          </p:spPr>
          <p:txBody>
            <a:bodyPr wrap="none" rtlCol="0">
              <a:spAutoFit/>
            </a:bodyPr>
            <a:lstStyle/>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grpSp>
        <p:nvGrpSpPr>
          <p:cNvPr id="311" name="Mux 3"/>
          <p:cNvGrpSpPr/>
          <p:nvPr/>
        </p:nvGrpSpPr>
        <p:grpSpPr>
          <a:xfrm>
            <a:off x="7483954" y="3329137"/>
            <a:ext cx="426720" cy="825113"/>
            <a:chOff x="3429917" y="5448299"/>
            <a:chExt cx="1097464" cy="1371107"/>
          </a:xfrm>
          <a:noFill/>
        </p:grpSpPr>
        <p:sp>
          <p:nvSpPr>
            <p:cNvPr id="312" name="mux"/>
            <p:cNvSpPr/>
            <p:nvPr/>
          </p:nvSpPr>
          <p:spPr>
            <a:xfrm rot="5400000">
              <a:off x="3360534" y="5718809"/>
              <a:ext cx="1230515" cy="689495"/>
            </a:xfrm>
            <a:prstGeom prst="flowChartTerminator">
              <a:avLst/>
            </a:prstGeom>
            <a:solidFill>
              <a:srgbClr val="D0CECE"/>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314" name="文本框 313"/>
            <p:cNvSpPr txBox="1"/>
            <p:nvPr/>
          </p:nvSpPr>
          <p:spPr>
            <a:xfrm>
              <a:off x="3429917" y="5489666"/>
              <a:ext cx="1097464" cy="1329740"/>
            </a:xfrm>
            <a:prstGeom prst="rect">
              <a:avLst/>
            </a:prstGeom>
            <a:grpFill/>
            <a:ln w="25400">
              <a:noFill/>
            </a:ln>
          </p:spPr>
          <p:txBody>
            <a:bodyPr wrap="none" rtlCol="0">
              <a:spAutoFit/>
            </a:bodyPr>
            <a:lstStyle/>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grpSp>
        <p:nvGrpSpPr>
          <p:cNvPr id="320" name="Mux 3"/>
          <p:cNvGrpSpPr/>
          <p:nvPr/>
        </p:nvGrpSpPr>
        <p:grpSpPr>
          <a:xfrm>
            <a:off x="7501671" y="4273827"/>
            <a:ext cx="426720" cy="849948"/>
            <a:chOff x="3389700" y="5448299"/>
            <a:chExt cx="1227068" cy="1271055"/>
          </a:xfrm>
          <a:noFill/>
        </p:grpSpPr>
        <p:sp>
          <p:nvSpPr>
            <p:cNvPr id="321" name="mux"/>
            <p:cNvSpPr/>
            <p:nvPr/>
          </p:nvSpPr>
          <p:spPr>
            <a:xfrm rot="5400000">
              <a:off x="3360534" y="5718809"/>
              <a:ext cx="1230515" cy="689495"/>
            </a:xfrm>
            <a:prstGeom prst="flowChartTerminator">
              <a:avLst/>
            </a:prstGeom>
            <a:solidFill>
              <a:srgbClr val="D0CECE"/>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322" name="文本框 321"/>
            <p:cNvSpPr txBox="1"/>
            <p:nvPr/>
          </p:nvSpPr>
          <p:spPr>
            <a:xfrm>
              <a:off x="3389700" y="5522666"/>
              <a:ext cx="1227068" cy="1196688"/>
            </a:xfrm>
            <a:prstGeom prst="rect">
              <a:avLst/>
            </a:prstGeom>
            <a:grpFill/>
            <a:ln w="25400">
              <a:noFill/>
            </a:ln>
          </p:spPr>
          <p:txBody>
            <a:bodyPr wrap="none" rtlCol="0">
              <a:spAutoFit/>
            </a:bodyPr>
            <a:lstStyle/>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sp>
        <p:nvSpPr>
          <p:cNvPr id="163" name="矩形 162"/>
          <p:cNvSpPr/>
          <p:nvPr/>
        </p:nvSpPr>
        <p:spPr>
          <a:xfrm>
            <a:off x="2342326" y="2874184"/>
            <a:ext cx="801934" cy="400110"/>
          </a:xfrm>
          <a:prstGeom prst="rect">
            <a:avLst/>
          </a:prstGeom>
          <a:ln w="25400">
            <a:noFill/>
          </a:ln>
        </p:spPr>
        <p:txBody>
          <a:bodyPr wrap="square">
            <a:spAutoFit/>
          </a:bodyPr>
          <a:lstStyle/>
          <a:p>
            <a:pPr lvl="0" algn="ctr">
              <a:defRPr/>
            </a:pPr>
            <a:r>
              <a:rPr lang="en-US" altLang="zh-CN" sz="2000" b="1" dirty="0">
                <a:solidFill>
                  <a:prstClr val="black"/>
                </a:solidFill>
                <a:latin typeface="Times New Roman" panose="02020603050405020304" pitchFamily="18" charset="0"/>
                <a:cs typeface="Times New Roman" panose="02020603050405020304" pitchFamily="18" charset="0"/>
              </a:rPr>
              <a:t>IF/ID</a:t>
            </a:r>
            <a:endParaRPr lang="zh-CN" altLang="en-US" sz="2000" b="1" dirty="0">
              <a:solidFill>
                <a:prstClr val="black"/>
              </a:solidFill>
              <a:latin typeface="Times New Roman" panose="02020603050405020304" pitchFamily="18" charset="0"/>
              <a:cs typeface="Times New Roman" panose="02020603050405020304" pitchFamily="18" charset="0"/>
            </a:endParaRPr>
          </a:p>
        </p:txBody>
      </p:sp>
      <p:cxnSp>
        <p:nvCxnSpPr>
          <p:cNvPr id="385" name="连接符: 肘形 384"/>
          <p:cNvCxnSpPr>
            <a:endCxn id="321" idx="3"/>
          </p:cNvCxnSpPr>
          <p:nvPr/>
        </p:nvCxnSpPr>
        <p:spPr bwMode="auto">
          <a:xfrm rot="16200000" flipV="1">
            <a:off x="7613405" y="5188751"/>
            <a:ext cx="431098" cy="246929"/>
          </a:xfrm>
          <a:prstGeom prst="bentConnector3">
            <a:avLst>
              <a:gd name="adj1" fmla="val 67676"/>
            </a:avLst>
          </a:prstGeom>
          <a:solidFill>
            <a:schemeClr val="accent1"/>
          </a:solid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1" name="直接连接符 160"/>
          <p:cNvCxnSpPr/>
          <p:nvPr/>
        </p:nvCxnSpPr>
        <p:spPr bwMode="auto">
          <a:xfrm>
            <a:off x="5408579" y="1038134"/>
            <a:ext cx="5810091" cy="0"/>
          </a:xfrm>
          <a:prstGeom prst="line">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1" name="梯形 43"/>
          <p:cNvSpPr/>
          <p:nvPr/>
        </p:nvSpPr>
        <p:spPr bwMode="auto">
          <a:xfrm rot="5400000">
            <a:off x="1757137" y="3241307"/>
            <a:ext cx="432037" cy="173951"/>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algn="ctr" fontAlgn="base">
              <a:spcBef>
                <a:spcPct val="0"/>
              </a:spcBef>
              <a:spcAft>
                <a:spcPct val="0"/>
              </a:spcAft>
            </a:pPr>
            <a:r>
              <a:rPr lang="en-US" altLang="zh-CN"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4" name="椭圆 163"/>
          <p:cNvSpPr/>
          <p:nvPr/>
        </p:nvSpPr>
        <p:spPr>
          <a:xfrm>
            <a:off x="4338134" y="3505720"/>
            <a:ext cx="609583" cy="282377"/>
          </a:xfrm>
          <a:prstGeom prst="ellipse">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GB" altLang="zh-CN" sz="900" b="1" dirty="0">
                <a:solidFill>
                  <a:srgbClr val="FF0000"/>
                </a:solidFill>
                <a:latin typeface="Times New Roman" panose="02020603050405020304" pitchFamily="18" charset="0"/>
                <a:cs typeface="Times New Roman" panose="02020603050405020304" pitchFamily="18" charset="0"/>
              </a:rPr>
              <a:t>Shift left 1</a:t>
            </a:r>
            <a:endParaRPr lang="zh-CN" altLang="en-US" sz="900" b="1" dirty="0">
              <a:solidFill>
                <a:srgbClr val="FF0000"/>
              </a:solidFill>
              <a:latin typeface="Times New Roman" panose="02020603050405020304" pitchFamily="18" charset="0"/>
              <a:cs typeface="Times New Roman" panose="02020603050405020304" pitchFamily="18" charset="0"/>
            </a:endParaRPr>
          </a:p>
        </p:txBody>
      </p:sp>
      <p:sp>
        <p:nvSpPr>
          <p:cNvPr id="166" name="梯形 43"/>
          <p:cNvSpPr/>
          <p:nvPr/>
        </p:nvSpPr>
        <p:spPr bwMode="auto">
          <a:xfrm rot="5400000">
            <a:off x="4547141" y="2944309"/>
            <a:ext cx="540097" cy="198147"/>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algn="ctr" fontAlgn="base">
              <a:spcBef>
                <a:spcPct val="0"/>
              </a:spcBef>
              <a:spcAft>
                <a:spcPct val="0"/>
              </a:spcAft>
            </a:pPr>
            <a:r>
              <a:rPr lang="en-GB" altLang="zh-CN"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5" name="椭圆 184"/>
          <p:cNvSpPr/>
          <p:nvPr/>
        </p:nvSpPr>
        <p:spPr>
          <a:xfrm>
            <a:off x="4573272" y="4807191"/>
            <a:ext cx="968438" cy="471344"/>
          </a:xfrm>
          <a:prstGeom prst="ellipse">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lnSpc>
                <a:spcPts val="1800"/>
              </a:lnSpc>
            </a:pPr>
            <a:r>
              <a:rPr lang="en-GB" altLang="zh-CN" sz="2000" dirty="0" err="1">
                <a:solidFill>
                  <a:srgbClr val="FF0000"/>
                </a:solidFill>
                <a:latin typeface="Times New Roman" panose="02020603050405020304" pitchFamily="18" charset="0"/>
                <a:cs typeface="Times New Roman" panose="02020603050405020304" pitchFamily="18" charset="0"/>
              </a:rPr>
              <a:t>Imm</a:t>
            </a:r>
            <a:r>
              <a:rPr lang="en-GB" altLang="zh-CN" sz="2000" dirty="0">
                <a:solidFill>
                  <a:srgbClr val="FF0000"/>
                </a:solidFill>
                <a:latin typeface="Times New Roman" panose="02020603050405020304" pitchFamily="18" charset="0"/>
                <a:cs typeface="Times New Roman" panose="02020603050405020304" pitchFamily="18" charset="0"/>
              </a:rPr>
              <a:t> Gen</a:t>
            </a:r>
            <a:endParaRPr lang="zh-CN" altLang="en-US" sz="2000" dirty="0">
              <a:solidFill>
                <a:srgbClr val="FF0000"/>
              </a:solidFill>
              <a:latin typeface="Times New Roman" panose="02020603050405020304" pitchFamily="18" charset="0"/>
              <a:cs typeface="Times New Roman" panose="02020603050405020304" pitchFamily="18" charset="0"/>
            </a:endParaRPr>
          </a:p>
        </p:txBody>
      </p:sp>
      <p:cxnSp>
        <p:nvCxnSpPr>
          <p:cNvPr id="225" name="直接箭头连接符 224"/>
          <p:cNvCxnSpPr>
            <a:endCxn id="185" idx="2"/>
          </p:cNvCxnSpPr>
          <p:nvPr/>
        </p:nvCxnSpPr>
        <p:spPr bwMode="auto">
          <a:xfrm flipV="1">
            <a:off x="3134140" y="5042863"/>
            <a:ext cx="1439132" cy="4046"/>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0" name="直接箭头连接符 239"/>
          <p:cNvCxnSpPr/>
          <p:nvPr/>
        </p:nvCxnSpPr>
        <p:spPr bwMode="auto">
          <a:xfrm>
            <a:off x="7021863" y="3603833"/>
            <a:ext cx="548802"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3" name="直接箭头连接符 352"/>
          <p:cNvCxnSpPr/>
          <p:nvPr/>
        </p:nvCxnSpPr>
        <p:spPr bwMode="auto">
          <a:xfrm>
            <a:off x="3101632" y="2698414"/>
            <a:ext cx="199949" cy="0"/>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0" name="直接箭头连接符 359"/>
          <p:cNvCxnSpPr/>
          <p:nvPr/>
        </p:nvCxnSpPr>
        <p:spPr bwMode="auto">
          <a:xfrm flipH="1">
            <a:off x="2057103" y="3328282"/>
            <a:ext cx="173615" cy="0"/>
          </a:xfrm>
          <a:prstGeom prst="straightConnector1">
            <a:avLst/>
          </a:prstGeom>
          <a:noFill/>
          <a:ln w="25400"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0" name="直接箭头连接符 399"/>
          <p:cNvCxnSpPr>
            <a:endCxn id="181" idx="0"/>
          </p:cNvCxnSpPr>
          <p:nvPr/>
        </p:nvCxnSpPr>
        <p:spPr bwMode="auto">
          <a:xfrm rot="5400000" flipH="1" flipV="1">
            <a:off x="1064663" y="3390796"/>
            <a:ext cx="1100049" cy="542986"/>
          </a:xfrm>
          <a:prstGeom prst="bentConnector3">
            <a:avLst>
              <a:gd name="adj1" fmla="val 99874"/>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2" name="直接箭头连接符 411"/>
          <p:cNvCxnSpPr/>
          <p:nvPr/>
        </p:nvCxnSpPr>
        <p:spPr bwMode="auto">
          <a:xfrm flipV="1">
            <a:off x="1338997" y="3582195"/>
            <a:ext cx="1277638" cy="16951"/>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6" name="直接箭头连接符 435"/>
          <p:cNvCxnSpPr>
            <a:stCxn id="164" idx="1"/>
            <a:endCxn id="166" idx="0"/>
          </p:cNvCxnSpPr>
          <p:nvPr/>
        </p:nvCxnSpPr>
        <p:spPr bwMode="auto">
          <a:xfrm rot="5400000" flipH="1" flipV="1">
            <a:off x="4185891" y="3014849"/>
            <a:ext cx="773739" cy="290711"/>
          </a:xfrm>
          <a:prstGeom prst="bentConnector3">
            <a:avLst>
              <a:gd name="adj1" fmla="val 99337"/>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4" name="直接箭头连接符 523"/>
          <p:cNvCxnSpPr/>
          <p:nvPr/>
        </p:nvCxnSpPr>
        <p:spPr bwMode="auto">
          <a:xfrm>
            <a:off x="9297976" y="222513"/>
            <a:ext cx="0" cy="6479648"/>
          </a:xfrm>
          <a:prstGeom prst="straightConnector1">
            <a:avLst/>
          </a:prstGeom>
          <a:ln w="12700" cap="flat" cmpd="sng" algn="ctr">
            <a:solidFill>
              <a:schemeClr val="dk1"/>
            </a:solidFill>
            <a:prstDash val="dash"/>
            <a:round/>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579" name="直接连接符 578"/>
          <p:cNvCxnSpPr/>
          <p:nvPr/>
        </p:nvCxnSpPr>
        <p:spPr bwMode="auto">
          <a:xfrm flipH="1" flipV="1">
            <a:off x="4671755" y="3778572"/>
            <a:ext cx="9753" cy="1088121"/>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9" name="直接箭头连接符 588"/>
          <p:cNvCxnSpPr/>
          <p:nvPr/>
        </p:nvCxnSpPr>
        <p:spPr bwMode="auto">
          <a:xfrm>
            <a:off x="4140200" y="4427162"/>
            <a:ext cx="861789"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2" name="直接连接符 591"/>
          <p:cNvCxnSpPr>
            <a:cxnSpLocks/>
          </p:cNvCxnSpPr>
          <p:nvPr/>
        </p:nvCxnSpPr>
        <p:spPr bwMode="auto">
          <a:xfrm>
            <a:off x="4134041" y="4413285"/>
            <a:ext cx="0" cy="2121138"/>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3" name="直接连接符 592"/>
          <p:cNvCxnSpPr>
            <a:cxnSpLocks/>
          </p:cNvCxnSpPr>
          <p:nvPr/>
        </p:nvCxnSpPr>
        <p:spPr bwMode="auto">
          <a:xfrm flipV="1">
            <a:off x="3924665" y="5892888"/>
            <a:ext cx="6366567" cy="809273"/>
          </a:xfrm>
          <a:prstGeom prst="bentConnector3">
            <a:avLst>
              <a:gd name="adj1" fmla="val 100015"/>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1" name="直接箭头连接符 148"/>
          <p:cNvCxnSpPr/>
          <p:nvPr/>
        </p:nvCxnSpPr>
        <p:spPr bwMode="auto">
          <a:xfrm rot="16200000" flipH="1">
            <a:off x="-567712" y="2264625"/>
            <a:ext cx="4114718" cy="2220536"/>
          </a:xfrm>
          <a:prstGeom prst="bentConnector3">
            <a:avLst>
              <a:gd name="adj1" fmla="val 99384"/>
            </a:avLst>
          </a:prstGeom>
          <a:ln w="25400">
            <a:solidFill>
              <a:srgbClr val="00B0F0"/>
            </a:solidFill>
            <a:headEnd type="none" w="med" len="med"/>
            <a:tailEnd type="triangl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5"/>
          </a:lnRef>
          <a:fillRef idx="0">
            <a:schemeClr val="accent5"/>
          </a:fillRef>
          <a:effectRef idx="0">
            <a:schemeClr val="accent5"/>
          </a:effectRef>
          <a:fontRef idx="minor">
            <a:schemeClr val="tx1"/>
          </a:fontRef>
        </p:style>
      </p:cxnSp>
      <p:cxnSp>
        <p:nvCxnSpPr>
          <p:cNvPr id="645" name="直接箭头连接符 644"/>
          <p:cNvCxnSpPr/>
          <p:nvPr/>
        </p:nvCxnSpPr>
        <p:spPr bwMode="auto">
          <a:xfrm>
            <a:off x="5504984" y="2935122"/>
            <a:ext cx="248048" cy="0"/>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8" name="直接箭头连接符 657"/>
          <p:cNvCxnSpPr/>
          <p:nvPr/>
        </p:nvCxnSpPr>
        <p:spPr bwMode="auto">
          <a:xfrm>
            <a:off x="1614687" y="3468112"/>
            <a:ext cx="265588"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3" name="文本框 662"/>
          <p:cNvSpPr txBox="1"/>
          <p:nvPr/>
        </p:nvSpPr>
        <p:spPr>
          <a:xfrm>
            <a:off x="5391202" y="2888008"/>
            <a:ext cx="300082" cy="369332"/>
          </a:xfrm>
          <a:prstGeom prst="rect">
            <a:avLst/>
          </a:prstGeom>
          <a:noFill/>
        </p:spPr>
        <p:txBody>
          <a:bodyPr wrap="none" rtlCol="0">
            <a:spAutoFit/>
          </a:bodyPr>
          <a:lstStyle/>
          <a:p>
            <a:r>
              <a:rPr lang="en-US" altLang="zh-CN" b="1" dirty="0">
                <a:solidFill>
                  <a:srgbClr val="00B0F0"/>
                </a:solidFill>
                <a:latin typeface="Times New Roman" panose="02020603050405020304" pitchFamily="18" charset="0"/>
                <a:cs typeface="Times New Roman" panose="02020603050405020304" pitchFamily="18" charset="0"/>
              </a:rPr>
              <a:t>0</a:t>
            </a:r>
            <a:endParaRPr lang="zh-CN" altLang="en-US" b="1" dirty="0">
              <a:solidFill>
                <a:srgbClr val="00B0F0"/>
              </a:solidFill>
              <a:latin typeface="Times New Roman" panose="02020603050405020304" pitchFamily="18" charset="0"/>
              <a:cs typeface="Times New Roman" panose="02020603050405020304" pitchFamily="18" charset="0"/>
            </a:endParaRPr>
          </a:p>
        </p:txBody>
      </p:sp>
      <p:sp>
        <p:nvSpPr>
          <p:cNvPr id="668" name="椭圆 667"/>
          <p:cNvSpPr/>
          <p:nvPr/>
        </p:nvSpPr>
        <p:spPr>
          <a:xfrm>
            <a:off x="5951098" y="4032930"/>
            <a:ext cx="373358" cy="366022"/>
          </a:xfrm>
          <a:prstGeom prst="ellipse">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p:txBody>
      </p:sp>
      <p:cxnSp>
        <p:nvCxnSpPr>
          <p:cNvPr id="669" name="直接连接符 668"/>
          <p:cNvCxnSpPr>
            <a:endCxn id="668" idx="0"/>
          </p:cNvCxnSpPr>
          <p:nvPr/>
        </p:nvCxnSpPr>
        <p:spPr bwMode="auto">
          <a:xfrm>
            <a:off x="6131657" y="3925045"/>
            <a:ext cx="6120" cy="107885"/>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3" name="直接连接符 672"/>
          <p:cNvCxnSpPr/>
          <p:nvPr/>
        </p:nvCxnSpPr>
        <p:spPr bwMode="auto">
          <a:xfrm flipH="1">
            <a:off x="6128754" y="4410704"/>
            <a:ext cx="5461" cy="144716"/>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16" name="Mux 3"/>
          <p:cNvGrpSpPr/>
          <p:nvPr/>
        </p:nvGrpSpPr>
        <p:grpSpPr>
          <a:xfrm>
            <a:off x="8256708" y="1278258"/>
            <a:ext cx="426720" cy="812095"/>
            <a:chOff x="3429917" y="5448299"/>
            <a:chExt cx="1097464" cy="1349476"/>
          </a:xfrm>
          <a:noFill/>
        </p:grpSpPr>
        <p:sp>
          <p:nvSpPr>
            <p:cNvPr id="221" name="mux"/>
            <p:cNvSpPr/>
            <p:nvPr/>
          </p:nvSpPr>
          <p:spPr>
            <a:xfrm rot="5400000">
              <a:off x="3360534" y="5718809"/>
              <a:ext cx="1230515" cy="689495"/>
            </a:xfrm>
            <a:prstGeom prst="flowChartTerminator">
              <a:avLst/>
            </a:prstGeom>
            <a:solidFill>
              <a:srgbClr val="CCEDFC"/>
            </a:solidFill>
            <a:ln w="25400">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227" name="文本框 226"/>
            <p:cNvSpPr txBox="1"/>
            <p:nvPr/>
          </p:nvSpPr>
          <p:spPr>
            <a:xfrm>
              <a:off x="3429917" y="5489663"/>
              <a:ext cx="1097464" cy="1308112"/>
            </a:xfrm>
            <a:prstGeom prst="rect">
              <a:avLst/>
            </a:prstGeom>
            <a:grpFill/>
            <a:ln w="25400">
              <a:noFill/>
            </a:ln>
          </p:spPr>
          <p:txBody>
            <a:bodyPr wrap="none" rtlCol="0">
              <a:spAutoFit/>
            </a:bodyPr>
            <a:lstStyle/>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cxnSp>
        <p:nvCxnSpPr>
          <p:cNvPr id="234" name="直接连接符 207"/>
          <p:cNvCxnSpPr/>
          <p:nvPr/>
        </p:nvCxnSpPr>
        <p:spPr bwMode="auto">
          <a:xfrm flipV="1">
            <a:off x="3770776" y="1244072"/>
            <a:ext cx="4699292" cy="1021998"/>
          </a:xfrm>
          <a:prstGeom prst="bentConnector4">
            <a:avLst>
              <a:gd name="adj1" fmla="val -254"/>
              <a:gd name="adj2" fmla="val 144764"/>
            </a:avLst>
          </a:prstGeom>
          <a:noFill/>
          <a:ln w="25400" cap="flat" cmpd="sng" algn="ctr">
            <a:solidFill>
              <a:srgbClr val="00B0F0"/>
            </a:solidFill>
            <a:prstDash val="solid"/>
            <a:round/>
            <a:headEnd type="none" w="med" len="med"/>
            <a:tailEnd type="stealth"/>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6" name="直接箭头连接符 153"/>
          <p:cNvCxnSpPr/>
          <p:nvPr/>
        </p:nvCxnSpPr>
        <p:spPr bwMode="auto">
          <a:xfrm flipV="1">
            <a:off x="6772220" y="1552958"/>
            <a:ext cx="1571199" cy="892960"/>
          </a:xfrm>
          <a:prstGeom prst="bentConnector3">
            <a:avLst>
              <a:gd name="adj1" fmla="val 36259"/>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8" name="文本框 237"/>
          <p:cNvSpPr txBox="1"/>
          <p:nvPr/>
        </p:nvSpPr>
        <p:spPr>
          <a:xfrm>
            <a:off x="7789314" y="1679873"/>
            <a:ext cx="300082" cy="369332"/>
          </a:xfrm>
          <a:prstGeom prst="rect">
            <a:avLst/>
          </a:prstGeom>
          <a:noFill/>
        </p:spPr>
        <p:txBody>
          <a:bodyPr wrap="none" rtlCol="0">
            <a:spAutoFit/>
          </a:bodyPr>
          <a:lstStyle/>
          <a:p>
            <a:r>
              <a:rPr lang="en-US" altLang="zh-CN" b="1" dirty="0">
                <a:solidFill>
                  <a:srgbClr val="00B0F0"/>
                </a:solidFill>
                <a:latin typeface="Times New Roman" panose="02020603050405020304" pitchFamily="18" charset="0"/>
                <a:cs typeface="Times New Roman" panose="02020603050405020304" pitchFamily="18" charset="0"/>
              </a:rPr>
              <a:t>0</a:t>
            </a:r>
            <a:endParaRPr lang="zh-CN" altLang="en-US" b="1" dirty="0">
              <a:solidFill>
                <a:srgbClr val="00B0F0"/>
              </a:solidFill>
              <a:latin typeface="Times New Roman" panose="02020603050405020304" pitchFamily="18" charset="0"/>
              <a:cs typeface="Times New Roman" panose="02020603050405020304" pitchFamily="18" charset="0"/>
            </a:endParaRPr>
          </a:p>
        </p:txBody>
      </p:sp>
      <p:cxnSp>
        <p:nvCxnSpPr>
          <p:cNvPr id="241" name="直接箭头连接符 240"/>
          <p:cNvCxnSpPr>
            <a:stCxn id="238" idx="3"/>
          </p:cNvCxnSpPr>
          <p:nvPr/>
        </p:nvCxnSpPr>
        <p:spPr bwMode="auto">
          <a:xfrm>
            <a:off x="8089396" y="1864539"/>
            <a:ext cx="232278" cy="4588"/>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8" name="直接箭头连接符 153"/>
          <p:cNvCxnSpPr/>
          <p:nvPr/>
        </p:nvCxnSpPr>
        <p:spPr bwMode="auto">
          <a:xfrm>
            <a:off x="8613490" y="1648460"/>
            <a:ext cx="540000" cy="1031240"/>
          </a:xfrm>
          <a:prstGeom prst="bentConnector3">
            <a:avLst>
              <a:gd name="adj1" fmla="val 61736"/>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 name="直接箭头连接符 153"/>
          <p:cNvCxnSpPr/>
          <p:nvPr/>
        </p:nvCxnSpPr>
        <p:spPr bwMode="auto">
          <a:xfrm>
            <a:off x="8469976" y="932880"/>
            <a:ext cx="828000" cy="0"/>
          </a:xfrm>
          <a:prstGeom prst="straightConnector1">
            <a:avLst/>
          </a:prstGeom>
          <a:noFill/>
          <a:ln w="25400" cap="flat" cmpd="sng" algn="ctr">
            <a:solidFill>
              <a:srgbClr val="00B0F0"/>
            </a:solidFill>
            <a:prstDash val="solid"/>
            <a:round/>
            <a:headEnd type="oval"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 name="直接箭头连接符 3"/>
          <p:cNvCxnSpPr/>
          <p:nvPr/>
        </p:nvCxnSpPr>
        <p:spPr bwMode="auto">
          <a:xfrm>
            <a:off x="1614805" y="3468370"/>
            <a:ext cx="265430"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 name="组合 13"/>
          <p:cNvGrpSpPr/>
          <p:nvPr/>
        </p:nvGrpSpPr>
        <p:grpSpPr>
          <a:xfrm>
            <a:off x="1464310" y="3688715"/>
            <a:ext cx="1045210" cy="1045210"/>
            <a:chOff x="1464310" y="3688715"/>
            <a:chExt cx="1045210" cy="1045210"/>
          </a:xfrm>
        </p:grpSpPr>
        <p:sp>
          <p:nvSpPr>
            <p:cNvPr id="5" name="矩形 4"/>
            <p:cNvSpPr/>
            <p:nvPr/>
          </p:nvSpPr>
          <p:spPr bwMode="auto">
            <a:xfrm>
              <a:off x="1510030" y="3688715"/>
              <a:ext cx="907415" cy="1045210"/>
            </a:xfrm>
            <a:prstGeom prst="rect">
              <a:avLst/>
            </a:prstGeom>
            <a:solidFill>
              <a:schemeClr val="bg1"/>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0" name="矩形 259"/>
            <p:cNvSpPr/>
            <p:nvPr/>
          </p:nvSpPr>
          <p:spPr>
            <a:xfrm>
              <a:off x="1962150" y="3698240"/>
              <a:ext cx="442595" cy="1026160"/>
            </a:xfrm>
            <a:prstGeom prst="rect">
              <a:avLst/>
            </a:prstGeom>
            <a:solidFill>
              <a:srgbClr val="D0CECE"/>
            </a:solidFill>
            <a:ln w="28575" cap="flat"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p:cNvSpPr txBox="1"/>
            <p:nvPr/>
          </p:nvSpPr>
          <p:spPr>
            <a:xfrm>
              <a:off x="1464310" y="3855085"/>
              <a:ext cx="1045210" cy="400110"/>
            </a:xfrm>
            <a:prstGeom prst="rect">
              <a:avLst/>
            </a:prstGeom>
            <a:noFill/>
          </p:spPr>
          <p:txBody>
            <a:bodyPr wrap="square" rtlCol="0">
              <a:spAutoFit/>
            </a:bodyPr>
            <a:lstStyle/>
            <a:p>
              <a:pPr algn="ctr"/>
              <a:r>
                <a:rPr lang="en-US" altLang="zh-CN"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IM</a:t>
              </a:r>
              <a:endPar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cxnSp>
        <p:nvCxnSpPr>
          <p:cNvPr id="12" name="直接箭头连接符 11"/>
          <p:cNvCxnSpPr/>
          <p:nvPr/>
        </p:nvCxnSpPr>
        <p:spPr bwMode="auto">
          <a:xfrm>
            <a:off x="3105442" y="5320964"/>
            <a:ext cx="3276000"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箭头连接符 17"/>
          <p:cNvCxnSpPr>
            <a:endCxn id="33" idx="0"/>
          </p:cNvCxnSpPr>
          <p:nvPr/>
        </p:nvCxnSpPr>
        <p:spPr>
          <a:xfrm>
            <a:off x="5440045" y="1019175"/>
            <a:ext cx="6668" cy="2629535"/>
          </a:xfrm>
          <a:prstGeom prst="straightConnector1">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nvGrpSpPr>
          <p:cNvPr id="197" name="组合 196"/>
          <p:cNvGrpSpPr/>
          <p:nvPr/>
        </p:nvGrpSpPr>
        <p:grpSpPr>
          <a:xfrm rot="10800000">
            <a:off x="5251540" y="1194973"/>
            <a:ext cx="1286869" cy="1063404"/>
            <a:chOff x="4500562" y="590421"/>
            <a:chExt cx="5053015" cy="4076708"/>
          </a:xfrm>
          <a:solidFill>
            <a:srgbClr val="9CDCF9"/>
          </a:solidFill>
        </p:grpSpPr>
        <p:sp>
          <p:nvSpPr>
            <p:cNvPr id="199" name="弧形 198"/>
            <p:cNvSpPr/>
            <p:nvPr/>
          </p:nvSpPr>
          <p:spPr>
            <a:xfrm>
              <a:off x="4500562" y="590429"/>
              <a:ext cx="3190875" cy="4076700"/>
            </a:xfrm>
            <a:prstGeom prst="arc">
              <a:avLst>
                <a:gd name="adj1" fmla="val 17963000"/>
                <a:gd name="adj2" fmla="val 0"/>
              </a:avLst>
            </a:prstGeom>
            <a:grp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202" name="弧形 201"/>
            <p:cNvSpPr/>
            <p:nvPr/>
          </p:nvSpPr>
          <p:spPr>
            <a:xfrm flipH="1">
              <a:off x="6362703" y="590421"/>
              <a:ext cx="3190874" cy="4076700"/>
            </a:xfrm>
            <a:prstGeom prst="arc">
              <a:avLst>
                <a:gd name="adj1" fmla="val 17963000"/>
                <a:gd name="adj2" fmla="val 0"/>
              </a:avLst>
            </a:prstGeom>
            <a:grp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200" name="弧形 199"/>
            <p:cNvSpPr/>
            <p:nvPr/>
          </p:nvSpPr>
          <p:spPr>
            <a:xfrm>
              <a:off x="6564107" y="2419350"/>
              <a:ext cx="1127337" cy="398008"/>
            </a:xfrm>
            <a:prstGeom prst="arc">
              <a:avLst>
                <a:gd name="adj1" fmla="val 14641131"/>
                <a:gd name="adj2" fmla="val 21435582"/>
              </a:avLst>
            </a:prstGeom>
            <a:grp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203" name="弧形 202"/>
            <p:cNvSpPr/>
            <p:nvPr/>
          </p:nvSpPr>
          <p:spPr>
            <a:xfrm flipH="1">
              <a:off x="6368828" y="2419343"/>
              <a:ext cx="1127337" cy="398008"/>
            </a:xfrm>
            <a:prstGeom prst="arc">
              <a:avLst>
                <a:gd name="adj1" fmla="val 14641131"/>
                <a:gd name="adj2" fmla="val 21435582"/>
              </a:avLst>
            </a:prstGeom>
            <a:grp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cxnSp>
        <p:nvCxnSpPr>
          <p:cNvPr id="204" name="直接箭头连接符 203"/>
          <p:cNvCxnSpPr/>
          <p:nvPr/>
        </p:nvCxnSpPr>
        <p:spPr bwMode="auto">
          <a:xfrm>
            <a:off x="9294733" y="910612"/>
            <a:ext cx="3243" cy="1342340"/>
          </a:xfrm>
          <a:prstGeom prst="straightConnector1">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1" name="直接箭头连接符 210"/>
          <p:cNvCxnSpPr/>
          <p:nvPr/>
        </p:nvCxnSpPr>
        <p:spPr>
          <a:xfrm>
            <a:off x="5894815" y="2092473"/>
            <a:ext cx="0" cy="223365"/>
          </a:xfrm>
          <a:prstGeom prst="straightConnector1">
            <a:avLst/>
          </a:prstGeom>
          <a:ln w="2540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bwMode="auto">
          <a:xfrm>
            <a:off x="7257760" y="3699387"/>
            <a:ext cx="0" cy="2837617"/>
          </a:xfrm>
          <a:prstGeom prst="line">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4" name="直接箭头连接符 243"/>
          <p:cNvCxnSpPr/>
          <p:nvPr/>
        </p:nvCxnSpPr>
        <p:spPr bwMode="auto">
          <a:xfrm>
            <a:off x="6778373" y="3921333"/>
            <a:ext cx="254000" cy="0"/>
          </a:xfrm>
          <a:prstGeom prst="straightConnector1">
            <a:avLst/>
          </a:prstGeom>
          <a:noFill/>
          <a:ln w="25400"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5" name="直接连接符 244"/>
          <p:cNvCxnSpPr/>
          <p:nvPr/>
        </p:nvCxnSpPr>
        <p:spPr bwMode="auto">
          <a:xfrm>
            <a:off x="7032373" y="3597787"/>
            <a:ext cx="0" cy="327258"/>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2" name="直接箭头连接符 251"/>
          <p:cNvCxnSpPr/>
          <p:nvPr/>
        </p:nvCxnSpPr>
        <p:spPr bwMode="auto">
          <a:xfrm flipV="1">
            <a:off x="7802615" y="3715052"/>
            <a:ext cx="667287" cy="1"/>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1" name="直接连接符 270"/>
          <p:cNvCxnSpPr/>
          <p:nvPr/>
        </p:nvCxnSpPr>
        <p:spPr bwMode="auto">
          <a:xfrm>
            <a:off x="3617237" y="1317534"/>
            <a:ext cx="0" cy="968658"/>
          </a:xfrm>
          <a:prstGeom prst="line">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3" name="直接连接符 272"/>
          <p:cNvCxnSpPr/>
          <p:nvPr/>
        </p:nvCxnSpPr>
        <p:spPr bwMode="auto">
          <a:xfrm>
            <a:off x="379379" y="1317534"/>
            <a:ext cx="3237858" cy="0"/>
          </a:xfrm>
          <a:prstGeom prst="line">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 name="组合 1"/>
          <p:cNvGrpSpPr/>
          <p:nvPr/>
        </p:nvGrpSpPr>
        <p:grpSpPr>
          <a:xfrm>
            <a:off x="4973955" y="3648710"/>
            <a:ext cx="946150" cy="1061085"/>
            <a:chOff x="4973955" y="3648710"/>
            <a:chExt cx="946150" cy="1061085"/>
          </a:xfrm>
        </p:grpSpPr>
        <p:sp>
          <p:nvSpPr>
            <p:cNvPr id="33" name="矩形 32"/>
            <p:cNvSpPr/>
            <p:nvPr/>
          </p:nvSpPr>
          <p:spPr bwMode="auto">
            <a:xfrm>
              <a:off x="4991100" y="3648710"/>
              <a:ext cx="911225" cy="1061085"/>
            </a:xfrm>
            <a:prstGeom prst="rect">
              <a:avLst/>
            </a:prstGeom>
            <a:solidFill>
              <a:srgbClr val="D0CECE"/>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algn="ctr" fontAlgn="base">
                <a:spcBef>
                  <a:spcPct val="0"/>
                </a:spcBef>
                <a:spcAft>
                  <a:spcPct val="0"/>
                </a:spcAft>
              </a:pPr>
              <a:endParaRPr lang="zh-CN" altLang="en-US" sz="1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 name="文本框 34"/>
            <p:cNvSpPr txBox="1"/>
            <p:nvPr/>
          </p:nvSpPr>
          <p:spPr>
            <a:xfrm>
              <a:off x="4973955" y="4026535"/>
              <a:ext cx="946150" cy="276860"/>
            </a:xfrm>
            <a:prstGeom prst="rect">
              <a:avLst/>
            </a:prstGeom>
            <a:noFill/>
          </p:spPr>
          <p:txBody>
            <a:bodyPr wrap="square" lIns="0" tIns="0" rIns="0" bIns="0" rtlCol="0" anchor="ctr" anchorCtr="1">
              <a:spAutoFit/>
            </a:bodyPr>
            <a:lstStyle/>
            <a:p>
              <a:pPr algn="ctr" fontAlgn="base">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Registers</a:t>
              </a:r>
              <a:endParaRPr lang="zh-CN" altLang="en-US" dirty="0">
                <a:solidFill>
                  <a:srgbClr val="FF0000"/>
                </a:solidFill>
              </a:endParaRPr>
            </a:p>
          </p:txBody>
        </p:sp>
      </p:grpSp>
      <p:cxnSp>
        <p:nvCxnSpPr>
          <p:cNvPr id="213" name="直接箭头连接符 212"/>
          <p:cNvCxnSpPr/>
          <p:nvPr/>
        </p:nvCxnSpPr>
        <p:spPr bwMode="auto">
          <a:xfrm>
            <a:off x="6787153" y="5679537"/>
            <a:ext cx="832373" cy="7646"/>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7" name="矩形: 圆角 246"/>
          <p:cNvSpPr/>
          <p:nvPr/>
        </p:nvSpPr>
        <p:spPr>
          <a:xfrm>
            <a:off x="7641982" y="5534323"/>
            <a:ext cx="1178899" cy="513736"/>
          </a:xfrm>
          <a:prstGeom prst="round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250" name="文本框 249"/>
          <p:cNvSpPr txBox="1"/>
          <p:nvPr/>
        </p:nvSpPr>
        <p:spPr>
          <a:xfrm>
            <a:off x="7505209" y="5519056"/>
            <a:ext cx="1463788" cy="553998"/>
          </a:xfrm>
          <a:prstGeom prst="rect">
            <a:avLst/>
          </a:prstGeom>
          <a:noFill/>
        </p:spPr>
        <p:txBody>
          <a:bodyPr wrap="square" rtlCol="0">
            <a:spAutoFit/>
          </a:bodyPr>
          <a:lstStyle/>
          <a:p>
            <a:pPr algn="ctr">
              <a:lnSpc>
                <a:spcPts val="1800"/>
              </a:lnSpc>
            </a:pPr>
            <a:r>
              <a:rPr lang="en-US" altLang="zh-CN" b="1" dirty="0">
                <a:solidFill>
                  <a:srgbClr val="00B0F0"/>
                </a:solidFill>
                <a:latin typeface="Times New Roman" panose="02020603050405020304" pitchFamily="18" charset="0"/>
                <a:cs typeface="Times New Roman" panose="02020603050405020304" pitchFamily="18" charset="0"/>
              </a:rPr>
              <a:t>Forwarding</a:t>
            </a:r>
          </a:p>
          <a:p>
            <a:pPr algn="ctr">
              <a:lnSpc>
                <a:spcPts val="1800"/>
              </a:lnSpc>
            </a:pPr>
            <a:r>
              <a:rPr lang="en-US" altLang="zh-CN" b="1" dirty="0">
                <a:solidFill>
                  <a:srgbClr val="00B0F0"/>
                </a:solidFill>
                <a:latin typeface="Times New Roman" panose="02020603050405020304" pitchFamily="18" charset="0"/>
                <a:cs typeface="Times New Roman" panose="02020603050405020304" pitchFamily="18" charset="0"/>
              </a:rPr>
              <a:t>unit</a:t>
            </a:r>
            <a:endParaRPr lang="zh-CN" altLang="en-US" b="1" dirty="0">
              <a:solidFill>
                <a:srgbClr val="00B0F0"/>
              </a:solidFill>
              <a:latin typeface="Times New Roman" panose="02020603050405020304" pitchFamily="18" charset="0"/>
              <a:cs typeface="Times New Roman" panose="02020603050405020304" pitchFamily="18" charset="0"/>
            </a:endParaRPr>
          </a:p>
        </p:txBody>
      </p:sp>
      <p:cxnSp>
        <p:nvCxnSpPr>
          <p:cNvPr id="253" name="直接箭头连接符 252"/>
          <p:cNvCxnSpPr/>
          <p:nvPr/>
        </p:nvCxnSpPr>
        <p:spPr bwMode="auto">
          <a:xfrm>
            <a:off x="6787153" y="5950851"/>
            <a:ext cx="841268"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0" name="文本框 279"/>
          <p:cNvSpPr txBox="1"/>
          <p:nvPr/>
        </p:nvSpPr>
        <p:spPr>
          <a:xfrm>
            <a:off x="80843" y="1479818"/>
            <a:ext cx="1055097" cy="400110"/>
          </a:xfrm>
          <a:prstGeom prst="rect">
            <a:avLst/>
          </a:prstGeom>
          <a:noFill/>
        </p:spPr>
        <p:txBody>
          <a:bodyPr wrap="none" rtlCol="0">
            <a:spAutoFit/>
          </a:bodyPr>
          <a:lstStyle/>
          <a:p>
            <a:r>
              <a:rPr lang="en-GB" altLang="zh-CN" sz="2000" b="1" dirty="0" err="1">
                <a:solidFill>
                  <a:schemeClr val="accent5"/>
                </a:solidFill>
              </a:rPr>
              <a:t>IF.Flush</a:t>
            </a:r>
            <a:endParaRPr lang="zh-CN" altLang="en-US" sz="2000" b="1" dirty="0">
              <a:solidFill>
                <a:schemeClr val="accent5"/>
              </a:solidFill>
            </a:endParaRPr>
          </a:p>
        </p:txBody>
      </p:sp>
      <p:sp>
        <p:nvSpPr>
          <p:cNvPr id="282" name="文本框 281"/>
          <p:cNvSpPr txBox="1"/>
          <p:nvPr/>
        </p:nvSpPr>
        <p:spPr>
          <a:xfrm>
            <a:off x="4321318" y="2175948"/>
            <a:ext cx="1103187" cy="400110"/>
          </a:xfrm>
          <a:prstGeom prst="rect">
            <a:avLst/>
          </a:prstGeom>
          <a:noFill/>
        </p:spPr>
        <p:txBody>
          <a:bodyPr wrap="none" rtlCol="0">
            <a:spAutoFit/>
          </a:bodyPr>
          <a:lstStyle/>
          <a:p>
            <a:r>
              <a:rPr lang="en-GB" altLang="zh-CN" sz="2000" b="1" dirty="0" err="1">
                <a:solidFill>
                  <a:schemeClr val="accent5"/>
                </a:solidFill>
              </a:rPr>
              <a:t>lD.Flush</a:t>
            </a:r>
            <a:endParaRPr lang="zh-CN" altLang="en-US" sz="2000" b="1" dirty="0">
              <a:solidFill>
                <a:schemeClr val="accent5"/>
              </a:solidFill>
            </a:endParaRPr>
          </a:p>
        </p:txBody>
      </p:sp>
      <p:sp>
        <p:nvSpPr>
          <p:cNvPr id="283" name="文本框 282"/>
          <p:cNvSpPr txBox="1"/>
          <p:nvPr/>
        </p:nvSpPr>
        <p:spPr>
          <a:xfrm>
            <a:off x="7107948" y="566523"/>
            <a:ext cx="1143262" cy="400110"/>
          </a:xfrm>
          <a:prstGeom prst="rect">
            <a:avLst/>
          </a:prstGeom>
          <a:noFill/>
        </p:spPr>
        <p:txBody>
          <a:bodyPr wrap="none" rtlCol="0">
            <a:spAutoFit/>
          </a:bodyPr>
          <a:lstStyle/>
          <a:p>
            <a:r>
              <a:rPr lang="en-GB" altLang="zh-CN" sz="2000" b="1" dirty="0" err="1">
                <a:solidFill>
                  <a:schemeClr val="accent5"/>
                </a:solidFill>
              </a:rPr>
              <a:t>EX.Flush</a:t>
            </a:r>
            <a:endParaRPr lang="zh-CN" altLang="en-US" sz="2000" b="1" dirty="0">
              <a:solidFill>
                <a:schemeClr val="accent5"/>
              </a:solidFill>
            </a:endParaRPr>
          </a:p>
        </p:txBody>
      </p:sp>
      <p:cxnSp>
        <p:nvCxnSpPr>
          <p:cNvPr id="284" name="直接连接符 283"/>
          <p:cNvCxnSpPr/>
          <p:nvPr/>
        </p:nvCxnSpPr>
        <p:spPr bwMode="auto">
          <a:xfrm>
            <a:off x="3100241" y="1785286"/>
            <a:ext cx="716456" cy="0"/>
          </a:xfrm>
          <a:prstGeom prst="line">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 name="直接箭头连接符 285"/>
          <p:cNvCxnSpPr/>
          <p:nvPr/>
        </p:nvCxnSpPr>
        <p:spPr bwMode="auto">
          <a:xfrm>
            <a:off x="5057172" y="1617551"/>
            <a:ext cx="893926" cy="0"/>
          </a:xfrm>
          <a:prstGeom prst="straightConnector1">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7" name="直接箭头连接符 286"/>
          <p:cNvCxnSpPr/>
          <p:nvPr/>
        </p:nvCxnSpPr>
        <p:spPr bwMode="auto">
          <a:xfrm>
            <a:off x="5954309" y="1605460"/>
            <a:ext cx="0" cy="175843"/>
          </a:xfrm>
          <a:prstGeom prst="straightConnector1">
            <a:avLst/>
          </a:prstGeom>
          <a:noFill/>
          <a:ln w="25400" cap="flat" cmpd="sng" algn="ctr">
            <a:solidFill>
              <a:srgbClr val="00B0F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1" name="直接箭头连接符 290"/>
          <p:cNvCxnSpPr/>
          <p:nvPr/>
        </p:nvCxnSpPr>
        <p:spPr bwMode="auto">
          <a:xfrm>
            <a:off x="4164611" y="2483150"/>
            <a:ext cx="1044893" cy="0"/>
          </a:xfrm>
          <a:prstGeom prst="straightConnector1">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 name="直接箭头连接符 294"/>
          <p:cNvCxnSpPr/>
          <p:nvPr/>
        </p:nvCxnSpPr>
        <p:spPr bwMode="auto">
          <a:xfrm>
            <a:off x="5854462" y="1677482"/>
            <a:ext cx="0" cy="130097"/>
          </a:xfrm>
          <a:prstGeom prst="straightConnector1">
            <a:avLst/>
          </a:prstGeom>
          <a:noFill/>
          <a:ln w="25400" cap="flat" cmpd="sng" algn="ctr">
            <a:solidFill>
              <a:srgbClr val="00B0F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 name="直接箭头连接符 295"/>
          <p:cNvCxnSpPr/>
          <p:nvPr/>
        </p:nvCxnSpPr>
        <p:spPr bwMode="auto">
          <a:xfrm>
            <a:off x="5209504" y="1685869"/>
            <a:ext cx="641748" cy="0"/>
          </a:xfrm>
          <a:prstGeom prst="straightConnector1">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8" name="直接箭头连接符 297"/>
          <p:cNvCxnSpPr/>
          <p:nvPr/>
        </p:nvCxnSpPr>
        <p:spPr bwMode="auto">
          <a:xfrm>
            <a:off x="5209504" y="1677482"/>
            <a:ext cx="0" cy="805668"/>
          </a:xfrm>
          <a:prstGeom prst="straightConnector1">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08" name="组合 307"/>
          <p:cNvGrpSpPr/>
          <p:nvPr/>
        </p:nvGrpSpPr>
        <p:grpSpPr>
          <a:xfrm>
            <a:off x="3301578" y="2262069"/>
            <a:ext cx="912594" cy="831696"/>
            <a:chOff x="3754414" y="1097758"/>
            <a:chExt cx="1041577" cy="1102503"/>
          </a:xfrm>
          <a:noFill/>
        </p:grpSpPr>
        <p:sp>
          <p:nvSpPr>
            <p:cNvPr id="309" name="椭圆 308"/>
            <p:cNvSpPr/>
            <p:nvPr/>
          </p:nvSpPr>
          <p:spPr>
            <a:xfrm>
              <a:off x="3754414" y="1097758"/>
              <a:ext cx="1014572" cy="1102503"/>
            </a:xfrm>
            <a:prstGeom prst="ellipse">
              <a:avLst/>
            </a:prstGeom>
            <a:solidFill>
              <a:srgbClr val="CCEDFC"/>
            </a:solid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B0F0"/>
                </a:solidFill>
              </a:endParaRPr>
            </a:p>
          </p:txBody>
        </p:sp>
        <p:sp>
          <p:nvSpPr>
            <p:cNvPr id="313" name="文本框 312"/>
            <p:cNvSpPr txBox="1"/>
            <p:nvPr/>
          </p:nvSpPr>
          <p:spPr>
            <a:xfrm>
              <a:off x="3800489" y="1404317"/>
              <a:ext cx="995502" cy="469190"/>
            </a:xfrm>
            <a:prstGeom prst="rect">
              <a:avLst/>
            </a:prstGeom>
            <a:grpFill/>
          </p:spPr>
          <p:txBody>
            <a:bodyPr wrap="square" lIns="0" rIns="0" bIns="0" rtlCol="0">
              <a:spAutoFit/>
            </a:bodyPr>
            <a:lstStyle/>
            <a:p>
              <a:r>
                <a:rPr lang="en-US" altLang="zh-CN" sz="2000" b="1" dirty="0">
                  <a:solidFill>
                    <a:srgbClr val="00B0F0"/>
                  </a:solidFill>
                  <a:latin typeface="Times New Roman" panose="02020603050405020304" pitchFamily="18" charset="0"/>
                  <a:cs typeface="Times New Roman" panose="02020603050405020304" pitchFamily="18" charset="0"/>
                </a:rPr>
                <a:t>Control</a:t>
              </a:r>
              <a:endParaRPr lang="zh-CN" altLang="en-US" sz="1200" b="1" dirty="0">
                <a:solidFill>
                  <a:srgbClr val="00B0F0"/>
                </a:solidFill>
                <a:latin typeface="Times New Roman" panose="02020603050405020304" pitchFamily="18" charset="0"/>
                <a:cs typeface="Times New Roman" panose="02020603050405020304" pitchFamily="18" charset="0"/>
              </a:endParaRPr>
            </a:p>
          </p:txBody>
        </p:sp>
      </p:grpSp>
      <p:sp>
        <p:nvSpPr>
          <p:cNvPr id="315" name="矩形: 圆角 314"/>
          <p:cNvSpPr/>
          <p:nvPr/>
        </p:nvSpPr>
        <p:spPr>
          <a:xfrm>
            <a:off x="3855779" y="1376533"/>
            <a:ext cx="1189253" cy="824385"/>
          </a:xfrm>
          <a:prstGeom prst="round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6" name="文本框 315"/>
          <p:cNvSpPr txBox="1"/>
          <p:nvPr/>
        </p:nvSpPr>
        <p:spPr>
          <a:xfrm>
            <a:off x="3816699" y="1471263"/>
            <a:ext cx="1284914" cy="681405"/>
          </a:xfrm>
          <a:prstGeom prst="rect">
            <a:avLst/>
          </a:prstGeom>
          <a:noFill/>
          <a:ln>
            <a:noFill/>
          </a:ln>
        </p:spPr>
        <p:txBody>
          <a:bodyPr wrap="square" rtlCol="0">
            <a:spAutoFit/>
          </a:bodyPr>
          <a:lstStyle/>
          <a:p>
            <a:pPr algn="ctr" fontAlgn="base">
              <a:lnSpc>
                <a:spcPts val="1500"/>
              </a:lnSpc>
              <a:spcBef>
                <a:spcPct val="0"/>
              </a:spcBef>
              <a:spcAft>
                <a:spcPct val="0"/>
              </a:spcAft>
              <a:defRPr/>
            </a:pPr>
            <a:r>
              <a:rPr lang="en-US" altLang="zh-CN"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Hazard detection</a:t>
            </a:r>
            <a:r>
              <a:rPr lang="zh-CN" altLang="en-US"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unit</a:t>
            </a:r>
            <a:endParaRPr lang="zh-CN" altLang="en-US"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88" name="矩形 287"/>
          <p:cNvSpPr/>
          <p:nvPr/>
        </p:nvSpPr>
        <p:spPr>
          <a:xfrm>
            <a:off x="530139" y="253467"/>
            <a:ext cx="2059058" cy="398780"/>
          </a:xfrm>
          <a:prstGeom prst="rect">
            <a:avLst/>
          </a:prstGeom>
          <a:ln w="25400">
            <a:noFill/>
          </a:ln>
        </p:spPr>
        <p:txBody>
          <a:bodyPr wrap="square">
            <a:spAutoFit/>
          </a:bodyPr>
          <a:lstStyle/>
          <a:p>
            <a:pPr lvl="0" algn="ctr">
              <a:defRPr/>
            </a:pPr>
            <a:r>
              <a:rPr lang="en-US" altLang="en-GB" sz="2000" b="1" dirty="0">
                <a:latin typeface="Times New Roman" panose="02020603050405020304" pitchFamily="18" charset="0"/>
                <a:cs typeface="Times New Roman" panose="02020603050405020304" pitchFamily="18" charset="0"/>
              </a:rPr>
              <a:t>l</a:t>
            </a:r>
            <a:r>
              <a:rPr lang="en-GB" altLang="zh-CN" sz="2000" b="1" dirty="0">
                <a:latin typeface="Times New Roman" panose="02020603050405020304" pitchFamily="18" charset="0"/>
                <a:cs typeface="Times New Roman" panose="02020603050405020304" pitchFamily="18" charset="0"/>
              </a:rPr>
              <a:t>d x16, 100(x7)</a:t>
            </a:r>
            <a:endParaRPr lang="zh-CN" altLang="en-US" sz="2000" b="1" dirty="0">
              <a:latin typeface="Times New Roman" panose="02020603050405020304" pitchFamily="18" charset="0"/>
              <a:cs typeface="Times New Roman" panose="02020603050405020304" pitchFamily="18" charset="0"/>
            </a:endParaRPr>
          </a:p>
        </p:txBody>
      </p:sp>
      <p:sp>
        <p:nvSpPr>
          <p:cNvPr id="290" name="矩形 289"/>
          <p:cNvSpPr/>
          <p:nvPr/>
        </p:nvSpPr>
        <p:spPr>
          <a:xfrm>
            <a:off x="2969191" y="212257"/>
            <a:ext cx="1852023" cy="400110"/>
          </a:xfrm>
          <a:prstGeom prst="rect">
            <a:avLst/>
          </a:prstGeom>
          <a:ln w="25400">
            <a:noFill/>
          </a:ln>
        </p:spPr>
        <p:txBody>
          <a:bodyPr wrap="square">
            <a:spAutoFit/>
          </a:bodyPr>
          <a:lstStyle/>
          <a:p>
            <a:pPr lvl="0" algn="ctr">
              <a:defRPr/>
            </a:pPr>
            <a:r>
              <a:rPr lang="en-GB" altLang="zh-CN" sz="2000" b="1" dirty="0">
                <a:latin typeface="Times New Roman" panose="02020603050405020304" pitchFamily="18" charset="0"/>
                <a:cs typeface="Times New Roman" panose="02020603050405020304" pitchFamily="18" charset="0"/>
              </a:rPr>
              <a:t>sub x15, x6, x7</a:t>
            </a:r>
            <a:endParaRPr lang="zh-CN" altLang="en-US" sz="2000" b="1" dirty="0">
              <a:latin typeface="Times New Roman" panose="02020603050405020304" pitchFamily="18" charset="0"/>
              <a:cs typeface="Times New Roman" panose="02020603050405020304" pitchFamily="18" charset="0"/>
            </a:endParaRPr>
          </a:p>
        </p:txBody>
      </p:sp>
      <p:sp>
        <p:nvSpPr>
          <p:cNvPr id="294" name="矩形 293"/>
          <p:cNvSpPr/>
          <p:nvPr/>
        </p:nvSpPr>
        <p:spPr>
          <a:xfrm>
            <a:off x="9077663" y="180630"/>
            <a:ext cx="1673559" cy="400110"/>
          </a:xfrm>
          <a:prstGeom prst="rect">
            <a:avLst/>
          </a:prstGeom>
          <a:ln w="25400">
            <a:noFill/>
          </a:ln>
        </p:spPr>
        <p:txBody>
          <a:bodyPr wrap="square">
            <a:spAutoFit/>
          </a:bodyPr>
          <a:lstStyle/>
          <a:p>
            <a:pPr lvl="0" algn="ctr">
              <a:defRPr/>
            </a:pPr>
            <a:r>
              <a:rPr lang="en-GB" altLang="zh-CN" sz="2000" b="1" dirty="0">
                <a:latin typeface="Times New Roman" panose="02020603050405020304" pitchFamily="18" charset="0"/>
                <a:cs typeface="Times New Roman" panose="02020603050405020304" pitchFamily="18" charset="0"/>
              </a:rPr>
              <a:t>or x13, …</a:t>
            </a:r>
            <a:endParaRPr lang="zh-CN" altLang="en-US" sz="2000" b="1" dirty="0">
              <a:latin typeface="Times New Roman" panose="02020603050405020304" pitchFamily="18" charset="0"/>
              <a:cs typeface="Times New Roman" panose="02020603050405020304" pitchFamily="18" charset="0"/>
            </a:endParaRPr>
          </a:p>
        </p:txBody>
      </p:sp>
      <p:sp>
        <p:nvSpPr>
          <p:cNvPr id="300" name="矩形 299"/>
          <p:cNvSpPr/>
          <p:nvPr/>
        </p:nvSpPr>
        <p:spPr>
          <a:xfrm>
            <a:off x="10607108" y="206793"/>
            <a:ext cx="1673559" cy="400110"/>
          </a:xfrm>
          <a:prstGeom prst="rect">
            <a:avLst/>
          </a:prstGeom>
          <a:ln w="25400">
            <a:noFill/>
          </a:ln>
        </p:spPr>
        <p:txBody>
          <a:bodyPr wrap="square">
            <a:spAutoFit/>
          </a:bodyPr>
          <a:lstStyle/>
          <a:p>
            <a:pPr lvl="0" algn="ctr">
              <a:defRPr/>
            </a:pPr>
            <a:r>
              <a:rPr lang="en-GB" altLang="zh-CN" sz="2000" b="1" dirty="0">
                <a:latin typeface="Times New Roman" panose="02020603050405020304" pitchFamily="18" charset="0"/>
                <a:cs typeface="Times New Roman" panose="02020603050405020304" pitchFamily="18" charset="0"/>
              </a:rPr>
              <a:t>and x12, …</a:t>
            </a:r>
            <a:endParaRPr lang="zh-CN" altLang="en-US" sz="2000" b="1" dirty="0">
              <a:latin typeface="Times New Roman" panose="02020603050405020304" pitchFamily="18" charset="0"/>
              <a:cs typeface="Times New Roman" panose="02020603050405020304" pitchFamily="18" charset="0"/>
            </a:endParaRPr>
          </a:p>
        </p:txBody>
      </p:sp>
      <p:sp>
        <p:nvSpPr>
          <p:cNvPr id="305" name="矩形 304"/>
          <p:cNvSpPr/>
          <p:nvPr/>
        </p:nvSpPr>
        <p:spPr>
          <a:xfrm>
            <a:off x="6685030" y="228312"/>
            <a:ext cx="1673559" cy="400110"/>
          </a:xfrm>
          <a:prstGeom prst="rect">
            <a:avLst/>
          </a:prstGeom>
          <a:ln w="25400">
            <a:noFill/>
          </a:ln>
        </p:spPr>
        <p:txBody>
          <a:bodyPr wrap="square">
            <a:spAutoFit/>
          </a:bodyPr>
          <a:lstStyle/>
          <a:p>
            <a:pPr lvl="0" algn="ctr">
              <a:defRPr/>
            </a:pPr>
            <a:r>
              <a:rPr lang="en-GB" altLang="zh-CN" sz="2000" b="1" dirty="0">
                <a:latin typeface="Times New Roman" panose="02020603050405020304" pitchFamily="18" charset="0"/>
                <a:cs typeface="Times New Roman" panose="02020603050405020304" pitchFamily="18" charset="0"/>
              </a:rPr>
              <a:t>add x1, x2, x1</a:t>
            </a:r>
            <a:endParaRPr lang="zh-CN" altLang="en-US" sz="2000" b="1" dirty="0">
              <a:latin typeface="Times New Roman" panose="02020603050405020304" pitchFamily="18" charset="0"/>
              <a:cs typeface="Times New Roman" panose="02020603050405020304" pitchFamily="18" charset="0"/>
            </a:endParaRPr>
          </a:p>
        </p:txBody>
      </p:sp>
      <p:sp>
        <p:nvSpPr>
          <p:cNvPr id="317" name="文本框 316"/>
          <p:cNvSpPr txBox="1"/>
          <p:nvPr/>
        </p:nvSpPr>
        <p:spPr>
          <a:xfrm>
            <a:off x="1356273" y="3170243"/>
            <a:ext cx="312906" cy="400110"/>
          </a:xfrm>
          <a:prstGeom prst="rect">
            <a:avLst/>
          </a:prstGeom>
          <a:noFill/>
        </p:spPr>
        <p:txBody>
          <a:bodyPr wrap="none" rtlCol="0">
            <a:spAutoFit/>
          </a:bodyPr>
          <a:lstStyle/>
          <a:p>
            <a:r>
              <a:rPr lang="en-GB" altLang="zh-CN" sz="2000" b="1" dirty="0">
                <a:latin typeface="Times New Roman" panose="02020603050405020304" pitchFamily="18" charset="0"/>
                <a:cs typeface="Times New Roman" panose="02020603050405020304" pitchFamily="18" charset="0"/>
              </a:rPr>
              <a:t>4</a:t>
            </a:r>
            <a:endParaRPr lang="zh-CN" altLang="en-US" sz="2000" b="1" dirty="0">
              <a:latin typeface="Times New Roman" panose="02020603050405020304" pitchFamily="18" charset="0"/>
              <a:cs typeface="Times New Roman" panose="02020603050405020304" pitchFamily="18" charset="0"/>
            </a:endParaRPr>
          </a:p>
        </p:txBody>
      </p:sp>
      <p:cxnSp>
        <p:nvCxnSpPr>
          <p:cNvPr id="261" name="直接箭头连接符 260"/>
          <p:cNvCxnSpPr/>
          <p:nvPr/>
        </p:nvCxnSpPr>
        <p:spPr bwMode="auto">
          <a:xfrm flipV="1">
            <a:off x="10437569" y="4025329"/>
            <a:ext cx="148518" cy="1"/>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4" name="直接连接符 263"/>
          <p:cNvCxnSpPr>
            <a:stCxn id="329" idx="3"/>
          </p:cNvCxnSpPr>
          <p:nvPr/>
        </p:nvCxnSpPr>
        <p:spPr bwMode="auto">
          <a:xfrm>
            <a:off x="10951796" y="2921233"/>
            <a:ext cx="238338" cy="0"/>
          </a:xfrm>
          <a:prstGeom prst="line">
            <a:avLst/>
          </a:prstGeom>
          <a:noFill/>
          <a:ln w="25400" cap="flat" cmpd="sng" algn="ctr">
            <a:solidFill>
              <a:srgbClr val="00B0F0"/>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7" name="直接连接符 159"/>
          <p:cNvCxnSpPr>
            <a:cxnSpLocks/>
            <a:endCxn id="329" idx="1"/>
          </p:cNvCxnSpPr>
          <p:nvPr/>
        </p:nvCxnSpPr>
        <p:spPr bwMode="auto">
          <a:xfrm>
            <a:off x="9429919" y="2792104"/>
            <a:ext cx="1161877" cy="129129"/>
          </a:xfrm>
          <a:prstGeom prst="bentConnector3">
            <a:avLst>
              <a:gd name="adj1" fmla="val 50000"/>
            </a:avLst>
          </a:prstGeom>
          <a:noFill/>
          <a:ln w="25400" cap="flat" cmpd="sng" algn="ctr">
            <a:solidFill>
              <a:srgbClr val="00B0F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7" name="矩形 326"/>
          <p:cNvSpPr/>
          <p:nvPr/>
        </p:nvSpPr>
        <p:spPr bwMode="auto">
          <a:xfrm>
            <a:off x="10591796" y="3091442"/>
            <a:ext cx="360000" cy="2730378"/>
          </a:xfrm>
          <a:prstGeom prst="rect">
            <a:avLst/>
          </a:prstGeom>
          <a:solidFill>
            <a:srgbClr val="D0CECE"/>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29" name="矩形 328"/>
          <p:cNvSpPr/>
          <p:nvPr/>
        </p:nvSpPr>
        <p:spPr>
          <a:xfrm>
            <a:off x="10591796" y="2751956"/>
            <a:ext cx="360000" cy="338554"/>
          </a:xfrm>
          <a:prstGeom prst="rect">
            <a:avLst/>
          </a:prstGeom>
          <a:solidFill>
            <a:srgbClr val="9CDCF9"/>
          </a:solidFill>
          <a:ln w="25400">
            <a:solidFill>
              <a:srgbClr val="00B0F0"/>
            </a:solidFill>
          </a:ln>
        </p:spPr>
        <p:txBody>
          <a:bodyPr wrap="square" lIns="0" rIns="0">
            <a:spAutoFit/>
          </a:bodyPr>
          <a:lstStyle/>
          <a:p>
            <a:pPr algn="ctr" fontAlgn="base">
              <a:spcBef>
                <a:spcPct val="0"/>
              </a:spcBef>
              <a:spcAft>
                <a:spcPct val="0"/>
              </a:spcAft>
            </a:pPr>
            <a:r>
              <a:rPr lang="en-GB"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a:t>
            </a: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B</a:t>
            </a:r>
            <a:endParaRPr lang="zh-CN" altLang="en-US"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30" name="直接连接符 329"/>
          <p:cNvCxnSpPr/>
          <p:nvPr/>
        </p:nvCxnSpPr>
        <p:spPr bwMode="auto">
          <a:xfrm>
            <a:off x="9423791" y="5334265"/>
            <a:ext cx="1153873"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1" name="直接箭头连接符 330"/>
          <p:cNvCxnSpPr/>
          <p:nvPr/>
        </p:nvCxnSpPr>
        <p:spPr bwMode="auto">
          <a:xfrm>
            <a:off x="9643358" y="5107783"/>
            <a:ext cx="934306" cy="0"/>
          </a:xfrm>
          <a:prstGeom prst="straightConnector1">
            <a:avLst/>
          </a:prstGeom>
          <a:noFill/>
          <a:ln w="25400" cap="flat" cmpd="sng" algn="ctr">
            <a:solidFill>
              <a:schemeClr val="tx1"/>
            </a:solidFill>
            <a:prstDash val="solid"/>
            <a:round/>
            <a:headEnd type="oval"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2" name="直接箭头连接符 385"/>
          <p:cNvCxnSpPr/>
          <p:nvPr/>
        </p:nvCxnSpPr>
        <p:spPr bwMode="auto">
          <a:xfrm rot="5400000">
            <a:off x="7786111" y="3839367"/>
            <a:ext cx="2995365" cy="900837"/>
          </a:xfrm>
          <a:prstGeom prst="bentConnector3">
            <a:avLst>
              <a:gd name="adj1" fmla="val 100088"/>
            </a:avLst>
          </a:prstGeom>
          <a:noFill/>
          <a:ln w="25400" cap="flat" cmpd="sng" algn="ctr">
            <a:solidFill>
              <a:srgbClr val="00B0F0"/>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3" name="直接连接符 332"/>
          <p:cNvCxnSpPr/>
          <p:nvPr/>
        </p:nvCxnSpPr>
        <p:spPr bwMode="auto">
          <a:xfrm>
            <a:off x="8827497" y="5641129"/>
            <a:ext cx="738669" cy="0"/>
          </a:xfrm>
          <a:prstGeom prst="line">
            <a:avLst/>
          </a:prstGeom>
          <a:noFill/>
          <a:ln w="25400" cap="flat" cmpd="sng" algn="ctr">
            <a:solidFill>
              <a:schemeClr val="tx1"/>
            </a:solidFill>
            <a:prstDash val="solid"/>
            <a:round/>
            <a:headEnd type="triangl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4" name="直接连接符 333"/>
          <p:cNvCxnSpPr/>
          <p:nvPr/>
        </p:nvCxnSpPr>
        <p:spPr bwMode="auto">
          <a:xfrm>
            <a:off x="8837803" y="5984850"/>
            <a:ext cx="2380867" cy="0"/>
          </a:xfrm>
          <a:prstGeom prst="line">
            <a:avLst/>
          </a:prstGeom>
          <a:noFill/>
          <a:ln w="25400" cap="flat" cmpd="sng" algn="ctr">
            <a:solidFill>
              <a:srgbClr val="00B0F0"/>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5" name="直接连接符 334"/>
          <p:cNvCxnSpPr/>
          <p:nvPr/>
        </p:nvCxnSpPr>
        <p:spPr bwMode="auto">
          <a:xfrm>
            <a:off x="10956796" y="5310159"/>
            <a:ext cx="125371"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6" name="直接连接符 335"/>
          <p:cNvCxnSpPr/>
          <p:nvPr/>
        </p:nvCxnSpPr>
        <p:spPr bwMode="auto">
          <a:xfrm flipV="1">
            <a:off x="8839554" y="5913009"/>
            <a:ext cx="2229020" cy="38"/>
          </a:xfrm>
          <a:prstGeom prst="line">
            <a:avLst/>
          </a:prstGeom>
          <a:noFill/>
          <a:ln w="25400" cap="flat" cmpd="sng" algn="ctr">
            <a:solidFill>
              <a:schemeClr val="tx1"/>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7" name="直接箭头连接符 336"/>
          <p:cNvCxnSpPr/>
          <p:nvPr/>
        </p:nvCxnSpPr>
        <p:spPr bwMode="auto">
          <a:xfrm>
            <a:off x="11068904" y="5306525"/>
            <a:ext cx="1398" cy="603843"/>
          </a:xfrm>
          <a:prstGeom prst="straightConnector1">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8" name="矩形 337"/>
          <p:cNvSpPr/>
          <p:nvPr/>
        </p:nvSpPr>
        <p:spPr bwMode="auto">
          <a:xfrm>
            <a:off x="9859831" y="3626448"/>
            <a:ext cx="583541" cy="1309728"/>
          </a:xfrm>
          <a:prstGeom prst="rect">
            <a:avLst/>
          </a:pr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algn="ctr" fontAlgn="base">
              <a:spcBef>
                <a:spcPct val="0"/>
              </a:spcBef>
              <a:spcAft>
                <a:spcPct val="0"/>
              </a:spcAft>
            </a:pPr>
            <a:endPar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gn="ctr" fontAlgn="base">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DM</a:t>
            </a:r>
          </a:p>
        </p:txBody>
      </p:sp>
      <p:cxnSp>
        <p:nvCxnSpPr>
          <p:cNvPr id="339" name="直接箭头连接符 338"/>
          <p:cNvCxnSpPr/>
          <p:nvPr/>
        </p:nvCxnSpPr>
        <p:spPr bwMode="auto">
          <a:xfrm>
            <a:off x="9414961" y="4004908"/>
            <a:ext cx="451580"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0" name="梯形 43"/>
          <p:cNvSpPr/>
          <p:nvPr/>
        </p:nvSpPr>
        <p:spPr bwMode="auto">
          <a:xfrm rot="5400000">
            <a:off x="8001181" y="3733662"/>
            <a:ext cx="1292857" cy="371529"/>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solidFill>
            <a:srgbClr val="D0CECE"/>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algn="ctr" fontAlgn="base">
              <a:spcBef>
                <a:spcPct val="0"/>
              </a:spcBef>
              <a:spcAft>
                <a:spcPct val="0"/>
              </a:spcAft>
            </a:pPr>
            <a:r>
              <a:rPr lang="en-US" altLang="zh-CN" sz="1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p>
          <a:p>
            <a:pPr algn="ctr" fontAlgn="base">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L</a:t>
            </a:r>
          </a:p>
          <a:p>
            <a:pPr algn="ctr" fontAlgn="base">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U</a:t>
            </a:r>
            <a:endParaRPr lang="zh-CN" altLang="en-US" sz="1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41" name="直接箭头连接符 340"/>
          <p:cNvCxnSpPr/>
          <p:nvPr/>
        </p:nvCxnSpPr>
        <p:spPr bwMode="auto">
          <a:xfrm flipV="1">
            <a:off x="8247115" y="4258146"/>
            <a:ext cx="214730" cy="3005"/>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2" name="直接箭头连接符 341"/>
          <p:cNvCxnSpPr/>
          <p:nvPr/>
        </p:nvCxnSpPr>
        <p:spPr bwMode="auto">
          <a:xfrm>
            <a:off x="8823714" y="3923120"/>
            <a:ext cx="245313"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3" name="直接连接符 342"/>
          <p:cNvCxnSpPr/>
          <p:nvPr/>
        </p:nvCxnSpPr>
        <p:spPr bwMode="auto">
          <a:xfrm flipV="1">
            <a:off x="8247116" y="4281312"/>
            <a:ext cx="0" cy="399043"/>
          </a:xfrm>
          <a:prstGeom prst="line">
            <a:avLst/>
          </a:prstGeom>
          <a:noFill/>
          <a:ln w="25400" cap="flat" cmpd="sng" algn="ctr">
            <a:solidFill>
              <a:schemeClr val="tx1"/>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4" name="直接箭头连接符 343"/>
          <p:cNvCxnSpPr/>
          <p:nvPr/>
        </p:nvCxnSpPr>
        <p:spPr bwMode="auto">
          <a:xfrm flipH="1">
            <a:off x="9640751" y="3991333"/>
            <a:ext cx="1329" cy="2349199"/>
          </a:xfrm>
          <a:prstGeom prst="straightConnector1">
            <a:avLst/>
          </a:prstGeom>
          <a:noFill/>
          <a:ln w="25400" cap="flat" cmpd="sng" algn="ctr">
            <a:solidFill>
              <a:schemeClr val="tx1"/>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5" name="直接连接符 344"/>
          <p:cNvCxnSpPr/>
          <p:nvPr/>
        </p:nvCxnSpPr>
        <p:spPr bwMode="auto">
          <a:xfrm>
            <a:off x="9429014" y="4680191"/>
            <a:ext cx="467651" cy="3938"/>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6" name="直接连接符 345"/>
          <p:cNvCxnSpPr/>
          <p:nvPr/>
        </p:nvCxnSpPr>
        <p:spPr bwMode="auto">
          <a:xfrm>
            <a:off x="11056370" y="4198016"/>
            <a:ext cx="347449"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7" name="直接连接符 346"/>
          <p:cNvCxnSpPr/>
          <p:nvPr/>
        </p:nvCxnSpPr>
        <p:spPr bwMode="auto">
          <a:xfrm>
            <a:off x="10949262" y="3898795"/>
            <a:ext cx="439645"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0" name="直接连接符 349"/>
          <p:cNvCxnSpPr/>
          <p:nvPr/>
        </p:nvCxnSpPr>
        <p:spPr bwMode="auto">
          <a:xfrm>
            <a:off x="11701538" y="4091013"/>
            <a:ext cx="130379"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1" name="直接箭头连接符 350"/>
          <p:cNvCxnSpPr/>
          <p:nvPr/>
        </p:nvCxnSpPr>
        <p:spPr bwMode="auto">
          <a:xfrm flipH="1">
            <a:off x="11823450" y="4095039"/>
            <a:ext cx="8468" cy="2439384"/>
          </a:xfrm>
          <a:prstGeom prst="straightConnector1">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2" name="直接箭头连接符 351"/>
          <p:cNvCxnSpPr/>
          <p:nvPr/>
        </p:nvCxnSpPr>
        <p:spPr bwMode="auto">
          <a:xfrm flipH="1">
            <a:off x="9539351" y="5346001"/>
            <a:ext cx="761" cy="278250"/>
          </a:xfrm>
          <a:prstGeom prst="straightConnector1">
            <a:avLst/>
          </a:prstGeom>
          <a:noFill/>
          <a:ln w="25400" cap="flat" cmpd="sng" algn="ctr">
            <a:solidFill>
              <a:schemeClr val="tx1"/>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54" name="Mux 3"/>
          <p:cNvGrpSpPr/>
          <p:nvPr/>
        </p:nvGrpSpPr>
        <p:grpSpPr>
          <a:xfrm>
            <a:off x="11322443" y="3663382"/>
            <a:ext cx="426720" cy="821232"/>
            <a:chOff x="3480179" y="5448299"/>
            <a:chExt cx="968606" cy="1230515"/>
          </a:xfrm>
          <a:solidFill>
            <a:srgbClr val="A6A6A6"/>
          </a:solidFill>
        </p:grpSpPr>
        <p:sp>
          <p:nvSpPr>
            <p:cNvPr id="355" name="mux"/>
            <p:cNvSpPr/>
            <p:nvPr/>
          </p:nvSpPr>
          <p:spPr>
            <a:xfrm rot="5400000">
              <a:off x="3360535" y="5718809"/>
              <a:ext cx="1230515" cy="689496"/>
            </a:xfrm>
            <a:prstGeom prst="flowChartTerminator">
              <a:avLst/>
            </a:prstGeom>
            <a:solidFill>
              <a:srgbClr val="D0CECE"/>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356" name="文本框 355"/>
            <p:cNvSpPr txBox="1"/>
            <p:nvPr/>
          </p:nvSpPr>
          <p:spPr>
            <a:xfrm>
              <a:off x="3480179" y="5499287"/>
              <a:ext cx="968606" cy="1179527"/>
            </a:xfrm>
            <a:prstGeom prst="rect">
              <a:avLst/>
            </a:prstGeom>
            <a:noFill/>
            <a:ln w="25400">
              <a:noFill/>
            </a:ln>
          </p:spPr>
          <p:txBody>
            <a:bodyPr wrap="none" rtlCol="0">
              <a:spAutoFit/>
            </a:bodyPr>
            <a:lstStyle/>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sp>
        <p:nvSpPr>
          <p:cNvPr id="357" name="矩形 356"/>
          <p:cNvSpPr/>
          <p:nvPr/>
        </p:nvSpPr>
        <p:spPr>
          <a:xfrm>
            <a:off x="8879925" y="2218698"/>
            <a:ext cx="1247500" cy="400110"/>
          </a:xfrm>
          <a:prstGeom prst="rect">
            <a:avLst/>
          </a:prstGeom>
          <a:ln w="25400">
            <a:noFill/>
          </a:ln>
        </p:spPr>
        <p:txBody>
          <a:bodyPr wrap="square">
            <a:spAutoFit/>
          </a:bodyPr>
          <a:lstStyle/>
          <a:p>
            <a:pPr lvl="0" algn="ctr">
              <a:defRPr/>
            </a:pPr>
            <a:r>
              <a:rPr lang="en-US" altLang="zh-CN" b="1" dirty="0">
                <a:solidFill>
                  <a:prstClr val="black"/>
                </a:solidFill>
                <a:latin typeface="Times New Roman" panose="02020603050405020304" pitchFamily="18" charset="0"/>
                <a:cs typeface="Times New Roman" panose="02020603050405020304" pitchFamily="18" charset="0"/>
              </a:rPr>
              <a:t>EX/</a:t>
            </a:r>
            <a:r>
              <a:rPr lang="en-US" altLang="zh-CN" sz="2000" b="1" dirty="0">
                <a:solidFill>
                  <a:prstClr val="black"/>
                </a:solidFill>
                <a:latin typeface="Times New Roman" panose="02020603050405020304" pitchFamily="18" charset="0"/>
                <a:cs typeface="Times New Roman" panose="02020603050405020304" pitchFamily="18" charset="0"/>
              </a:rPr>
              <a:t>MEM</a:t>
            </a:r>
            <a:endParaRPr lang="zh-CN" altLang="en-US" b="1" dirty="0">
              <a:solidFill>
                <a:prstClr val="black"/>
              </a:solidFill>
              <a:latin typeface="Times New Roman" panose="02020603050405020304" pitchFamily="18" charset="0"/>
              <a:cs typeface="Times New Roman" panose="02020603050405020304" pitchFamily="18" charset="0"/>
            </a:endParaRPr>
          </a:p>
        </p:txBody>
      </p:sp>
      <p:sp>
        <p:nvSpPr>
          <p:cNvPr id="359" name="矩形 358"/>
          <p:cNvSpPr/>
          <p:nvPr/>
        </p:nvSpPr>
        <p:spPr>
          <a:xfrm>
            <a:off x="10091286" y="2388425"/>
            <a:ext cx="1312533" cy="400110"/>
          </a:xfrm>
          <a:prstGeom prst="rect">
            <a:avLst/>
          </a:prstGeom>
          <a:ln w="25400">
            <a:noFill/>
          </a:ln>
        </p:spPr>
        <p:txBody>
          <a:bodyPr wrap="square">
            <a:spAutoFit/>
          </a:bodyPr>
          <a:lstStyle/>
          <a:p>
            <a:pPr lvl="0" algn="ctr">
              <a:defRPr/>
            </a:pPr>
            <a:r>
              <a:rPr lang="en-US" altLang="zh-CN" sz="2000" b="1" dirty="0">
                <a:solidFill>
                  <a:prstClr val="black"/>
                </a:solidFill>
                <a:latin typeface="Times New Roman" panose="02020603050405020304" pitchFamily="18" charset="0"/>
                <a:cs typeface="Times New Roman" panose="02020603050405020304" pitchFamily="18" charset="0"/>
              </a:rPr>
              <a:t>MEM</a:t>
            </a:r>
            <a:r>
              <a:rPr lang="en-US" altLang="zh-CN" sz="1200" b="1" dirty="0">
                <a:solidFill>
                  <a:prstClr val="black"/>
                </a:solidFill>
                <a:latin typeface="Times New Roman" panose="02020603050405020304" pitchFamily="18" charset="0"/>
                <a:cs typeface="Times New Roman" panose="02020603050405020304" pitchFamily="18" charset="0"/>
              </a:rPr>
              <a:t>/</a:t>
            </a:r>
            <a:r>
              <a:rPr lang="en-US" altLang="zh-CN" b="1" dirty="0">
                <a:solidFill>
                  <a:prstClr val="black"/>
                </a:solidFill>
                <a:latin typeface="Times New Roman" panose="02020603050405020304" pitchFamily="18" charset="0"/>
                <a:cs typeface="Times New Roman" panose="02020603050405020304" pitchFamily="18" charset="0"/>
              </a:rPr>
              <a:t>WB</a:t>
            </a:r>
            <a:endParaRPr lang="zh-CN" altLang="en-US" b="1" dirty="0">
              <a:solidFill>
                <a:prstClr val="black"/>
              </a:solidFill>
              <a:latin typeface="Times New Roman" panose="02020603050405020304" pitchFamily="18" charset="0"/>
              <a:cs typeface="Times New Roman" panose="02020603050405020304" pitchFamily="18" charset="0"/>
            </a:endParaRPr>
          </a:p>
        </p:txBody>
      </p:sp>
      <p:grpSp>
        <p:nvGrpSpPr>
          <p:cNvPr id="361" name="Mux 3"/>
          <p:cNvGrpSpPr/>
          <p:nvPr/>
        </p:nvGrpSpPr>
        <p:grpSpPr>
          <a:xfrm>
            <a:off x="8226767" y="2141151"/>
            <a:ext cx="426720" cy="814724"/>
            <a:chOff x="3429917" y="5448299"/>
            <a:chExt cx="1097464" cy="1353845"/>
          </a:xfrm>
          <a:noFill/>
        </p:grpSpPr>
        <p:sp>
          <p:nvSpPr>
            <p:cNvPr id="362" name="mux"/>
            <p:cNvSpPr/>
            <p:nvPr/>
          </p:nvSpPr>
          <p:spPr>
            <a:xfrm rot="5400000">
              <a:off x="3360534" y="5718809"/>
              <a:ext cx="1230515" cy="689495"/>
            </a:xfrm>
            <a:prstGeom prst="flowChartTerminator">
              <a:avLst/>
            </a:prstGeom>
            <a:solidFill>
              <a:srgbClr val="CCEDFC"/>
            </a:solidFill>
            <a:ln w="25400">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363" name="文本框 362"/>
            <p:cNvSpPr txBox="1"/>
            <p:nvPr/>
          </p:nvSpPr>
          <p:spPr>
            <a:xfrm>
              <a:off x="3429917" y="5494031"/>
              <a:ext cx="1097464" cy="1308113"/>
            </a:xfrm>
            <a:prstGeom prst="rect">
              <a:avLst/>
            </a:prstGeom>
            <a:grpFill/>
            <a:ln w="25400">
              <a:noFill/>
            </a:ln>
          </p:spPr>
          <p:txBody>
            <a:bodyPr wrap="none" rtlCol="0">
              <a:spAutoFit/>
            </a:bodyPr>
            <a:lstStyle>
              <a:defPPr>
                <a:defRPr lang="zh-CN"/>
              </a:defPPr>
              <a:lvl1pPr algn="ctr">
                <a:lnSpc>
                  <a:spcPts val="1800"/>
                </a:lnSpc>
                <a:defRPr sz="2000" b="1">
                  <a:solidFill>
                    <a:srgbClr val="FF0000"/>
                  </a:solidFill>
                  <a:latin typeface="Times New Roman" panose="02020603050405020304" pitchFamily="18" charset="0"/>
                  <a:cs typeface="Times New Roman" panose="02020603050405020304" pitchFamily="18" charset="0"/>
                </a:defRPr>
              </a:lvl1pPr>
            </a:lstStyle>
            <a:p>
              <a:r>
                <a:rPr lang="en-US" altLang="zh-CN" dirty="0"/>
                <a:t>M</a:t>
              </a:r>
            </a:p>
            <a:p>
              <a:r>
                <a:rPr lang="en-US" altLang="zh-CN" dirty="0"/>
                <a:t>U</a:t>
              </a:r>
            </a:p>
            <a:p>
              <a:r>
                <a:rPr lang="en-US" altLang="zh-CN" dirty="0"/>
                <a:t>X</a:t>
              </a:r>
              <a:endParaRPr lang="zh-CN" altLang="en-US" dirty="0"/>
            </a:p>
          </p:txBody>
        </p:sp>
      </p:grpSp>
      <p:cxnSp>
        <p:nvCxnSpPr>
          <p:cNvPr id="364" name="直接箭头连接符 153"/>
          <p:cNvCxnSpPr/>
          <p:nvPr/>
        </p:nvCxnSpPr>
        <p:spPr bwMode="auto">
          <a:xfrm>
            <a:off x="8602980" y="2264220"/>
            <a:ext cx="691753" cy="0"/>
          </a:xfrm>
          <a:prstGeom prst="straightConnector1">
            <a:avLst/>
          </a:prstGeom>
          <a:noFill/>
          <a:ln w="25400" cap="flat" cmpd="sng" algn="ctr">
            <a:solidFill>
              <a:srgbClr val="00B0F0"/>
            </a:solidFill>
            <a:prstDash val="solid"/>
            <a:round/>
            <a:headEnd type="triangl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5" name="直接箭头连接符 364"/>
          <p:cNvCxnSpPr/>
          <p:nvPr/>
        </p:nvCxnSpPr>
        <p:spPr bwMode="auto">
          <a:xfrm flipV="1">
            <a:off x="8784895" y="2926386"/>
            <a:ext cx="284391" cy="1211"/>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6" name="直接连接符 365"/>
          <p:cNvCxnSpPr/>
          <p:nvPr/>
        </p:nvCxnSpPr>
        <p:spPr>
          <a:xfrm>
            <a:off x="8785719" y="2628000"/>
            <a:ext cx="0" cy="293233"/>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7" name="直接箭头连接符 366"/>
          <p:cNvCxnSpPr/>
          <p:nvPr/>
        </p:nvCxnSpPr>
        <p:spPr bwMode="auto">
          <a:xfrm>
            <a:off x="8564301" y="2632300"/>
            <a:ext cx="221418" cy="3280"/>
          </a:xfrm>
          <a:prstGeom prst="straightConnector1">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9" name="直接箭头连接符 153"/>
          <p:cNvCxnSpPr/>
          <p:nvPr/>
        </p:nvCxnSpPr>
        <p:spPr bwMode="auto">
          <a:xfrm flipV="1">
            <a:off x="6781482" y="2264902"/>
            <a:ext cx="1538154" cy="390649"/>
          </a:xfrm>
          <a:prstGeom prst="bentConnector3">
            <a:avLst>
              <a:gd name="adj1" fmla="val 50000"/>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0" name="文本框 369"/>
          <p:cNvSpPr txBox="1"/>
          <p:nvPr/>
        </p:nvSpPr>
        <p:spPr>
          <a:xfrm>
            <a:off x="7750554" y="2369743"/>
            <a:ext cx="300082" cy="369332"/>
          </a:xfrm>
          <a:prstGeom prst="rect">
            <a:avLst/>
          </a:prstGeom>
          <a:noFill/>
        </p:spPr>
        <p:txBody>
          <a:bodyPr wrap="none" rtlCol="0">
            <a:spAutoFit/>
          </a:bodyPr>
          <a:lstStyle/>
          <a:p>
            <a:r>
              <a:rPr lang="en-US" altLang="zh-CN" b="1" dirty="0">
                <a:solidFill>
                  <a:srgbClr val="00B0F0"/>
                </a:solidFill>
                <a:latin typeface="Times New Roman" panose="02020603050405020304" pitchFamily="18" charset="0"/>
                <a:cs typeface="Times New Roman" panose="02020603050405020304" pitchFamily="18" charset="0"/>
              </a:rPr>
              <a:t>0</a:t>
            </a:r>
            <a:endParaRPr lang="zh-CN" altLang="en-US" b="1" dirty="0">
              <a:solidFill>
                <a:srgbClr val="00B0F0"/>
              </a:solidFill>
              <a:latin typeface="Times New Roman" panose="02020603050405020304" pitchFamily="18" charset="0"/>
              <a:cs typeface="Times New Roman" panose="02020603050405020304" pitchFamily="18" charset="0"/>
            </a:endParaRPr>
          </a:p>
        </p:txBody>
      </p:sp>
      <p:cxnSp>
        <p:nvCxnSpPr>
          <p:cNvPr id="371" name="直接箭头连接符 370"/>
          <p:cNvCxnSpPr/>
          <p:nvPr/>
        </p:nvCxnSpPr>
        <p:spPr bwMode="auto">
          <a:xfrm>
            <a:off x="7983919" y="2537487"/>
            <a:ext cx="308075" cy="1986"/>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72" name="组合 371"/>
          <p:cNvGrpSpPr/>
          <p:nvPr/>
        </p:nvGrpSpPr>
        <p:grpSpPr>
          <a:xfrm>
            <a:off x="7189335" y="2725423"/>
            <a:ext cx="1005905" cy="564028"/>
            <a:chOff x="6964003" y="2765814"/>
            <a:chExt cx="1005905" cy="564028"/>
          </a:xfrm>
          <a:noFill/>
        </p:grpSpPr>
        <p:sp>
          <p:nvSpPr>
            <p:cNvPr id="374" name="文本框 373"/>
            <p:cNvSpPr txBox="1"/>
            <p:nvPr/>
          </p:nvSpPr>
          <p:spPr>
            <a:xfrm>
              <a:off x="6964967" y="2765814"/>
              <a:ext cx="1004941" cy="276999"/>
            </a:xfrm>
            <a:prstGeom prst="rect">
              <a:avLst/>
            </a:prstGeom>
            <a:solidFill>
              <a:srgbClr val="D0CECE"/>
            </a:solidFill>
            <a:ln w="25400">
              <a:solidFill>
                <a:schemeClr val="tx1"/>
              </a:solidFill>
            </a:ln>
          </p:spPr>
          <p:txBody>
            <a:bodyPr wrap="square" lIns="0" tIns="0" rIns="0" bIns="0" rtlCol="0">
              <a:spAutoFit/>
            </a:bodyPr>
            <a:lstStyle/>
            <a:p>
              <a:pPr algn="ctr"/>
              <a:r>
                <a:rPr lang="en-GB" altLang="zh-CN"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SCAUSE</a:t>
              </a:r>
              <a:endParaRPr lang="en-GB" altLang="zh-CN" sz="11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75" name="文本框 374"/>
            <p:cNvSpPr txBox="1"/>
            <p:nvPr/>
          </p:nvSpPr>
          <p:spPr>
            <a:xfrm>
              <a:off x="6964003" y="3052843"/>
              <a:ext cx="1001051" cy="276999"/>
            </a:xfrm>
            <a:prstGeom prst="rect">
              <a:avLst/>
            </a:prstGeom>
            <a:solidFill>
              <a:srgbClr val="D0CECE"/>
            </a:solidFill>
            <a:ln w="25400">
              <a:solidFill>
                <a:schemeClr val="tx1"/>
              </a:solidFill>
            </a:ln>
          </p:spPr>
          <p:txBody>
            <a:bodyPr wrap="square" lIns="0" tIns="0" rIns="0" bIns="0" rtlCol="0">
              <a:spAutoFit/>
            </a:bodyPr>
            <a:lstStyle/>
            <a:p>
              <a:pPr algn="ctr"/>
              <a:r>
                <a:rPr lang="en-GB" altLang="zh-CN"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SEPC</a:t>
              </a:r>
              <a:endParaRPr lang="zh-CN" altLang="en-US" sz="105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grpSp>
      <p:cxnSp>
        <p:nvCxnSpPr>
          <p:cNvPr id="377" name="直接连接符 376"/>
          <p:cNvCxnSpPr/>
          <p:nvPr/>
        </p:nvCxnSpPr>
        <p:spPr bwMode="auto">
          <a:xfrm flipH="1" flipV="1">
            <a:off x="6783705" y="3149600"/>
            <a:ext cx="419735" cy="8890"/>
          </a:xfrm>
          <a:prstGeom prst="line">
            <a:avLst/>
          </a:prstGeom>
          <a:noFill/>
          <a:ln w="25400" cap="flat" cmpd="sng" algn="ctr">
            <a:solidFill>
              <a:schemeClr val="tx1"/>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1" name="文本框 380"/>
          <p:cNvSpPr txBox="1"/>
          <p:nvPr/>
        </p:nvSpPr>
        <p:spPr>
          <a:xfrm>
            <a:off x="1880742" y="2810174"/>
            <a:ext cx="415498" cy="369332"/>
          </a:xfrm>
          <a:prstGeom prst="rect">
            <a:avLst/>
          </a:prstGeom>
          <a:noFill/>
        </p:spPr>
        <p:txBody>
          <a:bodyPr wrap="none" rtlCol="0">
            <a:spAutoFit/>
          </a:bodyPr>
          <a:lstStyle/>
          <a:p>
            <a:r>
              <a:rPr lang="en-GB" altLang="zh-CN" b="1" dirty="0">
                <a:latin typeface="Times New Roman" panose="02020603050405020304" pitchFamily="18" charset="0"/>
                <a:cs typeface="Times New Roman" panose="02020603050405020304" pitchFamily="18" charset="0"/>
              </a:rPr>
              <a:t>58</a:t>
            </a:r>
            <a:endParaRPr lang="zh-CN" altLang="en-US" b="1" dirty="0">
              <a:latin typeface="Times New Roman" panose="02020603050405020304" pitchFamily="18" charset="0"/>
              <a:cs typeface="Times New Roman" panose="02020603050405020304" pitchFamily="18" charset="0"/>
            </a:endParaRPr>
          </a:p>
        </p:txBody>
      </p:sp>
      <p:sp>
        <p:nvSpPr>
          <p:cNvPr id="382" name="文本框 381"/>
          <p:cNvSpPr txBox="1"/>
          <p:nvPr/>
        </p:nvSpPr>
        <p:spPr>
          <a:xfrm>
            <a:off x="2204978" y="3266680"/>
            <a:ext cx="415498" cy="369332"/>
          </a:xfrm>
          <a:prstGeom prst="rect">
            <a:avLst/>
          </a:prstGeom>
          <a:noFill/>
        </p:spPr>
        <p:txBody>
          <a:bodyPr wrap="none" rtlCol="0">
            <a:spAutoFit/>
          </a:bodyPr>
          <a:lstStyle/>
          <a:p>
            <a:r>
              <a:rPr lang="en-GB" altLang="zh-CN" b="1" dirty="0">
                <a:latin typeface="Times New Roman" panose="02020603050405020304" pitchFamily="18" charset="0"/>
                <a:cs typeface="Times New Roman" panose="02020603050405020304" pitchFamily="18" charset="0"/>
              </a:rPr>
              <a:t>54</a:t>
            </a:r>
            <a:endParaRPr lang="zh-CN" altLang="en-US" b="1" dirty="0">
              <a:latin typeface="Times New Roman" panose="02020603050405020304" pitchFamily="18" charset="0"/>
              <a:cs typeface="Times New Roman" panose="02020603050405020304" pitchFamily="18" charset="0"/>
            </a:endParaRPr>
          </a:p>
        </p:txBody>
      </p:sp>
      <p:sp>
        <p:nvSpPr>
          <p:cNvPr id="383" name="文本框 382"/>
          <p:cNvSpPr txBox="1"/>
          <p:nvPr/>
        </p:nvSpPr>
        <p:spPr>
          <a:xfrm>
            <a:off x="3271600" y="3011509"/>
            <a:ext cx="415498" cy="369332"/>
          </a:xfrm>
          <a:prstGeom prst="rect">
            <a:avLst/>
          </a:prstGeom>
          <a:noFill/>
        </p:spPr>
        <p:txBody>
          <a:bodyPr wrap="none" rtlCol="0">
            <a:spAutoFit/>
          </a:bodyPr>
          <a:lstStyle/>
          <a:p>
            <a:r>
              <a:rPr lang="en-GB" altLang="zh-CN" b="1" dirty="0">
                <a:latin typeface="Times New Roman" panose="02020603050405020304" pitchFamily="18" charset="0"/>
                <a:cs typeface="Times New Roman" panose="02020603050405020304" pitchFamily="18" charset="0"/>
              </a:rPr>
              <a:t>50</a:t>
            </a:r>
            <a:endParaRPr lang="zh-CN" altLang="en-US" b="1" dirty="0">
              <a:latin typeface="Times New Roman" panose="02020603050405020304" pitchFamily="18" charset="0"/>
              <a:cs typeface="Times New Roman" panose="02020603050405020304" pitchFamily="18" charset="0"/>
            </a:endParaRPr>
          </a:p>
        </p:txBody>
      </p:sp>
      <p:sp>
        <p:nvSpPr>
          <p:cNvPr id="384" name="文本框 383"/>
          <p:cNvSpPr txBox="1"/>
          <p:nvPr/>
        </p:nvSpPr>
        <p:spPr>
          <a:xfrm>
            <a:off x="4603313" y="3972289"/>
            <a:ext cx="389850" cy="338554"/>
          </a:xfrm>
          <a:prstGeom prst="rect">
            <a:avLst/>
          </a:prstGeom>
          <a:noFill/>
        </p:spPr>
        <p:txBody>
          <a:bodyPr wrap="none" rtlCol="0">
            <a:spAutoFit/>
          </a:bodyPr>
          <a:lstStyle/>
          <a:p>
            <a:r>
              <a:rPr lang="en-US" altLang="zh-CN" sz="1600" b="1" dirty="0">
                <a:latin typeface="Times New Roman" panose="02020603050405020304" pitchFamily="18" charset="0"/>
                <a:cs typeface="Times New Roman" panose="02020603050405020304" pitchFamily="18" charset="0"/>
              </a:rPr>
              <a:t>12</a:t>
            </a:r>
            <a:endParaRPr lang="zh-CN" altLang="en-US" sz="1600" b="1" dirty="0">
              <a:latin typeface="Times New Roman" panose="02020603050405020304" pitchFamily="18" charset="0"/>
              <a:cs typeface="Times New Roman" panose="02020603050405020304" pitchFamily="18" charset="0"/>
            </a:endParaRPr>
          </a:p>
        </p:txBody>
      </p:sp>
      <p:sp>
        <p:nvSpPr>
          <p:cNvPr id="387" name="文本框 386"/>
          <p:cNvSpPr txBox="1"/>
          <p:nvPr/>
        </p:nvSpPr>
        <p:spPr>
          <a:xfrm>
            <a:off x="6157263" y="2384481"/>
            <a:ext cx="287258" cy="338554"/>
          </a:xfrm>
          <a:prstGeom prst="rect">
            <a:avLst/>
          </a:prstGeom>
          <a:noFill/>
        </p:spPr>
        <p:txBody>
          <a:bodyPr wrap="none" rtlCol="0">
            <a:spAutoFit/>
          </a:bodyPr>
          <a:lstStyle/>
          <a:p>
            <a:r>
              <a:rPr lang="en-GB" altLang="zh-CN" sz="1600" b="1" dirty="0">
                <a:latin typeface="Times New Roman" panose="02020603050405020304" pitchFamily="18" charset="0"/>
                <a:cs typeface="Times New Roman" panose="02020603050405020304" pitchFamily="18" charset="0"/>
              </a:rPr>
              <a:t>0</a:t>
            </a:r>
            <a:endParaRPr lang="zh-CN" altLang="en-US" sz="1600" b="1" dirty="0">
              <a:latin typeface="Times New Roman" panose="02020603050405020304" pitchFamily="18" charset="0"/>
              <a:cs typeface="Times New Roman" panose="02020603050405020304" pitchFamily="18" charset="0"/>
            </a:endParaRPr>
          </a:p>
        </p:txBody>
      </p:sp>
      <p:sp>
        <p:nvSpPr>
          <p:cNvPr id="388" name="文本框 387"/>
          <p:cNvSpPr txBox="1"/>
          <p:nvPr/>
        </p:nvSpPr>
        <p:spPr>
          <a:xfrm>
            <a:off x="6158733" y="2803768"/>
            <a:ext cx="287258" cy="338554"/>
          </a:xfrm>
          <a:prstGeom prst="rect">
            <a:avLst/>
          </a:prstGeom>
          <a:noFill/>
        </p:spPr>
        <p:txBody>
          <a:bodyPr wrap="none" rtlCol="0">
            <a:spAutoFit/>
          </a:bodyPr>
          <a:lstStyle/>
          <a:p>
            <a:r>
              <a:rPr lang="en-GB" altLang="zh-CN" sz="1600" b="1" dirty="0">
                <a:latin typeface="Times New Roman" panose="02020603050405020304" pitchFamily="18" charset="0"/>
                <a:cs typeface="Times New Roman" panose="02020603050405020304" pitchFamily="18" charset="0"/>
              </a:rPr>
              <a:t>0</a:t>
            </a:r>
            <a:endParaRPr lang="zh-CN" altLang="en-US" sz="1600" b="1" dirty="0">
              <a:latin typeface="Times New Roman" panose="02020603050405020304" pitchFamily="18" charset="0"/>
              <a:cs typeface="Times New Roman" panose="02020603050405020304" pitchFamily="18" charset="0"/>
            </a:endParaRPr>
          </a:p>
        </p:txBody>
      </p:sp>
      <p:sp>
        <p:nvSpPr>
          <p:cNvPr id="389" name="文本框 388"/>
          <p:cNvSpPr txBox="1"/>
          <p:nvPr/>
        </p:nvSpPr>
        <p:spPr>
          <a:xfrm>
            <a:off x="5946596" y="3567276"/>
            <a:ext cx="415498" cy="369332"/>
          </a:xfrm>
          <a:prstGeom prst="rect">
            <a:avLst/>
          </a:prstGeom>
          <a:noFill/>
        </p:spPr>
        <p:txBody>
          <a:bodyPr wrap="none" rtlCol="0">
            <a:spAutoFit/>
          </a:bodyPr>
          <a:lstStyle/>
          <a:p>
            <a:r>
              <a:rPr lang="en-US" altLang="zh-CN" b="1" dirty="0">
                <a:latin typeface="Times New Roman" panose="02020603050405020304" pitchFamily="18" charset="0"/>
                <a:cs typeface="Times New Roman" panose="02020603050405020304" pitchFamily="18" charset="0"/>
              </a:rPr>
              <a:t>x6</a:t>
            </a:r>
          </a:p>
        </p:txBody>
      </p:sp>
      <p:sp>
        <p:nvSpPr>
          <p:cNvPr id="390" name="文本框 389"/>
          <p:cNvSpPr txBox="1"/>
          <p:nvPr/>
        </p:nvSpPr>
        <p:spPr>
          <a:xfrm>
            <a:off x="5965891" y="4506849"/>
            <a:ext cx="446549"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x7</a:t>
            </a:r>
          </a:p>
        </p:txBody>
      </p:sp>
      <p:sp>
        <p:nvSpPr>
          <p:cNvPr id="391" name="文本框 390"/>
          <p:cNvSpPr txBox="1"/>
          <p:nvPr/>
        </p:nvSpPr>
        <p:spPr>
          <a:xfrm>
            <a:off x="5907533" y="5298760"/>
            <a:ext cx="446549"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15</a:t>
            </a:r>
          </a:p>
        </p:txBody>
      </p:sp>
      <p:sp>
        <p:nvSpPr>
          <p:cNvPr id="392" name="文本框 391"/>
          <p:cNvSpPr txBox="1"/>
          <p:nvPr/>
        </p:nvSpPr>
        <p:spPr>
          <a:xfrm>
            <a:off x="6698131" y="5279466"/>
            <a:ext cx="446549"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x1</a:t>
            </a:r>
          </a:p>
        </p:txBody>
      </p:sp>
      <p:sp>
        <p:nvSpPr>
          <p:cNvPr id="394" name="文本框 393"/>
          <p:cNvSpPr txBox="1"/>
          <p:nvPr/>
        </p:nvSpPr>
        <p:spPr>
          <a:xfrm>
            <a:off x="6689047" y="2177628"/>
            <a:ext cx="389850" cy="338554"/>
          </a:xfrm>
          <a:prstGeom prst="rect">
            <a:avLst/>
          </a:prstGeom>
          <a:noFill/>
        </p:spPr>
        <p:txBody>
          <a:bodyPr wrap="none" rtlCol="0">
            <a:spAutoFit/>
          </a:bodyPr>
          <a:lstStyle/>
          <a:p>
            <a:r>
              <a:rPr lang="en-GB" altLang="zh-CN" sz="1600" b="1" dirty="0">
                <a:latin typeface="Times New Roman" panose="02020603050405020304" pitchFamily="18" charset="0"/>
                <a:cs typeface="Times New Roman" panose="02020603050405020304" pitchFamily="18" charset="0"/>
              </a:rPr>
              <a:t>10</a:t>
            </a:r>
            <a:endParaRPr lang="zh-CN" altLang="en-US" sz="1600" b="1" dirty="0">
              <a:latin typeface="Times New Roman" panose="02020603050405020304" pitchFamily="18" charset="0"/>
              <a:cs typeface="Times New Roman" panose="02020603050405020304" pitchFamily="18" charset="0"/>
            </a:endParaRPr>
          </a:p>
        </p:txBody>
      </p:sp>
      <p:sp>
        <p:nvSpPr>
          <p:cNvPr id="395" name="文本框 394"/>
          <p:cNvSpPr txBox="1"/>
          <p:nvPr/>
        </p:nvSpPr>
        <p:spPr>
          <a:xfrm>
            <a:off x="6754933" y="2391572"/>
            <a:ext cx="492443" cy="338554"/>
          </a:xfrm>
          <a:prstGeom prst="rect">
            <a:avLst/>
          </a:prstGeom>
          <a:noFill/>
        </p:spPr>
        <p:txBody>
          <a:bodyPr wrap="none" rtlCol="0">
            <a:spAutoFit/>
          </a:bodyPr>
          <a:lstStyle/>
          <a:p>
            <a:r>
              <a:rPr lang="en-GB" altLang="zh-CN" sz="1600" b="1" dirty="0">
                <a:latin typeface="Times New Roman" panose="02020603050405020304" pitchFamily="18" charset="0"/>
                <a:cs typeface="Times New Roman" panose="02020603050405020304" pitchFamily="18" charset="0"/>
              </a:rPr>
              <a:t>000</a:t>
            </a:r>
            <a:endParaRPr lang="zh-CN" altLang="en-US" sz="1600" b="1" dirty="0">
              <a:latin typeface="Times New Roman" panose="02020603050405020304" pitchFamily="18" charset="0"/>
              <a:cs typeface="Times New Roman" panose="02020603050405020304" pitchFamily="18" charset="0"/>
            </a:endParaRPr>
          </a:p>
        </p:txBody>
      </p:sp>
      <p:sp>
        <p:nvSpPr>
          <p:cNvPr id="396" name="文本框 395"/>
          <p:cNvSpPr txBox="1"/>
          <p:nvPr/>
        </p:nvSpPr>
        <p:spPr>
          <a:xfrm>
            <a:off x="6824980" y="2846070"/>
            <a:ext cx="438785" cy="337185"/>
          </a:xfrm>
          <a:prstGeom prst="rect">
            <a:avLst/>
          </a:prstGeom>
          <a:noFill/>
        </p:spPr>
        <p:txBody>
          <a:bodyPr wrap="square" rtlCol="0">
            <a:spAutoFit/>
          </a:bodyPr>
          <a:lstStyle/>
          <a:p>
            <a:r>
              <a:rPr lang="en-GB" altLang="zh-CN" sz="1600" b="1" dirty="0">
                <a:latin typeface="Times New Roman" panose="02020603050405020304" pitchFamily="18" charset="0"/>
                <a:cs typeface="Times New Roman" panose="02020603050405020304" pitchFamily="18" charset="0"/>
              </a:rPr>
              <a:t>4</a:t>
            </a:r>
            <a:r>
              <a:rPr lang="en-US" altLang="en-GB" sz="1600" b="1" dirty="0">
                <a:latin typeface="Times New Roman" panose="02020603050405020304" pitchFamily="18" charset="0"/>
                <a:cs typeface="Times New Roman" panose="02020603050405020304" pitchFamily="18" charset="0"/>
              </a:rPr>
              <a:t>C</a:t>
            </a:r>
          </a:p>
        </p:txBody>
      </p:sp>
      <p:sp>
        <p:nvSpPr>
          <p:cNvPr id="398" name="文本框 397"/>
          <p:cNvSpPr txBox="1"/>
          <p:nvPr/>
        </p:nvSpPr>
        <p:spPr>
          <a:xfrm>
            <a:off x="8042229" y="3408026"/>
            <a:ext cx="446549"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x2</a:t>
            </a:r>
          </a:p>
        </p:txBody>
      </p:sp>
      <p:sp>
        <p:nvSpPr>
          <p:cNvPr id="402" name="文本框 401"/>
          <p:cNvSpPr txBox="1"/>
          <p:nvPr/>
        </p:nvSpPr>
        <p:spPr>
          <a:xfrm>
            <a:off x="8092860" y="4613550"/>
            <a:ext cx="446549"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x1</a:t>
            </a:r>
          </a:p>
        </p:txBody>
      </p:sp>
      <p:sp>
        <p:nvSpPr>
          <p:cNvPr id="403" name="文本框 402"/>
          <p:cNvSpPr txBox="1"/>
          <p:nvPr/>
        </p:nvSpPr>
        <p:spPr>
          <a:xfrm>
            <a:off x="9330911" y="5020039"/>
            <a:ext cx="446549" cy="338554"/>
          </a:xfrm>
          <a:prstGeom prst="rect">
            <a:avLst/>
          </a:prstGeom>
          <a:noFill/>
        </p:spPr>
        <p:txBody>
          <a:bodyPr wrap="square" rtlCol="0">
            <a:spAutoFit/>
          </a:bodyPr>
          <a:lstStyle/>
          <a:p>
            <a:r>
              <a:rPr lang="en-US" altLang="zh-CN" sz="1600" b="1" dirty="0">
                <a:latin typeface="Times New Roman" panose="02020603050405020304" pitchFamily="18" charset="0"/>
                <a:cs typeface="Times New Roman" panose="02020603050405020304" pitchFamily="18" charset="0"/>
              </a:rPr>
              <a:t>13</a:t>
            </a:r>
          </a:p>
        </p:txBody>
      </p:sp>
      <p:sp>
        <p:nvSpPr>
          <p:cNvPr id="404" name="文本框 403"/>
          <p:cNvSpPr txBox="1"/>
          <p:nvPr/>
        </p:nvSpPr>
        <p:spPr>
          <a:xfrm>
            <a:off x="9376695" y="2499203"/>
            <a:ext cx="446549" cy="338554"/>
          </a:xfrm>
          <a:prstGeom prst="rect">
            <a:avLst/>
          </a:prstGeom>
          <a:noFill/>
        </p:spPr>
        <p:txBody>
          <a:bodyPr wrap="square" rtlCol="0">
            <a:spAutoFit/>
          </a:bodyPr>
          <a:lstStyle/>
          <a:p>
            <a:r>
              <a:rPr lang="en-US" altLang="zh-CN" sz="1600" b="1" dirty="0">
                <a:latin typeface="Times New Roman" panose="02020603050405020304" pitchFamily="18" charset="0"/>
                <a:cs typeface="Times New Roman" panose="02020603050405020304" pitchFamily="18" charset="0"/>
              </a:rPr>
              <a:t>10</a:t>
            </a:r>
          </a:p>
        </p:txBody>
      </p:sp>
      <p:sp>
        <p:nvSpPr>
          <p:cNvPr id="405" name="文本框 404"/>
          <p:cNvSpPr txBox="1"/>
          <p:nvPr/>
        </p:nvSpPr>
        <p:spPr>
          <a:xfrm>
            <a:off x="10915050" y="2637758"/>
            <a:ext cx="446549" cy="338554"/>
          </a:xfrm>
          <a:prstGeom prst="rect">
            <a:avLst/>
          </a:prstGeom>
          <a:noFill/>
        </p:spPr>
        <p:txBody>
          <a:bodyPr wrap="square" rtlCol="0">
            <a:spAutoFit/>
          </a:bodyPr>
          <a:lstStyle/>
          <a:p>
            <a:r>
              <a:rPr lang="en-US" altLang="zh-CN" sz="1600" b="1" dirty="0">
                <a:latin typeface="Times New Roman" panose="02020603050405020304" pitchFamily="18" charset="0"/>
                <a:cs typeface="Times New Roman" panose="02020603050405020304" pitchFamily="18" charset="0"/>
              </a:rPr>
              <a:t>1</a:t>
            </a:r>
          </a:p>
        </p:txBody>
      </p:sp>
      <p:sp>
        <p:nvSpPr>
          <p:cNvPr id="409" name="文本框 408"/>
          <p:cNvSpPr txBox="1"/>
          <p:nvPr/>
        </p:nvSpPr>
        <p:spPr>
          <a:xfrm>
            <a:off x="6159924" y="2184138"/>
            <a:ext cx="287258" cy="338554"/>
          </a:xfrm>
          <a:prstGeom prst="rect">
            <a:avLst/>
          </a:prstGeom>
          <a:noFill/>
        </p:spPr>
        <p:txBody>
          <a:bodyPr wrap="none" rtlCol="0">
            <a:spAutoFit/>
          </a:bodyPr>
          <a:lstStyle/>
          <a:p>
            <a:r>
              <a:rPr lang="en-GB" altLang="zh-CN" sz="1600" b="1" dirty="0">
                <a:latin typeface="Times New Roman" panose="02020603050405020304" pitchFamily="18" charset="0"/>
                <a:cs typeface="Times New Roman" panose="02020603050405020304" pitchFamily="18" charset="0"/>
              </a:rPr>
              <a:t>0</a:t>
            </a:r>
            <a:endParaRPr lang="zh-CN" altLang="en-US" sz="1600" b="1" dirty="0">
              <a:latin typeface="Times New Roman" panose="02020603050405020304" pitchFamily="18" charset="0"/>
              <a:cs typeface="Times New Roman" panose="02020603050405020304" pitchFamily="18" charset="0"/>
            </a:endParaRPr>
          </a:p>
        </p:txBody>
      </p:sp>
      <p:cxnSp>
        <p:nvCxnSpPr>
          <p:cNvPr id="410" name="直接连接符 409"/>
          <p:cNvCxnSpPr/>
          <p:nvPr/>
        </p:nvCxnSpPr>
        <p:spPr bwMode="auto">
          <a:xfrm>
            <a:off x="10949476" y="5118195"/>
            <a:ext cx="119312" cy="4049"/>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3" name="直接箭头连接符 412"/>
          <p:cNvCxnSpPr/>
          <p:nvPr/>
        </p:nvCxnSpPr>
        <p:spPr bwMode="auto">
          <a:xfrm>
            <a:off x="11068574" y="4187166"/>
            <a:ext cx="0" cy="935078"/>
          </a:xfrm>
          <a:prstGeom prst="straightConnector1">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5" name="文本框 414"/>
          <p:cNvSpPr txBox="1"/>
          <p:nvPr/>
        </p:nvSpPr>
        <p:spPr>
          <a:xfrm>
            <a:off x="10903618" y="5044156"/>
            <a:ext cx="446549" cy="338554"/>
          </a:xfrm>
          <a:prstGeom prst="rect">
            <a:avLst/>
          </a:prstGeom>
          <a:noFill/>
        </p:spPr>
        <p:txBody>
          <a:bodyPr wrap="square" rtlCol="0">
            <a:spAutoFit/>
          </a:bodyPr>
          <a:lstStyle/>
          <a:p>
            <a:r>
              <a:rPr lang="en-US" altLang="zh-CN" sz="1600" b="1" dirty="0">
                <a:latin typeface="Times New Roman" panose="02020603050405020304" pitchFamily="18" charset="0"/>
                <a:cs typeface="Times New Roman" panose="02020603050405020304" pitchFamily="18" charset="0"/>
              </a:rPr>
              <a:t>12</a:t>
            </a:r>
          </a:p>
        </p:txBody>
      </p:sp>
      <p:sp>
        <p:nvSpPr>
          <p:cNvPr id="3" name="文本框 2"/>
          <p:cNvSpPr txBox="1"/>
          <p:nvPr/>
        </p:nvSpPr>
        <p:spPr>
          <a:xfrm>
            <a:off x="390525" y="6305550"/>
            <a:ext cx="923925" cy="398780"/>
          </a:xfrm>
          <a:prstGeom prst="rect">
            <a:avLst/>
          </a:prstGeom>
          <a:noFill/>
        </p:spPr>
        <p:txBody>
          <a:bodyPr wrap="none" rtlCol="0">
            <a:spAutoFit/>
          </a:bodyPr>
          <a:lstStyle/>
          <a:p>
            <a:r>
              <a:rPr lang="en-US" altLang="zh-CN" sz="2000">
                <a:latin typeface="Times New Roman" panose="02020603050405020304" pitchFamily="18" charset="0"/>
                <a:cs typeface="Times New Roman" panose="02020603050405020304" pitchFamily="18" charset="0"/>
              </a:rPr>
              <a:t>clock 6</a:t>
            </a:r>
          </a:p>
        </p:txBody>
      </p:sp>
      <p:grpSp>
        <p:nvGrpSpPr>
          <p:cNvPr id="292" name="组合 291">
            <a:extLst>
              <a:ext uri="{FF2B5EF4-FFF2-40B4-BE49-F238E27FC236}">
                <a16:creationId xmlns:a16="http://schemas.microsoft.com/office/drawing/2014/main" id="{3BB33AA8-D275-4515-89A3-951F2300C0F9}"/>
              </a:ext>
            </a:extLst>
          </p:cNvPr>
          <p:cNvGrpSpPr/>
          <p:nvPr/>
        </p:nvGrpSpPr>
        <p:grpSpPr>
          <a:xfrm>
            <a:off x="6043295" y="2068195"/>
            <a:ext cx="1014730" cy="4107180"/>
            <a:chOff x="9529" y="3377"/>
            <a:chExt cx="1598" cy="6468"/>
          </a:xfrm>
        </p:grpSpPr>
        <p:sp>
          <p:nvSpPr>
            <p:cNvPr id="293" name="矩形 292">
              <a:extLst>
                <a:ext uri="{FF2B5EF4-FFF2-40B4-BE49-F238E27FC236}">
                  <a16:creationId xmlns:a16="http://schemas.microsoft.com/office/drawing/2014/main" id="{E1AD31EC-B797-45B7-9735-336284E71D38}"/>
                </a:ext>
              </a:extLst>
            </p:cNvPr>
            <p:cNvSpPr/>
            <p:nvPr/>
          </p:nvSpPr>
          <p:spPr>
            <a:xfrm>
              <a:off x="10160" y="3798"/>
              <a:ext cx="404" cy="434"/>
            </a:xfrm>
            <a:prstGeom prst="rect">
              <a:avLst/>
            </a:prstGeom>
            <a:noFill/>
            <a:ln w="25400">
              <a:noFill/>
            </a:ln>
          </p:spPr>
          <p:txBody>
            <a:bodyPr wrap="square" lIns="0" rIns="0">
              <a:spAutoFit/>
            </a:bodyPr>
            <a:lstStyle/>
            <a:p>
              <a:pPr algn="ctr" fontAlgn="base">
                <a:spcBef>
                  <a:spcPct val="0"/>
                </a:spcBef>
                <a:spcAft>
                  <a:spcPct val="0"/>
                </a:spcAft>
              </a:pPr>
              <a:r>
                <a:rPr lang="en-US" altLang="zh-CN"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WB</a:t>
              </a:r>
            </a:p>
          </p:txBody>
        </p:sp>
        <p:sp>
          <p:nvSpPr>
            <p:cNvPr id="306" name="矩形 305">
              <a:extLst>
                <a:ext uri="{FF2B5EF4-FFF2-40B4-BE49-F238E27FC236}">
                  <a16:creationId xmlns:a16="http://schemas.microsoft.com/office/drawing/2014/main" id="{44E9EB9F-DBF4-4AF6-A549-A1348EFAFC42}"/>
                </a:ext>
              </a:extLst>
            </p:cNvPr>
            <p:cNvSpPr/>
            <p:nvPr/>
          </p:nvSpPr>
          <p:spPr bwMode="auto">
            <a:xfrm>
              <a:off x="10083" y="4760"/>
              <a:ext cx="587" cy="5085"/>
            </a:xfrm>
            <a:prstGeom prst="rect">
              <a:avLst/>
            </a:prstGeom>
            <a:solidFill>
              <a:schemeClr val="bg2">
                <a:lumMod val="90000"/>
              </a:schemeClr>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319" name="组合 318">
              <a:extLst>
                <a:ext uri="{FF2B5EF4-FFF2-40B4-BE49-F238E27FC236}">
                  <a16:creationId xmlns:a16="http://schemas.microsoft.com/office/drawing/2014/main" id="{87AEE7E5-31AA-4986-B191-442CCC53BEE7}"/>
                </a:ext>
              </a:extLst>
            </p:cNvPr>
            <p:cNvGrpSpPr/>
            <p:nvPr/>
          </p:nvGrpSpPr>
          <p:grpSpPr>
            <a:xfrm>
              <a:off x="10077" y="3864"/>
              <a:ext cx="601" cy="886"/>
              <a:chOff x="10099" y="3867"/>
              <a:chExt cx="607" cy="887"/>
            </a:xfrm>
          </p:grpSpPr>
          <p:sp>
            <p:nvSpPr>
              <p:cNvPr id="348" name="矩形 347">
                <a:extLst>
                  <a:ext uri="{FF2B5EF4-FFF2-40B4-BE49-F238E27FC236}">
                    <a16:creationId xmlns:a16="http://schemas.microsoft.com/office/drawing/2014/main" id="{0E05778C-AF3E-49DD-906E-D8CAE0A08ABF}"/>
                  </a:ext>
                </a:extLst>
              </p:cNvPr>
              <p:cNvSpPr/>
              <p:nvPr/>
            </p:nvSpPr>
            <p:spPr bwMode="auto">
              <a:xfrm>
                <a:off x="10099" y="3867"/>
                <a:ext cx="607" cy="294"/>
              </a:xfrm>
              <a:prstGeom prst="rect">
                <a:avLst/>
              </a:prstGeom>
              <a:solidFill>
                <a:srgbClr val="9CDCF9"/>
              </a:solid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45720" rIns="0" bIns="45720" numCol="1" rtlCol="0" anchor="ctr" anchorCtr="0" compatLnSpc="1"/>
              <a:lstStyle/>
              <a:p>
                <a:pPr algn="ctr" fontAlgn="base">
                  <a:spcBef>
                    <a:spcPct val="0"/>
                  </a:spcBef>
                  <a:spcAft>
                    <a:spcPct val="0"/>
                  </a:spcAft>
                </a:pPr>
                <a:r>
                  <a:rPr lang="en-US" altLang="zh-CN"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WB</a:t>
                </a:r>
              </a:p>
            </p:txBody>
          </p:sp>
          <p:sp>
            <p:nvSpPr>
              <p:cNvPr id="349" name="矩形 348">
                <a:extLst>
                  <a:ext uri="{FF2B5EF4-FFF2-40B4-BE49-F238E27FC236}">
                    <a16:creationId xmlns:a16="http://schemas.microsoft.com/office/drawing/2014/main" id="{92366EB5-24EA-499B-8A50-DCB507360FA5}"/>
                  </a:ext>
                </a:extLst>
              </p:cNvPr>
              <p:cNvSpPr/>
              <p:nvPr/>
            </p:nvSpPr>
            <p:spPr bwMode="auto">
              <a:xfrm>
                <a:off x="10099" y="4147"/>
                <a:ext cx="607" cy="294"/>
              </a:xfrm>
              <a:prstGeom prst="rect">
                <a:avLst/>
              </a:prstGeom>
              <a:solidFill>
                <a:srgbClr val="9CDCF9"/>
              </a:solid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8" name="矩形 367">
                <a:extLst>
                  <a:ext uri="{FF2B5EF4-FFF2-40B4-BE49-F238E27FC236}">
                    <a16:creationId xmlns:a16="http://schemas.microsoft.com/office/drawing/2014/main" id="{8CFECB85-6F29-4087-A15B-9ABE4E9E9851}"/>
                  </a:ext>
                </a:extLst>
              </p:cNvPr>
              <p:cNvSpPr/>
              <p:nvPr/>
            </p:nvSpPr>
            <p:spPr bwMode="auto">
              <a:xfrm>
                <a:off x="10099" y="4460"/>
                <a:ext cx="607" cy="294"/>
              </a:xfrm>
              <a:prstGeom prst="rect">
                <a:avLst/>
              </a:prstGeom>
              <a:solidFill>
                <a:srgbClr val="9CDCF9"/>
              </a:solid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6" name="矩形 375">
                <a:extLst>
                  <a:ext uri="{FF2B5EF4-FFF2-40B4-BE49-F238E27FC236}">
                    <a16:creationId xmlns:a16="http://schemas.microsoft.com/office/drawing/2014/main" id="{A7B70CF4-9287-455D-8792-3790DD4898C0}"/>
                  </a:ext>
                </a:extLst>
              </p:cNvPr>
              <p:cNvSpPr/>
              <p:nvPr/>
            </p:nvSpPr>
            <p:spPr>
              <a:xfrm>
                <a:off x="10183" y="4142"/>
                <a:ext cx="408" cy="388"/>
              </a:xfrm>
              <a:prstGeom prst="rect">
                <a:avLst/>
              </a:prstGeom>
              <a:noFill/>
              <a:ln w="25400">
                <a:noFill/>
              </a:ln>
            </p:spPr>
            <p:txBody>
              <a:bodyPr wrap="square" lIns="0" tIns="0" rIns="0" bIns="0">
                <a:spAutoFit/>
              </a:bodyPr>
              <a:lstStyle/>
              <a:p>
                <a:pPr algn="ctr" fontAlgn="base">
                  <a:spcBef>
                    <a:spcPct val="0"/>
                  </a:spcBef>
                  <a:spcAft>
                    <a:spcPct val="0"/>
                  </a:spcAft>
                </a:pP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M</a:t>
                </a:r>
              </a:p>
            </p:txBody>
          </p:sp>
        </p:grpSp>
        <p:grpSp>
          <p:nvGrpSpPr>
            <p:cNvPr id="324" name="组合 323">
              <a:extLst>
                <a:ext uri="{FF2B5EF4-FFF2-40B4-BE49-F238E27FC236}">
                  <a16:creationId xmlns:a16="http://schemas.microsoft.com/office/drawing/2014/main" id="{5D108898-768C-4F65-AFEA-5F2CECBE43D7}"/>
                </a:ext>
              </a:extLst>
            </p:cNvPr>
            <p:cNvGrpSpPr/>
            <p:nvPr/>
          </p:nvGrpSpPr>
          <p:grpSpPr>
            <a:xfrm>
              <a:off x="9529" y="3377"/>
              <a:ext cx="1598" cy="1433"/>
              <a:chOff x="9529" y="3377"/>
              <a:chExt cx="1598" cy="1433"/>
            </a:xfrm>
          </p:grpSpPr>
          <p:sp>
            <p:nvSpPr>
              <p:cNvPr id="326" name="矩形 325">
                <a:extLst>
                  <a:ext uri="{FF2B5EF4-FFF2-40B4-BE49-F238E27FC236}">
                    <a16:creationId xmlns:a16="http://schemas.microsoft.com/office/drawing/2014/main" id="{1A26325C-18BE-4A42-A241-71C20B9326B7}"/>
                  </a:ext>
                </a:extLst>
              </p:cNvPr>
              <p:cNvSpPr/>
              <p:nvPr/>
            </p:nvSpPr>
            <p:spPr>
              <a:xfrm>
                <a:off x="10115" y="4422"/>
                <a:ext cx="556" cy="388"/>
              </a:xfrm>
              <a:prstGeom prst="rect">
                <a:avLst/>
              </a:prstGeom>
              <a:noFill/>
              <a:ln w="25400">
                <a:noFill/>
              </a:ln>
            </p:spPr>
            <p:txBody>
              <a:bodyPr wrap="square" lIns="0" tIns="0" rIns="0" bIns="0">
                <a:spAutoFit/>
              </a:bodyPr>
              <a:lstStyle/>
              <a:p>
                <a:pPr algn="ctr" fontAlgn="base">
                  <a:spcBef>
                    <a:spcPct val="0"/>
                  </a:spcBef>
                  <a:spcAft>
                    <a:spcPct val="0"/>
                  </a:spcAft>
                </a:pP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EX</a:t>
                </a:r>
              </a:p>
            </p:txBody>
          </p:sp>
          <p:sp>
            <p:nvSpPr>
              <p:cNvPr id="328" name="矩形 327">
                <a:extLst>
                  <a:ext uri="{FF2B5EF4-FFF2-40B4-BE49-F238E27FC236}">
                    <a16:creationId xmlns:a16="http://schemas.microsoft.com/office/drawing/2014/main" id="{6AC58BF3-D1D5-45EF-B8D7-0CBE3F6CB1A1}"/>
                  </a:ext>
                </a:extLst>
              </p:cNvPr>
              <p:cNvSpPr/>
              <p:nvPr/>
            </p:nvSpPr>
            <p:spPr>
              <a:xfrm>
                <a:off x="9529" y="3377"/>
                <a:ext cx="1598" cy="436"/>
              </a:xfrm>
              <a:prstGeom prst="rect">
                <a:avLst/>
              </a:prstGeom>
              <a:ln w="25400">
                <a:noFill/>
              </a:ln>
            </p:spPr>
            <p:txBody>
              <a:bodyPr wrap="square" lIns="0" tIns="0" rIns="0" bIns="0">
                <a:spAutoFit/>
              </a:bodyPr>
              <a:lstStyle/>
              <a:p>
                <a:pPr lvl="0" algn="ctr">
                  <a:defRPr/>
                </a:pPr>
                <a:r>
                  <a:rPr lang="en-US" altLang="zh-CN" b="1" dirty="0">
                    <a:solidFill>
                      <a:prstClr val="black"/>
                    </a:solidFill>
                    <a:latin typeface="Times New Roman" panose="02020603050405020304" pitchFamily="18" charset="0"/>
                    <a:cs typeface="Times New Roman" panose="02020603050405020304" pitchFamily="18" charset="0"/>
                  </a:rPr>
                  <a:t>ID/EX</a:t>
                </a:r>
                <a:endParaRPr lang="zh-CN" altLang="en-US" b="1" dirty="0">
                  <a:solidFill>
                    <a:prstClr val="black"/>
                  </a:solidFill>
                  <a:latin typeface="Times New Roman" panose="02020603050405020304" pitchFamily="18" charset="0"/>
                  <a:cs typeface="Times New Roman" panose="02020603050405020304" pitchFamily="18" charset="0"/>
                </a:endParaRPr>
              </a:p>
            </p:txBody>
          </p:sp>
        </p:grpSp>
      </p:grpSp>
      <p:grpSp>
        <p:nvGrpSpPr>
          <p:cNvPr id="423" name="组合 422">
            <a:extLst>
              <a:ext uri="{FF2B5EF4-FFF2-40B4-BE49-F238E27FC236}">
                <a16:creationId xmlns:a16="http://schemas.microsoft.com/office/drawing/2014/main" id="{8402ED97-29D6-4D4D-9964-503A1CD4E03D}"/>
              </a:ext>
            </a:extLst>
          </p:cNvPr>
          <p:cNvGrpSpPr/>
          <p:nvPr/>
        </p:nvGrpSpPr>
        <p:grpSpPr>
          <a:xfrm>
            <a:off x="8841213" y="2541905"/>
            <a:ext cx="601345" cy="2908300"/>
            <a:chOff x="14049" y="4003"/>
            <a:chExt cx="947" cy="4580"/>
          </a:xfrm>
        </p:grpSpPr>
        <p:sp>
          <p:nvSpPr>
            <p:cNvPr id="424" name="矩形 423">
              <a:extLst>
                <a:ext uri="{FF2B5EF4-FFF2-40B4-BE49-F238E27FC236}">
                  <a16:creationId xmlns:a16="http://schemas.microsoft.com/office/drawing/2014/main" id="{C208F262-B48E-436F-8ADC-6545217B986B}"/>
                </a:ext>
              </a:extLst>
            </p:cNvPr>
            <p:cNvSpPr/>
            <p:nvPr/>
          </p:nvSpPr>
          <p:spPr>
            <a:xfrm>
              <a:off x="14218" y="4003"/>
              <a:ext cx="778" cy="400"/>
            </a:xfrm>
            <a:prstGeom prst="rect">
              <a:avLst/>
            </a:prstGeom>
            <a:noFill/>
            <a:ln w="25400">
              <a:noFill/>
            </a:ln>
          </p:spPr>
          <p:txBody>
            <a:bodyPr wrap="square">
              <a:spAutoFit/>
            </a:bodyPr>
            <a:lstStyle/>
            <a:p>
              <a:pPr algn="ctr" fontAlgn="base">
                <a:spcBef>
                  <a:spcPct val="0"/>
                </a:spcBef>
                <a:spcAft>
                  <a:spcPct val="0"/>
                </a:spcAft>
              </a:pPr>
              <a:r>
                <a:rPr lang="en-US" altLang="zh-CN" sz="105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WB</a:t>
              </a:r>
              <a:endParaRPr lang="zh-CN" altLang="en-US" sz="105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5" name="矩形 424">
              <a:extLst>
                <a:ext uri="{FF2B5EF4-FFF2-40B4-BE49-F238E27FC236}">
                  <a16:creationId xmlns:a16="http://schemas.microsoft.com/office/drawing/2014/main" id="{2D85CF2B-3EE1-4E60-B94C-A87133A60818}"/>
                </a:ext>
              </a:extLst>
            </p:cNvPr>
            <p:cNvSpPr/>
            <p:nvPr/>
          </p:nvSpPr>
          <p:spPr bwMode="auto">
            <a:xfrm>
              <a:off x="14408" y="4798"/>
              <a:ext cx="567" cy="3785"/>
            </a:xfrm>
            <a:prstGeom prst="rect">
              <a:avLst/>
            </a:prstGeom>
            <a:solidFill>
              <a:schemeClr val="bg2">
                <a:lumMod val="90000"/>
              </a:schemeClr>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6" name="矩形 425">
              <a:extLst>
                <a:ext uri="{FF2B5EF4-FFF2-40B4-BE49-F238E27FC236}">
                  <a16:creationId xmlns:a16="http://schemas.microsoft.com/office/drawing/2014/main" id="{7395BE7D-076A-4CF2-AF6D-DF0EEE6F0D75}"/>
                </a:ext>
              </a:extLst>
            </p:cNvPr>
            <p:cNvSpPr/>
            <p:nvPr/>
          </p:nvSpPr>
          <p:spPr bwMode="auto">
            <a:xfrm>
              <a:off x="14406" y="4007"/>
              <a:ext cx="567" cy="399"/>
            </a:xfrm>
            <a:prstGeom prst="rect">
              <a:avLst/>
            </a:prstGeom>
            <a:solidFill>
              <a:srgbClr val="9CDCF9"/>
            </a:solid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45720" rIns="0" bIns="45720" numCol="1" rtlCol="0" anchor="ctr" anchorCtr="0" compatLnSpc="1"/>
            <a:lstStyle/>
            <a:p>
              <a:pPr algn="ctr" fontAlgn="base">
                <a:spcBef>
                  <a:spcPct val="0"/>
                </a:spcBef>
                <a:spcAft>
                  <a:spcPct val="0"/>
                </a:spcAft>
              </a:pP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WB</a:t>
              </a:r>
            </a:p>
          </p:txBody>
        </p:sp>
        <p:sp>
          <p:nvSpPr>
            <p:cNvPr id="427" name="矩形 426">
              <a:extLst>
                <a:ext uri="{FF2B5EF4-FFF2-40B4-BE49-F238E27FC236}">
                  <a16:creationId xmlns:a16="http://schemas.microsoft.com/office/drawing/2014/main" id="{0909E9E7-E904-44E3-AB67-D1B658219B4D}"/>
                </a:ext>
              </a:extLst>
            </p:cNvPr>
            <p:cNvSpPr/>
            <p:nvPr/>
          </p:nvSpPr>
          <p:spPr bwMode="auto">
            <a:xfrm>
              <a:off x="14406" y="4396"/>
              <a:ext cx="567" cy="390"/>
            </a:xfrm>
            <a:prstGeom prst="rect">
              <a:avLst/>
            </a:prstGeom>
            <a:solidFill>
              <a:srgbClr val="9CDCF9"/>
            </a:solid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8" name="矩形 427">
              <a:extLst>
                <a:ext uri="{FF2B5EF4-FFF2-40B4-BE49-F238E27FC236}">
                  <a16:creationId xmlns:a16="http://schemas.microsoft.com/office/drawing/2014/main" id="{9F6D8159-2233-4461-9BDE-DDCDEEA55662}"/>
                </a:ext>
              </a:extLst>
            </p:cNvPr>
            <p:cNvSpPr/>
            <p:nvPr/>
          </p:nvSpPr>
          <p:spPr>
            <a:xfrm>
              <a:off x="14380" y="4404"/>
              <a:ext cx="423" cy="388"/>
            </a:xfrm>
            <a:prstGeom prst="rect">
              <a:avLst/>
            </a:prstGeom>
            <a:noFill/>
            <a:ln w="25400">
              <a:noFill/>
            </a:ln>
          </p:spPr>
          <p:txBody>
            <a:bodyPr wrap="square" lIns="0" tIns="0" rIns="0" bIns="0">
              <a:spAutoFit/>
            </a:bodyPr>
            <a:lstStyle/>
            <a:p>
              <a:pPr algn="ctr" fontAlgn="base">
                <a:spcBef>
                  <a:spcPct val="0"/>
                </a:spcBef>
                <a:spcAft>
                  <a:spcPct val="0"/>
                </a:spcAft>
              </a:pP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M</a:t>
              </a:r>
              <a:endParaRPr lang="zh-CN" altLang="en-US"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429" name="直接箭头连接符 428">
              <a:extLst>
                <a:ext uri="{FF2B5EF4-FFF2-40B4-BE49-F238E27FC236}">
                  <a16:creationId xmlns:a16="http://schemas.microsoft.com/office/drawing/2014/main" id="{2CE23C8A-8C19-47D2-9EE2-E68AF9B693F0}"/>
                </a:ext>
              </a:extLst>
            </p:cNvPr>
            <p:cNvCxnSpPr/>
            <p:nvPr/>
          </p:nvCxnSpPr>
          <p:spPr bwMode="auto">
            <a:xfrm>
              <a:off x="14049" y="6334"/>
              <a:ext cx="357"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30" name="文本框 429">
            <a:extLst>
              <a:ext uri="{FF2B5EF4-FFF2-40B4-BE49-F238E27FC236}">
                <a16:creationId xmlns:a16="http://schemas.microsoft.com/office/drawing/2014/main" id="{2A041682-525F-4299-BCB5-C5A38C8D61C0}"/>
              </a:ext>
            </a:extLst>
          </p:cNvPr>
          <p:cNvSpPr txBox="1"/>
          <p:nvPr/>
        </p:nvSpPr>
        <p:spPr>
          <a:xfrm>
            <a:off x="1166854" y="4255195"/>
            <a:ext cx="389850" cy="338554"/>
          </a:xfrm>
          <a:prstGeom prst="rect">
            <a:avLst/>
          </a:prstGeom>
          <a:noFill/>
        </p:spPr>
        <p:txBody>
          <a:bodyPr wrap="none" rtlCol="0">
            <a:spAutoFit/>
          </a:bodyPr>
          <a:lstStyle/>
          <a:p>
            <a:r>
              <a:rPr lang="en-GB" altLang="zh-CN" sz="1600" b="1" dirty="0">
                <a:latin typeface="Times New Roman" panose="02020603050405020304" pitchFamily="18" charset="0"/>
                <a:cs typeface="Times New Roman" panose="02020603050405020304" pitchFamily="18" charset="0"/>
              </a:rPr>
              <a:t>54</a:t>
            </a:r>
            <a:endParaRPr lang="zh-CN" altLang="en-US" sz="1600" b="1" dirty="0">
              <a:latin typeface="Times New Roman" panose="02020603050405020304" pitchFamily="18" charset="0"/>
              <a:cs typeface="Times New Roman" panose="02020603050405020304" pitchFamily="18" charset="0"/>
            </a:endParaRPr>
          </a:p>
        </p:txBody>
      </p:sp>
      <p:sp>
        <p:nvSpPr>
          <p:cNvPr id="431" name="矩形 430">
            <a:extLst>
              <a:ext uri="{FF2B5EF4-FFF2-40B4-BE49-F238E27FC236}">
                <a16:creationId xmlns:a16="http://schemas.microsoft.com/office/drawing/2014/main" id="{A67FD111-88BA-4559-AA95-70A8D5D2A3AE}"/>
              </a:ext>
            </a:extLst>
          </p:cNvPr>
          <p:cNvSpPr/>
          <p:nvPr/>
        </p:nvSpPr>
        <p:spPr bwMode="auto">
          <a:xfrm>
            <a:off x="956909" y="4017967"/>
            <a:ext cx="283998" cy="409195"/>
          </a:xfrm>
          <a:prstGeom prst="rect">
            <a:avLst/>
          </a:prstGeom>
          <a:solidFill>
            <a:srgbClr val="D0CECE"/>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lnSpc>
                <a:spcPct val="70000"/>
              </a:lnSpc>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PC</a:t>
            </a:r>
            <a:endParaRPr lang="zh-CN" altLang="en-US"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432" name="直接箭头连接符 431">
            <a:extLst>
              <a:ext uri="{FF2B5EF4-FFF2-40B4-BE49-F238E27FC236}">
                <a16:creationId xmlns:a16="http://schemas.microsoft.com/office/drawing/2014/main" id="{C9CF4C70-F81C-4FBF-A3C8-0F0B98AA1E0F}"/>
              </a:ext>
            </a:extLst>
          </p:cNvPr>
          <p:cNvCxnSpPr>
            <a:stCxn id="431" idx="3"/>
          </p:cNvCxnSpPr>
          <p:nvPr/>
        </p:nvCxnSpPr>
        <p:spPr bwMode="auto">
          <a:xfrm flipV="1">
            <a:off x="1240907" y="4209229"/>
            <a:ext cx="296430" cy="13336"/>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3" name="直接箭头连接符 204">
            <a:extLst>
              <a:ext uri="{FF2B5EF4-FFF2-40B4-BE49-F238E27FC236}">
                <a16:creationId xmlns:a16="http://schemas.microsoft.com/office/drawing/2014/main" id="{CD49F31E-DE8E-4FC0-8453-987F626A759A}"/>
              </a:ext>
            </a:extLst>
          </p:cNvPr>
          <p:cNvCxnSpPr>
            <a:cxnSpLocks/>
          </p:cNvCxnSpPr>
          <p:nvPr/>
        </p:nvCxnSpPr>
        <p:spPr bwMode="auto">
          <a:xfrm rot="16200000" flipH="1">
            <a:off x="-402236" y="3456046"/>
            <a:ext cx="1562543" cy="290624"/>
          </a:xfrm>
          <a:prstGeom prst="bentConnector3">
            <a:avLst>
              <a:gd name="adj1" fmla="val 100340"/>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4" name="直接箭头连接符 413">
            <a:extLst>
              <a:ext uri="{FF2B5EF4-FFF2-40B4-BE49-F238E27FC236}">
                <a16:creationId xmlns:a16="http://schemas.microsoft.com/office/drawing/2014/main" id="{DDA28375-B9AA-40F6-9F36-BB88E38FC228}"/>
              </a:ext>
            </a:extLst>
          </p:cNvPr>
          <p:cNvCxnSpPr>
            <a:cxnSpLocks/>
          </p:cNvCxnSpPr>
          <p:nvPr/>
        </p:nvCxnSpPr>
        <p:spPr bwMode="auto">
          <a:xfrm rot="16200000" flipH="1">
            <a:off x="-1130806" y="2414115"/>
            <a:ext cx="2859979" cy="422073"/>
          </a:xfrm>
          <a:prstGeom prst="bentConnector3">
            <a:avLst>
              <a:gd name="adj1" fmla="val 100193"/>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35" name="Mux 3">
            <a:extLst>
              <a:ext uri="{FF2B5EF4-FFF2-40B4-BE49-F238E27FC236}">
                <a16:creationId xmlns:a16="http://schemas.microsoft.com/office/drawing/2014/main" id="{0D42883E-1CB2-4CA3-9383-5C2984555A2D}"/>
              </a:ext>
            </a:extLst>
          </p:cNvPr>
          <p:cNvGrpSpPr/>
          <p:nvPr/>
        </p:nvGrpSpPr>
        <p:grpSpPr>
          <a:xfrm>
            <a:off x="525047" y="3769320"/>
            <a:ext cx="278377" cy="919560"/>
            <a:chOff x="3631044" y="5448299"/>
            <a:chExt cx="781892" cy="1230515"/>
          </a:xfrm>
          <a:noFill/>
        </p:grpSpPr>
        <p:sp>
          <p:nvSpPr>
            <p:cNvPr id="437" name="mux">
              <a:extLst>
                <a:ext uri="{FF2B5EF4-FFF2-40B4-BE49-F238E27FC236}">
                  <a16:creationId xmlns:a16="http://schemas.microsoft.com/office/drawing/2014/main" id="{896BA3C3-C695-44B6-B76D-ADECF9B40D82}"/>
                </a:ext>
              </a:extLst>
            </p:cNvPr>
            <p:cNvSpPr/>
            <p:nvPr/>
          </p:nvSpPr>
          <p:spPr>
            <a:xfrm rot="5400000">
              <a:off x="3360534" y="5718809"/>
              <a:ext cx="1230515" cy="689495"/>
            </a:xfrm>
            <a:prstGeom prst="flowChartTerminator">
              <a:avLst/>
            </a:prstGeom>
            <a:solidFill>
              <a:srgbClr val="D0CECE"/>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438" name="文本框 437">
              <a:extLst>
                <a:ext uri="{FF2B5EF4-FFF2-40B4-BE49-F238E27FC236}">
                  <a16:creationId xmlns:a16="http://schemas.microsoft.com/office/drawing/2014/main" id="{97C84A24-5FD1-4552-8F17-FD6C4E496A2A}"/>
                </a:ext>
              </a:extLst>
            </p:cNvPr>
            <p:cNvSpPr txBox="1"/>
            <p:nvPr/>
          </p:nvSpPr>
          <p:spPr>
            <a:xfrm>
              <a:off x="3680029" y="5553609"/>
              <a:ext cx="732907" cy="1050225"/>
            </a:xfrm>
            <a:prstGeom prst="rect">
              <a:avLst/>
            </a:prstGeom>
            <a:grpFill/>
            <a:ln w="25400">
              <a:noFill/>
            </a:ln>
          </p:spPr>
          <p:txBody>
            <a:bodyPr wrap="square" rtlCol="0">
              <a:spAutoFit/>
            </a:bodyPr>
            <a:lstStyle/>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cxnSp>
        <p:nvCxnSpPr>
          <p:cNvPr id="439" name="直接连接符 438">
            <a:extLst>
              <a:ext uri="{FF2B5EF4-FFF2-40B4-BE49-F238E27FC236}">
                <a16:creationId xmlns:a16="http://schemas.microsoft.com/office/drawing/2014/main" id="{8FFB75AC-BA75-44F5-B546-16BADD29CC41}"/>
              </a:ext>
            </a:extLst>
          </p:cNvPr>
          <p:cNvCxnSpPr/>
          <p:nvPr/>
        </p:nvCxnSpPr>
        <p:spPr bwMode="auto">
          <a:xfrm>
            <a:off x="770191" y="4207505"/>
            <a:ext cx="182854"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0" name="文本框 439">
            <a:extLst>
              <a:ext uri="{FF2B5EF4-FFF2-40B4-BE49-F238E27FC236}">
                <a16:creationId xmlns:a16="http://schemas.microsoft.com/office/drawing/2014/main" id="{41DEDA70-625B-4326-A40A-A242B7764D25}"/>
              </a:ext>
            </a:extLst>
          </p:cNvPr>
          <p:cNvSpPr txBox="1"/>
          <p:nvPr/>
        </p:nvSpPr>
        <p:spPr>
          <a:xfrm>
            <a:off x="1356273" y="3170243"/>
            <a:ext cx="312906" cy="400110"/>
          </a:xfrm>
          <a:prstGeom prst="rect">
            <a:avLst/>
          </a:prstGeom>
          <a:noFill/>
        </p:spPr>
        <p:txBody>
          <a:bodyPr wrap="none" rtlCol="0">
            <a:spAutoFit/>
          </a:bodyPr>
          <a:lstStyle/>
          <a:p>
            <a:r>
              <a:rPr lang="en-GB" altLang="zh-CN" sz="2000" b="1" dirty="0">
                <a:latin typeface="Times New Roman" panose="02020603050405020304" pitchFamily="18" charset="0"/>
                <a:cs typeface="Times New Roman" panose="02020603050405020304" pitchFamily="18" charset="0"/>
              </a:rPr>
              <a:t>4</a:t>
            </a:r>
            <a:endParaRPr lang="zh-CN" altLang="en-US" sz="2000" b="1" dirty="0">
              <a:latin typeface="Times New Roman" panose="02020603050405020304" pitchFamily="18" charset="0"/>
              <a:cs typeface="Times New Roman" panose="02020603050405020304" pitchFamily="18" charset="0"/>
            </a:endParaRPr>
          </a:p>
        </p:txBody>
      </p:sp>
      <p:sp>
        <p:nvSpPr>
          <p:cNvPr id="441" name="矩形 440">
            <a:extLst>
              <a:ext uri="{FF2B5EF4-FFF2-40B4-BE49-F238E27FC236}">
                <a16:creationId xmlns:a16="http://schemas.microsoft.com/office/drawing/2014/main" id="{F81AC2A8-FB85-4770-AAA0-B0D697C62B73}"/>
              </a:ext>
            </a:extLst>
          </p:cNvPr>
          <p:cNvSpPr/>
          <p:nvPr/>
        </p:nvSpPr>
        <p:spPr>
          <a:xfrm>
            <a:off x="-226985" y="4735313"/>
            <a:ext cx="1231900" cy="307777"/>
          </a:xfrm>
          <a:prstGeom prst="rect">
            <a:avLst/>
          </a:prstGeom>
          <a:ln w="25400">
            <a:noFill/>
          </a:ln>
        </p:spPr>
        <p:txBody>
          <a:bodyPr wrap="square">
            <a:spAutoFit/>
          </a:bodyPr>
          <a:lstStyle/>
          <a:p>
            <a:pPr lvl="0" algn="ctr">
              <a:defRPr/>
            </a:pPr>
            <a:r>
              <a:rPr lang="en-GB" altLang="zh-CN" sz="1400" b="1" dirty="0">
                <a:solidFill>
                  <a:srgbClr val="FF0000"/>
                </a:solidFill>
                <a:latin typeface="Times New Roman" panose="02020603050405020304" pitchFamily="18" charset="0"/>
                <a:cs typeface="Times New Roman" panose="02020603050405020304" pitchFamily="18" charset="0"/>
              </a:rPr>
              <a:t>1</a:t>
            </a:r>
            <a:r>
              <a:rPr lang="en-US" altLang="zh-CN" sz="1400" b="1" dirty="0">
                <a:solidFill>
                  <a:srgbClr val="FF0000"/>
                </a:solidFill>
                <a:latin typeface="Times New Roman" panose="02020603050405020304" pitchFamily="18" charset="0"/>
                <a:cs typeface="Times New Roman" panose="02020603050405020304" pitchFamily="18" charset="0"/>
              </a:rPr>
              <a:t>C090000</a:t>
            </a:r>
          </a:p>
        </p:txBody>
      </p:sp>
      <p:cxnSp>
        <p:nvCxnSpPr>
          <p:cNvPr id="442" name="直接连接符 441">
            <a:extLst>
              <a:ext uri="{FF2B5EF4-FFF2-40B4-BE49-F238E27FC236}">
                <a16:creationId xmlns:a16="http://schemas.microsoft.com/office/drawing/2014/main" id="{43ACD55C-BE59-4BE8-8B21-7629D9CC495B}"/>
              </a:ext>
            </a:extLst>
          </p:cNvPr>
          <p:cNvCxnSpPr/>
          <p:nvPr/>
        </p:nvCxnSpPr>
        <p:spPr bwMode="auto">
          <a:xfrm flipV="1">
            <a:off x="80010" y="4555490"/>
            <a:ext cx="473075" cy="1016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4" name="矩形 443">
            <a:extLst>
              <a:ext uri="{FF2B5EF4-FFF2-40B4-BE49-F238E27FC236}">
                <a16:creationId xmlns:a16="http://schemas.microsoft.com/office/drawing/2014/main" id="{62558570-9C91-4C84-A790-E436609E6FDE}"/>
              </a:ext>
            </a:extLst>
          </p:cNvPr>
          <p:cNvSpPr/>
          <p:nvPr/>
        </p:nvSpPr>
        <p:spPr>
          <a:xfrm>
            <a:off x="499441" y="4534993"/>
            <a:ext cx="1231900" cy="307777"/>
          </a:xfrm>
          <a:prstGeom prst="rect">
            <a:avLst/>
          </a:prstGeom>
          <a:ln w="25400">
            <a:noFill/>
          </a:ln>
        </p:spPr>
        <p:txBody>
          <a:bodyPr wrap="square">
            <a:spAutoFit/>
          </a:bodyPr>
          <a:lstStyle/>
          <a:p>
            <a:pPr lvl="0" algn="ctr">
              <a:defRPr/>
            </a:pPr>
            <a:r>
              <a:rPr lang="en-GB" altLang="zh-CN" sz="1400" b="1" dirty="0">
                <a:solidFill>
                  <a:srgbClr val="FF0000"/>
                </a:solidFill>
                <a:latin typeface="Times New Roman" panose="02020603050405020304" pitchFamily="18" charset="0"/>
                <a:cs typeface="Times New Roman" panose="02020603050405020304" pitchFamily="18" charset="0"/>
              </a:rPr>
              <a:t>1</a:t>
            </a:r>
            <a:r>
              <a:rPr lang="en-US" altLang="zh-CN" sz="1400" b="1" dirty="0">
                <a:solidFill>
                  <a:srgbClr val="FF0000"/>
                </a:solidFill>
                <a:latin typeface="Times New Roman" panose="02020603050405020304" pitchFamily="18" charset="0"/>
                <a:cs typeface="Times New Roman" panose="02020603050405020304" pitchFamily="18" charset="0"/>
              </a:rPr>
              <a:t>C090000</a:t>
            </a:r>
          </a:p>
        </p:txBody>
      </p:sp>
      <p:cxnSp>
        <p:nvCxnSpPr>
          <p:cNvPr id="445" name="直接箭头连接符 444">
            <a:extLst>
              <a:ext uri="{FF2B5EF4-FFF2-40B4-BE49-F238E27FC236}">
                <a16:creationId xmlns:a16="http://schemas.microsoft.com/office/drawing/2014/main" id="{E57C7705-9403-4360-8982-DA110C7B8E94}"/>
              </a:ext>
            </a:extLst>
          </p:cNvPr>
          <p:cNvCxnSpPr/>
          <p:nvPr/>
        </p:nvCxnSpPr>
        <p:spPr>
          <a:xfrm flipH="1" flipV="1">
            <a:off x="857721" y="4270725"/>
            <a:ext cx="58807" cy="284695"/>
          </a:xfrm>
          <a:prstGeom prst="straightConnector1">
            <a:avLst/>
          </a:prstGeom>
          <a:ln w="254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18" name="直接箭头连接符 417"/>
          <p:cNvCxnSpPr/>
          <p:nvPr/>
        </p:nvCxnSpPr>
        <p:spPr bwMode="auto">
          <a:xfrm>
            <a:off x="6566702" y="222513"/>
            <a:ext cx="0" cy="6479648"/>
          </a:xfrm>
          <a:prstGeom prst="straightConnector1">
            <a:avLst/>
          </a:prstGeom>
          <a:ln w="12700" cap="flat" cmpd="sng" algn="ctr">
            <a:solidFill>
              <a:schemeClr val="dk1"/>
            </a:solidFill>
            <a:prstDash val="dash"/>
            <a:round/>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379" name="直接箭头连接符 378"/>
          <p:cNvCxnSpPr/>
          <p:nvPr/>
        </p:nvCxnSpPr>
        <p:spPr bwMode="auto">
          <a:xfrm>
            <a:off x="2757066" y="123283"/>
            <a:ext cx="0" cy="6479648"/>
          </a:xfrm>
          <a:prstGeom prst="straightConnector1">
            <a:avLst/>
          </a:prstGeom>
          <a:ln w="12700" cap="flat" cmpd="sng" algn="ctr">
            <a:solidFill>
              <a:schemeClr val="dk1"/>
            </a:solidFill>
            <a:prstDash val="dash"/>
            <a:round/>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525" name="直接箭头连接符 524"/>
          <p:cNvCxnSpPr/>
          <p:nvPr/>
        </p:nvCxnSpPr>
        <p:spPr bwMode="auto">
          <a:xfrm>
            <a:off x="10715356" y="287056"/>
            <a:ext cx="0" cy="6479648"/>
          </a:xfrm>
          <a:prstGeom prst="straightConnector1">
            <a:avLst/>
          </a:prstGeom>
          <a:ln w="12700" cap="flat" cmpd="sng" algn="ctr">
            <a:solidFill>
              <a:schemeClr val="dk1"/>
            </a:solidFill>
            <a:prstDash val="dash"/>
            <a:round/>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78" name="直接连接符 77"/>
          <p:cNvCxnSpPr/>
          <p:nvPr/>
        </p:nvCxnSpPr>
        <p:spPr bwMode="auto">
          <a:xfrm>
            <a:off x="2417538" y="4196528"/>
            <a:ext cx="182854"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4" name="矩形 93"/>
          <p:cNvSpPr/>
          <p:nvPr/>
        </p:nvSpPr>
        <p:spPr bwMode="auto">
          <a:xfrm>
            <a:off x="2620291" y="3230677"/>
            <a:ext cx="273550" cy="2458913"/>
          </a:xfrm>
          <a:prstGeom prst="rect">
            <a:avLst/>
          </a:prstGeom>
          <a:solidFill>
            <a:srgbClr val="D0CECE"/>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149" name="直接箭头连接符 148"/>
          <p:cNvCxnSpPr/>
          <p:nvPr/>
        </p:nvCxnSpPr>
        <p:spPr bwMode="auto">
          <a:xfrm rot="10800000" flipV="1">
            <a:off x="1098909" y="1424479"/>
            <a:ext cx="2749295" cy="2593487"/>
          </a:xfrm>
          <a:prstGeom prst="bentConnector2">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2" name="直接箭头连接符 131"/>
          <p:cNvCxnSpPr>
            <a:stCxn id="129" idx="1"/>
          </p:cNvCxnSpPr>
          <p:nvPr/>
        </p:nvCxnSpPr>
        <p:spPr bwMode="auto">
          <a:xfrm>
            <a:off x="6224683" y="2451213"/>
            <a:ext cx="180000" cy="0"/>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3" name="直接箭头连接符 132"/>
          <p:cNvCxnSpPr/>
          <p:nvPr/>
        </p:nvCxnSpPr>
        <p:spPr bwMode="auto">
          <a:xfrm>
            <a:off x="6069448" y="2635580"/>
            <a:ext cx="306391" cy="13144"/>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4" name="直接箭头连接符 133"/>
          <p:cNvCxnSpPr/>
          <p:nvPr/>
        </p:nvCxnSpPr>
        <p:spPr bwMode="auto">
          <a:xfrm>
            <a:off x="6212507" y="2847266"/>
            <a:ext cx="183983" cy="5174"/>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接箭头连接符 153"/>
          <p:cNvCxnSpPr/>
          <p:nvPr/>
        </p:nvCxnSpPr>
        <p:spPr bwMode="auto">
          <a:xfrm flipV="1">
            <a:off x="6781482" y="2264902"/>
            <a:ext cx="1538154" cy="390649"/>
          </a:xfrm>
          <a:prstGeom prst="bentConnector3">
            <a:avLst>
              <a:gd name="adj1" fmla="val 50000"/>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4" name="直接箭头连接符 183"/>
          <p:cNvCxnSpPr/>
          <p:nvPr/>
        </p:nvCxnSpPr>
        <p:spPr bwMode="auto">
          <a:xfrm>
            <a:off x="4223697" y="2670300"/>
            <a:ext cx="1542217" cy="7285"/>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 name="直接连接符 193"/>
          <p:cNvCxnSpPr>
            <a:endCxn id="129" idx="1"/>
          </p:cNvCxnSpPr>
          <p:nvPr/>
        </p:nvCxnSpPr>
        <p:spPr bwMode="auto">
          <a:xfrm flipH="1" flipV="1">
            <a:off x="6224683" y="2451213"/>
            <a:ext cx="2185" cy="382781"/>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1" name="直接连接符 200"/>
          <p:cNvCxnSpPr/>
          <p:nvPr/>
        </p:nvCxnSpPr>
        <p:spPr bwMode="auto">
          <a:xfrm>
            <a:off x="3100243" y="1781303"/>
            <a:ext cx="0" cy="3539661"/>
          </a:xfrm>
          <a:prstGeom prst="line">
            <a:avLst/>
          </a:prstGeom>
          <a:noFill/>
          <a:ln w="25400"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9" name="直接连接符 208"/>
          <p:cNvCxnSpPr/>
          <p:nvPr/>
        </p:nvCxnSpPr>
        <p:spPr bwMode="auto">
          <a:xfrm flipV="1">
            <a:off x="2883821" y="4215087"/>
            <a:ext cx="232836" cy="3578"/>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5" name="直接箭头连接符 214"/>
          <p:cNvCxnSpPr/>
          <p:nvPr/>
        </p:nvCxnSpPr>
        <p:spPr bwMode="auto">
          <a:xfrm flipV="1">
            <a:off x="3097451" y="4014508"/>
            <a:ext cx="1893560" cy="30639"/>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9" name="直接箭头连接符 218"/>
          <p:cNvCxnSpPr>
            <a:endCxn id="94" idx="0"/>
          </p:cNvCxnSpPr>
          <p:nvPr/>
        </p:nvCxnSpPr>
        <p:spPr bwMode="auto">
          <a:xfrm rot="5400000">
            <a:off x="2447623" y="1822611"/>
            <a:ext cx="1717509" cy="1098622"/>
          </a:xfrm>
          <a:prstGeom prst="bentConnector3">
            <a:avLst>
              <a:gd name="adj1" fmla="val 1390"/>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 name="直接连接符 234"/>
          <p:cNvCxnSpPr/>
          <p:nvPr/>
        </p:nvCxnSpPr>
        <p:spPr bwMode="auto">
          <a:xfrm>
            <a:off x="7422860" y="6337038"/>
            <a:ext cx="2219220"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9" name="直接连接符 278"/>
          <p:cNvCxnSpPr>
            <a:cxnSpLocks/>
          </p:cNvCxnSpPr>
          <p:nvPr/>
        </p:nvCxnSpPr>
        <p:spPr bwMode="auto">
          <a:xfrm>
            <a:off x="4126230" y="6525895"/>
            <a:ext cx="7705687"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9" name="直接连接符 298"/>
          <p:cNvCxnSpPr/>
          <p:nvPr/>
        </p:nvCxnSpPr>
        <p:spPr bwMode="auto">
          <a:xfrm flipV="1">
            <a:off x="4352626" y="5346001"/>
            <a:ext cx="2679747" cy="971893"/>
          </a:xfrm>
          <a:prstGeom prst="bentConnector3">
            <a:avLst>
              <a:gd name="adj1" fmla="val 99288"/>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6" name="直接连接符 225"/>
          <p:cNvCxnSpPr/>
          <p:nvPr/>
        </p:nvCxnSpPr>
        <p:spPr bwMode="auto">
          <a:xfrm flipV="1">
            <a:off x="3666594" y="4025331"/>
            <a:ext cx="0" cy="1921164"/>
          </a:xfrm>
          <a:prstGeom prst="line">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8" name="直接箭头连接符 227"/>
          <p:cNvCxnSpPr/>
          <p:nvPr/>
        </p:nvCxnSpPr>
        <p:spPr bwMode="auto">
          <a:xfrm>
            <a:off x="3924665" y="4246146"/>
            <a:ext cx="1061477"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7" name="直接连接符 236"/>
          <p:cNvCxnSpPr/>
          <p:nvPr/>
        </p:nvCxnSpPr>
        <p:spPr bwMode="auto">
          <a:xfrm flipV="1">
            <a:off x="4352626" y="2200918"/>
            <a:ext cx="0" cy="4139615"/>
          </a:xfrm>
          <a:prstGeom prst="straightConnector1">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9" name="直接箭头连接符 238"/>
          <p:cNvCxnSpPr/>
          <p:nvPr/>
        </p:nvCxnSpPr>
        <p:spPr bwMode="auto">
          <a:xfrm flipV="1">
            <a:off x="3095045" y="3855927"/>
            <a:ext cx="1895967" cy="27613"/>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3" name="直接箭头连接符 242"/>
          <p:cNvCxnSpPr>
            <a:endCxn id="166" idx="3"/>
          </p:cNvCxnSpPr>
          <p:nvPr/>
        </p:nvCxnSpPr>
        <p:spPr bwMode="auto">
          <a:xfrm>
            <a:off x="2918598" y="3303593"/>
            <a:ext cx="1799518" cy="9838"/>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9" name="直接连接符 248"/>
          <p:cNvCxnSpPr/>
          <p:nvPr/>
        </p:nvCxnSpPr>
        <p:spPr bwMode="auto">
          <a:xfrm>
            <a:off x="3437767" y="3867004"/>
            <a:ext cx="0" cy="1793561"/>
          </a:xfrm>
          <a:prstGeom prst="line">
            <a:avLst/>
          </a:prstGeom>
          <a:noFill/>
          <a:ln w="25400" cap="flat" cmpd="sng" algn="ctr">
            <a:solidFill>
              <a:schemeClr val="tx1"/>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1" name="直接连接符 250"/>
          <p:cNvCxnSpPr/>
          <p:nvPr/>
        </p:nvCxnSpPr>
        <p:spPr bwMode="auto">
          <a:xfrm rot="10800000">
            <a:off x="225270" y="2812724"/>
            <a:ext cx="2005451" cy="515562"/>
          </a:xfrm>
          <a:prstGeom prst="bentConnector3">
            <a:avLst>
              <a:gd name="adj1" fmla="val -908"/>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4" name="直接箭头连接符 253"/>
          <p:cNvCxnSpPr/>
          <p:nvPr/>
        </p:nvCxnSpPr>
        <p:spPr bwMode="auto">
          <a:xfrm>
            <a:off x="3666594" y="5946495"/>
            <a:ext cx="2733004"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 name="直接箭头连接符 255"/>
          <p:cNvCxnSpPr/>
          <p:nvPr/>
        </p:nvCxnSpPr>
        <p:spPr bwMode="auto">
          <a:xfrm>
            <a:off x="3437767" y="5660565"/>
            <a:ext cx="2984954"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2" name="直接箭头连接符 261"/>
          <p:cNvCxnSpPr/>
          <p:nvPr/>
        </p:nvCxnSpPr>
        <p:spPr bwMode="auto">
          <a:xfrm>
            <a:off x="5902236" y="4535611"/>
            <a:ext cx="504495"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5" name="直接箭头连接符 264"/>
          <p:cNvCxnSpPr/>
          <p:nvPr/>
        </p:nvCxnSpPr>
        <p:spPr bwMode="auto">
          <a:xfrm flipV="1">
            <a:off x="5918537" y="3918200"/>
            <a:ext cx="488194" cy="6845"/>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6" name="直接箭头连接符 245"/>
          <p:cNvCxnSpPr>
            <a:stCxn id="185" idx="6"/>
          </p:cNvCxnSpPr>
          <p:nvPr/>
        </p:nvCxnSpPr>
        <p:spPr bwMode="auto">
          <a:xfrm flipV="1">
            <a:off x="5541710" y="5017770"/>
            <a:ext cx="857185" cy="1598"/>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8" name="直接箭头连接符 357"/>
          <p:cNvCxnSpPr/>
          <p:nvPr/>
        </p:nvCxnSpPr>
        <p:spPr bwMode="auto">
          <a:xfrm>
            <a:off x="6776279" y="4505208"/>
            <a:ext cx="795531" cy="10352"/>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3" name="直接箭头连接符 372"/>
          <p:cNvCxnSpPr/>
          <p:nvPr/>
        </p:nvCxnSpPr>
        <p:spPr bwMode="auto">
          <a:xfrm flipV="1">
            <a:off x="6787153" y="5329825"/>
            <a:ext cx="2345307"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7" name="直接箭头连接符 396"/>
          <p:cNvCxnSpPr/>
          <p:nvPr/>
        </p:nvCxnSpPr>
        <p:spPr bwMode="auto">
          <a:xfrm>
            <a:off x="11199659" y="1024730"/>
            <a:ext cx="0" cy="4969645"/>
          </a:xfrm>
          <a:prstGeom prst="straightConnector1">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1" name="直接箭头连接符 400"/>
          <p:cNvCxnSpPr/>
          <p:nvPr/>
        </p:nvCxnSpPr>
        <p:spPr bwMode="auto">
          <a:xfrm rot="10800000">
            <a:off x="5058832" y="1512001"/>
            <a:ext cx="1933288" cy="1156823"/>
          </a:xfrm>
          <a:prstGeom prst="bentConnector3">
            <a:avLst>
              <a:gd name="adj1" fmla="val -253"/>
            </a:avLst>
          </a:prstGeom>
          <a:noFill/>
          <a:ln w="25400" cap="flat" cmpd="sng" algn="ctr">
            <a:solidFill>
              <a:srgbClr val="00B0F0"/>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0" name="连接符: 肘形 419"/>
          <p:cNvCxnSpPr>
            <a:endCxn id="312" idx="3"/>
          </p:cNvCxnSpPr>
          <p:nvPr/>
        </p:nvCxnSpPr>
        <p:spPr bwMode="auto">
          <a:xfrm rot="10800000">
            <a:off x="7696203" y="4069641"/>
            <a:ext cx="375728" cy="145447"/>
          </a:xfrm>
          <a:prstGeom prst="bentConnector2">
            <a:avLst/>
          </a:prstGeom>
          <a:solidFill>
            <a:schemeClr val="accent1"/>
          </a:solid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梯形 43"/>
          <p:cNvSpPr/>
          <p:nvPr/>
        </p:nvSpPr>
        <p:spPr bwMode="auto">
          <a:xfrm rot="5400000">
            <a:off x="8001181" y="3733662"/>
            <a:ext cx="1292857" cy="371529"/>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algn="ctr" fontAlgn="base">
              <a:spcBef>
                <a:spcPct val="0"/>
              </a:spcBef>
              <a:spcAft>
                <a:spcPct val="0"/>
              </a:spcAft>
            </a:pPr>
            <a:r>
              <a:rPr lang="en-US" altLang="zh-CN" sz="1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a:t>
            </a:r>
          </a:p>
          <a:p>
            <a:pPr algn="ctr" fontAlgn="base">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L</a:t>
            </a:r>
          </a:p>
          <a:p>
            <a:pPr algn="ctr" fontAlgn="base">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U</a:t>
            </a:r>
            <a:endParaRPr lang="zh-CN" altLang="en-US" sz="16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70" name="直接箭头连接符 269"/>
          <p:cNvCxnSpPr/>
          <p:nvPr/>
        </p:nvCxnSpPr>
        <p:spPr bwMode="auto">
          <a:xfrm>
            <a:off x="7257760" y="3718827"/>
            <a:ext cx="320264"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2" name="直接箭头连接符 271"/>
          <p:cNvCxnSpPr/>
          <p:nvPr/>
        </p:nvCxnSpPr>
        <p:spPr bwMode="auto">
          <a:xfrm>
            <a:off x="7422860" y="3844381"/>
            <a:ext cx="147416"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1" name="直接连接符 280"/>
          <p:cNvCxnSpPr/>
          <p:nvPr/>
        </p:nvCxnSpPr>
        <p:spPr bwMode="auto">
          <a:xfrm>
            <a:off x="7422860" y="3855085"/>
            <a:ext cx="0" cy="2478719"/>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5" name="直接箭头连接符 284"/>
          <p:cNvCxnSpPr/>
          <p:nvPr/>
        </p:nvCxnSpPr>
        <p:spPr bwMode="auto">
          <a:xfrm flipV="1">
            <a:off x="7264140" y="4812248"/>
            <a:ext cx="321461" cy="0"/>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3" name="直接箭头连接符 292"/>
          <p:cNvCxnSpPr/>
          <p:nvPr/>
        </p:nvCxnSpPr>
        <p:spPr bwMode="auto">
          <a:xfrm flipV="1">
            <a:off x="8247115" y="4232629"/>
            <a:ext cx="214730" cy="3005"/>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 name="直接连接符 301"/>
          <p:cNvCxnSpPr/>
          <p:nvPr/>
        </p:nvCxnSpPr>
        <p:spPr bwMode="auto">
          <a:xfrm>
            <a:off x="3924935" y="4248150"/>
            <a:ext cx="6350" cy="244602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4" name="直接箭头连接符 303"/>
          <p:cNvCxnSpPr/>
          <p:nvPr/>
        </p:nvCxnSpPr>
        <p:spPr bwMode="auto">
          <a:xfrm rot="5400000" flipH="1" flipV="1">
            <a:off x="4210662" y="1886889"/>
            <a:ext cx="1842078" cy="405120"/>
          </a:xfrm>
          <a:prstGeom prst="bentConnector3">
            <a:avLst>
              <a:gd name="adj1" fmla="val -603"/>
            </a:avLst>
          </a:prstGeom>
          <a:noFill/>
          <a:ln w="25400"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7" name="直接箭头连接符 306"/>
          <p:cNvCxnSpPr/>
          <p:nvPr/>
        </p:nvCxnSpPr>
        <p:spPr bwMode="auto">
          <a:xfrm>
            <a:off x="7422860" y="4678049"/>
            <a:ext cx="147416" cy="0"/>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8" name="直接箭头连接符 317"/>
          <p:cNvCxnSpPr>
            <a:stCxn id="321" idx="0"/>
          </p:cNvCxnSpPr>
          <p:nvPr/>
        </p:nvCxnSpPr>
        <p:spPr bwMode="auto">
          <a:xfrm>
            <a:off x="7825377" y="4685248"/>
            <a:ext cx="1315567"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8" name="直接连接符 197"/>
          <p:cNvCxnSpPr/>
          <p:nvPr/>
        </p:nvCxnSpPr>
        <p:spPr bwMode="auto">
          <a:xfrm flipV="1">
            <a:off x="8247116" y="4228301"/>
            <a:ext cx="0" cy="452054"/>
          </a:xfrm>
          <a:prstGeom prst="line">
            <a:avLst/>
          </a:prstGeom>
          <a:noFill/>
          <a:ln w="25400" cap="flat" cmpd="sng" algn="ctr">
            <a:solidFill>
              <a:schemeClr val="tx1"/>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接连接符 111"/>
          <p:cNvCxnSpPr/>
          <p:nvPr/>
        </p:nvCxnSpPr>
        <p:spPr>
          <a:xfrm>
            <a:off x="8071931" y="4215087"/>
            <a:ext cx="0" cy="1329881"/>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 name="直接连接符 296"/>
          <p:cNvCxnSpPr/>
          <p:nvPr/>
        </p:nvCxnSpPr>
        <p:spPr bwMode="auto">
          <a:xfrm flipV="1">
            <a:off x="101832" y="1168412"/>
            <a:ext cx="5220748" cy="26754"/>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01" name="Mux 3"/>
          <p:cNvGrpSpPr/>
          <p:nvPr/>
        </p:nvGrpSpPr>
        <p:grpSpPr>
          <a:xfrm>
            <a:off x="5717383" y="2286189"/>
            <a:ext cx="426719" cy="787203"/>
            <a:chOff x="3548111" y="5441614"/>
            <a:chExt cx="907262" cy="1250903"/>
          </a:xfrm>
          <a:solidFill>
            <a:srgbClr val="9CDCF9"/>
          </a:solidFill>
        </p:grpSpPr>
        <p:sp>
          <p:nvSpPr>
            <p:cNvPr id="303" name="mux"/>
            <p:cNvSpPr/>
            <p:nvPr/>
          </p:nvSpPr>
          <p:spPr>
            <a:xfrm rot="5400000">
              <a:off x="3360534" y="5718809"/>
              <a:ext cx="1230515" cy="689495"/>
            </a:xfrm>
            <a:prstGeom prst="flowChartTerminator">
              <a:avLst/>
            </a:prstGeom>
            <a:grpFill/>
            <a:ln w="25400">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310" name="文本框 309"/>
            <p:cNvSpPr txBox="1"/>
            <p:nvPr/>
          </p:nvSpPr>
          <p:spPr>
            <a:xfrm>
              <a:off x="3548111" y="5441614"/>
              <a:ext cx="907262" cy="1250903"/>
            </a:xfrm>
            <a:prstGeom prst="rect">
              <a:avLst/>
            </a:prstGeom>
            <a:noFill/>
            <a:ln w="25400">
              <a:noFill/>
            </a:ln>
          </p:spPr>
          <p:txBody>
            <a:bodyPr wrap="none" rtlCol="0">
              <a:spAutoFit/>
            </a:bodyPr>
            <a:lstStyle/>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grpSp>
        <p:nvGrpSpPr>
          <p:cNvPr id="311" name="Mux 3"/>
          <p:cNvGrpSpPr/>
          <p:nvPr/>
        </p:nvGrpSpPr>
        <p:grpSpPr>
          <a:xfrm>
            <a:off x="7483954" y="3329138"/>
            <a:ext cx="426720" cy="812096"/>
            <a:chOff x="3429917" y="5448299"/>
            <a:chExt cx="1097464" cy="1349476"/>
          </a:xfrm>
          <a:noFill/>
        </p:grpSpPr>
        <p:sp>
          <p:nvSpPr>
            <p:cNvPr id="312" name="mux"/>
            <p:cNvSpPr/>
            <p:nvPr/>
          </p:nvSpPr>
          <p:spPr>
            <a:xfrm rot="5400000">
              <a:off x="3360534" y="5718809"/>
              <a:ext cx="1230515" cy="689495"/>
            </a:xfrm>
            <a:prstGeom prst="flowChartTerminator">
              <a:avLst/>
            </a:prstGeom>
            <a:grp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314" name="文本框 313"/>
            <p:cNvSpPr txBox="1"/>
            <p:nvPr/>
          </p:nvSpPr>
          <p:spPr>
            <a:xfrm>
              <a:off x="3429917" y="5489664"/>
              <a:ext cx="1097464" cy="1308111"/>
            </a:xfrm>
            <a:prstGeom prst="rect">
              <a:avLst/>
            </a:prstGeom>
            <a:grpFill/>
            <a:ln w="25400">
              <a:noFill/>
            </a:ln>
          </p:spPr>
          <p:txBody>
            <a:bodyPr wrap="none" rtlCol="0">
              <a:spAutoFit/>
            </a:bodyPr>
            <a:lstStyle/>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grpSp>
        <p:nvGrpSpPr>
          <p:cNvPr id="320" name="Mux 3"/>
          <p:cNvGrpSpPr/>
          <p:nvPr/>
        </p:nvGrpSpPr>
        <p:grpSpPr>
          <a:xfrm>
            <a:off x="7501671" y="4273831"/>
            <a:ext cx="426720" cy="836932"/>
            <a:chOff x="3389700" y="5448299"/>
            <a:chExt cx="1227068" cy="1251589"/>
          </a:xfrm>
          <a:noFill/>
        </p:grpSpPr>
        <p:sp>
          <p:nvSpPr>
            <p:cNvPr id="321" name="mux"/>
            <p:cNvSpPr/>
            <p:nvPr/>
          </p:nvSpPr>
          <p:spPr>
            <a:xfrm rot="5400000">
              <a:off x="3360534" y="5718809"/>
              <a:ext cx="1230515" cy="689495"/>
            </a:xfrm>
            <a:prstGeom prst="flowChartTerminator">
              <a:avLst/>
            </a:prstGeom>
            <a:grp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322" name="文本框 321"/>
            <p:cNvSpPr txBox="1"/>
            <p:nvPr/>
          </p:nvSpPr>
          <p:spPr>
            <a:xfrm>
              <a:off x="3389700" y="5522666"/>
              <a:ext cx="1227068" cy="1177222"/>
            </a:xfrm>
            <a:prstGeom prst="rect">
              <a:avLst/>
            </a:prstGeom>
            <a:grpFill/>
            <a:ln w="25400">
              <a:noFill/>
            </a:ln>
          </p:spPr>
          <p:txBody>
            <a:bodyPr wrap="none" rtlCol="0">
              <a:spAutoFit/>
            </a:bodyPr>
            <a:lstStyle/>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sp>
        <p:nvSpPr>
          <p:cNvPr id="163" name="矩形 162"/>
          <p:cNvSpPr/>
          <p:nvPr/>
        </p:nvSpPr>
        <p:spPr>
          <a:xfrm>
            <a:off x="2321001" y="2874184"/>
            <a:ext cx="823259" cy="400110"/>
          </a:xfrm>
          <a:prstGeom prst="rect">
            <a:avLst/>
          </a:prstGeom>
          <a:ln w="25400">
            <a:noFill/>
          </a:ln>
        </p:spPr>
        <p:txBody>
          <a:bodyPr wrap="square">
            <a:spAutoFit/>
          </a:bodyPr>
          <a:lstStyle/>
          <a:p>
            <a:pPr lvl="0" algn="ctr">
              <a:defRPr/>
            </a:pPr>
            <a:r>
              <a:rPr lang="en-US" altLang="zh-CN" sz="2000" b="1" dirty="0">
                <a:solidFill>
                  <a:prstClr val="black"/>
                </a:solidFill>
                <a:latin typeface="Times New Roman" panose="02020603050405020304" pitchFamily="18" charset="0"/>
                <a:cs typeface="Times New Roman" panose="02020603050405020304" pitchFamily="18" charset="0"/>
              </a:rPr>
              <a:t>IF/ID</a:t>
            </a:r>
            <a:endParaRPr lang="zh-CN" altLang="en-US" sz="2000" b="1" dirty="0">
              <a:solidFill>
                <a:prstClr val="black"/>
              </a:solidFill>
              <a:latin typeface="Times New Roman" panose="02020603050405020304" pitchFamily="18" charset="0"/>
              <a:cs typeface="Times New Roman" panose="02020603050405020304" pitchFamily="18" charset="0"/>
            </a:endParaRPr>
          </a:p>
        </p:txBody>
      </p:sp>
      <p:cxnSp>
        <p:nvCxnSpPr>
          <p:cNvPr id="385" name="连接符: 肘形 384"/>
          <p:cNvCxnSpPr>
            <a:endCxn id="321" idx="3"/>
          </p:cNvCxnSpPr>
          <p:nvPr/>
        </p:nvCxnSpPr>
        <p:spPr bwMode="auto">
          <a:xfrm rot="16200000" flipV="1">
            <a:off x="7613405" y="5188751"/>
            <a:ext cx="431098" cy="246929"/>
          </a:xfrm>
          <a:prstGeom prst="bentConnector3">
            <a:avLst>
              <a:gd name="adj1" fmla="val 67676"/>
            </a:avLst>
          </a:prstGeom>
          <a:solidFill>
            <a:schemeClr val="accent1"/>
          </a:solid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1" name="直接连接符 160"/>
          <p:cNvCxnSpPr/>
          <p:nvPr/>
        </p:nvCxnSpPr>
        <p:spPr bwMode="auto">
          <a:xfrm>
            <a:off x="5408579" y="1038134"/>
            <a:ext cx="5781555" cy="0"/>
          </a:xfrm>
          <a:prstGeom prst="line">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1" name="梯形 43"/>
          <p:cNvSpPr/>
          <p:nvPr/>
        </p:nvSpPr>
        <p:spPr bwMode="auto">
          <a:xfrm rot="5400000">
            <a:off x="1757137" y="3241307"/>
            <a:ext cx="432037" cy="173951"/>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solidFill>
            <a:srgbClr val="D0CECE"/>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algn="ctr" fontAlgn="base">
              <a:spcBef>
                <a:spcPct val="0"/>
              </a:spcBef>
              <a:spcAft>
                <a:spcPct val="0"/>
              </a:spcAft>
            </a:pPr>
            <a:r>
              <a:rPr lang="en-US" altLang="zh-CN"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4" name="椭圆 163"/>
          <p:cNvSpPr/>
          <p:nvPr/>
        </p:nvSpPr>
        <p:spPr>
          <a:xfrm>
            <a:off x="4361360" y="3505720"/>
            <a:ext cx="586357" cy="282377"/>
          </a:xfrm>
          <a:prstGeom prst="ellipse">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GB" altLang="zh-CN" sz="800" b="1" dirty="0">
                <a:solidFill>
                  <a:srgbClr val="FF0000"/>
                </a:solidFill>
                <a:latin typeface="Times New Roman" panose="02020603050405020304" pitchFamily="18" charset="0"/>
                <a:cs typeface="Times New Roman" panose="02020603050405020304" pitchFamily="18" charset="0"/>
              </a:rPr>
              <a:t>Shift left 1</a:t>
            </a:r>
            <a:endParaRPr lang="zh-CN" altLang="en-US" sz="800" b="1" dirty="0">
              <a:solidFill>
                <a:srgbClr val="FF0000"/>
              </a:solidFill>
              <a:latin typeface="Times New Roman" panose="02020603050405020304" pitchFamily="18" charset="0"/>
              <a:cs typeface="Times New Roman" panose="02020603050405020304" pitchFamily="18" charset="0"/>
            </a:endParaRPr>
          </a:p>
        </p:txBody>
      </p:sp>
      <p:sp>
        <p:nvSpPr>
          <p:cNvPr id="166" name="梯形 43"/>
          <p:cNvSpPr/>
          <p:nvPr/>
        </p:nvSpPr>
        <p:spPr bwMode="auto">
          <a:xfrm rot="5400000">
            <a:off x="4547141" y="2944309"/>
            <a:ext cx="540097" cy="198147"/>
          </a:xfrm>
          <a:custGeom>
            <a:avLst/>
            <a:gdLst>
              <a:gd name="connsiteX0" fmla="*/ 0 w 1740247"/>
              <a:gd name="connsiteY0" fmla="*/ 648073 h 648073"/>
              <a:gd name="connsiteX1" fmla="*/ 209956 w 1740247"/>
              <a:gd name="connsiteY1" fmla="*/ 0 h 648073"/>
              <a:gd name="connsiteX2" fmla="*/ 1530291 w 1740247"/>
              <a:gd name="connsiteY2" fmla="*/ 0 h 648073"/>
              <a:gd name="connsiteX3" fmla="*/ 1740247 w 1740247"/>
              <a:gd name="connsiteY3" fmla="*/ 648073 h 648073"/>
              <a:gd name="connsiteX4" fmla="*/ 0 w 1740247"/>
              <a:gd name="connsiteY4" fmla="*/ 648073 h 648073"/>
              <a:gd name="connsiteX0-1" fmla="*/ 0 w 1740247"/>
              <a:gd name="connsiteY0-2" fmla="*/ 648073 h 648073"/>
              <a:gd name="connsiteX1-3" fmla="*/ 209956 w 1740247"/>
              <a:gd name="connsiteY1-4" fmla="*/ 0 h 648073"/>
              <a:gd name="connsiteX2-5" fmla="*/ 1530291 w 1740247"/>
              <a:gd name="connsiteY2-6" fmla="*/ 0 h 648073"/>
              <a:gd name="connsiteX3-7" fmla="*/ 1740247 w 1740247"/>
              <a:gd name="connsiteY3-8" fmla="*/ 648073 h 648073"/>
              <a:gd name="connsiteX4-9" fmla="*/ 847578 w 1740247"/>
              <a:gd name="connsiteY4-10" fmla="*/ 647846 h 648073"/>
              <a:gd name="connsiteX5" fmla="*/ 0 w 1740247"/>
              <a:gd name="connsiteY5" fmla="*/ 648073 h 648073"/>
              <a:gd name="connsiteX0-11" fmla="*/ 0 w 1740247"/>
              <a:gd name="connsiteY0-12" fmla="*/ 648073 h 648073"/>
              <a:gd name="connsiteX1-13" fmla="*/ 209956 w 1740247"/>
              <a:gd name="connsiteY1-14" fmla="*/ 0 h 648073"/>
              <a:gd name="connsiteX2-15" fmla="*/ 1530291 w 1740247"/>
              <a:gd name="connsiteY2-16" fmla="*/ 0 h 648073"/>
              <a:gd name="connsiteX3-17" fmla="*/ 1740247 w 1740247"/>
              <a:gd name="connsiteY3-18" fmla="*/ 648073 h 648073"/>
              <a:gd name="connsiteX4-19" fmla="*/ 847578 w 1740247"/>
              <a:gd name="connsiteY4-20" fmla="*/ 647846 h 648073"/>
              <a:gd name="connsiteX5-21" fmla="*/ 640409 w 1740247"/>
              <a:gd name="connsiteY5-22" fmla="*/ 647846 h 648073"/>
              <a:gd name="connsiteX6" fmla="*/ 0 w 1740247"/>
              <a:gd name="connsiteY6" fmla="*/ 648073 h 648073"/>
              <a:gd name="connsiteX0-23" fmla="*/ 0 w 1740247"/>
              <a:gd name="connsiteY0-24" fmla="*/ 648073 h 648073"/>
              <a:gd name="connsiteX1-25" fmla="*/ 209956 w 1740247"/>
              <a:gd name="connsiteY1-26" fmla="*/ 0 h 648073"/>
              <a:gd name="connsiteX2-27" fmla="*/ 1530291 w 1740247"/>
              <a:gd name="connsiteY2-28" fmla="*/ 0 h 648073"/>
              <a:gd name="connsiteX3-29" fmla="*/ 1740247 w 1740247"/>
              <a:gd name="connsiteY3-30" fmla="*/ 648073 h 648073"/>
              <a:gd name="connsiteX4-31" fmla="*/ 1019028 w 1740247"/>
              <a:gd name="connsiteY4-32" fmla="*/ 647846 h 648073"/>
              <a:gd name="connsiteX5-33" fmla="*/ 847578 w 1740247"/>
              <a:gd name="connsiteY5-34" fmla="*/ 647846 h 648073"/>
              <a:gd name="connsiteX6-35" fmla="*/ 640409 w 1740247"/>
              <a:gd name="connsiteY6-36" fmla="*/ 647846 h 648073"/>
              <a:gd name="connsiteX7" fmla="*/ 0 w 1740247"/>
              <a:gd name="connsiteY7" fmla="*/ 648073 h 648073"/>
              <a:gd name="connsiteX0-37" fmla="*/ 0 w 1740247"/>
              <a:gd name="connsiteY0-38" fmla="*/ 648073 h 650227"/>
              <a:gd name="connsiteX1-39" fmla="*/ 209956 w 1740247"/>
              <a:gd name="connsiteY1-40" fmla="*/ 0 h 650227"/>
              <a:gd name="connsiteX2-41" fmla="*/ 1530291 w 1740247"/>
              <a:gd name="connsiteY2-42" fmla="*/ 0 h 650227"/>
              <a:gd name="connsiteX3-43" fmla="*/ 1740247 w 1740247"/>
              <a:gd name="connsiteY3-44" fmla="*/ 648073 h 650227"/>
              <a:gd name="connsiteX4-45" fmla="*/ 1042841 w 1740247"/>
              <a:gd name="connsiteY4-46" fmla="*/ 650227 h 650227"/>
              <a:gd name="connsiteX5-47" fmla="*/ 847578 w 1740247"/>
              <a:gd name="connsiteY5-48" fmla="*/ 647846 h 650227"/>
              <a:gd name="connsiteX6-49" fmla="*/ 640409 w 1740247"/>
              <a:gd name="connsiteY6-50" fmla="*/ 647846 h 650227"/>
              <a:gd name="connsiteX7-51" fmla="*/ 0 w 1740247"/>
              <a:gd name="connsiteY7-52" fmla="*/ 648073 h 650227"/>
              <a:gd name="connsiteX0-53" fmla="*/ 0 w 1740247"/>
              <a:gd name="connsiteY0-54" fmla="*/ 648073 h 650227"/>
              <a:gd name="connsiteX1-55" fmla="*/ 209956 w 1740247"/>
              <a:gd name="connsiteY1-56" fmla="*/ 0 h 650227"/>
              <a:gd name="connsiteX2-57" fmla="*/ 1530291 w 1740247"/>
              <a:gd name="connsiteY2-58" fmla="*/ 0 h 650227"/>
              <a:gd name="connsiteX3-59" fmla="*/ 1740247 w 1740247"/>
              <a:gd name="connsiteY3-60" fmla="*/ 648073 h 650227"/>
              <a:gd name="connsiteX4-61" fmla="*/ 1042841 w 1740247"/>
              <a:gd name="connsiteY4-62" fmla="*/ 650227 h 650227"/>
              <a:gd name="connsiteX5-63" fmla="*/ 847578 w 1740247"/>
              <a:gd name="connsiteY5-64" fmla="*/ 647846 h 650227"/>
              <a:gd name="connsiteX6-65" fmla="*/ 680891 w 1740247"/>
              <a:gd name="connsiteY6-66" fmla="*/ 647846 h 650227"/>
              <a:gd name="connsiteX7-67" fmla="*/ 0 w 1740247"/>
              <a:gd name="connsiteY7-68" fmla="*/ 648073 h 650227"/>
              <a:gd name="connsiteX0-69" fmla="*/ 0 w 1740247"/>
              <a:gd name="connsiteY0-70" fmla="*/ 648073 h 648073"/>
              <a:gd name="connsiteX1-71" fmla="*/ 209956 w 1740247"/>
              <a:gd name="connsiteY1-72" fmla="*/ 0 h 648073"/>
              <a:gd name="connsiteX2-73" fmla="*/ 1530291 w 1740247"/>
              <a:gd name="connsiteY2-74" fmla="*/ 0 h 648073"/>
              <a:gd name="connsiteX3-75" fmla="*/ 1740247 w 1740247"/>
              <a:gd name="connsiteY3-76" fmla="*/ 648073 h 648073"/>
              <a:gd name="connsiteX4-77" fmla="*/ 1035697 w 1740247"/>
              <a:gd name="connsiteY4-78" fmla="*/ 645464 h 648073"/>
              <a:gd name="connsiteX5-79" fmla="*/ 847578 w 1740247"/>
              <a:gd name="connsiteY5-80" fmla="*/ 647846 h 648073"/>
              <a:gd name="connsiteX6-81" fmla="*/ 680891 w 1740247"/>
              <a:gd name="connsiteY6-82" fmla="*/ 647846 h 648073"/>
              <a:gd name="connsiteX7-83" fmla="*/ 0 w 1740247"/>
              <a:gd name="connsiteY7-84" fmla="*/ 648073 h 648073"/>
              <a:gd name="connsiteX0-85" fmla="*/ 0 w 1740247"/>
              <a:gd name="connsiteY0-86" fmla="*/ 648073 h 648073"/>
              <a:gd name="connsiteX1-87" fmla="*/ 209956 w 1740247"/>
              <a:gd name="connsiteY1-88" fmla="*/ 0 h 648073"/>
              <a:gd name="connsiteX2-89" fmla="*/ 1530291 w 1740247"/>
              <a:gd name="connsiteY2-90" fmla="*/ 0 h 648073"/>
              <a:gd name="connsiteX3-91" fmla="*/ 1740247 w 1740247"/>
              <a:gd name="connsiteY3-92" fmla="*/ 648073 h 648073"/>
              <a:gd name="connsiteX4-93" fmla="*/ 1035697 w 1740247"/>
              <a:gd name="connsiteY4-94" fmla="*/ 647846 h 648073"/>
              <a:gd name="connsiteX5-95" fmla="*/ 847578 w 1740247"/>
              <a:gd name="connsiteY5-96" fmla="*/ 647846 h 648073"/>
              <a:gd name="connsiteX6-97" fmla="*/ 680891 w 1740247"/>
              <a:gd name="connsiteY6-98" fmla="*/ 647846 h 648073"/>
              <a:gd name="connsiteX7-99" fmla="*/ 0 w 1740247"/>
              <a:gd name="connsiteY7-100" fmla="*/ 648073 h 648073"/>
              <a:gd name="connsiteX0-101" fmla="*/ 0 w 1740247"/>
              <a:gd name="connsiteY0-102" fmla="*/ 648073 h 648073"/>
              <a:gd name="connsiteX1-103" fmla="*/ 209956 w 1740247"/>
              <a:gd name="connsiteY1-104" fmla="*/ 0 h 648073"/>
              <a:gd name="connsiteX2-105" fmla="*/ 1530291 w 1740247"/>
              <a:gd name="connsiteY2-106" fmla="*/ 0 h 648073"/>
              <a:gd name="connsiteX3-107" fmla="*/ 1740247 w 1740247"/>
              <a:gd name="connsiteY3-108" fmla="*/ 648073 h 648073"/>
              <a:gd name="connsiteX4-109" fmla="*/ 1035697 w 1740247"/>
              <a:gd name="connsiteY4-110" fmla="*/ 647846 h 648073"/>
              <a:gd name="connsiteX5-111" fmla="*/ 847578 w 1740247"/>
              <a:gd name="connsiteY5-112" fmla="*/ 490683 h 648073"/>
              <a:gd name="connsiteX6-113" fmla="*/ 680891 w 1740247"/>
              <a:gd name="connsiteY6-114" fmla="*/ 647846 h 648073"/>
              <a:gd name="connsiteX7-115" fmla="*/ 0 w 1740247"/>
              <a:gd name="connsiteY7-116" fmla="*/ 648073 h 64807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 ang="0">
                <a:pos x="connsiteX6-35" y="connsiteY6-36"/>
              </a:cxn>
              <a:cxn ang="0">
                <a:pos x="connsiteX7-51" y="connsiteY7-52"/>
              </a:cxn>
            </a:cxnLst>
            <a:rect l="l" t="t" r="r" b="b"/>
            <a:pathLst>
              <a:path w="1740247" h="648073">
                <a:moveTo>
                  <a:pt x="0" y="648073"/>
                </a:moveTo>
                <a:lnTo>
                  <a:pt x="209956" y="0"/>
                </a:lnTo>
                <a:lnTo>
                  <a:pt x="1530291" y="0"/>
                </a:lnTo>
                <a:lnTo>
                  <a:pt x="1740247" y="648073"/>
                </a:lnTo>
                <a:lnTo>
                  <a:pt x="1035697" y="647846"/>
                </a:lnTo>
                <a:lnTo>
                  <a:pt x="847578" y="490683"/>
                </a:lnTo>
                <a:lnTo>
                  <a:pt x="680891" y="647846"/>
                </a:lnTo>
                <a:lnTo>
                  <a:pt x="0" y="648073"/>
                </a:lnTo>
                <a:close/>
              </a:path>
            </a:pathLst>
          </a:cu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vert270" wrap="square" lIns="91440" tIns="45720" rIns="91440" bIns="45720" numCol="1" rtlCol="0" anchor="ctr" anchorCtr="0" compatLnSpc="1"/>
          <a:lstStyle/>
          <a:p>
            <a:pPr algn="ctr" fontAlgn="base">
              <a:spcBef>
                <a:spcPct val="0"/>
              </a:spcBef>
              <a:spcAft>
                <a:spcPct val="0"/>
              </a:spcAft>
            </a:pPr>
            <a:r>
              <a:rPr lang="en-GB" altLang="zh-CN"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en-US"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5" name="椭圆 184"/>
          <p:cNvSpPr/>
          <p:nvPr/>
        </p:nvSpPr>
        <p:spPr>
          <a:xfrm>
            <a:off x="4573270" y="4752975"/>
            <a:ext cx="968375" cy="533400"/>
          </a:xfrm>
          <a:prstGeom prst="ellipse">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lnSpc>
                <a:spcPts val="1800"/>
              </a:lnSpc>
            </a:pPr>
            <a:r>
              <a:rPr lang="en-GB" altLang="zh-CN" sz="2000" dirty="0" err="1">
                <a:solidFill>
                  <a:srgbClr val="FF0000"/>
                </a:solidFill>
                <a:latin typeface="Times New Roman" panose="02020603050405020304" pitchFamily="18" charset="0"/>
                <a:cs typeface="Times New Roman" panose="02020603050405020304" pitchFamily="18" charset="0"/>
              </a:rPr>
              <a:t>Imm</a:t>
            </a:r>
            <a:r>
              <a:rPr lang="en-GB" altLang="zh-CN" sz="2000" dirty="0">
                <a:solidFill>
                  <a:srgbClr val="FF0000"/>
                </a:solidFill>
                <a:latin typeface="Times New Roman" panose="02020603050405020304" pitchFamily="18" charset="0"/>
                <a:cs typeface="Times New Roman" panose="02020603050405020304" pitchFamily="18" charset="0"/>
              </a:rPr>
              <a:t> Gen</a:t>
            </a:r>
            <a:endParaRPr lang="zh-CN" altLang="en-US" sz="2000" dirty="0">
              <a:solidFill>
                <a:srgbClr val="FF0000"/>
              </a:solidFill>
              <a:latin typeface="Times New Roman" panose="02020603050405020304" pitchFamily="18" charset="0"/>
              <a:cs typeface="Times New Roman" panose="02020603050405020304" pitchFamily="18" charset="0"/>
            </a:endParaRPr>
          </a:p>
        </p:txBody>
      </p:sp>
      <p:cxnSp>
        <p:nvCxnSpPr>
          <p:cNvPr id="225" name="直接箭头连接符 224"/>
          <p:cNvCxnSpPr>
            <a:endCxn id="185" idx="2"/>
          </p:cNvCxnSpPr>
          <p:nvPr/>
        </p:nvCxnSpPr>
        <p:spPr bwMode="auto">
          <a:xfrm flipV="1">
            <a:off x="3105442" y="5019368"/>
            <a:ext cx="1467830" cy="13673"/>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0" name="直接箭头连接符 239"/>
          <p:cNvCxnSpPr/>
          <p:nvPr/>
        </p:nvCxnSpPr>
        <p:spPr bwMode="auto">
          <a:xfrm>
            <a:off x="7021863" y="3603833"/>
            <a:ext cx="548802"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3" name="直接箭头连接符 352"/>
          <p:cNvCxnSpPr/>
          <p:nvPr/>
        </p:nvCxnSpPr>
        <p:spPr bwMode="auto">
          <a:xfrm>
            <a:off x="3101632" y="2698414"/>
            <a:ext cx="199949" cy="0"/>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0" name="直接箭头连接符 359"/>
          <p:cNvCxnSpPr/>
          <p:nvPr/>
        </p:nvCxnSpPr>
        <p:spPr bwMode="auto">
          <a:xfrm flipH="1">
            <a:off x="2057103" y="3328282"/>
            <a:ext cx="173615" cy="0"/>
          </a:xfrm>
          <a:prstGeom prst="straightConnector1">
            <a:avLst/>
          </a:prstGeom>
          <a:noFill/>
          <a:ln w="25400"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0" name="直接箭头连接符 399"/>
          <p:cNvCxnSpPr>
            <a:endCxn id="181" idx="0"/>
          </p:cNvCxnSpPr>
          <p:nvPr/>
        </p:nvCxnSpPr>
        <p:spPr bwMode="auto">
          <a:xfrm rot="5400000" flipH="1" flipV="1">
            <a:off x="1064663" y="3390796"/>
            <a:ext cx="1100049" cy="542986"/>
          </a:xfrm>
          <a:prstGeom prst="bentConnector3">
            <a:avLst>
              <a:gd name="adj1" fmla="val 99874"/>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2" name="直接箭头连接符 411"/>
          <p:cNvCxnSpPr/>
          <p:nvPr/>
        </p:nvCxnSpPr>
        <p:spPr bwMode="auto">
          <a:xfrm flipV="1">
            <a:off x="1338997" y="3582195"/>
            <a:ext cx="1277638" cy="16951"/>
          </a:xfrm>
          <a:prstGeom prst="straightConnector1">
            <a:avLst/>
          </a:prstGeom>
          <a:noFill/>
          <a:ln w="25400" cap="flat" cmpd="sng" algn="ctr">
            <a:solidFill>
              <a:schemeClr val="tx1"/>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6" name="直接箭头连接符 435"/>
          <p:cNvCxnSpPr>
            <a:stCxn id="164" idx="1"/>
            <a:endCxn id="166" idx="0"/>
          </p:cNvCxnSpPr>
          <p:nvPr/>
        </p:nvCxnSpPr>
        <p:spPr bwMode="auto">
          <a:xfrm rot="5400000" flipH="1" flipV="1">
            <a:off x="4195804" y="3024761"/>
            <a:ext cx="773739" cy="270886"/>
          </a:xfrm>
          <a:prstGeom prst="bentConnector3">
            <a:avLst>
              <a:gd name="adj1" fmla="val 100483"/>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4" name="直接箭头连接符 523"/>
          <p:cNvCxnSpPr/>
          <p:nvPr/>
        </p:nvCxnSpPr>
        <p:spPr bwMode="auto">
          <a:xfrm>
            <a:off x="9297976" y="222513"/>
            <a:ext cx="0" cy="6479648"/>
          </a:xfrm>
          <a:prstGeom prst="straightConnector1">
            <a:avLst/>
          </a:prstGeom>
          <a:ln w="12700" cap="flat" cmpd="sng" algn="ctr">
            <a:solidFill>
              <a:schemeClr val="dk1"/>
            </a:solidFill>
            <a:prstDash val="dash"/>
            <a:round/>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cxnSp>
        <p:nvCxnSpPr>
          <p:cNvPr id="579" name="直接连接符 578"/>
          <p:cNvCxnSpPr/>
          <p:nvPr/>
        </p:nvCxnSpPr>
        <p:spPr bwMode="auto">
          <a:xfrm flipH="1" flipV="1">
            <a:off x="4671755" y="3778572"/>
            <a:ext cx="9753" cy="1088121"/>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9" name="直接箭头连接符 588"/>
          <p:cNvCxnSpPr/>
          <p:nvPr/>
        </p:nvCxnSpPr>
        <p:spPr bwMode="auto">
          <a:xfrm>
            <a:off x="4140200" y="4427162"/>
            <a:ext cx="861789"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2" name="直接连接符 591"/>
          <p:cNvCxnSpPr/>
          <p:nvPr/>
        </p:nvCxnSpPr>
        <p:spPr bwMode="auto">
          <a:xfrm flipH="1">
            <a:off x="4116070" y="4413250"/>
            <a:ext cx="17780" cy="2112645"/>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3" name="直接连接符 592"/>
          <p:cNvCxnSpPr/>
          <p:nvPr/>
        </p:nvCxnSpPr>
        <p:spPr bwMode="auto">
          <a:xfrm flipV="1">
            <a:off x="3919855" y="5892800"/>
            <a:ext cx="6371590" cy="810895"/>
          </a:xfrm>
          <a:prstGeom prst="bentConnector3">
            <a:avLst>
              <a:gd name="adj1" fmla="val 99710"/>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1" name="直接箭头连接符 148"/>
          <p:cNvCxnSpPr/>
          <p:nvPr/>
        </p:nvCxnSpPr>
        <p:spPr bwMode="auto">
          <a:xfrm rot="16200000" flipH="1">
            <a:off x="-567712" y="2264625"/>
            <a:ext cx="4114718" cy="2220536"/>
          </a:xfrm>
          <a:prstGeom prst="bentConnector3">
            <a:avLst>
              <a:gd name="adj1" fmla="val 99384"/>
            </a:avLst>
          </a:prstGeom>
          <a:ln w="25400">
            <a:solidFill>
              <a:srgbClr val="00B0F0"/>
            </a:solidFill>
            <a:headEnd type="none" w="med" len="med"/>
            <a:tailEnd type="triangl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5"/>
          </a:lnRef>
          <a:fillRef idx="0">
            <a:schemeClr val="accent5"/>
          </a:fillRef>
          <a:effectRef idx="0">
            <a:schemeClr val="accent5"/>
          </a:effectRef>
          <a:fontRef idx="minor">
            <a:schemeClr val="tx1"/>
          </a:fontRef>
        </p:style>
      </p:cxnSp>
      <p:cxnSp>
        <p:nvCxnSpPr>
          <p:cNvPr id="645" name="直接箭头连接符 644"/>
          <p:cNvCxnSpPr/>
          <p:nvPr/>
        </p:nvCxnSpPr>
        <p:spPr bwMode="auto">
          <a:xfrm>
            <a:off x="5504984" y="2935122"/>
            <a:ext cx="248048" cy="0"/>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8" name="直接箭头连接符 657"/>
          <p:cNvCxnSpPr/>
          <p:nvPr/>
        </p:nvCxnSpPr>
        <p:spPr bwMode="auto">
          <a:xfrm>
            <a:off x="1614687" y="3468112"/>
            <a:ext cx="265588"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63" name="文本框 662"/>
          <p:cNvSpPr txBox="1"/>
          <p:nvPr/>
        </p:nvSpPr>
        <p:spPr>
          <a:xfrm>
            <a:off x="5391202" y="2888008"/>
            <a:ext cx="300082" cy="369332"/>
          </a:xfrm>
          <a:prstGeom prst="rect">
            <a:avLst/>
          </a:prstGeom>
          <a:noFill/>
        </p:spPr>
        <p:txBody>
          <a:bodyPr wrap="none" rtlCol="0">
            <a:spAutoFit/>
          </a:bodyPr>
          <a:lstStyle/>
          <a:p>
            <a:r>
              <a:rPr lang="en-US" altLang="zh-CN" b="1" dirty="0">
                <a:solidFill>
                  <a:srgbClr val="00B0F0"/>
                </a:solidFill>
                <a:latin typeface="Times New Roman" panose="02020603050405020304" pitchFamily="18" charset="0"/>
                <a:cs typeface="Times New Roman" panose="02020603050405020304" pitchFamily="18" charset="0"/>
              </a:rPr>
              <a:t>0</a:t>
            </a:r>
            <a:endParaRPr lang="zh-CN" altLang="en-US" b="1" dirty="0">
              <a:solidFill>
                <a:srgbClr val="00B0F0"/>
              </a:solidFill>
              <a:latin typeface="Times New Roman" panose="02020603050405020304" pitchFamily="18" charset="0"/>
              <a:cs typeface="Times New Roman" panose="02020603050405020304" pitchFamily="18" charset="0"/>
            </a:endParaRPr>
          </a:p>
        </p:txBody>
      </p:sp>
      <p:sp>
        <p:nvSpPr>
          <p:cNvPr id="668" name="椭圆 667"/>
          <p:cNvSpPr/>
          <p:nvPr/>
        </p:nvSpPr>
        <p:spPr>
          <a:xfrm>
            <a:off x="5951098" y="4032930"/>
            <a:ext cx="373358" cy="366022"/>
          </a:xfrm>
          <a:prstGeom prst="ellipse">
            <a:avLst/>
          </a:prstGeom>
          <a:no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zh-CN" b="1" dirty="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p:txBody>
      </p:sp>
      <p:cxnSp>
        <p:nvCxnSpPr>
          <p:cNvPr id="669" name="直接连接符 668"/>
          <p:cNvCxnSpPr>
            <a:endCxn id="668" idx="0"/>
          </p:cNvCxnSpPr>
          <p:nvPr/>
        </p:nvCxnSpPr>
        <p:spPr bwMode="auto">
          <a:xfrm>
            <a:off x="6131657" y="3925045"/>
            <a:ext cx="6120" cy="107885"/>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73" name="直接连接符 672"/>
          <p:cNvCxnSpPr/>
          <p:nvPr/>
        </p:nvCxnSpPr>
        <p:spPr bwMode="auto">
          <a:xfrm flipH="1">
            <a:off x="6128754" y="4410704"/>
            <a:ext cx="5461" cy="144716"/>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16" name="Mux 3"/>
          <p:cNvGrpSpPr/>
          <p:nvPr/>
        </p:nvGrpSpPr>
        <p:grpSpPr>
          <a:xfrm>
            <a:off x="8256708" y="1278259"/>
            <a:ext cx="426720" cy="822606"/>
            <a:chOff x="3429917" y="5448299"/>
            <a:chExt cx="1097464" cy="1366942"/>
          </a:xfrm>
          <a:noFill/>
        </p:grpSpPr>
        <p:sp>
          <p:nvSpPr>
            <p:cNvPr id="221" name="mux"/>
            <p:cNvSpPr/>
            <p:nvPr/>
          </p:nvSpPr>
          <p:spPr>
            <a:xfrm rot="5400000">
              <a:off x="3360534" y="5718809"/>
              <a:ext cx="1230515" cy="689495"/>
            </a:xfrm>
            <a:prstGeom prst="flowChartTerminator">
              <a:avLst/>
            </a:prstGeom>
            <a:grpFill/>
            <a:ln w="25400">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227" name="文本框 226"/>
            <p:cNvSpPr txBox="1"/>
            <p:nvPr/>
          </p:nvSpPr>
          <p:spPr>
            <a:xfrm>
              <a:off x="3429917" y="5507129"/>
              <a:ext cx="1097464" cy="1308112"/>
            </a:xfrm>
            <a:prstGeom prst="rect">
              <a:avLst/>
            </a:prstGeom>
            <a:grpFill/>
            <a:ln w="25400">
              <a:noFill/>
            </a:ln>
          </p:spPr>
          <p:txBody>
            <a:bodyPr wrap="none" rtlCol="0">
              <a:spAutoFit/>
            </a:bodyPr>
            <a:lstStyle/>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grpSp>
        <p:nvGrpSpPr>
          <p:cNvPr id="230" name="Mux 3"/>
          <p:cNvGrpSpPr/>
          <p:nvPr/>
        </p:nvGrpSpPr>
        <p:grpSpPr>
          <a:xfrm>
            <a:off x="8226767" y="2141154"/>
            <a:ext cx="426720" cy="801586"/>
            <a:chOff x="3429917" y="5448299"/>
            <a:chExt cx="1097464" cy="1332012"/>
          </a:xfrm>
          <a:noFill/>
        </p:grpSpPr>
        <p:sp>
          <p:nvSpPr>
            <p:cNvPr id="232" name="mux"/>
            <p:cNvSpPr/>
            <p:nvPr/>
          </p:nvSpPr>
          <p:spPr>
            <a:xfrm rot="5400000">
              <a:off x="3360534" y="5718809"/>
              <a:ext cx="1230515" cy="689495"/>
            </a:xfrm>
            <a:prstGeom prst="flowChartTerminator">
              <a:avLst/>
            </a:prstGeom>
            <a:grpFill/>
            <a:ln w="25400">
              <a:solidFill>
                <a:srgbClr val="00B0F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233" name="文本框 232"/>
            <p:cNvSpPr txBox="1"/>
            <p:nvPr/>
          </p:nvSpPr>
          <p:spPr>
            <a:xfrm>
              <a:off x="3429917" y="5472199"/>
              <a:ext cx="1097464" cy="1308112"/>
            </a:xfrm>
            <a:prstGeom prst="rect">
              <a:avLst/>
            </a:prstGeom>
            <a:grpFill/>
            <a:ln w="25400">
              <a:noFill/>
            </a:ln>
          </p:spPr>
          <p:txBody>
            <a:bodyPr wrap="none" rtlCol="0">
              <a:spAutoFit/>
            </a:bodyPr>
            <a:lstStyle/>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cxnSp>
        <p:nvCxnSpPr>
          <p:cNvPr id="234" name="直接连接符 207"/>
          <p:cNvCxnSpPr/>
          <p:nvPr/>
        </p:nvCxnSpPr>
        <p:spPr bwMode="auto">
          <a:xfrm rot="5400000" flipH="1" flipV="1">
            <a:off x="5609424" y="-584065"/>
            <a:ext cx="1021996" cy="4699291"/>
          </a:xfrm>
          <a:prstGeom prst="bentConnector3">
            <a:avLst>
              <a:gd name="adj1" fmla="val 146250"/>
            </a:avLst>
          </a:prstGeom>
          <a:noFill/>
          <a:ln w="25400" cap="flat" cmpd="sng" algn="ctr">
            <a:solidFill>
              <a:srgbClr val="00B0F0"/>
            </a:solidFill>
            <a:prstDash val="solid"/>
            <a:round/>
            <a:headEnd type="none" w="med" len="med"/>
            <a:tailEnd type="stealth"/>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6" name="直接箭头连接符 153"/>
          <p:cNvCxnSpPr/>
          <p:nvPr/>
        </p:nvCxnSpPr>
        <p:spPr bwMode="auto">
          <a:xfrm flipV="1">
            <a:off x="6772220" y="1552958"/>
            <a:ext cx="1571199" cy="892960"/>
          </a:xfrm>
          <a:prstGeom prst="bentConnector3">
            <a:avLst>
              <a:gd name="adj1" fmla="val 36259"/>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8" name="文本框 237"/>
          <p:cNvSpPr txBox="1"/>
          <p:nvPr/>
        </p:nvSpPr>
        <p:spPr>
          <a:xfrm>
            <a:off x="7789314" y="1679873"/>
            <a:ext cx="300082" cy="369332"/>
          </a:xfrm>
          <a:prstGeom prst="rect">
            <a:avLst/>
          </a:prstGeom>
          <a:noFill/>
        </p:spPr>
        <p:txBody>
          <a:bodyPr wrap="none" rtlCol="0">
            <a:spAutoFit/>
          </a:bodyPr>
          <a:lstStyle/>
          <a:p>
            <a:r>
              <a:rPr lang="en-US" altLang="zh-CN" b="1" dirty="0">
                <a:solidFill>
                  <a:srgbClr val="00B0F0"/>
                </a:solidFill>
                <a:latin typeface="Times New Roman" panose="02020603050405020304" pitchFamily="18" charset="0"/>
                <a:cs typeface="Times New Roman" panose="02020603050405020304" pitchFamily="18" charset="0"/>
              </a:rPr>
              <a:t>0</a:t>
            </a:r>
            <a:endParaRPr lang="zh-CN" altLang="en-US" b="1" dirty="0">
              <a:solidFill>
                <a:srgbClr val="00B0F0"/>
              </a:solidFill>
              <a:latin typeface="Times New Roman" panose="02020603050405020304" pitchFamily="18" charset="0"/>
              <a:cs typeface="Times New Roman" panose="02020603050405020304" pitchFamily="18" charset="0"/>
            </a:endParaRPr>
          </a:p>
        </p:txBody>
      </p:sp>
      <p:cxnSp>
        <p:nvCxnSpPr>
          <p:cNvPr id="241" name="直接箭头连接符 240"/>
          <p:cNvCxnSpPr>
            <a:stCxn id="238" idx="3"/>
          </p:cNvCxnSpPr>
          <p:nvPr/>
        </p:nvCxnSpPr>
        <p:spPr bwMode="auto">
          <a:xfrm>
            <a:off x="8089396" y="1864539"/>
            <a:ext cx="232278" cy="4588"/>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 name="文本框 275"/>
          <p:cNvSpPr txBox="1"/>
          <p:nvPr/>
        </p:nvSpPr>
        <p:spPr>
          <a:xfrm>
            <a:off x="7750554" y="2369743"/>
            <a:ext cx="300082" cy="369332"/>
          </a:xfrm>
          <a:prstGeom prst="rect">
            <a:avLst/>
          </a:prstGeom>
          <a:noFill/>
        </p:spPr>
        <p:txBody>
          <a:bodyPr wrap="none" rtlCol="0">
            <a:spAutoFit/>
          </a:bodyPr>
          <a:lstStyle/>
          <a:p>
            <a:r>
              <a:rPr lang="en-US" altLang="zh-CN" b="1" dirty="0">
                <a:solidFill>
                  <a:srgbClr val="00B0F0"/>
                </a:solidFill>
                <a:latin typeface="Times New Roman" panose="02020603050405020304" pitchFamily="18" charset="0"/>
                <a:cs typeface="Times New Roman" panose="02020603050405020304" pitchFamily="18" charset="0"/>
              </a:rPr>
              <a:t>0</a:t>
            </a:r>
            <a:endParaRPr lang="zh-CN" altLang="en-US" b="1" dirty="0">
              <a:solidFill>
                <a:srgbClr val="00B0F0"/>
              </a:solidFill>
              <a:latin typeface="Times New Roman" panose="02020603050405020304" pitchFamily="18" charset="0"/>
              <a:cs typeface="Times New Roman" panose="02020603050405020304" pitchFamily="18" charset="0"/>
            </a:endParaRPr>
          </a:p>
        </p:txBody>
      </p:sp>
      <p:cxnSp>
        <p:nvCxnSpPr>
          <p:cNvPr id="277" name="直接箭头连接符 276"/>
          <p:cNvCxnSpPr/>
          <p:nvPr/>
        </p:nvCxnSpPr>
        <p:spPr bwMode="auto">
          <a:xfrm>
            <a:off x="7983919" y="2537487"/>
            <a:ext cx="308075" cy="1986"/>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8" name="直接箭头连接符 153"/>
          <p:cNvCxnSpPr>
            <a:cxnSpLocks/>
            <a:stCxn id="221" idx="0"/>
          </p:cNvCxnSpPr>
          <p:nvPr/>
        </p:nvCxnSpPr>
        <p:spPr bwMode="auto">
          <a:xfrm>
            <a:off x="8602980" y="1648460"/>
            <a:ext cx="540000" cy="1031240"/>
          </a:xfrm>
          <a:prstGeom prst="bentConnector3">
            <a:avLst>
              <a:gd name="adj1" fmla="val 61736"/>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 name="直接箭头连接符 153"/>
          <p:cNvCxnSpPr/>
          <p:nvPr/>
        </p:nvCxnSpPr>
        <p:spPr bwMode="auto">
          <a:xfrm>
            <a:off x="8469976" y="932880"/>
            <a:ext cx="828000" cy="0"/>
          </a:xfrm>
          <a:prstGeom prst="straightConnector1">
            <a:avLst/>
          </a:prstGeom>
          <a:noFill/>
          <a:ln w="25400" cap="flat" cmpd="sng" algn="ctr">
            <a:solidFill>
              <a:srgbClr val="00B0F0"/>
            </a:solidFill>
            <a:prstDash val="solid"/>
            <a:round/>
            <a:headEnd type="oval"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3" name="组合 82"/>
          <p:cNvGrpSpPr/>
          <p:nvPr/>
        </p:nvGrpSpPr>
        <p:grpSpPr>
          <a:xfrm>
            <a:off x="7189335" y="2725423"/>
            <a:ext cx="1005905" cy="564028"/>
            <a:chOff x="6964003" y="2765814"/>
            <a:chExt cx="1005905" cy="564028"/>
          </a:xfrm>
          <a:noFill/>
        </p:grpSpPr>
        <p:sp>
          <p:nvSpPr>
            <p:cNvPr id="502" name="文本框 501"/>
            <p:cNvSpPr txBox="1"/>
            <p:nvPr/>
          </p:nvSpPr>
          <p:spPr>
            <a:xfrm>
              <a:off x="6964967" y="2765814"/>
              <a:ext cx="1004941" cy="276999"/>
            </a:xfrm>
            <a:prstGeom prst="rect">
              <a:avLst/>
            </a:prstGeom>
            <a:grpFill/>
            <a:ln w="25400">
              <a:solidFill>
                <a:schemeClr val="tx1"/>
              </a:solidFill>
            </a:ln>
          </p:spPr>
          <p:txBody>
            <a:bodyPr wrap="square" lIns="0" tIns="0" rIns="0" bIns="0" rtlCol="0">
              <a:spAutoFit/>
            </a:bodyPr>
            <a:lstStyle/>
            <a:p>
              <a:pPr algn="ctr"/>
              <a:r>
                <a:rPr lang="en-GB" altLang="zh-CN"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SCAUSE</a:t>
              </a:r>
              <a:endParaRPr lang="en-GB" altLang="zh-CN" sz="11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06" name="文本框 305"/>
            <p:cNvSpPr txBox="1"/>
            <p:nvPr/>
          </p:nvSpPr>
          <p:spPr>
            <a:xfrm>
              <a:off x="6964003" y="3052843"/>
              <a:ext cx="1001051" cy="276999"/>
            </a:xfrm>
            <a:prstGeom prst="rect">
              <a:avLst/>
            </a:prstGeom>
            <a:grpFill/>
            <a:ln w="25400">
              <a:solidFill>
                <a:schemeClr val="tx1"/>
              </a:solidFill>
            </a:ln>
          </p:spPr>
          <p:txBody>
            <a:bodyPr wrap="square" lIns="0" tIns="0" rIns="0" bIns="0" rtlCol="0">
              <a:spAutoFit/>
            </a:bodyPr>
            <a:lstStyle/>
            <a:p>
              <a:pPr algn="ctr"/>
              <a:r>
                <a:rPr lang="en-GB" altLang="zh-CN"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SEPC</a:t>
              </a:r>
              <a:endParaRPr lang="zh-CN" altLang="en-US" sz="105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grpSp>
      <p:cxnSp>
        <p:nvCxnSpPr>
          <p:cNvPr id="4" name="直接箭头连接符 3"/>
          <p:cNvCxnSpPr/>
          <p:nvPr/>
        </p:nvCxnSpPr>
        <p:spPr bwMode="auto">
          <a:xfrm>
            <a:off x="1614805" y="3468370"/>
            <a:ext cx="265430"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 name="组合 13"/>
          <p:cNvGrpSpPr/>
          <p:nvPr/>
        </p:nvGrpSpPr>
        <p:grpSpPr>
          <a:xfrm>
            <a:off x="1464310" y="3688715"/>
            <a:ext cx="1045210" cy="1045210"/>
            <a:chOff x="1464310" y="3688715"/>
            <a:chExt cx="1045210" cy="1045210"/>
          </a:xfrm>
        </p:grpSpPr>
        <p:sp>
          <p:nvSpPr>
            <p:cNvPr id="5" name="矩形 4"/>
            <p:cNvSpPr/>
            <p:nvPr/>
          </p:nvSpPr>
          <p:spPr bwMode="auto">
            <a:xfrm>
              <a:off x="1510030" y="3688715"/>
              <a:ext cx="907415" cy="1045210"/>
            </a:xfrm>
            <a:prstGeom prst="rect">
              <a:avLst/>
            </a:prstGeom>
            <a:solidFill>
              <a:schemeClr val="bg1"/>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16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0" name="矩形 259"/>
            <p:cNvSpPr/>
            <p:nvPr/>
          </p:nvSpPr>
          <p:spPr>
            <a:xfrm>
              <a:off x="1962150" y="3698240"/>
              <a:ext cx="442595" cy="1026160"/>
            </a:xfrm>
            <a:prstGeom prst="rect">
              <a:avLst/>
            </a:prstGeom>
            <a:solidFill>
              <a:srgbClr val="D0CECE"/>
            </a:solidFill>
            <a:ln w="28575" cap="flat"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框 6"/>
            <p:cNvSpPr txBox="1"/>
            <p:nvPr/>
          </p:nvSpPr>
          <p:spPr>
            <a:xfrm>
              <a:off x="1464310" y="3855085"/>
              <a:ext cx="1045210" cy="400110"/>
            </a:xfrm>
            <a:prstGeom prst="rect">
              <a:avLst/>
            </a:prstGeom>
            <a:noFill/>
          </p:spPr>
          <p:txBody>
            <a:bodyPr wrap="square" rtlCol="0">
              <a:spAutoFit/>
            </a:bodyPr>
            <a:lstStyle/>
            <a:p>
              <a:pPr algn="ctr"/>
              <a:r>
                <a:rPr lang="en-US" altLang="zh-CN"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IM</a:t>
              </a:r>
              <a:endParaRPr lang="zh-CN" altLang="en-US" sz="20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cxnSp>
        <p:nvCxnSpPr>
          <p:cNvPr id="12" name="直接箭头连接符 11"/>
          <p:cNvCxnSpPr/>
          <p:nvPr/>
        </p:nvCxnSpPr>
        <p:spPr bwMode="auto">
          <a:xfrm>
            <a:off x="3105442" y="5320964"/>
            <a:ext cx="3276000"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箭头连接符 17"/>
          <p:cNvCxnSpPr>
            <a:endCxn id="33" idx="0"/>
          </p:cNvCxnSpPr>
          <p:nvPr/>
        </p:nvCxnSpPr>
        <p:spPr>
          <a:xfrm>
            <a:off x="5440045" y="1019175"/>
            <a:ext cx="6668" cy="2629535"/>
          </a:xfrm>
          <a:prstGeom prst="straightConnector1">
            <a:avLst/>
          </a:prstGeom>
          <a:ln w="25400">
            <a:solidFill>
              <a:srgbClr val="00B0F0"/>
            </a:solidFill>
            <a:tailEnd type="triangle"/>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accent1"/>
          </a:lnRef>
          <a:fillRef idx="0">
            <a:schemeClr val="accent1"/>
          </a:fillRef>
          <a:effectRef idx="0">
            <a:schemeClr val="accent1"/>
          </a:effectRef>
          <a:fontRef idx="minor">
            <a:schemeClr val="tx1"/>
          </a:fontRef>
        </p:style>
      </p:cxnSp>
      <p:grpSp>
        <p:nvGrpSpPr>
          <p:cNvPr id="197" name="组合 196"/>
          <p:cNvGrpSpPr/>
          <p:nvPr/>
        </p:nvGrpSpPr>
        <p:grpSpPr>
          <a:xfrm rot="10800000">
            <a:off x="5251540" y="1194973"/>
            <a:ext cx="1286869" cy="1063404"/>
            <a:chOff x="4500562" y="590422"/>
            <a:chExt cx="5053016" cy="4076707"/>
          </a:xfrm>
        </p:grpSpPr>
        <p:sp>
          <p:nvSpPr>
            <p:cNvPr id="199" name="弧形 198"/>
            <p:cNvSpPr/>
            <p:nvPr/>
          </p:nvSpPr>
          <p:spPr>
            <a:xfrm>
              <a:off x="4500562" y="590429"/>
              <a:ext cx="3190875" cy="4076700"/>
            </a:xfrm>
            <a:prstGeom prst="arc">
              <a:avLst>
                <a:gd name="adj1" fmla="val 17963000"/>
                <a:gd name="adj2" fmla="val 0"/>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200" name="弧形 199"/>
            <p:cNvSpPr/>
            <p:nvPr/>
          </p:nvSpPr>
          <p:spPr>
            <a:xfrm>
              <a:off x="6564107" y="2419350"/>
              <a:ext cx="1127337" cy="398008"/>
            </a:xfrm>
            <a:prstGeom prst="arc">
              <a:avLst>
                <a:gd name="adj1" fmla="val 14641131"/>
                <a:gd name="adj2" fmla="val 21435582"/>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202" name="弧形 201"/>
            <p:cNvSpPr/>
            <p:nvPr/>
          </p:nvSpPr>
          <p:spPr>
            <a:xfrm flipH="1">
              <a:off x="6362703" y="590422"/>
              <a:ext cx="3190875" cy="4076700"/>
            </a:xfrm>
            <a:prstGeom prst="arc">
              <a:avLst>
                <a:gd name="adj1" fmla="val 17963000"/>
                <a:gd name="adj2" fmla="val 0"/>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203" name="弧形 202"/>
            <p:cNvSpPr/>
            <p:nvPr/>
          </p:nvSpPr>
          <p:spPr>
            <a:xfrm flipH="1">
              <a:off x="6368828" y="2419343"/>
              <a:ext cx="1127337" cy="398008"/>
            </a:xfrm>
            <a:prstGeom prst="arc">
              <a:avLst>
                <a:gd name="adj1" fmla="val 14641131"/>
                <a:gd name="adj2" fmla="val 21435582"/>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grpSp>
      <p:cxnSp>
        <p:nvCxnSpPr>
          <p:cNvPr id="204" name="直接箭头连接符 203"/>
          <p:cNvCxnSpPr/>
          <p:nvPr/>
        </p:nvCxnSpPr>
        <p:spPr bwMode="auto">
          <a:xfrm>
            <a:off x="9294733" y="910612"/>
            <a:ext cx="3243" cy="1342340"/>
          </a:xfrm>
          <a:prstGeom prst="straightConnector1">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6" name="直接箭头连接符 153"/>
          <p:cNvCxnSpPr/>
          <p:nvPr/>
        </p:nvCxnSpPr>
        <p:spPr bwMode="auto">
          <a:xfrm>
            <a:off x="8602980" y="2264220"/>
            <a:ext cx="691753" cy="0"/>
          </a:xfrm>
          <a:prstGeom prst="straightConnector1">
            <a:avLst/>
          </a:prstGeom>
          <a:noFill/>
          <a:ln w="25400" cap="flat" cmpd="sng" algn="ctr">
            <a:solidFill>
              <a:srgbClr val="00B0F0"/>
            </a:solidFill>
            <a:prstDash val="solid"/>
            <a:round/>
            <a:headEnd type="triangl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1" name="直接箭头连接符 210"/>
          <p:cNvCxnSpPr/>
          <p:nvPr/>
        </p:nvCxnSpPr>
        <p:spPr>
          <a:xfrm>
            <a:off x="5894815" y="2092473"/>
            <a:ext cx="0" cy="223365"/>
          </a:xfrm>
          <a:prstGeom prst="straightConnector1">
            <a:avLst/>
          </a:prstGeom>
          <a:ln w="2540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bwMode="auto">
          <a:xfrm>
            <a:off x="7257760" y="3699387"/>
            <a:ext cx="0" cy="2837617"/>
          </a:xfrm>
          <a:prstGeom prst="line">
            <a:avLst/>
          </a:prstGeom>
          <a:noFill/>
          <a:ln w="25400" cap="flat" cmpd="sng" algn="ctr">
            <a:solidFill>
              <a:schemeClr val="tx1"/>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4" name="直接箭头连接符 243"/>
          <p:cNvCxnSpPr/>
          <p:nvPr/>
        </p:nvCxnSpPr>
        <p:spPr bwMode="auto">
          <a:xfrm>
            <a:off x="6778373" y="3921333"/>
            <a:ext cx="254000" cy="0"/>
          </a:xfrm>
          <a:prstGeom prst="straightConnector1">
            <a:avLst/>
          </a:prstGeom>
          <a:noFill/>
          <a:ln w="25400" cap="flat" cmpd="sng" algn="ctr">
            <a:solidFill>
              <a:schemeClr val="tx1"/>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5" name="直接连接符 244"/>
          <p:cNvCxnSpPr/>
          <p:nvPr/>
        </p:nvCxnSpPr>
        <p:spPr bwMode="auto">
          <a:xfrm>
            <a:off x="7027553" y="3597787"/>
            <a:ext cx="0" cy="327258"/>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2" name="直接箭头连接符 251"/>
          <p:cNvCxnSpPr>
            <a:stCxn id="312" idx="0"/>
          </p:cNvCxnSpPr>
          <p:nvPr/>
        </p:nvCxnSpPr>
        <p:spPr bwMode="auto">
          <a:xfrm>
            <a:off x="7830249" y="3699392"/>
            <a:ext cx="639653" cy="15661"/>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9" name="直接箭头连接符 258"/>
          <p:cNvCxnSpPr/>
          <p:nvPr/>
        </p:nvCxnSpPr>
        <p:spPr bwMode="auto">
          <a:xfrm flipV="1">
            <a:off x="8564301" y="2628000"/>
            <a:ext cx="220594" cy="4300"/>
          </a:xfrm>
          <a:prstGeom prst="straightConnector1">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8" name="直接连接符 267"/>
          <p:cNvCxnSpPr/>
          <p:nvPr/>
        </p:nvCxnSpPr>
        <p:spPr bwMode="auto">
          <a:xfrm flipH="1">
            <a:off x="6753225" y="3150870"/>
            <a:ext cx="464820" cy="1905"/>
          </a:xfrm>
          <a:prstGeom prst="line">
            <a:avLst/>
          </a:prstGeom>
          <a:noFill/>
          <a:ln w="25400" cap="flat" cmpd="sng" algn="ctr">
            <a:solidFill>
              <a:schemeClr val="tx1"/>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1" name="直接连接符 270"/>
          <p:cNvCxnSpPr/>
          <p:nvPr/>
        </p:nvCxnSpPr>
        <p:spPr bwMode="auto">
          <a:xfrm>
            <a:off x="3617237" y="1278259"/>
            <a:ext cx="0" cy="1007933"/>
          </a:xfrm>
          <a:prstGeom prst="line">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3" name="直接连接符 272"/>
          <p:cNvCxnSpPr/>
          <p:nvPr/>
        </p:nvCxnSpPr>
        <p:spPr bwMode="auto">
          <a:xfrm>
            <a:off x="379379" y="1317534"/>
            <a:ext cx="3237858" cy="0"/>
          </a:xfrm>
          <a:prstGeom prst="line">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1" name="矩形 260"/>
          <p:cNvSpPr/>
          <p:nvPr/>
        </p:nvSpPr>
        <p:spPr>
          <a:xfrm>
            <a:off x="520065" y="342265"/>
            <a:ext cx="2079625" cy="398780"/>
          </a:xfrm>
          <a:prstGeom prst="rect">
            <a:avLst/>
          </a:prstGeom>
          <a:ln w="25400">
            <a:noFill/>
          </a:ln>
        </p:spPr>
        <p:txBody>
          <a:bodyPr wrap="square">
            <a:spAutoFit/>
          </a:bodyPr>
          <a:lstStyle/>
          <a:p>
            <a:pPr lvl="0" algn="ctr">
              <a:defRPr/>
            </a:pPr>
            <a:r>
              <a:rPr lang="en-GB" altLang="zh-CN" sz="2000" b="1" dirty="0" err="1">
                <a:latin typeface="Times New Roman" panose="02020603050405020304" pitchFamily="18" charset="0"/>
                <a:cs typeface="Times New Roman" panose="02020603050405020304" pitchFamily="18" charset="0"/>
              </a:rPr>
              <a:t>sd</a:t>
            </a:r>
            <a:r>
              <a:rPr lang="en-GB" altLang="zh-CN" sz="2000" b="1" dirty="0">
                <a:latin typeface="Times New Roman" panose="02020603050405020304" pitchFamily="18" charset="0"/>
                <a:cs typeface="Times New Roman" panose="02020603050405020304" pitchFamily="18" charset="0"/>
              </a:rPr>
              <a:t> x26, 1</a:t>
            </a:r>
            <a:r>
              <a:rPr lang="en-US" altLang="en-GB" sz="2000" b="1" dirty="0">
                <a:latin typeface="Times New Roman" panose="02020603050405020304" pitchFamily="18" charset="0"/>
                <a:cs typeface="Times New Roman" panose="02020603050405020304" pitchFamily="18" charset="0"/>
              </a:rPr>
              <a:t>0</a:t>
            </a:r>
            <a:r>
              <a:rPr lang="en-GB" altLang="zh-CN" sz="2000" b="1" dirty="0">
                <a:latin typeface="Times New Roman" panose="02020603050405020304" pitchFamily="18" charset="0"/>
                <a:cs typeface="Times New Roman" panose="02020603050405020304" pitchFamily="18" charset="0"/>
              </a:rPr>
              <a:t>00(x</a:t>
            </a:r>
            <a:r>
              <a:rPr lang="en-US" altLang="en-GB" sz="2000" b="1" dirty="0">
                <a:latin typeface="Times New Roman" panose="02020603050405020304" pitchFamily="18" charset="0"/>
                <a:cs typeface="Times New Roman" panose="02020603050405020304" pitchFamily="18" charset="0"/>
              </a:rPr>
              <a:t>1</a:t>
            </a:r>
            <a:r>
              <a:rPr lang="en-GB" altLang="zh-CN" sz="2000" b="1" dirty="0">
                <a:latin typeface="Times New Roman" panose="02020603050405020304" pitchFamily="18" charset="0"/>
                <a:cs typeface="Times New Roman" panose="02020603050405020304" pitchFamily="18" charset="0"/>
              </a:rPr>
              <a:t>0)</a:t>
            </a:r>
            <a:endParaRPr lang="zh-CN" altLang="en-US" sz="2000" b="1" dirty="0">
              <a:latin typeface="Times New Roman" panose="02020603050405020304" pitchFamily="18" charset="0"/>
              <a:cs typeface="Times New Roman" panose="02020603050405020304" pitchFamily="18" charset="0"/>
            </a:endParaRPr>
          </a:p>
        </p:txBody>
      </p:sp>
      <p:sp>
        <p:nvSpPr>
          <p:cNvPr id="264" name="矩形 263"/>
          <p:cNvSpPr/>
          <p:nvPr/>
        </p:nvSpPr>
        <p:spPr>
          <a:xfrm>
            <a:off x="2959057" y="301157"/>
            <a:ext cx="1848793" cy="400110"/>
          </a:xfrm>
          <a:prstGeom prst="rect">
            <a:avLst/>
          </a:prstGeom>
          <a:ln w="25400">
            <a:noFill/>
          </a:ln>
        </p:spPr>
        <p:txBody>
          <a:bodyPr wrap="square">
            <a:spAutoFit/>
          </a:bodyPr>
          <a:lstStyle/>
          <a:p>
            <a:pPr lvl="0" algn="ctr">
              <a:defRPr/>
            </a:pPr>
            <a:r>
              <a:rPr lang="en-GB" altLang="zh-CN" sz="2000" b="1" dirty="0">
                <a:latin typeface="Times New Roman" panose="02020603050405020304" pitchFamily="18" charset="0"/>
                <a:cs typeface="Times New Roman" panose="02020603050405020304" pitchFamily="18" charset="0"/>
              </a:rPr>
              <a:t>bubble (</a:t>
            </a:r>
            <a:r>
              <a:rPr lang="en-GB" altLang="zh-CN" sz="2000" b="1" dirty="0" err="1">
                <a:latin typeface="Times New Roman" panose="02020603050405020304" pitchFamily="18" charset="0"/>
                <a:cs typeface="Times New Roman" panose="02020603050405020304" pitchFamily="18" charset="0"/>
              </a:rPr>
              <a:t>nop</a:t>
            </a:r>
            <a:r>
              <a:rPr lang="en-GB" altLang="zh-CN" sz="2000" b="1" dirty="0">
                <a:latin typeface="Times New Roman" panose="02020603050405020304" pitchFamily="18" charset="0"/>
                <a:cs typeface="Times New Roman" panose="02020603050405020304" pitchFamily="18" charset="0"/>
              </a:rPr>
              <a:t>)</a:t>
            </a:r>
            <a:endParaRPr lang="zh-CN" altLang="en-US" sz="2000" b="1" dirty="0">
              <a:latin typeface="Times New Roman" panose="02020603050405020304" pitchFamily="18" charset="0"/>
              <a:cs typeface="Times New Roman" panose="02020603050405020304" pitchFamily="18" charset="0"/>
            </a:endParaRPr>
          </a:p>
        </p:txBody>
      </p:sp>
      <p:sp>
        <p:nvSpPr>
          <p:cNvPr id="267" name="矩形 266"/>
          <p:cNvSpPr/>
          <p:nvPr/>
        </p:nvSpPr>
        <p:spPr>
          <a:xfrm>
            <a:off x="8902429" y="269530"/>
            <a:ext cx="1848793" cy="400110"/>
          </a:xfrm>
          <a:prstGeom prst="rect">
            <a:avLst/>
          </a:prstGeom>
          <a:ln w="25400">
            <a:noFill/>
          </a:ln>
        </p:spPr>
        <p:txBody>
          <a:bodyPr wrap="square">
            <a:spAutoFit/>
          </a:bodyPr>
          <a:lstStyle/>
          <a:p>
            <a:pPr lvl="0" algn="ctr">
              <a:defRPr/>
            </a:pPr>
            <a:r>
              <a:rPr lang="en-GB" altLang="zh-CN" sz="2000" b="1" dirty="0">
                <a:latin typeface="Times New Roman" panose="02020603050405020304" pitchFamily="18" charset="0"/>
                <a:cs typeface="Times New Roman" panose="02020603050405020304" pitchFamily="18" charset="0"/>
              </a:rPr>
              <a:t>bubble</a:t>
            </a:r>
            <a:endParaRPr lang="zh-CN" altLang="en-US" sz="2000" b="1" dirty="0">
              <a:latin typeface="Times New Roman" panose="02020603050405020304" pitchFamily="18" charset="0"/>
              <a:cs typeface="Times New Roman" panose="02020603050405020304" pitchFamily="18" charset="0"/>
            </a:endParaRPr>
          </a:p>
        </p:txBody>
      </p:sp>
      <p:sp>
        <p:nvSpPr>
          <p:cNvPr id="269" name="矩形 268"/>
          <p:cNvSpPr/>
          <p:nvPr/>
        </p:nvSpPr>
        <p:spPr>
          <a:xfrm>
            <a:off x="10355674" y="295693"/>
            <a:ext cx="1848793" cy="400110"/>
          </a:xfrm>
          <a:prstGeom prst="rect">
            <a:avLst/>
          </a:prstGeom>
          <a:ln w="25400">
            <a:noFill/>
          </a:ln>
        </p:spPr>
        <p:txBody>
          <a:bodyPr wrap="square">
            <a:spAutoFit/>
          </a:bodyPr>
          <a:lstStyle/>
          <a:p>
            <a:pPr lvl="0" algn="ctr">
              <a:defRPr/>
            </a:pPr>
            <a:r>
              <a:rPr lang="en-GB" altLang="zh-CN" sz="2000" b="1" dirty="0">
                <a:latin typeface="Times New Roman" panose="02020603050405020304" pitchFamily="18" charset="0"/>
                <a:cs typeface="Times New Roman" panose="02020603050405020304" pitchFamily="18" charset="0"/>
              </a:rPr>
              <a:t>or x13,…</a:t>
            </a:r>
            <a:endParaRPr lang="zh-CN" altLang="en-US" sz="2000" b="1" dirty="0">
              <a:latin typeface="Times New Roman" panose="02020603050405020304" pitchFamily="18" charset="0"/>
              <a:cs typeface="Times New Roman" panose="02020603050405020304" pitchFamily="18" charset="0"/>
            </a:endParaRPr>
          </a:p>
        </p:txBody>
      </p:sp>
      <p:sp>
        <p:nvSpPr>
          <p:cNvPr id="274" name="矩形 273"/>
          <p:cNvSpPr/>
          <p:nvPr/>
        </p:nvSpPr>
        <p:spPr>
          <a:xfrm>
            <a:off x="6674896" y="317212"/>
            <a:ext cx="1848793" cy="400110"/>
          </a:xfrm>
          <a:prstGeom prst="rect">
            <a:avLst/>
          </a:prstGeom>
          <a:ln w="25400">
            <a:noFill/>
          </a:ln>
        </p:spPr>
        <p:txBody>
          <a:bodyPr wrap="square">
            <a:spAutoFit/>
          </a:bodyPr>
          <a:lstStyle/>
          <a:p>
            <a:pPr lvl="0" algn="ctr">
              <a:defRPr/>
            </a:pPr>
            <a:r>
              <a:rPr lang="en-GB" altLang="zh-CN" sz="2000" b="1" dirty="0">
                <a:latin typeface="Times New Roman" panose="02020603050405020304" pitchFamily="18" charset="0"/>
                <a:cs typeface="Times New Roman" panose="02020603050405020304" pitchFamily="18" charset="0"/>
              </a:rPr>
              <a:t>bubble</a:t>
            </a:r>
            <a:endParaRPr lang="zh-CN" altLang="en-US" sz="2000" b="1" dirty="0">
              <a:latin typeface="Times New Roman" panose="02020603050405020304" pitchFamily="18" charset="0"/>
              <a:cs typeface="Times New Roman" panose="02020603050405020304" pitchFamily="18" charset="0"/>
            </a:endParaRPr>
          </a:p>
        </p:txBody>
      </p:sp>
      <p:grpSp>
        <p:nvGrpSpPr>
          <p:cNvPr id="2" name="组合 1"/>
          <p:cNvGrpSpPr/>
          <p:nvPr/>
        </p:nvGrpSpPr>
        <p:grpSpPr>
          <a:xfrm>
            <a:off x="4973955" y="3648710"/>
            <a:ext cx="946150" cy="1061085"/>
            <a:chOff x="4973955" y="3648710"/>
            <a:chExt cx="946150" cy="1061085"/>
          </a:xfrm>
        </p:grpSpPr>
        <p:sp>
          <p:nvSpPr>
            <p:cNvPr id="33" name="矩形 32"/>
            <p:cNvSpPr/>
            <p:nvPr/>
          </p:nvSpPr>
          <p:spPr bwMode="auto">
            <a:xfrm>
              <a:off x="4991100" y="3648710"/>
              <a:ext cx="911225" cy="1061085"/>
            </a:xfrm>
            <a:prstGeom prst="rect">
              <a:avLst/>
            </a:pr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algn="ctr" fontAlgn="base">
                <a:spcBef>
                  <a:spcPct val="0"/>
                </a:spcBef>
                <a:spcAft>
                  <a:spcPct val="0"/>
                </a:spcAft>
              </a:pPr>
              <a:endParaRPr lang="zh-CN" altLang="en-US" sz="1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5" name="矩形 274"/>
            <p:cNvSpPr/>
            <p:nvPr/>
          </p:nvSpPr>
          <p:spPr>
            <a:xfrm>
              <a:off x="5001895" y="3659505"/>
              <a:ext cx="476250" cy="1040130"/>
            </a:xfrm>
            <a:prstGeom prst="rect">
              <a:avLst/>
            </a:pr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4973955" y="4026535"/>
              <a:ext cx="946150" cy="276860"/>
            </a:xfrm>
            <a:prstGeom prst="rect">
              <a:avLst/>
            </a:prstGeom>
            <a:noFill/>
          </p:spPr>
          <p:txBody>
            <a:bodyPr wrap="square" lIns="0" tIns="0" rIns="0" bIns="0" rtlCol="0" anchor="ctr" anchorCtr="1">
              <a:spAutoFit/>
            </a:bodyPr>
            <a:lstStyle/>
            <a:p>
              <a:pPr algn="ctr" fontAlgn="base">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Registers</a:t>
              </a:r>
              <a:endParaRPr lang="zh-CN" altLang="en-US" dirty="0">
                <a:solidFill>
                  <a:srgbClr val="FF0000"/>
                </a:solidFill>
              </a:endParaRPr>
            </a:p>
          </p:txBody>
        </p:sp>
      </p:grpSp>
      <p:cxnSp>
        <p:nvCxnSpPr>
          <p:cNvPr id="213" name="直接箭头连接符 212"/>
          <p:cNvCxnSpPr/>
          <p:nvPr/>
        </p:nvCxnSpPr>
        <p:spPr bwMode="auto">
          <a:xfrm>
            <a:off x="6787153" y="5679537"/>
            <a:ext cx="832373" cy="7646"/>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7" name="矩形: 圆角 246"/>
          <p:cNvSpPr/>
          <p:nvPr/>
        </p:nvSpPr>
        <p:spPr>
          <a:xfrm>
            <a:off x="7641982" y="5534323"/>
            <a:ext cx="1178899" cy="513736"/>
          </a:xfrm>
          <a:prstGeom prst="round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250" name="文本框 249"/>
          <p:cNvSpPr txBox="1"/>
          <p:nvPr/>
        </p:nvSpPr>
        <p:spPr>
          <a:xfrm>
            <a:off x="7505209" y="5519056"/>
            <a:ext cx="1463788" cy="553998"/>
          </a:xfrm>
          <a:prstGeom prst="rect">
            <a:avLst/>
          </a:prstGeom>
          <a:noFill/>
        </p:spPr>
        <p:txBody>
          <a:bodyPr wrap="square" rtlCol="0">
            <a:spAutoFit/>
          </a:bodyPr>
          <a:lstStyle/>
          <a:p>
            <a:pPr algn="ctr">
              <a:lnSpc>
                <a:spcPts val="1800"/>
              </a:lnSpc>
            </a:pPr>
            <a:r>
              <a:rPr lang="en-US" altLang="zh-CN" b="1" dirty="0">
                <a:solidFill>
                  <a:srgbClr val="00B0F0"/>
                </a:solidFill>
                <a:latin typeface="Times New Roman" panose="02020603050405020304" pitchFamily="18" charset="0"/>
                <a:cs typeface="Times New Roman" panose="02020603050405020304" pitchFamily="18" charset="0"/>
              </a:rPr>
              <a:t>Forwarding</a:t>
            </a:r>
          </a:p>
          <a:p>
            <a:pPr algn="ctr">
              <a:lnSpc>
                <a:spcPts val="1800"/>
              </a:lnSpc>
            </a:pPr>
            <a:r>
              <a:rPr lang="en-US" altLang="zh-CN" b="1" dirty="0">
                <a:solidFill>
                  <a:srgbClr val="00B0F0"/>
                </a:solidFill>
                <a:latin typeface="Times New Roman" panose="02020603050405020304" pitchFamily="18" charset="0"/>
                <a:cs typeface="Times New Roman" panose="02020603050405020304" pitchFamily="18" charset="0"/>
              </a:rPr>
              <a:t>unit</a:t>
            </a:r>
            <a:endParaRPr lang="zh-CN" altLang="en-US" b="1" dirty="0">
              <a:solidFill>
                <a:srgbClr val="00B0F0"/>
              </a:solidFill>
              <a:latin typeface="Times New Roman" panose="02020603050405020304" pitchFamily="18" charset="0"/>
              <a:cs typeface="Times New Roman" panose="02020603050405020304" pitchFamily="18" charset="0"/>
            </a:endParaRPr>
          </a:p>
        </p:txBody>
      </p:sp>
      <p:cxnSp>
        <p:nvCxnSpPr>
          <p:cNvPr id="253" name="直接箭头连接符 252"/>
          <p:cNvCxnSpPr/>
          <p:nvPr/>
        </p:nvCxnSpPr>
        <p:spPr bwMode="auto">
          <a:xfrm>
            <a:off x="6787153" y="5950851"/>
            <a:ext cx="841268"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0" name="文本框 279"/>
          <p:cNvSpPr txBox="1"/>
          <p:nvPr/>
        </p:nvSpPr>
        <p:spPr>
          <a:xfrm>
            <a:off x="113804" y="1630867"/>
            <a:ext cx="1055097" cy="400110"/>
          </a:xfrm>
          <a:prstGeom prst="rect">
            <a:avLst/>
          </a:prstGeom>
          <a:noFill/>
        </p:spPr>
        <p:txBody>
          <a:bodyPr wrap="none" rtlCol="0">
            <a:spAutoFit/>
          </a:bodyPr>
          <a:lstStyle/>
          <a:p>
            <a:r>
              <a:rPr lang="en-GB" altLang="zh-CN" sz="2000" b="1" dirty="0" err="1">
                <a:solidFill>
                  <a:schemeClr val="accent5"/>
                </a:solidFill>
              </a:rPr>
              <a:t>IF.Flush</a:t>
            </a:r>
            <a:endParaRPr lang="zh-CN" altLang="en-US" sz="2000" b="1" dirty="0">
              <a:solidFill>
                <a:schemeClr val="accent5"/>
              </a:solidFill>
            </a:endParaRPr>
          </a:p>
        </p:txBody>
      </p:sp>
      <p:sp>
        <p:nvSpPr>
          <p:cNvPr id="282" name="文本框 281"/>
          <p:cNvSpPr txBox="1"/>
          <p:nvPr/>
        </p:nvSpPr>
        <p:spPr>
          <a:xfrm>
            <a:off x="4368188" y="2221250"/>
            <a:ext cx="1103187" cy="400110"/>
          </a:xfrm>
          <a:prstGeom prst="rect">
            <a:avLst/>
          </a:prstGeom>
          <a:noFill/>
        </p:spPr>
        <p:txBody>
          <a:bodyPr wrap="none" rtlCol="0">
            <a:spAutoFit/>
          </a:bodyPr>
          <a:lstStyle/>
          <a:p>
            <a:r>
              <a:rPr lang="en-GB" altLang="zh-CN" sz="2000" b="1" dirty="0" err="1">
                <a:solidFill>
                  <a:schemeClr val="accent5"/>
                </a:solidFill>
              </a:rPr>
              <a:t>lD.Flush</a:t>
            </a:r>
            <a:endParaRPr lang="zh-CN" altLang="en-US" sz="2000" b="1" dirty="0">
              <a:solidFill>
                <a:schemeClr val="accent5"/>
              </a:solidFill>
            </a:endParaRPr>
          </a:p>
        </p:txBody>
      </p:sp>
      <p:sp>
        <p:nvSpPr>
          <p:cNvPr id="283" name="文本框 282"/>
          <p:cNvSpPr txBox="1"/>
          <p:nvPr/>
        </p:nvSpPr>
        <p:spPr>
          <a:xfrm>
            <a:off x="7141932" y="610006"/>
            <a:ext cx="1143262" cy="400110"/>
          </a:xfrm>
          <a:prstGeom prst="rect">
            <a:avLst/>
          </a:prstGeom>
          <a:noFill/>
        </p:spPr>
        <p:txBody>
          <a:bodyPr wrap="none" rtlCol="0">
            <a:spAutoFit/>
          </a:bodyPr>
          <a:lstStyle/>
          <a:p>
            <a:r>
              <a:rPr lang="en-GB" altLang="zh-CN" sz="2000" b="1" dirty="0" err="1">
                <a:solidFill>
                  <a:schemeClr val="accent5"/>
                </a:solidFill>
              </a:rPr>
              <a:t>EX.Flush</a:t>
            </a:r>
            <a:endParaRPr lang="zh-CN" altLang="en-US" sz="2000" b="1" dirty="0">
              <a:solidFill>
                <a:schemeClr val="accent5"/>
              </a:solidFill>
            </a:endParaRPr>
          </a:p>
        </p:txBody>
      </p:sp>
      <p:cxnSp>
        <p:nvCxnSpPr>
          <p:cNvPr id="284" name="直接连接符 283"/>
          <p:cNvCxnSpPr/>
          <p:nvPr/>
        </p:nvCxnSpPr>
        <p:spPr bwMode="auto">
          <a:xfrm>
            <a:off x="3100241" y="1785286"/>
            <a:ext cx="716456" cy="0"/>
          </a:xfrm>
          <a:prstGeom prst="line">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 name="直接箭头连接符 285"/>
          <p:cNvCxnSpPr/>
          <p:nvPr/>
        </p:nvCxnSpPr>
        <p:spPr bwMode="auto">
          <a:xfrm>
            <a:off x="5057172" y="1617551"/>
            <a:ext cx="893926" cy="0"/>
          </a:xfrm>
          <a:prstGeom prst="straightConnector1">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7" name="直接箭头连接符 286"/>
          <p:cNvCxnSpPr/>
          <p:nvPr/>
        </p:nvCxnSpPr>
        <p:spPr bwMode="auto">
          <a:xfrm>
            <a:off x="5954309" y="1605460"/>
            <a:ext cx="0" cy="175843"/>
          </a:xfrm>
          <a:prstGeom prst="straightConnector1">
            <a:avLst/>
          </a:prstGeom>
          <a:noFill/>
          <a:ln w="25400" cap="flat" cmpd="sng" algn="ctr">
            <a:solidFill>
              <a:srgbClr val="00B0F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1" name="直接箭头连接符 290"/>
          <p:cNvCxnSpPr/>
          <p:nvPr/>
        </p:nvCxnSpPr>
        <p:spPr bwMode="auto">
          <a:xfrm flipV="1">
            <a:off x="4129532" y="2462264"/>
            <a:ext cx="1071340" cy="11699"/>
          </a:xfrm>
          <a:prstGeom prst="straightConnector1">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 name="直接箭头连接符 294"/>
          <p:cNvCxnSpPr/>
          <p:nvPr/>
        </p:nvCxnSpPr>
        <p:spPr bwMode="auto">
          <a:xfrm>
            <a:off x="5854462" y="1677482"/>
            <a:ext cx="0" cy="130097"/>
          </a:xfrm>
          <a:prstGeom prst="straightConnector1">
            <a:avLst/>
          </a:prstGeom>
          <a:noFill/>
          <a:ln w="25400" cap="flat" cmpd="sng" algn="ctr">
            <a:solidFill>
              <a:srgbClr val="00B0F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 name="直接箭头连接符 295"/>
          <p:cNvCxnSpPr/>
          <p:nvPr/>
        </p:nvCxnSpPr>
        <p:spPr bwMode="auto">
          <a:xfrm>
            <a:off x="5209504" y="1685869"/>
            <a:ext cx="641748" cy="0"/>
          </a:xfrm>
          <a:prstGeom prst="straightConnector1">
            <a:avLst/>
          </a:prstGeom>
          <a:noFill/>
          <a:ln w="25400" cap="flat" cmpd="sng" algn="ctr">
            <a:solidFill>
              <a:srgbClr val="00B0F0"/>
            </a:solidFill>
            <a:prstDash val="solid"/>
            <a:round/>
            <a:headEnd type="non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8" name="直接箭头连接符 297"/>
          <p:cNvCxnSpPr/>
          <p:nvPr/>
        </p:nvCxnSpPr>
        <p:spPr bwMode="auto">
          <a:xfrm>
            <a:off x="5209504" y="1677482"/>
            <a:ext cx="0" cy="784782"/>
          </a:xfrm>
          <a:prstGeom prst="straightConnector1">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08" name="组合 307"/>
          <p:cNvGrpSpPr/>
          <p:nvPr/>
        </p:nvGrpSpPr>
        <p:grpSpPr>
          <a:xfrm>
            <a:off x="3301580" y="2262069"/>
            <a:ext cx="912593" cy="831696"/>
            <a:chOff x="3754414" y="1097758"/>
            <a:chExt cx="1041575" cy="1102503"/>
          </a:xfrm>
          <a:solidFill>
            <a:srgbClr val="CCEDFC"/>
          </a:solidFill>
        </p:grpSpPr>
        <p:sp>
          <p:nvSpPr>
            <p:cNvPr id="309" name="椭圆 308"/>
            <p:cNvSpPr/>
            <p:nvPr/>
          </p:nvSpPr>
          <p:spPr>
            <a:xfrm>
              <a:off x="3754414" y="1097758"/>
              <a:ext cx="1014572" cy="1102503"/>
            </a:xfrm>
            <a:prstGeom prst="ellipse">
              <a:avLst/>
            </a:prstGeom>
            <a:grp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00B0F0"/>
                </a:solidFill>
              </a:endParaRPr>
            </a:p>
          </p:txBody>
        </p:sp>
        <p:sp>
          <p:nvSpPr>
            <p:cNvPr id="313" name="文本框 312"/>
            <p:cNvSpPr txBox="1"/>
            <p:nvPr/>
          </p:nvSpPr>
          <p:spPr>
            <a:xfrm>
              <a:off x="3800487" y="1404317"/>
              <a:ext cx="995502" cy="469190"/>
            </a:xfrm>
            <a:prstGeom prst="rect">
              <a:avLst/>
            </a:prstGeom>
            <a:noFill/>
          </p:spPr>
          <p:txBody>
            <a:bodyPr wrap="square" lIns="0" rIns="0" bIns="0" rtlCol="0">
              <a:spAutoFit/>
            </a:bodyPr>
            <a:lstStyle/>
            <a:p>
              <a:r>
                <a:rPr lang="en-US" altLang="zh-CN" sz="2000" b="1" dirty="0">
                  <a:solidFill>
                    <a:srgbClr val="00B0F0"/>
                  </a:solidFill>
                  <a:latin typeface="Times New Roman" panose="02020603050405020304" pitchFamily="18" charset="0"/>
                  <a:cs typeface="Times New Roman" panose="02020603050405020304" pitchFamily="18" charset="0"/>
                </a:rPr>
                <a:t>Control</a:t>
              </a:r>
              <a:endParaRPr lang="zh-CN" altLang="en-US" sz="1200" b="1" dirty="0">
                <a:solidFill>
                  <a:srgbClr val="00B0F0"/>
                </a:solidFill>
                <a:latin typeface="Times New Roman" panose="02020603050405020304" pitchFamily="18" charset="0"/>
                <a:cs typeface="Times New Roman" panose="02020603050405020304" pitchFamily="18" charset="0"/>
              </a:endParaRPr>
            </a:p>
          </p:txBody>
        </p:sp>
      </p:grpSp>
      <p:sp>
        <p:nvSpPr>
          <p:cNvPr id="315" name="矩形: 圆角 314"/>
          <p:cNvSpPr/>
          <p:nvPr/>
        </p:nvSpPr>
        <p:spPr>
          <a:xfrm>
            <a:off x="3855779" y="1376533"/>
            <a:ext cx="1189253" cy="824385"/>
          </a:xfrm>
          <a:prstGeom prst="roundRect">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6" name="文本框 315"/>
          <p:cNvSpPr txBox="1"/>
          <p:nvPr/>
        </p:nvSpPr>
        <p:spPr>
          <a:xfrm>
            <a:off x="3809036" y="1488095"/>
            <a:ext cx="1284914" cy="681405"/>
          </a:xfrm>
          <a:prstGeom prst="rect">
            <a:avLst/>
          </a:prstGeom>
          <a:noFill/>
          <a:ln>
            <a:noFill/>
          </a:ln>
        </p:spPr>
        <p:txBody>
          <a:bodyPr wrap="square" rtlCol="0">
            <a:spAutoFit/>
          </a:bodyPr>
          <a:lstStyle/>
          <a:p>
            <a:pPr algn="ctr" fontAlgn="base">
              <a:lnSpc>
                <a:spcPts val="1500"/>
              </a:lnSpc>
              <a:spcBef>
                <a:spcPct val="0"/>
              </a:spcBef>
              <a:spcAft>
                <a:spcPct val="0"/>
              </a:spcAft>
              <a:defRPr/>
            </a:pPr>
            <a:r>
              <a:rPr lang="en-US" altLang="zh-CN"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Hazard detection</a:t>
            </a:r>
            <a:r>
              <a:rPr lang="zh-CN" altLang="en-US"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unit</a:t>
            </a:r>
            <a:endParaRPr lang="zh-CN" altLang="en-US" sz="2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56" name="直接箭头连接符 355"/>
          <p:cNvCxnSpPr/>
          <p:nvPr/>
        </p:nvCxnSpPr>
        <p:spPr bwMode="auto">
          <a:xfrm flipV="1">
            <a:off x="10437569" y="4025329"/>
            <a:ext cx="148518" cy="1"/>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7" name="直接连接符 356"/>
          <p:cNvCxnSpPr>
            <a:cxnSpLocks/>
            <a:stCxn id="367" idx="3"/>
          </p:cNvCxnSpPr>
          <p:nvPr/>
        </p:nvCxnSpPr>
        <p:spPr bwMode="auto">
          <a:xfrm>
            <a:off x="10951796" y="2921233"/>
            <a:ext cx="238338" cy="0"/>
          </a:xfrm>
          <a:prstGeom prst="line">
            <a:avLst/>
          </a:prstGeom>
          <a:noFill/>
          <a:ln w="25400" cap="flat" cmpd="sng" algn="ctr">
            <a:solidFill>
              <a:srgbClr val="00B0F0"/>
            </a:solidFill>
            <a:prstDash val="solid"/>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9" name="直接连接符 159"/>
          <p:cNvCxnSpPr>
            <a:cxnSpLocks/>
            <a:endCxn id="367" idx="1"/>
          </p:cNvCxnSpPr>
          <p:nvPr/>
        </p:nvCxnSpPr>
        <p:spPr bwMode="auto">
          <a:xfrm>
            <a:off x="9429919" y="2792104"/>
            <a:ext cx="1161877" cy="129129"/>
          </a:xfrm>
          <a:prstGeom prst="bentConnector3">
            <a:avLst>
              <a:gd name="adj1" fmla="val 50000"/>
            </a:avLst>
          </a:prstGeom>
          <a:noFill/>
          <a:ln w="25400" cap="flat" cmpd="sng" algn="ctr">
            <a:solidFill>
              <a:srgbClr val="00B0F0"/>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6" name="矩形 365"/>
          <p:cNvSpPr/>
          <p:nvPr/>
        </p:nvSpPr>
        <p:spPr bwMode="auto">
          <a:xfrm>
            <a:off x="10591796" y="3091442"/>
            <a:ext cx="360000" cy="2730378"/>
          </a:xfrm>
          <a:prstGeom prst="rect">
            <a:avLst/>
          </a:prstGeom>
          <a:solidFill>
            <a:srgbClr val="D0CECE"/>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7" name="矩形 366"/>
          <p:cNvSpPr/>
          <p:nvPr/>
        </p:nvSpPr>
        <p:spPr>
          <a:xfrm>
            <a:off x="10591796" y="2751956"/>
            <a:ext cx="360000" cy="338554"/>
          </a:xfrm>
          <a:prstGeom prst="rect">
            <a:avLst/>
          </a:prstGeom>
          <a:solidFill>
            <a:srgbClr val="9CDCF9"/>
          </a:solidFill>
          <a:ln w="25400">
            <a:solidFill>
              <a:srgbClr val="00B0F0"/>
            </a:solidFill>
          </a:ln>
        </p:spPr>
        <p:txBody>
          <a:bodyPr wrap="square" lIns="0" rIns="0">
            <a:spAutoFit/>
          </a:bodyPr>
          <a:lstStyle/>
          <a:p>
            <a:pPr algn="ctr" fontAlgn="base">
              <a:spcBef>
                <a:spcPct val="0"/>
              </a:spcBef>
              <a:spcAft>
                <a:spcPct val="0"/>
              </a:spcAft>
            </a:pPr>
            <a:r>
              <a:rPr lang="en-GB"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a:t>
            </a: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B</a:t>
            </a:r>
            <a:endParaRPr lang="zh-CN" altLang="en-US"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68" name="直接连接符 367"/>
          <p:cNvCxnSpPr/>
          <p:nvPr/>
        </p:nvCxnSpPr>
        <p:spPr bwMode="auto">
          <a:xfrm>
            <a:off x="9423791" y="5334265"/>
            <a:ext cx="1153873"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9" name="直接箭头连接符 368"/>
          <p:cNvCxnSpPr/>
          <p:nvPr/>
        </p:nvCxnSpPr>
        <p:spPr bwMode="auto">
          <a:xfrm>
            <a:off x="9643358" y="5107783"/>
            <a:ext cx="934306" cy="0"/>
          </a:xfrm>
          <a:prstGeom prst="straightConnector1">
            <a:avLst/>
          </a:prstGeom>
          <a:noFill/>
          <a:ln w="25400" cap="flat" cmpd="sng" algn="ctr">
            <a:solidFill>
              <a:schemeClr val="tx1"/>
            </a:solidFill>
            <a:prstDash val="solid"/>
            <a:round/>
            <a:headEnd type="oval"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0" name="直接箭头连接符 385"/>
          <p:cNvCxnSpPr/>
          <p:nvPr/>
        </p:nvCxnSpPr>
        <p:spPr bwMode="auto">
          <a:xfrm rot="5400000">
            <a:off x="7786111" y="3839367"/>
            <a:ext cx="2995365" cy="900837"/>
          </a:xfrm>
          <a:prstGeom prst="bentConnector3">
            <a:avLst>
              <a:gd name="adj1" fmla="val 100088"/>
            </a:avLst>
          </a:prstGeom>
          <a:noFill/>
          <a:ln w="25400" cap="flat" cmpd="sng" algn="ctr">
            <a:solidFill>
              <a:srgbClr val="00B0F0"/>
            </a:solidFill>
            <a:prstDash val="solid"/>
            <a:round/>
            <a:headEnd type="oval"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1" name="直接连接符 370"/>
          <p:cNvCxnSpPr/>
          <p:nvPr/>
        </p:nvCxnSpPr>
        <p:spPr bwMode="auto">
          <a:xfrm>
            <a:off x="8827497" y="5641129"/>
            <a:ext cx="738669" cy="0"/>
          </a:xfrm>
          <a:prstGeom prst="line">
            <a:avLst/>
          </a:prstGeom>
          <a:noFill/>
          <a:ln w="25400" cap="flat" cmpd="sng" algn="ctr">
            <a:solidFill>
              <a:schemeClr val="tx1"/>
            </a:solidFill>
            <a:prstDash val="solid"/>
            <a:round/>
            <a:headEnd type="triangle" w="med" len="med"/>
            <a:tailEnd type="non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2" name="直接连接符 371"/>
          <p:cNvCxnSpPr/>
          <p:nvPr/>
        </p:nvCxnSpPr>
        <p:spPr bwMode="auto">
          <a:xfrm>
            <a:off x="8837803" y="5984850"/>
            <a:ext cx="2380867" cy="0"/>
          </a:xfrm>
          <a:prstGeom prst="line">
            <a:avLst/>
          </a:prstGeom>
          <a:noFill/>
          <a:ln w="25400" cap="flat" cmpd="sng" algn="ctr">
            <a:solidFill>
              <a:srgbClr val="00B0F0"/>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4" name="直接连接符 373"/>
          <p:cNvCxnSpPr/>
          <p:nvPr/>
        </p:nvCxnSpPr>
        <p:spPr bwMode="auto">
          <a:xfrm>
            <a:off x="10956796" y="5310159"/>
            <a:ext cx="125371"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5" name="直接连接符 374"/>
          <p:cNvCxnSpPr/>
          <p:nvPr/>
        </p:nvCxnSpPr>
        <p:spPr bwMode="auto">
          <a:xfrm flipV="1">
            <a:off x="8839554" y="5913009"/>
            <a:ext cx="2229020" cy="38"/>
          </a:xfrm>
          <a:prstGeom prst="line">
            <a:avLst/>
          </a:prstGeom>
          <a:noFill/>
          <a:ln w="25400" cap="flat" cmpd="sng" algn="ctr">
            <a:solidFill>
              <a:schemeClr val="tx1"/>
            </a:solidFill>
            <a:prstDash val="solid"/>
            <a:round/>
            <a:headEnd type="triangl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7" name="直接箭头连接符 376"/>
          <p:cNvCxnSpPr/>
          <p:nvPr/>
        </p:nvCxnSpPr>
        <p:spPr bwMode="auto">
          <a:xfrm>
            <a:off x="11068904" y="5306525"/>
            <a:ext cx="1398" cy="603843"/>
          </a:xfrm>
          <a:prstGeom prst="straightConnector1">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8" name="矩形 377"/>
          <p:cNvSpPr/>
          <p:nvPr/>
        </p:nvSpPr>
        <p:spPr bwMode="auto">
          <a:xfrm>
            <a:off x="9859831" y="3626448"/>
            <a:ext cx="583541" cy="1309728"/>
          </a:xfrm>
          <a:prstGeom prst="rect">
            <a:avLst/>
          </a:prstGeom>
          <a:no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lstStyle/>
          <a:p>
            <a:pPr algn="ctr" fontAlgn="base">
              <a:spcBef>
                <a:spcPct val="0"/>
              </a:spcBef>
              <a:spcAft>
                <a:spcPct val="0"/>
              </a:spcAft>
            </a:pPr>
            <a:endPar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pPr algn="ctr" fontAlgn="base">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DM</a:t>
            </a:r>
          </a:p>
        </p:txBody>
      </p:sp>
      <p:cxnSp>
        <p:nvCxnSpPr>
          <p:cNvPr id="380" name="直接箭头连接符 379"/>
          <p:cNvCxnSpPr/>
          <p:nvPr/>
        </p:nvCxnSpPr>
        <p:spPr bwMode="auto">
          <a:xfrm>
            <a:off x="9414961" y="4004908"/>
            <a:ext cx="451580"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1" name="直接箭头连接符 380"/>
          <p:cNvCxnSpPr/>
          <p:nvPr/>
        </p:nvCxnSpPr>
        <p:spPr bwMode="auto">
          <a:xfrm>
            <a:off x="8823714" y="3923120"/>
            <a:ext cx="245313"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2" name="直接箭头连接符 381"/>
          <p:cNvCxnSpPr/>
          <p:nvPr/>
        </p:nvCxnSpPr>
        <p:spPr bwMode="auto">
          <a:xfrm flipH="1">
            <a:off x="9640751" y="3991333"/>
            <a:ext cx="1329" cy="2349199"/>
          </a:xfrm>
          <a:prstGeom prst="straightConnector1">
            <a:avLst/>
          </a:prstGeom>
          <a:noFill/>
          <a:ln w="25400" cap="flat" cmpd="sng" algn="ctr">
            <a:solidFill>
              <a:schemeClr val="tx1"/>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3" name="直接连接符 382"/>
          <p:cNvCxnSpPr/>
          <p:nvPr/>
        </p:nvCxnSpPr>
        <p:spPr bwMode="auto">
          <a:xfrm>
            <a:off x="9429014" y="4680191"/>
            <a:ext cx="467651" cy="3938"/>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4" name="直接连接符 383"/>
          <p:cNvCxnSpPr/>
          <p:nvPr/>
        </p:nvCxnSpPr>
        <p:spPr bwMode="auto">
          <a:xfrm>
            <a:off x="11056370" y="4198016"/>
            <a:ext cx="347449"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7" name="直接连接符 386"/>
          <p:cNvCxnSpPr/>
          <p:nvPr/>
        </p:nvCxnSpPr>
        <p:spPr bwMode="auto">
          <a:xfrm>
            <a:off x="10949262" y="3898795"/>
            <a:ext cx="439645"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8" name="直接箭头连接符 387"/>
          <p:cNvCxnSpPr/>
          <p:nvPr/>
        </p:nvCxnSpPr>
        <p:spPr bwMode="auto">
          <a:xfrm>
            <a:off x="11068574" y="4187166"/>
            <a:ext cx="0" cy="935078"/>
          </a:xfrm>
          <a:prstGeom prst="straightConnector1">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9" name="直接连接符 388"/>
          <p:cNvCxnSpPr/>
          <p:nvPr/>
        </p:nvCxnSpPr>
        <p:spPr bwMode="auto">
          <a:xfrm>
            <a:off x="10949476" y="5118195"/>
            <a:ext cx="119312" cy="4049"/>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0" name="直接连接符 389"/>
          <p:cNvCxnSpPr/>
          <p:nvPr/>
        </p:nvCxnSpPr>
        <p:spPr bwMode="auto">
          <a:xfrm>
            <a:off x="11701538" y="4091013"/>
            <a:ext cx="130379" cy="0"/>
          </a:xfrm>
          <a:prstGeom prst="line">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1" name="直接箭头连接符 390"/>
          <p:cNvCxnSpPr/>
          <p:nvPr/>
        </p:nvCxnSpPr>
        <p:spPr bwMode="auto">
          <a:xfrm flipH="1">
            <a:off x="11823450" y="4095039"/>
            <a:ext cx="8468" cy="2439384"/>
          </a:xfrm>
          <a:prstGeom prst="straightConnector1">
            <a:avLst/>
          </a:prstGeom>
          <a:no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2" name="直接箭头连接符 391"/>
          <p:cNvCxnSpPr/>
          <p:nvPr/>
        </p:nvCxnSpPr>
        <p:spPr bwMode="auto">
          <a:xfrm flipH="1">
            <a:off x="9552578" y="5333335"/>
            <a:ext cx="381" cy="311029"/>
          </a:xfrm>
          <a:prstGeom prst="straightConnector1">
            <a:avLst/>
          </a:prstGeom>
          <a:noFill/>
          <a:ln w="25400" cap="flat" cmpd="sng" algn="ctr">
            <a:solidFill>
              <a:schemeClr val="tx1"/>
            </a:solidFill>
            <a:prstDash val="solid"/>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94" name="Mux 3"/>
          <p:cNvGrpSpPr/>
          <p:nvPr/>
        </p:nvGrpSpPr>
        <p:grpSpPr>
          <a:xfrm>
            <a:off x="11322443" y="3663382"/>
            <a:ext cx="426720" cy="821232"/>
            <a:chOff x="3480179" y="5448299"/>
            <a:chExt cx="968606" cy="1230515"/>
          </a:xfrm>
          <a:solidFill>
            <a:srgbClr val="A6A6A6"/>
          </a:solidFill>
        </p:grpSpPr>
        <p:sp>
          <p:nvSpPr>
            <p:cNvPr id="395" name="mux"/>
            <p:cNvSpPr/>
            <p:nvPr/>
          </p:nvSpPr>
          <p:spPr>
            <a:xfrm rot="5400000">
              <a:off x="3360535" y="5718809"/>
              <a:ext cx="1230515" cy="689496"/>
            </a:xfrm>
            <a:prstGeom prst="flowChartTerminator">
              <a:avLst/>
            </a:prstGeom>
            <a:solidFill>
              <a:srgbClr val="D0CECE"/>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396" name="文本框 395"/>
            <p:cNvSpPr txBox="1"/>
            <p:nvPr/>
          </p:nvSpPr>
          <p:spPr>
            <a:xfrm>
              <a:off x="3480179" y="5499287"/>
              <a:ext cx="968606" cy="1179527"/>
            </a:xfrm>
            <a:prstGeom prst="rect">
              <a:avLst/>
            </a:prstGeom>
            <a:noFill/>
            <a:ln w="25400">
              <a:noFill/>
            </a:ln>
          </p:spPr>
          <p:txBody>
            <a:bodyPr wrap="none" rtlCol="0">
              <a:spAutoFit/>
            </a:bodyPr>
            <a:lstStyle/>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sp>
        <p:nvSpPr>
          <p:cNvPr id="398" name="矩形 397"/>
          <p:cNvSpPr/>
          <p:nvPr/>
        </p:nvSpPr>
        <p:spPr>
          <a:xfrm>
            <a:off x="8879925" y="2218698"/>
            <a:ext cx="1247500" cy="400110"/>
          </a:xfrm>
          <a:prstGeom prst="rect">
            <a:avLst/>
          </a:prstGeom>
          <a:ln w="25400">
            <a:noFill/>
          </a:ln>
        </p:spPr>
        <p:txBody>
          <a:bodyPr wrap="square">
            <a:spAutoFit/>
          </a:bodyPr>
          <a:lstStyle/>
          <a:p>
            <a:pPr lvl="0" algn="ctr">
              <a:defRPr/>
            </a:pPr>
            <a:r>
              <a:rPr lang="en-US" altLang="zh-CN" b="1" dirty="0">
                <a:solidFill>
                  <a:prstClr val="black"/>
                </a:solidFill>
                <a:latin typeface="Times New Roman" panose="02020603050405020304" pitchFamily="18" charset="0"/>
                <a:cs typeface="Times New Roman" panose="02020603050405020304" pitchFamily="18" charset="0"/>
              </a:rPr>
              <a:t>EX/</a:t>
            </a:r>
            <a:r>
              <a:rPr lang="en-US" altLang="zh-CN" sz="2000" b="1" dirty="0">
                <a:solidFill>
                  <a:prstClr val="black"/>
                </a:solidFill>
                <a:latin typeface="Times New Roman" panose="02020603050405020304" pitchFamily="18" charset="0"/>
                <a:cs typeface="Times New Roman" panose="02020603050405020304" pitchFamily="18" charset="0"/>
              </a:rPr>
              <a:t>MEM</a:t>
            </a:r>
            <a:endParaRPr lang="zh-CN" altLang="en-US" b="1" dirty="0">
              <a:solidFill>
                <a:prstClr val="black"/>
              </a:solidFill>
              <a:latin typeface="Times New Roman" panose="02020603050405020304" pitchFamily="18" charset="0"/>
              <a:cs typeface="Times New Roman" panose="02020603050405020304" pitchFamily="18" charset="0"/>
            </a:endParaRPr>
          </a:p>
        </p:txBody>
      </p:sp>
      <p:sp>
        <p:nvSpPr>
          <p:cNvPr id="402" name="矩形 401"/>
          <p:cNvSpPr/>
          <p:nvPr/>
        </p:nvSpPr>
        <p:spPr>
          <a:xfrm>
            <a:off x="10114659" y="2387932"/>
            <a:ext cx="1312533" cy="400110"/>
          </a:xfrm>
          <a:prstGeom prst="rect">
            <a:avLst/>
          </a:prstGeom>
          <a:ln w="25400">
            <a:noFill/>
          </a:ln>
        </p:spPr>
        <p:txBody>
          <a:bodyPr wrap="square">
            <a:spAutoFit/>
          </a:bodyPr>
          <a:lstStyle/>
          <a:p>
            <a:pPr lvl="0" algn="ctr">
              <a:defRPr/>
            </a:pPr>
            <a:r>
              <a:rPr lang="en-US" altLang="zh-CN" sz="2000" b="1" dirty="0">
                <a:solidFill>
                  <a:prstClr val="black"/>
                </a:solidFill>
                <a:latin typeface="Times New Roman" panose="02020603050405020304" pitchFamily="18" charset="0"/>
                <a:cs typeface="Times New Roman" panose="02020603050405020304" pitchFamily="18" charset="0"/>
              </a:rPr>
              <a:t>MEM</a:t>
            </a:r>
            <a:r>
              <a:rPr lang="en-US" altLang="zh-CN" sz="1200" b="1" dirty="0">
                <a:solidFill>
                  <a:prstClr val="black"/>
                </a:solidFill>
                <a:latin typeface="Times New Roman" panose="02020603050405020304" pitchFamily="18" charset="0"/>
                <a:cs typeface="Times New Roman" panose="02020603050405020304" pitchFamily="18" charset="0"/>
              </a:rPr>
              <a:t>/</a:t>
            </a:r>
            <a:r>
              <a:rPr lang="en-US" altLang="zh-CN" b="1" dirty="0">
                <a:solidFill>
                  <a:prstClr val="black"/>
                </a:solidFill>
                <a:latin typeface="Times New Roman" panose="02020603050405020304" pitchFamily="18" charset="0"/>
                <a:cs typeface="Times New Roman" panose="02020603050405020304" pitchFamily="18" charset="0"/>
              </a:rPr>
              <a:t>WB</a:t>
            </a:r>
            <a:endParaRPr lang="zh-CN" altLang="en-US" b="1" dirty="0">
              <a:solidFill>
                <a:prstClr val="black"/>
              </a:solidFill>
              <a:latin typeface="Times New Roman" panose="02020603050405020304" pitchFamily="18" charset="0"/>
              <a:cs typeface="Times New Roman" panose="02020603050405020304" pitchFamily="18" charset="0"/>
            </a:endParaRPr>
          </a:p>
        </p:txBody>
      </p:sp>
      <p:cxnSp>
        <p:nvCxnSpPr>
          <p:cNvPr id="403" name="直接箭头连接符 402"/>
          <p:cNvCxnSpPr/>
          <p:nvPr/>
        </p:nvCxnSpPr>
        <p:spPr bwMode="auto">
          <a:xfrm flipV="1">
            <a:off x="8784895" y="2926386"/>
            <a:ext cx="284391" cy="1211"/>
          </a:xfrm>
          <a:prstGeom prst="straightConnector1">
            <a:avLst/>
          </a:prstGeom>
          <a:noFill/>
          <a:ln w="25400" cap="flat" cmpd="sng" algn="ctr">
            <a:solidFill>
              <a:srgbClr val="00B0F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4" name="直接连接符 403"/>
          <p:cNvCxnSpPr/>
          <p:nvPr/>
        </p:nvCxnSpPr>
        <p:spPr>
          <a:xfrm>
            <a:off x="8785719" y="2628000"/>
            <a:ext cx="0" cy="293233"/>
          </a:xfrm>
          <a:prstGeom prst="line">
            <a:avLst/>
          </a:prstGeom>
          <a:noFill/>
          <a:ln w="25400" cap="flat" cmpd="sng" algn="ctr">
            <a:solidFill>
              <a:srgbClr val="00B0F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0" name="文本框 409"/>
          <p:cNvSpPr txBox="1"/>
          <p:nvPr/>
        </p:nvSpPr>
        <p:spPr>
          <a:xfrm>
            <a:off x="4603313" y="3972289"/>
            <a:ext cx="389850" cy="338554"/>
          </a:xfrm>
          <a:prstGeom prst="rect">
            <a:avLst/>
          </a:prstGeom>
          <a:noFill/>
        </p:spPr>
        <p:txBody>
          <a:bodyPr wrap="none" rtlCol="0">
            <a:spAutoFit/>
          </a:bodyPr>
          <a:lstStyle/>
          <a:p>
            <a:r>
              <a:rPr lang="en-US" altLang="zh-CN" sz="1600" b="1" dirty="0">
                <a:latin typeface="Times New Roman" panose="02020603050405020304" pitchFamily="18" charset="0"/>
                <a:cs typeface="Times New Roman" panose="02020603050405020304" pitchFamily="18" charset="0"/>
              </a:rPr>
              <a:t>13</a:t>
            </a:r>
            <a:endParaRPr lang="zh-CN" altLang="en-US" sz="1600" b="1" dirty="0">
              <a:latin typeface="Times New Roman" panose="02020603050405020304" pitchFamily="18" charset="0"/>
              <a:cs typeface="Times New Roman" panose="02020603050405020304" pitchFamily="18" charset="0"/>
            </a:endParaRPr>
          </a:p>
        </p:txBody>
      </p:sp>
      <p:sp>
        <p:nvSpPr>
          <p:cNvPr id="413" name="文本框 412"/>
          <p:cNvSpPr txBox="1"/>
          <p:nvPr/>
        </p:nvSpPr>
        <p:spPr>
          <a:xfrm>
            <a:off x="6159924" y="2184138"/>
            <a:ext cx="287258" cy="338554"/>
          </a:xfrm>
          <a:prstGeom prst="rect">
            <a:avLst/>
          </a:prstGeom>
          <a:noFill/>
        </p:spPr>
        <p:txBody>
          <a:bodyPr wrap="none" rtlCol="0">
            <a:spAutoFit/>
          </a:bodyPr>
          <a:lstStyle/>
          <a:p>
            <a:r>
              <a:rPr lang="en-GB" altLang="zh-CN" sz="1600" b="1" dirty="0">
                <a:latin typeface="Times New Roman" panose="02020603050405020304" pitchFamily="18" charset="0"/>
                <a:cs typeface="Times New Roman" panose="02020603050405020304" pitchFamily="18" charset="0"/>
              </a:rPr>
              <a:t>0</a:t>
            </a:r>
            <a:endParaRPr lang="zh-CN" altLang="en-US" sz="1600" b="1" dirty="0">
              <a:latin typeface="Times New Roman" panose="02020603050405020304" pitchFamily="18" charset="0"/>
              <a:cs typeface="Times New Roman" panose="02020603050405020304" pitchFamily="18" charset="0"/>
            </a:endParaRPr>
          </a:p>
        </p:txBody>
      </p:sp>
      <p:sp>
        <p:nvSpPr>
          <p:cNvPr id="415" name="文本框 414"/>
          <p:cNvSpPr txBox="1"/>
          <p:nvPr/>
        </p:nvSpPr>
        <p:spPr>
          <a:xfrm>
            <a:off x="6157263" y="2384481"/>
            <a:ext cx="287258" cy="338554"/>
          </a:xfrm>
          <a:prstGeom prst="rect">
            <a:avLst/>
          </a:prstGeom>
          <a:noFill/>
        </p:spPr>
        <p:txBody>
          <a:bodyPr wrap="none" rtlCol="0">
            <a:spAutoFit/>
          </a:bodyPr>
          <a:lstStyle/>
          <a:p>
            <a:r>
              <a:rPr lang="en-GB" altLang="zh-CN" sz="1600" b="1" dirty="0">
                <a:latin typeface="Times New Roman" panose="02020603050405020304" pitchFamily="18" charset="0"/>
                <a:cs typeface="Times New Roman" panose="02020603050405020304" pitchFamily="18" charset="0"/>
              </a:rPr>
              <a:t>0</a:t>
            </a:r>
            <a:endParaRPr lang="zh-CN" altLang="en-US" sz="1600" b="1" dirty="0">
              <a:latin typeface="Times New Roman" panose="02020603050405020304" pitchFamily="18" charset="0"/>
              <a:cs typeface="Times New Roman" panose="02020603050405020304" pitchFamily="18" charset="0"/>
            </a:endParaRPr>
          </a:p>
        </p:txBody>
      </p:sp>
      <p:sp>
        <p:nvSpPr>
          <p:cNvPr id="416" name="文本框 415"/>
          <p:cNvSpPr txBox="1"/>
          <p:nvPr/>
        </p:nvSpPr>
        <p:spPr>
          <a:xfrm>
            <a:off x="6158733" y="2803768"/>
            <a:ext cx="287258" cy="338554"/>
          </a:xfrm>
          <a:prstGeom prst="rect">
            <a:avLst/>
          </a:prstGeom>
          <a:noFill/>
        </p:spPr>
        <p:txBody>
          <a:bodyPr wrap="none" rtlCol="0">
            <a:spAutoFit/>
          </a:bodyPr>
          <a:lstStyle/>
          <a:p>
            <a:r>
              <a:rPr lang="en-GB" altLang="zh-CN" sz="1600" b="1" dirty="0">
                <a:latin typeface="Times New Roman" panose="02020603050405020304" pitchFamily="18" charset="0"/>
                <a:cs typeface="Times New Roman" panose="02020603050405020304" pitchFamily="18" charset="0"/>
              </a:rPr>
              <a:t>0</a:t>
            </a:r>
            <a:endParaRPr lang="zh-CN" altLang="en-US" sz="1600" b="1" dirty="0">
              <a:latin typeface="Times New Roman" panose="02020603050405020304" pitchFamily="18" charset="0"/>
              <a:cs typeface="Times New Roman" panose="02020603050405020304" pitchFamily="18" charset="0"/>
            </a:endParaRPr>
          </a:p>
        </p:txBody>
      </p:sp>
      <p:sp>
        <p:nvSpPr>
          <p:cNvPr id="424" name="文本框 423"/>
          <p:cNvSpPr txBox="1"/>
          <p:nvPr/>
        </p:nvSpPr>
        <p:spPr>
          <a:xfrm>
            <a:off x="6991967" y="2153022"/>
            <a:ext cx="287258" cy="338554"/>
          </a:xfrm>
          <a:prstGeom prst="rect">
            <a:avLst/>
          </a:prstGeom>
          <a:noFill/>
        </p:spPr>
        <p:txBody>
          <a:bodyPr wrap="none" rtlCol="0">
            <a:spAutoFit/>
          </a:bodyPr>
          <a:lstStyle/>
          <a:p>
            <a:r>
              <a:rPr lang="en-GB" altLang="zh-CN" sz="1600" b="1" dirty="0">
                <a:latin typeface="Times New Roman" panose="02020603050405020304" pitchFamily="18" charset="0"/>
                <a:cs typeface="Times New Roman" panose="02020603050405020304" pitchFamily="18" charset="0"/>
              </a:rPr>
              <a:t>0</a:t>
            </a:r>
            <a:endParaRPr lang="zh-CN" altLang="en-US" sz="1600" b="1" dirty="0">
              <a:latin typeface="Times New Roman" panose="02020603050405020304" pitchFamily="18" charset="0"/>
              <a:cs typeface="Times New Roman" panose="02020603050405020304" pitchFamily="18" charset="0"/>
            </a:endParaRPr>
          </a:p>
        </p:txBody>
      </p:sp>
      <p:sp>
        <p:nvSpPr>
          <p:cNvPr id="425" name="文本框 424"/>
          <p:cNvSpPr txBox="1"/>
          <p:nvPr/>
        </p:nvSpPr>
        <p:spPr>
          <a:xfrm>
            <a:off x="7013761" y="2382424"/>
            <a:ext cx="492443" cy="338554"/>
          </a:xfrm>
          <a:prstGeom prst="rect">
            <a:avLst/>
          </a:prstGeom>
          <a:noFill/>
        </p:spPr>
        <p:txBody>
          <a:bodyPr wrap="none" rtlCol="0">
            <a:spAutoFit/>
          </a:bodyPr>
          <a:lstStyle/>
          <a:p>
            <a:r>
              <a:rPr lang="en-GB" altLang="zh-CN" sz="1600" b="1" dirty="0">
                <a:latin typeface="Times New Roman" panose="02020603050405020304" pitchFamily="18" charset="0"/>
                <a:cs typeface="Times New Roman" panose="02020603050405020304" pitchFamily="18" charset="0"/>
              </a:rPr>
              <a:t>000</a:t>
            </a:r>
            <a:endParaRPr lang="zh-CN" altLang="en-US" sz="1600" b="1" dirty="0">
              <a:latin typeface="Times New Roman" panose="02020603050405020304" pitchFamily="18" charset="0"/>
              <a:cs typeface="Times New Roman" panose="02020603050405020304" pitchFamily="18" charset="0"/>
            </a:endParaRPr>
          </a:p>
        </p:txBody>
      </p:sp>
      <p:sp>
        <p:nvSpPr>
          <p:cNvPr id="430" name="文本框 429"/>
          <p:cNvSpPr txBox="1"/>
          <p:nvPr/>
        </p:nvSpPr>
        <p:spPr>
          <a:xfrm>
            <a:off x="9376695" y="2499203"/>
            <a:ext cx="446549" cy="338554"/>
          </a:xfrm>
          <a:prstGeom prst="rect">
            <a:avLst/>
          </a:prstGeom>
          <a:noFill/>
        </p:spPr>
        <p:txBody>
          <a:bodyPr wrap="square" rtlCol="0">
            <a:spAutoFit/>
          </a:bodyPr>
          <a:lstStyle/>
          <a:p>
            <a:r>
              <a:rPr lang="en-US" altLang="zh-CN" sz="1600" b="1" dirty="0">
                <a:latin typeface="Times New Roman" panose="02020603050405020304" pitchFamily="18" charset="0"/>
                <a:cs typeface="Times New Roman" panose="02020603050405020304" pitchFamily="18" charset="0"/>
              </a:rPr>
              <a:t>00</a:t>
            </a:r>
          </a:p>
        </p:txBody>
      </p:sp>
      <p:sp>
        <p:nvSpPr>
          <p:cNvPr id="432" name="文本框 431"/>
          <p:cNvSpPr txBox="1"/>
          <p:nvPr/>
        </p:nvSpPr>
        <p:spPr>
          <a:xfrm>
            <a:off x="10903618" y="5044156"/>
            <a:ext cx="446549" cy="338554"/>
          </a:xfrm>
          <a:prstGeom prst="rect">
            <a:avLst/>
          </a:prstGeom>
          <a:noFill/>
        </p:spPr>
        <p:txBody>
          <a:bodyPr wrap="square" rtlCol="0">
            <a:spAutoFit/>
          </a:bodyPr>
          <a:lstStyle/>
          <a:p>
            <a:r>
              <a:rPr lang="en-US" altLang="zh-CN" sz="1600" b="1" dirty="0">
                <a:latin typeface="Times New Roman" panose="02020603050405020304" pitchFamily="18" charset="0"/>
                <a:cs typeface="Times New Roman" panose="02020603050405020304" pitchFamily="18" charset="0"/>
              </a:rPr>
              <a:t>13</a:t>
            </a:r>
          </a:p>
        </p:txBody>
      </p:sp>
      <p:sp>
        <p:nvSpPr>
          <p:cNvPr id="435" name="文本框 434"/>
          <p:cNvSpPr txBox="1"/>
          <p:nvPr/>
        </p:nvSpPr>
        <p:spPr>
          <a:xfrm>
            <a:off x="8605018" y="1362633"/>
            <a:ext cx="389850" cy="338554"/>
          </a:xfrm>
          <a:prstGeom prst="rect">
            <a:avLst/>
          </a:prstGeom>
          <a:noFill/>
        </p:spPr>
        <p:txBody>
          <a:bodyPr wrap="none" rtlCol="0">
            <a:spAutoFit/>
          </a:bodyPr>
          <a:lstStyle/>
          <a:p>
            <a:r>
              <a:rPr lang="en-GB" altLang="zh-CN" sz="1600" b="1" dirty="0">
                <a:latin typeface="Times New Roman" panose="02020603050405020304" pitchFamily="18" charset="0"/>
                <a:cs typeface="Times New Roman" panose="02020603050405020304" pitchFamily="18" charset="0"/>
              </a:rPr>
              <a:t>00</a:t>
            </a:r>
            <a:endParaRPr lang="zh-CN" altLang="en-US" sz="1600" b="1" dirty="0">
              <a:latin typeface="Times New Roman" panose="02020603050405020304" pitchFamily="18" charset="0"/>
              <a:cs typeface="Times New Roman" panose="02020603050405020304" pitchFamily="18" charset="0"/>
            </a:endParaRPr>
          </a:p>
        </p:txBody>
      </p:sp>
      <p:sp>
        <p:nvSpPr>
          <p:cNvPr id="3" name="文本框 2"/>
          <p:cNvSpPr txBox="1"/>
          <p:nvPr/>
        </p:nvSpPr>
        <p:spPr>
          <a:xfrm>
            <a:off x="390525" y="6305550"/>
            <a:ext cx="923925" cy="398780"/>
          </a:xfrm>
          <a:prstGeom prst="rect">
            <a:avLst/>
          </a:prstGeom>
          <a:noFill/>
        </p:spPr>
        <p:txBody>
          <a:bodyPr wrap="none" rtlCol="0">
            <a:spAutoFit/>
          </a:bodyPr>
          <a:lstStyle/>
          <a:p>
            <a:r>
              <a:rPr lang="en-US" altLang="zh-CN" sz="2000">
                <a:latin typeface="Times New Roman" panose="02020603050405020304" pitchFamily="18" charset="0"/>
                <a:cs typeface="Times New Roman" panose="02020603050405020304" pitchFamily="18" charset="0"/>
              </a:rPr>
              <a:t>clock 7</a:t>
            </a:r>
          </a:p>
        </p:txBody>
      </p:sp>
      <p:grpSp>
        <p:nvGrpSpPr>
          <p:cNvPr id="292" name="组合 291">
            <a:extLst>
              <a:ext uri="{FF2B5EF4-FFF2-40B4-BE49-F238E27FC236}">
                <a16:creationId xmlns:a16="http://schemas.microsoft.com/office/drawing/2014/main" id="{13AB89CA-0664-4740-808C-CD5D59D92931}"/>
              </a:ext>
            </a:extLst>
          </p:cNvPr>
          <p:cNvGrpSpPr/>
          <p:nvPr/>
        </p:nvGrpSpPr>
        <p:grpSpPr>
          <a:xfrm>
            <a:off x="6043295" y="2068195"/>
            <a:ext cx="1014730" cy="4107180"/>
            <a:chOff x="9529" y="3377"/>
            <a:chExt cx="1598" cy="6468"/>
          </a:xfrm>
        </p:grpSpPr>
        <p:sp>
          <p:nvSpPr>
            <p:cNvPr id="294" name="矩形 293">
              <a:extLst>
                <a:ext uri="{FF2B5EF4-FFF2-40B4-BE49-F238E27FC236}">
                  <a16:creationId xmlns:a16="http://schemas.microsoft.com/office/drawing/2014/main" id="{47D215F4-6F12-41C4-9E4C-F5C033A5C64B}"/>
                </a:ext>
              </a:extLst>
            </p:cNvPr>
            <p:cNvSpPr/>
            <p:nvPr/>
          </p:nvSpPr>
          <p:spPr>
            <a:xfrm>
              <a:off x="10160" y="3798"/>
              <a:ext cx="404" cy="434"/>
            </a:xfrm>
            <a:prstGeom prst="rect">
              <a:avLst/>
            </a:prstGeom>
            <a:noFill/>
            <a:ln w="25400">
              <a:noFill/>
            </a:ln>
          </p:spPr>
          <p:txBody>
            <a:bodyPr wrap="square" lIns="0" rIns="0">
              <a:spAutoFit/>
            </a:bodyPr>
            <a:lstStyle/>
            <a:p>
              <a:pPr algn="ctr" fontAlgn="base">
                <a:spcBef>
                  <a:spcPct val="0"/>
                </a:spcBef>
                <a:spcAft>
                  <a:spcPct val="0"/>
                </a:spcAft>
              </a:pPr>
              <a:r>
                <a:rPr lang="en-US" altLang="zh-CN" sz="12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WB</a:t>
              </a:r>
            </a:p>
          </p:txBody>
        </p:sp>
        <p:sp>
          <p:nvSpPr>
            <p:cNvPr id="300" name="矩形 299">
              <a:extLst>
                <a:ext uri="{FF2B5EF4-FFF2-40B4-BE49-F238E27FC236}">
                  <a16:creationId xmlns:a16="http://schemas.microsoft.com/office/drawing/2014/main" id="{0F65CA9C-3190-4692-A4FE-E79FED2460C2}"/>
                </a:ext>
              </a:extLst>
            </p:cNvPr>
            <p:cNvSpPr/>
            <p:nvPr/>
          </p:nvSpPr>
          <p:spPr bwMode="auto">
            <a:xfrm>
              <a:off x="10083" y="4760"/>
              <a:ext cx="587" cy="5085"/>
            </a:xfrm>
            <a:prstGeom prst="rect">
              <a:avLst/>
            </a:prstGeom>
            <a:solidFill>
              <a:schemeClr val="bg2">
                <a:lumMod val="90000"/>
              </a:schemeClr>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305" name="组合 304">
              <a:extLst>
                <a:ext uri="{FF2B5EF4-FFF2-40B4-BE49-F238E27FC236}">
                  <a16:creationId xmlns:a16="http://schemas.microsoft.com/office/drawing/2014/main" id="{9EA80183-23FB-4770-A155-442C54C719A0}"/>
                </a:ext>
              </a:extLst>
            </p:cNvPr>
            <p:cNvGrpSpPr/>
            <p:nvPr/>
          </p:nvGrpSpPr>
          <p:grpSpPr>
            <a:xfrm>
              <a:off x="10077" y="3864"/>
              <a:ext cx="601" cy="886"/>
              <a:chOff x="10099" y="3867"/>
              <a:chExt cx="607" cy="887"/>
            </a:xfrm>
          </p:grpSpPr>
          <p:sp>
            <p:nvSpPr>
              <p:cNvPr id="324" name="矩形 323">
                <a:extLst>
                  <a:ext uri="{FF2B5EF4-FFF2-40B4-BE49-F238E27FC236}">
                    <a16:creationId xmlns:a16="http://schemas.microsoft.com/office/drawing/2014/main" id="{1CF96209-734F-4EBC-B4D7-07C19D92EEC4}"/>
                  </a:ext>
                </a:extLst>
              </p:cNvPr>
              <p:cNvSpPr/>
              <p:nvPr/>
            </p:nvSpPr>
            <p:spPr bwMode="auto">
              <a:xfrm>
                <a:off x="10099" y="3867"/>
                <a:ext cx="607" cy="294"/>
              </a:xfrm>
              <a:prstGeom prst="rect">
                <a:avLst/>
              </a:prstGeom>
              <a:solidFill>
                <a:srgbClr val="9CDCF9"/>
              </a:solid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45720" rIns="0" bIns="45720" numCol="1" rtlCol="0" anchor="ctr" anchorCtr="0" compatLnSpc="1"/>
              <a:lstStyle/>
              <a:p>
                <a:pPr algn="ctr" fontAlgn="base">
                  <a:spcBef>
                    <a:spcPct val="0"/>
                  </a:spcBef>
                  <a:spcAft>
                    <a:spcPct val="0"/>
                  </a:spcAft>
                </a:pPr>
                <a:r>
                  <a:rPr lang="en-US" altLang="zh-CN"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WB</a:t>
                </a:r>
              </a:p>
            </p:txBody>
          </p:sp>
          <p:sp>
            <p:nvSpPr>
              <p:cNvPr id="325" name="矩形 324">
                <a:extLst>
                  <a:ext uri="{FF2B5EF4-FFF2-40B4-BE49-F238E27FC236}">
                    <a16:creationId xmlns:a16="http://schemas.microsoft.com/office/drawing/2014/main" id="{95FE6EFE-1780-410A-8BAC-F7ADF091BF9B}"/>
                  </a:ext>
                </a:extLst>
              </p:cNvPr>
              <p:cNvSpPr/>
              <p:nvPr/>
            </p:nvSpPr>
            <p:spPr bwMode="auto">
              <a:xfrm>
                <a:off x="10099" y="4147"/>
                <a:ext cx="607" cy="294"/>
              </a:xfrm>
              <a:prstGeom prst="rect">
                <a:avLst/>
              </a:prstGeom>
              <a:solidFill>
                <a:srgbClr val="9CDCF9"/>
              </a:solid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26" name="矩形 325">
                <a:extLst>
                  <a:ext uri="{FF2B5EF4-FFF2-40B4-BE49-F238E27FC236}">
                    <a16:creationId xmlns:a16="http://schemas.microsoft.com/office/drawing/2014/main" id="{6B481FAE-EEF4-4628-8380-C5EB2F16D376}"/>
                  </a:ext>
                </a:extLst>
              </p:cNvPr>
              <p:cNvSpPr/>
              <p:nvPr/>
            </p:nvSpPr>
            <p:spPr bwMode="auto">
              <a:xfrm>
                <a:off x="10099" y="4460"/>
                <a:ext cx="607" cy="294"/>
              </a:xfrm>
              <a:prstGeom prst="rect">
                <a:avLst/>
              </a:prstGeom>
              <a:solidFill>
                <a:srgbClr val="9CDCF9"/>
              </a:solid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27" name="矩形 326">
                <a:extLst>
                  <a:ext uri="{FF2B5EF4-FFF2-40B4-BE49-F238E27FC236}">
                    <a16:creationId xmlns:a16="http://schemas.microsoft.com/office/drawing/2014/main" id="{AA9FE6B8-DF4C-490B-99F7-53EDD2E010DF}"/>
                  </a:ext>
                </a:extLst>
              </p:cNvPr>
              <p:cNvSpPr/>
              <p:nvPr/>
            </p:nvSpPr>
            <p:spPr>
              <a:xfrm>
                <a:off x="10183" y="4142"/>
                <a:ext cx="408" cy="388"/>
              </a:xfrm>
              <a:prstGeom prst="rect">
                <a:avLst/>
              </a:prstGeom>
              <a:noFill/>
              <a:ln w="25400">
                <a:noFill/>
              </a:ln>
            </p:spPr>
            <p:txBody>
              <a:bodyPr wrap="square" lIns="0" tIns="0" rIns="0" bIns="0">
                <a:spAutoFit/>
              </a:bodyPr>
              <a:lstStyle/>
              <a:p>
                <a:pPr algn="ctr" fontAlgn="base">
                  <a:spcBef>
                    <a:spcPct val="0"/>
                  </a:spcBef>
                  <a:spcAft>
                    <a:spcPct val="0"/>
                  </a:spcAft>
                </a:pP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M</a:t>
                </a:r>
              </a:p>
            </p:txBody>
          </p:sp>
        </p:grpSp>
        <p:grpSp>
          <p:nvGrpSpPr>
            <p:cNvPr id="317" name="组合 316">
              <a:extLst>
                <a:ext uri="{FF2B5EF4-FFF2-40B4-BE49-F238E27FC236}">
                  <a16:creationId xmlns:a16="http://schemas.microsoft.com/office/drawing/2014/main" id="{F8D8A05C-AC7A-4B20-8904-57CBC6ECEF29}"/>
                </a:ext>
              </a:extLst>
            </p:cNvPr>
            <p:cNvGrpSpPr/>
            <p:nvPr/>
          </p:nvGrpSpPr>
          <p:grpSpPr>
            <a:xfrm>
              <a:off x="9529" y="3377"/>
              <a:ext cx="1598" cy="1433"/>
              <a:chOff x="9529" y="3377"/>
              <a:chExt cx="1598" cy="1433"/>
            </a:xfrm>
          </p:grpSpPr>
          <p:sp>
            <p:nvSpPr>
              <p:cNvPr id="319" name="矩形 318">
                <a:extLst>
                  <a:ext uri="{FF2B5EF4-FFF2-40B4-BE49-F238E27FC236}">
                    <a16:creationId xmlns:a16="http://schemas.microsoft.com/office/drawing/2014/main" id="{0F8DD199-F578-40E5-A153-8C4BCAEE2FEF}"/>
                  </a:ext>
                </a:extLst>
              </p:cNvPr>
              <p:cNvSpPr/>
              <p:nvPr/>
            </p:nvSpPr>
            <p:spPr>
              <a:xfrm>
                <a:off x="10115" y="4422"/>
                <a:ext cx="556" cy="388"/>
              </a:xfrm>
              <a:prstGeom prst="rect">
                <a:avLst/>
              </a:prstGeom>
              <a:noFill/>
              <a:ln w="25400">
                <a:noFill/>
              </a:ln>
            </p:spPr>
            <p:txBody>
              <a:bodyPr wrap="square" lIns="0" tIns="0" rIns="0" bIns="0">
                <a:spAutoFit/>
              </a:bodyPr>
              <a:lstStyle/>
              <a:p>
                <a:pPr algn="ctr" fontAlgn="base">
                  <a:spcBef>
                    <a:spcPct val="0"/>
                  </a:spcBef>
                  <a:spcAft>
                    <a:spcPct val="0"/>
                  </a:spcAft>
                </a:pP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EX</a:t>
                </a:r>
              </a:p>
            </p:txBody>
          </p:sp>
          <p:sp>
            <p:nvSpPr>
              <p:cNvPr id="323" name="矩形 322">
                <a:extLst>
                  <a:ext uri="{FF2B5EF4-FFF2-40B4-BE49-F238E27FC236}">
                    <a16:creationId xmlns:a16="http://schemas.microsoft.com/office/drawing/2014/main" id="{60937EE2-463E-431B-8C4E-8DCEB615BB4C}"/>
                  </a:ext>
                </a:extLst>
              </p:cNvPr>
              <p:cNvSpPr/>
              <p:nvPr/>
            </p:nvSpPr>
            <p:spPr>
              <a:xfrm>
                <a:off x="9529" y="3377"/>
                <a:ext cx="1598" cy="436"/>
              </a:xfrm>
              <a:prstGeom prst="rect">
                <a:avLst/>
              </a:prstGeom>
              <a:ln w="25400">
                <a:noFill/>
              </a:ln>
            </p:spPr>
            <p:txBody>
              <a:bodyPr wrap="square" lIns="0" tIns="0" rIns="0" bIns="0">
                <a:spAutoFit/>
              </a:bodyPr>
              <a:lstStyle/>
              <a:p>
                <a:pPr lvl="0" algn="ctr">
                  <a:defRPr/>
                </a:pPr>
                <a:r>
                  <a:rPr lang="en-US" altLang="zh-CN" b="1" dirty="0">
                    <a:solidFill>
                      <a:prstClr val="black"/>
                    </a:solidFill>
                    <a:latin typeface="Times New Roman" panose="02020603050405020304" pitchFamily="18" charset="0"/>
                    <a:cs typeface="Times New Roman" panose="02020603050405020304" pitchFamily="18" charset="0"/>
                  </a:rPr>
                  <a:t>ID/EX</a:t>
                </a:r>
                <a:endParaRPr lang="zh-CN" altLang="en-US" b="1" dirty="0">
                  <a:solidFill>
                    <a:prstClr val="black"/>
                  </a:solidFill>
                  <a:latin typeface="Times New Roman" panose="02020603050405020304" pitchFamily="18" charset="0"/>
                  <a:cs typeface="Times New Roman" panose="02020603050405020304" pitchFamily="18" charset="0"/>
                </a:endParaRPr>
              </a:p>
            </p:txBody>
          </p:sp>
        </p:grpSp>
      </p:grpSp>
      <p:grpSp>
        <p:nvGrpSpPr>
          <p:cNvPr id="328" name="组合 327">
            <a:extLst>
              <a:ext uri="{FF2B5EF4-FFF2-40B4-BE49-F238E27FC236}">
                <a16:creationId xmlns:a16="http://schemas.microsoft.com/office/drawing/2014/main" id="{E42190BE-5B2C-46DD-A866-61F668767B24}"/>
              </a:ext>
            </a:extLst>
          </p:cNvPr>
          <p:cNvGrpSpPr/>
          <p:nvPr/>
        </p:nvGrpSpPr>
        <p:grpSpPr>
          <a:xfrm>
            <a:off x="8841213" y="2541905"/>
            <a:ext cx="601345" cy="2908300"/>
            <a:chOff x="14049" y="4003"/>
            <a:chExt cx="947" cy="4580"/>
          </a:xfrm>
        </p:grpSpPr>
        <p:sp>
          <p:nvSpPr>
            <p:cNvPr id="329" name="矩形 328">
              <a:extLst>
                <a:ext uri="{FF2B5EF4-FFF2-40B4-BE49-F238E27FC236}">
                  <a16:creationId xmlns:a16="http://schemas.microsoft.com/office/drawing/2014/main" id="{F2D1F848-BFF4-464E-8837-03CD1EBE5B55}"/>
                </a:ext>
              </a:extLst>
            </p:cNvPr>
            <p:cNvSpPr/>
            <p:nvPr/>
          </p:nvSpPr>
          <p:spPr>
            <a:xfrm>
              <a:off x="14218" y="4003"/>
              <a:ext cx="778" cy="400"/>
            </a:xfrm>
            <a:prstGeom prst="rect">
              <a:avLst/>
            </a:prstGeom>
            <a:noFill/>
            <a:ln w="25400">
              <a:noFill/>
            </a:ln>
          </p:spPr>
          <p:txBody>
            <a:bodyPr wrap="square">
              <a:spAutoFit/>
            </a:bodyPr>
            <a:lstStyle/>
            <a:p>
              <a:pPr algn="ctr" fontAlgn="base">
                <a:spcBef>
                  <a:spcPct val="0"/>
                </a:spcBef>
                <a:spcAft>
                  <a:spcPct val="0"/>
                </a:spcAft>
              </a:pPr>
              <a:r>
                <a:rPr lang="en-US" altLang="zh-CN" sz="105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WB</a:t>
              </a:r>
              <a:endParaRPr lang="zh-CN" altLang="en-US" sz="105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30" name="矩形 329">
              <a:extLst>
                <a:ext uri="{FF2B5EF4-FFF2-40B4-BE49-F238E27FC236}">
                  <a16:creationId xmlns:a16="http://schemas.microsoft.com/office/drawing/2014/main" id="{AFCA45CF-C27A-4487-B484-44C00A2365BA}"/>
                </a:ext>
              </a:extLst>
            </p:cNvPr>
            <p:cNvSpPr/>
            <p:nvPr/>
          </p:nvSpPr>
          <p:spPr bwMode="auto">
            <a:xfrm>
              <a:off x="14408" y="4798"/>
              <a:ext cx="567" cy="3785"/>
            </a:xfrm>
            <a:prstGeom prst="rect">
              <a:avLst/>
            </a:prstGeom>
            <a:solidFill>
              <a:schemeClr val="bg2">
                <a:lumMod val="90000"/>
              </a:schemeClr>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31" name="矩形 330">
              <a:extLst>
                <a:ext uri="{FF2B5EF4-FFF2-40B4-BE49-F238E27FC236}">
                  <a16:creationId xmlns:a16="http://schemas.microsoft.com/office/drawing/2014/main" id="{D4D0374C-7C27-42B9-B032-03502C2FD669}"/>
                </a:ext>
              </a:extLst>
            </p:cNvPr>
            <p:cNvSpPr/>
            <p:nvPr/>
          </p:nvSpPr>
          <p:spPr bwMode="auto">
            <a:xfrm>
              <a:off x="14406" y="4007"/>
              <a:ext cx="567" cy="399"/>
            </a:xfrm>
            <a:prstGeom prst="rect">
              <a:avLst/>
            </a:prstGeom>
            <a:solidFill>
              <a:srgbClr val="9CDCF9"/>
            </a:solid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0" tIns="45720" rIns="0" bIns="45720" numCol="1" rtlCol="0" anchor="ctr" anchorCtr="0" compatLnSpc="1"/>
            <a:lstStyle/>
            <a:p>
              <a:pPr algn="ctr" fontAlgn="base">
                <a:spcBef>
                  <a:spcPct val="0"/>
                </a:spcBef>
                <a:spcAft>
                  <a:spcPct val="0"/>
                </a:spcAft>
              </a:pP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WB</a:t>
              </a:r>
            </a:p>
          </p:txBody>
        </p:sp>
        <p:sp>
          <p:nvSpPr>
            <p:cNvPr id="332" name="矩形 331">
              <a:extLst>
                <a:ext uri="{FF2B5EF4-FFF2-40B4-BE49-F238E27FC236}">
                  <a16:creationId xmlns:a16="http://schemas.microsoft.com/office/drawing/2014/main" id="{63652590-3A7D-4C74-88C9-7B7FBA840F98}"/>
                </a:ext>
              </a:extLst>
            </p:cNvPr>
            <p:cNvSpPr/>
            <p:nvPr/>
          </p:nvSpPr>
          <p:spPr bwMode="auto">
            <a:xfrm>
              <a:off x="14406" y="4396"/>
              <a:ext cx="567" cy="390"/>
            </a:xfrm>
            <a:prstGeom prst="rect">
              <a:avLst/>
            </a:prstGeom>
            <a:solidFill>
              <a:srgbClr val="9CDCF9"/>
            </a:solidFill>
            <a:ln w="25400">
              <a:solidFill>
                <a:srgbClr val="00B0F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spcBef>
                  <a:spcPct val="0"/>
                </a:spcBef>
                <a:spcAft>
                  <a:spcPct val="0"/>
                </a:spcAft>
              </a:pPr>
              <a:endParaRPr lang="zh-CN" altLang="en-US" sz="24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333" name="矩形 332">
              <a:extLst>
                <a:ext uri="{FF2B5EF4-FFF2-40B4-BE49-F238E27FC236}">
                  <a16:creationId xmlns:a16="http://schemas.microsoft.com/office/drawing/2014/main" id="{78A5FB27-62C8-4329-A698-4B2C2E181FD2}"/>
                </a:ext>
              </a:extLst>
            </p:cNvPr>
            <p:cNvSpPr/>
            <p:nvPr/>
          </p:nvSpPr>
          <p:spPr>
            <a:xfrm>
              <a:off x="14380" y="4404"/>
              <a:ext cx="423" cy="388"/>
            </a:xfrm>
            <a:prstGeom prst="rect">
              <a:avLst/>
            </a:prstGeom>
            <a:noFill/>
            <a:ln w="25400">
              <a:noFill/>
            </a:ln>
          </p:spPr>
          <p:txBody>
            <a:bodyPr wrap="square" lIns="0" tIns="0" rIns="0" bIns="0">
              <a:spAutoFit/>
            </a:bodyPr>
            <a:lstStyle/>
            <a:p>
              <a:pPr algn="ctr" fontAlgn="base">
                <a:spcBef>
                  <a:spcPct val="0"/>
                </a:spcBef>
                <a:spcAft>
                  <a:spcPct val="0"/>
                </a:spcAft>
              </a:pP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rPr>
                <a:t>M</a:t>
              </a:r>
              <a:endParaRPr lang="zh-CN" altLang="en-US" sz="16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34" name="直接箭头连接符 333">
              <a:extLst>
                <a:ext uri="{FF2B5EF4-FFF2-40B4-BE49-F238E27FC236}">
                  <a16:creationId xmlns:a16="http://schemas.microsoft.com/office/drawing/2014/main" id="{84C47DE6-B43D-44F2-A7E5-C70791DC48FE}"/>
                </a:ext>
              </a:extLst>
            </p:cNvPr>
            <p:cNvCxnSpPr/>
            <p:nvPr/>
          </p:nvCxnSpPr>
          <p:spPr bwMode="auto">
            <a:xfrm>
              <a:off x="14049" y="6334"/>
              <a:ext cx="357" cy="0"/>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39" name="矩形 338">
            <a:extLst>
              <a:ext uri="{FF2B5EF4-FFF2-40B4-BE49-F238E27FC236}">
                <a16:creationId xmlns:a16="http://schemas.microsoft.com/office/drawing/2014/main" id="{8C2B49D3-8C5D-4A85-801A-49700DBD4F5E}"/>
              </a:ext>
            </a:extLst>
          </p:cNvPr>
          <p:cNvSpPr/>
          <p:nvPr/>
        </p:nvSpPr>
        <p:spPr bwMode="auto">
          <a:xfrm>
            <a:off x="956909" y="4017967"/>
            <a:ext cx="283998" cy="409195"/>
          </a:xfrm>
          <a:prstGeom prst="rect">
            <a:avLst/>
          </a:prstGeom>
          <a:solidFill>
            <a:srgbClr val="D0CECE"/>
          </a:solidFill>
          <a:ln w="25400">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algn="ctr" fontAlgn="base">
              <a:lnSpc>
                <a:spcPct val="70000"/>
              </a:lnSpc>
              <a:spcBef>
                <a:spcPct val="0"/>
              </a:spcBef>
              <a:spcAft>
                <a:spcPct val="0"/>
              </a:spcAft>
            </a:pPr>
            <a:r>
              <a:rPr lang="en-US" altLang="zh-CN"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PC</a:t>
            </a:r>
            <a:endParaRPr lang="zh-CN" altLang="en-US"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40" name="直接箭头连接符 339">
            <a:extLst>
              <a:ext uri="{FF2B5EF4-FFF2-40B4-BE49-F238E27FC236}">
                <a16:creationId xmlns:a16="http://schemas.microsoft.com/office/drawing/2014/main" id="{F35A51C4-C0DE-4853-B719-52A0906376C7}"/>
              </a:ext>
            </a:extLst>
          </p:cNvPr>
          <p:cNvCxnSpPr>
            <a:stCxn id="339" idx="3"/>
          </p:cNvCxnSpPr>
          <p:nvPr/>
        </p:nvCxnSpPr>
        <p:spPr bwMode="auto">
          <a:xfrm flipV="1">
            <a:off x="1240907" y="4209229"/>
            <a:ext cx="296430" cy="13336"/>
          </a:xfrm>
          <a:prstGeom prst="straightConnector1">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1" name="直接箭头连接符 204">
            <a:extLst>
              <a:ext uri="{FF2B5EF4-FFF2-40B4-BE49-F238E27FC236}">
                <a16:creationId xmlns:a16="http://schemas.microsoft.com/office/drawing/2014/main" id="{38B2A051-EC29-419C-A7E9-6EA067A42753}"/>
              </a:ext>
            </a:extLst>
          </p:cNvPr>
          <p:cNvCxnSpPr>
            <a:cxnSpLocks/>
          </p:cNvCxnSpPr>
          <p:nvPr/>
        </p:nvCxnSpPr>
        <p:spPr bwMode="auto">
          <a:xfrm rot="16200000" flipH="1">
            <a:off x="-402236" y="3456046"/>
            <a:ext cx="1562543" cy="290624"/>
          </a:xfrm>
          <a:prstGeom prst="bentConnector3">
            <a:avLst>
              <a:gd name="adj1" fmla="val 100340"/>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2" name="直接箭头连接符 413">
            <a:extLst>
              <a:ext uri="{FF2B5EF4-FFF2-40B4-BE49-F238E27FC236}">
                <a16:creationId xmlns:a16="http://schemas.microsoft.com/office/drawing/2014/main" id="{61A9F05E-8C7A-47E3-A23A-47F63C00AE20}"/>
              </a:ext>
            </a:extLst>
          </p:cNvPr>
          <p:cNvCxnSpPr>
            <a:cxnSpLocks/>
          </p:cNvCxnSpPr>
          <p:nvPr/>
        </p:nvCxnSpPr>
        <p:spPr bwMode="auto">
          <a:xfrm rot="16200000" flipH="1">
            <a:off x="-1130806" y="2414115"/>
            <a:ext cx="2859979" cy="422073"/>
          </a:xfrm>
          <a:prstGeom prst="bentConnector3">
            <a:avLst>
              <a:gd name="adj1" fmla="val 100193"/>
            </a:avLst>
          </a:prstGeom>
          <a:noFill/>
          <a:ln w="254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43" name="Mux 3">
            <a:extLst>
              <a:ext uri="{FF2B5EF4-FFF2-40B4-BE49-F238E27FC236}">
                <a16:creationId xmlns:a16="http://schemas.microsoft.com/office/drawing/2014/main" id="{E61C4C19-15F8-44AF-A1B4-E146946E93AE}"/>
              </a:ext>
            </a:extLst>
          </p:cNvPr>
          <p:cNvGrpSpPr/>
          <p:nvPr/>
        </p:nvGrpSpPr>
        <p:grpSpPr>
          <a:xfrm>
            <a:off x="525047" y="3769320"/>
            <a:ext cx="278377" cy="919560"/>
            <a:chOff x="3631044" y="5448299"/>
            <a:chExt cx="781892" cy="1230515"/>
          </a:xfrm>
          <a:noFill/>
        </p:grpSpPr>
        <p:sp>
          <p:nvSpPr>
            <p:cNvPr id="344" name="mux">
              <a:extLst>
                <a:ext uri="{FF2B5EF4-FFF2-40B4-BE49-F238E27FC236}">
                  <a16:creationId xmlns:a16="http://schemas.microsoft.com/office/drawing/2014/main" id="{3E782E03-38D3-47AE-99BC-8C0CD7BCA91F}"/>
                </a:ext>
              </a:extLst>
            </p:cNvPr>
            <p:cNvSpPr/>
            <p:nvPr/>
          </p:nvSpPr>
          <p:spPr>
            <a:xfrm rot="5400000">
              <a:off x="3360534" y="5718809"/>
              <a:ext cx="1230515" cy="689495"/>
            </a:xfrm>
            <a:prstGeom prst="flowChartTerminator">
              <a:avLst/>
            </a:prstGeom>
            <a:solidFill>
              <a:srgbClr val="D0CECE"/>
            </a:solidFill>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400" dirty="0">
                <a:latin typeface="Times New Roman" panose="02020603050405020304" pitchFamily="18" charset="0"/>
                <a:cs typeface="Times New Roman" panose="02020603050405020304" pitchFamily="18" charset="0"/>
              </a:endParaRPr>
            </a:p>
          </p:txBody>
        </p:sp>
        <p:sp>
          <p:nvSpPr>
            <p:cNvPr id="345" name="文本框 344">
              <a:extLst>
                <a:ext uri="{FF2B5EF4-FFF2-40B4-BE49-F238E27FC236}">
                  <a16:creationId xmlns:a16="http://schemas.microsoft.com/office/drawing/2014/main" id="{D754E9E5-0552-4A2F-8944-4FDAF792D699}"/>
                </a:ext>
              </a:extLst>
            </p:cNvPr>
            <p:cNvSpPr txBox="1"/>
            <p:nvPr/>
          </p:nvSpPr>
          <p:spPr>
            <a:xfrm>
              <a:off x="3680029" y="5553609"/>
              <a:ext cx="732907" cy="1050225"/>
            </a:xfrm>
            <a:prstGeom prst="rect">
              <a:avLst/>
            </a:prstGeom>
            <a:grpFill/>
            <a:ln w="25400">
              <a:noFill/>
            </a:ln>
          </p:spPr>
          <p:txBody>
            <a:bodyPr wrap="square" rtlCol="0">
              <a:spAutoFit/>
            </a:bodyPr>
            <a:lstStyle/>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M</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U</a:t>
              </a:r>
            </a:p>
            <a:p>
              <a:pPr algn="ctr">
                <a:lnSpc>
                  <a:spcPts val="1800"/>
                </a:lnSpc>
              </a:pPr>
              <a:r>
                <a:rPr lang="en-US" altLang="zh-CN" sz="2000" b="1" dirty="0">
                  <a:solidFill>
                    <a:srgbClr val="FF0000"/>
                  </a:solidFill>
                  <a:latin typeface="Times New Roman" panose="02020603050405020304" pitchFamily="18" charset="0"/>
                  <a:cs typeface="Times New Roman" panose="02020603050405020304" pitchFamily="18" charset="0"/>
                </a:rPr>
                <a:t>X</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cxnSp>
        <p:nvCxnSpPr>
          <p:cNvPr id="346" name="直接连接符 345">
            <a:extLst>
              <a:ext uri="{FF2B5EF4-FFF2-40B4-BE49-F238E27FC236}">
                <a16:creationId xmlns:a16="http://schemas.microsoft.com/office/drawing/2014/main" id="{392E0F78-9DD9-418B-8BD3-3B9D059598B9}"/>
              </a:ext>
            </a:extLst>
          </p:cNvPr>
          <p:cNvCxnSpPr/>
          <p:nvPr/>
        </p:nvCxnSpPr>
        <p:spPr bwMode="auto">
          <a:xfrm>
            <a:off x="770191" y="4207505"/>
            <a:ext cx="182854" cy="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7" name="文本框 346">
            <a:extLst>
              <a:ext uri="{FF2B5EF4-FFF2-40B4-BE49-F238E27FC236}">
                <a16:creationId xmlns:a16="http://schemas.microsoft.com/office/drawing/2014/main" id="{0813E6F3-57AD-449A-916C-8E079B8CBB50}"/>
              </a:ext>
            </a:extLst>
          </p:cNvPr>
          <p:cNvSpPr txBox="1"/>
          <p:nvPr/>
        </p:nvSpPr>
        <p:spPr>
          <a:xfrm>
            <a:off x="1356273" y="3170243"/>
            <a:ext cx="312906" cy="400110"/>
          </a:xfrm>
          <a:prstGeom prst="rect">
            <a:avLst/>
          </a:prstGeom>
          <a:noFill/>
        </p:spPr>
        <p:txBody>
          <a:bodyPr wrap="none" rtlCol="0">
            <a:spAutoFit/>
          </a:bodyPr>
          <a:lstStyle/>
          <a:p>
            <a:r>
              <a:rPr lang="en-GB" altLang="zh-CN" sz="2000" b="1" dirty="0">
                <a:latin typeface="Times New Roman" panose="02020603050405020304" pitchFamily="18" charset="0"/>
                <a:cs typeface="Times New Roman" panose="02020603050405020304" pitchFamily="18" charset="0"/>
              </a:rPr>
              <a:t>4</a:t>
            </a:r>
            <a:endParaRPr lang="zh-CN" altLang="en-US" sz="2000" b="1" dirty="0">
              <a:latin typeface="Times New Roman" panose="02020603050405020304" pitchFamily="18" charset="0"/>
              <a:cs typeface="Times New Roman" panose="02020603050405020304" pitchFamily="18" charset="0"/>
            </a:endParaRPr>
          </a:p>
        </p:txBody>
      </p:sp>
      <p:sp>
        <p:nvSpPr>
          <p:cNvPr id="348" name="矩形 347">
            <a:extLst>
              <a:ext uri="{FF2B5EF4-FFF2-40B4-BE49-F238E27FC236}">
                <a16:creationId xmlns:a16="http://schemas.microsoft.com/office/drawing/2014/main" id="{B6819BCB-ADF4-448E-BAF6-7C99A5A7BBCC}"/>
              </a:ext>
            </a:extLst>
          </p:cNvPr>
          <p:cNvSpPr/>
          <p:nvPr/>
        </p:nvSpPr>
        <p:spPr>
          <a:xfrm>
            <a:off x="-226985" y="4735313"/>
            <a:ext cx="1231900" cy="307777"/>
          </a:xfrm>
          <a:prstGeom prst="rect">
            <a:avLst/>
          </a:prstGeom>
          <a:ln w="25400">
            <a:noFill/>
          </a:ln>
        </p:spPr>
        <p:txBody>
          <a:bodyPr wrap="square">
            <a:spAutoFit/>
          </a:bodyPr>
          <a:lstStyle/>
          <a:p>
            <a:pPr lvl="0" algn="ctr">
              <a:defRPr/>
            </a:pPr>
            <a:r>
              <a:rPr lang="en-GB" altLang="zh-CN" sz="1400" b="1" dirty="0">
                <a:solidFill>
                  <a:srgbClr val="FF0000"/>
                </a:solidFill>
                <a:latin typeface="Times New Roman" panose="02020603050405020304" pitchFamily="18" charset="0"/>
                <a:cs typeface="Times New Roman" panose="02020603050405020304" pitchFamily="18" charset="0"/>
              </a:rPr>
              <a:t>1</a:t>
            </a:r>
            <a:r>
              <a:rPr lang="en-US" altLang="zh-CN" sz="1400" b="1" dirty="0">
                <a:solidFill>
                  <a:srgbClr val="FF0000"/>
                </a:solidFill>
                <a:latin typeface="Times New Roman" panose="02020603050405020304" pitchFamily="18" charset="0"/>
                <a:cs typeface="Times New Roman" panose="02020603050405020304" pitchFamily="18" charset="0"/>
              </a:rPr>
              <a:t>C090000</a:t>
            </a:r>
          </a:p>
        </p:txBody>
      </p:sp>
      <p:cxnSp>
        <p:nvCxnSpPr>
          <p:cNvPr id="349" name="直接连接符 348">
            <a:extLst>
              <a:ext uri="{FF2B5EF4-FFF2-40B4-BE49-F238E27FC236}">
                <a16:creationId xmlns:a16="http://schemas.microsoft.com/office/drawing/2014/main" id="{3C4FED1A-307A-4E6B-B129-C450B6238A88}"/>
              </a:ext>
            </a:extLst>
          </p:cNvPr>
          <p:cNvCxnSpPr/>
          <p:nvPr/>
        </p:nvCxnSpPr>
        <p:spPr bwMode="auto">
          <a:xfrm flipV="1">
            <a:off x="80010" y="4555490"/>
            <a:ext cx="473075" cy="10160"/>
          </a:xfrm>
          <a:prstGeom prst="line">
            <a:avLst/>
          </a:prstGeom>
          <a:noFill/>
          <a:ln w="25400"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0" name="矩形 349">
            <a:extLst>
              <a:ext uri="{FF2B5EF4-FFF2-40B4-BE49-F238E27FC236}">
                <a16:creationId xmlns:a16="http://schemas.microsoft.com/office/drawing/2014/main" id="{52478B78-9B7C-4CF6-B9D5-AB70A5DBE036}"/>
              </a:ext>
            </a:extLst>
          </p:cNvPr>
          <p:cNvSpPr/>
          <p:nvPr/>
        </p:nvSpPr>
        <p:spPr>
          <a:xfrm>
            <a:off x="998172" y="2815650"/>
            <a:ext cx="1231900" cy="307777"/>
          </a:xfrm>
          <a:prstGeom prst="rect">
            <a:avLst/>
          </a:prstGeom>
          <a:ln w="25400">
            <a:noFill/>
          </a:ln>
        </p:spPr>
        <p:txBody>
          <a:bodyPr wrap="square">
            <a:spAutoFit/>
          </a:bodyPr>
          <a:lstStyle/>
          <a:p>
            <a:pPr lvl="0" algn="ctr">
              <a:defRPr/>
            </a:pPr>
            <a:r>
              <a:rPr lang="en-GB" altLang="zh-CN" sz="1400" b="1" dirty="0">
                <a:solidFill>
                  <a:srgbClr val="FF0000"/>
                </a:solidFill>
                <a:latin typeface="Times New Roman" panose="02020603050405020304" pitchFamily="18" charset="0"/>
                <a:cs typeface="Times New Roman" panose="02020603050405020304" pitchFamily="18" charset="0"/>
              </a:rPr>
              <a:t>1</a:t>
            </a:r>
            <a:r>
              <a:rPr lang="en-US" altLang="zh-CN" sz="1400" b="1" dirty="0">
                <a:solidFill>
                  <a:srgbClr val="FF0000"/>
                </a:solidFill>
                <a:latin typeface="Times New Roman" panose="02020603050405020304" pitchFamily="18" charset="0"/>
                <a:cs typeface="Times New Roman" panose="02020603050405020304" pitchFamily="18" charset="0"/>
              </a:rPr>
              <a:t>C090000</a:t>
            </a:r>
          </a:p>
        </p:txBody>
      </p:sp>
      <p:sp>
        <p:nvSpPr>
          <p:cNvPr id="351" name="矩形 350">
            <a:extLst>
              <a:ext uri="{FF2B5EF4-FFF2-40B4-BE49-F238E27FC236}">
                <a16:creationId xmlns:a16="http://schemas.microsoft.com/office/drawing/2014/main" id="{EBB3649C-8432-40D5-857B-4BE4FFC891D2}"/>
              </a:ext>
            </a:extLst>
          </p:cNvPr>
          <p:cNvSpPr/>
          <p:nvPr/>
        </p:nvSpPr>
        <p:spPr>
          <a:xfrm>
            <a:off x="499441" y="4534993"/>
            <a:ext cx="1231900" cy="307777"/>
          </a:xfrm>
          <a:prstGeom prst="rect">
            <a:avLst/>
          </a:prstGeom>
          <a:ln w="25400">
            <a:noFill/>
          </a:ln>
        </p:spPr>
        <p:txBody>
          <a:bodyPr wrap="square">
            <a:spAutoFit/>
          </a:bodyPr>
          <a:lstStyle/>
          <a:p>
            <a:pPr lvl="0" algn="ctr">
              <a:defRPr/>
            </a:pPr>
            <a:r>
              <a:rPr lang="en-GB" altLang="zh-CN" sz="1400" b="1" dirty="0">
                <a:solidFill>
                  <a:srgbClr val="FF0000"/>
                </a:solidFill>
                <a:latin typeface="Times New Roman" panose="02020603050405020304" pitchFamily="18" charset="0"/>
                <a:cs typeface="Times New Roman" panose="02020603050405020304" pitchFamily="18" charset="0"/>
              </a:rPr>
              <a:t>1</a:t>
            </a:r>
            <a:r>
              <a:rPr lang="en-US" altLang="zh-CN" sz="1400" b="1" dirty="0">
                <a:solidFill>
                  <a:srgbClr val="FF0000"/>
                </a:solidFill>
                <a:latin typeface="Times New Roman" panose="02020603050405020304" pitchFamily="18" charset="0"/>
                <a:cs typeface="Times New Roman" panose="02020603050405020304" pitchFamily="18" charset="0"/>
              </a:rPr>
              <a:t>C090004</a:t>
            </a:r>
          </a:p>
        </p:txBody>
      </p:sp>
      <p:cxnSp>
        <p:nvCxnSpPr>
          <p:cNvPr id="352" name="直接箭头连接符 351">
            <a:extLst>
              <a:ext uri="{FF2B5EF4-FFF2-40B4-BE49-F238E27FC236}">
                <a16:creationId xmlns:a16="http://schemas.microsoft.com/office/drawing/2014/main" id="{532B08FC-DA6C-4900-A264-9799D73A12A6}"/>
              </a:ext>
            </a:extLst>
          </p:cNvPr>
          <p:cNvCxnSpPr/>
          <p:nvPr/>
        </p:nvCxnSpPr>
        <p:spPr>
          <a:xfrm flipH="1" flipV="1">
            <a:off x="857721" y="4270725"/>
            <a:ext cx="58807" cy="284695"/>
          </a:xfrm>
          <a:prstGeom prst="straightConnector1">
            <a:avLst/>
          </a:prstGeom>
          <a:ln w="25400">
            <a:solidFill>
              <a:srgbClr val="FF0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54" name="文本框 353">
            <a:extLst>
              <a:ext uri="{FF2B5EF4-FFF2-40B4-BE49-F238E27FC236}">
                <a16:creationId xmlns:a16="http://schemas.microsoft.com/office/drawing/2014/main" id="{8E71B682-00CA-4A5D-9DE0-11BDC1789EB4}"/>
              </a:ext>
            </a:extLst>
          </p:cNvPr>
          <p:cNvSpPr txBox="1"/>
          <p:nvPr/>
        </p:nvSpPr>
        <p:spPr>
          <a:xfrm>
            <a:off x="3271600" y="3011509"/>
            <a:ext cx="415498" cy="369332"/>
          </a:xfrm>
          <a:prstGeom prst="rect">
            <a:avLst/>
          </a:prstGeom>
          <a:noFill/>
        </p:spPr>
        <p:txBody>
          <a:bodyPr wrap="none" rtlCol="0">
            <a:spAutoFit/>
          </a:bodyPr>
          <a:lstStyle/>
          <a:p>
            <a:r>
              <a:rPr lang="en-GB" altLang="zh-CN" b="1" dirty="0">
                <a:latin typeface="Times New Roman" panose="02020603050405020304" pitchFamily="18" charset="0"/>
                <a:cs typeface="Times New Roman" panose="02020603050405020304" pitchFamily="18" charset="0"/>
              </a:rPr>
              <a:t>54</a:t>
            </a:r>
            <a:endParaRPr lang="zh-CN" altLang="en-US"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3"/>
          <p:cNvSpPr>
            <a:spLocks noGrp="1" noChangeArrowheads="1"/>
          </p:cNvSpPr>
          <p:nvPr>
            <p:ph idx="1"/>
          </p:nvPr>
        </p:nvSpPr>
        <p:spPr/>
        <p:txBody>
          <a:bodyPr>
            <a:normAutofit fontScale="92500" lnSpcReduction="10000"/>
          </a:bodyPr>
          <a:lstStyle/>
          <a:p>
            <a:pPr lvl="0">
              <a:lnSpc>
                <a:spcPct val="170000"/>
              </a:lnSpc>
            </a:pPr>
            <a:r>
              <a:rPr lang="en-US" altLang="zh-CN" dirty="0">
                <a:latin typeface="Times New Roman" panose="02020603050405020304" pitchFamily="18" charset="0"/>
                <a:cs typeface="Times New Roman" panose="02020603050405020304" pitchFamily="18" charset="0"/>
              </a:rPr>
              <a:t>IF</a:t>
            </a:r>
            <a:r>
              <a:rPr lang="zh-CN" altLang="en-US" dirty="0">
                <a:latin typeface="Times New Roman" panose="02020603050405020304" pitchFamily="18" charset="0"/>
                <a:cs typeface="Times New Roman" panose="02020603050405020304" pitchFamily="18" charset="0"/>
              </a:rPr>
              <a:t>阶段的指令：变为</a:t>
            </a:r>
            <a:r>
              <a:rPr lang="en-US" altLang="zh-CN" dirty="0" err="1">
                <a:latin typeface="Times New Roman" panose="02020603050405020304" pitchFamily="18" charset="0"/>
                <a:cs typeface="Times New Roman" panose="02020603050405020304" pitchFamily="18" charset="0"/>
              </a:rPr>
              <a:t>nop</a:t>
            </a:r>
            <a:r>
              <a:rPr lang="zh-CN" altLang="en-US" dirty="0">
                <a:latin typeface="Times New Roman" panose="02020603050405020304" pitchFamily="18" charset="0"/>
                <a:cs typeface="Times New Roman" panose="02020603050405020304" pitchFamily="18" charset="0"/>
              </a:rPr>
              <a:t>操作</a:t>
            </a:r>
            <a:endParaRPr lang="en-US" altLang="zh-CN" dirty="0">
              <a:latin typeface="Times New Roman" panose="02020603050405020304" pitchFamily="18" charset="0"/>
              <a:cs typeface="Times New Roman" panose="02020603050405020304" pitchFamily="18" charset="0"/>
            </a:endParaRPr>
          </a:p>
          <a:p>
            <a:pPr lvl="0">
              <a:lnSpc>
                <a:spcPct val="170000"/>
              </a:lnSpc>
            </a:pPr>
            <a:r>
              <a:rPr lang="en-US" altLang="zh-CN" dirty="0">
                <a:latin typeface="Times New Roman" panose="02020603050405020304" pitchFamily="18" charset="0"/>
                <a:cs typeface="Times New Roman" panose="02020603050405020304" pitchFamily="18" charset="0"/>
              </a:rPr>
              <a:t>ID</a:t>
            </a:r>
            <a:r>
              <a:rPr lang="zh-CN" altLang="en-US" dirty="0">
                <a:latin typeface="Times New Roman" panose="02020603050405020304" pitchFamily="18" charset="0"/>
                <a:cs typeface="Times New Roman" panose="02020603050405020304" pitchFamily="18" charset="0"/>
              </a:rPr>
              <a:t>阶段的指令：增加新的逻辑部件，使译码阶段输出为</a:t>
            </a:r>
            <a:r>
              <a:rPr lang="en-US" altLang="zh-CN" dirty="0">
                <a:latin typeface="Times New Roman" panose="02020603050405020304" pitchFamily="18" charset="0"/>
                <a:cs typeface="Times New Roman" panose="02020603050405020304" pitchFamily="18" charset="0"/>
              </a:rPr>
              <a:t>0</a:t>
            </a:r>
          </a:p>
          <a:p>
            <a:pPr lvl="0">
              <a:lnSpc>
                <a:spcPct val="170000"/>
              </a:lnSpc>
            </a:pPr>
            <a:r>
              <a:rPr lang="en-US" altLang="zh-CN" dirty="0">
                <a:latin typeface="Times New Roman" panose="02020603050405020304" pitchFamily="18" charset="0"/>
                <a:cs typeface="Times New Roman" panose="02020603050405020304" pitchFamily="18" charset="0"/>
              </a:rPr>
              <a:t>EX</a:t>
            </a:r>
            <a:r>
              <a:rPr lang="zh-CN" altLang="en-US" dirty="0">
                <a:latin typeface="Times New Roman" panose="02020603050405020304" pitchFamily="18" charset="0"/>
                <a:cs typeface="Times New Roman" panose="02020603050405020304" pitchFamily="18" charset="0"/>
              </a:rPr>
              <a:t>阶段的指令：需要保留</a:t>
            </a:r>
            <a:r>
              <a:rPr lang="en-US" altLang="zh-CN" dirty="0">
                <a:latin typeface="Times New Roman" panose="02020603050405020304" pitchFamily="18" charset="0"/>
                <a:cs typeface="Times New Roman" panose="02020603050405020304" pitchFamily="18" charset="0"/>
              </a:rPr>
              <a:t>x1</a:t>
            </a:r>
            <a:r>
              <a:rPr lang="zh-CN" altLang="en-US" dirty="0">
                <a:latin typeface="Times New Roman" panose="02020603050405020304" pitchFamily="18" charset="0"/>
                <a:cs typeface="Times New Roman" panose="02020603050405020304" pitchFamily="18" charset="0"/>
              </a:rPr>
              <a:t>原本的值</a:t>
            </a:r>
            <a:endParaRPr lang="en-US" altLang="zh-CN" dirty="0">
              <a:latin typeface="Times New Roman" panose="02020603050405020304" pitchFamily="18" charset="0"/>
              <a:cs typeface="Times New Roman" panose="02020603050405020304" pitchFamily="18" charset="0"/>
            </a:endParaRPr>
          </a:p>
          <a:p>
            <a:pPr lvl="0">
              <a:lnSpc>
                <a:spcPct val="170000"/>
              </a:lnSpc>
            </a:pPr>
            <a:r>
              <a:rPr lang="zh-CN" altLang="en-US" dirty="0">
                <a:latin typeface="Times New Roman" panose="02020603050405020304" pitchFamily="18" charset="0"/>
                <a:cs typeface="Times New Roman" panose="02020603050405020304" pitchFamily="18" charset="0"/>
              </a:rPr>
              <a:t>例外之前的指令，正常完成</a:t>
            </a:r>
            <a:endParaRPr lang="en-US" altLang="zh-CN" dirty="0">
              <a:latin typeface="Times New Roman" panose="02020603050405020304" pitchFamily="18" charset="0"/>
              <a:cs typeface="Times New Roman" panose="02020603050405020304" pitchFamily="18" charset="0"/>
            </a:endParaRPr>
          </a:p>
          <a:p>
            <a:pPr lvl="0">
              <a:lnSpc>
                <a:spcPct val="170000"/>
              </a:lnSpc>
            </a:pPr>
            <a:r>
              <a:rPr lang="zh-CN" altLang="en-US" dirty="0">
                <a:latin typeface="Times New Roman" panose="02020603050405020304" pitchFamily="18" charset="0"/>
                <a:cs typeface="Times New Roman" panose="02020603050405020304" pitchFamily="18" charset="0"/>
              </a:rPr>
              <a:t>设置</a:t>
            </a:r>
            <a:r>
              <a:rPr lang="en-US" altLang="zh-CN" dirty="0">
                <a:latin typeface="Times New Roman" panose="02020603050405020304" pitchFamily="18" charset="0"/>
                <a:cs typeface="Times New Roman" panose="02020603050405020304" pitchFamily="18" charset="0"/>
              </a:rPr>
              <a:t>SEPC</a:t>
            </a:r>
            <a:r>
              <a:rPr lang="zh-CN" altLang="en-US" dirty="0">
                <a:latin typeface="Times New Roman" panose="02020603050405020304" pitchFamily="18" charset="0"/>
                <a:cs typeface="Times New Roman" panose="02020603050405020304" pitchFamily="18" charset="0"/>
              </a:rPr>
              <a:t>和</a:t>
            </a:r>
            <a:r>
              <a:rPr lang="en-US" altLang="zh-CN" dirty="0">
                <a:latin typeface="Times New Roman" panose="02020603050405020304" pitchFamily="18" charset="0"/>
                <a:cs typeface="Times New Roman" panose="02020603050405020304" pitchFamily="18" charset="0"/>
              </a:rPr>
              <a:t>SCAUSE</a:t>
            </a:r>
            <a:r>
              <a:rPr lang="zh-CN" altLang="en-US" dirty="0">
                <a:latin typeface="Times New Roman" panose="02020603050405020304" pitchFamily="18" charset="0"/>
                <a:cs typeface="Times New Roman" panose="02020603050405020304" pitchFamily="18" charset="0"/>
              </a:rPr>
              <a:t>的寄存器值</a:t>
            </a:r>
            <a:endParaRPr lang="en-US" altLang="zh-CN" dirty="0">
              <a:latin typeface="Times New Roman" panose="02020603050405020304" pitchFamily="18" charset="0"/>
              <a:cs typeface="Times New Roman" panose="02020603050405020304" pitchFamily="18" charset="0"/>
            </a:endParaRPr>
          </a:p>
          <a:p>
            <a:pPr lvl="0">
              <a:lnSpc>
                <a:spcPct val="170000"/>
              </a:lnSpc>
            </a:pPr>
            <a:r>
              <a:rPr lang="zh-CN" altLang="en-US" dirty="0">
                <a:latin typeface="Times New Roman" panose="02020603050405020304" pitchFamily="18" charset="0"/>
                <a:cs typeface="Times New Roman" panose="02020603050405020304" pitchFamily="18" charset="0"/>
              </a:rPr>
              <a:t>转到例外处理程序</a:t>
            </a:r>
            <a:endParaRPr lang="en-US" altLang="en-US" dirty="0">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8EE8E787-E6FE-45D8-9039-788B45E44EE7}" type="slidenum">
              <a:rPr lang="zh-CN" altLang="en-US" smtClean="0"/>
              <a:t>88</a:t>
            </a:fld>
            <a:endParaRPr lang="zh-CN" altLang="en-US" dirty="0"/>
          </a:p>
        </p:txBody>
      </p:sp>
      <p:sp>
        <p:nvSpPr>
          <p:cNvPr id="4" name="标题 3"/>
          <p:cNvSpPr>
            <a:spLocks noGrp="1"/>
          </p:cNvSpPr>
          <p:nvPr>
            <p:ph type="title"/>
          </p:nvPr>
        </p:nvSpPr>
        <p:spPr/>
        <p:txBody>
          <a:bodyPr/>
          <a:lstStyle/>
          <a:p>
            <a:r>
              <a:rPr lang="zh-CN" altLang="en-US" dirty="0"/>
              <a:t>流水线实现中的例外处理小结</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16">
                                            <p:txEl>
                                              <p:pRg st="0" end="0"/>
                                            </p:txEl>
                                          </p:spTgt>
                                        </p:tgtEl>
                                        <p:attrNameLst>
                                          <p:attrName>style.visibility</p:attrName>
                                        </p:attrNameLst>
                                      </p:cBhvr>
                                      <p:to>
                                        <p:strVal val="visible"/>
                                      </p:to>
                                    </p:set>
                                    <p:animEffect transition="in" filter="fade">
                                      <p:cBhvr>
                                        <p:cTn id="7" dur="500"/>
                                        <p:tgtEl>
                                          <p:spTgt spid="133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316">
                                            <p:txEl>
                                              <p:pRg st="1" end="1"/>
                                            </p:txEl>
                                          </p:spTgt>
                                        </p:tgtEl>
                                        <p:attrNameLst>
                                          <p:attrName>style.visibility</p:attrName>
                                        </p:attrNameLst>
                                      </p:cBhvr>
                                      <p:to>
                                        <p:strVal val="visible"/>
                                      </p:to>
                                    </p:set>
                                    <p:animEffect transition="in" filter="fade">
                                      <p:cBhvr>
                                        <p:cTn id="12" dur="500"/>
                                        <p:tgtEl>
                                          <p:spTgt spid="133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316">
                                            <p:txEl>
                                              <p:pRg st="2" end="2"/>
                                            </p:txEl>
                                          </p:spTgt>
                                        </p:tgtEl>
                                        <p:attrNameLst>
                                          <p:attrName>style.visibility</p:attrName>
                                        </p:attrNameLst>
                                      </p:cBhvr>
                                      <p:to>
                                        <p:strVal val="visible"/>
                                      </p:to>
                                    </p:set>
                                    <p:animEffect transition="in" filter="fade">
                                      <p:cBhvr>
                                        <p:cTn id="17" dur="500"/>
                                        <p:tgtEl>
                                          <p:spTgt spid="133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316">
                                            <p:txEl>
                                              <p:pRg st="3" end="3"/>
                                            </p:txEl>
                                          </p:spTgt>
                                        </p:tgtEl>
                                        <p:attrNameLst>
                                          <p:attrName>style.visibility</p:attrName>
                                        </p:attrNameLst>
                                      </p:cBhvr>
                                      <p:to>
                                        <p:strVal val="visible"/>
                                      </p:to>
                                    </p:set>
                                    <p:animEffect transition="in" filter="fade">
                                      <p:cBhvr>
                                        <p:cTn id="22" dur="500"/>
                                        <p:tgtEl>
                                          <p:spTgt spid="1331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316">
                                            <p:txEl>
                                              <p:pRg st="4" end="4"/>
                                            </p:txEl>
                                          </p:spTgt>
                                        </p:tgtEl>
                                        <p:attrNameLst>
                                          <p:attrName>style.visibility</p:attrName>
                                        </p:attrNameLst>
                                      </p:cBhvr>
                                      <p:to>
                                        <p:strVal val="visible"/>
                                      </p:to>
                                    </p:set>
                                    <p:animEffect transition="in" filter="fade">
                                      <p:cBhvr>
                                        <p:cTn id="27" dur="500"/>
                                        <p:tgtEl>
                                          <p:spTgt spid="1331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316">
                                            <p:txEl>
                                              <p:pRg st="5" end="5"/>
                                            </p:txEl>
                                          </p:spTgt>
                                        </p:tgtEl>
                                        <p:attrNameLst>
                                          <p:attrName>style.visibility</p:attrName>
                                        </p:attrNameLst>
                                      </p:cBhvr>
                                      <p:to>
                                        <p:strVal val="visible"/>
                                      </p:to>
                                    </p:set>
                                    <p:animEffect transition="in" filter="fade">
                                      <p:cBhvr>
                                        <p:cTn id="32" dur="500"/>
                                        <p:tgtEl>
                                          <p:spTgt spid="1331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25bcc32b-82d5-4e26-ad74-d5d2e5bbb091}"/>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ebb66c6f-ef32-4b47-9586-d6480cf7cd0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rgbClr val="9CDCF9"/>
        </a:solidFill>
        <a:ln w="25400">
          <a:solidFill>
            <a:srgbClr val="00B0F0"/>
          </a:solidFill>
          <a:headEnd type="none" w="med" len="med"/>
          <a:tailEnd type="none" w="med" len="med"/>
        </a:ln>
      </a:spPr>
      <a:bodyPr vert="horz" wrap="square" lIns="0" tIns="136525" rIns="0" bIns="136525" numCol="1" rtlCol="0" anchor="ctr" anchorCtr="0" compatLnSpc="1"/>
      <a:lstStyle>
        <a:defPPr algn="ctr" fontAlgn="base">
          <a:spcBef>
            <a:spcPct val="0"/>
          </a:spcBef>
          <a:spcAft>
            <a:spcPct val="0"/>
          </a:spcAft>
          <a:defRPr sz="1000" b="1" dirty="0">
            <a:solidFill>
              <a:srgbClr val="00B0F0"/>
            </a:solidFill>
            <a:latin typeface="Times New Roman" panose="02020603050405020304" pitchFamily="18" charset="0"/>
            <a:ea typeface="宋体" panose="02010600030101010101" pitchFamily="2" charset="-122"/>
            <a:cs typeface="Times New Roman" panose="02020603050405020304" pitchFamily="18" charset="0"/>
            <a:sym typeface="+mn-ea"/>
          </a:defRPr>
        </a:defPPr>
      </a:lstStyle>
      <a:style>
        <a:lnRef idx="2">
          <a:schemeClr val="dk1"/>
        </a:lnRef>
        <a:fillRef idx="1">
          <a:schemeClr val="lt1"/>
        </a:fillRef>
        <a:effectRef idx="0">
          <a:schemeClr val="dk1"/>
        </a:effectRef>
        <a:fontRef idx="minor">
          <a:schemeClr val="dk1"/>
        </a:fontRef>
      </a:style>
    </a:spDef>
    <a:lnDef>
      <a:spPr>
        <a:ln w="25400">
          <a:solidFill>
            <a:schemeClr val="tx1"/>
          </a:solidFill>
          <a:headEnd type="none"/>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13599</TotalTime>
  <Words>11870</Words>
  <Application>Microsoft Office PowerPoint</Application>
  <PresentationFormat>宽屏</PresentationFormat>
  <Paragraphs>3384</Paragraphs>
  <Slides>88</Slides>
  <Notes>82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88</vt:i4>
      </vt:variant>
    </vt:vector>
  </HeadingPairs>
  <TitlesOfParts>
    <vt:vector size="98" baseType="lpstr">
      <vt:lpstr>等线</vt:lpstr>
      <vt:lpstr>黑体</vt:lpstr>
      <vt:lpstr>宋体</vt:lpstr>
      <vt:lpstr>Arial</vt:lpstr>
      <vt:lpstr>Cambria Math</vt:lpstr>
      <vt:lpstr>Lucida Console</vt:lpstr>
      <vt:lpstr>Segoe UI Black</vt:lpstr>
      <vt:lpstr>Times New Roman</vt:lpstr>
      <vt:lpstr>Wingdings</vt:lpstr>
      <vt:lpstr>Office 主题​​</vt:lpstr>
      <vt:lpstr>PowerPoint 演示文稿</vt:lpstr>
      <vt:lpstr>第五章 流水线处理器</vt:lpstr>
      <vt:lpstr>单周期处理器的性能问题</vt:lpstr>
      <vt:lpstr>流水线的概念介绍：一个比喻</vt:lpstr>
      <vt:lpstr>RISC-V 指令执行的五个阶段</vt:lpstr>
      <vt:lpstr>流水线性能</vt:lpstr>
      <vt:lpstr>流水线性能</vt:lpstr>
      <vt:lpstr>流水线加速比</vt:lpstr>
      <vt:lpstr>面向流水线的指令系统设计</vt:lpstr>
      <vt:lpstr>流水线冒险</vt:lpstr>
      <vt:lpstr>结构冒险</vt:lpstr>
      <vt:lpstr>数据冒险</vt:lpstr>
      <vt:lpstr>前递(forwarding)</vt:lpstr>
      <vt:lpstr>载入-使用型数据冒险(load-use data hazard)</vt:lpstr>
      <vt:lpstr>重排代码以避免流水线停顿</vt:lpstr>
      <vt:lpstr>控制冒险</vt:lpstr>
      <vt:lpstr>方案一：每遇到条件分支指令就停顿的流水线</vt:lpstr>
      <vt:lpstr>方案二：分支预测</vt:lpstr>
      <vt:lpstr>方案二：总是预测条件分支不发生跳转</vt:lpstr>
      <vt:lpstr>两种更成熟的分支预测</vt:lpstr>
      <vt:lpstr>流水线总结</vt:lpstr>
      <vt:lpstr>第五章</vt:lpstr>
      <vt:lpstr>构建RISC-V流水线数据通路</vt:lpstr>
      <vt:lpstr>构建RISC-V流水线数据通路</vt:lpstr>
      <vt:lpstr>流水线通路如何执行？</vt:lpstr>
      <vt:lpstr>在流水线数据通路中观察指令的流动</vt:lpstr>
      <vt:lpstr>观察采用流水线寄存器的流水线操作</vt:lpstr>
      <vt:lpstr>观察流水线操作</vt:lpstr>
      <vt:lpstr>加入流水线寄存器</vt:lpstr>
      <vt:lpstr>IF for Load, Store, …</vt:lpstr>
      <vt:lpstr>ID for Load, Store, …</vt:lpstr>
      <vt:lpstr>EX for Load</vt:lpstr>
      <vt:lpstr>MEM for Load</vt:lpstr>
      <vt:lpstr>WB for Load</vt:lpstr>
      <vt:lpstr>更正之后的数据通路</vt:lpstr>
      <vt:lpstr>用于加载指令的全部五个流水线阶段部分</vt:lpstr>
      <vt:lpstr>EX for Store</vt:lpstr>
      <vt:lpstr>MEM for Store</vt:lpstr>
      <vt:lpstr>WB for Store</vt:lpstr>
      <vt:lpstr>多时钟周期流水线图</vt:lpstr>
      <vt:lpstr>多时钟周期流水线图</vt:lpstr>
      <vt:lpstr>一个时钟周期下的流水线图 (CC5)</vt:lpstr>
      <vt:lpstr>流水线控制</vt:lpstr>
      <vt:lpstr>流水线控制</vt:lpstr>
      <vt:lpstr>简单的流水线控制</vt:lpstr>
      <vt:lpstr>PowerPoint 演示文稿</vt:lpstr>
      <vt:lpstr>第五章</vt:lpstr>
      <vt:lpstr>ALU相关指令中的数据冒险</vt:lpstr>
      <vt:lpstr>一个时钟周期下的流水线图</vt:lpstr>
      <vt:lpstr>依赖关系与前递</vt:lpstr>
      <vt:lpstr>检测前递发生</vt:lpstr>
      <vt:lpstr>检测前递发生</vt:lpstr>
      <vt:lpstr>依赖关系的变化</vt:lpstr>
      <vt:lpstr>添加前递前</vt:lpstr>
      <vt:lpstr>添加前递所需硬件</vt:lpstr>
      <vt:lpstr>前递硬件中，多选器的控制值</vt:lpstr>
      <vt:lpstr>检测EX冒险的条件、相应的前递控制</vt:lpstr>
      <vt:lpstr>MEM冒险检测仍有问题：两次数据冒险</vt:lpstr>
      <vt:lpstr>检测MEM冒险的条件、相应的前递控制</vt:lpstr>
      <vt:lpstr>通过前递解决冒险的数据通路</vt:lpstr>
      <vt:lpstr>载入-使用(load-use)型数据冒险</vt:lpstr>
      <vt:lpstr>检测 载入-使用型数据冒险</vt:lpstr>
      <vt:lpstr>载入-使用型数据冒险</vt:lpstr>
      <vt:lpstr>如何停顿流水线?</vt:lpstr>
      <vt:lpstr>PowerPoint 演示文稿</vt:lpstr>
      <vt:lpstr>停顿与性能</vt:lpstr>
      <vt:lpstr>第五章</vt:lpstr>
      <vt:lpstr>控制冒险</vt:lpstr>
      <vt:lpstr>假设分支不发生</vt:lpstr>
      <vt:lpstr>缩短分支延迟</vt:lpstr>
      <vt:lpstr>PowerPoint 演示文稿</vt:lpstr>
      <vt:lpstr>PowerPoint 演示文稿</vt:lpstr>
      <vt:lpstr>动态分支预测</vt:lpstr>
      <vt:lpstr>1-Bit预测机制的缺点</vt:lpstr>
      <vt:lpstr>2-Bit预测机制</vt:lpstr>
      <vt:lpstr>分支目标计算</vt:lpstr>
      <vt:lpstr>第五章</vt:lpstr>
      <vt:lpstr>例外(exception)和中断(interrupt)</vt:lpstr>
      <vt:lpstr>RISC-V中的例外和中断示例</vt:lpstr>
      <vt:lpstr>RISC-V体系结构中如何处理例外</vt:lpstr>
      <vt:lpstr>另一种例外处理方式(x86等)</vt:lpstr>
      <vt:lpstr>例外处理程序的工作</vt:lpstr>
      <vt:lpstr>流水线实现中的例外</vt:lpstr>
      <vt:lpstr>流水线实现中的例外</vt:lpstr>
      <vt:lpstr>PowerPoint 演示文稿</vt:lpstr>
      <vt:lpstr>PowerPoint 演示文稿</vt:lpstr>
      <vt:lpstr>PowerPoint 演示文稿</vt:lpstr>
      <vt:lpstr>流水线实现中的例外处理小结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昕 陈</dc:creator>
  <cp:lastModifiedBy>ASUS</cp:lastModifiedBy>
  <cp:revision>1671</cp:revision>
  <dcterms:created xsi:type="dcterms:W3CDTF">2021-01-19T10:08:00Z</dcterms:created>
  <dcterms:modified xsi:type="dcterms:W3CDTF">2026-04-21T01:45:14Z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2052-11.3.0.9221</vt:lpwstr>
  </property>
</Properties>
</file>